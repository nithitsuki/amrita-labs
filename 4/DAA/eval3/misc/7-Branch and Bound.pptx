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7" r:id="rId22"/>
    <p:sldId id="279" r:id="rId23"/>
    <p:sldId id="280" r:id="rId24"/>
    <p:sldId id="278"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8" r:id="rId40"/>
    <p:sldId id="299" r:id="rId41"/>
    <p:sldId id="300" r:id="rId42"/>
    <p:sldId id="301" r:id="rId43"/>
    <p:sldId id="296" r:id="rId44"/>
    <p:sldId id="297" r:id="rId45"/>
    <p:sldId id="302" r:id="rId46"/>
    <p:sldId id="303" r:id="rId47"/>
  </p:sldIdLst>
  <p:sldSz cx="12192000" cy="6858000"/>
  <p:notesSz cx="6858000" cy="9144000"/>
  <p:defaultTextStyle>
    <a:defPPr>
      <a:defRPr lang="hi-I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priya M" initials="SM" lastIdx="1" clrIdx="0">
    <p:extLst>
      <p:ext uri="{19B8F6BF-5375-455C-9EA6-DF929625EA0E}">
        <p15:presenceInfo xmlns:p15="http://schemas.microsoft.com/office/powerpoint/2012/main" userId="b068c554a412183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42" autoAdjust="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i-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D8651A-9611-461D-B1E0-FB5F77F6F530}" type="datetimeFigureOut">
              <a:rPr lang="hi-IN" smtClean="0"/>
              <a:t>शुक्रवार, 28 आषाढ़ 1946</a:t>
            </a:fld>
            <a:endParaRPr lang="hi-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i-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i-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7909CB-900C-4006-A9AB-7FAD65FB4693}" type="slidenum">
              <a:rPr lang="hi-IN" smtClean="0"/>
              <a:t>‹#›</a:t>
            </a:fld>
            <a:endParaRPr lang="hi-IN"/>
          </a:p>
        </p:txBody>
      </p:sp>
    </p:spTree>
    <p:extLst>
      <p:ext uri="{BB962C8B-B14F-4D97-AF65-F5344CB8AC3E}">
        <p14:creationId xmlns:p14="http://schemas.microsoft.com/office/powerpoint/2010/main" val="3422235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i-IN" dirty="0"/>
          </a:p>
        </p:txBody>
      </p:sp>
      <p:sp>
        <p:nvSpPr>
          <p:cNvPr id="4" name="Slide Number Placeholder 3"/>
          <p:cNvSpPr>
            <a:spLocks noGrp="1"/>
          </p:cNvSpPr>
          <p:nvPr>
            <p:ph type="sldNum" sz="quarter" idx="5"/>
          </p:nvPr>
        </p:nvSpPr>
        <p:spPr/>
        <p:txBody>
          <a:bodyPr/>
          <a:lstStyle/>
          <a:p>
            <a:fld id="{1F7909CB-900C-4006-A9AB-7FAD65FB4693}" type="slidenum">
              <a:rPr lang="hi-IN" smtClean="0"/>
              <a:t>1</a:t>
            </a:fld>
            <a:endParaRPr lang="hi-IN"/>
          </a:p>
        </p:txBody>
      </p:sp>
    </p:spTree>
    <p:extLst>
      <p:ext uri="{BB962C8B-B14F-4D97-AF65-F5344CB8AC3E}">
        <p14:creationId xmlns:p14="http://schemas.microsoft.com/office/powerpoint/2010/main" val="3357314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AF0E5-45BA-442C-93F4-2E9413E3DF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i-IN"/>
          </a:p>
        </p:txBody>
      </p:sp>
      <p:sp>
        <p:nvSpPr>
          <p:cNvPr id="3" name="Subtitle 2">
            <a:extLst>
              <a:ext uri="{FF2B5EF4-FFF2-40B4-BE49-F238E27FC236}">
                <a16:creationId xmlns:a16="http://schemas.microsoft.com/office/drawing/2014/main" id="{A8B96E20-D5F9-4739-90A6-6F4B9DC229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i-IN"/>
          </a:p>
        </p:txBody>
      </p:sp>
      <p:sp>
        <p:nvSpPr>
          <p:cNvPr id="4" name="Date Placeholder 3">
            <a:extLst>
              <a:ext uri="{FF2B5EF4-FFF2-40B4-BE49-F238E27FC236}">
                <a16:creationId xmlns:a16="http://schemas.microsoft.com/office/drawing/2014/main" id="{7104651E-C399-48DD-BD6C-F9785270774B}"/>
              </a:ext>
            </a:extLst>
          </p:cNvPr>
          <p:cNvSpPr>
            <a:spLocks noGrp="1"/>
          </p:cNvSpPr>
          <p:nvPr>
            <p:ph type="dt" sz="half" idx="10"/>
          </p:nvPr>
        </p:nvSpPr>
        <p:spPr/>
        <p:txBody>
          <a:bodyPr/>
          <a:lstStyle/>
          <a:p>
            <a:fld id="{CC2AE50D-A3FA-4A4E-96B7-540D8BC3C78E}" type="datetime8">
              <a:rPr lang="hi-IN" smtClean="0"/>
              <a:t>१९/०७/२४</a:t>
            </a:fld>
            <a:endParaRPr lang="hi-IN"/>
          </a:p>
        </p:txBody>
      </p:sp>
      <p:sp>
        <p:nvSpPr>
          <p:cNvPr id="5" name="Footer Placeholder 4">
            <a:extLst>
              <a:ext uri="{FF2B5EF4-FFF2-40B4-BE49-F238E27FC236}">
                <a16:creationId xmlns:a16="http://schemas.microsoft.com/office/drawing/2014/main" id="{A37FC75C-4902-4CBA-A4E8-CE0A6B458D56}"/>
              </a:ext>
            </a:extLst>
          </p:cNvPr>
          <p:cNvSpPr>
            <a:spLocks noGrp="1"/>
          </p:cNvSpPr>
          <p:nvPr>
            <p:ph type="ftr" sz="quarter" idx="11"/>
          </p:nvPr>
        </p:nvSpPr>
        <p:spPr/>
        <p:txBody>
          <a:bodyPr/>
          <a:lstStyle/>
          <a:p>
            <a:r>
              <a:rPr lang="en-US"/>
              <a:t>Amrita School of Engineering</a:t>
            </a:r>
            <a:endParaRPr lang="hi-IN"/>
          </a:p>
        </p:txBody>
      </p:sp>
      <p:sp>
        <p:nvSpPr>
          <p:cNvPr id="6" name="Slide Number Placeholder 5">
            <a:extLst>
              <a:ext uri="{FF2B5EF4-FFF2-40B4-BE49-F238E27FC236}">
                <a16:creationId xmlns:a16="http://schemas.microsoft.com/office/drawing/2014/main" id="{52517250-9673-45D7-85CB-503BDC63AFB6}"/>
              </a:ext>
            </a:extLst>
          </p:cNvPr>
          <p:cNvSpPr>
            <a:spLocks noGrp="1"/>
          </p:cNvSpPr>
          <p:nvPr>
            <p:ph type="sldNum" sz="quarter" idx="12"/>
          </p:nvPr>
        </p:nvSpPr>
        <p:spPr/>
        <p:txBody>
          <a:bodyPr/>
          <a:lstStyle/>
          <a:p>
            <a:fld id="{F56F9007-E0C6-489E-B603-BD6BB4385429}" type="slidenum">
              <a:rPr lang="hi-IN" smtClean="0"/>
              <a:t>‹#›</a:t>
            </a:fld>
            <a:endParaRPr lang="hi-IN"/>
          </a:p>
        </p:txBody>
      </p:sp>
    </p:spTree>
    <p:extLst>
      <p:ext uri="{BB962C8B-B14F-4D97-AF65-F5344CB8AC3E}">
        <p14:creationId xmlns:p14="http://schemas.microsoft.com/office/powerpoint/2010/main" val="2042698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FDB63-8A1A-46A8-85AF-D6EC22107420}"/>
              </a:ext>
            </a:extLst>
          </p:cNvPr>
          <p:cNvSpPr>
            <a:spLocks noGrp="1"/>
          </p:cNvSpPr>
          <p:nvPr>
            <p:ph type="title"/>
          </p:nvPr>
        </p:nvSpPr>
        <p:spPr/>
        <p:txBody>
          <a:bodyPr/>
          <a:lstStyle/>
          <a:p>
            <a:r>
              <a:rPr lang="en-US"/>
              <a:t>Click to edit Master title style</a:t>
            </a:r>
            <a:endParaRPr lang="hi-IN"/>
          </a:p>
        </p:txBody>
      </p:sp>
      <p:sp>
        <p:nvSpPr>
          <p:cNvPr id="3" name="Content Placeholder 2">
            <a:extLst>
              <a:ext uri="{FF2B5EF4-FFF2-40B4-BE49-F238E27FC236}">
                <a16:creationId xmlns:a16="http://schemas.microsoft.com/office/drawing/2014/main" id="{15D00AC6-6389-4619-86E5-376576DF89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Date Placeholder 3">
            <a:extLst>
              <a:ext uri="{FF2B5EF4-FFF2-40B4-BE49-F238E27FC236}">
                <a16:creationId xmlns:a16="http://schemas.microsoft.com/office/drawing/2014/main" id="{0D9B1FB0-91E6-4D22-9225-C0C4390E94F1}"/>
              </a:ext>
            </a:extLst>
          </p:cNvPr>
          <p:cNvSpPr>
            <a:spLocks noGrp="1"/>
          </p:cNvSpPr>
          <p:nvPr>
            <p:ph type="dt" sz="half" idx="10"/>
          </p:nvPr>
        </p:nvSpPr>
        <p:spPr/>
        <p:txBody>
          <a:bodyPr/>
          <a:lstStyle/>
          <a:p>
            <a:fld id="{70F073B8-951B-4721-850B-74C5F672223A}" type="datetime8">
              <a:rPr lang="hi-IN" smtClean="0"/>
              <a:t>१९/०७/२४</a:t>
            </a:fld>
            <a:endParaRPr lang="hi-IN"/>
          </a:p>
        </p:txBody>
      </p:sp>
      <p:sp>
        <p:nvSpPr>
          <p:cNvPr id="5" name="Footer Placeholder 4">
            <a:extLst>
              <a:ext uri="{FF2B5EF4-FFF2-40B4-BE49-F238E27FC236}">
                <a16:creationId xmlns:a16="http://schemas.microsoft.com/office/drawing/2014/main" id="{24D2457D-0FCE-4567-875F-DBC6BF7D2826}"/>
              </a:ext>
            </a:extLst>
          </p:cNvPr>
          <p:cNvSpPr>
            <a:spLocks noGrp="1"/>
          </p:cNvSpPr>
          <p:nvPr>
            <p:ph type="ftr" sz="quarter" idx="11"/>
          </p:nvPr>
        </p:nvSpPr>
        <p:spPr/>
        <p:txBody>
          <a:bodyPr/>
          <a:lstStyle/>
          <a:p>
            <a:r>
              <a:rPr lang="en-US"/>
              <a:t>Amrita School of Engineering</a:t>
            </a:r>
            <a:endParaRPr lang="hi-IN"/>
          </a:p>
        </p:txBody>
      </p:sp>
      <p:sp>
        <p:nvSpPr>
          <p:cNvPr id="6" name="Slide Number Placeholder 5">
            <a:extLst>
              <a:ext uri="{FF2B5EF4-FFF2-40B4-BE49-F238E27FC236}">
                <a16:creationId xmlns:a16="http://schemas.microsoft.com/office/drawing/2014/main" id="{31CFCCD0-2F60-43C9-A1F6-F4801657B9F5}"/>
              </a:ext>
            </a:extLst>
          </p:cNvPr>
          <p:cNvSpPr>
            <a:spLocks noGrp="1"/>
          </p:cNvSpPr>
          <p:nvPr>
            <p:ph type="sldNum" sz="quarter" idx="12"/>
          </p:nvPr>
        </p:nvSpPr>
        <p:spPr/>
        <p:txBody>
          <a:bodyPr/>
          <a:lstStyle/>
          <a:p>
            <a:fld id="{F56F9007-E0C6-489E-B603-BD6BB4385429}" type="slidenum">
              <a:rPr lang="hi-IN" smtClean="0"/>
              <a:t>‹#›</a:t>
            </a:fld>
            <a:endParaRPr lang="hi-IN"/>
          </a:p>
        </p:txBody>
      </p:sp>
    </p:spTree>
    <p:extLst>
      <p:ext uri="{BB962C8B-B14F-4D97-AF65-F5344CB8AC3E}">
        <p14:creationId xmlns:p14="http://schemas.microsoft.com/office/powerpoint/2010/main" val="171594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E6E8F-9F97-4544-B404-0DE49676F0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i-IN"/>
          </a:p>
        </p:txBody>
      </p:sp>
      <p:sp>
        <p:nvSpPr>
          <p:cNvPr id="3" name="Text Placeholder 2">
            <a:extLst>
              <a:ext uri="{FF2B5EF4-FFF2-40B4-BE49-F238E27FC236}">
                <a16:creationId xmlns:a16="http://schemas.microsoft.com/office/drawing/2014/main" id="{64824E79-00B4-40EB-89BA-0D070057C4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574F30-1E6C-4CA3-A564-DE18FF2A81C0}"/>
              </a:ext>
            </a:extLst>
          </p:cNvPr>
          <p:cNvSpPr>
            <a:spLocks noGrp="1"/>
          </p:cNvSpPr>
          <p:nvPr>
            <p:ph type="dt" sz="half" idx="10"/>
          </p:nvPr>
        </p:nvSpPr>
        <p:spPr/>
        <p:txBody>
          <a:bodyPr/>
          <a:lstStyle/>
          <a:p>
            <a:fld id="{17D98791-C980-4FB6-8A37-86E3004C9BDE}" type="datetime8">
              <a:rPr lang="hi-IN" smtClean="0"/>
              <a:t>१९/०७/२४</a:t>
            </a:fld>
            <a:endParaRPr lang="hi-IN"/>
          </a:p>
        </p:txBody>
      </p:sp>
      <p:sp>
        <p:nvSpPr>
          <p:cNvPr id="5" name="Footer Placeholder 4">
            <a:extLst>
              <a:ext uri="{FF2B5EF4-FFF2-40B4-BE49-F238E27FC236}">
                <a16:creationId xmlns:a16="http://schemas.microsoft.com/office/drawing/2014/main" id="{53B59E9A-BC84-4EAF-86C7-2675CAE353D9}"/>
              </a:ext>
            </a:extLst>
          </p:cNvPr>
          <p:cNvSpPr>
            <a:spLocks noGrp="1"/>
          </p:cNvSpPr>
          <p:nvPr>
            <p:ph type="ftr" sz="quarter" idx="11"/>
          </p:nvPr>
        </p:nvSpPr>
        <p:spPr/>
        <p:txBody>
          <a:bodyPr/>
          <a:lstStyle/>
          <a:p>
            <a:r>
              <a:rPr lang="en-US"/>
              <a:t>Amrita School of Engineering</a:t>
            </a:r>
            <a:endParaRPr lang="hi-IN"/>
          </a:p>
        </p:txBody>
      </p:sp>
      <p:sp>
        <p:nvSpPr>
          <p:cNvPr id="6" name="Slide Number Placeholder 5">
            <a:extLst>
              <a:ext uri="{FF2B5EF4-FFF2-40B4-BE49-F238E27FC236}">
                <a16:creationId xmlns:a16="http://schemas.microsoft.com/office/drawing/2014/main" id="{F5360AE5-49CC-46E8-9633-1789C49CCEC0}"/>
              </a:ext>
            </a:extLst>
          </p:cNvPr>
          <p:cNvSpPr>
            <a:spLocks noGrp="1"/>
          </p:cNvSpPr>
          <p:nvPr>
            <p:ph type="sldNum" sz="quarter" idx="12"/>
          </p:nvPr>
        </p:nvSpPr>
        <p:spPr/>
        <p:txBody>
          <a:bodyPr/>
          <a:lstStyle/>
          <a:p>
            <a:fld id="{F56F9007-E0C6-489E-B603-BD6BB4385429}" type="slidenum">
              <a:rPr lang="hi-IN" smtClean="0"/>
              <a:t>‹#›</a:t>
            </a:fld>
            <a:endParaRPr lang="hi-IN"/>
          </a:p>
        </p:txBody>
      </p:sp>
    </p:spTree>
    <p:extLst>
      <p:ext uri="{BB962C8B-B14F-4D97-AF65-F5344CB8AC3E}">
        <p14:creationId xmlns:p14="http://schemas.microsoft.com/office/powerpoint/2010/main" val="191383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9EB8E-3F8F-44B8-909D-CE6273619C3B}"/>
              </a:ext>
            </a:extLst>
          </p:cNvPr>
          <p:cNvSpPr>
            <a:spLocks noGrp="1"/>
          </p:cNvSpPr>
          <p:nvPr>
            <p:ph type="title"/>
          </p:nvPr>
        </p:nvSpPr>
        <p:spPr/>
        <p:txBody>
          <a:bodyPr/>
          <a:lstStyle/>
          <a:p>
            <a:r>
              <a:rPr lang="en-US"/>
              <a:t>Click to edit Master title style</a:t>
            </a:r>
            <a:endParaRPr lang="hi-IN"/>
          </a:p>
        </p:txBody>
      </p:sp>
      <p:sp>
        <p:nvSpPr>
          <p:cNvPr id="3" name="Content Placeholder 2">
            <a:extLst>
              <a:ext uri="{FF2B5EF4-FFF2-40B4-BE49-F238E27FC236}">
                <a16:creationId xmlns:a16="http://schemas.microsoft.com/office/drawing/2014/main" id="{0FBF2E94-0D9C-4D14-9309-10080C0C04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Content Placeholder 3">
            <a:extLst>
              <a:ext uri="{FF2B5EF4-FFF2-40B4-BE49-F238E27FC236}">
                <a16:creationId xmlns:a16="http://schemas.microsoft.com/office/drawing/2014/main" id="{47226021-BF03-4C25-824A-FC43ADDF79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5" name="Date Placeholder 4">
            <a:extLst>
              <a:ext uri="{FF2B5EF4-FFF2-40B4-BE49-F238E27FC236}">
                <a16:creationId xmlns:a16="http://schemas.microsoft.com/office/drawing/2014/main" id="{685EA8F5-8648-428D-B0DE-7BB493027DFB}"/>
              </a:ext>
            </a:extLst>
          </p:cNvPr>
          <p:cNvSpPr>
            <a:spLocks noGrp="1"/>
          </p:cNvSpPr>
          <p:nvPr>
            <p:ph type="dt" sz="half" idx="10"/>
          </p:nvPr>
        </p:nvSpPr>
        <p:spPr/>
        <p:txBody>
          <a:bodyPr/>
          <a:lstStyle/>
          <a:p>
            <a:fld id="{772A567B-3642-4FC2-AADC-5B9710641136}" type="datetime8">
              <a:rPr lang="hi-IN" smtClean="0"/>
              <a:t>१९/०७/२४</a:t>
            </a:fld>
            <a:endParaRPr lang="hi-IN"/>
          </a:p>
        </p:txBody>
      </p:sp>
      <p:sp>
        <p:nvSpPr>
          <p:cNvPr id="6" name="Footer Placeholder 5">
            <a:extLst>
              <a:ext uri="{FF2B5EF4-FFF2-40B4-BE49-F238E27FC236}">
                <a16:creationId xmlns:a16="http://schemas.microsoft.com/office/drawing/2014/main" id="{70A4FFD4-0533-4DEF-8790-FCB512C51F78}"/>
              </a:ext>
            </a:extLst>
          </p:cNvPr>
          <p:cNvSpPr>
            <a:spLocks noGrp="1"/>
          </p:cNvSpPr>
          <p:nvPr>
            <p:ph type="ftr" sz="quarter" idx="11"/>
          </p:nvPr>
        </p:nvSpPr>
        <p:spPr/>
        <p:txBody>
          <a:bodyPr/>
          <a:lstStyle/>
          <a:p>
            <a:r>
              <a:rPr lang="en-US"/>
              <a:t>Amrita School of Engineering</a:t>
            </a:r>
            <a:endParaRPr lang="hi-IN"/>
          </a:p>
        </p:txBody>
      </p:sp>
      <p:sp>
        <p:nvSpPr>
          <p:cNvPr id="7" name="Slide Number Placeholder 6">
            <a:extLst>
              <a:ext uri="{FF2B5EF4-FFF2-40B4-BE49-F238E27FC236}">
                <a16:creationId xmlns:a16="http://schemas.microsoft.com/office/drawing/2014/main" id="{E05313C0-7A93-4F24-A29D-92A36320C1C7}"/>
              </a:ext>
            </a:extLst>
          </p:cNvPr>
          <p:cNvSpPr>
            <a:spLocks noGrp="1"/>
          </p:cNvSpPr>
          <p:nvPr>
            <p:ph type="sldNum" sz="quarter" idx="12"/>
          </p:nvPr>
        </p:nvSpPr>
        <p:spPr/>
        <p:txBody>
          <a:bodyPr/>
          <a:lstStyle/>
          <a:p>
            <a:fld id="{F56F9007-E0C6-489E-B603-BD6BB4385429}" type="slidenum">
              <a:rPr lang="hi-IN" smtClean="0"/>
              <a:t>‹#›</a:t>
            </a:fld>
            <a:endParaRPr lang="hi-IN"/>
          </a:p>
        </p:txBody>
      </p:sp>
    </p:spTree>
    <p:extLst>
      <p:ext uri="{BB962C8B-B14F-4D97-AF65-F5344CB8AC3E}">
        <p14:creationId xmlns:p14="http://schemas.microsoft.com/office/powerpoint/2010/main" val="2106452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D1102-749C-4EAE-9309-6B5A0208BB85}"/>
              </a:ext>
            </a:extLst>
          </p:cNvPr>
          <p:cNvSpPr>
            <a:spLocks noGrp="1"/>
          </p:cNvSpPr>
          <p:nvPr>
            <p:ph type="title"/>
          </p:nvPr>
        </p:nvSpPr>
        <p:spPr>
          <a:xfrm>
            <a:off x="839788" y="365125"/>
            <a:ext cx="10515600" cy="1325563"/>
          </a:xfrm>
        </p:spPr>
        <p:txBody>
          <a:bodyPr/>
          <a:lstStyle/>
          <a:p>
            <a:r>
              <a:rPr lang="en-US"/>
              <a:t>Click to edit Master title style</a:t>
            </a:r>
            <a:endParaRPr lang="hi-IN"/>
          </a:p>
        </p:txBody>
      </p:sp>
      <p:sp>
        <p:nvSpPr>
          <p:cNvPr id="3" name="Text Placeholder 2">
            <a:extLst>
              <a:ext uri="{FF2B5EF4-FFF2-40B4-BE49-F238E27FC236}">
                <a16:creationId xmlns:a16="http://schemas.microsoft.com/office/drawing/2014/main" id="{3A568050-FE7B-4EBC-B585-E0A9461582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E7A08A-0F4E-4D90-B020-70E75BD764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5" name="Text Placeholder 4">
            <a:extLst>
              <a:ext uri="{FF2B5EF4-FFF2-40B4-BE49-F238E27FC236}">
                <a16:creationId xmlns:a16="http://schemas.microsoft.com/office/drawing/2014/main" id="{74858C36-B348-4E7A-B185-7D15896AD6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F77855-3A35-473E-A5E3-ABF2F1DA77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7" name="Date Placeholder 6">
            <a:extLst>
              <a:ext uri="{FF2B5EF4-FFF2-40B4-BE49-F238E27FC236}">
                <a16:creationId xmlns:a16="http://schemas.microsoft.com/office/drawing/2014/main" id="{4D8C4CB2-8BC4-4AE2-B5AC-20787557EA4C}"/>
              </a:ext>
            </a:extLst>
          </p:cNvPr>
          <p:cNvSpPr>
            <a:spLocks noGrp="1"/>
          </p:cNvSpPr>
          <p:nvPr>
            <p:ph type="dt" sz="half" idx="10"/>
          </p:nvPr>
        </p:nvSpPr>
        <p:spPr/>
        <p:txBody>
          <a:bodyPr/>
          <a:lstStyle/>
          <a:p>
            <a:fld id="{E13E28EC-BBF5-4CCC-B308-D83EB7C8C0D4}" type="datetime8">
              <a:rPr lang="hi-IN" smtClean="0"/>
              <a:t>१९/०७/२४</a:t>
            </a:fld>
            <a:endParaRPr lang="hi-IN"/>
          </a:p>
        </p:txBody>
      </p:sp>
      <p:sp>
        <p:nvSpPr>
          <p:cNvPr id="8" name="Footer Placeholder 7">
            <a:extLst>
              <a:ext uri="{FF2B5EF4-FFF2-40B4-BE49-F238E27FC236}">
                <a16:creationId xmlns:a16="http://schemas.microsoft.com/office/drawing/2014/main" id="{7500F9DA-3B41-4EDB-88E2-388F523BEE2C}"/>
              </a:ext>
            </a:extLst>
          </p:cNvPr>
          <p:cNvSpPr>
            <a:spLocks noGrp="1"/>
          </p:cNvSpPr>
          <p:nvPr>
            <p:ph type="ftr" sz="quarter" idx="11"/>
          </p:nvPr>
        </p:nvSpPr>
        <p:spPr/>
        <p:txBody>
          <a:bodyPr/>
          <a:lstStyle/>
          <a:p>
            <a:r>
              <a:rPr lang="en-US"/>
              <a:t>Amrita School of Engineering</a:t>
            </a:r>
            <a:endParaRPr lang="hi-IN"/>
          </a:p>
        </p:txBody>
      </p:sp>
      <p:sp>
        <p:nvSpPr>
          <p:cNvPr id="9" name="Slide Number Placeholder 8">
            <a:extLst>
              <a:ext uri="{FF2B5EF4-FFF2-40B4-BE49-F238E27FC236}">
                <a16:creationId xmlns:a16="http://schemas.microsoft.com/office/drawing/2014/main" id="{54853143-07AC-46CE-A514-56771B231D98}"/>
              </a:ext>
            </a:extLst>
          </p:cNvPr>
          <p:cNvSpPr>
            <a:spLocks noGrp="1"/>
          </p:cNvSpPr>
          <p:nvPr>
            <p:ph type="sldNum" sz="quarter" idx="12"/>
          </p:nvPr>
        </p:nvSpPr>
        <p:spPr/>
        <p:txBody>
          <a:bodyPr/>
          <a:lstStyle/>
          <a:p>
            <a:fld id="{F56F9007-E0C6-489E-B603-BD6BB4385429}" type="slidenum">
              <a:rPr lang="hi-IN" smtClean="0"/>
              <a:t>‹#›</a:t>
            </a:fld>
            <a:endParaRPr lang="hi-IN"/>
          </a:p>
        </p:txBody>
      </p:sp>
    </p:spTree>
    <p:extLst>
      <p:ext uri="{BB962C8B-B14F-4D97-AF65-F5344CB8AC3E}">
        <p14:creationId xmlns:p14="http://schemas.microsoft.com/office/powerpoint/2010/main" val="2452994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02A9C-A67A-49DE-B501-EA006F1A1229}"/>
              </a:ext>
            </a:extLst>
          </p:cNvPr>
          <p:cNvSpPr>
            <a:spLocks noGrp="1"/>
          </p:cNvSpPr>
          <p:nvPr>
            <p:ph type="title"/>
          </p:nvPr>
        </p:nvSpPr>
        <p:spPr/>
        <p:txBody>
          <a:bodyPr/>
          <a:lstStyle/>
          <a:p>
            <a:r>
              <a:rPr lang="en-US"/>
              <a:t>Click to edit Master title style</a:t>
            </a:r>
            <a:endParaRPr lang="hi-IN"/>
          </a:p>
        </p:txBody>
      </p:sp>
      <p:sp>
        <p:nvSpPr>
          <p:cNvPr id="3" name="Date Placeholder 2">
            <a:extLst>
              <a:ext uri="{FF2B5EF4-FFF2-40B4-BE49-F238E27FC236}">
                <a16:creationId xmlns:a16="http://schemas.microsoft.com/office/drawing/2014/main" id="{9DA1AC9F-5C5B-4A6D-A085-C01FBB83071A}"/>
              </a:ext>
            </a:extLst>
          </p:cNvPr>
          <p:cNvSpPr>
            <a:spLocks noGrp="1"/>
          </p:cNvSpPr>
          <p:nvPr>
            <p:ph type="dt" sz="half" idx="10"/>
          </p:nvPr>
        </p:nvSpPr>
        <p:spPr/>
        <p:txBody>
          <a:bodyPr/>
          <a:lstStyle/>
          <a:p>
            <a:fld id="{9444A1FD-679E-487E-BC31-D03F2D335D87}" type="datetime8">
              <a:rPr lang="hi-IN" smtClean="0"/>
              <a:t>१९/०७/२४</a:t>
            </a:fld>
            <a:endParaRPr lang="hi-IN"/>
          </a:p>
        </p:txBody>
      </p:sp>
      <p:sp>
        <p:nvSpPr>
          <p:cNvPr id="4" name="Footer Placeholder 3">
            <a:extLst>
              <a:ext uri="{FF2B5EF4-FFF2-40B4-BE49-F238E27FC236}">
                <a16:creationId xmlns:a16="http://schemas.microsoft.com/office/drawing/2014/main" id="{510A2573-AA36-438E-9706-6116550ACBD9}"/>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F637C705-14C4-413B-8F5E-4EA147EC7B71}"/>
              </a:ext>
            </a:extLst>
          </p:cNvPr>
          <p:cNvSpPr>
            <a:spLocks noGrp="1"/>
          </p:cNvSpPr>
          <p:nvPr>
            <p:ph type="sldNum" sz="quarter" idx="12"/>
          </p:nvPr>
        </p:nvSpPr>
        <p:spPr/>
        <p:txBody>
          <a:bodyPr/>
          <a:lstStyle/>
          <a:p>
            <a:fld id="{F56F9007-E0C6-489E-B603-BD6BB4385429}" type="slidenum">
              <a:rPr lang="hi-IN" smtClean="0"/>
              <a:t>‹#›</a:t>
            </a:fld>
            <a:endParaRPr lang="hi-IN"/>
          </a:p>
        </p:txBody>
      </p:sp>
    </p:spTree>
    <p:extLst>
      <p:ext uri="{BB962C8B-B14F-4D97-AF65-F5344CB8AC3E}">
        <p14:creationId xmlns:p14="http://schemas.microsoft.com/office/powerpoint/2010/main" val="913778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11DEF8-AFAE-409F-BF38-3F823B895EA6}"/>
              </a:ext>
            </a:extLst>
          </p:cNvPr>
          <p:cNvSpPr>
            <a:spLocks noGrp="1"/>
          </p:cNvSpPr>
          <p:nvPr>
            <p:ph type="dt" sz="half" idx="10"/>
          </p:nvPr>
        </p:nvSpPr>
        <p:spPr/>
        <p:txBody>
          <a:bodyPr/>
          <a:lstStyle/>
          <a:p>
            <a:fld id="{F991DC67-DCFB-4A6C-B47D-0B179D8F8F83}" type="datetime8">
              <a:rPr lang="hi-IN" smtClean="0"/>
              <a:t>१९/०७/२४</a:t>
            </a:fld>
            <a:endParaRPr lang="hi-IN"/>
          </a:p>
        </p:txBody>
      </p:sp>
      <p:sp>
        <p:nvSpPr>
          <p:cNvPr id="3" name="Footer Placeholder 2">
            <a:extLst>
              <a:ext uri="{FF2B5EF4-FFF2-40B4-BE49-F238E27FC236}">
                <a16:creationId xmlns:a16="http://schemas.microsoft.com/office/drawing/2014/main" id="{1B7A3C17-5411-4501-BACB-673DD6B7591F}"/>
              </a:ext>
            </a:extLst>
          </p:cNvPr>
          <p:cNvSpPr>
            <a:spLocks noGrp="1"/>
          </p:cNvSpPr>
          <p:nvPr>
            <p:ph type="ftr" sz="quarter" idx="11"/>
          </p:nvPr>
        </p:nvSpPr>
        <p:spPr/>
        <p:txBody>
          <a:bodyPr/>
          <a:lstStyle/>
          <a:p>
            <a:r>
              <a:rPr lang="en-US"/>
              <a:t>Amrita School of Engineering</a:t>
            </a:r>
            <a:endParaRPr lang="hi-IN"/>
          </a:p>
        </p:txBody>
      </p:sp>
      <p:sp>
        <p:nvSpPr>
          <p:cNvPr id="4" name="Slide Number Placeholder 3">
            <a:extLst>
              <a:ext uri="{FF2B5EF4-FFF2-40B4-BE49-F238E27FC236}">
                <a16:creationId xmlns:a16="http://schemas.microsoft.com/office/drawing/2014/main" id="{0BE84D7E-8234-4B5B-A945-95E5569C6057}"/>
              </a:ext>
            </a:extLst>
          </p:cNvPr>
          <p:cNvSpPr>
            <a:spLocks noGrp="1"/>
          </p:cNvSpPr>
          <p:nvPr>
            <p:ph type="sldNum" sz="quarter" idx="12"/>
          </p:nvPr>
        </p:nvSpPr>
        <p:spPr/>
        <p:txBody>
          <a:bodyPr/>
          <a:lstStyle/>
          <a:p>
            <a:fld id="{F56F9007-E0C6-489E-B603-BD6BB4385429}" type="slidenum">
              <a:rPr lang="hi-IN" smtClean="0"/>
              <a:t>‹#›</a:t>
            </a:fld>
            <a:endParaRPr lang="hi-IN"/>
          </a:p>
        </p:txBody>
      </p:sp>
    </p:spTree>
    <p:extLst>
      <p:ext uri="{BB962C8B-B14F-4D97-AF65-F5344CB8AC3E}">
        <p14:creationId xmlns:p14="http://schemas.microsoft.com/office/powerpoint/2010/main" val="45732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7898B-8858-4D44-97E6-DBE716E0A0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i-IN"/>
          </a:p>
        </p:txBody>
      </p:sp>
      <p:sp>
        <p:nvSpPr>
          <p:cNvPr id="3" name="Content Placeholder 2">
            <a:extLst>
              <a:ext uri="{FF2B5EF4-FFF2-40B4-BE49-F238E27FC236}">
                <a16:creationId xmlns:a16="http://schemas.microsoft.com/office/drawing/2014/main" id="{12943CC6-EB29-4F34-A9C3-AD62F6E410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Text Placeholder 3">
            <a:extLst>
              <a:ext uri="{FF2B5EF4-FFF2-40B4-BE49-F238E27FC236}">
                <a16:creationId xmlns:a16="http://schemas.microsoft.com/office/drawing/2014/main" id="{0E28D971-09D6-4F6E-9031-3E7985FC69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F76C7F-E6A9-4586-9D3E-61409ACBFCA5}"/>
              </a:ext>
            </a:extLst>
          </p:cNvPr>
          <p:cNvSpPr>
            <a:spLocks noGrp="1"/>
          </p:cNvSpPr>
          <p:nvPr>
            <p:ph type="dt" sz="half" idx="10"/>
          </p:nvPr>
        </p:nvSpPr>
        <p:spPr/>
        <p:txBody>
          <a:bodyPr/>
          <a:lstStyle/>
          <a:p>
            <a:fld id="{14FF13CD-75DE-4C6C-AADB-30C2CD826110}" type="datetime8">
              <a:rPr lang="hi-IN" smtClean="0"/>
              <a:t>१९/०७/२४</a:t>
            </a:fld>
            <a:endParaRPr lang="hi-IN"/>
          </a:p>
        </p:txBody>
      </p:sp>
      <p:sp>
        <p:nvSpPr>
          <p:cNvPr id="6" name="Footer Placeholder 5">
            <a:extLst>
              <a:ext uri="{FF2B5EF4-FFF2-40B4-BE49-F238E27FC236}">
                <a16:creationId xmlns:a16="http://schemas.microsoft.com/office/drawing/2014/main" id="{B487597F-C05E-41F8-8925-755C7F6523E6}"/>
              </a:ext>
            </a:extLst>
          </p:cNvPr>
          <p:cNvSpPr>
            <a:spLocks noGrp="1"/>
          </p:cNvSpPr>
          <p:nvPr>
            <p:ph type="ftr" sz="quarter" idx="11"/>
          </p:nvPr>
        </p:nvSpPr>
        <p:spPr/>
        <p:txBody>
          <a:bodyPr/>
          <a:lstStyle/>
          <a:p>
            <a:r>
              <a:rPr lang="en-US"/>
              <a:t>Amrita School of Engineering</a:t>
            </a:r>
            <a:endParaRPr lang="hi-IN"/>
          </a:p>
        </p:txBody>
      </p:sp>
      <p:sp>
        <p:nvSpPr>
          <p:cNvPr id="7" name="Slide Number Placeholder 6">
            <a:extLst>
              <a:ext uri="{FF2B5EF4-FFF2-40B4-BE49-F238E27FC236}">
                <a16:creationId xmlns:a16="http://schemas.microsoft.com/office/drawing/2014/main" id="{C7E787C6-39E8-4FAB-BABD-C55F12975B1D}"/>
              </a:ext>
            </a:extLst>
          </p:cNvPr>
          <p:cNvSpPr>
            <a:spLocks noGrp="1"/>
          </p:cNvSpPr>
          <p:nvPr>
            <p:ph type="sldNum" sz="quarter" idx="12"/>
          </p:nvPr>
        </p:nvSpPr>
        <p:spPr/>
        <p:txBody>
          <a:bodyPr/>
          <a:lstStyle/>
          <a:p>
            <a:fld id="{F56F9007-E0C6-489E-B603-BD6BB4385429}" type="slidenum">
              <a:rPr lang="hi-IN" smtClean="0"/>
              <a:t>‹#›</a:t>
            </a:fld>
            <a:endParaRPr lang="hi-IN"/>
          </a:p>
        </p:txBody>
      </p:sp>
    </p:spTree>
    <p:extLst>
      <p:ext uri="{BB962C8B-B14F-4D97-AF65-F5344CB8AC3E}">
        <p14:creationId xmlns:p14="http://schemas.microsoft.com/office/powerpoint/2010/main" val="4075529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5DEB-2715-4797-8F79-0B726D2AE1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i-IN"/>
          </a:p>
        </p:txBody>
      </p:sp>
      <p:sp>
        <p:nvSpPr>
          <p:cNvPr id="3" name="Picture Placeholder 2">
            <a:extLst>
              <a:ext uri="{FF2B5EF4-FFF2-40B4-BE49-F238E27FC236}">
                <a16:creationId xmlns:a16="http://schemas.microsoft.com/office/drawing/2014/main" id="{2EB46180-1D07-4B76-AC10-268538D4EA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i-IN"/>
          </a:p>
        </p:txBody>
      </p:sp>
      <p:sp>
        <p:nvSpPr>
          <p:cNvPr id="4" name="Text Placeholder 3">
            <a:extLst>
              <a:ext uri="{FF2B5EF4-FFF2-40B4-BE49-F238E27FC236}">
                <a16:creationId xmlns:a16="http://schemas.microsoft.com/office/drawing/2014/main" id="{DF5A482D-75E1-4F7B-ACB7-B50AFA45FE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7D71BC-FFEC-4762-9006-1FB8F63C14B5}"/>
              </a:ext>
            </a:extLst>
          </p:cNvPr>
          <p:cNvSpPr>
            <a:spLocks noGrp="1"/>
          </p:cNvSpPr>
          <p:nvPr>
            <p:ph type="dt" sz="half" idx="10"/>
          </p:nvPr>
        </p:nvSpPr>
        <p:spPr/>
        <p:txBody>
          <a:bodyPr/>
          <a:lstStyle/>
          <a:p>
            <a:fld id="{E6D40E01-FDE0-42C6-B5B7-202BD8143085}" type="datetime8">
              <a:rPr lang="hi-IN" smtClean="0"/>
              <a:t>१९/०७/२४</a:t>
            </a:fld>
            <a:endParaRPr lang="hi-IN"/>
          </a:p>
        </p:txBody>
      </p:sp>
      <p:sp>
        <p:nvSpPr>
          <p:cNvPr id="6" name="Footer Placeholder 5">
            <a:extLst>
              <a:ext uri="{FF2B5EF4-FFF2-40B4-BE49-F238E27FC236}">
                <a16:creationId xmlns:a16="http://schemas.microsoft.com/office/drawing/2014/main" id="{D7672E03-C78C-408D-9BB6-3BC0F0CA509B}"/>
              </a:ext>
            </a:extLst>
          </p:cNvPr>
          <p:cNvSpPr>
            <a:spLocks noGrp="1"/>
          </p:cNvSpPr>
          <p:nvPr>
            <p:ph type="ftr" sz="quarter" idx="11"/>
          </p:nvPr>
        </p:nvSpPr>
        <p:spPr/>
        <p:txBody>
          <a:bodyPr/>
          <a:lstStyle/>
          <a:p>
            <a:r>
              <a:rPr lang="en-US"/>
              <a:t>Amrita School of Engineering</a:t>
            </a:r>
            <a:endParaRPr lang="hi-IN"/>
          </a:p>
        </p:txBody>
      </p:sp>
      <p:sp>
        <p:nvSpPr>
          <p:cNvPr id="7" name="Slide Number Placeholder 6">
            <a:extLst>
              <a:ext uri="{FF2B5EF4-FFF2-40B4-BE49-F238E27FC236}">
                <a16:creationId xmlns:a16="http://schemas.microsoft.com/office/drawing/2014/main" id="{D06DCE26-FF53-41BC-9D27-63D2758DAA29}"/>
              </a:ext>
            </a:extLst>
          </p:cNvPr>
          <p:cNvSpPr>
            <a:spLocks noGrp="1"/>
          </p:cNvSpPr>
          <p:nvPr>
            <p:ph type="sldNum" sz="quarter" idx="12"/>
          </p:nvPr>
        </p:nvSpPr>
        <p:spPr/>
        <p:txBody>
          <a:bodyPr/>
          <a:lstStyle/>
          <a:p>
            <a:fld id="{F56F9007-E0C6-489E-B603-BD6BB4385429}" type="slidenum">
              <a:rPr lang="hi-IN" smtClean="0"/>
              <a:t>‹#›</a:t>
            </a:fld>
            <a:endParaRPr lang="hi-IN"/>
          </a:p>
        </p:txBody>
      </p:sp>
    </p:spTree>
    <p:extLst>
      <p:ext uri="{BB962C8B-B14F-4D97-AF65-F5344CB8AC3E}">
        <p14:creationId xmlns:p14="http://schemas.microsoft.com/office/powerpoint/2010/main" val="1002753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4BC9D-CB63-4AC8-8FA3-4A8B015B9081}"/>
              </a:ext>
            </a:extLst>
          </p:cNvPr>
          <p:cNvSpPr>
            <a:spLocks noGrp="1"/>
          </p:cNvSpPr>
          <p:nvPr>
            <p:ph type="title"/>
          </p:nvPr>
        </p:nvSpPr>
        <p:spPr/>
        <p:txBody>
          <a:bodyPr/>
          <a:lstStyle/>
          <a:p>
            <a:r>
              <a:rPr lang="en-US"/>
              <a:t>Click to edit Master title style</a:t>
            </a:r>
            <a:endParaRPr lang="hi-IN"/>
          </a:p>
        </p:txBody>
      </p:sp>
      <p:sp>
        <p:nvSpPr>
          <p:cNvPr id="3" name="Vertical Text Placeholder 2">
            <a:extLst>
              <a:ext uri="{FF2B5EF4-FFF2-40B4-BE49-F238E27FC236}">
                <a16:creationId xmlns:a16="http://schemas.microsoft.com/office/drawing/2014/main" id="{C7AE2355-0CD5-4120-AE18-4907555968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Date Placeholder 3">
            <a:extLst>
              <a:ext uri="{FF2B5EF4-FFF2-40B4-BE49-F238E27FC236}">
                <a16:creationId xmlns:a16="http://schemas.microsoft.com/office/drawing/2014/main" id="{95399203-21B0-4D7E-A91F-401F3AF8F45F}"/>
              </a:ext>
            </a:extLst>
          </p:cNvPr>
          <p:cNvSpPr>
            <a:spLocks noGrp="1"/>
          </p:cNvSpPr>
          <p:nvPr>
            <p:ph type="dt" sz="half" idx="10"/>
          </p:nvPr>
        </p:nvSpPr>
        <p:spPr/>
        <p:txBody>
          <a:bodyPr/>
          <a:lstStyle/>
          <a:p>
            <a:fld id="{D53F7034-AF13-4772-B58C-6C4D186EC71A}" type="datetime8">
              <a:rPr lang="hi-IN" smtClean="0"/>
              <a:t>१९/०७/२४</a:t>
            </a:fld>
            <a:endParaRPr lang="hi-IN"/>
          </a:p>
        </p:txBody>
      </p:sp>
      <p:sp>
        <p:nvSpPr>
          <p:cNvPr id="5" name="Footer Placeholder 4">
            <a:extLst>
              <a:ext uri="{FF2B5EF4-FFF2-40B4-BE49-F238E27FC236}">
                <a16:creationId xmlns:a16="http://schemas.microsoft.com/office/drawing/2014/main" id="{172B3B55-921F-499C-97BB-BCD1727BEE4D}"/>
              </a:ext>
            </a:extLst>
          </p:cNvPr>
          <p:cNvSpPr>
            <a:spLocks noGrp="1"/>
          </p:cNvSpPr>
          <p:nvPr>
            <p:ph type="ftr" sz="quarter" idx="11"/>
          </p:nvPr>
        </p:nvSpPr>
        <p:spPr/>
        <p:txBody>
          <a:bodyPr/>
          <a:lstStyle/>
          <a:p>
            <a:r>
              <a:rPr lang="en-US"/>
              <a:t>Amrita School of Engineering</a:t>
            </a:r>
            <a:endParaRPr lang="hi-IN"/>
          </a:p>
        </p:txBody>
      </p:sp>
      <p:sp>
        <p:nvSpPr>
          <p:cNvPr id="6" name="Slide Number Placeholder 5">
            <a:extLst>
              <a:ext uri="{FF2B5EF4-FFF2-40B4-BE49-F238E27FC236}">
                <a16:creationId xmlns:a16="http://schemas.microsoft.com/office/drawing/2014/main" id="{D70829C1-210F-4E11-92F8-EF58270A4C18}"/>
              </a:ext>
            </a:extLst>
          </p:cNvPr>
          <p:cNvSpPr>
            <a:spLocks noGrp="1"/>
          </p:cNvSpPr>
          <p:nvPr>
            <p:ph type="sldNum" sz="quarter" idx="12"/>
          </p:nvPr>
        </p:nvSpPr>
        <p:spPr/>
        <p:txBody>
          <a:bodyPr/>
          <a:lstStyle/>
          <a:p>
            <a:fld id="{F56F9007-E0C6-489E-B603-BD6BB4385429}" type="slidenum">
              <a:rPr lang="hi-IN" smtClean="0"/>
              <a:t>‹#›</a:t>
            </a:fld>
            <a:endParaRPr lang="hi-IN"/>
          </a:p>
        </p:txBody>
      </p:sp>
    </p:spTree>
    <p:extLst>
      <p:ext uri="{BB962C8B-B14F-4D97-AF65-F5344CB8AC3E}">
        <p14:creationId xmlns:p14="http://schemas.microsoft.com/office/powerpoint/2010/main" val="3850522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940393-9FA9-4C32-8322-12801CF2514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i-IN"/>
          </a:p>
        </p:txBody>
      </p:sp>
      <p:sp>
        <p:nvSpPr>
          <p:cNvPr id="3" name="Vertical Text Placeholder 2">
            <a:extLst>
              <a:ext uri="{FF2B5EF4-FFF2-40B4-BE49-F238E27FC236}">
                <a16:creationId xmlns:a16="http://schemas.microsoft.com/office/drawing/2014/main" id="{C9DD9DDF-730E-4751-96D2-6A9DD38D30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Date Placeholder 3">
            <a:extLst>
              <a:ext uri="{FF2B5EF4-FFF2-40B4-BE49-F238E27FC236}">
                <a16:creationId xmlns:a16="http://schemas.microsoft.com/office/drawing/2014/main" id="{6C299F09-605F-4310-A591-A33DDB8EB309}"/>
              </a:ext>
            </a:extLst>
          </p:cNvPr>
          <p:cNvSpPr>
            <a:spLocks noGrp="1"/>
          </p:cNvSpPr>
          <p:nvPr>
            <p:ph type="dt" sz="half" idx="10"/>
          </p:nvPr>
        </p:nvSpPr>
        <p:spPr/>
        <p:txBody>
          <a:bodyPr/>
          <a:lstStyle/>
          <a:p>
            <a:fld id="{392687DB-06C8-4291-8E36-7DBDDB57E7A2}" type="datetime8">
              <a:rPr lang="hi-IN" smtClean="0"/>
              <a:t>१९/०७/२४</a:t>
            </a:fld>
            <a:endParaRPr lang="hi-IN"/>
          </a:p>
        </p:txBody>
      </p:sp>
      <p:sp>
        <p:nvSpPr>
          <p:cNvPr id="5" name="Footer Placeholder 4">
            <a:extLst>
              <a:ext uri="{FF2B5EF4-FFF2-40B4-BE49-F238E27FC236}">
                <a16:creationId xmlns:a16="http://schemas.microsoft.com/office/drawing/2014/main" id="{738814AE-51BF-416D-B912-7BE12E3A8661}"/>
              </a:ext>
            </a:extLst>
          </p:cNvPr>
          <p:cNvSpPr>
            <a:spLocks noGrp="1"/>
          </p:cNvSpPr>
          <p:nvPr>
            <p:ph type="ftr" sz="quarter" idx="11"/>
          </p:nvPr>
        </p:nvSpPr>
        <p:spPr/>
        <p:txBody>
          <a:bodyPr/>
          <a:lstStyle/>
          <a:p>
            <a:r>
              <a:rPr lang="en-US"/>
              <a:t>Amrita School of Engineering</a:t>
            </a:r>
            <a:endParaRPr lang="hi-IN"/>
          </a:p>
        </p:txBody>
      </p:sp>
      <p:sp>
        <p:nvSpPr>
          <p:cNvPr id="6" name="Slide Number Placeholder 5">
            <a:extLst>
              <a:ext uri="{FF2B5EF4-FFF2-40B4-BE49-F238E27FC236}">
                <a16:creationId xmlns:a16="http://schemas.microsoft.com/office/drawing/2014/main" id="{04E2D08B-D34C-404D-B8CC-88ECD70601FC}"/>
              </a:ext>
            </a:extLst>
          </p:cNvPr>
          <p:cNvSpPr>
            <a:spLocks noGrp="1"/>
          </p:cNvSpPr>
          <p:nvPr>
            <p:ph type="sldNum" sz="quarter" idx="12"/>
          </p:nvPr>
        </p:nvSpPr>
        <p:spPr/>
        <p:txBody>
          <a:bodyPr/>
          <a:lstStyle/>
          <a:p>
            <a:fld id="{F56F9007-E0C6-489E-B603-BD6BB4385429}" type="slidenum">
              <a:rPr lang="hi-IN" smtClean="0"/>
              <a:t>‹#›</a:t>
            </a:fld>
            <a:endParaRPr lang="hi-IN"/>
          </a:p>
        </p:txBody>
      </p:sp>
    </p:spTree>
    <p:extLst>
      <p:ext uri="{BB962C8B-B14F-4D97-AF65-F5344CB8AC3E}">
        <p14:creationId xmlns:p14="http://schemas.microsoft.com/office/powerpoint/2010/main" val="4164704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6A9086-734A-4815-B3D5-3F8146B37A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i-IN"/>
          </a:p>
        </p:txBody>
      </p:sp>
      <p:sp>
        <p:nvSpPr>
          <p:cNvPr id="3" name="Text Placeholder 2">
            <a:extLst>
              <a:ext uri="{FF2B5EF4-FFF2-40B4-BE49-F238E27FC236}">
                <a16:creationId xmlns:a16="http://schemas.microsoft.com/office/drawing/2014/main" id="{D69BAF97-974A-4388-B4A4-9C553D5DA9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Date Placeholder 3">
            <a:extLst>
              <a:ext uri="{FF2B5EF4-FFF2-40B4-BE49-F238E27FC236}">
                <a16:creationId xmlns:a16="http://schemas.microsoft.com/office/drawing/2014/main" id="{3FF67534-502E-45DE-9914-D4455C7D5A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851463-A563-4097-9B5A-58936DCB594F}" type="datetime8">
              <a:rPr lang="hi-IN" smtClean="0"/>
              <a:t>१९/०७/२४</a:t>
            </a:fld>
            <a:endParaRPr lang="hi-IN"/>
          </a:p>
        </p:txBody>
      </p:sp>
      <p:sp>
        <p:nvSpPr>
          <p:cNvPr id="5" name="Footer Placeholder 4">
            <a:extLst>
              <a:ext uri="{FF2B5EF4-FFF2-40B4-BE49-F238E27FC236}">
                <a16:creationId xmlns:a16="http://schemas.microsoft.com/office/drawing/2014/main" id="{F0C62087-8B1E-4386-BA8B-58E23852B5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Amrita School of Engineering</a:t>
            </a:r>
            <a:endParaRPr lang="hi-IN"/>
          </a:p>
        </p:txBody>
      </p:sp>
      <p:sp>
        <p:nvSpPr>
          <p:cNvPr id="6" name="Slide Number Placeholder 5">
            <a:extLst>
              <a:ext uri="{FF2B5EF4-FFF2-40B4-BE49-F238E27FC236}">
                <a16:creationId xmlns:a16="http://schemas.microsoft.com/office/drawing/2014/main" id="{BA10FA64-15CC-48B5-90EE-BAFE94062C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6F9007-E0C6-489E-B603-BD6BB4385429}" type="slidenum">
              <a:rPr lang="hi-IN" smtClean="0"/>
              <a:t>‹#›</a:t>
            </a:fld>
            <a:endParaRPr lang="hi-IN"/>
          </a:p>
        </p:txBody>
      </p:sp>
    </p:spTree>
    <p:extLst>
      <p:ext uri="{BB962C8B-B14F-4D97-AF65-F5344CB8AC3E}">
        <p14:creationId xmlns:p14="http://schemas.microsoft.com/office/powerpoint/2010/main" val="16141371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i-I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61D22-80C3-411C-8062-EC4611B5A6D7}"/>
              </a:ext>
            </a:extLst>
          </p:cNvPr>
          <p:cNvSpPr>
            <a:spLocks noGrp="1"/>
          </p:cNvSpPr>
          <p:nvPr>
            <p:ph type="ctrTitle"/>
          </p:nvPr>
        </p:nvSpPr>
        <p:spPr/>
        <p:txBody>
          <a:bodyPr/>
          <a:lstStyle/>
          <a:p>
            <a:r>
              <a:rPr lang="en-US" b="1" dirty="0"/>
              <a:t>Branch and Bound</a:t>
            </a:r>
            <a:endParaRPr lang="hi-IN" b="1" dirty="0"/>
          </a:p>
        </p:txBody>
      </p:sp>
      <p:sp>
        <p:nvSpPr>
          <p:cNvPr id="3" name="Subtitle 2">
            <a:extLst>
              <a:ext uri="{FF2B5EF4-FFF2-40B4-BE49-F238E27FC236}">
                <a16:creationId xmlns:a16="http://schemas.microsoft.com/office/drawing/2014/main" id="{173530FB-7ABA-43D6-A71E-7CCA5E597F8F}"/>
              </a:ext>
            </a:extLst>
          </p:cNvPr>
          <p:cNvSpPr>
            <a:spLocks noGrp="1"/>
          </p:cNvSpPr>
          <p:nvPr>
            <p:ph type="subTitle" idx="1"/>
          </p:nvPr>
        </p:nvSpPr>
        <p:spPr/>
        <p:txBody>
          <a:bodyPr/>
          <a:lstStyle/>
          <a:p>
            <a:endParaRPr lang="hi-IN"/>
          </a:p>
        </p:txBody>
      </p:sp>
      <p:sp>
        <p:nvSpPr>
          <p:cNvPr id="4" name="Footer Placeholder 3">
            <a:extLst>
              <a:ext uri="{FF2B5EF4-FFF2-40B4-BE49-F238E27FC236}">
                <a16:creationId xmlns:a16="http://schemas.microsoft.com/office/drawing/2014/main" id="{22F9F821-3499-4E26-9A36-0F28B2325AD4}"/>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AE2BE64F-95D5-4171-8938-FA5823DA4D86}"/>
              </a:ext>
            </a:extLst>
          </p:cNvPr>
          <p:cNvSpPr>
            <a:spLocks noGrp="1"/>
          </p:cNvSpPr>
          <p:nvPr>
            <p:ph type="sldNum" sz="quarter" idx="12"/>
          </p:nvPr>
        </p:nvSpPr>
        <p:spPr/>
        <p:txBody>
          <a:bodyPr/>
          <a:lstStyle/>
          <a:p>
            <a:fld id="{F56F9007-E0C6-489E-B603-BD6BB4385429}" type="slidenum">
              <a:rPr lang="hi-IN" smtClean="0"/>
              <a:t>1</a:t>
            </a:fld>
            <a:endParaRPr lang="hi-IN"/>
          </a:p>
        </p:txBody>
      </p:sp>
    </p:spTree>
    <p:extLst>
      <p:ext uri="{BB962C8B-B14F-4D97-AF65-F5344CB8AC3E}">
        <p14:creationId xmlns:p14="http://schemas.microsoft.com/office/powerpoint/2010/main" val="293475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175F-2E50-400D-A92A-DE968A064212}"/>
              </a:ext>
            </a:extLst>
          </p:cNvPr>
          <p:cNvSpPr>
            <a:spLocks noGrp="1"/>
          </p:cNvSpPr>
          <p:nvPr>
            <p:ph type="title"/>
          </p:nvPr>
        </p:nvSpPr>
        <p:spPr/>
        <p:txBody>
          <a:bodyPr/>
          <a:lstStyle/>
          <a:p>
            <a:r>
              <a:rPr lang="en-US" b="1" dirty="0"/>
              <a:t>Introduction</a:t>
            </a:r>
            <a:endParaRPr lang="hi-IN" b="1" dirty="0"/>
          </a:p>
        </p:txBody>
      </p:sp>
      <p:sp>
        <p:nvSpPr>
          <p:cNvPr id="3" name="Content Placeholder 2">
            <a:extLst>
              <a:ext uri="{FF2B5EF4-FFF2-40B4-BE49-F238E27FC236}">
                <a16:creationId xmlns:a16="http://schemas.microsoft.com/office/drawing/2014/main" id="{3E5DEEA6-AF1E-44E7-BF9A-9D8631D7640F}"/>
              </a:ext>
            </a:extLst>
          </p:cNvPr>
          <p:cNvSpPr>
            <a:spLocks noGrp="1"/>
          </p:cNvSpPr>
          <p:nvPr>
            <p:ph idx="1"/>
          </p:nvPr>
        </p:nvSpPr>
        <p:spPr/>
        <p:txBody>
          <a:bodyPr>
            <a:normAutofit fontScale="92500" lnSpcReduction="20000"/>
          </a:bodyPr>
          <a:lstStyle/>
          <a:p>
            <a:pPr algn="just"/>
            <a:r>
              <a:rPr lang="en-US" dirty="0"/>
              <a:t>In backtracking, we used depth-first search with pruning to traverse the (virtual) state space. We can achieve better performance for many problems using a breadth-first search with pruning. This approach is known as branch-and-bound</a:t>
            </a:r>
          </a:p>
          <a:p>
            <a:pPr algn="just"/>
            <a:r>
              <a:rPr lang="en-US" dirty="0"/>
              <a:t>Branch and Bound is a general search method.</a:t>
            </a:r>
          </a:p>
          <a:p>
            <a:pPr algn="just"/>
            <a:r>
              <a:rPr lang="en-US" dirty="0"/>
              <a:t>Starting by considering the root problem (the original problem with the complete feasible region), the lower bounding and upper-bounding procedures are applied to the root problem.</a:t>
            </a:r>
          </a:p>
          <a:p>
            <a:pPr algn="just"/>
            <a:r>
              <a:rPr lang="en-US" dirty="0"/>
              <a:t>If the bounds match, then an optimal solution has been found and the procedure terminates.</a:t>
            </a:r>
          </a:p>
          <a:p>
            <a:pPr algn="just"/>
            <a:r>
              <a:rPr lang="en-US" dirty="0"/>
              <a:t>Otherwise, the feasible region is divided into two or more regions, these subproblems partition the feasible region.</a:t>
            </a:r>
          </a:p>
        </p:txBody>
      </p:sp>
      <p:sp>
        <p:nvSpPr>
          <p:cNvPr id="4" name="Footer Placeholder 3">
            <a:extLst>
              <a:ext uri="{FF2B5EF4-FFF2-40B4-BE49-F238E27FC236}">
                <a16:creationId xmlns:a16="http://schemas.microsoft.com/office/drawing/2014/main" id="{ECB60899-9A9D-49DC-BA62-F494653EB579}"/>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21A9B57A-5D26-4407-ABBE-8B6A9BC6591D}"/>
              </a:ext>
            </a:extLst>
          </p:cNvPr>
          <p:cNvSpPr>
            <a:spLocks noGrp="1"/>
          </p:cNvSpPr>
          <p:nvPr>
            <p:ph type="sldNum" sz="quarter" idx="12"/>
          </p:nvPr>
        </p:nvSpPr>
        <p:spPr/>
        <p:txBody>
          <a:bodyPr/>
          <a:lstStyle/>
          <a:p>
            <a:fld id="{F56F9007-E0C6-489E-B603-BD6BB4385429}" type="slidenum">
              <a:rPr lang="hi-IN" smtClean="0"/>
              <a:t>2</a:t>
            </a:fld>
            <a:endParaRPr lang="hi-IN"/>
          </a:p>
        </p:txBody>
      </p:sp>
    </p:spTree>
    <p:extLst>
      <p:ext uri="{BB962C8B-B14F-4D97-AF65-F5344CB8AC3E}">
        <p14:creationId xmlns:p14="http://schemas.microsoft.com/office/powerpoint/2010/main" val="1578770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21D3-9B76-4F6B-BF44-212621B038CA}"/>
              </a:ext>
            </a:extLst>
          </p:cNvPr>
          <p:cNvSpPr>
            <a:spLocks noGrp="1"/>
          </p:cNvSpPr>
          <p:nvPr>
            <p:ph type="title"/>
          </p:nvPr>
        </p:nvSpPr>
        <p:spPr/>
        <p:txBody>
          <a:bodyPr/>
          <a:lstStyle/>
          <a:p>
            <a:r>
              <a:rPr lang="en-US" b="1" dirty="0"/>
              <a:t>Introduction</a:t>
            </a:r>
            <a:endParaRPr lang="hi-IN" dirty="0"/>
          </a:p>
        </p:txBody>
      </p:sp>
      <p:sp>
        <p:nvSpPr>
          <p:cNvPr id="3" name="Content Placeholder 2">
            <a:extLst>
              <a:ext uri="{FF2B5EF4-FFF2-40B4-BE49-F238E27FC236}">
                <a16:creationId xmlns:a16="http://schemas.microsoft.com/office/drawing/2014/main" id="{4D77AB36-11D8-4CAF-9F5C-0C21CADA7D4E}"/>
              </a:ext>
            </a:extLst>
          </p:cNvPr>
          <p:cNvSpPr>
            <a:spLocks noGrp="1"/>
          </p:cNvSpPr>
          <p:nvPr>
            <p:ph idx="1"/>
          </p:nvPr>
        </p:nvSpPr>
        <p:spPr/>
        <p:txBody>
          <a:bodyPr>
            <a:normAutofit/>
          </a:bodyPr>
          <a:lstStyle/>
          <a:p>
            <a:pPr algn="just"/>
            <a:r>
              <a:rPr lang="en-US" dirty="0"/>
              <a:t>The algorithm is applied recursively to the subproblems. If an optimal solution is found to a sub problem, it is a feasible solution to the full problem, but not necessarily globally optimal.</a:t>
            </a:r>
            <a:endParaRPr lang="hi-IN" dirty="0"/>
          </a:p>
          <a:p>
            <a:pPr algn="just"/>
            <a:r>
              <a:rPr lang="en-US" dirty="0"/>
              <a:t>If the lower bound for a node exceeds the best known feasible solution, no globally optimal solution can exist in the subspace of the feasible region represented by the node. Therefore, the node can be removed from consideration.</a:t>
            </a:r>
          </a:p>
          <a:p>
            <a:pPr algn="just"/>
            <a:r>
              <a:rPr lang="en-US" dirty="0"/>
              <a:t>The search proceeds until all nodes have been solved or pruned, or until some specified threshold is met between the best solution found and the lower bounds on all unsolved subproblems.</a:t>
            </a:r>
            <a:endParaRPr lang="hi-IN" dirty="0"/>
          </a:p>
        </p:txBody>
      </p:sp>
      <p:sp>
        <p:nvSpPr>
          <p:cNvPr id="4" name="Footer Placeholder 3">
            <a:extLst>
              <a:ext uri="{FF2B5EF4-FFF2-40B4-BE49-F238E27FC236}">
                <a16:creationId xmlns:a16="http://schemas.microsoft.com/office/drawing/2014/main" id="{E209BEF1-8A0D-4B88-916B-C7BB58082C71}"/>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D09DD33-4721-4ED2-B6F1-1CC67468B841}"/>
              </a:ext>
            </a:extLst>
          </p:cNvPr>
          <p:cNvSpPr>
            <a:spLocks noGrp="1"/>
          </p:cNvSpPr>
          <p:nvPr>
            <p:ph type="sldNum" sz="quarter" idx="12"/>
          </p:nvPr>
        </p:nvSpPr>
        <p:spPr/>
        <p:txBody>
          <a:bodyPr/>
          <a:lstStyle/>
          <a:p>
            <a:fld id="{F56F9007-E0C6-489E-B603-BD6BB4385429}" type="slidenum">
              <a:rPr lang="hi-IN" smtClean="0"/>
              <a:t>3</a:t>
            </a:fld>
            <a:endParaRPr lang="hi-IN"/>
          </a:p>
        </p:txBody>
      </p:sp>
    </p:spTree>
    <p:extLst>
      <p:ext uri="{BB962C8B-B14F-4D97-AF65-F5344CB8AC3E}">
        <p14:creationId xmlns:p14="http://schemas.microsoft.com/office/powerpoint/2010/main" val="3264474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133C5-00BD-457D-ABF9-E500724AAAB2}"/>
              </a:ext>
            </a:extLst>
          </p:cNvPr>
          <p:cNvSpPr>
            <a:spLocks noGrp="1"/>
          </p:cNvSpPr>
          <p:nvPr>
            <p:ph type="title"/>
          </p:nvPr>
        </p:nvSpPr>
        <p:spPr/>
        <p:txBody>
          <a:bodyPr/>
          <a:lstStyle/>
          <a:p>
            <a:r>
              <a:rPr lang="en-US" b="1" dirty="0"/>
              <a:t>State Space Pruning</a:t>
            </a:r>
            <a:endParaRPr lang="hi-IN" b="1" dirty="0"/>
          </a:p>
        </p:txBody>
      </p:sp>
      <p:sp>
        <p:nvSpPr>
          <p:cNvPr id="3" name="Content Placeholder 2">
            <a:extLst>
              <a:ext uri="{FF2B5EF4-FFF2-40B4-BE49-F238E27FC236}">
                <a16:creationId xmlns:a16="http://schemas.microsoft.com/office/drawing/2014/main" id="{72994B1B-8C92-424E-A11D-CD1295D928E2}"/>
              </a:ext>
            </a:extLst>
          </p:cNvPr>
          <p:cNvSpPr>
            <a:spLocks noGrp="1"/>
          </p:cNvSpPr>
          <p:nvPr>
            <p:ph idx="1"/>
          </p:nvPr>
        </p:nvSpPr>
        <p:spPr/>
        <p:txBody>
          <a:bodyPr/>
          <a:lstStyle/>
          <a:p>
            <a:pPr marL="0" indent="0" algn="just">
              <a:buNone/>
            </a:pPr>
            <a:r>
              <a:rPr lang="en-US" dirty="0"/>
              <a:t>A search along a path is terminated if</a:t>
            </a:r>
          </a:p>
          <a:p>
            <a:pPr algn="just"/>
            <a:r>
              <a:rPr lang="en-US" dirty="0"/>
              <a:t>The value of the node's bound is not better than the value of the best solution seen so far</a:t>
            </a:r>
          </a:p>
          <a:p>
            <a:pPr algn="just"/>
            <a:r>
              <a:rPr lang="en-US" dirty="0"/>
              <a:t>Constraints of solution already violated, hence node represents no feasible solution</a:t>
            </a:r>
          </a:p>
          <a:p>
            <a:pPr algn="just"/>
            <a:r>
              <a:rPr lang="en-US" dirty="0"/>
              <a:t>The subset of feasible solutions represented by the node consists of a single point (and hence no further choices can be made )</a:t>
            </a:r>
            <a:endParaRPr lang="hi-IN" dirty="0"/>
          </a:p>
        </p:txBody>
      </p:sp>
      <p:sp>
        <p:nvSpPr>
          <p:cNvPr id="4" name="Footer Placeholder 3">
            <a:extLst>
              <a:ext uri="{FF2B5EF4-FFF2-40B4-BE49-F238E27FC236}">
                <a16:creationId xmlns:a16="http://schemas.microsoft.com/office/drawing/2014/main" id="{899818C7-9D26-4508-BDA4-106F32131BA9}"/>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F68228E7-1A8F-4686-A044-1EA342BA8A0A}"/>
              </a:ext>
            </a:extLst>
          </p:cNvPr>
          <p:cNvSpPr>
            <a:spLocks noGrp="1"/>
          </p:cNvSpPr>
          <p:nvPr>
            <p:ph type="sldNum" sz="quarter" idx="12"/>
          </p:nvPr>
        </p:nvSpPr>
        <p:spPr/>
        <p:txBody>
          <a:bodyPr/>
          <a:lstStyle/>
          <a:p>
            <a:fld id="{F56F9007-E0C6-489E-B603-BD6BB4385429}" type="slidenum">
              <a:rPr lang="hi-IN" smtClean="0"/>
              <a:t>4</a:t>
            </a:fld>
            <a:endParaRPr lang="hi-IN"/>
          </a:p>
        </p:txBody>
      </p:sp>
    </p:spTree>
    <p:extLst>
      <p:ext uri="{BB962C8B-B14F-4D97-AF65-F5344CB8AC3E}">
        <p14:creationId xmlns:p14="http://schemas.microsoft.com/office/powerpoint/2010/main" val="607516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25093-B34E-4B5B-BA22-119C8AF16FB6}"/>
              </a:ext>
            </a:extLst>
          </p:cNvPr>
          <p:cNvSpPr>
            <a:spLocks noGrp="1"/>
          </p:cNvSpPr>
          <p:nvPr>
            <p:ph type="title"/>
          </p:nvPr>
        </p:nvSpPr>
        <p:spPr/>
        <p:txBody>
          <a:bodyPr/>
          <a:lstStyle/>
          <a:p>
            <a:r>
              <a:rPr lang="en-US" b="1" dirty="0"/>
              <a:t>Branch and Bound - Examples</a:t>
            </a:r>
            <a:endParaRPr lang="hi-IN" b="1" dirty="0"/>
          </a:p>
        </p:txBody>
      </p:sp>
      <p:sp>
        <p:nvSpPr>
          <p:cNvPr id="3" name="Content Placeholder 2">
            <a:extLst>
              <a:ext uri="{FF2B5EF4-FFF2-40B4-BE49-F238E27FC236}">
                <a16:creationId xmlns:a16="http://schemas.microsoft.com/office/drawing/2014/main" id="{3E73694E-7823-4A79-BE37-67CCD9045033}"/>
              </a:ext>
            </a:extLst>
          </p:cNvPr>
          <p:cNvSpPr>
            <a:spLocks noGrp="1"/>
          </p:cNvSpPr>
          <p:nvPr>
            <p:ph idx="1"/>
          </p:nvPr>
        </p:nvSpPr>
        <p:spPr/>
        <p:txBody>
          <a:bodyPr/>
          <a:lstStyle/>
          <a:p>
            <a:r>
              <a:rPr lang="en-US" dirty="0"/>
              <a:t>0-1 Knapsack problem</a:t>
            </a:r>
          </a:p>
          <a:p>
            <a:pPr lvl="1"/>
            <a:r>
              <a:rPr lang="en-US" dirty="0"/>
              <a:t>Can be solved by other approaches but Branch and Bound solves with a better complexity equivalent to dynamic programming</a:t>
            </a:r>
          </a:p>
          <a:p>
            <a:r>
              <a:rPr lang="en-US" dirty="0"/>
              <a:t>Travelling Salesman’s problem</a:t>
            </a:r>
          </a:p>
          <a:p>
            <a:r>
              <a:rPr lang="en-US" dirty="0"/>
              <a:t>N-Queens problem </a:t>
            </a:r>
          </a:p>
          <a:p>
            <a:pPr lvl="1"/>
            <a:r>
              <a:rPr lang="en-US" dirty="0"/>
              <a:t>Backtracking approach solves better than Branch and Bound</a:t>
            </a:r>
          </a:p>
          <a:p>
            <a:pPr lvl="1"/>
            <a:endParaRPr lang="en-US" dirty="0"/>
          </a:p>
          <a:p>
            <a:r>
              <a:rPr lang="en-US" dirty="0"/>
              <a:t>Branch and Bound best suits the combinatorial optimization problems (i.e.) optimization problems for which order of items picked doesn’t matter…</a:t>
            </a:r>
          </a:p>
        </p:txBody>
      </p:sp>
      <p:sp>
        <p:nvSpPr>
          <p:cNvPr id="4" name="Footer Placeholder 3">
            <a:extLst>
              <a:ext uri="{FF2B5EF4-FFF2-40B4-BE49-F238E27FC236}">
                <a16:creationId xmlns:a16="http://schemas.microsoft.com/office/drawing/2014/main" id="{2CB27397-5B5F-4A9E-B49F-8FF40CBA293E}"/>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1C092EC6-2847-480D-81AE-0A47A87B280D}"/>
              </a:ext>
            </a:extLst>
          </p:cNvPr>
          <p:cNvSpPr>
            <a:spLocks noGrp="1"/>
          </p:cNvSpPr>
          <p:nvPr>
            <p:ph type="sldNum" sz="quarter" idx="12"/>
          </p:nvPr>
        </p:nvSpPr>
        <p:spPr/>
        <p:txBody>
          <a:bodyPr/>
          <a:lstStyle/>
          <a:p>
            <a:fld id="{F56F9007-E0C6-489E-B603-BD6BB4385429}" type="slidenum">
              <a:rPr lang="hi-IN" smtClean="0"/>
              <a:t>5</a:t>
            </a:fld>
            <a:endParaRPr lang="hi-IN"/>
          </a:p>
        </p:txBody>
      </p:sp>
    </p:spTree>
    <p:extLst>
      <p:ext uri="{BB962C8B-B14F-4D97-AF65-F5344CB8AC3E}">
        <p14:creationId xmlns:p14="http://schemas.microsoft.com/office/powerpoint/2010/main" val="4168639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E34A0-E452-4AED-8F48-CAB81DFA350E}"/>
              </a:ext>
            </a:extLst>
          </p:cNvPr>
          <p:cNvSpPr>
            <a:spLocks noGrp="1"/>
          </p:cNvSpPr>
          <p:nvPr>
            <p:ph type="title"/>
          </p:nvPr>
        </p:nvSpPr>
        <p:spPr/>
        <p:txBody>
          <a:bodyPr/>
          <a:lstStyle/>
          <a:p>
            <a:r>
              <a:rPr lang="en-US" b="1" dirty="0"/>
              <a:t>0-1 Knapsack Problem</a:t>
            </a:r>
            <a:endParaRPr lang="hi-IN" b="1" dirty="0"/>
          </a:p>
        </p:txBody>
      </p:sp>
      <p:sp>
        <p:nvSpPr>
          <p:cNvPr id="3" name="Content Placeholder 2">
            <a:extLst>
              <a:ext uri="{FF2B5EF4-FFF2-40B4-BE49-F238E27FC236}">
                <a16:creationId xmlns:a16="http://schemas.microsoft.com/office/drawing/2014/main" id="{EC33CCC0-8A0F-4D11-9EC4-014EF215A10F}"/>
              </a:ext>
            </a:extLst>
          </p:cNvPr>
          <p:cNvSpPr>
            <a:spLocks noGrp="1"/>
          </p:cNvSpPr>
          <p:nvPr>
            <p:ph idx="1"/>
          </p:nvPr>
        </p:nvSpPr>
        <p:spPr>
          <a:xfrm>
            <a:off x="838200" y="1493520"/>
            <a:ext cx="10515600" cy="4862829"/>
          </a:xfrm>
        </p:spPr>
        <p:txBody>
          <a:bodyPr>
            <a:normAutofit fontScale="92500" lnSpcReduction="20000"/>
          </a:bodyPr>
          <a:lstStyle/>
          <a:p>
            <a:pPr algn="just"/>
            <a:r>
              <a:rPr lang="en-US" dirty="0"/>
              <a:t>Given two integer arrays </a:t>
            </a:r>
            <a:r>
              <a:rPr lang="en-US" b="1" dirty="0" err="1"/>
              <a:t>val</a:t>
            </a:r>
            <a:r>
              <a:rPr lang="en-US" b="1" dirty="0"/>
              <a:t>[0..n-1]</a:t>
            </a:r>
            <a:r>
              <a:rPr lang="en-US" dirty="0"/>
              <a:t> and </a:t>
            </a:r>
            <a:r>
              <a:rPr lang="en-US" b="1" dirty="0" err="1"/>
              <a:t>wt</a:t>
            </a:r>
            <a:r>
              <a:rPr lang="en-US" b="1" dirty="0"/>
              <a:t>[0..n-1]</a:t>
            </a:r>
            <a:r>
              <a:rPr lang="en-US" dirty="0"/>
              <a:t> that represent values and weights associated with n items respectively. Find out the maximum value subset of </a:t>
            </a:r>
            <a:r>
              <a:rPr lang="en-US" dirty="0" err="1"/>
              <a:t>val</a:t>
            </a:r>
            <a:r>
              <a:rPr lang="en-US" dirty="0"/>
              <a:t>[] such that sum of the weights of this subset is smaller than or equal to Knapsack capacity W.</a:t>
            </a:r>
          </a:p>
          <a:p>
            <a:pPr lvl="1" algn="just" fontAlgn="base"/>
            <a:r>
              <a:rPr lang="en-US" dirty="0"/>
              <a:t>A </a:t>
            </a:r>
            <a:r>
              <a:rPr lang="en-US" b="1" dirty="0"/>
              <a:t>Greedy</a:t>
            </a:r>
            <a:r>
              <a:rPr lang="en-US" dirty="0"/>
              <a:t> approach is to pick the items in decreasing order of value per unit weight. The Greedy approach works only for fractional knapsack problem and may not produce correct result for 0/1 knapsack.</a:t>
            </a:r>
          </a:p>
          <a:p>
            <a:pPr lvl="1" algn="just" fontAlgn="base"/>
            <a:r>
              <a:rPr lang="en-US" dirty="0"/>
              <a:t>We can use </a:t>
            </a:r>
            <a:r>
              <a:rPr lang="en-US" b="1" dirty="0"/>
              <a:t>D</a:t>
            </a:r>
            <a:r>
              <a:rPr lang="en-US" dirty="0"/>
              <a:t>ynamic </a:t>
            </a:r>
            <a:r>
              <a:rPr lang="en-US" b="1" dirty="0"/>
              <a:t>P</a:t>
            </a:r>
            <a:r>
              <a:rPr lang="en-US" dirty="0"/>
              <a:t>rogramming (</a:t>
            </a:r>
            <a:r>
              <a:rPr lang="en-US" b="1" dirty="0"/>
              <a:t>DP</a:t>
            </a:r>
            <a:r>
              <a:rPr lang="en-US" dirty="0"/>
              <a:t>) for 0/1 Knapsack problem. In DP, we use a 2D table of size n x W. The </a:t>
            </a:r>
            <a:r>
              <a:rPr lang="en-US" b="1" dirty="0"/>
              <a:t>DP Solution doesn’t work if item weights are not integers</a:t>
            </a:r>
            <a:r>
              <a:rPr lang="en-US" dirty="0"/>
              <a:t>.</a:t>
            </a:r>
          </a:p>
          <a:p>
            <a:pPr lvl="1" algn="just" fontAlgn="base"/>
            <a:r>
              <a:rPr lang="en-US" dirty="0"/>
              <a:t>Since DP solution doesn’t always work, a solution is to use </a:t>
            </a:r>
            <a:r>
              <a:rPr lang="en-US" b="1" dirty="0"/>
              <a:t>Brute Force</a:t>
            </a:r>
            <a:r>
              <a:rPr lang="en-US" dirty="0"/>
              <a:t>. With n items, there are 2</a:t>
            </a:r>
            <a:r>
              <a:rPr lang="en-US" baseline="30000" dirty="0"/>
              <a:t>n</a:t>
            </a:r>
            <a:r>
              <a:rPr lang="en-US" dirty="0"/>
              <a:t> solutions to be generated, check each to see if they satisfy the constraint, save maximum solution that satisfies constraint. </a:t>
            </a:r>
          </a:p>
          <a:p>
            <a:pPr lvl="1" algn="just" fontAlgn="base"/>
            <a:r>
              <a:rPr lang="en-US" dirty="0"/>
              <a:t>We can use </a:t>
            </a:r>
            <a:r>
              <a:rPr lang="en-US" b="1" dirty="0"/>
              <a:t>Backtracking</a:t>
            </a:r>
            <a:r>
              <a:rPr lang="en-US" dirty="0"/>
              <a:t> to optimize the Brute Force solution. We can do better (than backtracking) if we know a bound on best possible solution subtree rooted with every node.  So we compute bound (best solution) for every node and compare the bound with current best solution before exploring the node.</a:t>
            </a:r>
          </a:p>
          <a:p>
            <a:pPr lvl="1" algn="just"/>
            <a:endParaRPr lang="hi-IN" dirty="0"/>
          </a:p>
        </p:txBody>
      </p:sp>
      <p:sp>
        <p:nvSpPr>
          <p:cNvPr id="4" name="Footer Placeholder 3">
            <a:extLst>
              <a:ext uri="{FF2B5EF4-FFF2-40B4-BE49-F238E27FC236}">
                <a16:creationId xmlns:a16="http://schemas.microsoft.com/office/drawing/2014/main" id="{F76E3A9C-C8B4-44E0-8807-554777466C52}"/>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6329838C-71D3-4931-A811-52749AE33308}"/>
              </a:ext>
            </a:extLst>
          </p:cNvPr>
          <p:cNvSpPr>
            <a:spLocks noGrp="1"/>
          </p:cNvSpPr>
          <p:nvPr>
            <p:ph type="sldNum" sz="quarter" idx="12"/>
          </p:nvPr>
        </p:nvSpPr>
        <p:spPr/>
        <p:txBody>
          <a:bodyPr/>
          <a:lstStyle/>
          <a:p>
            <a:fld id="{F56F9007-E0C6-489E-B603-BD6BB4385429}" type="slidenum">
              <a:rPr lang="hi-IN" smtClean="0"/>
              <a:t>6</a:t>
            </a:fld>
            <a:endParaRPr lang="hi-IN"/>
          </a:p>
        </p:txBody>
      </p:sp>
    </p:spTree>
    <p:extLst>
      <p:ext uri="{BB962C8B-B14F-4D97-AF65-F5344CB8AC3E}">
        <p14:creationId xmlns:p14="http://schemas.microsoft.com/office/powerpoint/2010/main" val="1553820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80CF5-9268-4458-8A22-22707F6C9129}"/>
              </a:ext>
            </a:extLst>
          </p:cNvPr>
          <p:cNvSpPr>
            <a:spLocks noGrp="1"/>
          </p:cNvSpPr>
          <p:nvPr>
            <p:ph type="title"/>
          </p:nvPr>
        </p:nvSpPr>
        <p:spPr/>
        <p:txBody>
          <a:bodyPr/>
          <a:lstStyle/>
          <a:p>
            <a:r>
              <a:rPr lang="en-US" b="1" dirty="0"/>
              <a:t>0-1 Knapsack – Branch and Bound</a:t>
            </a:r>
            <a:endParaRPr lang="hi-IN" b="1" dirty="0"/>
          </a:p>
        </p:txBody>
      </p:sp>
      <p:sp>
        <p:nvSpPr>
          <p:cNvPr id="3" name="Content Placeholder 2">
            <a:extLst>
              <a:ext uri="{FF2B5EF4-FFF2-40B4-BE49-F238E27FC236}">
                <a16:creationId xmlns:a16="http://schemas.microsoft.com/office/drawing/2014/main" id="{BDFE6BCC-A7FF-4861-9BC6-A201BCFB4A38}"/>
              </a:ext>
            </a:extLst>
          </p:cNvPr>
          <p:cNvSpPr>
            <a:spLocks noGrp="1"/>
          </p:cNvSpPr>
          <p:nvPr>
            <p:ph idx="1"/>
          </p:nvPr>
        </p:nvSpPr>
        <p:spPr>
          <a:xfrm>
            <a:off x="838200" y="1595121"/>
            <a:ext cx="10515600" cy="4761230"/>
          </a:xfrm>
        </p:spPr>
        <p:txBody>
          <a:bodyPr/>
          <a:lstStyle/>
          <a:p>
            <a:pPr marL="0" indent="0">
              <a:buNone/>
            </a:pPr>
            <a:r>
              <a:rPr lang="en-US" sz="3200" dirty="0"/>
              <a:t>At each node, record the following</a:t>
            </a:r>
          </a:p>
          <a:p>
            <a:r>
              <a:rPr lang="en-US" sz="3200" dirty="0"/>
              <a:t>total weight w of the selection</a:t>
            </a:r>
          </a:p>
          <a:p>
            <a:r>
              <a:rPr lang="en-US" sz="3200" dirty="0"/>
              <a:t>the total value v of this selection</a:t>
            </a:r>
          </a:p>
          <a:p>
            <a:r>
              <a:rPr lang="en-US" sz="3200" dirty="0"/>
              <a:t>Upper bound b</a:t>
            </a:r>
          </a:p>
          <a:p>
            <a:pPr lvl="1">
              <a:buSzPct val="70000"/>
              <a:buFont typeface="Courier New" panose="02070309020205020404" pitchFamily="49" charset="0"/>
              <a:buChar char="o"/>
            </a:pPr>
            <a:r>
              <a:rPr lang="pl-PL" sz="3200" i="1" dirty="0"/>
              <a:t>b </a:t>
            </a:r>
            <a:r>
              <a:rPr lang="pl-PL" sz="3200" dirty="0"/>
              <a:t>= </a:t>
            </a:r>
            <a:r>
              <a:rPr lang="pl-PL" sz="3200" i="1" dirty="0"/>
              <a:t>v </a:t>
            </a:r>
            <a:r>
              <a:rPr lang="pl-PL" sz="3200" dirty="0"/>
              <a:t>+ ( </a:t>
            </a:r>
            <a:r>
              <a:rPr lang="pl-PL" sz="3200" i="1" dirty="0"/>
              <a:t>W </a:t>
            </a:r>
            <a:r>
              <a:rPr lang="pl-PL" sz="3200" dirty="0"/>
              <a:t>– </a:t>
            </a:r>
            <a:r>
              <a:rPr lang="pl-PL" sz="3200" i="1" dirty="0"/>
              <a:t>w</a:t>
            </a:r>
            <a:r>
              <a:rPr lang="pl-PL" sz="3200" dirty="0"/>
              <a:t>) (</a:t>
            </a:r>
            <a:r>
              <a:rPr lang="pl-PL" sz="3200" i="1" dirty="0"/>
              <a:t>v</a:t>
            </a:r>
            <a:r>
              <a:rPr lang="pl-PL" sz="3200" i="1" baseline="-25000" dirty="0"/>
              <a:t>i</a:t>
            </a:r>
            <a:r>
              <a:rPr lang="pl-PL" sz="3200" baseline="-25000" dirty="0"/>
              <a:t>+1 </a:t>
            </a:r>
            <a:r>
              <a:rPr lang="pl-PL" sz="3200" dirty="0"/>
              <a:t>/</a:t>
            </a:r>
            <a:r>
              <a:rPr lang="pl-PL" sz="3200" i="1" dirty="0"/>
              <a:t>w</a:t>
            </a:r>
            <a:r>
              <a:rPr lang="pl-PL" sz="3200" i="1" baseline="-25000" dirty="0"/>
              <a:t>i</a:t>
            </a:r>
            <a:r>
              <a:rPr lang="pl-PL" sz="3200" baseline="-25000" dirty="0"/>
              <a:t>+1</a:t>
            </a:r>
            <a:r>
              <a:rPr lang="pl-PL" sz="3200" dirty="0"/>
              <a:t>)</a:t>
            </a:r>
          </a:p>
          <a:p>
            <a:pPr lvl="1">
              <a:buSzPct val="70000"/>
              <a:buFont typeface="Courier New" panose="02070309020205020404" pitchFamily="49" charset="0"/>
              <a:buChar char="o"/>
            </a:pPr>
            <a:r>
              <a:rPr lang="en-US" sz="3200" i="1" dirty="0"/>
              <a:t>v is the</a:t>
            </a:r>
            <a:r>
              <a:rPr lang="en-US" sz="3200" dirty="0"/>
              <a:t> total value of items already selected</a:t>
            </a:r>
          </a:p>
          <a:p>
            <a:pPr lvl="1">
              <a:buSzPct val="70000"/>
              <a:buFont typeface="Courier New" panose="02070309020205020404" pitchFamily="49" charset="0"/>
              <a:buChar char="o"/>
            </a:pPr>
            <a:r>
              <a:rPr lang="en-US" sz="3200" i="1" dirty="0"/>
              <a:t>W-w is the</a:t>
            </a:r>
            <a:r>
              <a:rPr lang="en-US" sz="3200" dirty="0"/>
              <a:t> remaining capacity of knapsack</a:t>
            </a:r>
          </a:p>
          <a:p>
            <a:pPr lvl="1">
              <a:buSzPct val="70000"/>
              <a:buFont typeface="Courier New" panose="02070309020205020404" pitchFamily="49" charset="0"/>
              <a:buChar char="o"/>
            </a:pPr>
            <a:r>
              <a:rPr lang="en-US" sz="3200" i="1" dirty="0"/>
              <a:t>v</a:t>
            </a:r>
            <a:r>
              <a:rPr lang="en-US" sz="3200" i="1" baseline="-25000" dirty="0"/>
              <a:t>i</a:t>
            </a:r>
            <a:r>
              <a:rPr lang="en-US" sz="3200" baseline="-25000" dirty="0"/>
              <a:t>+1</a:t>
            </a:r>
            <a:r>
              <a:rPr lang="en-US" sz="3200" dirty="0"/>
              <a:t> /</a:t>
            </a:r>
            <a:r>
              <a:rPr lang="en-US" sz="3200" i="1" dirty="0"/>
              <a:t>w</a:t>
            </a:r>
            <a:r>
              <a:rPr lang="en-US" sz="3200" i="1" baseline="-25000" dirty="0"/>
              <a:t>i</a:t>
            </a:r>
            <a:r>
              <a:rPr lang="en-US" sz="3200" baseline="-25000" dirty="0"/>
              <a:t>+1 </a:t>
            </a:r>
            <a:r>
              <a:rPr lang="en-US" sz="3200" dirty="0"/>
              <a:t>is the best per unit payoff among the remaining items</a:t>
            </a:r>
            <a:endParaRPr lang="hi-IN" sz="3200" dirty="0"/>
          </a:p>
        </p:txBody>
      </p:sp>
      <p:sp>
        <p:nvSpPr>
          <p:cNvPr id="4" name="Footer Placeholder 3">
            <a:extLst>
              <a:ext uri="{FF2B5EF4-FFF2-40B4-BE49-F238E27FC236}">
                <a16:creationId xmlns:a16="http://schemas.microsoft.com/office/drawing/2014/main" id="{88C0F900-B456-47D2-B94D-90A12E8F6A50}"/>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D565BC3C-E49B-45F7-84E0-751A89D28C88}"/>
              </a:ext>
            </a:extLst>
          </p:cNvPr>
          <p:cNvSpPr>
            <a:spLocks noGrp="1"/>
          </p:cNvSpPr>
          <p:nvPr>
            <p:ph type="sldNum" sz="quarter" idx="12"/>
          </p:nvPr>
        </p:nvSpPr>
        <p:spPr/>
        <p:txBody>
          <a:bodyPr/>
          <a:lstStyle/>
          <a:p>
            <a:fld id="{F56F9007-E0C6-489E-B603-BD6BB4385429}" type="slidenum">
              <a:rPr lang="hi-IN" smtClean="0"/>
              <a:t>7</a:t>
            </a:fld>
            <a:endParaRPr lang="hi-IN"/>
          </a:p>
        </p:txBody>
      </p:sp>
    </p:spTree>
    <p:extLst>
      <p:ext uri="{BB962C8B-B14F-4D97-AF65-F5344CB8AC3E}">
        <p14:creationId xmlns:p14="http://schemas.microsoft.com/office/powerpoint/2010/main" val="3119351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0399B-E851-43D3-A8E3-21903C22597D}"/>
              </a:ext>
            </a:extLst>
          </p:cNvPr>
          <p:cNvSpPr>
            <a:spLocks noGrp="1"/>
          </p:cNvSpPr>
          <p:nvPr>
            <p:ph type="title"/>
          </p:nvPr>
        </p:nvSpPr>
        <p:spPr/>
        <p:txBody>
          <a:bodyPr/>
          <a:lstStyle/>
          <a:p>
            <a:r>
              <a:rPr lang="en-US" b="1" dirty="0"/>
              <a:t>Example 1</a:t>
            </a:r>
            <a:endParaRPr lang="hi-IN" b="1" dirty="0"/>
          </a:p>
        </p:txBody>
      </p:sp>
      <p:sp>
        <p:nvSpPr>
          <p:cNvPr id="4" name="Footer Placeholder 3">
            <a:extLst>
              <a:ext uri="{FF2B5EF4-FFF2-40B4-BE49-F238E27FC236}">
                <a16:creationId xmlns:a16="http://schemas.microsoft.com/office/drawing/2014/main" id="{945C2CFE-A6CA-419C-BACB-A3CC8994D4F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7D062098-F56D-4859-A48E-37B16DCBB5C9}"/>
              </a:ext>
            </a:extLst>
          </p:cNvPr>
          <p:cNvSpPr>
            <a:spLocks noGrp="1"/>
          </p:cNvSpPr>
          <p:nvPr>
            <p:ph type="sldNum" sz="quarter" idx="12"/>
          </p:nvPr>
        </p:nvSpPr>
        <p:spPr/>
        <p:txBody>
          <a:bodyPr/>
          <a:lstStyle/>
          <a:p>
            <a:fld id="{F56F9007-E0C6-489E-B603-BD6BB4385429}" type="slidenum">
              <a:rPr lang="hi-IN" smtClean="0"/>
              <a:t>8</a:t>
            </a:fld>
            <a:endParaRPr lang="hi-IN"/>
          </a:p>
        </p:txBody>
      </p:sp>
      <p:sp>
        <p:nvSpPr>
          <p:cNvPr id="8" name="Content Placeholder 7">
            <a:extLst>
              <a:ext uri="{FF2B5EF4-FFF2-40B4-BE49-F238E27FC236}">
                <a16:creationId xmlns:a16="http://schemas.microsoft.com/office/drawing/2014/main" id="{073C7621-A591-4BD6-8FA8-B892225DDBC9}"/>
              </a:ext>
            </a:extLst>
          </p:cNvPr>
          <p:cNvSpPr>
            <a:spLocks noGrp="1"/>
          </p:cNvSpPr>
          <p:nvPr>
            <p:ph idx="1"/>
          </p:nvPr>
        </p:nvSpPr>
        <p:spPr>
          <a:xfrm>
            <a:off x="838200" y="1371600"/>
            <a:ext cx="10515600" cy="4984750"/>
          </a:xfrm>
        </p:spPr>
        <p:txBody>
          <a:bodyPr>
            <a:normAutofit fontScale="92500" lnSpcReduction="10000"/>
          </a:bodyPr>
          <a:lstStyle/>
          <a:p>
            <a:r>
              <a:rPr lang="en-US" dirty="0"/>
              <a:t>Solve the given 0-1 knapsack problem using branch and bound method. Capacity of the knapsack is 10.</a:t>
            </a:r>
          </a:p>
          <a:p>
            <a:endParaRPr lang="en-US" dirty="0"/>
          </a:p>
          <a:p>
            <a:endParaRPr lang="en-US" dirty="0"/>
          </a:p>
          <a:p>
            <a:endParaRPr lang="en-US" dirty="0"/>
          </a:p>
          <a:p>
            <a:endParaRPr lang="en-US" dirty="0"/>
          </a:p>
          <a:p>
            <a:pPr marL="0" indent="0">
              <a:buNone/>
            </a:pPr>
            <a:r>
              <a:rPr lang="en-US" b="1" dirty="0"/>
              <a:t>Solution:</a:t>
            </a:r>
          </a:p>
          <a:p>
            <a:pPr marL="0" indent="0">
              <a:buNone/>
            </a:pPr>
            <a:r>
              <a:rPr lang="en-US" dirty="0"/>
              <a:t>Step 1: Calculate the upper and the lower bound</a:t>
            </a:r>
          </a:p>
          <a:p>
            <a:pPr marL="0" indent="0">
              <a:buNone/>
            </a:pPr>
            <a:r>
              <a:rPr lang="en-US" dirty="0"/>
              <a:t>Step 2: Calculate the value index and sort the itemset in descending order based on value index</a:t>
            </a:r>
          </a:p>
          <a:p>
            <a:pPr marL="0" indent="0">
              <a:buNone/>
            </a:pPr>
            <a:r>
              <a:rPr lang="en-US" dirty="0"/>
              <a:t>Step 3: Construct the state space tree using the approach</a:t>
            </a:r>
            <a:endParaRPr lang="hi-IN" dirty="0"/>
          </a:p>
        </p:txBody>
      </p:sp>
      <p:graphicFrame>
        <p:nvGraphicFramePr>
          <p:cNvPr id="9" name="Table 6">
            <a:extLst>
              <a:ext uri="{FF2B5EF4-FFF2-40B4-BE49-F238E27FC236}">
                <a16:creationId xmlns:a16="http://schemas.microsoft.com/office/drawing/2014/main" id="{DC650F87-8DB9-419F-ABB2-12200E61E478}"/>
              </a:ext>
            </a:extLst>
          </p:cNvPr>
          <p:cNvGraphicFramePr>
            <a:graphicFrameLocks/>
          </p:cNvGraphicFramePr>
          <p:nvPr>
            <p:extLst>
              <p:ext uri="{D42A27DB-BD31-4B8C-83A1-F6EECF244321}">
                <p14:modId xmlns:p14="http://schemas.microsoft.com/office/powerpoint/2010/main" val="2125420899"/>
              </p:ext>
            </p:extLst>
          </p:nvPr>
        </p:nvGraphicFramePr>
        <p:xfrm>
          <a:off x="3388361" y="2194719"/>
          <a:ext cx="3672840" cy="1828800"/>
        </p:xfrm>
        <a:graphic>
          <a:graphicData uri="http://schemas.openxmlformats.org/drawingml/2006/table">
            <a:tbl>
              <a:tblPr firstRow="1" bandRow="1">
                <a:tableStyleId>{5C22544A-7EE6-4342-B048-85BDC9FD1C3A}</a:tableStyleId>
              </a:tblPr>
              <a:tblGrid>
                <a:gridCol w="1224280">
                  <a:extLst>
                    <a:ext uri="{9D8B030D-6E8A-4147-A177-3AD203B41FA5}">
                      <a16:colId xmlns:a16="http://schemas.microsoft.com/office/drawing/2014/main" val="4288962044"/>
                    </a:ext>
                  </a:extLst>
                </a:gridCol>
                <a:gridCol w="1224280">
                  <a:extLst>
                    <a:ext uri="{9D8B030D-6E8A-4147-A177-3AD203B41FA5}">
                      <a16:colId xmlns:a16="http://schemas.microsoft.com/office/drawing/2014/main" val="3268489291"/>
                    </a:ext>
                  </a:extLst>
                </a:gridCol>
                <a:gridCol w="1224280">
                  <a:extLst>
                    <a:ext uri="{9D8B030D-6E8A-4147-A177-3AD203B41FA5}">
                      <a16:colId xmlns:a16="http://schemas.microsoft.com/office/drawing/2014/main" val="1859674420"/>
                    </a:ext>
                  </a:extLst>
                </a:gridCol>
              </a:tblGrid>
              <a:tr h="175133">
                <a:tc>
                  <a:txBody>
                    <a:bodyPr/>
                    <a:lstStyle/>
                    <a:p>
                      <a:pPr algn="ctr"/>
                      <a:r>
                        <a:rPr lang="en-US" dirty="0"/>
                        <a:t>Item</a:t>
                      </a:r>
                      <a:endParaRPr lang="hi-IN" dirty="0"/>
                    </a:p>
                  </a:txBody>
                  <a:tcPr/>
                </a:tc>
                <a:tc>
                  <a:txBody>
                    <a:bodyPr/>
                    <a:lstStyle/>
                    <a:p>
                      <a:pPr algn="ctr"/>
                      <a:r>
                        <a:rPr lang="en-US" dirty="0"/>
                        <a:t>Weight</a:t>
                      </a:r>
                      <a:endParaRPr lang="hi-IN" dirty="0"/>
                    </a:p>
                  </a:txBody>
                  <a:tcPr/>
                </a:tc>
                <a:tc>
                  <a:txBody>
                    <a:bodyPr/>
                    <a:lstStyle/>
                    <a:p>
                      <a:pPr algn="ctr"/>
                      <a:r>
                        <a:rPr lang="en-US" dirty="0"/>
                        <a:t>Value</a:t>
                      </a:r>
                      <a:endParaRPr lang="hi-IN" dirty="0"/>
                    </a:p>
                  </a:txBody>
                  <a:tcPr/>
                </a:tc>
                <a:extLst>
                  <a:ext uri="{0D108BD9-81ED-4DB2-BD59-A6C34878D82A}">
                    <a16:rowId xmlns:a16="http://schemas.microsoft.com/office/drawing/2014/main" val="3901954611"/>
                  </a:ext>
                </a:extLst>
              </a:tr>
              <a:tr h="175133">
                <a:tc>
                  <a:txBody>
                    <a:bodyPr/>
                    <a:lstStyle/>
                    <a:p>
                      <a:pPr algn="ctr"/>
                      <a:r>
                        <a:rPr lang="en-US" dirty="0"/>
                        <a:t>1</a:t>
                      </a:r>
                      <a:endParaRPr lang="hi-IN" dirty="0"/>
                    </a:p>
                  </a:txBody>
                  <a:tcPr/>
                </a:tc>
                <a:tc>
                  <a:txBody>
                    <a:bodyPr/>
                    <a:lstStyle/>
                    <a:p>
                      <a:pPr algn="ctr"/>
                      <a:r>
                        <a:rPr lang="en-US" dirty="0"/>
                        <a:t>4</a:t>
                      </a:r>
                      <a:endParaRPr lang="hi-IN" dirty="0"/>
                    </a:p>
                  </a:txBody>
                  <a:tcPr/>
                </a:tc>
                <a:tc>
                  <a:txBody>
                    <a:bodyPr/>
                    <a:lstStyle/>
                    <a:p>
                      <a:pPr algn="ctr"/>
                      <a:r>
                        <a:rPr lang="en-US" dirty="0"/>
                        <a:t>40</a:t>
                      </a:r>
                      <a:endParaRPr lang="hi-IN" dirty="0"/>
                    </a:p>
                  </a:txBody>
                  <a:tcPr/>
                </a:tc>
                <a:extLst>
                  <a:ext uri="{0D108BD9-81ED-4DB2-BD59-A6C34878D82A}">
                    <a16:rowId xmlns:a16="http://schemas.microsoft.com/office/drawing/2014/main" val="2441878164"/>
                  </a:ext>
                </a:extLst>
              </a:tr>
              <a:tr h="175133">
                <a:tc>
                  <a:txBody>
                    <a:bodyPr/>
                    <a:lstStyle/>
                    <a:p>
                      <a:pPr algn="ctr"/>
                      <a:r>
                        <a:rPr lang="en-US" dirty="0"/>
                        <a:t>2</a:t>
                      </a:r>
                      <a:endParaRPr lang="hi-IN" dirty="0"/>
                    </a:p>
                  </a:txBody>
                  <a:tcPr/>
                </a:tc>
                <a:tc>
                  <a:txBody>
                    <a:bodyPr/>
                    <a:lstStyle/>
                    <a:p>
                      <a:pPr algn="ctr"/>
                      <a:r>
                        <a:rPr lang="en-US" dirty="0"/>
                        <a:t>7</a:t>
                      </a:r>
                      <a:endParaRPr lang="hi-IN" dirty="0"/>
                    </a:p>
                  </a:txBody>
                  <a:tcPr/>
                </a:tc>
                <a:tc>
                  <a:txBody>
                    <a:bodyPr/>
                    <a:lstStyle/>
                    <a:p>
                      <a:pPr algn="ctr"/>
                      <a:r>
                        <a:rPr lang="en-US" dirty="0"/>
                        <a:t>42</a:t>
                      </a:r>
                      <a:endParaRPr lang="hi-IN" dirty="0"/>
                    </a:p>
                  </a:txBody>
                  <a:tcPr/>
                </a:tc>
                <a:extLst>
                  <a:ext uri="{0D108BD9-81ED-4DB2-BD59-A6C34878D82A}">
                    <a16:rowId xmlns:a16="http://schemas.microsoft.com/office/drawing/2014/main" val="1902465444"/>
                  </a:ext>
                </a:extLst>
              </a:tr>
              <a:tr h="175133">
                <a:tc>
                  <a:txBody>
                    <a:bodyPr/>
                    <a:lstStyle/>
                    <a:p>
                      <a:pPr algn="ctr"/>
                      <a:r>
                        <a:rPr lang="en-US" dirty="0"/>
                        <a:t>3</a:t>
                      </a:r>
                      <a:endParaRPr lang="hi-IN" dirty="0"/>
                    </a:p>
                  </a:txBody>
                  <a:tcPr/>
                </a:tc>
                <a:tc>
                  <a:txBody>
                    <a:bodyPr/>
                    <a:lstStyle/>
                    <a:p>
                      <a:pPr algn="ctr"/>
                      <a:r>
                        <a:rPr lang="en-US" dirty="0"/>
                        <a:t>5</a:t>
                      </a:r>
                      <a:endParaRPr lang="hi-IN" dirty="0"/>
                    </a:p>
                  </a:txBody>
                  <a:tcPr/>
                </a:tc>
                <a:tc>
                  <a:txBody>
                    <a:bodyPr/>
                    <a:lstStyle/>
                    <a:p>
                      <a:pPr algn="ctr"/>
                      <a:r>
                        <a:rPr lang="en-US" dirty="0"/>
                        <a:t>25</a:t>
                      </a:r>
                      <a:endParaRPr lang="hi-IN" dirty="0"/>
                    </a:p>
                  </a:txBody>
                  <a:tcPr/>
                </a:tc>
                <a:extLst>
                  <a:ext uri="{0D108BD9-81ED-4DB2-BD59-A6C34878D82A}">
                    <a16:rowId xmlns:a16="http://schemas.microsoft.com/office/drawing/2014/main" val="2471506901"/>
                  </a:ext>
                </a:extLst>
              </a:tr>
              <a:tr h="175133">
                <a:tc>
                  <a:txBody>
                    <a:bodyPr/>
                    <a:lstStyle/>
                    <a:p>
                      <a:pPr algn="ctr"/>
                      <a:r>
                        <a:rPr lang="en-US" dirty="0"/>
                        <a:t>4</a:t>
                      </a:r>
                      <a:endParaRPr lang="hi-IN" dirty="0"/>
                    </a:p>
                  </a:txBody>
                  <a:tcPr/>
                </a:tc>
                <a:tc>
                  <a:txBody>
                    <a:bodyPr/>
                    <a:lstStyle/>
                    <a:p>
                      <a:pPr algn="ctr"/>
                      <a:r>
                        <a:rPr lang="en-US" dirty="0"/>
                        <a:t>3</a:t>
                      </a:r>
                      <a:endParaRPr lang="hi-IN" dirty="0"/>
                    </a:p>
                  </a:txBody>
                  <a:tcPr/>
                </a:tc>
                <a:tc>
                  <a:txBody>
                    <a:bodyPr/>
                    <a:lstStyle/>
                    <a:p>
                      <a:pPr algn="ctr"/>
                      <a:r>
                        <a:rPr lang="en-US" dirty="0"/>
                        <a:t>12</a:t>
                      </a:r>
                      <a:endParaRPr lang="hi-IN" dirty="0"/>
                    </a:p>
                  </a:txBody>
                  <a:tcPr/>
                </a:tc>
                <a:extLst>
                  <a:ext uri="{0D108BD9-81ED-4DB2-BD59-A6C34878D82A}">
                    <a16:rowId xmlns:a16="http://schemas.microsoft.com/office/drawing/2014/main" val="4230541411"/>
                  </a:ext>
                </a:extLst>
              </a:tr>
            </a:tbl>
          </a:graphicData>
        </a:graphic>
      </p:graphicFrame>
    </p:spTree>
    <p:extLst>
      <p:ext uri="{BB962C8B-B14F-4D97-AF65-F5344CB8AC3E}">
        <p14:creationId xmlns:p14="http://schemas.microsoft.com/office/powerpoint/2010/main" val="3629548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8D81E-082A-4A62-BE2F-99D42EC39497}"/>
              </a:ext>
            </a:extLst>
          </p:cNvPr>
          <p:cNvSpPr>
            <a:spLocks noGrp="1"/>
          </p:cNvSpPr>
          <p:nvPr>
            <p:ph type="title"/>
          </p:nvPr>
        </p:nvSpPr>
        <p:spPr/>
        <p:txBody>
          <a:bodyPr/>
          <a:lstStyle/>
          <a:p>
            <a:r>
              <a:rPr lang="en-US" b="1" dirty="0"/>
              <a:t>Example 1</a:t>
            </a:r>
            <a:endParaRPr lang="hi-IN" dirty="0"/>
          </a:p>
        </p:txBody>
      </p:sp>
      <p:sp>
        <p:nvSpPr>
          <p:cNvPr id="3" name="Content Placeholder 2">
            <a:extLst>
              <a:ext uri="{FF2B5EF4-FFF2-40B4-BE49-F238E27FC236}">
                <a16:creationId xmlns:a16="http://schemas.microsoft.com/office/drawing/2014/main" id="{094B2D9E-428A-4960-B01A-628278D7C50D}"/>
              </a:ext>
            </a:extLst>
          </p:cNvPr>
          <p:cNvSpPr>
            <a:spLocks noGrp="1"/>
          </p:cNvSpPr>
          <p:nvPr>
            <p:ph idx="1"/>
          </p:nvPr>
        </p:nvSpPr>
        <p:spPr/>
        <p:txBody>
          <a:bodyPr/>
          <a:lstStyle/>
          <a:p>
            <a:r>
              <a:rPr lang="en-US" dirty="0"/>
              <a:t>Calculate the value index and sort in descending order</a:t>
            </a:r>
          </a:p>
          <a:p>
            <a:endParaRPr lang="en-US" dirty="0"/>
          </a:p>
          <a:p>
            <a:endParaRPr lang="en-US" dirty="0"/>
          </a:p>
          <a:p>
            <a:endParaRPr lang="en-US" dirty="0"/>
          </a:p>
          <a:p>
            <a:endParaRPr lang="en-US" dirty="0"/>
          </a:p>
          <a:p>
            <a:endParaRPr lang="en-US" dirty="0"/>
          </a:p>
          <a:p>
            <a:r>
              <a:rPr lang="en-US" dirty="0"/>
              <a:t>Upper bound: </a:t>
            </a:r>
          </a:p>
          <a:p>
            <a:pPr lvl="1"/>
            <a:r>
              <a:rPr lang="en-US" dirty="0"/>
              <a:t>v=0, W=10, w=0</a:t>
            </a:r>
          </a:p>
          <a:p>
            <a:pPr lvl="1"/>
            <a:r>
              <a:rPr lang="en-US" dirty="0"/>
              <a:t>b=0+(10-0)(10)=</a:t>
            </a:r>
            <a:r>
              <a:rPr lang="en-US" b="1" dirty="0"/>
              <a:t>100</a:t>
            </a:r>
          </a:p>
        </p:txBody>
      </p:sp>
      <p:sp>
        <p:nvSpPr>
          <p:cNvPr id="4" name="Footer Placeholder 3">
            <a:extLst>
              <a:ext uri="{FF2B5EF4-FFF2-40B4-BE49-F238E27FC236}">
                <a16:creationId xmlns:a16="http://schemas.microsoft.com/office/drawing/2014/main" id="{015992BB-63BE-4508-B115-73ADD14BF3A3}"/>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86B545D6-74A9-48D7-9053-E420473366AA}"/>
              </a:ext>
            </a:extLst>
          </p:cNvPr>
          <p:cNvSpPr>
            <a:spLocks noGrp="1"/>
          </p:cNvSpPr>
          <p:nvPr>
            <p:ph type="sldNum" sz="quarter" idx="12"/>
          </p:nvPr>
        </p:nvSpPr>
        <p:spPr/>
        <p:txBody>
          <a:bodyPr/>
          <a:lstStyle/>
          <a:p>
            <a:fld id="{F56F9007-E0C6-489E-B603-BD6BB4385429}" type="slidenum">
              <a:rPr lang="hi-IN" smtClean="0"/>
              <a:t>9</a:t>
            </a:fld>
            <a:endParaRPr lang="hi-IN"/>
          </a:p>
        </p:txBody>
      </p:sp>
      <p:graphicFrame>
        <p:nvGraphicFramePr>
          <p:cNvPr id="6" name="Table 6">
            <a:extLst>
              <a:ext uri="{FF2B5EF4-FFF2-40B4-BE49-F238E27FC236}">
                <a16:creationId xmlns:a16="http://schemas.microsoft.com/office/drawing/2014/main" id="{1458297F-096D-4E72-8A42-82C736C4B5E2}"/>
              </a:ext>
            </a:extLst>
          </p:cNvPr>
          <p:cNvGraphicFramePr>
            <a:graphicFrameLocks/>
          </p:cNvGraphicFramePr>
          <p:nvPr>
            <p:extLst>
              <p:ext uri="{D42A27DB-BD31-4B8C-83A1-F6EECF244321}">
                <p14:modId xmlns:p14="http://schemas.microsoft.com/office/powerpoint/2010/main" val="1431562303"/>
              </p:ext>
            </p:extLst>
          </p:nvPr>
        </p:nvGraphicFramePr>
        <p:xfrm>
          <a:off x="7211060" y="2701180"/>
          <a:ext cx="3672840" cy="1900844"/>
        </p:xfrm>
        <a:graphic>
          <a:graphicData uri="http://schemas.openxmlformats.org/drawingml/2006/table">
            <a:tbl>
              <a:tblPr firstRow="1" bandRow="1">
                <a:tableStyleId>{5C22544A-7EE6-4342-B048-85BDC9FD1C3A}</a:tableStyleId>
              </a:tblPr>
              <a:tblGrid>
                <a:gridCol w="918210">
                  <a:extLst>
                    <a:ext uri="{9D8B030D-6E8A-4147-A177-3AD203B41FA5}">
                      <a16:colId xmlns:a16="http://schemas.microsoft.com/office/drawing/2014/main" val="4288962044"/>
                    </a:ext>
                  </a:extLst>
                </a:gridCol>
                <a:gridCol w="918210">
                  <a:extLst>
                    <a:ext uri="{9D8B030D-6E8A-4147-A177-3AD203B41FA5}">
                      <a16:colId xmlns:a16="http://schemas.microsoft.com/office/drawing/2014/main" val="3268489291"/>
                    </a:ext>
                  </a:extLst>
                </a:gridCol>
                <a:gridCol w="918210">
                  <a:extLst>
                    <a:ext uri="{9D8B030D-6E8A-4147-A177-3AD203B41FA5}">
                      <a16:colId xmlns:a16="http://schemas.microsoft.com/office/drawing/2014/main" val="1859674420"/>
                    </a:ext>
                  </a:extLst>
                </a:gridCol>
                <a:gridCol w="918210">
                  <a:extLst>
                    <a:ext uri="{9D8B030D-6E8A-4147-A177-3AD203B41FA5}">
                      <a16:colId xmlns:a16="http://schemas.microsoft.com/office/drawing/2014/main" val="3385044157"/>
                    </a:ext>
                  </a:extLst>
                </a:gridCol>
              </a:tblGrid>
              <a:tr h="332509">
                <a:tc>
                  <a:txBody>
                    <a:bodyPr/>
                    <a:lstStyle/>
                    <a:p>
                      <a:pPr algn="ctr"/>
                      <a:r>
                        <a:rPr lang="en-US" sz="1600" dirty="0"/>
                        <a:t>Item</a:t>
                      </a:r>
                      <a:endParaRPr lang="hi-IN" sz="1600" dirty="0"/>
                    </a:p>
                  </a:txBody>
                  <a:tcPr marT="41564" marB="41564"/>
                </a:tc>
                <a:tc>
                  <a:txBody>
                    <a:bodyPr/>
                    <a:lstStyle/>
                    <a:p>
                      <a:pPr algn="ctr"/>
                      <a:r>
                        <a:rPr lang="en-US" sz="1600" dirty="0"/>
                        <a:t>Weight</a:t>
                      </a:r>
                      <a:endParaRPr lang="hi-IN" sz="1600" dirty="0"/>
                    </a:p>
                  </a:txBody>
                  <a:tcPr marT="41564" marB="41564"/>
                </a:tc>
                <a:tc>
                  <a:txBody>
                    <a:bodyPr/>
                    <a:lstStyle/>
                    <a:p>
                      <a:pPr algn="ctr"/>
                      <a:r>
                        <a:rPr lang="en-US" sz="1600" dirty="0"/>
                        <a:t>Value</a:t>
                      </a:r>
                      <a:endParaRPr lang="hi-IN" sz="1600" dirty="0"/>
                    </a:p>
                  </a:txBody>
                  <a:tcPr marT="41564" marB="41564"/>
                </a:tc>
                <a:tc>
                  <a:txBody>
                    <a:bodyPr/>
                    <a:lstStyle/>
                    <a:p>
                      <a:pPr algn="ctr"/>
                      <a:r>
                        <a:rPr lang="en-US" sz="1600" dirty="0">
                          <a:solidFill>
                            <a:schemeClr val="tx1"/>
                          </a:solidFill>
                        </a:rPr>
                        <a:t>Value Index</a:t>
                      </a:r>
                      <a:endParaRPr lang="hi-IN" sz="1600" dirty="0">
                        <a:solidFill>
                          <a:schemeClr val="tx1"/>
                        </a:solidFill>
                      </a:endParaRPr>
                    </a:p>
                  </a:txBody>
                  <a:tcPr marT="41564" marB="41564">
                    <a:solidFill>
                      <a:srgbClr val="FFFF00"/>
                    </a:solidFill>
                  </a:tcPr>
                </a:tc>
                <a:extLst>
                  <a:ext uri="{0D108BD9-81ED-4DB2-BD59-A6C34878D82A}">
                    <a16:rowId xmlns:a16="http://schemas.microsoft.com/office/drawing/2014/main" val="3901954611"/>
                  </a:ext>
                </a:extLst>
              </a:tr>
              <a:tr h="332509">
                <a:tc>
                  <a:txBody>
                    <a:bodyPr/>
                    <a:lstStyle/>
                    <a:p>
                      <a:pPr algn="ctr"/>
                      <a:r>
                        <a:rPr lang="en-US" sz="1600" dirty="0"/>
                        <a:t>1</a:t>
                      </a:r>
                      <a:endParaRPr lang="hi-IN" sz="1600" dirty="0"/>
                    </a:p>
                  </a:txBody>
                  <a:tcPr marT="41564" marB="41564"/>
                </a:tc>
                <a:tc>
                  <a:txBody>
                    <a:bodyPr/>
                    <a:lstStyle/>
                    <a:p>
                      <a:pPr algn="ctr"/>
                      <a:r>
                        <a:rPr lang="en-US" sz="1600" dirty="0"/>
                        <a:t>4</a:t>
                      </a:r>
                      <a:endParaRPr lang="hi-IN" sz="1600" dirty="0"/>
                    </a:p>
                  </a:txBody>
                  <a:tcPr marT="41564" marB="41564"/>
                </a:tc>
                <a:tc>
                  <a:txBody>
                    <a:bodyPr/>
                    <a:lstStyle/>
                    <a:p>
                      <a:pPr algn="ctr"/>
                      <a:r>
                        <a:rPr lang="en-US" sz="1600" dirty="0"/>
                        <a:t>40</a:t>
                      </a:r>
                      <a:endParaRPr lang="hi-IN" sz="1600" dirty="0"/>
                    </a:p>
                  </a:txBody>
                  <a:tcPr marT="41564" marB="41564"/>
                </a:tc>
                <a:tc>
                  <a:txBody>
                    <a:bodyPr/>
                    <a:lstStyle/>
                    <a:p>
                      <a:pPr algn="ctr"/>
                      <a:r>
                        <a:rPr lang="en-US" sz="1600" b="1" dirty="0">
                          <a:solidFill>
                            <a:schemeClr val="tx1"/>
                          </a:solidFill>
                        </a:rPr>
                        <a:t>10</a:t>
                      </a:r>
                      <a:endParaRPr lang="hi-IN" sz="1600" b="1" dirty="0">
                        <a:solidFill>
                          <a:schemeClr val="tx1"/>
                        </a:solidFill>
                      </a:endParaRPr>
                    </a:p>
                  </a:txBody>
                  <a:tcPr marT="41564" marB="41564">
                    <a:solidFill>
                      <a:srgbClr val="FFFF00"/>
                    </a:solidFill>
                  </a:tcPr>
                </a:tc>
                <a:extLst>
                  <a:ext uri="{0D108BD9-81ED-4DB2-BD59-A6C34878D82A}">
                    <a16:rowId xmlns:a16="http://schemas.microsoft.com/office/drawing/2014/main" val="2441878164"/>
                  </a:ext>
                </a:extLst>
              </a:tr>
              <a:tr h="332509">
                <a:tc>
                  <a:txBody>
                    <a:bodyPr/>
                    <a:lstStyle/>
                    <a:p>
                      <a:pPr algn="ctr"/>
                      <a:r>
                        <a:rPr lang="en-US" sz="1600" dirty="0"/>
                        <a:t>2</a:t>
                      </a:r>
                      <a:endParaRPr lang="hi-IN" sz="1600" dirty="0"/>
                    </a:p>
                  </a:txBody>
                  <a:tcPr marT="41564" marB="41564"/>
                </a:tc>
                <a:tc>
                  <a:txBody>
                    <a:bodyPr/>
                    <a:lstStyle/>
                    <a:p>
                      <a:pPr algn="ctr"/>
                      <a:r>
                        <a:rPr lang="en-US" sz="1600" dirty="0"/>
                        <a:t>7</a:t>
                      </a:r>
                      <a:endParaRPr lang="hi-IN" sz="1600" dirty="0"/>
                    </a:p>
                  </a:txBody>
                  <a:tcPr marT="41564" marB="41564"/>
                </a:tc>
                <a:tc>
                  <a:txBody>
                    <a:bodyPr/>
                    <a:lstStyle/>
                    <a:p>
                      <a:pPr algn="ctr"/>
                      <a:r>
                        <a:rPr lang="en-US" sz="1600" dirty="0"/>
                        <a:t>42</a:t>
                      </a:r>
                      <a:endParaRPr lang="hi-IN" sz="1600" dirty="0"/>
                    </a:p>
                  </a:txBody>
                  <a:tcPr marT="41564" marB="41564"/>
                </a:tc>
                <a:tc>
                  <a:txBody>
                    <a:bodyPr/>
                    <a:lstStyle/>
                    <a:p>
                      <a:pPr algn="ctr"/>
                      <a:r>
                        <a:rPr lang="en-US" sz="1600" b="1" dirty="0">
                          <a:solidFill>
                            <a:schemeClr val="tx1"/>
                          </a:solidFill>
                        </a:rPr>
                        <a:t>6</a:t>
                      </a:r>
                      <a:endParaRPr lang="hi-IN" sz="1600" b="1" dirty="0">
                        <a:solidFill>
                          <a:schemeClr val="tx1"/>
                        </a:solidFill>
                      </a:endParaRPr>
                    </a:p>
                  </a:txBody>
                  <a:tcPr marT="41564" marB="41564">
                    <a:solidFill>
                      <a:srgbClr val="FFFF00"/>
                    </a:solidFill>
                  </a:tcPr>
                </a:tc>
                <a:extLst>
                  <a:ext uri="{0D108BD9-81ED-4DB2-BD59-A6C34878D82A}">
                    <a16:rowId xmlns:a16="http://schemas.microsoft.com/office/drawing/2014/main" val="1902465444"/>
                  </a:ext>
                </a:extLst>
              </a:tr>
              <a:tr h="332509">
                <a:tc>
                  <a:txBody>
                    <a:bodyPr/>
                    <a:lstStyle/>
                    <a:p>
                      <a:pPr algn="ctr"/>
                      <a:r>
                        <a:rPr lang="en-US" sz="1600" dirty="0"/>
                        <a:t>3</a:t>
                      </a:r>
                      <a:endParaRPr lang="hi-IN" sz="1600" dirty="0"/>
                    </a:p>
                  </a:txBody>
                  <a:tcPr marT="41564" marB="41564"/>
                </a:tc>
                <a:tc>
                  <a:txBody>
                    <a:bodyPr/>
                    <a:lstStyle/>
                    <a:p>
                      <a:pPr algn="ctr"/>
                      <a:r>
                        <a:rPr lang="en-US" sz="1600" dirty="0"/>
                        <a:t>5</a:t>
                      </a:r>
                      <a:endParaRPr lang="hi-IN" sz="1600" dirty="0"/>
                    </a:p>
                  </a:txBody>
                  <a:tcPr marT="41564" marB="41564"/>
                </a:tc>
                <a:tc>
                  <a:txBody>
                    <a:bodyPr/>
                    <a:lstStyle/>
                    <a:p>
                      <a:pPr algn="ctr"/>
                      <a:r>
                        <a:rPr lang="en-US" sz="1600" dirty="0"/>
                        <a:t>25</a:t>
                      </a:r>
                      <a:endParaRPr lang="hi-IN" sz="1600" dirty="0"/>
                    </a:p>
                  </a:txBody>
                  <a:tcPr marT="41564" marB="41564"/>
                </a:tc>
                <a:tc>
                  <a:txBody>
                    <a:bodyPr/>
                    <a:lstStyle/>
                    <a:p>
                      <a:pPr algn="ctr"/>
                      <a:r>
                        <a:rPr lang="en-US" sz="1600" b="1" dirty="0">
                          <a:solidFill>
                            <a:schemeClr val="tx1"/>
                          </a:solidFill>
                        </a:rPr>
                        <a:t>5</a:t>
                      </a:r>
                      <a:endParaRPr lang="hi-IN" sz="1600" b="1" dirty="0">
                        <a:solidFill>
                          <a:schemeClr val="tx1"/>
                        </a:solidFill>
                      </a:endParaRPr>
                    </a:p>
                  </a:txBody>
                  <a:tcPr marT="41564" marB="41564">
                    <a:solidFill>
                      <a:srgbClr val="FFFF00"/>
                    </a:solidFill>
                  </a:tcPr>
                </a:tc>
                <a:extLst>
                  <a:ext uri="{0D108BD9-81ED-4DB2-BD59-A6C34878D82A}">
                    <a16:rowId xmlns:a16="http://schemas.microsoft.com/office/drawing/2014/main" val="2471506901"/>
                  </a:ext>
                </a:extLst>
              </a:tr>
              <a:tr h="332509">
                <a:tc>
                  <a:txBody>
                    <a:bodyPr/>
                    <a:lstStyle/>
                    <a:p>
                      <a:pPr algn="ctr"/>
                      <a:r>
                        <a:rPr lang="en-US" sz="1600" dirty="0"/>
                        <a:t>4</a:t>
                      </a:r>
                      <a:endParaRPr lang="hi-IN" sz="1600" dirty="0"/>
                    </a:p>
                  </a:txBody>
                  <a:tcPr marT="41564" marB="41564"/>
                </a:tc>
                <a:tc>
                  <a:txBody>
                    <a:bodyPr/>
                    <a:lstStyle/>
                    <a:p>
                      <a:pPr algn="ctr"/>
                      <a:r>
                        <a:rPr lang="en-US" sz="1600" dirty="0"/>
                        <a:t>3</a:t>
                      </a:r>
                      <a:endParaRPr lang="hi-IN" sz="1600" dirty="0"/>
                    </a:p>
                  </a:txBody>
                  <a:tcPr marT="41564" marB="41564"/>
                </a:tc>
                <a:tc>
                  <a:txBody>
                    <a:bodyPr/>
                    <a:lstStyle/>
                    <a:p>
                      <a:pPr algn="ctr"/>
                      <a:r>
                        <a:rPr lang="en-US" sz="1600" dirty="0"/>
                        <a:t>12</a:t>
                      </a:r>
                      <a:endParaRPr lang="hi-IN" sz="1600" dirty="0"/>
                    </a:p>
                  </a:txBody>
                  <a:tcPr marT="41564" marB="41564"/>
                </a:tc>
                <a:tc>
                  <a:txBody>
                    <a:bodyPr/>
                    <a:lstStyle/>
                    <a:p>
                      <a:pPr algn="ctr"/>
                      <a:r>
                        <a:rPr lang="en-US" sz="1600" b="1" dirty="0">
                          <a:solidFill>
                            <a:schemeClr val="tx1"/>
                          </a:solidFill>
                        </a:rPr>
                        <a:t>4</a:t>
                      </a:r>
                      <a:endParaRPr lang="hi-IN" sz="1600" b="1" dirty="0">
                        <a:solidFill>
                          <a:schemeClr val="tx1"/>
                        </a:solidFill>
                      </a:endParaRPr>
                    </a:p>
                  </a:txBody>
                  <a:tcPr marT="41564" marB="41564">
                    <a:solidFill>
                      <a:srgbClr val="FFFF00"/>
                    </a:solidFill>
                  </a:tcPr>
                </a:tc>
                <a:extLst>
                  <a:ext uri="{0D108BD9-81ED-4DB2-BD59-A6C34878D82A}">
                    <a16:rowId xmlns:a16="http://schemas.microsoft.com/office/drawing/2014/main" val="4230541411"/>
                  </a:ext>
                </a:extLst>
              </a:tr>
            </a:tbl>
          </a:graphicData>
        </a:graphic>
      </p:graphicFrame>
      <p:sp>
        <p:nvSpPr>
          <p:cNvPr id="7" name="Rectangle 6">
            <a:extLst>
              <a:ext uri="{FF2B5EF4-FFF2-40B4-BE49-F238E27FC236}">
                <a16:creationId xmlns:a16="http://schemas.microsoft.com/office/drawing/2014/main" id="{7F38E596-0D56-4ABC-A79F-66B18C0BB027}"/>
              </a:ext>
            </a:extLst>
          </p:cNvPr>
          <p:cNvSpPr/>
          <p:nvPr/>
        </p:nvSpPr>
        <p:spPr>
          <a:xfrm>
            <a:off x="5999480" y="4602024"/>
            <a:ext cx="6096000" cy="1754326"/>
          </a:xfrm>
          <a:prstGeom prst="rect">
            <a:avLst/>
          </a:prstGeom>
        </p:spPr>
        <p:txBody>
          <a:bodyPr>
            <a:spAutoFit/>
          </a:bodyPr>
          <a:lstStyle/>
          <a:p>
            <a:r>
              <a:rPr lang="en-US" b="1" dirty="0">
                <a:solidFill>
                  <a:srgbClr val="C00000"/>
                </a:solidFill>
              </a:rPr>
              <a:t>Upper bound b</a:t>
            </a:r>
          </a:p>
          <a:p>
            <a:pPr lvl="1">
              <a:buSzPct val="70000"/>
              <a:buFont typeface="Courier New" panose="02070309020205020404" pitchFamily="49" charset="0"/>
              <a:buChar char="o"/>
            </a:pPr>
            <a:r>
              <a:rPr lang="pl-PL" b="1" i="1" dirty="0">
                <a:solidFill>
                  <a:srgbClr val="C00000"/>
                </a:solidFill>
              </a:rPr>
              <a:t>b </a:t>
            </a:r>
            <a:r>
              <a:rPr lang="pl-PL" b="1" dirty="0">
                <a:solidFill>
                  <a:srgbClr val="C00000"/>
                </a:solidFill>
              </a:rPr>
              <a:t>= </a:t>
            </a:r>
            <a:r>
              <a:rPr lang="pl-PL" b="1" i="1" dirty="0">
                <a:solidFill>
                  <a:srgbClr val="C00000"/>
                </a:solidFill>
              </a:rPr>
              <a:t>v </a:t>
            </a:r>
            <a:r>
              <a:rPr lang="pl-PL" b="1" dirty="0">
                <a:solidFill>
                  <a:srgbClr val="C00000"/>
                </a:solidFill>
              </a:rPr>
              <a:t>+ ( </a:t>
            </a:r>
            <a:r>
              <a:rPr lang="pl-PL" b="1" i="1" dirty="0">
                <a:solidFill>
                  <a:srgbClr val="C00000"/>
                </a:solidFill>
              </a:rPr>
              <a:t>W </a:t>
            </a:r>
            <a:r>
              <a:rPr lang="pl-PL" b="1" dirty="0">
                <a:solidFill>
                  <a:srgbClr val="C00000"/>
                </a:solidFill>
              </a:rPr>
              <a:t>– </a:t>
            </a:r>
            <a:r>
              <a:rPr lang="pl-PL" b="1" i="1" dirty="0">
                <a:solidFill>
                  <a:srgbClr val="C00000"/>
                </a:solidFill>
              </a:rPr>
              <a:t>w</a:t>
            </a:r>
            <a:r>
              <a:rPr lang="pl-PL" b="1" dirty="0">
                <a:solidFill>
                  <a:srgbClr val="C00000"/>
                </a:solidFill>
              </a:rPr>
              <a:t>) (</a:t>
            </a:r>
            <a:r>
              <a:rPr lang="pl-PL" b="1" i="1" dirty="0">
                <a:solidFill>
                  <a:srgbClr val="C00000"/>
                </a:solidFill>
              </a:rPr>
              <a:t>v</a:t>
            </a:r>
            <a:r>
              <a:rPr lang="pl-PL" b="1" i="1" baseline="-25000" dirty="0">
                <a:solidFill>
                  <a:srgbClr val="C00000"/>
                </a:solidFill>
              </a:rPr>
              <a:t>i</a:t>
            </a:r>
            <a:r>
              <a:rPr lang="pl-PL" b="1" baseline="-25000" dirty="0">
                <a:solidFill>
                  <a:srgbClr val="C00000"/>
                </a:solidFill>
              </a:rPr>
              <a:t>+1 </a:t>
            </a:r>
            <a:r>
              <a:rPr lang="pl-PL" b="1" dirty="0">
                <a:solidFill>
                  <a:srgbClr val="C00000"/>
                </a:solidFill>
              </a:rPr>
              <a:t>/</a:t>
            </a:r>
            <a:r>
              <a:rPr lang="pl-PL" b="1" i="1" dirty="0">
                <a:solidFill>
                  <a:srgbClr val="C00000"/>
                </a:solidFill>
              </a:rPr>
              <a:t>w</a:t>
            </a:r>
            <a:r>
              <a:rPr lang="pl-PL" b="1" i="1" baseline="-25000" dirty="0">
                <a:solidFill>
                  <a:srgbClr val="C00000"/>
                </a:solidFill>
              </a:rPr>
              <a:t>i</a:t>
            </a:r>
            <a:r>
              <a:rPr lang="pl-PL" b="1" baseline="-25000" dirty="0">
                <a:solidFill>
                  <a:srgbClr val="C00000"/>
                </a:solidFill>
              </a:rPr>
              <a:t>+1</a:t>
            </a:r>
            <a:r>
              <a:rPr lang="pl-PL" b="1" dirty="0">
                <a:solidFill>
                  <a:srgbClr val="C00000"/>
                </a:solidFill>
              </a:rPr>
              <a:t>)</a:t>
            </a:r>
          </a:p>
          <a:p>
            <a:pPr lvl="1">
              <a:buSzPct val="70000"/>
              <a:buFont typeface="Courier New" panose="02070309020205020404" pitchFamily="49" charset="0"/>
              <a:buChar char="o"/>
            </a:pPr>
            <a:r>
              <a:rPr lang="en-US" b="1" i="1" dirty="0">
                <a:solidFill>
                  <a:srgbClr val="C00000"/>
                </a:solidFill>
              </a:rPr>
              <a:t>v is the</a:t>
            </a:r>
            <a:r>
              <a:rPr lang="en-US" b="1" dirty="0">
                <a:solidFill>
                  <a:srgbClr val="C00000"/>
                </a:solidFill>
              </a:rPr>
              <a:t> total value of items already selected</a:t>
            </a:r>
          </a:p>
          <a:p>
            <a:pPr lvl="1">
              <a:buSzPct val="70000"/>
              <a:buFont typeface="Courier New" panose="02070309020205020404" pitchFamily="49" charset="0"/>
              <a:buChar char="o"/>
            </a:pPr>
            <a:r>
              <a:rPr lang="en-US" b="1" i="1" dirty="0">
                <a:solidFill>
                  <a:srgbClr val="C00000"/>
                </a:solidFill>
              </a:rPr>
              <a:t>W-w is the</a:t>
            </a:r>
            <a:r>
              <a:rPr lang="en-US" b="1" dirty="0">
                <a:solidFill>
                  <a:srgbClr val="C00000"/>
                </a:solidFill>
              </a:rPr>
              <a:t> remaining capacity of knapsack</a:t>
            </a:r>
          </a:p>
          <a:p>
            <a:pPr lvl="1">
              <a:buSzPct val="70000"/>
              <a:buFont typeface="Courier New" panose="02070309020205020404" pitchFamily="49" charset="0"/>
              <a:buChar char="o"/>
            </a:pPr>
            <a:r>
              <a:rPr lang="en-US" b="1" i="1" dirty="0">
                <a:solidFill>
                  <a:srgbClr val="C00000"/>
                </a:solidFill>
              </a:rPr>
              <a:t>v</a:t>
            </a:r>
            <a:r>
              <a:rPr lang="en-US" b="1" i="1" baseline="-25000" dirty="0">
                <a:solidFill>
                  <a:srgbClr val="C00000"/>
                </a:solidFill>
              </a:rPr>
              <a:t>i</a:t>
            </a:r>
            <a:r>
              <a:rPr lang="en-US" b="1" baseline="-25000" dirty="0">
                <a:solidFill>
                  <a:srgbClr val="C00000"/>
                </a:solidFill>
              </a:rPr>
              <a:t>+1</a:t>
            </a:r>
            <a:r>
              <a:rPr lang="en-US" b="1" dirty="0">
                <a:solidFill>
                  <a:srgbClr val="C00000"/>
                </a:solidFill>
              </a:rPr>
              <a:t> /</a:t>
            </a:r>
            <a:r>
              <a:rPr lang="en-US" b="1" i="1" dirty="0">
                <a:solidFill>
                  <a:srgbClr val="C00000"/>
                </a:solidFill>
              </a:rPr>
              <a:t>w</a:t>
            </a:r>
            <a:r>
              <a:rPr lang="en-US" b="1" i="1" baseline="-25000" dirty="0">
                <a:solidFill>
                  <a:srgbClr val="C00000"/>
                </a:solidFill>
              </a:rPr>
              <a:t>i</a:t>
            </a:r>
            <a:r>
              <a:rPr lang="en-US" b="1" baseline="-25000" dirty="0">
                <a:solidFill>
                  <a:srgbClr val="C00000"/>
                </a:solidFill>
              </a:rPr>
              <a:t>+1 </a:t>
            </a:r>
            <a:r>
              <a:rPr lang="en-US" b="1" dirty="0">
                <a:solidFill>
                  <a:srgbClr val="C00000"/>
                </a:solidFill>
              </a:rPr>
              <a:t>is the best per unit payoff among the remaining items</a:t>
            </a:r>
            <a:endParaRPr lang="hi-IN" b="1" dirty="0">
              <a:solidFill>
                <a:srgbClr val="C00000"/>
              </a:solidFill>
            </a:endParaRPr>
          </a:p>
        </p:txBody>
      </p:sp>
      <p:graphicFrame>
        <p:nvGraphicFramePr>
          <p:cNvPr id="8" name="Table 6">
            <a:extLst>
              <a:ext uri="{FF2B5EF4-FFF2-40B4-BE49-F238E27FC236}">
                <a16:creationId xmlns:a16="http://schemas.microsoft.com/office/drawing/2014/main" id="{8A63B6D6-6DDF-4783-BEF1-034B91D26BEC}"/>
              </a:ext>
            </a:extLst>
          </p:cNvPr>
          <p:cNvGraphicFramePr>
            <a:graphicFrameLocks/>
          </p:cNvGraphicFramePr>
          <p:nvPr>
            <p:extLst>
              <p:ext uri="{D42A27DB-BD31-4B8C-83A1-F6EECF244321}">
                <p14:modId xmlns:p14="http://schemas.microsoft.com/office/powerpoint/2010/main" val="3596601461"/>
              </p:ext>
            </p:extLst>
          </p:nvPr>
        </p:nvGraphicFramePr>
        <p:xfrm>
          <a:off x="1346200" y="2803597"/>
          <a:ext cx="3672840" cy="1828800"/>
        </p:xfrm>
        <a:graphic>
          <a:graphicData uri="http://schemas.openxmlformats.org/drawingml/2006/table">
            <a:tbl>
              <a:tblPr firstRow="1" bandRow="1">
                <a:tableStyleId>{5C22544A-7EE6-4342-B048-85BDC9FD1C3A}</a:tableStyleId>
              </a:tblPr>
              <a:tblGrid>
                <a:gridCol w="1224280">
                  <a:extLst>
                    <a:ext uri="{9D8B030D-6E8A-4147-A177-3AD203B41FA5}">
                      <a16:colId xmlns:a16="http://schemas.microsoft.com/office/drawing/2014/main" val="4288962044"/>
                    </a:ext>
                  </a:extLst>
                </a:gridCol>
                <a:gridCol w="1224280">
                  <a:extLst>
                    <a:ext uri="{9D8B030D-6E8A-4147-A177-3AD203B41FA5}">
                      <a16:colId xmlns:a16="http://schemas.microsoft.com/office/drawing/2014/main" val="3268489291"/>
                    </a:ext>
                  </a:extLst>
                </a:gridCol>
                <a:gridCol w="1224280">
                  <a:extLst>
                    <a:ext uri="{9D8B030D-6E8A-4147-A177-3AD203B41FA5}">
                      <a16:colId xmlns:a16="http://schemas.microsoft.com/office/drawing/2014/main" val="1859674420"/>
                    </a:ext>
                  </a:extLst>
                </a:gridCol>
              </a:tblGrid>
              <a:tr h="175133">
                <a:tc>
                  <a:txBody>
                    <a:bodyPr/>
                    <a:lstStyle/>
                    <a:p>
                      <a:pPr algn="ctr"/>
                      <a:r>
                        <a:rPr lang="en-US" dirty="0"/>
                        <a:t>Item</a:t>
                      </a:r>
                      <a:endParaRPr lang="hi-IN" dirty="0"/>
                    </a:p>
                  </a:txBody>
                  <a:tcPr/>
                </a:tc>
                <a:tc>
                  <a:txBody>
                    <a:bodyPr/>
                    <a:lstStyle/>
                    <a:p>
                      <a:pPr algn="ctr"/>
                      <a:r>
                        <a:rPr lang="en-US" dirty="0"/>
                        <a:t>Weight</a:t>
                      </a:r>
                      <a:endParaRPr lang="hi-IN" dirty="0"/>
                    </a:p>
                  </a:txBody>
                  <a:tcPr/>
                </a:tc>
                <a:tc>
                  <a:txBody>
                    <a:bodyPr/>
                    <a:lstStyle/>
                    <a:p>
                      <a:pPr algn="ctr"/>
                      <a:r>
                        <a:rPr lang="en-US" dirty="0"/>
                        <a:t>Value</a:t>
                      </a:r>
                      <a:endParaRPr lang="hi-IN" dirty="0"/>
                    </a:p>
                  </a:txBody>
                  <a:tcPr/>
                </a:tc>
                <a:extLst>
                  <a:ext uri="{0D108BD9-81ED-4DB2-BD59-A6C34878D82A}">
                    <a16:rowId xmlns:a16="http://schemas.microsoft.com/office/drawing/2014/main" val="3901954611"/>
                  </a:ext>
                </a:extLst>
              </a:tr>
              <a:tr h="175133">
                <a:tc>
                  <a:txBody>
                    <a:bodyPr/>
                    <a:lstStyle/>
                    <a:p>
                      <a:pPr algn="ctr"/>
                      <a:r>
                        <a:rPr lang="en-US" dirty="0"/>
                        <a:t>1</a:t>
                      </a:r>
                      <a:endParaRPr lang="hi-IN" dirty="0"/>
                    </a:p>
                  </a:txBody>
                  <a:tcPr/>
                </a:tc>
                <a:tc>
                  <a:txBody>
                    <a:bodyPr/>
                    <a:lstStyle/>
                    <a:p>
                      <a:pPr algn="ctr"/>
                      <a:r>
                        <a:rPr lang="en-US" dirty="0"/>
                        <a:t>4</a:t>
                      </a:r>
                      <a:endParaRPr lang="hi-IN" dirty="0"/>
                    </a:p>
                  </a:txBody>
                  <a:tcPr/>
                </a:tc>
                <a:tc>
                  <a:txBody>
                    <a:bodyPr/>
                    <a:lstStyle/>
                    <a:p>
                      <a:pPr algn="ctr"/>
                      <a:r>
                        <a:rPr lang="en-US" dirty="0"/>
                        <a:t>40</a:t>
                      </a:r>
                      <a:endParaRPr lang="hi-IN" dirty="0"/>
                    </a:p>
                  </a:txBody>
                  <a:tcPr/>
                </a:tc>
                <a:extLst>
                  <a:ext uri="{0D108BD9-81ED-4DB2-BD59-A6C34878D82A}">
                    <a16:rowId xmlns:a16="http://schemas.microsoft.com/office/drawing/2014/main" val="2441878164"/>
                  </a:ext>
                </a:extLst>
              </a:tr>
              <a:tr h="175133">
                <a:tc>
                  <a:txBody>
                    <a:bodyPr/>
                    <a:lstStyle/>
                    <a:p>
                      <a:pPr algn="ctr"/>
                      <a:r>
                        <a:rPr lang="en-US" dirty="0"/>
                        <a:t>2</a:t>
                      </a:r>
                      <a:endParaRPr lang="hi-IN" dirty="0"/>
                    </a:p>
                  </a:txBody>
                  <a:tcPr/>
                </a:tc>
                <a:tc>
                  <a:txBody>
                    <a:bodyPr/>
                    <a:lstStyle/>
                    <a:p>
                      <a:pPr algn="ctr"/>
                      <a:r>
                        <a:rPr lang="en-US" dirty="0"/>
                        <a:t>7</a:t>
                      </a:r>
                      <a:endParaRPr lang="hi-IN" dirty="0"/>
                    </a:p>
                  </a:txBody>
                  <a:tcPr/>
                </a:tc>
                <a:tc>
                  <a:txBody>
                    <a:bodyPr/>
                    <a:lstStyle/>
                    <a:p>
                      <a:pPr algn="ctr"/>
                      <a:r>
                        <a:rPr lang="en-US" dirty="0"/>
                        <a:t>42</a:t>
                      </a:r>
                      <a:endParaRPr lang="hi-IN" dirty="0"/>
                    </a:p>
                  </a:txBody>
                  <a:tcPr/>
                </a:tc>
                <a:extLst>
                  <a:ext uri="{0D108BD9-81ED-4DB2-BD59-A6C34878D82A}">
                    <a16:rowId xmlns:a16="http://schemas.microsoft.com/office/drawing/2014/main" val="1902465444"/>
                  </a:ext>
                </a:extLst>
              </a:tr>
              <a:tr h="175133">
                <a:tc>
                  <a:txBody>
                    <a:bodyPr/>
                    <a:lstStyle/>
                    <a:p>
                      <a:pPr algn="ctr"/>
                      <a:r>
                        <a:rPr lang="en-US" dirty="0"/>
                        <a:t>3</a:t>
                      </a:r>
                      <a:endParaRPr lang="hi-IN" dirty="0"/>
                    </a:p>
                  </a:txBody>
                  <a:tcPr/>
                </a:tc>
                <a:tc>
                  <a:txBody>
                    <a:bodyPr/>
                    <a:lstStyle/>
                    <a:p>
                      <a:pPr algn="ctr"/>
                      <a:r>
                        <a:rPr lang="en-US" dirty="0"/>
                        <a:t>5</a:t>
                      </a:r>
                      <a:endParaRPr lang="hi-IN" dirty="0"/>
                    </a:p>
                  </a:txBody>
                  <a:tcPr/>
                </a:tc>
                <a:tc>
                  <a:txBody>
                    <a:bodyPr/>
                    <a:lstStyle/>
                    <a:p>
                      <a:pPr algn="ctr"/>
                      <a:r>
                        <a:rPr lang="en-US" dirty="0"/>
                        <a:t>25</a:t>
                      </a:r>
                      <a:endParaRPr lang="hi-IN" dirty="0"/>
                    </a:p>
                  </a:txBody>
                  <a:tcPr/>
                </a:tc>
                <a:extLst>
                  <a:ext uri="{0D108BD9-81ED-4DB2-BD59-A6C34878D82A}">
                    <a16:rowId xmlns:a16="http://schemas.microsoft.com/office/drawing/2014/main" val="2471506901"/>
                  </a:ext>
                </a:extLst>
              </a:tr>
              <a:tr h="175133">
                <a:tc>
                  <a:txBody>
                    <a:bodyPr/>
                    <a:lstStyle/>
                    <a:p>
                      <a:pPr algn="ctr"/>
                      <a:r>
                        <a:rPr lang="en-US" dirty="0"/>
                        <a:t>4</a:t>
                      </a:r>
                      <a:endParaRPr lang="hi-IN" dirty="0"/>
                    </a:p>
                  </a:txBody>
                  <a:tcPr/>
                </a:tc>
                <a:tc>
                  <a:txBody>
                    <a:bodyPr/>
                    <a:lstStyle/>
                    <a:p>
                      <a:pPr algn="ctr"/>
                      <a:r>
                        <a:rPr lang="en-US" dirty="0"/>
                        <a:t>3</a:t>
                      </a:r>
                      <a:endParaRPr lang="hi-IN" dirty="0"/>
                    </a:p>
                  </a:txBody>
                  <a:tcPr/>
                </a:tc>
                <a:tc>
                  <a:txBody>
                    <a:bodyPr/>
                    <a:lstStyle/>
                    <a:p>
                      <a:pPr algn="ctr"/>
                      <a:r>
                        <a:rPr lang="en-US" dirty="0"/>
                        <a:t>12</a:t>
                      </a:r>
                      <a:endParaRPr lang="hi-IN" dirty="0"/>
                    </a:p>
                  </a:txBody>
                  <a:tcPr/>
                </a:tc>
                <a:extLst>
                  <a:ext uri="{0D108BD9-81ED-4DB2-BD59-A6C34878D82A}">
                    <a16:rowId xmlns:a16="http://schemas.microsoft.com/office/drawing/2014/main" val="4230541411"/>
                  </a:ext>
                </a:extLst>
              </a:tr>
            </a:tbl>
          </a:graphicData>
        </a:graphic>
      </p:graphicFrame>
      <p:sp>
        <p:nvSpPr>
          <p:cNvPr id="9" name="Arrow: Right 8">
            <a:extLst>
              <a:ext uri="{FF2B5EF4-FFF2-40B4-BE49-F238E27FC236}">
                <a16:creationId xmlns:a16="http://schemas.microsoft.com/office/drawing/2014/main" id="{C23E347B-2686-4B4C-866A-97CA8046BDDC}"/>
              </a:ext>
            </a:extLst>
          </p:cNvPr>
          <p:cNvSpPr/>
          <p:nvPr/>
        </p:nvSpPr>
        <p:spPr>
          <a:xfrm>
            <a:off x="5364480" y="3525520"/>
            <a:ext cx="1422400" cy="2641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1" name="Speech Bubble: Rectangle with Corners Rounded 10">
            <a:extLst>
              <a:ext uri="{FF2B5EF4-FFF2-40B4-BE49-F238E27FC236}">
                <a16:creationId xmlns:a16="http://schemas.microsoft.com/office/drawing/2014/main" id="{A66B8889-1EEF-407A-AD23-B8F23CBA4091}"/>
              </a:ext>
            </a:extLst>
          </p:cNvPr>
          <p:cNvSpPr/>
          <p:nvPr/>
        </p:nvSpPr>
        <p:spPr>
          <a:xfrm>
            <a:off x="10537371" y="1337831"/>
            <a:ext cx="1306286" cy="705714"/>
          </a:xfrm>
          <a:prstGeom prst="wedgeRoundRectCallout">
            <a:avLst>
              <a:gd name="adj1" fmla="val -41666"/>
              <a:gd name="adj2" fmla="val 130371"/>
              <a:gd name="adj3" fmla="val 16667"/>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already sorted</a:t>
            </a:r>
            <a:endParaRPr lang="hi-IN" b="1"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745050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BB04C4D8-BC5A-4067-AF83-933E7A368751}"/>
              </a:ext>
            </a:extLst>
          </p:cNvPr>
          <p:cNvSpPr txBox="1"/>
          <p:nvPr/>
        </p:nvSpPr>
        <p:spPr>
          <a:xfrm>
            <a:off x="2095732" y="2927461"/>
            <a:ext cx="2301240" cy="923330"/>
          </a:xfrm>
          <a:prstGeom prst="rect">
            <a:avLst/>
          </a:prstGeom>
          <a:noFill/>
          <a:ln>
            <a:solidFill>
              <a:schemeClr val="tx1"/>
            </a:solidFill>
          </a:ln>
        </p:spPr>
        <p:txBody>
          <a:bodyPr wrap="square" rtlCol="0">
            <a:spAutoFit/>
          </a:bodyPr>
          <a:lstStyle/>
          <a:p>
            <a:pPr algn="ctr"/>
            <a:r>
              <a:rPr lang="en-US" b="1" dirty="0"/>
              <a:t>w=11 exceeds the capacity. Not promising..</a:t>
            </a:r>
            <a:endParaRPr lang="hi-IN" b="1" dirty="0"/>
          </a:p>
        </p:txBody>
      </p:sp>
      <p:sp>
        <p:nvSpPr>
          <p:cNvPr id="2" name="Title 1">
            <a:extLst>
              <a:ext uri="{FF2B5EF4-FFF2-40B4-BE49-F238E27FC236}">
                <a16:creationId xmlns:a16="http://schemas.microsoft.com/office/drawing/2014/main" id="{618F8E43-8CE9-4176-B194-E9FD8D3839BC}"/>
              </a:ext>
            </a:extLst>
          </p:cNvPr>
          <p:cNvSpPr>
            <a:spLocks noGrp="1"/>
          </p:cNvSpPr>
          <p:nvPr>
            <p:ph type="title"/>
          </p:nvPr>
        </p:nvSpPr>
        <p:spPr/>
        <p:txBody>
          <a:bodyPr/>
          <a:lstStyle/>
          <a:p>
            <a:r>
              <a:rPr lang="en-US" b="1" dirty="0"/>
              <a:t>Example 1</a:t>
            </a:r>
            <a:endParaRPr lang="hi-IN" dirty="0"/>
          </a:p>
        </p:txBody>
      </p:sp>
      <p:sp>
        <p:nvSpPr>
          <p:cNvPr id="4" name="Footer Placeholder 3">
            <a:extLst>
              <a:ext uri="{FF2B5EF4-FFF2-40B4-BE49-F238E27FC236}">
                <a16:creationId xmlns:a16="http://schemas.microsoft.com/office/drawing/2014/main" id="{53D656A3-16C5-4B5E-AD3D-CEC75535F79A}"/>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D7894C8F-69AC-4496-958A-69FAE1065E30}"/>
              </a:ext>
            </a:extLst>
          </p:cNvPr>
          <p:cNvSpPr>
            <a:spLocks noGrp="1"/>
          </p:cNvSpPr>
          <p:nvPr>
            <p:ph type="sldNum" sz="quarter" idx="12"/>
          </p:nvPr>
        </p:nvSpPr>
        <p:spPr/>
        <p:txBody>
          <a:bodyPr/>
          <a:lstStyle/>
          <a:p>
            <a:fld id="{F56F9007-E0C6-489E-B603-BD6BB4385429}" type="slidenum">
              <a:rPr lang="hi-IN" smtClean="0"/>
              <a:t>10</a:t>
            </a:fld>
            <a:endParaRPr lang="hi-IN"/>
          </a:p>
        </p:txBody>
      </p:sp>
      <p:sp>
        <p:nvSpPr>
          <p:cNvPr id="6" name="TextBox 5">
            <a:extLst>
              <a:ext uri="{FF2B5EF4-FFF2-40B4-BE49-F238E27FC236}">
                <a16:creationId xmlns:a16="http://schemas.microsoft.com/office/drawing/2014/main" id="{9A346F4A-6EAC-4CF0-9E0D-065A5E54A66B}"/>
              </a:ext>
            </a:extLst>
          </p:cNvPr>
          <p:cNvSpPr txBox="1"/>
          <p:nvPr/>
        </p:nvSpPr>
        <p:spPr>
          <a:xfrm>
            <a:off x="5008880" y="334549"/>
            <a:ext cx="1615440" cy="646331"/>
          </a:xfrm>
          <a:prstGeom prst="rect">
            <a:avLst/>
          </a:prstGeom>
          <a:noFill/>
          <a:ln>
            <a:solidFill>
              <a:schemeClr val="tx1"/>
            </a:solidFill>
          </a:ln>
        </p:spPr>
        <p:txBody>
          <a:bodyPr wrap="square" rtlCol="0">
            <a:spAutoFit/>
          </a:bodyPr>
          <a:lstStyle/>
          <a:p>
            <a:pPr algn="ctr"/>
            <a:r>
              <a:rPr lang="en-US" b="1" dirty="0"/>
              <a:t>w=0, v=0</a:t>
            </a:r>
          </a:p>
          <a:p>
            <a:pPr algn="ctr"/>
            <a:r>
              <a:rPr lang="en-US" b="1" dirty="0"/>
              <a:t>b=100</a:t>
            </a:r>
            <a:endParaRPr lang="hi-IN" b="1" dirty="0"/>
          </a:p>
        </p:txBody>
      </p:sp>
      <p:sp>
        <p:nvSpPr>
          <p:cNvPr id="7" name="TextBox 6">
            <a:extLst>
              <a:ext uri="{FF2B5EF4-FFF2-40B4-BE49-F238E27FC236}">
                <a16:creationId xmlns:a16="http://schemas.microsoft.com/office/drawing/2014/main" id="{9A48BD49-614E-4F1E-A4B1-5BA455C067C6}"/>
              </a:ext>
            </a:extLst>
          </p:cNvPr>
          <p:cNvSpPr txBox="1"/>
          <p:nvPr/>
        </p:nvSpPr>
        <p:spPr>
          <a:xfrm>
            <a:off x="7159224" y="1482629"/>
            <a:ext cx="2146300" cy="646331"/>
          </a:xfrm>
          <a:prstGeom prst="rect">
            <a:avLst/>
          </a:prstGeom>
          <a:noFill/>
          <a:ln>
            <a:solidFill>
              <a:schemeClr val="tx1"/>
            </a:solidFill>
          </a:ln>
        </p:spPr>
        <p:txBody>
          <a:bodyPr wrap="square" rtlCol="0">
            <a:spAutoFit/>
          </a:bodyPr>
          <a:lstStyle/>
          <a:p>
            <a:pPr algn="ctr"/>
            <a:r>
              <a:rPr lang="en-US" b="1" dirty="0"/>
              <a:t>w=0, v=0</a:t>
            </a:r>
          </a:p>
          <a:p>
            <a:pPr algn="ctr"/>
            <a:r>
              <a:rPr lang="en-US" b="1" dirty="0"/>
              <a:t>b=0+(10-0)*6 = 60</a:t>
            </a:r>
            <a:endParaRPr lang="hi-IN" b="1" dirty="0"/>
          </a:p>
        </p:txBody>
      </p:sp>
      <p:sp>
        <p:nvSpPr>
          <p:cNvPr id="8" name="TextBox 7">
            <a:extLst>
              <a:ext uri="{FF2B5EF4-FFF2-40B4-BE49-F238E27FC236}">
                <a16:creationId xmlns:a16="http://schemas.microsoft.com/office/drawing/2014/main" id="{B3B3792E-FECE-4DAB-97BC-EADA56F74034}"/>
              </a:ext>
            </a:extLst>
          </p:cNvPr>
          <p:cNvSpPr txBox="1"/>
          <p:nvPr/>
        </p:nvSpPr>
        <p:spPr>
          <a:xfrm>
            <a:off x="3515360" y="1679739"/>
            <a:ext cx="2301240" cy="646331"/>
          </a:xfrm>
          <a:prstGeom prst="rect">
            <a:avLst/>
          </a:prstGeom>
          <a:noFill/>
          <a:ln>
            <a:solidFill>
              <a:schemeClr val="tx1"/>
            </a:solidFill>
          </a:ln>
        </p:spPr>
        <p:txBody>
          <a:bodyPr wrap="square" rtlCol="0">
            <a:spAutoFit/>
          </a:bodyPr>
          <a:lstStyle/>
          <a:p>
            <a:pPr algn="ctr"/>
            <a:r>
              <a:rPr lang="en-US" b="1" dirty="0"/>
              <a:t>w=4, v=40</a:t>
            </a:r>
          </a:p>
          <a:p>
            <a:pPr algn="ctr"/>
            <a:r>
              <a:rPr lang="en-US" b="1" dirty="0"/>
              <a:t>b=40+(10-4)*6 = 76</a:t>
            </a:r>
            <a:endParaRPr lang="hi-IN" b="1" dirty="0"/>
          </a:p>
        </p:txBody>
      </p:sp>
      <p:cxnSp>
        <p:nvCxnSpPr>
          <p:cNvPr id="10" name="Straight Arrow Connector 9">
            <a:extLst>
              <a:ext uri="{FF2B5EF4-FFF2-40B4-BE49-F238E27FC236}">
                <a16:creationId xmlns:a16="http://schemas.microsoft.com/office/drawing/2014/main" id="{D1AEA934-0457-4245-B97B-09D6D2CC39B7}"/>
              </a:ext>
            </a:extLst>
          </p:cNvPr>
          <p:cNvCxnSpPr>
            <a:cxnSpLocks/>
            <a:stCxn id="6" idx="2"/>
            <a:endCxn id="8" idx="0"/>
          </p:cNvCxnSpPr>
          <p:nvPr/>
        </p:nvCxnSpPr>
        <p:spPr>
          <a:xfrm flipH="1">
            <a:off x="4665980" y="980880"/>
            <a:ext cx="1150620" cy="6988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F46D05F5-1B0C-4D93-81BC-E64D3316CDF8}"/>
              </a:ext>
            </a:extLst>
          </p:cNvPr>
          <p:cNvCxnSpPr>
            <a:stCxn id="6" idx="2"/>
          </p:cNvCxnSpPr>
          <p:nvPr/>
        </p:nvCxnSpPr>
        <p:spPr>
          <a:xfrm>
            <a:off x="5816600" y="980880"/>
            <a:ext cx="2425700" cy="4814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C6101B77-F4A0-463D-A215-DD3B6C611A91}"/>
              </a:ext>
            </a:extLst>
          </p:cNvPr>
          <p:cNvSpPr txBox="1"/>
          <p:nvPr/>
        </p:nvSpPr>
        <p:spPr>
          <a:xfrm>
            <a:off x="3683129" y="1005386"/>
            <a:ext cx="1279902" cy="369332"/>
          </a:xfrm>
          <a:prstGeom prst="rect">
            <a:avLst/>
          </a:prstGeom>
          <a:noFill/>
        </p:spPr>
        <p:txBody>
          <a:bodyPr wrap="none" rtlCol="0">
            <a:spAutoFit/>
          </a:bodyPr>
          <a:lstStyle/>
          <a:p>
            <a:r>
              <a:rPr lang="en-US" b="1" dirty="0"/>
              <a:t>with Item 1</a:t>
            </a:r>
            <a:endParaRPr lang="hi-IN" b="1" dirty="0"/>
          </a:p>
        </p:txBody>
      </p:sp>
      <p:sp>
        <p:nvSpPr>
          <p:cNvPr id="15" name="TextBox 14">
            <a:extLst>
              <a:ext uri="{FF2B5EF4-FFF2-40B4-BE49-F238E27FC236}">
                <a16:creationId xmlns:a16="http://schemas.microsoft.com/office/drawing/2014/main" id="{27CD97C4-1551-454A-8569-C6E0E1DBCCA0}"/>
              </a:ext>
            </a:extLst>
          </p:cNvPr>
          <p:cNvSpPr txBox="1"/>
          <p:nvPr/>
        </p:nvSpPr>
        <p:spPr>
          <a:xfrm>
            <a:off x="7310120" y="916124"/>
            <a:ext cx="1606915" cy="369332"/>
          </a:xfrm>
          <a:prstGeom prst="rect">
            <a:avLst/>
          </a:prstGeom>
          <a:noFill/>
        </p:spPr>
        <p:txBody>
          <a:bodyPr wrap="none" rtlCol="0">
            <a:spAutoFit/>
          </a:bodyPr>
          <a:lstStyle/>
          <a:p>
            <a:r>
              <a:rPr lang="en-US" b="1" dirty="0"/>
              <a:t>without Item 1</a:t>
            </a:r>
            <a:endParaRPr lang="hi-IN" b="1" dirty="0"/>
          </a:p>
        </p:txBody>
      </p:sp>
      <p:graphicFrame>
        <p:nvGraphicFramePr>
          <p:cNvPr id="16" name="Table 6">
            <a:extLst>
              <a:ext uri="{FF2B5EF4-FFF2-40B4-BE49-F238E27FC236}">
                <a16:creationId xmlns:a16="http://schemas.microsoft.com/office/drawing/2014/main" id="{FC36DEF9-D174-40F8-B782-27D0A2346F69}"/>
              </a:ext>
            </a:extLst>
          </p:cNvPr>
          <p:cNvGraphicFramePr>
            <a:graphicFrameLocks/>
          </p:cNvGraphicFramePr>
          <p:nvPr>
            <p:extLst>
              <p:ext uri="{D42A27DB-BD31-4B8C-83A1-F6EECF244321}">
                <p14:modId xmlns:p14="http://schemas.microsoft.com/office/powerpoint/2010/main" val="2520619985"/>
              </p:ext>
            </p:extLst>
          </p:nvPr>
        </p:nvGraphicFramePr>
        <p:xfrm>
          <a:off x="106494" y="1369735"/>
          <a:ext cx="2182908" cy="1878680"/>
        </p:xfrm>
        <a:graphic>
          <a:graphicData uri="http://schemas.openxmlformats.org/drawingml/2006/table">
            <a:tbl>
              <a:tblPr firstRow="1" bandRow="1">
                <a:tableStyleId>{5C22544A-7EE6-4342-B048-85BDC9FD1C3A}</a:tableStyleId>
              </a:tblPr>
              <a:tblGrid>
                <a:gridCol w="545727">
                  <a:extLst>
                    <a:ext uri="{9D8B030D-6E8A-4147-A177-3AD203B41FA5}">
                      <a16:colId xmlns:a16="http://schemas.microsoft.com/office/drawing/2014/main" val="4288962044"/>
                    </a:ext>
                  </a:extLst>
                </a:gridCol>
                <a:gridCol w="545727">
                  <a:extLst>
                    <a:ext uri="{9D8B030D-6E8A-4147-A177-3AD203B41FA5}">
                      <a16:colId xmlns:a16="http://schemas.microsoft.com/office/drawing/2014/main" val="3268489291"/>
                    </a:ext>
                  </a:extLst>
                </a:gridCol>
                <a:gridCol w="545727">
                  <a:extLst>
                    <a:ext uri="{9D8B030D-6E8A-4147-A177-3AD203B41FA5}">
                      <a16:colId xmlns:a16="http://schemas.microsoft.com/office/drawing/2014/main" val="1859674420"/>
                    </a:ext>
                  </a:extLst>
                </a:gridCol>
                <a:gridCol w="545727">
                  <a:extLst>
                    <a:ext uri="{9D8B030D-6E8A-4147-A177-3AD203B41FA5}">
                      <a16:colId xmlns:a16="http://schemas.microsoft.com/office/drawing/2014/main" val="3385044157"/>
                    </a:ext>
                  </a:extLst>
                </a:gridCol>
              </a:tblGrid>
              <a:tr h="461951">
                <a:tc>
                  <a:txBody>
                    <a:bodyPr/>
                    <a:lstStyle/>
                    <a:p>
                      <a:pPr algn="ctr"/>
                      <a:r>
                        <a:rPr lang="en-US" sz="1600" dirty="0"/>
                        <a:t>Item</a:t>
                      </a:r>
                      <a:endParaRPr lang="hi-IN" sz="1600" dirty="0"/>
                    </a:p>
                  </a:txBody>
                  <a:tcPr marT="41564" marB="41564"/>
                </a:tc>
                <a:tc>
                  <a:txBody>
                    <a:bodyPr/>
                    <a:lstStyle/>
                    <a:p>
                      <a:pPr algn="ctr"/>
                      <a:r>
                        <a:rPr lang="en-US" sz="1600" dirty="0"/>
                        <a:t>w</a:t>
                      </a:r>
                      <a:endParaRPr lang="hi-IN" sz="1600" dirty="0"/>
                    </a:p>
                  </a:txBody>
                  <a:tcPr marT="41564" marB="41564"/>
                </a:tc>
                <a:tc>
                  <a:txBody>
                    <a:bodyPr/>
                    <a:lstStyle/>
                    <a:p>
                      <a:pPr algn="ctr"/>
                      <a:r>
                        <a:rPr lang="en-US" sz="1600" dirty="0"/>
                        <a:t>v</a:t>
                      </a:r>
                      <a:endParaRPr lang="hi-IN" sz="1600" dirty="0"/>
                    </a:p>
                  </a:txBody>
                  <a:tcPr marT="41564" marB="41564"/>
                </a:tc>
                <a:tc>
                  <a:txBody>
                    <a:bodyPr/>
                    <a:lstStyle/>
                    <a:p>
                      <a:pPr algn="ctr"/>
                      <a:r>
                        <a:rPr lang="en-US" sz="1600" dirty="0">
                          <a:solidFill>
                            <a:schemeClr val="tx1"/>
                          </a:solidFill>
                        </a:rPr>
                        <a:t>VI</a:t>
                      </a:r>
                      <a:endParaRPr lang="hi-IN" sz="1600" dirty="0">
                        <a:solidFill>
                          <a:schemeClr val="tx1"/>
                        </a:solidFill>
                      </a:endParaRPr>
                    </a:p>
                  </a:txBody>
                  <a:tcPr marT="41564" marB="41564">
                    <a:solidFill>
                      <a:srgbClr val="FFFF00"/>
                    </a:solidFill>
                  </a:tcPr>
                </a:tc>
                <a:extLst>
                  <a:ext uri="{0D108BD9-81ED-4DB2-BD59-A6C34878D82A}">
                    <a16:rowId xmlns:a16="http://schemas.microsoft.com/office/drawing/2014/main" val="3901954611"/>
                  </a:ext>
                </a:extLst>
              </a:tr>
              <a:tr h="313052">
                <a:tc>
                  <a:txBody>
                    <a:bodyPr/>
                    <a:lstStyle/>
                    <a:p>
                      <a:pPr algn="ctr"/>
                      <a:r>
                        <a:rPr lang="en-US" sz="1600" dirty="0"/>
                        <a:t>1</a:t>
                      </a:r>
                      <a:endParaRPr lang="hi-IN" sz="1600" dirty="0"/>
                    </a:p>
                  </a:txBody>
                  <a:tcPr marT="41564" marB="41564"/>
                </a:tc>
                <a:tc>
                  <a:txBody>
                    <a:bodyPr/>
                    <a:lstStyle/>
                    <a:p>
                      <a:pPr algn="ctr"/>
                      <a:r>
                        <a:rPr lang="en-US" sz="1600" dirty="0"/>
                        <a:t>4</a:t>
                      </a:r>
                      <a:endParaRPr lang="hi-IN" sz="1600" dirty="0"/>
                    </a:p>
                  </a:txBody>
                  <a:tcPr marT="41564" marB="41564"/>
                </a:tc>
                <a:tc>
                  <a:txBody>
                    <a:bodyPr/>
                    <a:lstStyle/>
                    <a:p>
                      <a:pPr algn="ctr"/>
                      <a:r>
                        <a:rPr lang="en-US" sz="1600" dirty="0"/>
                        <a:t>40</a:t>
                      </a:r>
                      <a:endParaRPr lang="hi-IN" sz="1600" dirty="0"/>
                    </a:p>
                  </a:txBody>
                  <a:tcPr marT="41564" marB="41564"/>
                </a:tc>
                <a:tc>
                  <a:txBody>
                    <a:bodyPr/>
                    <a:lstStyle/>
                    <a:p>
                      <a:pPr algn="ctr"/>
                      <a:r>
                        <a:rPr lang="en-US" sz="1600" b="1" dirty="0">
                          <a:solidFill>
                            <a:schemeClr val="tx1"/>
                          </a:solidFill>
                        </a:rPr>
                        <a:t>10</a:t>
                      </a:r>
                      <a:endParaRPr lang="hi-IN" sz="1600" b="1" dirty="0">
                        <a:solidFill>
                          <a:schemeClr val="tx1"/>
                        </a:solidFill>
                      </a:endParaRPr>
                    </a:p>
                  </a:txBody>
                  <a:tcPr marT="41564" marB="41564">
                    <a:solidFill>
                      <a:srgbClr val="FFFF00"/>
                    </a:solidFill>
                  </a:tcPr>
                </a:tc>
                <a:extLst>
                  <a:ext uri="{0D108BD9-81ED-4DB2-BD59-A6C34878D82A}">
                    <a16:rowId xmlns:a16="http://schemas.microsoft.com/office/drawing/2014/main" val="2441878164"/>
                  </a:ext>
                </a:extLst>
              </a:tr>
              <a:tr h="313052">
                <a:tc>
                  <a:txBody>
                    <a:bodyPr/>
                    <a:lstStyle/>
                    <a:p>
                      <a:pPr algn="ctr"/>
                      <a:r>
                        <a:rPr lang="en-US" sz="1600" dirty="0"/>
                        <a:t>2</a:t>
                      </a:r>
                      <a:endParaRPr lang="hi-IN" sz="1600" dirty="0"/>
                    </a:p>
                  </a:txBody>
                  <a:tcPr marT="41564" marB="41564"/>
                </a:tc>
                <a:tc>
                  <a:txBody>
                    <a:bodyPr/>
                    <a:lstStyle/>
                    <a:p>
                      <a:pPr algn="ctr"/>
                      <a:r>
                        <a:rPr lang="en-US" sz="1600" dirty="0"/>
                        <a:t>7</a:t>
                      </a:r>
                      <a:endParaRPr lang="hi-IN" sz="1600" dirty="0"/>
                    </a:p>
                  </a:txBody>
                  <a:tcPr marT="41564" marB="41564"/>
                </a:tc>
                <a:tc>
                  <a:txBody>
                    <a:bodyPr/>
                    <a:lstStyle/>
                    <a:p>
                      <a:pPr algn="ctr"/>
                      <a:r>
                        <a:rPr lang="en-US" sz="1600" dirty="0"/>
                        <a:t>42</a:t>
                      </a:r>
                      <a:endParaRPr lang="hi-IN" sz="1600" dirty="0"/>
                    </a:p>
                  </a:txBody>
                  <a:tcPr marT="41564" marB="41564"/>
                </a:tc>
                <a:tc>
                  <a:txBody>
                    <a:bodyPr/>
                    <a:lstStyle/>
                    <a:p>
                      <a:pPr algn="ctr"/>
                      <a:r>
                        <a:rPr lang="en-US" sz="1600" b="1" dirty="0">
                          <a:solidFill>
                            <a:schemeClr val="tx1"/>
                          </a:solidFill>
                        </a:rPr>
                        <a:t>6</a:t>
                      </a:r>
                      <a:endParaRPr lang="hi-IN" sz="1600" b="1" dirty="0">
                        <a:solidFill>
                          <a:schemeClr val="tx1"/>
                        </a:solidFill>
                      </a:endParaRPr>
                    </a:p>
                  </a:txBody>
                  <a:tcPr marT="41564" marB="41564">
                    <a:solidFill>
                      <a:srgbClr val="FFFF00"/>
                    </a:solidFill>
                  </a:tcPr>
                </a:tc>
                <a:extLst>
                  <a:ext uri="{0D108BD9-81ED-4DB2-BD59-A6C34878D82A}">
                    <a16:rowId xmlns:a16="http://schemas.microsoft.com/office/drawing/2014/main" val="1902465444"/>
                  </a:ext>
                </a:extLst>
              </a:tr>
              <a:tr h="313052">
                <a:tc>
                  <a:txBody>
                    <a:bodyPr/>
                    <a:lstStyle/>
                    <a:p>
                      <a:pPr algn="ctr"/>
                      <a:r>
                        <a:rPr lang="en-US" sz="1600" dirty="0"/>
                        <a:t>3</a:t>
                      </a:r>
                      <a:endParaRPr lang="hi-IN" sz="1600" dirty="0"/>
                    </a:p>
                  </a:txBody>
                  <a:tcPr marT="41564" marB="41564"/>
                </a:tc>
                <a:tc>
                  <a:txBody>
                    <a:bodyPr/>
                    <a:lstStyle/>
                    <a:p>
                      <a:pPr algn="ctr"/>
                      <a:r>
                        <a:rPr lang="en-US" sz="1600" dirty="0"/>
                        <a:t>5</a:t>
                      </a:r>
                      <a:endParaRPr lang="hi-IN" sz="1600" dirty="0"/>
                    </a:p>
                  </a:txBody>
                  <a:tcPr marT="41564" marB="41564"/>
                </a:tc>
                <a:tc>
                  <a:txBody>
                    <a:bodyPr/>
                    <a:lstStyle/>
                    <a:p>
                      <a:pPr algn="ctr"/>
                      <a:r>
                        <a:rPr lang="en-US" sz="1600" dirty="0"/>
                        <a:t>25</a:t>
                      </a:r>
                      <a:endParaRPr lang="hi-IN" sz="1600" dirty="0"/>
                    </a:p>
                  </a:txBody>
                  <a:tcPr marT="41564" marB="41564"/>
                </a:tc>
                <a:tc>
                  <a:txBody>
                    <a:bodyPr/>
                    <a:lstStyle/>
                    <a:p>
                      <a:pPr algn="ctr"/>
                      <a:r>
                        <a:rPr lang="en-US" sz="1600" b="1" dirty="0">
                          <a:solidFill>
                            <a:schemeClr val="tx1"/>
                          </a:solidFill>
                        </a:rPr>
                        <a:t>5</a:t>
                      </a:r>
                      <a:endParaRPr lang="hi-IN" sz="1600" b="1" dirty="0">
                        <a:solidFill>
                          <a:schemeClr val="tx1"/>
                        </a:solidFill>
                      </a:endParaRPr>
                    </a:p>
                  </a:txBody>
                  <a:tcPr marT="41564" marB="41564">
                    <a:solidFill>
                      <a:srgbClr val="FFFF00"/>
                    </a:solidFill>
                  </a:tcPr>
                </a:tc>
                <a:extLst>
                  <a:ext uri="{0D108BD9-81ED-4DB2-BD59-A6C34878D82A}">
                    <a16:rowId xmlns:a16="http://schemas.microsoft.com/office/drawing/2014/main" val="2471506901"/>
                  </a:ext>
                </a:extLst>
              </a:tr>
              <a:tr h="313052">
                <a:tc>
                  <a:txBody>
                    <a:bodyPr/>
                    <a:lstStyle/>
                    <a:p>
                      <a:pPr algn="ctr"/>
                      <a:r>
                        <a:rPr lang="en-US" sz="1600" dirty="0"/>
                        <a:t>4</a:t>
                      </a:r>
                      <a:endParaRPr lang="hi-IN" sz="1600" dirty="0"/>
                    </a:p>
                  </a:txBody>
                  <a:tcPr marT="41564" marB="41564"/>
                </a:tc>
                <a:tc>
                  <a:txBody>
                    <a:bodyPr/>
                    <a:lstStyle/>
                    <a:p>
                      <a:pPr algn="ctr"/>
                      <a:r>
                        <a:rPr lang="en-US" sz="1600" dirty="0"/>
                        <a:t>3</a:t>
                      </a:r>
                      <a:endParaRPr lang="hi-IN" sz="1600" dirty="0"/>
                    </a:p>
                  </a:txBody>
                  <a:tcPr marT="41564" marB="41564"/>
                </a:tc>
                <a:tc>
                  <a:txBody>
                    <a:bodyPr/>
                    <a:lstStyle/>
                    <a:p>
                      <a:pPr algn="ctr"/>
                      <a:r>
                        <a:rPr lang="en-US" sz="1600" dirty="0"/>
                        <a:t>12</a:t>
                      </a:r>
                      <a:endParaRPr lang="hi-IN" sz="1600" dirty="0"/>
                    </a:p>
                  </a:txBody>
                  <a:tcPr marT="41564" marB="41564"/>
                </a:tc>
                <a:tc>
                  <a:txBody>
                    <a:bodyPr/>
                    <a:lstStyle/>
                    <a:p>
                      <a:pPr algn="ctr"/>
                      <a:r>
                        <a:rPr lang="en-US" sz="1600" b="1" dirty="0">
                          <a:solidFill>
                            <a:schemeClr val="tx1"/>
                          </a:solidFill>
                        </a:rPr>
                        <a:t>4</a:t>
                      </a:r>
                      <a:endParaRPr lang="hi-IN" sz="1600" b="1" dirty="0">
                        <a:solidFill>
                          <a:schemeClr val="tx1"/>
                        </a:solidFill>
                      </a:endParaRPr>
                    </a:p>
                  </a:txBody>
                  <a:tcPr marT="41564" marB="41564">
                    <a:solidFill>
                      <a:srgbClr val="FFFF00"/>
                    </a:solidFill>
                  </a:tcPr>
                </a:tc>
                <a:extLst>
                  <a:ext uri="{0D108BD9-81ED-4DB2-BD59-A6C34878D82A}">
                    <a16:rowId xmlns:a16="http://schemas.microsoft.com/office/drawing/2014/main" val="4230541411"/>
                  </a:ext>
                </a:extLst>
              </a:tr>
            </a:tbl>
          </a:graphicData>
        </a:graphic>
      </p:graphicFrame>
      <p:sp>
        <p:nvSpPr>
          <p:cNvPr id="19" name="Oval 18">
            <a:extLst>
              <a:ext uri="{FF2B5EF4-FFF2-40B4-BE49-F238E27FC236}">
                <a16:creationId xmlns:a16="http://schemas.microsoft.com/office/drawing/2014/main" id="{875E885C-2782-4A2B-A984-C681D2F60908}"/>
              </a:ext>
            </a:extLst>
          </p:cNvPr>
          <p:cNvSpPr/>
          <p:nvPr/>
        </p:nvSpPr>
        <p:spPr>
          <a:xfrm>
            <a:off x="3172460" y="1334469"/>
            <a:ext cx="2825516" cy="132556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21" name="TextBox 20">
            <a:extLst>
              <a:ext uri="{FF2B5EF4-FFF2-40B4-BE49-F238E27FC236}">
                <a16:creationId xmlns:a16="http://schemas.microsoft.com/office/drawing/2014/main" id="{44DD5D58-DA24-4A78-8FB5-E67B8F120D70}"/>
              </a:ext>
            </a:extLst>
          </p:cNvPr>
          <p:cNvSpPr txBox="1"/>
          <p:nvPr/>
        </p:nvSpPr>
        <p:spPr>
          <a:xfrm>
            <a:off x="5387703" y="2924714"/>
            <a:ext cx="2301240" cy="646331"/>
          </a:xfrm>
          <a:prstGeom prst="rect">
            <a:avLst/>
          </a:prstGeom>
          <a:noFill/>
          <a:ln>
            <a:solidFill>
              <a:schemeClr val="tx1"/>
            </a:solidFill>
          </a:ln>
        </p:spPr>
        <p:txBody>
          <a:bodyPr wrap="square" rtlCol="0">
            <a:spAutoFit/>
          </a:bodyPr>
          <a:lstStyle/>
          <a:p>
            <a:pPr algn="ctr"/>
            <a:r>
              <a:rPr lang="en-US" b="1" dirty="0"/>
              <a:t>w=4, v=40</a:t>
            </a:r>
          </a:p>
          <a:p>
            <a:pPr algn="ctr"/>
            <a:r>
              <a:rPr lang="en-US" b="1" dirty="0"/>
              <a:t>b=40+(10-4)*5 = 70</a:t>
            </a:r>
            <a:endParaRPr lang="hi-IN" b="1" dirty="0"/>
          </a:p>
        </p:txBody>
      </p:sp>
      <p:cxnSp>
        <p:nvCxnSpPr>
          <p:cNvPr id="24" name="Straight Arrow Connector 23">
            <a:extLst>
              <a:ext uri="{FF2B5EF4-FFF2-40B4-BE49-F238E27FC236}">
                <a16:creationId xmlns:a16="http://schemas.microsoft.com/office/drawing/2014/main" id="{7923D9C9-6DE3-401E-A6C6-62958C16691C}"/>
              </a:ext>
            </a:extLst>
          </p:cNvPr>
          <p:cNvCxnSpPr>
            <a:stCxn id="8" idx="2"/>
            <a:endCxn id="22" idx="0"/>
          </p:cNvCxnSpPr>
          <p:nvPr/>
        </p:nvCxnSpPr>
        <p:spPr>
          <a:xfrm flipH="1">
            <a:off x="3246352" y="2326070"/>
            <a:ext cx="1419628" cy="6013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59E52D90-B6DA-4AA8-8D6C-CA4B99E92BAB}"/>
              </a:ext>
            </a:extLst>
          </p:cNvPr>
          <p:cNvCxnSpPr>
            <a:stCxn id="8" idx="2"/>
            <a:endCxn id="21" idx="0"/>
          </p:cNvCxnSpPr>
          <p:nvPr/>
        </p:nvCxnSpPr>
        <p:spPr>
          <a:xfrm>
            <a:off x="4665980" y="2326070"/>
            <a:ext cx="1872343" cy="5986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5BD38B8F-EF49-4069-9478-174B2DEA229B}"/>
              </a:ext>
            </a:extLst>
          </p:cNvPr>
          <p:cNvSpPr txBox="1"/>
          <p:nvPr/>
        </p:nvSpPr>
        <p:spPr>
          <a:xfrm>
            <a:off x="5997976" y="2405959"/>
            <a:ext cx="1606915" cy="369332"/>
          </a:xfrm>
          <a:prstGeom prst="rect">
            <a:avLst/>
          </a:prstGeom>
          <a:noFill/>
        </p:spPr>
        <p:txBody>
          <a:bodyPr wrap="none" rtlCol="0">
            <a:spAutoFit/>
          </a:bodyPr>
          <a:lstStyle/>
          <a:p>
            <a:r>
              <a:rPr lang="en-US" b="1" dirty="0"/>
              <a:t>without Item 2</a:t>
            </a:r>
            <a:endParaRPr lang="hi-IN" b="1" dirty="0"/>
          </a:p>
        </p:txBody>
      </p:sp>
      <p:sp>
        <p:nvSpPr>
          <p:cNvPr id="28" name="TextBox 27">
            <a:extLst>
              <a:ext uri="{FF2B5EF4-FFF2-40B4-BE49-F238E27FC236}">
                <a16:creationId xmlns:a16="http://schemas.microsoft.com/office/drawing/2014/main" id="{4A91F713-A301-403E-9CAA-341F82E0A6C6}"/>
              </a:ext>
            </a:extLst>
          </p:cNvPr>
          <p:cNvSpPr txBox="1"/>
          <p:nvPr/>
        </p:nvSpPr>
        <p:spPr>
          <a:xfrm>
            <a:off x="2319510" y="2487940"/>
            <a:ext cx="1279902" cy="369332"/>
          </a:xfrm>
          <a:prstGeom prst="rect">
            <a:avLst/>
          </a:prstGeom>
          <a:noFill/>
        </p:spPr>
        <p:txBody>
          <a:bodyPr wrap="none" rtlCol="0">
            <a:spAutoFit/>
          </a:bodyPr>
          <a:lstStyle/>
          <a:p>
            <a:r>
              <a:rPr lang="en-US" b="1" dirty="0"/>
              <a:t>with Item 2</a:t>
            </a:r>
            <a:endParaRPr lang="hi-IN" b="1" dirty="0"/>
          </a:p>
        </p:txBody>
      </p:sp>
      <p:sp>
        <p:nvSpPr>
          <p:cNvPr id="29" name="Oval 28">
            <a:extLst>
              <a:ext uri="{FF2B5EF4-FFF2-40B4-BE49-F238E27FC236}">
                <a16:creationId xmlns:a16="http://schemas.microsoft.com/office/drawing/2014/main" id="{714ACB10-EF39-4118-A9C9-2C2142BD5015}"/>
              </a:ext>
            </a:extLst>
          </p:cNvPr>
          <p:cNvSpPr/>
          <p:nvPr/>
        </p:nvSpPr>
        <p:spPr>
          <a:xfrm>
            <a:off x="5113020" y="2655269"/>
            <a:ext cx="2825516" cy="132556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30" name="Rectangle 29">
            <a:extLst>
              <a:ext uri="{FF2B5EF4-FFF2-40B4-BE49-F238E27FC236}">
                <a16:creationId xmlns:a16="http://schemas.microsoft.com/office/drawing/2014/main" id="{5ED37EED-65D2-490C-8E8F-27A5074728BF}"/>
              </a:ext>
            </a:extLst>
          </p:cNvPr>
          <p:cNvSpPr/>
          <p:nvPr/>
        </p:nvSpPr>
        <p:spPr>
          <a:xfrm>
            <a:off x="7310120" y="285575"/>
            <a:ext cx="4633000" cy="523220"/>
          </a:xfrm>
          <a:prstGeom prst="rect">
            <a:avLst/>
          </a:prstGeom>
        </p:spPr>
        <p:txBody>
          <a:bodyPr wrap="none">
            <a:spAutoFit/>
          </a:bodyPr>
          <a:lstStyle/>
          <a:p>
            <a:pPr lvl="1">
              <a:buSzPct val="70000"/>
              <a:buFont typeface="Courier New" panose="02070309020205020404" pitchFamily="49" charset="0"/>
              <a:buChar char="o"/>
            </a:pPr>
            <a:r>
              <a:rPr lang="pl-PL" sz="2800" b="1" i="1" dirty="0">
                <a:solidFill>
                  <a:srgbClr val="C00000"/>
                </a:solidFill>
              </a:rPr>
              <a:t>b </a:t>
            </a:r>
            <a:r>
              <a:rPr lang="pl-PL" sz="2800" b="1" dirty="0">
                <a:solidFill>
                  <a:srgbClr val="C00000"/>
                </a:solidFill>
              </a:rPr>
              <a:t>= </a:t>
            </a:r>
            <a:r>
              <a:rPr lang="pl-PL" sz="2800" b="1" i="1" dirty="0">
                <a:solidFill>
                  <a:srgbClr val="C00000"/>
                </a:solidFill>
              </a:rPr>
              <a:t>v </a:t>
            </a:r>
            <a:r>
              <a:rPr lang="pl-PL" sz="2800" b="1" dirty="0">
                <a:solidFill>
                  <a:srgbClr val="C00000"/>
                </a:solidFill>
              </a:rPr>
              <a:t>+ ( </a:t>
            </a:r>
            <a:r>
              <a:rPr lang="pl-PL" sz="2800" b="1" i="1" dirty="0">
                <a:solidFill>
                  <a:srgbClr val="C00000"/>
                </a:solidFill>
              </a:rPr>
              <a:t>W </a:t>
            </a:r>
            <a:r>
              <a:rPr lang="pl-PL" sz="2800" b="1" dirty="0">
                <a:solidFill>
                  <a:srgbClr val="C00000"/>
                </a:solidFill>
              </a:rPr>
              <a:t>– </a:t>
            </a:r>
            <a:r>
              <a:rPr lang="pl-PL" sz="2800" b="1" i="1" dirty="0">
                <a:solidFill>
                  <a:srgbClr val="C00000"/>
                </a:solidFill>
              </a:rPr>
              <a:t>w</a:t>
            </a:r>
            <a:r>
              <a:rPr lang="pl-PL" sz="2800" b="1" dirty="0">
                <a:solidFill>
                  <a:srgbClr val="C00000"/>
                </a:solidFill>
              </a:rPr>
              <a:t>) (</a:t>
            </a:r>
            <a:r>
              <a:rPr lang="pl-PL" sz="2800" b="1" i="1" dirty="0">
                <a:solidFill>
                  <a:srgbClr val="C00000"/>
                </a:solidFill>
              </a:rPr>
              <a:t>v</a:t>
            </a:r>
            <a:r>
              <a:rPr lang="pl-PL" sz="2800" b="1" i="1" baseline="-25000" dirty="0">
                <a:solidFill>
                  <a:srgbClr val="C00000"/>
                </a:solidFill>
              </a:rPr>
              <a:t>i</a:t>
            </a:r>
            <a:r>
              <a:rPr lang="pl-PL" sz="2800" b="1" baseline="-25000" dirty="0">
                <a:solidFill>
                  <a:srgbClr val="C00000"/>
                </a:solidFill>
              </a:rPr>
              <a:t>+1 </a:t>
            </a:r>
            <a:r>
              <a:rPr lang="pl-PL" sz="2800" b="1" dirty="0">
                <a:solidFill>
                  <a:srgbClr val="C00000"/>
                </a:solidFill>
              </a:rPr>
              <a:t>/</a:t>
            </a:r>
            <a:r>
              <a:rPr lang="pl-PL" sz="2800" b="1" i="1" dirty="0">
                <a:solidFill>
                  <a:srgbClr val="C00000"/>
                </a:solidFill>
              </a:rPr>
              <a:t>w</a:t>
            </a:r>
            <a:r>
              <a:rPr lang="pl-PL" sz="2800" b="1" i="1" baseline="-25000" dirty="0">
                <a:solidFill>
                  <a:srgbClr val="C00000"/>
                </a:solidFill>
              </a:rPr>
              <a:t>i</a:t>
            </a:r>
            <a:r>
              <a:rPr lang="pl-PL" sz="2800" b="1" baseline="-25000" dirty="0">
                <a:solidFill>
                  <a:srgbClr val="C00000"/>
                </a:solidFill>
              </a:rPr>
              <a:t>+1</a:t>
            </a:r>
            <a:r>
              <a:rPr lang="pl-PL" sz="2800" b="1" dirty="0">
                <a:solidFill>
                  <a:srgbClr val="C00000"/>
                </a:solidFill>
              </a:rPr>
              <a:t>)</a:t>
            </a:r>
          </a:p>
        </p:txBody>
      </p:sp>
      <p:cxnSp>
        <p:nvCxnSpPr>
          <p:cNvPr id="33" name="Straight Arrow Connector 32">
            <a:extLst>
              <a:ext uri="{FF2B5EF4-FFF2-40B4-BE49-F238E27FC236}">
                <a16:creationId xmlns:a16="http://schemas.microsoft.com/office/drawing/2014/main" id="{307F635E-A2F2-4377-BD7B-E4B0D5F0CBF9}"/>
              </a:ext>
            </a:extLst>
          </p:cNvPr>
          <p:cNvCxnSpPr>
            <a:cxnSpLocks/>
          </p:cNvCxnSpPr>
          <p:nvPr/>
        </p:nvCxnSpPr>
        <p:spPr>
          <a:xfrm flipH="1">
            <a:off x="5162236" y="3560947"/>
            <a:ext cx="1419628" cy="6619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E89665C9-612E-4D16-A077-58C0FEBC20BE}"/>
              </a:ext>
            </a:extLst>
          </p:cNvPr>
          <p:cNvCxnSpPr/>
          <p:nvPr/>
        </p:nvCxnSpPr>
        <p:spPr>
          <a:xfrm>
            <a:off x="6581864" y="3560947"/>
            <a:ext cx="1872343" cy="6591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CB3A221E-DA30-4432-97D2-94E99C1173C9}"/>
              </a:ext>
            </a:extLst>
          </p:cNvPr>
          <p:cNvSpPr txBox="1"/>
          <p:nvPr/>
        </p:nvSpPr>
        <p:spPr>
          <a:xfrm>
            <a:off x="7913860" y="3701357"/>
            <a:ext cx="1606915" cy="369332"/>
          </a:xfrm>
          <a:prstGeom prst="rect">
            <a:avLst/>
          </a:prstGeom>
          <a:noFill/>
        </p:spPr>
        <p:txBody>
          <a:bodyPr wrap="none" rtlCol="0">
            <a:spAutoFit/>
          </a:bodyPr>
          <a:lstStyle/>
          <a:p>
            <a:r>
              <a:rPr lang="en-US" b="1" dirty="0"/>
              <a:t>without Item 3</a:t>
            </a:r>
            <a:endParaRPr lang="hi-IN" b="1" dirty="0"/>
          </a:p>
        </p:txBody>
      </p:sp>
      <p:sp>
        <p:nvSpPr>
          <p:cNvPr id="36" name="TextBox 35">
            <a:extLst>
              <a:ext uri="{FF2B5EF4-FFF2-40B4-BE49-F238E27FC236}">
                <a16:creationId xmlns:a16="http://schemas.microsoft.com/office/drawing/2014/main" id="{F9322A39-E931-4901-AE79-0079A6311B15}"/>
              </a:ext>
            </a:extLst>
          </p:cNvPr>
          <p:cNvSpPr txBox="1"/>
          <p:nvPr/>
        </p:nvSpPr>
        <p:spPr>
          <a:xfrm>
            <a:off x="4235394" y="3783338"/>
            <a:ext cx="1279902" cy="369332"/>
          </a:xfrm>
          <a:prstGeom prst="rect">
            <a:avLst/>
          </a:prstGeom>
          <a:noFill/>
        </p:spPr>
        <p:txBody>
          <a:bodyPr wrap="none" rtlCol="0">
            <a:spAutoFit/>
          </a:bodyPr>
          <a:lstStyle/>
          <a:p>
            <a:r>
              <a:rPr lang="en-US" b="1" dirty="0"/>
              <a:t>with Item 3</a:t>
            </a:r>
            <a:endParaRPr lang="hi-IN" b="1" dirty="0"/>
          </a:p>
        </p:txBody>
      </p:sp>
      <p:sp>
        <p:nvSpPr>
          <p:cNvPr id="40" name="TextBox 39">
            <a:extLst>
              <a:ext uri="{FF2B5EF4-FFF2-40B4-BE49-F238E27FC236}">
                <a16:creationId xmlns:a16="http://schemas.microsoft.com/office/drawing/2014/main" id="{86443C65-D09A-4FCA-9912-E8BE122D97B0}"/>
              </a:ext>
            </a:extLst>
          </p:cNvPr>
          <p:cNvSpPr txBox="1"/>
          <p:nvPr/>
        </p:nvSpPr>
        <p:spPr>
          <a:xfrm>
            <a:off x="4005221" y="4220901"/>
            <a:ext cx="2301240" cy="646331"/>
          </a:xfrm>
          <a:prstGeom prst="rect">
            <a:avLst/>
          </a:prstGeom>
          <a:noFill/>
          <a:ln>
            <a:solidFill>
              <a:schemeClr val="tx1"/>
            </a:solidFill>
          </a:ln>
        </p:spPr>
        <p:txBody>
          <a:bodyPr wrap="square" rtlCol="0">
            <a:spAutoFit/>
          </a:bodyPr>
          <a:lstStyle/>
          <a:p>
            <a:pPr algn="ctr"/>
            <a:r>
              <a:rPr lang="en-US" b="1" dirty="0"/>
              <a:t>w=9, v=65</a:t>
            </a:r>
          </a:p>
          <a:p>
            <a:pPr algn="ctr"/>
            <a:r>
              <a:rPr lang="en-US" b="1" dirty="0"/>
              <a:t>b=65+(10-9)*4 = 69</a:t>
            </a:r>
            <a:endParaRPr lang="hi-IN" b="1" dirty="0"/>
          </a:p>
        </p:txBody>
      </p:sp>
      <p:sp>
        <p:nvSpPr>
          <p:cNvPr id="41" name="TextBox 40">
            <a:extLst>
              <a:ext uri="{FF2B5EF4-FFF2-40B4-BE49-F238E27FC236}">
                <a16:creationId xmlns:a16="http://schemas.microsoft.com/office/drawing/2014/main" id="{3DDACD45-957B-49DE-BB66-FB6734194E84}"/>
              </a:ext>
            </a:extLst>
          </p:cNvPr>
          <p:cNvSpPr txBox="1"/>
          <p:nvPr/>
        </p:nvSpPr>
        <p:spPr>
          <a:xfrm>
            <a:off x="7322510" y="4204058"/>
            <a:ext cx="2071861" cy="646331"/>
          </a:xfrm>
          <a:prstGeom prst="rect">
            <a:avLst/>
          </a:prstGeom>
          <a:noFill/>
          <a:ln>
            <a:solidFill>
              <a:schemeClr val="tx1"/>
            </a:solidFill>
          </a:ln>
        </p:spPr>
        <p:txBody>
          <a:bodyPr wrap="square" rtlCol="0">
            <a:spAutoFit/>
          </a:bodyPr>
          <a:lstStyle/>
          <a:p>
            <a:pPr algn="ctr"/>
            <a:r>
              <a:rPr lang="en-US" b="1" dirty="0"/>
              <a:t>w=4, v=40</a:t>
            </a:r>
          </a:p>
          <a:p>
            <a:pPr algn="ctr"/>
            <a:r>
              <a:rPr lang="en-US" b="1" dirty="0"/>
              <a:t>b=40+(10-4)*4 = 64</a:t>
            </a:r>
            <a:endParaRPr lang="hi-IN" b="1" dirty="0"/>
          </a:p>
        </p:txBody>
      </p:sp>
      <p:sp>
        <p:nvSpPr>
          <p:cNvPr id="42" name="Oval 41">
            <a:extLst>
              <a:ext uri="{FF2B5EF4-FFF2-40B4-BE49-F238E27FC236}">
                <a16:creationId xmlns:a16="http://schemas.microsoft.com/office/drawing/2014/main" id="{97E31682-353C-42EE-9CFB-5918C355D0CD}"/>
              </a:ext>
            </a:extLst>
          </p:cNvPr>
          <p:cNvSpPr/>
          <p:nvPr/>
        </p:nvSpPr>
        <p:spPr>
          <a:xfrm>
            <a:off x="3828505" y="3852699"/>
            <a:ext cx="2825516" cy="132556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cxnSp>
        <p:nvCxnSpPr>
          <p:cNvPr id="69" name="Straight Arrow Connector 68">
            <a:extLst>
              <a:ext uri="{FF2B5EF4-FFF2-40B4-BE49-F238E27FC236}">
                <a16:creationId xmlns:a16="http://schemas.microsoft.com/office/drawing/2014/main" id="{225732EB-4AA4-4302-91F9-DE5203C7BF2D}"/>
              </a:ext>
            </a:extLst>
          </p:cNvPr>
          <p:cNvCxnSpPr>
            <a:cxnSpLocks/>
          </p:cNvCxnSpPr>
          <p:nvPr/>
        </p:nvCxnSpPr>
        <p:spPr>
          <a:xfrm flipH="1">
            <a:off x="3855948" y="4867230"/>
            <a:ext cx="1419628" cy="6619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C66B3CF1-E1A9-440F-9F8C-973F9D055CAE}"/>
              </a:ext>
            </a:extLst>
          </p:cNvPr>
          <p:cNvCxnSpPr/>
          <p:nvPr/>
        </p:nvCxnSpPr>
        <p:spPr>
          <a:xfrm>
            <a:off x="5275576" y="4867230"/>
            <a:ext cx="1872343" cy="6591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091E3701-7B61-4F4F-A7B3-D7CC3390F8A4}"/>
              </a:ext>
            </a:extLst>
          </p:cNvPr>
          <p:cNvSpPr txBox="1"/>
          <p:nvPr/>
        </p:nvSpPr>
        <p:spPr>
          <a:xfrm>
            <a:off x="6607572" y="5007640"/>
            <a:ext cx="1606915" cy="369332"/>
          </a:xfrm>
          <a:prstGeom prst="rect">
            <a:avLst/>
          </a:prstGeom>
          <a:noFill/>
        </p:spPr>
        <p:txBody>
          <a:bodyPr wrap="none" rtlCol="0">
            <a:spAutoFit/>
          </a:bodyPr>
          <a:lstStyle/>
          <a:p>
            <a:r>
              <a:rPr lang="en-US" b="1" dirty="0"/>
              <a:t>without Item 4</a:t>
            </a:r>
            <a:endParaRPr lang="hi-IN" b="1" dirty="0"/>
          </a:p>
        </p:txBody>
      </p:sp>
      <p:sp>
        <p:nvSpPr>
          <p:cNvPr id="72" name="TextBox 71">
            <a:extLst>
              <a:ext uri="{FF2B5EF4-FFF2-40B4-BE49-F238E27FC236}">
                <a16:creationId xmlns:a16="http://schemas.microsoft.com/office/drawing/2014/main" id="{5BBAC2F4-BF74-476C-A821-8B6F4090BAD3}"/>
              </a:ext>
            </a:extLst>
          </p:cNvPr>
          <p:cNvSpPr txBox="1"/>
          <p:nvPr/>
        </p:nvSpPr>
        <p:spPr>
          <a:xfrm>
            <a:off x="2929106" y="5089621"/>
            <a:ext cx="1279902" cy="369332"/>
          </a:xfrm>
          <a:prstGeom prst="rect">
            <a:avLst/>
          </a:prstGeom>
          <a:noFill/>
        </p:spPr>
        <p:txBody>
          <a:bodyPr wrap="none" rtlCol="0">
            <a:spAutoFit/>
          </a:bodyPr>
          <a:lstStyle/>
          <a:p>
            <a:r>
              <a:rPr lang="en-US" b="1" dirty="0"/>
              <a:t>with Item 4</a:t>
            </a:r>
            <a:endParaRPr lang="hi-IN" b="1" dirty="0"/>
          </a:p>
        </p:txBody>
      </p:sp>
      <p:sp>
        <p:nvSpPr>
          <p:cNvPr id="73" name="TextBox 72">
            <a:extLst>
              <a:ext uri="{FF2B5EF4-FFF2-40B4-BE49-F238E27FC236}">
                <a16:creationId xmlns:a16="http://schemas.microsoft.com/office/drawing/2014/main" id="{19B7D3A5-7B66-432D-96EC-9C503120F81D}"/>
              </a:ext>
            </a:extLst>
          </p:cNvPr>
          <p:cNvSpPr txBox="1"/>
          <p:nvPr/>
        </p:nvSpPr>
        <p:spPr>
          <a:xfrm>
            <a:off x="2764241" y="5538074"/>
            <a:ext cx="2301240" cy="923330"/>
          </a:xfrm>
          <a:prstGeom prst="rect">
            <a:avLst/>
          </a:prstGeom>
          <a:noFill/>
          <a:ln>
            <a:solidFill>
              <a:schemeClr val="tx1"/>
            </a:solidFill>
          </a:ln>
        </p:spPr>
        <p:txBody>
          <a:bodyPr wrap="square" rtlCol="0">
            <a:spAutoFit/>
          </a:bodyPr>
          <a:lstStyle/>
          <a:p>
            <a:pPr algn="ctr"/>
            <a:r>
              <a:rPr lang="en-US" b="1" dirty="0"/>
              <a:t>w=12 exceeds the capacity. Not promising..</a:t>
            </a:r>
            <a:endParaRPr lang="hi-IN" b="1" dirty="0"/>
          </a:p>
        </p:txBody>
      </p:sp>
      <p:sp>
        <p:nvSpPr>
          <p:cNvPr id="74" name="TextBox 73">
            <a:extLst>
              <a:ext uri="{FF2B5EF4-FFF2-40B4-BE49-F238E27FC236}">
                <a16:creationId xmlns:a16="http://schemas.microsoft.com/office/drawing/2014/main" id="{F73F348E-2822-4F77-81C5-B910E3040F22}"/>
              </a:ext>
            </a:extLst>
          </p:cNvPr>
          <p:cNvSpPr txBox="1"/>
          <p:nvPr/>
        </p:nvSpPr>
        <p:spPr>
          <a:xfrm>
            <a:off x="6081530" y="5521231"/>
            <a:ext cx="2071861" cy="646331"/>
          </a:xfrm>
          <a:prstGeom prst="rect">
            <a:avLst/>
          </a:prstGeom>
          <a:noFill/>
          <a:ln>
            <a:solidFill>
              <a:schemeClr val="tx1"/>
            </a:solidFill>
          </a:ln>
        </p:spPr>
        <p:txBody>
          <a:bodyPr wrap="square" rtlCol="0">
            <a:spAutoFit/>
          </a:bodyPr>
          <a:lstStyle/>
          <a:p>
            <a:pPr algn="ctr"/>
            <a:r>
              <a:rPr lang="en-US" b="1" dirty="0"/>
              <a:t>w=9, v=65</a:t>
            </a:r>
          </a:p>
          <a:p>
            <a:pPr algn="ctr"/>
            <a:r>
              <a:rPr lang="en-US" b="1" dirty="0"/>
              <a:t>b=65+(10-9)*0 = 65</a:t>
            </a:r>
            <a:endParaRPr lang="hi-IN" b="1" dirty="0"/>
          </a:p>
        </p:txBody>
      </p:sp>
      <p:sp>
        <p:nvSpPr>
          <p:cNvPr id="75" name="Oval 74">
            <a:extLst>
              <a:ext uri="{FF2B5EF4-FFF2-40B4-BE49-F238E27FC236}">
                <a16:creationId xmlns:a16="http://schemas.microsoft.com/office/drawing/2014/main" id="{63692150-3E55-478E-8624-FBA79F51756A}"/>
              </a:ext>
            </a:extLst>
          </p:cNvPr>
          <p:cNvSpPr/>
          <p:nvPr/>
        </p:nvSpPr>
        <p:spPr>
          <a:xfrm>
            <a:off x="5787931" y="5148099"/>
            <a:ext cx="2825516" cy="132556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76" name="TextBox 75">
            <a:extLst>
              <a:ext uri="{FF2B5EF4-FFF2-40B4-BE49-F238E27FC236}">
                <a16:creationId xmlns:a16="http://schemas.microsoft.com/office/drawing/2014/main" id="{09E575EF-8E02-4553-B20C-BDAB16EFF6CA}"/>
              </a:ext>
            </a:extLst>
          </p:cNvPr>
          <p:cNvSpPr txBox="1"/>
          <p:nvPr/>
        </p:nvSpPr>
        <p:spPr>
          <a:xfrm>
            <a:off x="9305524" y="5274287"/>
            <a:ext cx="2353076" cy="1323439"/>
          </a:xfrm>
          <a:prstGeom prst="rect">
            <a:avLst/>
          </a:prstGeom>
          <a:noFill/>
        </p:spPr>
        <p:txBody>
          <a:bodyPr wrap="square" rtlCol="0">
            <a:spAutoFit/>
          </a:bodyPr>
          <a:lstStyle/>
          <a:p>
            <a:r>
              <a:rPr lang="en-US" sz="2000" b="1" dirty="0">
                <a:solidFill>
                  <a:srgbClr val="C00000"/>
                </a:solidFill>
              </a:rPr>
              <a:t>Final Solution (as item list is empty):</a:t>
            </a:r>
          </a:p>
          <a:p>
            <a:r>
              <a:rPr lang="en-US" sz="2000" b="1" dirty="0">
                <a:solidFill>
                  <a:srgbClr val="C00000"/>
                </a:solidFill>
              </a:rPr>
              <a:t>Profit= 65</a:t>
            </a:r>
          </a:p>
          <a:p>
            <a:r>
              <a:rPr lang="en-US" sz="2000" b="1" dirty="0">
                <a:solidFill>
                  <a:srgbClr val="C00000"/>
                </a:solidFill>
              </a:rPr>
              <a:t>Items picked = I1, I3</a:t>
            </a:r>
            <a:endParaRPr lang="hi-IN" sz="2000" b="1" dirty="0">
              <a:solidFill>
                <a:srgbClr val="C00000"/>
              </a:solidFill>
            </a:endParaRPr>
          </a:p>
        </p:txBody>
      </p:sp>
      <p:sp>
        <p:nvSpPr>
          <p:cNvPr id="77" name="Arrow: Left 76">
            <a:extLst>
              <a:ext uri="{FF2B5EF4-FFF2-40B4-BE49-F238E27FC236}">
                <a16:creationId xmlns:a16="http://schemas.microsoft.com/office/drawing/2014/main" id="{080B1AF4-83C2-4ABD-8AC0-FDFBF82D086F}"/>
              </a:ext>
            </a:extLst>
          </p:cNvPr>
          <p:cNvSpPr/>
          <p:nvPr/>
        </p:nvSpPr>
        <p:spPr>
          <a:xfrm>
            <a:off x="8338457" y="6008914"/>
            <a:ext cx="967067" cy="9962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81" name="TextBox 80">
            <a:extLst>
              <a:ext uri="{FF2B5EF4-FFF2-40B4-BE49-F238E27FC236}">
                <a16:creationId xmlns:a16="http://schemas.microsoft.com/office/drawing/2014/main" id="{C72BF22E-89BF-4C52-A30D-EC55A94014F9}"/>
              </a:ext>
            </a:extLst>
          </p:cNvPr>
          <p:cNvSpPr txBox="1"/>
          <p:nvPr/>
        </p:nvSpPr>
        <p:spPr>
          <a:xfrm>
            <a:off x="3683129" y="1000959"/>
            <a:ext cx="1279902" cy="369332"/>
          </a:xfrm>
          <a:prstGeom prst="rect">
            <a:avLst/>
          </a:prstGeom>
          <a:noFill/>
        </p:spPr>
        <p:txBody>
          <a:bodyPr wrap="none" rtlCol="0">
            <a:spAutoFit/>
          </a:bodyPr>
          <a:lstStyle/>
          <a:p>
            <a:r>
              <a:rPr lang="en-US" b="1" dirty="0"/>
              <a:t>with Item 1</a:t>
            </a:r>
            <a:endParaRPr lang="hi-IN" b="1" dirty="0"/>
          </a:p>
        </p:txBody>
      </p:sp>
      <p:sp>
        <p:nvSpPr>
          <p:cNvPr id="82" name="TextBox 81">
            <a:extLst>
              <a:ext uri="{FF2B5EF4-FFF2-40B4-BE49-F238E27FC236}">
                <a16:creationId xmlns:a16="http://schemas.microsoft.com/office/drawing/2014/main" id="{A7651175-E8B6-4844-A63B-D5CDC39251C0}"/>
              </a:ext>
            </a:extLst>
          </p:cNvPr>
          <p:cNvSpPr txBox="1"/>
          <p:nvPr/>
        </p:nvSpPr>
        <p:spPr>
          <a:xfrm>
            <a:off x="7310120" y="911697"/>
            <a:ext cx="1606915" cy="369332"/>
          </a:xfrm>
          <a:prstGeom prst="rect">
            <a:avLst/>
          </a:prstGeom>
          <a:noFill/>
        </p:spPr>
        <p:txBody>
          <a:bodyPr wrap="none" rtlCol="0">
            <a:spAutoFit/>
          </a:bodyPr>
          <a:lstStyle/>
          <a:p>
            <a:r>
              <a:rPr lang="en-US" b="1" dirty="0"/>
              <a:t>without Item 1</a:t>
            </a:r>
            <a:endParaRPr lang="hi-IN" b="1" dirty="0"/>
          </a:p>
        </p:txBody>
      </p:sp>
    </p:spTree>
    <p:extLst>
      <p:ext uri="{BB962C8B-B14F-4D97-AF65-F5344CB8AC3E}">
        <p14:creationId xmlns:p14="http://schemas.microsoft.com/office/powerpoint/2010/main" val="3015645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2"/>
                                        </p:tgtEl>
                                        <p:attrNameLst>
                                          <p:attrName>style.visibility</p:attrName>
                                        </p:attrNameLst>
                                      </p:cBhvr>
                                      <p:to>
                                        <p:strVal val="visible"/>
                                      </p:to>
                                    </p:set>
                                  </p:childTnLst>
                                  <p:subTnLst>
                                    <p:set>
                                      <p:cBhvr override="childStyle">
                                        <p:cTn dur="1" fill="hold" display="0" masterRel="nextClick" afterEffect="1"/>
                                        <p:tgtEl>
                                          <p:spTgt spid="42"/>
                                        </p:tgtEl>
                                        <p:attrNameLst>
                                          <p:attrName>style.visibility</p:attrName>
                                        </p:attrNameLst>
                                      </p:cBhvr>
                                      <p:to>
                                        <p:strVal val="hidden"/>
                                      </p:to>
                                    </p:set>
                                  </p:sub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7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7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7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7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74"/>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75"/>
                                        </p:tgtEl>
                                        <p:attrNameLst>
                                          <p:attrName>style.visibility</p:attrName>
                                        </p:attrNameLst>
                                      </p:cBhvr>
                                      <p:to>
                                        <p:strVal val="visible"/>
                                      </p:to>
                                    </p:set>
                                  </p:childTnLst>
                                  <p:subTnLst>
                                    <p:set>
                                      <p:cBhvr override="childStyle">
                                        <p:cTn dur="1" fill="hold" display="0" masterRel="nextClick" afterEffect="1"/>
                                        <p:tgtEl>
                                          <p:spTgt spid="75"/>
                                        </p:tgtEl>
                                        <p:attrNameLst>
                                          <p:attrName>style.visibility</p:attrName>
                                        </p:attrNameLst>
                                      </p:cBhvr>
                                      <p:to>
                                        <p:strVal val="hidden"/>
                                      </p:to>
                                    </p:set>
                                  </p:sub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76"/>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7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81"/>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6" grpId="0" animBg="1"/>
      <p:bldP spid="7" grpId="0" animBg="1"/>
      <p:bldP spid="8" grpId="0" animBg="1"/>
      <p:bldP spid="13" grpId="0"/>
      <p:bldP spid="15" grpId="0"/>
      <p:bldP spid="19" grpId="0" animBg="1"/>
      <p:bldP spid="21" grpId="0" animBg="1"/>
      <p:bldP spid="27" grpId="0"/>
      <p:bldP spid="28" grpId="0"/>
      <p:bldP spid="29" grpId="0" animBg="1"/>
      <p:bldP spid="30" grpId="0"/>
      <p:bldP spid="35" grpId="0"/>
      <p:bldP spid="36" grpId="0"/>
      <p:bldP spid="40" grpId="0" animBg="1"/>
      <p:bldP spid="41" grpId="0" animBg="1"/>
      <p:bldP spid="42" grpId="0" animBg="1"/>
      <p:bldP spid="71" grpId="0"/>
      <p:bldP spid="72" grpId="0"/>
      <p:bldP spid="73" grpId="0" animBg="1"/>
      <p:bldP spid="74" grpId="0" animBg="1"/>
      <p:bldP spid="75" grpId="0" animBg="1"/>
      <p:bldP spid="76" grpId="0"/>
      <p:bldP spid="77" grpId="0" animBg="1"/>
      <p:bldP spid="81" grpId="0"/>
      <p:bldP spid="8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F8E43-8CE9-4176-B194-E9FD8D3839BC}"/>
              </a:ext>
            </a:extLst>
          </p:cNvPr>
          <p:cNvSpPr>
            <a:spLocks noGrp="1"/>
          </p:cNvSpPr>
          <p:nvPr>
            <p:ph type="title"/>
          </p:nvPr>
        </p:nvSpPr>
        <p:spPr/>
        <p:txBody>
          <a:bodyPr/>
          <a:lstStyle/>
          <a:p>
            <a:r>
              <a:rPr lang="en-US" b="1" dirty="0"/>
              <a:t>Example 2</a:t>
            </a:r>
            <a:endParaRPr lang="hi-IN" dirty="0"/>
          </a:p>
        </p:txBody>
      </p:sp>
      <p:sp>
        <p:nvSpPr>
          <p:cNvPr id="3" name="Content Placeholder 2">
            <a:extLst>
              <a:ext uri="{FF2B5EF4-FFF2-40B4-BE49-F238E27FC236}">
                <a16:creationId xmlns:a16="http://schemas.microsoft.com/office/drawing/2014/main" id="{8A8348E1-2C42-48F9-ACAF-2436E4C844E2}"/>
              </a:ext>
            </a:extLst>
          </p:cNvPr>
          <p:cNvSpPr>
            <a:spLocks noGrp="1"/>
          </p:cNvSpPr>
          <p:nvPr>
            <p:ph idx="1"/>
          </p:nvPr>
        </p:nvSpPr>
        <p:spPr/>
        <p:txBody>
          <a:bodyPr/>
          <a:lstStyle/>
          <a:p>
            <a:pPr algn="just"/>
            <a:r>
              <a:rPr lang="en-US" dirty="0"/>
              <a:t>A thief enters a house for robbing it. He can carry a maximal weight of 25 kg into his bag. There are 4 items in the house with the following weights and values. What items should thief take if he either takes the item completely or leaves it completely?</a:t>
            </a:r>
            <a:endParaRPr lang="hi-IN" dirty="0"/>
          </a:p>
        </p:txBody>
      </p:sp>
      <p:sp>
        <p:nvSpPr>
          <p:cNvPr id="4" name="Footer Placeholder 3">
            <a:extLst>
              <a:ext uri="{FF2B5EF4-FFF2-40B4-BE49-F238E27FC236}">
                <a16:creationId xmlns:a16="http://schemas.microsoft.com/office/drawing/2014/main" id="{53D656A3-16C5-4B5E-AD3D-CEC75535F79A}"/>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D7894C8F-69AC-4496-958A-69FAE1065E30}"/>
              </a:ext>
            </a:extLst>
          </p:cNvPr>
          <p:cNvSpPr>
            <a:spLocks noGrp="1"/>
          </p:cNvSpPr>
          <p:nvPr>
            <p:ph type="sldNum" sz="quarter" idx="12"/>
          </p:nvPr>
        </p:nvSpPr>
        <p:spPr/>
        <p:txBody>
          <a:bodyPr/>
          <a:lstStyle/>
          <a:p>
            <a:fld id="{F56F9007-E0C6-489E-B603-BD6BB4385429}" type="slidenum">
              <a:rPr lang="hi-IN" smtClean="0"/>
              <a:t>11</a:t>
            </a:fld>
            <a:endParaRPr lang="hi-IN"/>
          </a:p>
        </p:txBody>
      </p:sp>
      <p:graphicFrame>
        <p:nvGraphicFramePr>
          <p:cNvPr id="6" name="Table 6">
            <a:extLst>
              <a:ext uri="{FF2B5EF4-FFF2-40B4-BE49-F238E27FC236}">
                <a16:creationId xmlns:a16="http://schemas.microsoft.com/office/drawing/2014/main" id="{A4AD452D-DA92-44CC-BF89-5EF87954FFF3}"/>
              </a:ext>
            </a:extLst>
          </p:cNvPr>
          <p:cNvGraphicFramePr>
            <a:graphicFrameLocks/>
          </p:cNvGraphicFramePr>
          <p:nvPr>
            <p:extLst>
              <p:ext uri="{D42A27DB-BD31-4B8C-83A1-F6EECF244321}">
                <p14:modId xmlns:p14="http://schemas.microsoft.com/office/powerpoint/2010/main" val="3264628573"/>
              </p:ext>
            </p:extLst>
          </p:nvPr>
        </p:nvGraphicFramePr>
        <p:xfrm>
          <a:off x="1518921" y="3657918"/>
          <a:ext cx="3672840" cy="2103120"/>
        </p:xfrm>
        <a:graphic>
          <a:graphicData uri="http://schemas.openxmlformats.org/drawingml/2006/table">
            <a:tbl>
              <a:tblPr firstRow="1" bandRow="1">
                <a:tableStyleId>{5C22544A-7EE6-4342-B048-85BDC9FD1C3A}</a:tableStyleId>
              </a:tblPr>
              <a:tblGrid>
                <a:gridCol w="1224280">
                  <a:extLst>
                    <a:ext uri="{9D8B030D-6E8A-4147-A177-3AD203B41FA5}">
                      <a16:colId xmlns:a16="http://schemas.microsoft.com/office/drawing/2014/main" val="4288962044"/>
                    </a:ext>
                  </a:extLst>
                </a:gridCol>
                <a:gridCol w="1224280">
                  <a:extLst>
                    <a:ext uri="{9D8B030D-6E8A-4147-A177-3AD203B41FA5}">
                      <a16:colId xmlns:a16="http://schemas.microsoft.com/office/drawing/2014/main" val="3268489291"/>
                    </a:ext>
                  </a:extLst>
                </a:gridCol>
                <a:gridCol w="1224280">
                  <a:extLst>
                    <a:ext uri="{9D8B030D-6E8A-4147-A177-3AD203B41FA5}">
                      <a16:colId xmlns:a16="http://schemas.microsoft.com/office/drawing/2014/main" val="1859674420"/>
                    </a:ext>
                  </a:extLst>
                </a:gridCol>
              </a:tblGrid>
              <a:tr h="175133">
                <a:tc>
                  <a:txBody>
                    <a:bodyPr/>
                    <a:lstStyle/>
                    <a:p>
                      <a:pPr algn="ctr"/>
                      <a:r>
                        <a:rPr lang="en-US" dirty="0"/>
                        <a:t>Item</a:t>
                      </a:r>
                      <a:endParaRPr lang="hi-IN" dirty="0"/>
                    </a:p>
                  </a:txBody>
                  <a:tcPr/>
                </a:tc>
                <a:tc>
                  <a:txBody>
                    <a:bodyPr/>
                    <a:lstStyle/>
                    <a:p>
                      <a:pPr algn="ctr"/>
                      <a:r>
                        <a:rPr lang="en-US" dirty="0"/>
                        <a:t>Weight (KG)</a:t>
                      </a:r>
                      <a:endParaRPr lang="hi-IN" dirty="0"/>
                    </a:p>
                  </a:txBody>
                  <a:tcPr/>
                </a:tc>
                <a:tc>
                  <a:txBody>
                    <a:bodyPr/>
                    <a:lstStyle/>
                    <a:p>
                      <a:pPr algn="ctr"/>
                      <a:r>
                        <a:rPr lang="en-US" dirty="0"/>
                        <a:t>Value ($)</a:t>
                      </a:r>
                      <a:endParaRPr lang="hi-IN" dirty="0"/>
                    </a:p>
                  </a:txBody>
                  <a:tcPr/>
                </a:tc>
                <a:extLst>
                  <a:ext uri="{0D108BD9-81ED-4DB2-BD59-A6C34878D82A}">
                    <a16:rowId xmlns:a16="http://schemas.microsoft.com/office/drawing/2014/main" val="3901954611"/>
                  </a:ext>
                </a:extLst>
              </a:tr>
              <a:tr h="175133">
                <a:tc>
                  <a:txBody>
                    <a:bodyPr/>
                    <a:lstStyle/>
                    <a:p>
                      <a:pPr algn="ctr"/>
                      <a:r>
                        <a:rPr lang="en-US" dirty="0"/>
                        <a:t>1</a:t>
                      </a:r>
                      <a:endParaRPr lang="hi-IN" dirty="0"/>
                    </a:p>
                  </a:txBody>
                  <a:tcPr/>
                </a:tc>
                <a:tc>
                  <a:txBody>
                    <a:bodyPr/>
                    <a:lstStyle/>
                    <a:p>
                      <a:pPr algn="ctr"/>
                      <a:r>
                        <a:rPr lang="en-US" dirty="0"/>
                        <a:t>24</a:t>
                      </a:r>
                      <a:endParaRPr lang="hi-IN" dirty="0"/>
                    </a:p>
                  </a:txBody>
                  <a:tcPr/>
                </a:tc>
                <a:tc>
                  <a:txBody>
                    <a:bodyPr/>
                    <a:lstStyle/>
                    <a:p>
                      <a:pPr algn="ctr"/>
                      <a:r>
                        <a:rPr lang="en-US" dirty="0"/>
                        <a:t>24</a:t>
                      </a:r>
                      <a:endParaRPr lang="hi-IN" dirty="0"/>
                    </a:p>
                  </a:txBody>
                  <a:tcPr/>
                </a:tc>
                <a:extLst>
                  <a:ext uri="{0D108BD9-81ED-4DB2-BD59-A6C34878D82A}">
                    <a16:rowId xmlns:a16="http://schemas.microsoft.com/office/drawing/2014/main" val="2441878164"/>
                  </a:ext>
                </a:extLst>
              </a:tr>
              <a:tr h="175133">
                <a:tc>
                  <a:txBody>
                    <a:bodyPr/>
                    <a:lstStyle/>
                    <a:p>
                      <a:pPr algn="ctr"/>
                      <a:r>
                        <a:rPr lang="en-US" dirty="0"/>
                        <a:t>2</a:t>
                      </a:r>
                      <a:endParaRPr lang="hi-IN" dirty="0"/>
                    </a:p>
                  </a:txBody>
                  <a:tcPr/>
                </a:tc>
                <a:tc>
                  <a:txBody>
                    <a:bodyPr/>
                    <a:lstStyle/>
                    <a:p>
                      <a:pPr algn="ctr"/>
                      <a:r>
                        <a:rPr lang="en-US" dirty="0"/>
                        <a:t>10</a:t>
                      </a:r>
                      <a:endParaRPr lang="hi-IN" dirty="0"/>
                    </a:p>
                  </a:txBody>
                  <a:tcPr/>
                </a:tc>
                <a:tc>
                  <a:txBody>
                    <a:bodyPr/>
                    <a:lstStyle/>
                    <a:p>
                      <a:pPr algn="ctr"/>
                      <a:r>
                        <a:rPr lang="en-US" dirty="0"/>
                        <a:t>18</a:t>
                      </a:r>
                      <a:endParaRPr lang="hi-IN" dirty="0"/>
                    </a:p>
                  </a:txBody>
                  <a:tcPr/>
                </a:tc>
                <a:extLst>
                  <a:ext uri="{0D108BD9-81ED-4DB2-BD59-A6C34878D82A}">
                    <a16:rowId xmlns:a16="http://schemas.microsoft.com/office/drawing/2014/main" val="1902465444"/>
                  </a:ext>
                </a:extLst>
              </a:tr>
              <a:tr h="175133">
                <a:tc>
                  <a:txBody>
                    <a:bodyPr/>
                    <a:lstStyle/>
                    <a:p>
                      <a:pPr algn="ctr"/>
                      <a:r>
                        <a:rPr lang="en-US" dirty="0"/>
                        <a:t>3</a:t>
                      </a:r>
                      <a:endParaRPr lang="hi-IN" dirty="0"/>
                    </a:p>
                  </a:txBody>
                  <a:tcPr/>
                </a:tc>
                <a:tc>
                  <a:txBody>
                    <a:bodyPr/>
                    <a:lstStyle/>
                    <a:p>
                      <a:pPr algn="ctr"/>
                      <a:r>
                        <a:rPr lang="en-US" dirty="0"/>
                        <a:t>10</a:t>
                      </a:r>
                      <a:endParaRPr lang="hi-IN" dirty="0"/>
                    </a:p>
                  </a:txBody>
                  <a:tcPr/>
                </a:tc>
                <a:tc>
                  <a:txBody>
                    <a:bodyPr/>
                    <a:lstStyle/>
                    <a:p>
                      <a:pPr algn="ctr"/>
                      <a:r>
                        <a:rPr lang="en-US" dirty="0"/>
                        <a:t>18</a:t>
                      </a:r>
                      <a:endParaRPr lang="hi-IN" dirty="0"/>
                    </a:p>
                  </a:txBody>
                  <a:tcPr/>
                </a:tc>
                <a:extLst>
                  <a:ext uri="{0D108BD9-81ED-4DB2-BD59-A6C34878D82A}">
                    <a16:rowId xmlns:a16="http://schemas.microsoft.com/office/drawing/2014/main" val="2471506901"/>
                  </a:ext>
                </a:extLst>
              </a:tr>
              <a:tr h="175133">
                <a:tc>
                  <a:txBody>
                    <a:bodyPr/>
                    <a:lstStyle/>
                    <a:p>
                      <a:pPr algn="ctr"/>
                      <a:r>
                        <a:rPr lang="en-US" dirty="0"/>
                        <a:t>4</a:t>
                      </a:r>
                      <a:endParaRPr lang="hi-IN" dirty="0"/>
                    </a:p>
                  </a:txBody>
                  <a:tcPr/>
                </a:tc>
                <a:tc>
                  <a:txBody>
                    <a:bodyPr/>
                    <a:lstStyle/>
                    <a:p>
                      <a:pPr algn="ctr"/>
                      <a:r>
                        <a:rPr lang="en-US" dirty="0"/>
                        <a:t>7</a:t>
                      </a:r>
                      <a:endParaRPr lang="hi-IN" dirty="0"/>
                    </a:p>
                  </a:txBody>
                  <a:tcPr/>
                </a:tc>
                <a:tc>
                  <a:txBody>
                    <a:bodyPr/>
                    <a:lstStyle/>
                    <a:p>
                      <a:pPr algn="ctr"/>
                      <a:r>
                        <a:rPr lang="en-US" dirty="0"/>
                        <a:t>10</a:t>
                      </a:r>
                      <a:endParaRPr lang="hi-IN" dirty="0"/>
                    </a:p>
                  </a:txBody>
                  <a:tcPr/>
                </a:tc>
                <a:extLst>
                  <a:ext uri="{0D108BD9-81ED-4DB2-BD59-A6C34878D82A}">
                    <a16:rowId xmlns:a16="http://schemas.microsoft.com/office/drawing/2014/main" val="4230541411"/>
                  </a:ext>
                </a:extLst>
              </a:tr>
            </a:tbl>
          </a:graphicData>
        </a:graphic>
      </p:graphicFrame>
      <p:graphicFrame>
        <p:nvGraphicFramePr>
          <p:cNvPr id="7" name="Table 6">
            <a:extLst>
              <a:ext uri="{FF2B5EF4-FFF2-40B4-BE49-F238E27FC236}">
                <a16:creationId xmlns:a16="http://schemas.microsoft.com/office/drawing/2014/main" id="{46E8ACB9-6D55-493B-98EB-BFFAC58570FE}"/>
              </a:ext>
            </a:extLst>
          </p:cNvPr>
          <p:cNvGraphicFramePr>
            <a:graphicFrameLocks/>
          </p:cNvGraphicFramePr>
          <p:nvPr>
            <p:extLst>
              <p:ext uri="{D42A27DB-BD31-4B8C-83A1-F6EECF244321}">
                <p14:modId xmlns:p14="http://schemas.microsoft.com/office/powerpoint/2010/main" val="3592845175"/>
              </p:ext>
            </p:extLst>
          </p:nvPr>
        </p:nvGraphicFramePr>
        <p:xfrm>
          <a:off x="7432041" y="3657759"/>
          <a:ext cx="3672840" cy="2103120"/>
        </p:xfrm>
        <a:graphic>
          <a:graphicData uri="http://schemas.openxmlformats.org/drawingml/2006/table">
            <a:tbl>
              <a:tblPr firstRow="1" bandRow="1">
                <a:tableStyleId>{5C22544A-7EE6-4342-B048-85BDC9FD1C3A}</a:tableStyleId>
              </a:tblPr>
              <a:tblGrid>
                <a:gridCol w="918210">
                  <a:extLst>
                    <a:ext uri="{9D8B030D-6E8A-4147-A177-3AD203B41FA5}">
                      <a16:colId xmlns:a16="http://schemas.microsoft.com/office/drawing/2014/main" val="4288962044"/>
                    </a:ext>
                  </a:extLst>
                </a:gridCol>
                <a:gridCol w="918210">
                  <a:extLst>
                    <a:ext uri="{9D8B030D-6E8A-4147-A177-3AD203B41FA5}">
                      <a16:colId xmlns:a16="http://schemas.microsoft.com/office/drawing/2014/main" val="3268489291"/>
                    </a:ext>
                  </a:extLst>
                </a:gridCol>
                <a:gridCol w="918210">
                  <a:extLst>
                    <a:ext uri="{9D8B030D-6E8A-4147-A177-3AD203B41FA5}">
                      <a16:colId xmlns:a16="http://schemas.microsoft.com/office/drawing/2014/main" val="1859674420"/>
                    </a:ext>
                  </a:extLst>
                </a:gridCol>
                <a:gridCol w="918210">
                  <a:extLst>
                    <a:ext uri="{9D8B030D-6E8A-4147-A177-3AD203B41FA5}">
                      <a16:colId xmlns:a16="http://schemas.microsoft.com/office/drawing/2014/main" val="4035869901"/>
                    </a:ext>
                  </a:extLst>
                </a:gridCol>
              </a:tblGrid>
              <a:tr h="175133">
                <a:tc>
                  <a:txBody>
                    <a:bodyPr/>
                    <a:lstStyle/>
                    <a:p>
                      <a:pPr algn="ctr"/>
                      <a:r>
                        <a:rPr lang="en-US" dirty="0"/>
                        <a:t>Item</a:t>
                      </a:r>
                      <a:endParaRPr lang="hi-IN" dirty="0"/>
                    </a:p>
                  </a:txBody>
                  <a:tcPr/>
                </a:tc>
                <a:tc>
                  <a:txBody>
                    <a:bodyPr/>
                    <a:lstStyle/>
                    <a:p>
                      <a:pPr algn="ctr"/>
                      <a:r>
                        <a:rPr lang="en-US"/>
                        <a:t>Weight (KG)</a:t>
                      </a:r>
                      <a:endParaRPr lang="hi-IN" dirty="0"/>
                    </a:p>
                  </a:txBody>
                  <a:tcPr/>
                </a:tc>
                <a:tc>
                  <a:txBody>
                    <a:bodyPr/>
                    <a:lstStyle/>
                    <a:p>
                      <a:pPr algn="ctr"/>
                      <a:r>
                        <a:rPr lang="en-US"/>
                        <a:t>Value ($)</a:t>
                      </a:r>
                      <a:endParaRPr lang="hi-IN" dirty="0"/>
                    </a:p>
                  </a:txBody>
                  <a:tcPr/>
                </a:tc>
                <a:tc>
                  <a:txBody>
                    <a:bodyPr/>
                    <a:lstStyle/>
                    <a:p>
                      <a:pPr algn="ctr"/>
                      <a:r>
                        <a:rPr lang="en-US" dirty="0"/>
                        <a:t>Value Index</a:t>
                      </a:r>
                      <a:endParaRPr lang="hi-IN" dirty="0"/>
                    </a:p>
                  </a:txBody>
                  <a:tcPr/>
                </a:tc>
                <a:extLst>
                  <a:ext uri="{0D108BD9-81ED-4DB2-BD59-A6C34878D82A}">
                    <a16:rowId xmlns:a16="http://schemas.microsoft.com/office/drawing/2014/main" val="3901954611"/>
                  </a:ext>
                </a:extLst>
              </a:tr>
              <a:tr h="175133">
                <a:tc>
                  <a:txBody>
                    <a:bodyPr/>
                    <a:lstStyle/>
                    <a:p>
                      <a:pPr algn="ctr"/>
                      <a:r>
                        <a:rPr lang="en-US"/>
                        <a:t>1</a:t>
                      </a:r>
                      <a:endParaRPr lang="hi-IN" dirty="0"/>
                    </a:p>
                  </a:txBody>
                  <a:tcPr/>
                </a:tc>
                <a:tc>
                  <a:txBody>
                    <a:bodyPr/>
                    <a:lstStyle/>
                    <a:p>
                      <a:pPr algn="ctr"/>
                      <a:r>
                        <a:rPr lang="en-US"/>
                        <a:t>24</a:t>
                      </a:r>
                      <a:endParaRPr lang="hi-IN" dirty="0"/>
                    </a:p>
                  </a:txBody>
                  <a:tcPr/>
                </a:tc>
                <a:tc>
                  <a:txBody>
                    <a:bodyPr/>
                    <a:lstStyle/>
                    <a:p>
                      <a:pPr algn="ctr"/>
                      <a:r>
                        <a:rPr lang="en-US"/>
                        <a:t>24</a:t>
                      </a:r>
                      <a:endParaRPr lang="hi-IN" dirty="0"/>
                    </a:p>
                  </a:txBody>
                  <a:tcPr/>
                </a:tc>
                <a:tc>
                  <a:txBody>
                    <a:bodyPr/>
                    <a:lstStyle/>
                    <a:p>
                      <a:pPr algn="ctr"/>
                      <a:r>
                        <a:rPr lang="en-US" dirty="0"/>
                        <a:t>1</a:t>
                      </a:r>
                      <a:endParaRPr lang="hi-IN" dirty="0"/>
                    </a:p>
                  </a:txBody>
                  <a:tcPr/>
                </a:tc>
                <a:extLst>
                  <a:ext uri="{0D108BD9-81ED-4DB2-BD59-A6C34878D82A}">
                    <a16:rowId xmlns:a16="http://schemas.microsoft.com/office/drawing/2014/main" val="2441878164"/>
                  </a:ext>
                </a:extLst>
              </a:tr>
              <a:tr h="175133">
                <a:tc>
                  <a:txBody>
                    <a:bodyPr/>
                    <a:lstStyle/>
                    <a:p>
                      <a:pPr algn="ctr"/>
                      <a:r>
                        <a:rPr lang="en-US"/>
                        <a:t>2</a:t>
                      </a:r>
                      <a:endParaRPr lang="hi-IN" dirty="0"/>
                    </a:p>
                  </a:txBody>
                  <a:tcPr/>
                </a:tc>
                <a:tc>
                  <a:txBody>
                    <a:bodyPr/>
                    <a:lstStyle/>
                    <a:p>
                      <a:pPr algn="ctr"/>
                      <a:r>
                        <a:rPr lang="en-US"/>
                        <a:t>10</a:t>
                      </a:r>
                      <a:endParaRPr lang="hi-IN" dirty="0"/>
                    </a:p>
                  </a:txBody>
                  <a:tcPr/>
                </a:tc>
                <a:tc>
                  <a:txBody>
                    <a:bodyPr/>
                    <a:lstStyle/>
                    <a:p>
                      <a:pPr algn="ctr"/>
                      <a:r>
                        <a:rPr lang="en-US"/>
                        <a:t>18</a:t>
                      </a:r>
                      <a:endParaRPr lang="hi-IN" dirty="0"/>
                    </a:p>
                  </a:txBody>
                  <a:tcPr/>
                </a:tc>
                <a:tc>
                  <a:txBody>
                    <a:bodyPr/>
                    <a:lstStyle/>
                    <a:p>
                      <a:pPr algn="ctr"/>
                      <a:r>
                        <a:rPr lang="en-US" dirty="0"/>
                        <a:t>1.8</a:t>
                      </a:r>
                      <a:endParaRPr lang="hi-IN" dirty="0"/>
                    </a:p>
                  </a:txBody>
                  <a:tcPr/>
                </a:tc>
                <a:extLst>
                  <a:ext uri="{0D108BD9-81ED-4DB2-BD59-A6C34878D82A}">
                    <a16:rowId xmlns:a16="http://schemas.microsoft.com/office/drawing/2014/main" val="1902465444"/>
                  </a:ext>
                </a:extLst>
              </a:tr>
              <a:tr h="175133">
                <a:tc>
                  <a:txBody>
                    <a:bodyPr/>
                    <a:lstStyle/>
                    <a:p>
                      <a:pPr algn="ctr"/>
                      <a:r>
                        <a:rPr lang="en-US"/>
                        <a:t>3</a:t>
                      </a:r>
                      <a:endParaRPr lang="hi-IN" dirty="0"/>
                    </a:p>
                  </a:txBody>
                  <a:tcPr/>
                </a:tc>
                <a:tc>
                  <a:txBody>
                    <a:bodyPr/>
                    <a:lstStyle/>
                    <a:p>
                      <a:pPr algn="ctr"/>
                      <a:r>
                        <a:rPr lang="en-US"/>
                        <a:t>10</a:t>
                      </a:r>
                      <a:endParaRPr lang="hi-IN" dirty="0"/>
                    </a:p>
                  </a:txBody>
                  <a:tcPr/>
                </a:tc>
                <a:tc>
                  <a:txBody>
                    <a:bodyPr/>
                    <a:lstStyle/>
                    <a:p>
                      <a:pPr algn="ctr"/>
                      <a:r>
                        <a:rPr lang="en-US"/>
                        <a:t>18</a:t>
                      </a:r>
                      <a:endParaRPr lang="hi-IN" dirty="0"/>
                    </a:p>
                  </a:txBody>
                  <a:tcPr/>
                </a:tc>
                <a:tc>
                  <a:txBody>
                    <a:bodyPr/>
                    <a:lstStyle/>
                    <a:p>
                      <a:pPr algn="ctr"/>
                      <a:r>
                        <a:rPr lang="en-US" dirty="0"/>
                        <a:t>1.8</a:t>
                      </a:r>
                      <a:endParaRPr lang="hi-IN" dirty="0"/>
                    </a:p>
                  </a:txBody>
                  <a:tcPr/>
                </a:tc>
                <a:extLst>
                  <a:ext uri="{0D108BD9-81ED-4DB2-BD59-A6C34878D82A}">
                    <a16:rowId xmlns:a16="http://schemas.microsoft.com/office/drawing/2014/main" val="2471506901"/>
                  </a:ext>
                </a:extLst>
              </a:tr>
              <a:tr h="175133">
                <a:tc>
                  <a:txBody>
                    <a:bodyPr/>
                    <a:lstStyle/>
                    <a:p>
                      <a:pPr algn="ctr"/>
                      <a:r>
                        <a:rPr lang="en-US"/>
                        <a:t>4</a:t>
                      </a:r>
                      <a:endParaRPr lang="hi-IN" dirty="0"/>
                    </a:p>
                  </a:txBody>
                  <a:tcPr/>
                </a:tc>
                <a:tc>
                  <a:txBody>
                    <a:bodyPr/>
                    <a:lstStyle/>
                    <a:p>
                      <a:pPr algn="ctr"/>
                      <a:r>
                        <a:rPr lang="en-US"/>
                        <a:t>7</a:t>
                      </a:r>
                      <a:endParaRPr lang="hi-IN" dirty="0"/>
                    </a:p>
                  </a:txBody>
                  <a:tcPr/>
                </a:tc>
                <a:tc>
                  <a:txBody>
                    <a:bodyPr/>
                    <a:lstStyle/>
                    <a:p>
                      <a:pPr algn="ctr"/>
                      <a:r>
                        <a:rPr lang="en-US"/>
                        <a:t>10</a:t>
                      </a:r>
                      <a:endParaRPr lang="hi-IN" dirty="0"/>
                    </a:p>
                  </a:txBody>
                  <a:tcPr/>
                </a:tc>
                <a:tc>
                  <a:txBody>
                    <a:bodyPr/>
                    <a:lstStyle/>
                    <a:p>
                      <a:pPr algn="ctr"/>
                      <a:r>
                        <a:rPr lang="en-US" dirty="0"/>
                        <a:t>1.4</a:t>
                      </a:r>
                      <a:endParaRPr lang="hi-IN" dirty="0"/>
                    </a:p>
                  </a:txBody>
                  <a:tcPr/>
                </a:tc>
                <a:extLst>
                  <a:ext uri="{0D108BD9-81ED-4DB2-BD59-A6C34878D82A}">
                    <a16:rowId xmlns:a16="http://schemas.microsoft.com/office/drawing/2014/main" val="4230541411"/>
                  </a:ext>
                </a:extLst>
              </a:tr>
            </a:tbl>
          </a:graphicData>
        </a:graphic>
      </p:graphicFrame>
      <p:sp>
        <p:nvSpPr>
          <p:cNvPr id="8" name="Arrow: Right 7">
            <a:extLst>
              <a:ext uri="{FF2B5EF4-FFF2-40B4-BE49-F238E27FC236}">
                <a16:creationId xmlns:a16="http://schemas.microsoft.com/office/drawing/2014/main" id="{30D2B27A-9760-4189-87CE-A49FC78DF96F}"/>
              </a:ext>
            </a:extLst>
          </p:cNvPr>
          <p:cNvSpPr/>
          <p:nvPr/>
        </p:nvSpPr>
        <p:spPr>
          <a:xfrm>
            <a:off x="5750560" y="4399280"/>
            <a:ext cx="1219200" cy="406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Tree>
    <p:extLst>
      <p:ext uri="{BB962C8B-B14F-4D97-AF65-F5344CB8AC3E}">
        <p14:creationId xmlns:p14="http://schemas.microsoft.com/office/powerpoint/2010/main" val="141900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F8E43-8CE9-4176-B194-E9FD8D3839BC}"/>
              </a:ext>
            </a:extLst>
          </p:cNvPr>
          <p:cNvSpPr>
            <a:spLocks noGrp="1"/>
          </p:cNvSpPr>
          <p:nvPr>
            <p:ph type="title"/>
          </p:nvPr>
        </p:nvSpPr>
        <p:spPr/>
        <p:txBody>
          <a:bodyPr/>
          <a:lstStyle/>
          <a:p>
            <a:r>
              <a:rPr lang="en-US" b="1" dirty="0"/>
              <a:t>Example 2</a:t>
            </a:r>
            <a:endParaRPr lang="hi-IN" dirty="0"/>
          </a:p>
        </p:txBody>
      </p:sp>
      <p:sp>
        <p:nvSpPr>
          <p:cNvPr id="4" name="Footer Placeholder 3">
            <a:extLst>
              <a:ext uri="{FF2B5EF4-FFF2-40B4-BE49-F238E27FC236}">
                <a16:creationId xmlns:a16="http://schemas.microsoft.com/office/drawing/2014/main" id="{53D656A3-16C5-4B5E-AD3D-CEC75535F79A}"/>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D7894C8F-69AC-4496-958A-69FAE1065E30}"/>
              </a:ext>
            </a:extLst>
          </p:cNvPr>
          <p:cNvSpPr>
            <a:spLocks noGrp="1"/>
          </p:cNvSpPr>
          <p:nvPr>
            <p:ph type="sldNum" sz="quarter" idx="12"/>
          </p:nvPr>
        </p:nvSpPr>
        <p:spPr/>
        <p:txBody>
          <a:bodyPr/>
          <a:lstStyle/>
          <a:p>
            <a:fld id="{F56F9007-E0C6-489E-B603-BD6BB4385429}" type="slidenum">
              <a:rPr lang="hi-IN" smtClean="0"/>
              <a:t>12</a:t>
            </a:fld>
            <a:endParaRPr lang="hi-IN"/>
          </a:p>
        </p:txBody>
      </p:sp>
      <p:sp>
        <p:nvSpPr>
          <p:cNvPr id="14" name="TextBox 13">
            <a:extLst>
              <a:ext uri="{FF2B5EF4-FFF2-40B4-BE49-F238E27FC236}">
                <a16:creationId xmlns:a16="http://schemas.microsoft.com/office/drawing/2014/main" id="{E3DDC5F3-5C14-462C-BB70-6AF35026771D}"/>
              </a:ext>
            </a:extLst>
          </p:cNvPr>
          <p:cNvSpPr txBox="1"/>
          <p:nvPr/>
        </p:nvSpPr>
        <p:spPr>
          <a:xfrm>
            <a:off x="5288280" y="295100"/>
            <a:ext cx="1615440" cy="646331"/>
          </a:xfrm>
          <a:prstGeom prst="rect">
            <a:avLst/>
          </a:prstGeom>
          <a:noFill/>
          <a:ln>
            <a:solidFill>
              <a:schemeClr val="tx1"/>
            </a:solidFill>
          </a:ln>
        </p:spPr>
        <p:txBody>
          <a:bodyPr wrap="square" rtlCol="0">
            <a:spAutoFit/>
          </a:bodyPr>
          <a:lstStyle/>
          <a:p>
            <a:pPr algn="ctr"/>
            <a:r>
              <a:rPr lang="en-US" b="1" dirty="0"/>
              <a:t>w=0, v=0</a:t>
            </a:r>
          </a:p>
          <a:p>
            <a:pPr algn="ctr"/>
            <a:r>
              <a:rPr lang="en-US" b="1" dirty="0"/>
              <a:t>b=45</a:t>
            </a:r>
            <a:endParaRPr lang="hi-IN" b="1" dirty="0"/>
          </a:p>
        </p:txBody>
      </p:sp>
      <p:sp>
        <p:nvSpPr>
          <p:cNvPr id="15" name="Rectangle 14">
            <a:extLst>
              <a:ext uri="{FF2B5EF4-FFF2-40B4-BE49-F238E27FC236}">
                <a16:creationId xmlns:a16="http://schemas.microsoft.com/office/drawing/2014/main" id="{A808DAF2-D87E-4756-B5C4-E565AA9E3E69}"/>
              </a:ext>
            </a:extLst>
          </p:cNvPr>
          <p:cNvSpPr/>
          <p:nvPr/>
        </p:nvSpPr>
        <p:spPr>
          <a:xfrm>
            <a:off x="7310120" y="285575"/>
            <a:ext cx="4633000" cy="523220"/>
          </a:xfrm>
          <a:prstGeom prst="rect">
            <a:avLst/>
          </a:prstGeom>
        </p:spPr>
        <p:txBody>
          <a:bodyPr wrap="none">
            <a:spAutoFit/>
          </a:bodyPr>
          <a:lstStyle/>
          <a:p>
            <a:pPr lvl="1">
              <a:buSzPct val="70000"/>
              <a:buFont typeface="Courier New" panose="02070309020205020404" pitchFamily="49" charset="0"/>
              <a:buChar char="o"/>
            </a:pPr>
            <a:r>
              <a:rPr lang="pl-PL" sz="2800" b="1" i="1" dirty="0">
                <a:solidFill>
                  <a:srgbClr val="C00000"/>
                </a:solidFill>
              </a:rPr>
              <a:t>b </a:t>
            </a:r>
            <a:r>
              <a:rPr lang="pl-PL" sz="2800" b="1" dirty="0">
                <a:solidFill>
                  <a:srgbClr val="C00000"/>
                </a:solidFill>
              </a:rPr>
              <a:t>= </a:t>
            </a:r>
            <a:r>
              <a:rPr lang="pl-PL" sz="2800" b="1" i="1" dirty="0">
                <a:solidFill>
                  <a:srgbClr val="C00000"/>
                </a:solidFill>
              </a:rPr>
              <a:t>v </a:t>
            </a:r>
            <a:r>
              <a:rPr lang="pl-PL" sz="2800" b="1" dirty="0">
                <a:solidFill>
                  <a:srgbClr val="C00000"/>
                </a:solidFill>
              </a:rPr>
              <a:t>+ ( </a:t>
            </a:r>
            <a:r>
              <a:rPr lang="pl-PL" sz="2800" b="1" i="1" dirty="0">
                <a:solidFill>
                  <a:srgbClr val="C00000"/>
                </a:solidFill>
              </a:rPr>
              <a:t>W </a:t>
            </a:r>
            <a:r>
              <a:rPr lang="pl-PL" sz="2800" b="1" dirty="0">
                <a:solidFill>
                  <a:srgbClr val="C00000"/>
                </a:solidFill>
              </a:rPr>
              <a:t>– </a:t>
            </a:r>
            <a:r>
              <a:rPr lang="pl-PL" sz="2800" b="1" i="1" dirty="0">
                <a:solidFill>
                  <a:srgbClr val="C00000"/>
                </a:solidFill>
              </a:rPr>
              <a:t>w</a:t>
            </a:r>
            <a:r>
              <a:rPr lang="pl-PL" sz="2800" b="1" dirty="0">
                <a:solidFill>
                  <a:srgbClr val="C00000"/>
                </a:solidFill>
              </a:rPr>
              <a:t>) (</a:t>
            </a:r>
            <a:r>
              <a:rPr lang="pl-PL" sz="2800" b="1" i="1" dirty="0">
                <a:solidFill>
                  <a:srgbClr val="C00000"/>
                </a:solidFill>
              </a:rPr>
              <a:t>v</a:t>
            </a:r>
            <a:r>
              <a:rPr lang="pl-PL" sz="2800" b="1" i="1" baseline="-25000" dirty="0">
                <a:solidFill>
                  <a:srgbClr val="C00000"/>
                </a:solidFill>
              </a:rPr>
              <a:t>i</a:t>
            </a:r>
            <a:r>
              <a:rPr lang="pl-PL" sz="2800" b="1" baseline="-25000" dirty="0">
                <a:solidFill>
                  <a:srgbClr val="C00000"/>
                </a:solidFill>
              </a:rPr>
              <a:t>+1 </a:t>
            </a:r>
            <a:r>
              <a:rPr lang="pl-PL" sz="2800" b="1" dirty="0">
                <a:solidFill>
                  <a:srgbClr val="C00000"/>
                </a:solidFill>
              </a:rPr>
              <a:t>/</a:t>
            </a:r>
            <a:r>
              <a:rPr lang="pl-PL" sz="2800" b="1" i="1" dirty="0">
                <a:solidFill>
                  <a:srgbClr val="C00000"/>
                </a:solidFill>
              </a:rPr>
              <a:t>w</a:t>
            </a:r>
            <a:r>
              <a:rPr lang="pl-PL" sz="2800" b="1" i="1" baseline="-25000" dirty="0">
                <a:solidFill>
                  <a:srgbClr val="C00000"/>
                </a:solidFill>
              </a:rPr>
              <a:t>i</a:t>
            </a:r>
            <a:r>
              <a:rPr lang="pl-PL" sz="2800" b="1" baseline="-25000" dirty="0">
                <a:solidFill>
                  <a:srgbClr val="C00000"/>
                </a:solidFill>
              </a:rPr>
              <a:t>+1</a:t>
            </a:r>
            <a:r>
              <a:rPr lang="pl-PL" sz="2800" b="1" dirty="0">
                <a:solidFill>
                  <a:srgbClr val="C00000"/>
                </a:solidFill>
              </a:rPr>
              <a:t>)</a:t>
            </a:r>
          </a:p>
        </p:txBody>
      </p:sp>
      <p:grpSp>
        <p:nvGrpSpPr>
          <p:cNvPr id="26" name="Group 25">
            <a:extLst>
              <a:ext uri="{FF2B5EF4-FFF2-40B4-BE49-F238E27FC236}">
                <a16:creationId xmlns:a16="http://schemas.microsoft.com/office/drawing/2014/main" id="{8A3F8035-7E51-4C4D-92BD-6799861806BF}"/>
              </a:ext>
            </a:extLst>
          </p:cNvPr>
          <p:cNvGrpSpPr/>
          <p:nvPr/>
        </p:nvGrpSpPr>
        <p:grpSpPr>
          <a:xfrm>
            <a:off x="248880" y="1239520"/>
            <a:ext cx="2532368" cy="3890050"/>
            <a:chOff x="250575" y="1767840"/>
            <a:chExt cx="2560537" cy="3890050"/>
          </a:xfrm>
        </p:grpSpPr>
        <p:cxnSp>
          <p:nvCxnSpPr>
            <p:cNvPr id="12" name="Connector: Curved 11">
              <a:extLst>
                <a:ext uri="{FF2B5EF4-FFF2-40B4-BE49-F238E27FC236}">
                  <a16:creationId xmlns:a16="http://schemas.microsoft.com/office/drawing/2014/main" id="{6922A4ED-4D55-4B11-B61A-52076C4039B0}"/>
                </a:ext>
              </a:extLst>
            </p:cNvPr>
            <p:cNvCxnSpPr>
              <a:cxnSpLocks/>
            </p:cNvCxnSpPr>
            <p:nvPr/>
          </p:nvCxnSpPr>
          <p:spPr>
            <a:xfrm rot="5400000" flipH="1" flipV="1">
              <a:off x="834787" y="4045347"/>
              <a:ext cx="692626" cy="685800"/>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5" name="Group 24">
              <a:extLst>
                <a:ext uri="{FF2B5EF4-FFF2-40B4-BE49-F238E27FC236}">
                  <a16:creationId xmlns:a16="http://schemas.microsoft.com/office/drawing/2014/main" id="{E4F63092-FB3D-4DF6-8E00-DEF318284CC7}"/>
                </a:ext>
              </a:extLst>
            </p:cNvPr>
            <p:cNvGrpSpPr/>
            <p:nvPr/>
          </p:nvGrpSpPr>
          <p:grpSpPr>
            <a:xfrm>
              <a:off x="250575" y="1767840"/>
              <a:ext cx="2560537" cy="3890050"/>
              <a:chOff x="250575" y="1767840"/>
              <a:chExt cx="2560537" cy="3890050"/>
            </a:xfrm>
          </p:grpSpPr>
          <p:graphicFrame>
            <p:nvGraphicFramePr>
              <p:cNvPr id="7" name="Table 6">
                <a:extLst>
                  <a:ext uri="{FF2B5EF4-FFF2-40B4-BE49-F238E27FC236}">
                    <a16:creationId xmlns:a16="http://schemas.microsoft.com/office/drawing/2014/main" id="{0EECE41C-5FA5-4142-A0A2-EA3D8945DD5D}"/>
                  </a:ext>
                </a:extLst>
              </p:cNvPr>
              <p:cNvGraphicFramePr>
                <a:graphicFrameLocks/>
              </p:cNvGraphicFramePr>
              <p:nvPr>
                <p:extLst>
                  <p:ext uri="{D42A27DB-BD31-4B8C-83A1-F6EECF244321}">
                    <p14:modId xmlns:p14="http://schemas.microsoft.com/office/powerpoint/2010/main" val="1450807932"/>
                  </p:ext>
                </p:extLst>
              </p:nvPr>
            </p:nvGraphicFramePr>
            <p:xfrm>
              <a:off x="250575" y="2179003"/>
              <a:ext cx="2560537" cy="1828800"/>
            </p:xfrm>
            <a:graphic>
              <a:graphicData uri="http://schemas.openxmlformats.org/drawingml/2006/table">
                <a:tbl>
                  <a:tblPr firstRow="1" bandRow="1">
                    <a:tableStyleId>{5C22544A-7EE6-4342-B048-85BDC9FD1C3A}</a:tableStyleId>
                  </a:tblPr>
                  <a:tblGrid>
                    <a:gridCol w="633092">
                      <a:extLst>
                        <a:ext uri="{9D8B030D-6E8A-4147-A177-3AD203B41FA5}">
                          <a16:colId xmlns:a16="http://schemas.microsoft.com/office/drawing/2014/main" val="4288962044"/>
                        </a:ext>
                      </a:extLst>
                    </a:gridCol>
                    <a:gridCol w="633092">
                      <a:extLst>
                        <a:ext uri="{9D8B030D-6E8A-4147-A177-3AD203B41FA5}">
                          <a16:colId xmlns:a16="http://schemas.microsoft.com/office/drawing/2014/main" val="3268489291"/>
                        </a:ext>
                      </a:extLst>
                    </a:gridCol>
                    <a:gridCol w="633092">
                      <a:extLst>
                        <a:ext uri="{9D8B030D-6E8A-4147-A177-3AD203B41FA5}">
                          <a16:colId xmlns:a16="http://schemas.microsoft.com/office/drawing/2014/main" val="1859674420"/>
                        </a:ext>
                      </a:extLst>
                    </a:gridCol>
                    <a:gridCol w="633092">
                      <a:extLst>
                        <a:ext uri="{9D8B030D-6E8A-4147-A177-3AD203B41FA5}">
                          <a16:colId xmlns:a16="http://schemas.microsoft.com/office/drawing/2014/main" val="2341398688"/>
                        </a:ext>
                      </a:extLst>
                    </a:gridCol>
                  </a:tblGrid>
                  <a:tr h="316464">
                    <a:tc>
                      <a:txBody>
                        <a:bodyPr/>
                        <a:lstStyle/>
                        <a:p>
                          <a:pPr algn="ctr"/>
                          <a:r>
                            <a:rPr lang="en-US" dirty="0"/>
                            <a:t>Item</a:t>
                          </a:r>
                          <a:endParaRPr lang="hi-IN" dirty="0"/>
                        </a:p>
                      </a:txBody>
                      <a:tcPr/>
                    </a:tc>
                    <a:tc>
                      <a:txBody>
                        <a:bodyPr/>
                        <a:lstStyle/>
                        <a:p>
                          <a:pPr algn="ctr"/>
                          <a:r>
                            <a:rPr lang="en-US" dirty="0"/>
                            <a:t>w</a:t>
                          </a:r>
                          <a:endParaRPr lang="hi-IN" dirty="0"/>
                        </a:p>
                      </a:txBody>
                      <a:tcPr/>
                    </a:tc>
                    <a:tc>
                      <a:txBody>
                        <a:bodyPr/>
                        <a:lstStyle/>
                        <a:p>
                          <a:pPr algn="ctr"/>
                          <a:r>
                            <a:rPr lang="en-US" dirty="0"/>
                            <a:t>v</a:t>
                          </a:r>
                          <a:endParaRPr lang="hi-IN" dirty="0"/>
                        </a:p>
                      </a:txBody>
                      <a:tcPr/>
                    </a:tc>
                    <a:tc>
                      <a:txBody>
                        <a:bodyPr/>
                        <a:lstStyle/>
                        <a:p>
                          <a:pPr algn="ctr"/>
                          <a:r>
                            <a:rPr lang="en-US" dirty="0"/>
                            <a:t>VI</a:t>
                          </a:r>
                          <a:endParaRPr lang="hi-IN" dirty="0"/>
                        </a:p>
                      </a:txBody>
                      <a:tcPr/>
                    </a:tc>
                    <a:extLst>
                      <a:ext uri="{0D108BD9-81ED-4DB2-BD59-A6C34878D82A}">
                        <a16:rowId xmlns:a16="http://schemas.microsoft.com/office/drawing/2014/main" val="3901954611"/>
                      </a:ext>
                    </a:extLst>
                  </a:tr>
                  <a:tr h="316464">
                    <a:tc>
                      <a:txBody>
                        <a:bodyPr/>
                        <a:lstStyle/>
                        <a:p>
                          <a:pPr algn="ctr"/>
                          <a:r>
                            <a:rPr lang="en-US" dirty="0"/>
                            <a:t>2</a:t>
                          </a:r>
                          <a:endParaRPr lang="hi-IN" dirty="0"/>
                        </a:p>
                      </a:txBody>
                      <a:tcPr/>
                    </a:tc>
                    <a:tc>
                      <a:txBody>
                        <a:bodyPr/>
                        <a:lstStyle/>
                        <a:p>
                          <a:pPr algn="ctr"/>
                          <a:r>
                            <a:rPr lang="en-US" dirty="0"/>
                            <a:t>10</a:t>
                          </a:r>
                          <a:endParaRPr lang="hi-IN" dirty="0"/>
                        </a:p>
                      </a:txBody>
                      <a:tcPr/>
                    </a:tc>
                    <a:tc>
                      <a:txBody>
                        <a:bodyPr/>
                        <a:lstStyle/>
                        <a:p>
                          <a:pPr algn="ctr"/>
                          <a:r>
                            <a:rPr lang="en-US" dirty="0"/>
                            <a:t>18</a:t>
                          </a:r>
                          <a:endParaRPr lang="hi-IN" dirty="0"/>
                        </a:p>
                      </a:txBody>
                      <a:tcPr/>
                    </a:tc>
                    <a:tc>
                      <a:txBody>
                        <a:bodyPr/>
                        <a:lstStyle/>
                        <a:p>
                          <a:pPr algn="ctr"/>
                          <a:r>
                            <a:rPr lang="en-US" dirty="0"/>
                            <a:t>1.8</a:t>
                          </a:r>
                          <a:endParaRPr lang="hi-IN" dirty="0"/>
                        </a:p>
                      </a:txBody>
                      <a:tcPr/>
                    </a:tc>
                    <a:extLst>
                      <a:ext uri="{0D108BD9-81ED-4DB2-BD59-A6C34878D82A}">
                        <a16:rowId xmlns:a16="http://schemas.microsoft.com/office/drawing/2014/main" val="1902465444"/>
                      </a:ext>
                    </a:extLst>
                  </a:tr>
                  <a:tr h="316464">
                    <a:tc>
                      <a:txBody>
                        <a:bodyPr/>
                        <a:lstStyle/>
                        <a:p>
                          <a:pPr algn="ctr"/>
                          <a:r>
                            <a:rPr lang="en-US" dirty="0"/>
                            <a:t>3</a:t>
                          </a:r>
                          <a:endParaRPr lang="hi-IN" dirty="0"/>
                        </a:p>
                      </a:txBody>
                      <a:tcPr/>
                    </a:tc>
                    <a:tc>
                      <a:txBody>
                        <a:bodyPr/>
                        <a:lstStyle/>
                        <a:p>
                          <a:pPr algn="ctr"/>
                          <a:r>
                            <a:rPr lang="en-US" dirty="0"/>
                            <a:t>10</a:t>
                          </a:r>
                          <a:endParaRPr lang="hi-IN" dirty="0"/>
                        </a:p>
                      </a:txBody>
                      <a:tcPr/>
                    </a:tc>
                    <a:tc>
                      <a:txBody>
                        <a:bodyPr/>
                        <a:lstStyle/>
                        <a:p>
                          <a:pPr algn="ctr"/>
                          <a:r>
                            <a:rPr lang="en-US" dirty="0"/>
                            <a:t>18</a:t>
                          </a:r>
                          <a:endParaRPr lang="hi-IN" dirty="0"/>
                        </a:p>
                      </a:txBody>
                      <a:tcPr/>
                    </a:tc>
                    <a:tc>
                      <a:txBody>
                        <a:bodyPr/>
                        <a:lstStyle/>
                        <a:p>
                          <a:pPr algn="ctr"/>
                          <a:r>
                            <a:rPr lang="en-US" dirty="0"/>
                            <a:t>1.8</a:t>
                          </a:r>
                          <a:endParaRPr lang="hi-IN" dirty="0"/>
                        </a:p>
                      </a:txBody>
                      <a:tcPr/>
                    </a:tc>
                    <a:extLst>
                      <a:ext uri="{0D108BD9-81ED-4DB2-BD59-A6C34878D82A}">
                        <a16:rowId xmlns:a16="http://schemas.microsoft.com/office/drawing/2014/main" val="2471506901"/>
                      </a:ext>
                    </a:extLst>
                  </a:tr>
                  <a:tr h="316464">
                    <a:tc>
                      <a:txBody>
                        <a:bodyPr/>
                        <a:lstStyle/>
                        <a:p>
                          <a:pPr algn="ctr"/>
                          <a:r>
                            <a:rPr lang="en-US" dirty="0"/>
                            <a:t>4</a:t>
                          </a:r>
                          <a:endParaRPr lang="hi-IN" dirty="0"/>
                        </a:p>
                      </a:txBody>
                      <a:tcPr/>
                    </a:tc>
                    <a:tc>
                      <a:txBody>
                        <a:bodyPr/>
                        <a:lstStyle/>
                        <a:p>
                          <a:pPr algn="ctr"/>
                          <a:r>
                            <a:rPr lang="en-US" dirty="0"/>
                            <a:t>7</a:t>
                          </a:r>
                          <a:endParaRPr lang="hi-IN" dirty="0"/>
                        </a:p>
                      </a:txBody>
                      <a:tcPr/>
                    </a:tc>
                    <a:tc>
                      <a:txBody>
                        <a:bodyPr/>
                        <a:lstStyle/>
                        <a:p>
                          <a:pPr algn="ctr"/>
                          <a:r>
                            <a:rPr lang="en-US" dirty="0"/>
                            <a:t>10</a:t>
                          </a:r>
                          <a:endParaRPr lang="hi-IN" dirty="0"/>
                        </a:p>
                      </a:txBody>
                      <a:tcPr/>
                    </a:tc>
                    <a:tc>
                      <a:txBody>
                        <a:bodyPr/>
                        <a:lstStyle/>
                        <a:p>
                          <a:pPr algn="ctr"/>
                          <a:r>
                            <a:rPr lang="en-US" dirty="0"/>
                            <a:t>1.4</a:t>
                          </a:r>
                          <a:endParaRPr lang="hi-IN" dirty="0"/>
                        </a:p>
                      </a:txBody>
                      <a:tcPr/>
                    </a:tc>
                    <a:extLst>
                      <a:ext uri="{0D108BD9-81ED-4DB2-BD59-A6C34878D82A}">
                        <a16:rowId xmlns:a16="http://schemas.microsoft.com/office/drawing/2014/main" val="4230541411"/>
                      </a:ext>
                    </a:extLst>
                  </a:tr>
                  <a:tr h="316464">
                    <a:tc>
                      <a:txBody>
                        <a:bodyPr/>
                        <a:lstStyle/>
                        <a:p>
                          <a:pPr algn="ctr"/>
                          <a:r>
                            <a:rPr lang="en-US" dirty="0"/>
                            <a:t>1</a:t>
                          </a:r>
                          <a:endParaRPr lang="hi-IN" dirty="0"/>
                        </a:p>
                      </a:txBody>
                      <a:tcPr/>
                    </a:tc>
                    <a:tc>
                      <a:txBody>
                        <a:bodyPr/>
                        <a:lstStyle/>
                        <a:p>
                          <a:pPr algn="ctr"/>
                          <a:r>
                            <a:rPr lang="en-US" dirty="0"/>
                            <a:t>24</a:t>
                          </a:r>
                          <a:endParaRPr lang="hi-IN" dirty="0"/>
                        </a:p>
                      </a:txBody>
                      <a:tcPr/>
                    </a:tc>
                    <a:tc>
                      <a:txBody>
                        <a:bodyPr/>
                        <a:lstStyle/>
                        <a:p>
                          <a:pPr algn="ctr"/>
                          <a:r>
                            <a:rPr lang="en-US" dirty="0"/>
                            <a:t>24</a:t>
                          </a:r>
                          <a:endParaRPr lang="hi-IN" dirty="0"/>
                        </a:p>
                      </a:txBody>
                      <a:tcPr/>
                    </a:tc>
                    <a:tc>
                      <a:txBody>
                        <a:bodyPr/>
                        <a:lstStyle/>
                        <a:p>
                          <a:pPr algn="ctr"/>
                          <a:r>
                            <a:rPr lang="en-US" dirty="0"/>
                            <a:t>1</a:t>
                          </a:r>
                          <a:endParaRPr lang="hi-IN" dirty="0"/>
                        </a:p>
                      </a:txBody>
                      <a:tcPr/>
                    </a:tc>
                    <a:extLst>
                      <a:ext uri="{0D108BD9-81ED-4DB2-BD59-A6C34878D82A}">
                        <a16:rowId xmlns:a16="http://schemas.microsoft.com/office/drawing/2014/main" val="1990191915"/>
                      </a:ext>
                    </a:extLst>
                  </a:tr>
                </a:tbl>
              </a:graphicData>
            </a:graphic>
          </p:graphicFrame>
          <p:sp>
            <p:nvSpPr>
              <p:cNvPr id="8" name="TextBox 7">
                <a:extLst>
                  <a:ext uri="{FF2B5EF4-FFF2-40B4-BE49-F238E27FC236}">
                    <a16:creationId xmlns:a16="http://schemas.microsoft.com/office/drawing/2014/main" id="{1766D865-B769-4AAF-A2F3-86D4DCDECCF2}"/>
                  </a:ext>
                </a:extLst>
              </p:cNvPr>
              <p:cNvSpPr txBox="1"/>
              <p:nvPr/>
            </p:nvSpPr>
            <p:spPr>
              <a:xfrm>
                <a:off x="467360" y="4734560"/>
                <a:ext cx="1320800" cy="923330"/>
              </a:xfrm>
              <a:prstGeom prst="rect">
                <a:avLst/>
              </a:prstGeom>
              <a:noFill/>
            </p:spPr>
            <p:txBody>
              <a:bodyPr wrap="square" rtlCol="0">
                <a:spAutoFit/>
              </a:bodyPr>
              <a:lstStyle/>
              <a:p>
                <a:r>
                  <a:rPr lang="en-US" b="1" dirty="0"/>
                  <a:t>Sorted based on Value Index</a:t>
                </a:r>
                <a:endParaRPr lang="hi-IN" b="1" dirty="0"/>
              </a:p>
            </p:txBody>
          </p:sp>
          <p:sp>
            <p:nvSpPr>
              <p:cNvPr id="16" name="TextBox 15">
                <a:extLst>
                  <a:ext uri="{FF2B5EF4-FFF2-40B4-BE49-F238E27FC236}">
                    <a16:creationId xmlns:a16="http://schemas.microsoft.com/office/drawing/2014/main" id="{D856DC3E-E909-4357-935F-75281747B93D}"/>
                  </a:ext>
                </a:extLst>
              </p:cNvPr>
              <p:cNvSpPr txBox="1"/>
              <p:nvPr/>
            </p:nvSpPr>
            <p:spPr>
              <a:xfrm>
                <a:off x="1249680" y="1767840"/>
                <a:ext cx="1270000" cy="369332"/>
              </a:xfrm>
              <a:prstGeom prst="rect">
                <a:avLst/>
              </a:prstGeom>
              <a:noFill/>
            </p:spPr>
            <p:txBody>
              <a:bodyPr wrap="square" rtlCol="0">
                <a:spAutoFit/>
              </a:bodyPr>
              <a:lstStyle/>
              <a:p>
                <a:r>
                  <a:rPr lang="en-US" b="1" dirty="0"/>
                  <a:t>W=  25</a:t>
                </a:r>
                <a:endParaRPr lang="hi-IN" b="1" dirty="0"/>
              </a:p>
            </p:txBody>
          </p:sp>
        </p:grpSp>
      </p:grpSp>
      <p:sp>
        <p:nvSpPr>
          <p:cNvPr id="17" name="TextBox 16">
            <a:extLst>
              <a:ext uri="{FF2B5EF4-FFF2-40B4-BE49-F238E27FC236}">
                <a16:creationId xmlns:a16="http://schemas.microsoft.com/office/drawing/2014/main" id="{169A80C2-C53F-4A2B-983A-10ACAA1812C0}"/>
              </a:ext>
            </a:extLst>
          </p:cNvPr>
          <p:cNvSpPr txBox="1"/>
          <p:nvPr/>
        </p:nvSpPr>
        <p:spPr>
          <a:xfrm>
            <a:off x="3794760" y="1484809"/>
            <a:ext cx="2301240" cy="646331"/>
          </a:xfrm>
          <a:prstGeom prst="rect">
            <a:avLst/>
          </a:prstGeom>
          <a:noFill/>
          <a:ln>
            <a:solidFill>
              <a:schemeClr val="tx1"/>
            </a:solidFill>
          </a:ln>
        </p:spPr>
        <p:txBody>
          <a:bodyPr wrap="square" rtlCol="0">
            <a:spAutoFit/>
          </a:bodyPr>
          <a:lstStyle/>
          <a:p>
            <a:pPr algn="ctr"/>
            <a:r>
              <a:rPr lang="en-US" b="1" dirty="0"/>
              <a:t>w=10, v=18</a:t>
            </a:r>
          </a:p>
          <a:p>
            <a:pPr algn="ctr"/>
            <a:r>
              <a:rPr lang="en-US" b="1" dirty="0"/>
              <a:t>b=18+(25-10)*1.8 = 45</a:t>
            </a:r>
            <a:endParaRPr lang="hi-IN" b="1" dirty="0"/>
          </a:p>
        </p:txBody>
      </p:sp>
      <p:sp>
        <p:nvSpPr>
          <p:cNvPr id="18" name="TextBox 17">
            <a:extLst>
              <a:ext uri="{FF2B5EF4-FFF2-40B4-BE49-F238E27FC236}">
                <a16:creationId xmlns:a16="http://schemas.microsoft.com/office/drawing/2014/main" id="{45CF5AA8-430B-4E31-8059-5C059F0F3010}"/>
              </a:ext>
            </a:extLst>
          </p:cNvPr>
          <p:cNvSpPr txBox="1"/>
          <p:nvPr/>
        </p:nvSpPr>
        <p:spPr>
          <a:xfrm>
            <a:off x="6619240" y="1437547"/>
            <a:ext cx="2301240" cy="646331"/>
          </a:xfrm>
          <a:prstGeom prst="rect">
            <a:avLst/>
          </a:prstGeom>
          <a:noFill/>
          <a:ln>
            <a:solidFill>
              <a:schemeClr val="tx1"/>
            </a:solidFill>
          </a:ln>
        </p:spPr>
        <p:txBody>
          <a:bodyPr wrap="square" rtlCol="0">
            <a:spAutoFit/>
          </a:bodyPr>
          <a:lstStyle/>
          <a:p>
            <a:pPr algn="ctr"/>
            <a:r>
              <a:rPr lang="en-US" b="1" dirty="0"/>
              <a:t>w=0, v=0</a:t>
            </a:r>
          </a:p>
          <a:p>
            <a:pPr algn="ctr"/>
            <a:r>
              <a:rPr lang="en-US" b="1" dirty="0"/>
              <a:t>b=0+(25-0)*1.8 = 45</a:t>
            </a:r>
            <a:endParaRPr lang="hi-IN" b="1" dirty="0"/>
          </a:p>
        </p:txBody>
      </p:sp>
      <p:sp>
        <p:nvSpPr>
          <p:cNvPr id="19" name="TextBox 18">
            <a:extLst>
              <a:ext uri="{FF2B5EF4-FFF2-40B4-BE49-F238E27FC236}">
                <a16:creationId xmlns:a16="http://schemas.microsoft.com/office/drawing/2014/main" id="{7C9BDD9A-F5CB-4D65-86C4-5FEF1432534D}"/>
              </a:ext>
            </a:extLst>
          </p:cNvPr>
          <p:cNvSpPr txBox="1"/>
          <p:nvPr/>
        </p:nvSpPr>
        <p:spPr>
          <a:xfrm>
            <a:off x="3665478" y="972488"/>
            <a:ext cx="1279902" cy="369332"/>
          </a:xfrm>
          <a:prstGeom prst="rect">
            <a:avLst/>
          </a:prstGeom>
          <a:noFill/>
        </p:spPr>
        <p:txBody>
          <a:bodyPr wrap="none" rtlCol="0">
            <a:spAutoFit/>
          </a:bodyPr>
          <a:lstStyle/>
          <a:p>
            <a:r>
              <a:rPr lang="en-US" b="1" dirty="0"/>
              <a:t>with Item 2</a:t>
            </a:r>
            <a:endParaRPr lang="hi-IN" b="1" dirty="0"/>
          </a:p>
        </p:txBody>
      </p:sp>
      <p:sp>
        <p:nvSpPr>
          <p:cNvPr id="20" name="TextBox 19">
            <a:extLst>
              <a:ext uri="{FF2B5EF4-FFF2-40B4-BE49-F238E27FC236}">
                <a16:creationId xmlns:a16="http://schemas.microsoft.com/office/drawing/2014/main" id="{091BE2AC-BFB6-4BE4-8504-E32DF0051E26}"/>
              </a:ext>
            </a:extLst>
          </p:cNvPr>
          <p:cNvSpPr txBox="1"/>
          <p:nvPr/>
        </p:nvSpPr>
        <p:spPr>
          <a:xfrm>
            <a:off x="7310120" y="911697"/>
            <a:ext cx="1606915" cy="369332"/>
          </a:xfrm>
          <a:prstGeom prst="rect">
            <a:avLst/>
          </a:prstGeom>
          <a:noFill/>
        </p:spPr>
        <p:txBody>
          <a:bodyPr wrap="none" rtlCol="0">
            <a:spAutoFit/>
          </a:bodyPr>
          <a:lstStyle/>
          <a:p>
            <a:r>
              <a:rPr lang="en-US" b="1" dirty="0"/>
              <a:t>without Item 2</a:t>
            </a:r>
            <a:endParaRPr lang="hi-IN" b="1" dirty="0"/>
          </a:p>
        </p:txBody>
      </p:sp>
      <p:cxnSp>
        <p:nvCxnSpPr>
          <p:cNvPr id="22" name="Straight Arrow Connector 21">
            <a:extLst>
              <a:ext uri="{FF2B5EF4-FFF2-40B4-BE49-F238E27FC236}">
                <a16:creationId xmlns:a16="http://schemas.microsoft.com/office/drawing/2014/main" id="{B542B4FF-E1BA-4E3E-B524-C1B10D599922}"/>
              </a:ext>
            </a:extLst>
          </p:cNvPr>
          <p:cNvCxnSpPr>
            <a:stCxn id="14" idx="2"/>
            <a:endCxn id="17" idx="0"/>
          </p:cNvCxnSpPr>
          <p:nvPr/>
        </p:nvCxnSpPr>
        <p:spPr>
          <a:xfrm flipH="1">
            <a:off x="4945380" y="941431"/>
            <a:ext cx="1150620" cy="5433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52AF3744-60EF-4D60-87C1-F9F86DEA8C26}"/>
              </a:ext>
            </a:extLst>
          </p:cNvPr>
          <p:cNvCxnSpPr>
            <a:stCxn id="14" idx="2"/>
            <a:endCxn id="18" idx="0"/>
          </p:cNvCxnSpPr>
          <p:nvPr/>
        </p:nvCxnSpPr>
        <p:spPr>
          <a:xfrm>
            <a:off x="6096000" y="941431"/>
            <a:ext cx="1673860" cy="4961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Oval 26">
            <a:extLst>
              <a:ext uri="{FF2B5EF4-FFF2-40B4-BE49-F238E27FC236}">
                <a16:creationId xmlns:a16="http://schemas.microsoft.com/office/drawing/2014/main" id="{D7217E61-25E1-4A2C-AB73-39D5B9CE4F0B}"/>
              </a:ext>
            </a:extLst>
          </p:cNvPr>
          <p:cNvSpPr/>
          <p:nvPr/>
        </p:nvSpPr>
        <p:spPr>
          <a:xfrm>
            <a:off x="3769361" y="1141399"/>
            <a:ext cx="2825516" cy="132556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31" name="TextBox 30">
            <a:extLst>
              <a:ext uri="{FF2B5EF4-FFF2-40B4-BE49-F238E27FC236}">
                <a16:creationId xmlns:a16="http://schemas.microsoft.com/office/drawing/2014/main" id="{BE0CAEBE-E2BA-461B-9CB6-E9EB48744988}"/>
              </a:ext>
            </a:extLst>
          </p:cNvPr>
          <p:cNvSpPr txBox="1"/>
          <p:nvPr/>
        </p:nvSpPr>
        <p:spPr>
          <a:xfrm>
            <a:off x="2781248" y="2678131"/>
            <a:ext cx="2301240" cy="646331"/>
          </a:xfrm>
          <a:prstGeom prst="rect">
            <a:avLst/>
          </a:prstGeom>
          <a:noFill/>
          <a:ln>
            <a:solidFill>
              <a:schemeClr val="tx1"/>
            </a:solidFill>
          </a:ln>
        </p:spPr>
        <p:txBody>
          <a:bodyPr wrap="square" rtlCol="0">
            <a:spAutoFit/>
          </a:bodyPr>
          <a:lstStyle/>
          <a:p>
            <a:pPr algn="ctr"/>
            <a:r>
              <a:rPr lang="en-US" b="1" dirty="0"/>
              <a:t>w=20, v=36</a:t>
            </a:r>
          </a:p>
          <a:p>
            <a:pPr algn="ctr"/>
            <a:r>
              <a:rPr lang="en-US" b="1" dirty="0"/>
              <a:t>b=36+(25-20)*1.4 = 43</a:t>
            </a:r>
            <a:endParaRPr lang="hi-IN" b="1" dirty="0"/>
          </a:p>
        </p:txBody>
      </p:sp>
      <p:sp>
        <p:nvSpPr>
          <p:cNvPr id="32" name="TextBox 31">
            <a:extLst>
              <a:ext uri="{FF2B5EF4-FFF2-40B4-BE49-F238E27FC236}">
                <a16:creationId xmlns:a16="http://schemas.microsoft.com/office/drawing/2014/main" id="{E3DF4C9F-D15A-4024-BF16-4F61157B48B5}"/>
              </a:ext>
            </a:extLst>
          </p:cNvPr>
          <p:cNvSpPr txBox="1"/>
          <p:nvPr/>
        </p:nvSpPr>
        <p:spPr>
          <a:xfrm>
            <a:off x="5605728" y="2630869"/>
            <a:ext cx="2301240" cy="646331"/>
          </a:xfrm>
          <a:prstGeom prst="rect">
            <a:avLst/>
          </a:prstGeom>
          <a:noFill/>
          <a:ln>
            <a:solidFill>
              <a:schemeClr val="tx1"/>
            </a:solidFill>
          </a:ln>
        </p:spPr>
        <p:txBody>
          <a:bodyPr wrap="square" rtlCol="0">
            <a:spAutoFit/>
          </a:bodyPr>
          <a:lstStyle/>
          <a:p>
            <a:pPr algn="ctr"/>
            <a:r>
              <a:rPr lang="en-US" b="1" dirty="0"/>
              <a:t>w=10, v=18</a:t>
            </a:r>
          </a:p>
          <a:p>
            <a:pPr algn="ctr"/>
            <a:r>
              <a:rPr lang="en-US" b="1" dirty="0"/>
              <a:t>b=18+(25-10)*1.4 = 39</a:t>
            </a:r>
            <a:endParaRPr lang="hi-IN" b="1" dirty="0"/>
          </a:p>
        </p:txBody>
      </p:sp>
      <p:cxnSp>
        <p:nvCxnSpPr>
          <p:cNvPr id="33" name="Straight Arrow Connector 32">
            <a:extLst>
              <a:ext uri="{FF2B5EF4-FFF2-40B4-BE49-F238E27FC236}">
                <a16:creationId xmlns:a16="http://schemas.microsoft.com/office/drawing/2014/main" id="{64BB5920-06D3-4B2F-9831-B5C3B34AC36D}"/>
              </a:ext>
            </a:extLst>
          </p:cNvPr>
          <p:cNvCxnSpPr>
            <a:endCxn id="31" idx="0"/>
          </p:cNvCxnSpPr>
          <p:nvPr/>
        </p:nvCxnSpPr>
        <p:spPr>
          <a:xfrm flipH="1">
            <a:off x="3931868" y="2134753"/>
            <a:ext cx="1150620" cy="5433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0B0B4CEF-F046-4E41-A51D-528382FB67C8}"/>
              </a:ext>
            </a:extLst>
          </p:cNvPr>
          <p:cNvCxnSpPr>
            <a:cxnSpLocks/>
            <a:endCxn id="32" idx="0"/>
          </p:cNvCxnSpPr>
          <p:nvPr/>
        </p:nvCxnSpPr>
        <p:spPr>
          <a:xfrm>
            <a:off x="5082488" y="2134753"/>
            <a:ext cx="1673860" cy="4961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9CBB08B2-A91F-44EA-BB2F-F03B58C428FA}"/>
              </a:ext>
            </a:extLst>
          </p:cNvPr>
          <p:cNvSpPr txBox="1"/>
          <p:nvPr/>
        </p:nvSpPr>
        <p:spPr>
          <a:xfrm>
            <a:off x="2746958" y="2176614"/>
            <a:ext cx="1279902" cy="369332"/>
          </a:xfrm>
          <a:prstGeom prst="rect">
            <a:avLst/>
          </a:prstGeom>
          <a:noFill/>
        </p:spPr>
        <p:txBody>
          <a:bodyPr wrap="none" rtlCol="0">
            <a:spAutoFit/>
          </a:bodyPr>
          <a:lstStyle/>
          <a:p>
            <a:r>
              <a:rPr lang="en-US" b="1" dirty="0"/>
              <a:t>with Item 3</a:t>
            </a:r>
            <a:endParaRPr lang="hi-IN" b="1" dirty="0"/>
          </a:p>
        </p:txBody>
      </p:sp>
      <p:sp>
        <p:nvSpPr>
          <p:cNvPr id="40" name="TextBox 39">
            <a:extLst>
              <a:ext uri="{FF2B5EF4-FFF2-40B4-BE49-F238E27FC236}">
                <a16:creationId xmlns:a16="http://schemas.microsoft.com/office/drawing/2014/main" id="{F7D239E3-4F3E-4972-B8B0-182D87D85FE8}"/>
              </a:ext>
            </a:extLst>
          </p:cNvPr>
          <p:cNvSpPr txBox="1"/>
          <p:nvPr/>
        </p:nvSpPr>
        <p:spPr>
          <a:xfrm>
            <a:off x="6373949" y="2087352"/>
            <a:ext cx="1606915" cy="369332"/>
          </a:xfrm>
          <a:prstGeom prst="rect">
            <a:avLst/>
          </a:prstGeom>
          <a:noFill/>
        </p:spPr>
        <p:txBody>
          <a:bodyPr wrap="none" rtlCol="0">
            <a:spAutoFit/>
          </a:bodyPr>
          <a:lstStyle/>
          <a:p>
            <a:r>
              <a:rPr lang="en-US" b="1" dirty="0"/>
              <a:t>without Item 3</a:t>
            </a:r>
            <a:endParaRPr lang="hi-IN" b="1" dirty="0"/>
          </a:p>
        </p:txBody>
      </p:sp>
      <p:sp>
        <p:nvSpPr>
          <p:cNvPr id="41" name="Oval 40">
            <a:extLst>
              <a:ext uri="{FF2B5EF4-FFF2-40B4-BE49-F238E27FC236}">
                <a16:creationId xmlns:a16="http://schemas.microsoft.com/office/drawing/2014/main" id="{DB1FD52A-D587-4EAF-8E4A-9A9644181068}"/>
              </a:ext>
            </a:extLst>
          </p:cNvPr>
          <p:cNvSpPr/>
          <p:nvPr/>
        </p:nvSpPr>
        <p:spPr>
          <a:xfrm>
            <a:off x="6447246" y="1043428"/>
            <a:ext cx="2825516" cy="132556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42" name="TextBox 41">
            <a:extLst>
              <a:ext uri="{FF2B5EF4-FFF2-40B4-BE49-F238E27FC236}">
                <a16:creationId xmlns:a16="http://schemas.microsoft.com/office/drawing/2014/main" id="{B938F9DE-0D42-4819-8424-4262AC69A0E9}"/>
              </a:ext>
            </a:extLst>
          </p:cNvPr>
          <p:cNvSpPr txBox="1"/>
          <p:nvPr/>
        </p:nvSpPr>
        <p:spPr>
          <a:xfrm>
            <a:off x="7970189" y="2685689"/>
            <a:ext cx="1279902" cy="369332"/>
          </a:xfrm>
          <a:prstGeom prst="rect">
            <a:avLst/>
          </a:prstGeom>
          <a:noFill/>
        </p:spPr>
        <p:txBody>
          <a:bodyPr wrap="none" rtlCol="0">
            <a:spAutoFit/>
          </a:bodyPr>
          <a:lstStyle/>
          <a:p>
            <a:r>
              <a:rPr lang="en-US" b="1" dirty="0"/>
              <a:t>with Item 3</a:t>
            </a:r>
            <a:endParaRPr lang="hi-IN" b="1" dirty="0"/>
          </a:p>
        </p:txBody>
      </p:sp>
      <p:sp>
        <p:nvSpPr>
          <p:cNvPr id="43" name="TextBox 42">
            <a:extLst>
              <a:ext uri="{FF2B5EF4-FFF2-40B4-BE49-F238E27FC236}">
                <a16:creationId xmlns:a16="http://schemas.microsoft.com/office/drawing/2014/main" id="{586FBF3E-ACD3-4CDA-A69F-F83B1509E464}"/>
              </a:ext>
            </a:extLst>
          </p:cNvPr>
          <p:cNvSpPr txBox="1"/>
          <p:nvPr/>
        </p:nvSpPr>
        <p:spPr>
          <a:xfrm>
            <a:off x="10043002" y="2371246"/>
            <a:ext cx="1606915" cy="369332"/>
          </a:xfrm>
          <a:prstGeom prst="rect">
            <a:avLst/>
          </a:prstGeom>
          <a:noFill/>
        </p:spPr>
        <p:txBody>
          <a:bodyPr wrap="none" rtlCol="0">
            <a:spAutoFit/>
          </a:bodyPr>
          <a:lstStyle/>
          <a:p>
            <a:r>
              <a:rPr lang="en-US" b="1" dirty="0"/>
              <a:t>without Item 3</a:t>
            </a:r>
            <a:endParaRPr lang="hi-IN" b="1" dirty="0"/>
          </a:p>
        </p:txBody>
      </p:sp>
      <p:cxnSp>
        <p:nvCxnSpPr>
          <p:cNvPr id="44" name="Straight Arrow Connector 43">
            <a:extLst>
              <a:ext uri="{FF2B5EF4-FFF2-40B4-BE49-F238E27FC236}">
                <a16:creationId xmlns:a16="http://schemas.microsoft.com/office/drawing/2014/main" id="{3422F470-5E8F-4F02-B4BF-C1B6B7B2444F}"/>
              </a:ext>
            </a:extLst>
          </p:cNvPr>
          <p:cNvCxnSpPr>
            <a:cxnSpLocks/>
            <a:endCxn id="50" idx="0"/>
          </p:cNvCxnSpPr>
          <p:nvPr/>
        </p:nvCxnSpPr>
        <p:spPr>
          <a:xfrm>
            <a:off x="7939493" y="2083878"/>
            <a:ext cx="104935" cy="14969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A50683B5-295B-4144-B8A9-C5AFA6EBE44A}"/>
              </a:ext>
            </a:extLst>
          </p:cNvPr>
          <p:cNvCxnSpPr>
            <a:cxnSpLocks/>
            <a:endCxn id="52" idx="0"/>
          </p:cNvCxnSpPr>
          <p:nvPr/>
        </p:nvCxnSpPr>
        <p:spPr>
          <a:xfrm>
            <a:off x="7939493" y="2099038"/>
            <a:ext cx="2906966" cy="14226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0C11634A-6299-45E3-BE59-4FCB944D09C7}"/>
              </a:ext>
            </a:extLst>
          </p:cNvPr>
          <p:cNvSpPr txBox="1"/>
          <p:nvPr/>
        </p:nvSpPr>
        <p:spPr>
          <a:xfrm>
            <a:off x="6893808" y="3580801"/>
            <a:ext cx="2301240" cy="646331"/>
          </a:xfrm>
          <a:prstGeom prst="rect">
            <a:avLst/>
          </a:prstGeom>
          <a:noFill/>
          <a:ln>
            <a:solidFill>
              <a:schemeClr val="tx1"/>
            </a:solidFill>
          </a:ln>
        </p:spPr>
        <p:txBody>
          <a:bodyPr wrap="square" rtlCol="0">
            <a:spAutoFit/>
          </a:bodyPr>
          <a:lstStyle/>
          <a:p>
            <a:pPr algn="ctr"/>
            <a:r>
              <a:rPr lang="en-US" b="1" dirty="0"/>
              <a:t>w=10, v=18</a:t>
            </a:r>
          </a:p>
          <a:p>
            <a:pPr algn="ctr"/>
            <a:r>
              <a:rPr lang="en-US" b="1" dirty="0"/>
              <a:t>b=18+(25-10)*1.4 = 39</a:t>
            </a:r>
            <a:endParaRPr lang="hi-IN" b="1" dirty="0"/>
          </a:p>
        </p:txBody>
      </p:sp>
      <p:sp>
        <p:nvSpPr>
          <p:cNvPr id="52" name="TextBox 51">
            <a:extLst>
              <a:ext uri="{FF2B5EF4-FFF2-40B4-BE49-F238E27FC236}">
                <a16:creationId xmlns:a16="http://schemas.microsoft.com/office/drawing/2014/main" id="{0D9F4176-88AD-4DA5-A3B0-A66B5EEAE297}"/>
              </a:ext>
            </a:extLst>
          </p:cNvPr>
          <p:cNvSpPr txBox="1"/>
          <p:nvPr/>
        </p:nvSpPr>
        <p:spPr>
          <a:xfrm>
            <a:off x="9695839" y="3521711"/>
            <a:ext cx="2301240" cy="646331"/>
          </a:xfrm>
          <a:prstGeom prst="rect">
            <a:avLst/>
          </a:prstGeom>
          <a:noFill/>
          <a:ln>
            <a:solidFill>
              <a:schemeClr val="tx1"/>
            </a:solidFill>
          </a:ln>
        </p:spPr>
        <p:txBody>
          <a:bodyPr wrap="square" rtlCol="0">
            <a:spAutoFit/>
          </a:bodyPr>
          <a:lstStyle/>
          <a:p>
            <a:pPr algn="ctr"/>
            <a:r>
              <a:rPr lang="en-US" b="1" dirty="0"/>
              <a:t>w=0, v=0</a:t>
            </a:r>
          </a:p>
          <a:p>
            <a:pPr algn="ctr"/>
            <a:r>
              <a:rPr lang="en-US" b="1" dirty="0"/>
              <a:t>b=0+(25-0)*1.4 = 35</a:t>
            </a:r>
            <a:endParaRPr lang="hi-IN" b="1" dirty="0"/>
          </a:p>
        </p:txBody>
      </p:sp>
      <p:sp>
        <p:nvSpPr>
          <p:cNvPr id="57" name="Oval 56">
            <a:extLst>
              <a:ext uri="{FF2B5EF4-FFF2-40B4-BE49-F238E27FC236}">
                <a16:creationId xmlns:a16="http://schemas.microsoft.com/office/drawing/2014/main" id="{E1596BA7-BFD7-4EEE-B916-5BB7554EF5D0}"/>
              </a:ext>
            </a:extLst>
          </p:cNvPr>
          <p:cNvSpPr/>
          <p:nvPr/>
        </p:nvSpPr>
        <p:spPr>
          <a:xfrm>
            <a:off x="2473962" y="2338830"/>
            <a:ext cx="2825516" cy="132556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cxnSp>
        <p:nvCxnSpPr>
          <p:cNvPr id="58" name="Straight Arrow Connector 57">
            <a:extLst>
              <a:ext uri="{FF2B5EF4-FFF2-40B4-BE49-F238E27FC236}">
                <a16:creationId xmlns:a16="http://schemas.microsoft.com/office/drawing/2014/main" id="{B8307D93-1F20-4A1B-B95C-DB617F74534E}"/>
              </a:ext>
            </a:extLst>
          </p:cNvPr>
          <p:cNvCxnSpPr/>
          <p:nvPr/>
        </p:nvCxnSpPr>
        <p:spPr>
          <a:xfrm flipH="1">
            <a:off x="2614697" y="3332178"/>
            <a:ext cx="1150620" cy="5433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Straight Arrow Connector 58">
            <a:extLst>
              <a:ext uri="{FF2B5EF4-FFF2-40B4-BE49-F238E27FC236}">
                <a16:creationId xmlns:a16="http://schemas.microsoft.com/office/drawing/2014/main" id="{3BA7329C-2C38-49CE-92AF-C60982EDB007}"/>
              </a:ext>
            </a:extLst>
          </p:cNvPr>
          <p:cNvCxnSpPr>
            <a:cxnSpLocks/>
          </p:cNvCxnSpPr>
          <p:nvPr/>
        </p:nvCxnSpPr>
        <p:spPr>
          <a:xfrm>
            <a:off x="3765317" y="3332178"/>
            <a:ext cx="1673860" cy="4961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TextBox 59">
            <a:extLst>
              <a:ext uri="{FF2B5EF4-FFF2-40B4-BE49-F238E27FC236}">
                <a16:creationId xmlns:a16="http://schemas.microsoft.com/office/drawing/2014/main" id="{CEFE4928-187B-4ACD-AB32-AA6A7EE43BBD}"/>
              </a:ext>
            </a:extLst>
          </p:cNvPr>
          <p:cNvSpPr txBox="1"/>
          <p:nvPr/>
        </p:nvSpPr>
        <p:spPr>
          <a:xfrm>
            <a:off x="1614846" y="3374039"/>
            <a:ext cx="1279902" cy="369332"/>
          </a:xfrm>
          <a:prstGeom prst="rect">
            <a:avLst/>
          </a:prstGeom>
          <a:noFill/>
        </p:spPr>
        <p:txBody>
          <a:bodyPr wrap="none" rtlCol="0">
            <a:spAutoFit/>
          </a:bodyPr>
          <a:lstStyle/>
          <a:p>
            <a:r>
              <a:rPr lang="en-US" b="1" dirty="0"/>
              <a:t>with Item 4</a:t>
            </a:r>
            <a:endParaRPr lang="hi-IN" b="1" dirty="0"/>
          </a:p>
        </p:txBody>
      </p:sp>
      <p:sp>
        <p:nvSpPr>
          <p:cNvPr id="61" name="TextBox 60">
            <a:extLst>
              <a:ext uri="{FF2B5EF4-FFF2-40B4-BE49-F238E27FC236}">
                <a16:creationId xmlns:a16="http://schemas.microsoft.com/office/drawing/2014/main" id="{0BD0C2E2-6C18-462C-98CF-967750E91F01}"/>
              </a:ext>
            </a:extLst>
          </p:cNvPr>
          <p:cNvSpPr txBox="1"/>
          <p:nvPr/>
        </p:nvSpPr>
        <p:spPr>
          <a:xfrm>
            <a:off x="5056778" y="3284777"/>
            <a:ext cx="1606915" cy="369332"/>
          </a:xfrm>
          <a:prstGeom prst="rect">
            <a:avLst/>
          </a:prstGeom>
          <a:noFill/>
        </p:spPr>
        <p:txBody>
          <a:bodyPr wrap="none" rtlCol="0">
            <a:spAutoFit/>
          </a:bodyPr>
          <a:lstStyle/>
          <a:p>
            <a:r>
              <a:rPr lang="en-US" b="1" dirty="0"/>
              <a:t>without Item 4</a:t>
            </a:r>
            <a:endParaRPr lang="hi-IN" b="1" dirty="0"/>
          </a:p>
        </p:txBody>
      </p:sp>
      <p:sp>
        <p:nvSpPr>
          <p:cNvPr id="62" name="TextBox 61">
            <a:extLst>
              <a:ext uri="{FF2B5EF4-FFF2-40B4-BE49-F238E27FC236}">
                <a16:creationId xmlns:a16="http://schemas.microsoft.com/office/drawing/2014/main" id="{62ED8CB8-1BD4-4D28-90FB-7F2D363F49C8}"/>
              </a:ext>
            </a:extLst>
          </p:cNvPr>
          <p:cNvSpPr txBox="1"/>
          <p:nvPr/>
        </p:nvSpPr>
        <p:spPr>
          <a:xfrm>
            <a:off x="1630628" y="3875556"/>
            <a:ext cx="2301240" cy="646331"/>
          </a:xfrm>
          <a:prstGeom prst="rect">
            <a:avLst/>
          </a:prstGeom>
          <a:noFill/>
          <a:ln>
            <a:solidFill>
              <a:schemeClr val="tx1"/>
            </a:solidFill>
          </a:ln>
        </p:spPr>
        <p:txBody>
          <a:bodyPr wrap="square" rtlCol="0">
            <a:spAutoFit/>
          </a:bodyPr>
          <a:lstStyle/>
          <a:p>
            <a:pPr algn="ctr"/>
            <a:r>
              <a:rPr lang="en-US" b="1" dirty="0"/>
              <a:t>w=27, exceeds sack capacity</a:t>
            </a:r>
            <a:endParaRPr lang="hi-IN" b="1" dirty="0"/>
          </a:p>
        </p:txBody>
      </p:sp>
      <p:sp>
        <p:nvSpPr>
          <p:cNvPr id="63" name="TextBox 62">
            <a:extLst>
              <a:ext uri="{FF2B5EF4-FFF2-40B4-BE49-F238E27FC236}">
                <a16:creationId xmlns:a16="http://schemas.microsoft.com/office/drawing/2014/main" id="{F90FD8C8-8EA8-4713-9B9E-CF75987F4B50}"/>
              </a:ext>
            </a:extLst>
          </p:cNvPr>
          <p:cNvSpPr txBox="1"/>
          <p:nvPr/>
        </p:nvSpPr>
        <p:spPr>
          <a:xfrm>
            <a:off x="4235879" y="3828406"/>
            <a:ext cx="2301240" cy="646331"/>
          </a:xfrm>
          <a:prstGeom prst="rect">
            <a:avLst/>
          </a:prstGeom>
          <a:noFill/>
          <a:ln>
            <a:solidFill>
              <a:schemeClr val="tx1"/>
            </a:solidFill>
          </a:ln>
        </p:spPr>
        <p:txBody>
          <a:bodyPr wrap="square" rtlCol="0">
            <a:spAutoFit/>
          </a:bodyPr>
          <a:lstStyle/>
          <a:p>
            <a:pPr algn="ctr"/>
            <a:r>
              <a:rPr lang="en-US" b="1" dirty="0"/>
              <a:t>w=20, v=36</a:t>
            </a:r>
          </a:p>
          <a:p>
            <a:pPr algn="ctr"/>
            <a:r>
              <a:rPr lang="en-US" b="1" dirty="0"/>
              <a:t>b=36+(25-20)*1 = 41</a:t>
            </a:r>
            <a:endParaRPr lang="hi-IN" b="1" dirty="0"/>
          </a:p>
        </p:txBody>
      </p:sp>
      <p:sp>
        <p:nvSpPr>
          <p:cNvPr id="64" name="Oval 63">
            <a:extLst>
              <a:ext uri="{FF2B5EF4-FFF2-40B4-BE49-F238E27FC236}">
                <a16:creationId xmlns:a16="http://schemas.microsoft.com/office/drawing/2014/main" id="{26DF8538-A952-454F-AB0C-2E0CA1704499}"/>
              </a:ext>
            </a:extLst>
          </p:cNvPr>
          <p:cNvSpPr/>
          <p:nvPr/>
        </p:nvSpPr>
        <p:spPr>
          <a:xfrm>
            <a:off x="4031124" y="3518659"/>
            <a:ext cx="2825516" cy="132556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cxnSp>
        <p:nvCxnSpPr>
          <p:cNvPr id="68" name="Straight Arrow Connector 67">
            <a:extLst>
              <a:ext uri="{FF2B5EF4-FFF2-40B4-BE49-F238E27FC236}">
                <a16:creationId xmlns:a16="http://schemas.microsoft.com/office/drawing/2014/main" id="{95ED2CF2-5652-4A9A-996B-376A4FFD2088}"/>
              </a:ext>
            </a:extLst>
          </p:cNvPr>
          <p:cNvCxnSpPr>
            <a:cxnSpLocks/>
            <a:stCxn id="63" idx="2"/>
          </p:cNvCxnSpPr>
          <p:nvPr/>
        </p:nvCxnSpPr>
        <p:spPr>
          <a:xfrm>
            <a:off x="5386499" y="4474737"/>
            <a:ext cx="1544036" cy="3877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C1F1B7BD-774B-4C78-8F17-25F2436BB7AA}"/>
              </a:ext>
            </a:extLst>
          </p:cNvPr>
          <p:cNvCxnSpPr/>
          <p:nvPr/>
        </p:nvCxnSpPr>
        <p:spPr>
          <a:xfrm flipH="1">
            <a:off x="4258455" y="4518721"/>
            <a:ext cx="1150620" cy="5433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A73FCD51-74B4-46CC-8700-1AEB691DD323}"/>
              </a:ext>
            </a:extLst>
          </p:cNvPr>
          <p:cNvSpPr txBox="1"/>
          <p:nvPr/>
        </p:nvSpPr>
        <p:spPr>
          <a:xfrm>
            <a:off x="3258604" y="4560582"/>
            <a:ext cx="1279902" cy="369332"/>
          </a:xfrm>
          <a:prstGeom prst="rect">
            <a:avLst/>
          </a:prstGeom>
          <a:noFill/>
        </p:spPr>
        <p:txBody>
          <a:bodyPr wrap="none" rtlCol="0">
            <a:spAutoFit/>
          </a:bodyPr>
          <a:lstStyle/>
          <a:p>
            <a:r>
              <a:rPr lang="en-US" b="1" dirty="0"/>
              <a:t>with Item 1</a:t>
            </a:r>
            <a:endParaRPr lang="hi-IN" b="1" dirty="0"/>
          </a:p>
        </p:txBody>
      </p:sp>
      <p:sp>
        <p:nvSpPr>
          <p:cNvPr id="71" name="TextBox 70">
            <a:extLst>
              <a:ext uri="{FF2B5EF4-FFF2-40B4-BE49-F238E27FC236}">
                <a16:creationId xmlns:a16="http://schemas.microsoft.com/office/drawing/2014/main" id="{EA42D8F7-8948-4966-A2BA-A7AC5C5D4A94}"/>
              </a:ext>
            </a:extLst>
          </p:cNvPr>
          <p:cNvSpPr txBox="1"/>
          <p:nvPr/>
        </p:nvSpPr>
        <p:spPr>
          <a:xfrm>
            <a:off x="6700536" y="4471320"/>
            <a:ext cx="1606915" cy="369332"/>
          </a:xfrm>
          <a:prstGeom prst="rect">
            <a:avLst/>
          </a:prstGeom>
          <a:noFill/>
        </p:spPr>
        <p:txBody>
          <a:bodyPr wrap="none" rtlCol="0">
            <a:spAutoFit/>
          </a:bodyPr>
          <a:lstStyle/>
          <a:p>
            <a:r>
              <a:rPr lang="en-US" b="1" dirty="0"/>
              <a:t>without Item 1</a:t>
            </a:r>
            <a:endParaRPr lang="hi-IN" b="1" dirty="0"/>
          </a:p>
        </p:txBody>
      </p:sp>
      <p:sp>
        <p:nvSpPr>
          <p:cNvPr id="73" name="TextBox 72">
            <a:extLst>
              <a:ext uri="{FF2B5EF4-FFF2-40B4-BE49-F238E27FC236}">
                <a16:creationId xmlns:a16="http://schemas.microsoft.com/office/drawing/2014/main" id="{C618D4FA-0B7B-43F0-A9BF-08E87C420EA2}"/>
              </a:ext>
            </a:extLst>
          </p:cNvPr>
          <p:cNvSpPr txBox="1"/>
          <p:nvPr/>
        </p:nvSpPr>
        <p:spPr>
          <a:xfrm>
            <a:off x="3238811" y="5085268"/>
            <a:ext cx="2301240" cy="646331"/>
          </a:xfrm>
          <a:prstGeom prst="rect">
            <a:avLst/>
          </a:prstGeom>
          <a:noFill/>
          <a:ln>
            <a:solidFill>
              <a:schemeClr val="tx1"/>
            </a:solidFill>
          </a:ln>
        </p:spPr>
        <p:txBody>
          <a:bodyPr wrap="square" rtlCol="0">
            <a:spAutoFit/>
          </a:bodyPr>
          <a:lstStyle/>
          <a:p>
            <a:pPr algn="ctr"/>
            <a:r>
              <a:rPr lang="en-US" b="1" dirty="0"/>
              <a:t>w=44, exceeds sack capacity</a:t>
            </a:r>
            <a:endParaRPr lang="hi-IN" b="1" dirty="0"/>
          </a:p>
        </p:txBody>
      </p:sp>
      <p:sp>
        <p:nvSpPr>
          <p:cNvPr id="74" name="TextBox 73">
            <a:extLst>
              <a:ext uri="{FF2B5EF4-FFF2-40B4-BE49-F238E27FC236}">
                <a16:creationId xmlns:a16="http://schemas.microsoft.com/office/drawing/2014/main" id="{484C049E-FE7B-4F76-8F02-F05C33F06CC9}"/>
              </a:ext>
            </a:extLst>
          </p:cNvPr>
          <p:cNvSpPr txBox="1"/>
          <p:nvPr/>
        </p:nvSpPr>
        <p:spPr>
          <a:xfrm>
            <a:off x="6373949" y="4898528"/>
            <a:ext cx="2301240" cy="646331"/>
          </a:xfrm>
          <a:prstGeom prst="rect">
            <a:avLst/>
          </a:prstGeom>
          <a:noFill/>
          <a:ln>
            <a:solidFill>
              <a:schemeClr val="tx1"/>
            </a:solidFill>
          </a:ln>
        </p:spPr>
        <p:txBody>
          <a:bodyPr wrap="square" rtlCol="0">
            <a:spAutoFit/>
          </a:bodyPr>
          <a:lstStyle/>
          <a:p>
            <a:pPr algn="ctr"/>
            <a:r>
              <a:rPr lang="en-US" b="1" dirty="0"/>
              <a:t>w=20, v=36</a:t>
            </a:r>
          </a:p>
          <a:p>
            <a:pPr algn="ctr"/>
            <a:r>
              <a:rPr lang="en-US" b="1" dirty="0"/>
              <a:t>b=36+(25-20)*0 = 36</a:t>
            </a:r>
            <a:endParaRPr lang="hi-IN" b="1" dirty="0"/>
          </a:p>
        </p:txBody>
      </p:sp>
      <p:sp>
        <p:nvSpPr>
          <p:cNvPr id="75" name="Oval 74">
            <a:extLst>
              <a:ext uri="{FF2B5EF4-FFF2-40B4-BE49-F238E27FC236}">
                <a16:creationId xmlns:a16="http://schemas.microsoft.com/office/drawing/2014/main" id="{D5A265BF-2198-4CE5-8064-705FB0A97425}"/>
              </a:ext>
            </a:extLst>
          </p:cNvPr>
          <p:cNvSpPr/>
          <p:nvPr/>
        </p:nvSpPr>
        <p:spPr>
          <a:xfrm>
            <a:off x="5371035" y="2287882"/>
            <a:ext cx="2825516" cy="132556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Tree>
    <p:extLst>
      <p:ext uri="{BB962C8B-B14F-4D97-AF65-F5344CB8AC3E}">
        <p14:creationId xmlns:p14="http://schemas.microsoft.com/office/powerpoint/2010/main" val="2253526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childTnLst>
                                  <p:subTnLst>
                                    <p:set>
                                      <p:cBhvr override="childStyle">
                                        <p:cTn dur="1" fill="hold" display="0" masterRel="nextClick" afterEffect="1"/>
                                        <p:tgtEl>
                                          <p:spTgt spid="41"/>
                                        </p:tgtEl>
                                        <p:attrNameLst>
                                          <p:attrName>style.visibility</p:attrName>
                                        </p:attrNameLst>
                                      </p:cBhvr>
                                      <p:to>
                                        <p:strVal val="hidden"/>
                                      </p:to>
                                    </p:set>
                                  </p:sub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7"/>
                                        </p:tgtEl>
                                        <p:attrNameLst>
                                          <p:attrName>style.visibility</p:attrName>
                                        </p:attrNameLst>
                                      </p:cBhvr>
                                      <p:to>
                                        <p:strVal val="visible"/>
                                      </p:to>
                                    </p:set>
                                  </p:childTnLst>
                                  <p:subTnLst>
                                    <p:set>
                                      <p:cBhvr override="childStyle">
                                        <p:cTn dur="1" fill="hold" display="0" masterRel="nextClick" afterEffect="1"/>
                                        <p:tgtEl>
                                          <p:spTgt spid="57"/>
                                        </p:tgtEl>
                                        <p:attrNameLst>
                                          <p:attrName>style.visibility</p:attrName>
                                        </p:attrNameLst>
                                      </p:cBhvr>
                                      <p:to>
                                        <p:strVal val="hidden"/>
                                      </p:to>
                                    </p:set>
                                  </p:sub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5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6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6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64"/>
                                        </p:tgtEl>
                                        <p:attrNameLst>
                                          <p:attrName>style.visibility</p:attrName>
                                        </p:attrNameLst>
                                      </p:cBhvr>
                                      <p:to>
                                        <p:strVal val="visible"/>
                                      </p:to>
                                    </p:set>
                                  </p:childTnLst>
                                  <p:subTnLst>
                                    <p:set>
                                      <p:cBhvr override="childStyle">
                                        <p:cTn dur="1" fill="hold" display="0" masterRel="nextClick" afterEffect="1"/>
                                        <p:tgtEl>
                                          <p:spTgt spid="64"/>
                                        </p:tgtEl>
                                        <p:attrNameLst>
                                          <p:attrName>style.visibility</p:attrName>
                                        </p:attrNameLst>
                                      </p:cBhvr>
                                      <p:to>
                                        <p:strVal val="hidden"/>
                                      </p:to>
                                    </p:set>
                                  </p:sub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69"/>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70"/>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68"/>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71"/>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73"/>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7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75"/>
                                        </p:tgtEl>
                                        <p:attrNameLst>
                                          <p:attrName>style.visibility</p:attrName>
                                        </p:attrNameLst>
                                      </p:cBhvr>
                                      <p:to>
                                        <p:strVal val="visible"/>
                                      </p:to>
                                    </p:set>
                                  </p:childTnLst>
                                  <p:subTnLst>
                                    <p:set>
                                      <p:cBhvr override="childStyle">
                                        <p:cTn dur="1" fill="hold" display="0" masterRel="nextClick" afterEffect="1"/>
                                        <p:tgtEl>
                                          <p:spTgt spid="7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7" grpId="0" animBg="1"/>
      <p:bldP spid="18" grpId="0" animBg="1"/>
      <p:bldP spid="19" grpId="0"/>
      <p:bldP spid="20" grpId="0"/>
      <p:bldP spid="27" grpId="0" animBg="1"/>
      <p:bldP spid="31" grpId="0" animBg="1"/>
      <p:bldP spid="32" grpId="0" animBg="1"/>
      <p:bldP spid="39" grpId="0"/>
      <p:bldP spid="40" grpId="0"/>
      <p:bldP spid="41" grpId="0" animBg="1"/>
      <p:bldP spid="42" grpId="0"/>
      <p:bldP spid="43" grpId="0"/>
      <p:bldP spid="50" grpId="0" animBg="1"/>
      <p:bldP spid="52" grpId="0" animBg="1"/>
      <p:bldP spid="57" grpId="0" animBg="1"/>
      <p:bldP spid="60" grpId="0"/>
      <p:bldP spid="61" grpId="0"/>
      <p:bldP spid="62" grpId="0" animBg="1"/>
      <p:bldP spid="63" grpId="0" animBg="1"/>
      <p:bldP spid="64" grpId="0" animBg="1"/>
      <p:bldP spid="70" grpId="0"/>
      <p:bldP spid="71" grpId="0"/>
      <p:bldP spid="73" grpId="0" animBg="1"/>
      <p:bldP spid="74" grpId="0" animBg="1"/>
      <p:bldP spid="7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F8E43-8CE9-4176-B194-E9FD8D3839BC}"/>
              </a:ext>
            </a:extLst>
          </p:cNvPr>
          <p:cNvSpPr>
            <a:spLocks noGrp="1"/>
          </p:cNvSpPr>
          <p:nvPr>
            <p:ph type="title"/>
          </p:nvPr>
        </p:nvSpPr>
        <p:spPr>
          <a:xfrm>
            <a:off x="195943" y="214452"/>
            <a:ext cx="10515600" cy="1325563"/>
          </a:xfrm>
        </p:spPr>
        <p:txBody>
          <a:bodyPr/>
          <a:lstStyle/>
          <a:p>
            <a:r>
              <a:rPr lang="en-US" b="1" dirty="0"/>
              <a:t>Example 2</a:t>
            </a:r>
            <a:br>
              <a:rPr lang="en-US" b="1" dirty="0"/>
            </a:br>
            <a:r>
              <a:rPr lang="en-US" b="1" dirty="0"/>
              <a:t>--</a:t>
            </a:r>
            <a:r>
              <a:rPr lang="en-US" b="1" dirty="0" err="1"/>
              <a:t>contd</a:t>
            </a:r>
            <a:endParaRPr lang="hi-IN" dirty="0"/>
          </a:p>
        </p:txBody>
      </p:sp>
      <p:sp>
        <p:nvSpPr>
          <p:cNvPr id="4" name="Footer Placeholder 3">
            <a:extLst>
              <a:ext uri="{FF2B5EF4-FFF2-40B4-BE49-F238E27FC236}">
                <a16:creationId xmlns:a16="http://schemas.microsoft.com/office/drawing/2014/main" id="{53D656A3-16C5-4B5E-AD3D-CEC75535F79A}"/>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D7894C8F-69AC-4496-958A-69FAE1065E30}"/>
              </a:ext>
            </a:extLst>
          </p:cNvPr>
          <p:cNvSpPr>
            <a:spLocks noGrp="1"/>
          </p:cNvSpPr>
          <p:nvPr>
            <p:ph type="sldNum" sz="quarter" idx="12"/>
          </p:nvPr>
        </p:nvSpPr>
        <p:spPr/>
        <p:txBody>
          <a:bodyPr/>
          <a:lstStyle/>
          <a:p>
            <a:fld id="{F56F9007-E0C6-489E-B603-BD6BB4385429}" type="slidenum">
              <a:rPr lang="hi-IN" smtClean="0"/>
              <a:t>13</a:t>
            </a:fld>
            <a:endParaRPr lang="hi-IN"/>
          </a:p>
        </p:txBody>
      </p:sp>
      <p:pic>
        <p:nvPicPr>
          <p:cNvPr id="6" name="Picture 5">
            <a:extLst>
              <a:ext uri="{FF2B5EF4-FFF2-40B4-BE49-F238E27FC236}">
                <a16:creationId xmlns:a16="http://schemas.microsoft.com/office/drawing/2014/main" id="{F1450E64-7A91-4C86-B28D-B53BC3EB4D52}"/>
              </a:ext>
            </a:extLst>
          </p:cNvPr>
          <p:cNvPicPr>
            <a:picLocks noChangeAspect="1"/>
          </p:cNvPicPr>
          <p:nvPr/>
        </p:nvPicPr>
        <p:blipFill>
          <a:blip r:embed="rId2"/>
          <a:stretch>
            <a:fillRect/>
          </a:stretch>
        </p:blipFill>
        <p:spPr>
          <a:xfrm>
            <a:off x="2820083" y="445184"/>
            <a:ext cx="8100604" cy="3864429"/>
          </a:xfrm>
          <a:prstGeom prst="rect">
            <a:avLst/>
          </a:prstGeom>
        </p:spPr>
      </p:pic>
      <p:sp>
        <p:nvSpPr>
          <p:cNvPr id="7" name="Oval 6">
            <a:extLst>
              <a:ext uri="{FF2B5EF4-FFF2-40B4-BE49-F238E27FC236}">
                <a16:creationId xmlns:a16="http://schemas.microsoft.com/office/drawing/2014/main" id="{B5368FE5-8987-4A57-B2AE-D22D7AF96D37}"/>
              </a:ext>
            </a:extLst>
          </p:cNvPr>
          <p:cNvSpPr/>
          <p:nvPr/>
        </p:nvSpPr>
        <p:spPr>
          <a:xfrm>
            <a:off x="6394292" y="1981243"/>
            <a:ext cx="1911508" cy="79230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cxnSp>
        <p:nvCxnSpPr>
          <p:cNvPr id="11" name="Straight Arrow Connector 10">
            <a:extLst>
              <a:ext uri="{FF2B5EF4-FFF2-40B4-BE49-F238E27FC236}">
                <a16:creationId xmlns:a16="http://schemas.microsoft.com/office/drawing/2014/main" id="{04B58538-ECFD-4AB6-9B24-E8DC9AD405F3}"/>
              </a:ext>
            </a:extLst>
          </p:cNvPr>
          <p:cNvCxnSpPr/>
          <p:nvPr/>
        </p:nvCxnSpPr>
        <p:spPr>
          <a:xfrm flipH="1">
            <a:off x="1839686" y="2569029"/>
            <a:ext cx="5510360" cy="174058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3" name="Straight Arrow Connector 12">
            <a:extLst>
              <a:ext uri="{FF2B5EF4-FFF2-40B4-BE49-F238E27FC236}">
                <a16:creationId xmlns:a16="http://schemas.microsoft.com/office/drawing/2014/main" id="{064A9F8F-8C75-40D9-906C-5B681EC12EC0}"/>
              </a:ext>
            </a:extLst>
          </p:cNvPr>
          <p:cNvCxnSpPr/>
          <p:nvPr/>
        </p:nvCxnSpPr>
        <p:spPr>
          <a:xfrm flipH="1">
            <a:off x="3200400" y="2569029"/>
            <a:ext cx="4073446" cy="1791398"/>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4" name="TextBox 13">
            <a:extLst>
              <a:ext uri="{FF2B5EF4-FFF2-40B4-BE49-F238E27FC236}">
                <a16:creationId xmlns:a16="http://schemas.microsoft.com/office/drawing/2014/main" id="{2F9F3D03-2EE8-4C36-B93B-E166374A3A2C}"/>
              </a:ext>
            </a:extLst>
          </p:cNvPr>
          <p:cNvSpPr txBox="1"/>
          <p:nvPr/>
        </p:nvSpPr>
        <p:spPr>
          <a:xfrm>
            <a:off x="1502211" y="3755615"/>
            <a:ext cx="1279902" cy="369332"/>
          </a:xfrm>
          <a:prstGeom prst="rect">
            <a:avLst/>
          </a:prstGeom>
          <a:noFill/>
        </p:spPr>
        <p:txBody>
          <a:bodyPr wrap="none" rtlCol="0">
            <a:spAutoFit/>
          </a:bodyPr>
          <a:lstStyle/>
          <a:p>
            <a:r>
              <a:rPr lang="en-US" b="1" dirty="0">
                <a:solidFill>
                  <a:srgbClr val="C00000"/>
                </a:solidFill>
              </a:rPr>
              <a:t>with Item 4</a:t>
            </a:r>
            <a:endParaRPr lang="hi-IN" b="1" dirty="0">
              <a:solidFill>
                <a:srgbClr val="C00000"/>
              </a:solidFill>
            </a:endParaRPr>
          </a:p>
        </p:txBody>
      </p:sp>
      <p:sp>
        <p:nvSpPr>
          <p:cNvPr id="16" name="TextBox 15">
            <a:extLst>
              <a:ext uri="{FF2B5EF4-FFF2-40B4-BE49-F238E27FC236}">
                <a16:creationId xmlns:a16="http://schemas.microsoft.com/office/drawing/2014/main" id="{AB4CDD03-76C6-44F7-9A73-9A025B760710}"/>
              </a:ext>
            </a:extLst>
          </p:cNvPr>
          <p:cNvSpPr txBox="1"/>
          <p:nvPr/>
        </p:nvSpPr>
        <p:spPr>
          <a:xfrm>
            <a:off x="3339369" y="3940281"/>
            <a:ext cx="1606915" cy="369332"/>
          </a:xfrm>
          <a:prstGeom prst="rect">
            <a:avLst/>
          </a:prstGeom>
          <a:noFill/>
        </p:spPr>
        <p:txBody>
          <a:bodyPr wrap="square" rtlCol="0">
            <a:spAutoFit/>
          </a:bodyPr>
          <a:lstStyle/>
          <a:p>
            <a:r>
              <a:rPr lang="en-US" b="1" dirty="0">
                <a:solidFill>
                  <a:srgbClr val="C00000"/>
                </a:solidFill>
              </a:rPr>
              <a:t>without Item 4</a:t>
            </a:r>
            <a:endParaRPr lang="hi-IN" b="1" dirty="0">
              <a:solidFill>
                <a:srgbClr val="C00000"/>
              </a:solidFill>
            </a:endParaRPr>
          </a:p>
        </p:txBody>
      </p:sp>
      <p:sp>
        <p:nvSpPr>
          <p:cNvPr id="17" name="TextBox 16">
            <a:extLst>
              <a:ext uri="{FF2B5EF4-FFF2-40B4-BE49-F238E27FC236}">
                <a16:creationId xmlns:a16="http://schemas.microsoft.com/office/drawing/2014/main" id="{3BEBAA52-0E49-4D82-84DA-44877FE9A62E}"/>
              </a:ext>
            </a:extLst>
          </p:cNvPr>
          <p:cNvSpPr txBox="1"/>
          <p:nvPr/>
        </p:nvSpPr>
        <p:spPr>
          <a:xfrm>
            <a:off x="337722" y="4309613"/>
            <a:ext cx="2301240" cy="646331"/>
          </a:xfrm>
          <a:prstGeom prst="rect">
            <a:avLst/>
          </a:prstGeom>
          <a:noFill/>
          <a:ln>
            <a:solidFill>
              <a:schemeClr val="tx1"/>
            </a:solidFill>
          </a:ln>
        </p:spPr>
        <p:txBody>
          <a:bodyPr wrap="square" rtlCol="0">
            <a:spAutoFit/>
          </a:bodyPr>
          <a:lstStyle/>
          <a:p>
            <a:pPr algn="ctr"/>
            <a:r>
              <a:rPr lang="en-US" b="1" dirty="0"/>
              <a:t>w=17, v=28</a:t>
            </a:r>
          </a:p>
          <a:p>
            <a:pPr algn="ctr"/>
            <a:r>
              <a:rPr lang="en-US" b="1" dirty="0"/>
              <a:t>b=28+(25-17)*1 = 36</a:t>
            </a:r>
            <a:endParaRPr lang="hi-IN" b="1" dirty="0"/>
          </a:p>
        </p:txBody>
      </p:sp>
      <p:sp>
        <p:nvSpPr>
          <p:cNvPr id="18" name="TextBox 17">
            <a:extLst>
              <a:ext uri="{FF2B5EF4-FFF2-40B4-BE49-F238E27FC236}">
                <a16:creationId xmlns:a16="http://schemas.microsoft.com/office/drawing/2014/main" id="{7AC537F6-8719-4705-9D9F-15C196CE5090}"/>
              </a:ext>
            </a:extLst>
          </p:cNvPr>
          <p:cNvSpPr txBox="1"/>
          <p:nvPr/>
        </p:nvSpPr>
        <p:spPr>
          <a:xfrm>
            <a:off x="2924997" y="4353157"/>
            <a:ext cx="2301240" cy="646331"/>
          </a:xfrm>
          <a:prstGeom prst="rect">
            <a:avLst/>
          </a:prstGeom>
          <a:noFill/>
          <a:ln>
            <a:solidFill>
              <a:schemeClr val="tx1"/>
            </a:solidFill>
          </a:ln>
        </p:spPr>
        <p:txBody>
          <a:bodyPr wrap="square" rtlCol="0">
            <a:spAutoFit/>
          </a:bodyPr>
          <a:lstStyle/>
          <a:p>
            <a:pPr algn="ctr"/>
            <a:r>
              <a:rPr lang="en-US" b="1" dirty="0"/>
              <a:t>w=10, v=18</a:t>
            </a:r>
          </a:p>
          <a:p>
            <a:pPr algn="ctr"/>
            <a:r>
              <a:rPr lang="en-US" b="1" dirty="0"/>
              <a:t>b=18+(25-10)*1 = 33</a:t>
            </a:r>
            <a:endParaRPr lang="hi-IN" b="1" dirty="0"/>
          </a:p>
        </p:txBody>
      </p:sp>
      <p:sp>
        <p:nvSpPr>
          <p:cNvPr id="19" name="Oval 18">
            <a:extLst>
              <a:ext uri="{FF2B5EF4-FFF2-40B4-BE49-F238E27FC236}">
                <a16:creationId xmlns:a16="http://schemas.microsoft.com/office/drawing/2014/main" id="{9987B77D-1745-4F4B-AD77-AFC374496D03}"/>
              </a:ext>
            </a:extLst>
          </p:cNvPr>
          <p:cNvSpPr/>
          <p:nvPr/>
        </p:nvSpPr>
        <p:spPr>
          <a:xfrm>
            <a:off x="7311816" y="2658870"/>
            <a:ext cx="1911508" cy="79230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cxnSp>
        <p:nvCxnSpPr>
          <p:cNvPr id="21" name="Straight Arrow Connector 20">
            <a:extLst>
              <a:ext uri="{FF2B5EF4-FFF2-40B4-BE49-F238E27FC236}">
                <a16:creationId xmlns:a16="http://schemas.microsoft.com/office/drawing/2014/main" id="{44DCB049-4EA3-4F38-9D62-E40AF3D08FBF}"/>
              </a:ext>
            </a:extLst>
          </p:cNvPr>
          <p:cNvCxnSpPr/>
          <p:nvPr/>
        </p:nvCxnSpPr>
        <p:spPr>
          <a:xfrm flipH="1">
            <a:off x="7350046" y="3222171"/>
            <a:ext cx="917524" cy="141060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3" name="Straight Arrow Connector 22">
            <a:extLst>
              <a:ext uri="{FF2B5EF4-FFF2-40B4-BE49-F238E27FC236}">
                <a16:creationId xmlns:a16="http://schemas.microsoft.com/office/drawing/2014/main" id="{F136C4D9-AE86-4E29-B4D2-377914F2A0B4}"/>
              </a:ext>
            </a:extLst>
          </p:cNvPr>
          <p:cNvCxnSpPr/>
          <p:nvPr/>
        </p:nvCxnSpPr>
        <p:spPr>
          <a:xfrm>
            <a:off x="8254243" y="3214780"/>
            <a:ext cx="969081" cy="143830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4" name="TextBox 23">
            <a:extLst>
              <a:ext uri="{FF2B5EF4-FFF2-40B4-BE49-F238E27FC236}">
                <a16:creationId xmlns:a16="http://schemas.microsoft.com/office/drawing/2014/main" id="{F17114E8-B8DA-4E70-AF25-05984930A898}"/>
              </a:ext>
            </a:extLst>
          </p:cNvPr>
          <p:cNvSpPr txBox="1"/>
          <p:nvPr/>
        </p:nvSpPr>
        <p:spPr>
          <a:xfrm>
            <a:off x="6130434" y="4146719"/>
            <a:ext cx="1279902" cy="369332"/>
          </a:xfrm>
          <a:prstGeom prst="rect">
            <a:avLst/>
          </a:prstGeom>
          <a:noFill/>
        </p:spPr>
        <p:txBody>
          <a:bodyPr wrap="none" rtlCol="0">
            <a:spAutoFit/>
          </a:bodyPr>
          <a:lstStyle/>
          <a:p>
            <a:r>
              <a:rPr lang="en-US" b="1" dirty="0">
                <a:solidFill>
                  <a:srgbClr val="C00000"/>
                </a:solidFill>
              </a:rPr>
              <a:t>with Item 4</a:t>
            </a:r>
            <a:endParaRPr lang="hi-IN" b="1" dirty="0">
              <a:solidFill>
                <a:srgbClr val="C00000"/>
              </a:solidFill>
            </a:endParaRPr>
          </a:p>
        </p:txBody>
      </p:sp>
      <p:sp>
        <p:nvSpPr>
          <p:cNvPr id="25" name="TextBox 24">
            <a:extLst>
              <a:ext uri="{FF2B5EF4-FFF2-40B4-BE49-F238E27FC236}">
                <a16:creationId xmlns:a16="http://schemas.microsoft.com/office/drawing/2014/main" id="{E4962274-43D3-4BE3-8B12-52B5597A218A}"/>
              </a:ext>
            </a:extLst>
          </p:cNvPr>
          <p:cNvSpPr txBox="1"/>
          <p:nvPr/>
        </p:nvSpPr>
        <p:spPr>
          <a:xfrm>
            <a:off x="9078927" y="3940281"/>
            <a:ext cx="1606915" cy="369332"/>
          </a:xfrm>
          <a:prstGeom prst="rect">
            <a:avLst/>
          </a:prstGeom>
          <a:noFill/>
        </p:spPr>
        <p:txBody>
          <a:bodyPr wrap="square" rtlCol="0">
            <a:spAutoFit/>
          </a:bodyPr>
          <a:lstStyle/>
          <a:p>
            <a:r>
              <a:rPr lang="en-US" b="1" dirty="0">
                <a:solidFill>
                  <a:srgbClr val="C00000"/>
                </a:solidFill>
              </a:rPr>
              <a:t>without Item 4</a:t>
            </a:r>
            <a:endParaRPr lang="hi-IN" b="1" dirty="0">
              <a:solidFill>
                <a:srgbClr val="C00000"/>
              </a:solidFill>
            </a:endParaRPr>
          </a:p>
        </p:txBody>
      </p:sp>
      <p:sp>
        <p:nvSpPr>
          <p:cNvPr id="26" name="TextBox 25">
            <a:extLst>
              <a:ext uri="{FF2B5EF4-FFF2-40B4-BE49-F238E27FC236}">
                <a16:creationId xmlns:a16="http://schemas.microsoft.com/office/drawing/2014/main" id="{2182E09D-42E2-4C8F-B4A4-167D5C0ECE23}"/>
              </a:ext>
            </a:extLst>
          </p:cNvPr>
          <p:cNvSpPr txBox="1"/>
          <p:nvPr/>
        </p:nvSpPr>
        <p:spPr>
          <a:xfrm>
            <a:off x="6309360" y="4583431"/>
            <a:ext cx="2301240" cy="646331"/>
          </a:xfrm>
          <a:prstGeom prst="rect">
            <a:avLst/>
          </a:prstGeom>
          <a:noFill/>
          <a:ln>
            <a:solidFill>
              <a:schemeClr val="tx1"/>
            </a:solidFill>
          </a:ln>
        </p:spPr>
        <p:txBody>
          <a:bodyPr wrap="square" rtlCol="0">
            <a:spAutoFit/>
          </a:bodyPr>
          <a:lstStyle/>
          <a:p>
            <a:pPr algn="ctr"/>
            <a:r>
              <a:rPr lang="en-US" b="1" dirty="0"/>
              <a:t>w=17, v=28</a:t>
            </a:r>
          </a:p>
          <a:p>
            <a:pPr algn="ctr"/>
            <a:r>
              <a:rPr lang="en-US" b="1" dirty="0"/>
              <a:t>b=28+(25-17)*1 = 36</a:t>
            </a:r>
            <a:endParaRPr lang="hi-IN" b="1" dirty="0"/>
          </a:p>
        </p:txBody>
      </p:sp>
      <p:sp>
        <p:nvSpPr>
          <p:cNvPr id="27" name="TextBox 26">
            <a:extLst>
              <a:ext uri="{FF2B5EF4-FFF2-40B4-BE49-F238E27FC236}">
                <a16:creationId xmlns:a16="http://schemas.microsoft.com/office/drawing/2014/main" id="{D5E44742-511E-4FDB-90EA-B8055B22CCC7}"/>
              </a:ext>
            </a:extLst>
          </p:cNvPr>
          <p:cNvSpPr txBox="1"/>
          <p:nvPr/>
        </p:nvSpPr>
        <p:spPr>
          <a:xfrm>
            <a:off x="8731764" y="4653028"/>
            <a:ext cx="2301240" cy="646331"/>
          </a:xfrm>
          <a:prstGeom prst="rect">
            <a:avLst/>
          </a:prstGeom>
          <a:noFill/>
          <a:ln>
            <a:solidFill>
              <a:schemeClr val="tx1"/>
            </a:solidFill>
          </a:ln>
        </p:spPr>
        <p:txBody>
          <a:bodyPr wrap="square" rtlCol="0">
            <a:spAutoFit/>
          </a:bodyPr>
          <a:lstStyle/>
          <a:p>
            <a:pPr algn="ctr"/>
            <a:r>
              <a:rPr lang="en-US" b="1" dirty="0"/>
              <a:t>w=10, v=18</a:t>
            </a:r>
          </a:p>
          <a:p>
            <a:pPr algn="ctr"/>
            <a:r>
              <a:rPr lang="en-US" b="1" dirty="0"/>
              <a:t>b=18+(25-10)*1 = 33</a:t>
            </a:r>
            <a:endParaRPr lang="hi-IN" b="1" dirty="0"/>
          </a:p>
        </p:txBody>
      </p:sp>
      <p:cxnSp>
        <p:nvCxnSpPr>
          <p:cNvPr id="28" name="Straight Arrow Connector 27">
            <a:extLst>
              <a:ext uri="{FF2B5EF4-FFF2-40B4-BE49-F238E27FC236}">
                <a16:creationId xmlns:a16="http://schemas.microsoft.com/office/drawing/2014/main" id="{BC291F48-AB09-4BE4-991A-44A066FFD087}"/>
              </a:ext>
            </a:extLst>
          </p:cNvPr>
          <p:cNvCxnSpPr>
            <a:cxnSpLocks/>
          </p:cNvCxnSpPr>
          <p:nvPr/>
        </p:nvCxnSpPr>
        <p:spPr>
          <a:xfrm>
            <a:off x="1654611" y="4990666"/>
            <a:ext cx="87103" cy="52813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9" name="Straight Arrow Connector 28">
            <a:extLst>
              <a:ext uri="{FF2B5EF4-FFF2-40B4-BE49-F238E27FC236}">
                <a16:creationId xmlns:a16="http://schemas.microsoft.com/office/drawing/2014/main" id="{ED73640C-6286-4117-823F-EFEFCCD38038}"/>
              </a:ext>
            </a:extLst>
          </p:cNvPr>
          <p:cNvCxnSpPr>
            <a:cxnSpLocks/>
            <a:endCxn id="31" idx="2"/>
          </p:cNvCxnSpPr>
          <p:nvPr/>
        </p:nvCxnSpPr>
        <p:spPr>
          <a:xfrm>
            <a:off x="1654611" y="4999488"/>
            <a:ext cx="1470891" cy="43991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30" name="TextBox 29">
            <a:extLst>
              <a:ext uri="{FF2B5EF4-FFF2-40B4-BE49-F238E27FC236}">
                <a16:creationId xmlns:a16="http://schemas.microsoft.com/office/drawing/2014/main" id="{3B61EB9C-F899-4CA1-BE1F-C75B45BD3D24}"/>
              </a:ext>
            </a:extLst>
          </p:cNvPr>
          <p:cNvSpPr txBox="1"/>
          <p:nvPr/>
        </p:nvSpPr>
        <p:spPr>
          <a:xfrm>
            <a:off x="253545" y="5114693"/>
            <a:ext cx="1279902" cy="369332"/>
          </a:xfrm>
          <a:prstGeom prst="rect">
            <a:avLst/>
          </a:prstGeom>
          <a:noFill/>
        </p:spPr>
        <p:txBody>
          <a:bodyPr wrap="square" rtlCol="0">
            <a:spAutoFit/>
          </a:bodyPr>
          <a:lstStyle/>
          <a:p>
            <a:r>
              <a:rPr lang="en-US" b="1" dirty="0">
                <a:solidFill>
                  <a:srgbClr val="C00000"/>
                </a:solidFill>
              </a:rPr>
              <a:t>with Item 1</a:t>
            </a:r>
            <a:endParaRPr lang="hi-IN" b="1" dirty="0">
              <a:solidFill>
                <a:srgbClr val="C00000"/>
              </a:solidFill>
            </a:endParaRPr>
          </a:p>
        </p:txBody>
      </p:sp>
      <p:sp>
        <p:nvSpPr>
          <p:cNvPr id="31" name="TextBox 30">
            <a:extLst>
              <a:ext uri="{FF2B5EF4-FFF2-40B4-BE49-F238E27FC236}">
                <a16:creationId xmlns:a16="http://schemas.microsoft.com/office/drawing/2014/main" id="{C1DE18E6-840F-4B95-B0D2-A7ABD3932EB6}"/>
              </a:ext>
            </a:extLst>
          </p:cNvPr>
          <p:cNvSpPr txBox="1"/>
          <p:nvPr/>
        </p:nvSpPr>
        <p:spPr>
          <a:xfrm>
            <a:off x="2322044" y="5070068"/>
            <a:ext cx="1606915" cy="369332"/>
          </a:xfrm>
          <a:prstGeom prst="rect">
            <a:avLst/>
          </a:prstGeom>
          <a:noFill/>
        </p:spPr>
        <p:txBody>
          <a:bodyPr wrap="square" rtlCol="0">
            <a:spAutoFit/>
          </a:bodyPr>
          <a:lstStyle/>
          <a:p>
            <a:r>
              <a:rPr lang="en-US" b="1" dirty="0">
                <a:solidFill>
                  <a:srgbClr val="C00000"/>
                </a:solidFill>
              </a:rPr>
              <a:t>without Item 1</a:t>
            </a:r>
            <a:endParaRPr lang="hi-IN" b="1" dirty="0">
              <a:solidFill>
                <a:srgbClr val="C00000"/>
              </a:solidFill>
            </a:endParaRPr>
          </a:p>
        </p:txBody>
      </p:sp>
      <p:sp>
        <p:nvSpPr>
          <p:cNvPr id="38" name="TextBox 37">
            <a:extLst>
              <a:ext uri="{FF2B5EF4-FFF2-40B4-BE49-F238E27FC236}">
                <a16:creationId xmlns:a16="http://schemas.microsoft.com/office/drawing/2014/main" id="{DE3085A0-E0E7-49AC-82E8-0D065A1A7923}"/>
              </a:ext>
            </a:extLst>
          </p:cNvPr>
          <p:cNvSpPr txBox="1"/>
          <p:nvPr/>
        </p:nvSpPr>
        <p:spPr>
          <a:xfrm>
            <a:off x="62807" y="5504313"/>
            <a:ext cx="2301240" cy="646331"/>
          </a:xfrm>
          <a:prstGeom prst="rect">
            <a:avLst/>
          </a:prstGeom>
          <a:noFill/>
          <a:ln>
            <a:solidFill>
              <a:schemeClr val="tx1"/>
            </a:solidFill>
          </a:ln>
        </p:spPr>
        <p:txBody>
          <a:bodyPr wrap="square" rtlCol="0">
            <a:spAutoFit/>
          </a:bodyPr>
          <a:lstStyle/>
          <a:p>
            <a:pPr algn="ctr"/>
            <a:r>
              <a:rPr lang="en-US" b="1" dirty="0"/>
              <a:t>w=41, exceeds the sack capacity</a:t>
            </a:r>
            <a:endParaRPr lang="hi-IN" b="1" dirty="0"/>
          </a:p>
        </p:txBody>
      </p:sp>
      <p:sp>
        <p:nvSpPr>
          <p:cNvPr id="39" name="TextBox 38">
            <a:extLst>
              <a:ext uri="{FF2B5EF4-FFF2-40B4-BE49-F238E27FC236}">
                <a16:creationId xmlns:a16="http://schemas.microsoft.com/office/drawing/2014/main" id="{0CEB4784-E620-4A28-98E2-45D9110AC854}"/>
              </a:ext>
            </a:extLst>
          </p:cNvPr>
          <p:cNvSpPr txBox="1"/>
          <p:nvPr/>
        </p:nvSpPr>
        <p:spPr>
          <a:xfrm>
            <a:off x="2562665" y="5481809"/>
            <a:ext cx="2301240" cy="646331"/>
          </a:xfrm>
          <a:prstGeom prst="rect">
            <a:avLst/>
          </a:prstGeom>
          <a:noFill/>
          <a:ln>
            <a:solidFill>
              <a:schemeClr val="tx1"/>
            </a:solidFill>
          </a:ln>
        </p:spPr>
        <p:txBody>
          <a:bodyPr wrap="square" rtlCol="0">
            <a:spAutoFit/>
          </a:bodyPr>
          <a:lstStyle/>
          <a:p>
            <a:pPr algn="ctr"/>
            <a:r>
              <a:rPr lang="en-US" b="1" dirty="0"/>
              <a:t>w=17, v=28</a:t>
            </a:r>
          </a:p>
          <a:p>
            <a:pPr algn="ctr"/>
            <a:r>
              <a:rPr lang="en-US" b="1" dirty="0"/>
              <a:t>b=28+(25-17)*0 = 28</a:t>
            </a:r>
            <a:endParaRPr lang="hi-IN" b="1" dirty="0"/>
          </a:p>
        </p:txBody>
      </p:sp>
      <p:cxnSp>
        <p:nvCxnSpPr>
          <p:cNvPr id="41" name="Straight Arrow Connector 40">
            <a:extLst>
              <a:ext uri="{FF2B5EF4-FFF2-40B4-BE49-F238E27FC236}">
                <a16:creationId xmlns:a16="http://schemas.microsoft.com/office/drawing/2014/main" id="{8F26BA39-5DEA-42C1-A8ED-1B86550C92F1}"/>
              </a:ext>
            </a:extLst>
          </p:cNvPr>
          <p:cNvCxnSpPr>
            <a:cxnSpLocks/>
          </p:cNvCxnSpPr>
          <p:nvPr/>
        </p:nvCxnSpPr>
        <p:spPr>
          <a:xfrm>
            <a:off x="7598207" y="5219268"/>
            <a:ext cx="87103" cy="52813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2" name="Straight Arrow Connector 41">
            <a:extLst>
              <a:ext uri="{FF2B5EF4-FFF2-40B4-BE49-F238E27FC236}">
                <a16:creationId xmlns:a16="http://schemas.microsoft.com/office/drawing/2014/main" id="{F97564FC-9BFA-40ED-8337-32E974A86A88}"/>
              </a:ext>
            </a:extLst>
          </p:cNvPr>
          <p:cNvCxnSpPr>
            <a:cxnSpLocks/>
            <a:endCxn id="44" idx="2"/>
          </p:cNvCxnSpPr>
          <p:nvPr/>
        </p:nvCxnSpPr>
        <p:spPr>
          <a:xfrm>
            <a:off x="7598207" y="5228090"/>
            <a:ext cx="1470891" cy="43991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43" name="TextBox 42">
            <a:extLst>
              <a:ext uri="{FF2B5EF4-FFF2-40B4-BE49-F238E27FC236}">
                <a16:creationId xmlns:a16="http://schemas.microsoft.com/office/drawing/2014/main" id="{F9973E60-5FB3-47A7-873A-E39FB1960324}"/>
              </a:ext>
            </a:extLst>
          </p:cNvPr>
          <p:cNvSpPr txBox="1"/>
          <p:nvPr/>
        </p:nvSpPr>
        <p:spPr>
          <a:xfrm>
            <a:off x="6197141" y="5343295"/>
            <a:ext cx="1279902" cy="369332"/>
          </a:xfrm>
          <a:prstGeom prst="rect">
            <a:avLst/>
          </a:prstGeom>
          <a:noFill/>
        </p:spPr>
        <p:txBody>
          <a:bodyPr wrap="square" rtlCol="0">
            <a:spAutoFit/>
          </a:bodyPr>
          <a:lstStyle/>
          <a:p>
            <a:r>
              <a:rPr lang="en-US" b="1" dirty="0">
                <a:solidFill>
                  <a:srgbClr val="C00000"/>
                </a:solidFill>
              </a:rPr>
              <a:t>with Item 1</a:t>
            </a:r>
            <a:endParaRPr lang="hi-IN" b="1" dirty="0">
              <a:solidFill>
                <a:srgbClr val="C00000"/>
              </a:solidFill>
            </a:endParaRPr>
          </a:p>
        </p:txBody>
      </p:sp>
      <p:sp>
        <p:nvSpPr>
          <p:cNvPr id="44" name="TextBox 43">
            <a:extLst>
              <a:ext uri="{FF2B5EF4-FFF2-40B4-BE49-F238E27FC236}">
                <a16:creationId xmlns:a16="http://schemas.microsoft.com/office/drawing/2014/main" id="{5F1D0DF0-4BD4-46FB-8F17-FEE1C78493FD}"/>
              </a:ext>
            </a:extLst>
          </p:cNvPr>
          <p:cNvSpPr txBox="1"/>
          <p:nvPr/>
        </p:nvSpPr>
        <p:spPr>
          <a:xfrm>
            <a:off x="8265640" y="5298670"/>
            <a:ext cx="1606915" cy="369332"/>
          </a:xfrm>
          <a:prstGeom prst="rect">
            <a:avLst/>
          </a:prstGeom>
          <a:noFill/>
        </p:spPr>
        <p:txBody>
          <a:bodyPr wrap="square" rtlCol="0">
            <a:spAutoFit/>
          </a:bodyPr>
          <a:lstStyle/>
          <a:p>
            <a:r>
              <a:rPr lang="en-US" b="1" dirty="0">
                <a:solidFill>
                  <a:srgbClr val="C00000"/>
                </a:solidFill>
              </a:rPr>
              <a:t>without Item 1</a:t>
            </a:r>
            <a:endParaRPr lang="hi-IN" b="1" dirty="0">
              <a:solidFill>
                <a:srgbClr val="C00000"/>
              </a:solidFill>
            </a:endParaRPr>
          </a:p>
        </p:txBody>
      </p:sp>
      <p:sp>
        <p:nvSpPr>
          <p:cNvPr id="45" name="TextBox 44">
            <a:extLst>
              <a:ext uri="{FF2B5EF4-FFF2-40B4-BE49-F238E27FC236}">
                <a16:creationId xmlns:a16="http://schemas.microsoft.com/office/drawing/2014/main" id="{F839BD30-1E6E-4EBD-8566-860853036590}"/>
              </a:ext>
            </a:extLst>
          </p:cNvPr>
          <p:cNvSpPr txBox="1"/>
          <p:nvPr/>
        </p:nvSpPr>
        <p:spPr>
          <a:xfrm>
            <a:off x="6006403" y="5732915"/>
            <a:ext cx="2301240" cy="646331"/>
          </a:xfrm>
          <a:prstGeom prst="rect">
            <a:avLst/>
          </a:prstGeom>
          <a:noFill/>
          <a:ln>
            <a:solidFill>
              <a:schemeClr val="tx1"/>
            </a:solidFill>
          </a:ln>
        </p:spPr>
        <p:txBody>
          <a:bodyPr wrap="square" rtlCol="0">
            <a:spAutoFit/>
          </a:bodyPr>
          <a:lstStyle/>
          <a:p>
            <a:pPr algn="ctr"/>
            <a:r>
              <a:rPr lang="en-US" b="1" dirty="0"/>
              <a:t>w=41, exceeds the sack capacity</a:t>
            </a:r>
            <a:endParaRPr lang="hi-IN" b="1" dirty="0"/>
          </a:p>
        </p:txBody>
      </p:sp>
      <p:sp>
        <p:nvSpPr>
          <p:cNvPr id="46" name="TextBox 45">
            <a:extLst>
              <a:ext uri="{FF2B5EF4-FFF2-40B4-BE49-F238E27FC236}">
                <a16:creationId xmlns:a16="http://schemas.microsoft.com/office/drawing/2014/main" id="{CFC5DE73-7BFC-49E9-AED4-BB1D2645B9E8}"/>
              </a:ext>
            </a:extLst>
          </p:cNvPr>
          <p:cNvSpPr txBox="1"/>
          <p:nvPr/>
        </p:nvSpPr>
        <p:spPr>
          <a:xfrm>
            <a:off x="8506261" y="5710411"/>
            <a:ext cx="2301240" cy="646331"/>
          </a:xfrm>
          <a:prstGeom prst="rect">
            <a:avLst/>
          </a:prstGeom>
          <a:noFill/>
          <a:ln>
            <a:solidFill>
              <a:schemeClr val="tx1"/>
            </a:solidFill>
          </a:ln>
        </p:spPr>
        <p:txBody>
          <a:bodyPr wrap="square" rtlCol="0">
            <a:spAutoFit/>
          </a:bodyPr>
          <a:lstStyle/>
          <a:p>
            <a:pPr algn="ctr"/>
            <a:r>
              <a:rPr lang="en-US" b="1" dirty="0"/>
              <a:t>w=17, v=28</a:t>
            </a:r>
          </a:p>
          <a:p>
            <a:pPr algn="ctr"/>
            <a:r>
              <a:rPr lang="en-US" b="1" dirty="0"/>
              <a:t>b=28+(25-17)*0 = 28</a:t>
            </a:r>
            <a:endParaRPr lang="hi-IN" b="1" dirty="0"/>
          </a:p>
        </p:txBody>
      </p:sp>
      <p:sp>
        <p:nvSpPr>
          <p:cNvPr id="32" name="Oval 31">
            <a:extLst>
              <a:ext uri="{FF2B5EF4-FFF2-40B4-BE49-F238E27FC236}">
                <a16:creationId xmlns:a16="http://schemas.microsoft.com/office/drawing/2014/main" id="{79F89FD4-09E8-4204-8EFE-4DAAE0ECC955}"/>
              </a:ext>
            </a:extLst>
          </p:cNvPr>
          <p:cNvSpPr/>
          <p:nvPr/>
        </p:nvSpPr>
        <p:spPr>
          <a:xfrm>
            <a:off x="418377" y="4258396"/>
            <a:ext cx="2446330" cy="96087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33" name="Oval 32">
            <a:extLst>
              <a:ext uri="{FF2B5EF4-FFF2-40B4-BE49-F238E27FC236}">
                <a16:creationId xmlns:a16="http://schemas.microsoft.com/office/drawing/2014/main" id="{AFF1EA45-28C9-4F86-B1E1-3B1C18F7C546}"/>
              </a:ext>
            </a:extLst>
          </p:cNvPr>
          <p:cNvSpPr/>
          <p:nvPr/>
        </p:nvSpPr>
        <p:spPr>
          <a:xfrm>
            <a:off x="6187171" y="4442434"/>
            <a:ext cx="2446330" cy="96087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Tree>
    <p:extLst>
      <p:ext uri="{BB962C8B-B14F-4D97-AF65-F5344CB8AC3E}">
        <p14:creationId xmlns:p14="http://schemas.microsoft.com/office/powerpoint/2010/main" val="253824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2"/>
                                        </p:tgtEl>
                                        <p:attrNameLst>
                                          <p:attrName>style.visibility</p:attrName>
                                        </p:attrNameLst>
                                      </p:cBhvr>
                                      <p:to>
                                        <p:strVal val="visible"/>
                                      </p:to>
                                    </p:set>
                                  </p:childTnLst>
                                  <p:subTnLst>
                                    <p:set>
                                      <p:cBhvr override="childStyle">
                                        <p:cTn dur="1" fill="hold" display="0" masterRel="nextClick" afterEffect="1"/>
                                        <p:tgtEl>
                                          <p:spTgt spid="32"/>
                                        </p:tgtEl>
                                        <p:attrNameLst>
                                          <p:attrName>style.visibility</p:attrName>
                                        </p:attrNameLst>
                                      </p:cBhvr>
                                      <p:to>
                                        <p:strVal val="hidden"/>
                                      </p:to>
                                    </p:set>
                                  </p:sub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4"/>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p:bldP spid="16" grpId="0"/>
      <p:bldP spid="17" grpId="0" animBg="1"/>
      <p:bldP spid="18" grpId="0" animBg="1"/>
      <p:bldP spid="19" grpId="0" animBg="1"/>
      <p:bldP spid="24" grpId="0"/>
      <p:bldP spid="25" grpId="0"/>
      <p:bldP spid="26" grpId="0" animBg="1"/>
      <p:bldP spid="27" grpId="0" animBg="1"/>
      <p:bldP spid="30" grpId="0"/>
      <p:bldP spid="31" grpId="0"/>
      <p:bldP spid="38" grpId="0" animBg="1"/>
      <p:bldP spid="39" grpId="0" animBg="1"/>
      <p:bldP spid="43" grpId="0"/>
      <p:bldP spid="44" grpId="0"/>
      <p:bldP spid="45" grpId="0" animBg="1"/>
      <p:bldP spid="46" grpId="0" animBg="1"/>
      <p:bldP spid="32" grpId="0" animBg="1"/>
      <p:bldP spid="3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3D656A3-16C5-4B5E-AD3D-CEC75535F79A}"/>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D7894C8F-69AC-4496-958A-69FAE1065E30}"/>
              </a:ext>
            </a:extLst>
          </p:cNvPr>
          <p:cNvSpPr>
            <a:spLocks noGrp="1"/>
          </p:cNvSpPr>
          <p:nvPr>
            <p:ph type="sldNum" sz="quarter" idx="12"/>
          </p:nvPr>
        </p:nvSpPr>
        <p:spPr/>
        <p:txBody>
          <a:bodyPr/>
          <a:lstStyle/>
          <a:p>
            <a:fld id="{F56F9007-E0C6-489E-B603-BD6BB4385429}" type="slidenum">
              <a:rPr lang="hi-IN" smtClean="0"/>
              <a:t>14</a:t>
            </a:fld>
            <a:endParaRPr lang="hi-IN"/>
          </a:p>
        </p:txBody>
      </p:sp>
      <p:pic>
        <p:nvPicPr>
          <p:cNvPr id="7" name="Picture 6">
            <a:extLst>
              <a:ext uri="{FF2B5EF4-FFF2-40B4-BE49-F238E27FC236}">
                <a16:creationId xmlns:a16="http://schemas.microsoft.com/office/drawing/2014/main" id="{4AB0378C-945B-4BAC-99C5-69BD58A48989}"/>
              </a:ext>
            </a:extLst>
          </p:cNvPr>
          <p:cNvPicPr>
            <a:picLocks noChangeAspect="1"/>
          </p:cNvPicPr>
          <p:nvPr/>
        </p:nvPicPr>
        <p:blipFill>
          <a:blip r:embed="rId2"/>
          <a:stretch>
            <a:fillRect/>
          </a:stretch>
        </p:blipFill>
        <p:spPr>
          <a:xfrm>
            <a:off x="719438" y="136525"/>
            <a:ext cx="10365721" cy="5937704"/>
          </a:xfrm>
          <a:prstGeom prst="rect">
            <a:avLst/>
          </a:prstGeom>
        </p:spPr>
      </p:pic>
      <p:sp>
        <p:nvSpPr>
          <p:cNvPr id="10" name="Oval 9">
            <a:extLst>
              <a:ext uri="{FF2B5EF4-FFF2-40B4-BE49-F238E27FC236}">
                <a16:creationId xmlns:a16="http://schemas.microsoft.com/office/drawing/2014/main" id="{7F35307A-D4A4-40E8-89B0-FEC120F58B13}"/>
              </a:ext>
            </a:extLst>
          </p:cNvPr>
          <p:cNvSpPr/>
          <p:nvPr/>
        </p:nvSpPr>
        <p:spPr>
          <a:xfrm>
            <a:off x="7371333" y="3221638"/>
            <a:ext cx="1564133" cy="849163"/>
          </a:xfrm>
          <a:prstGeom prst="ellipse">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3" name="Speech Bubble: Rectangle 12">
            <a:extLst>
              <a:ext uri="{FF2B5EF4-FFF2-40B4-BE49-F238E27FC236}">
                <a16:creationId xmlns:a16="http://schemas.microsoft.com/office/drawing/2014/main" id="{2928DD41-5D4A-46EC-A704-FC8E7132B52C}"/>
              </a:ext>
            </a:extLst>
          </p:cNvPr>
          <p:cNvSpPr/>
          <p:nvPr/>
        </p:nvSpPr>
        <p:spPr>
          <a:xfrm>
            <a:off x="9895113" y="2807604"/>
            <a:ext cx="2100943" cy="1393371"/>
          </a:xfrm>
          <a:prstGeom prst="wedgeRectCallout">
            <a:avLst>
              <a:gd name="adj1" fmla="val -109858"/>
              <a:gd name="adj2" fmla="val -4792"/>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Cannot expand further because all items have been checked</a:t>
            </a:r>
            <a:endParaRPr lang="hi-IN" dirty="0"/>
          </a:p>
        </p:txBody>
      </p:sp>
      <p:sp>
        <p:nvSpPr>
          <p:cNvPr id="14" name="Speech Bubble: Rectangle 13">
            <a:extLst>
              <a:ext uri="{FF2B5EF4-FFF2-40B4-BE49-F238E27FC236}">
                <a16:creationId xmlns:a16="http://schemas.microsoft.com/office/drawing/2014/main" id="{ECD5B994-CF7A-4A88-A924-DAB4AF208899}"/>
              </a:ext>
            </a:extLst>
          </p:cNvPr>
          <p:cNvSpPr/>
          <p:nvPr/>
        </p:nvSpPr>
        <p:spPr>
          <a:xfrm>
            <a:off x="10112828" y="892628"/>
            <a:ext cx="2100943" cy="1393371"/>
          </a:xfrm>
          <a:prstGeom prst="wedgeRectCallout">
            <a:avLst>
              <a:gd name="adj1" fmla="val -63226"/>
              <a:gd name="adj2" fmla="val 70989"/>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Cannot expand further as it is not an optimized solution</a:t>
            </a:r>
            <a:endParaRPr lang="hi-IN" dirty="0"/>
          </a:p>
        </p:txBody>
      </p:sp>
      <p:sp>
        <p:nvSpPr>
          <p:cNvPr id="17" name="Speech Bubble: Rectangle 16">
            <a:extLst>
              <a:ext uri="{FF2B5EF4-FFF2-40B4-BE49-F238E27FC236}">
                <a16:creationId xmlns:a16="http://schemas.microsoft.com/office/drawing/2014/main" id="{2BF30C9D-077A-4F39-9377-861AA5AF66ED}"/>
              </a:ext>
            </a:extLst>
          </p:cNvPr>
          <p:cNvSpPr/>
          <p:nvPr/>
        </p:nvSpPr>
        <p:spPr>
          <a:xfrm>
            <a:off x="9720942" y="2677431"/>
            <a:ext cx="2100943" cy="1393371"/>
          </a:xfrm>
          <a:prstGeom prst="wedgeRectCallout">
            <a:avLst>
              <a:gd name="adj1" fmla="val -63226"/>
              <a:gd name="adj2" fmla="val 70989"/>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Cannot expand further as it is not an optimized solution</a:t>
            </a:r>
            <a:endParaRPr lang="hi-IN" dirty="0"/>
          </a:p>
        </p:txBody>
      </p:sp>
      <p:sp>
        <p:nvSpPr>
          <p:cNvPr id="18" name="Speech Bubble: Rectangle 17">
            <a:extLst>
              <a:ext uri="{FF2B5EF4-FFF2-40B4-BE49-F238E27FC236}">
                <a16:creationId xmlns:a16="http://schemas.microsoft.com/office/drawing/2014/main" id="{98FA5462-F225-4C97-B0FA-EDE17FAF5D8D}"/>
              </a:ext>
            </a:extLst>
          </p:cNvPr>
          <p:cNvSpPr/>
          <p:nvPr/>
        </p:nvSpPr>
        <p:spPr>
          <a:xfrm>
            <a:off x="9895113" y="3656237"/>
            <a:ext cx="2100943" cy="1393371"/>
          </a:xfrm>
          <a:prstGeom prst="wedgeRectCallout">
            <a:avLst>
              <a:gd name="adj1" fmla="val -63226"/>
              <a:gd name="adj2" fmla="val 70989"/>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Cannot expand further as it is not an optimized solution</a:t>
            </a:r>
            <a:endParaRPr lang="hi-IN" dirty="0"/>
          </a:p>
        </p:txBody>
      </p:sp>
      <p:sp>
        <p:nvSpPr>
          <p:cNvPr id="20" name="Speech Bubble: Rectangle 19">
            <a:extLst>
              <a:ext uri="{FF2B5EF4-FFF2-40B4-BE49-F238E27FC236}">
                <a16:creationId xmlns:a16="http://schemas.microsoft.com/office/drawing/2014/main" id="{D9372A59-87C0-45BF-BE09-FFB27B60FABA}"/>
              </a:ext>
            </a:extLst>
          </p:cNvPr>
          <p:cNvSpPr/>
          <p:nvPr/>
        </p:nvSpPr>
        <p:spPr>
          <a:xfrm>
            <a:off x="5828339" y="5103126"/>
            <a:ext cx="2100943" cy="1393371"/>
          </a:xfrm>
          <a:prstGeom prst="wedgeRectCallout">
            <a:avLst>
              <a:gd name="adj1" fmla="val -78252"/>
              <a:gd name="adj2" fmla="val -31354"/>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Cannot expand further because all items have been checked and not an optimized solution</a:t>
            </a:r>
            <a:endParaRPr lang="hi-IN" dirty="0"/>
          </a:p>
        </p:txBody>
      </p:sp>
      <p:sp>
        <p:nvSpPr>
          <p:cNvPr id="21" name="Speech Bubble: Rectangle 20">
            <a:extLst>
              <a:ext uri="{FF2B5EF4-FFF2-40B4-BE49-F238E27FC236}">
                <a16:creationId xmlns:a16="http://schemas.microsoft.com/office/drawing/2014/main" id="{AED868D0-0D1C-449B-B79D-D8CF072B170D}"/>
              </a:ext>
            </a:extLst>
          </p:cNvPr>
          <p:cNvSpPr/>
          <p:nvPr/>
        </p:nvSpPr>
        <p:spPr>
          <a:xfrm>
            <a:off x="8389193" y="4745944"/>
            <a:ext cx="1963121" cy="1012599"/>
          </a:xfrm>
          <a:prstGeom prst="wedgeRectCallout">
            <a:avLst>
              <a:gd name="adj1" fmla="val -49176"/>
              <a:gd name="adj2" fmla="val -130809"/>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Final Solution</a:t>
            </a:r>
          </a:p>
          <a:p>
            <a:pPr algn="ctr"/>
            <a:r>
              <a:rPr lang="en-US" b="1" dirty="0">
                <a:solidFill>
                  <a:srgbClr val="002060"/>
                </a:solidFill>
              </a:rPr>
              <a:t>Profit=36</a:t>
            </a:r>
          </a:p>
          <a:p>
            <a:pPr algn="ctr"/>
            <a:r>
              <a:rPr lang="en-US" b="1" dirty="0">
                <a:solidFill>
                  <a:srgbClr val="002060"/>
                </a:solidFill>
              </a:rPr>
              <a:t>Items picked=I2, I3</a:t>
            </a:r>
            <a:endParaRPr lang="hi-IN" dirty="0"/>
          </a:p>
        </p:txBody>
      </p:sp>
    </p:spTree>
    <p:extLst>
      <p:ext uri="{BB962C8B-B14F-4D97-AF65-F5344CB8AC3E}">
        <p14:creationId xmlns:p14="http://schemas.microsoft.com/office/powerpoint/2010/main" val="2972193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4" grpId="0" animBg="1"/>
      <p:bldP spid="17" grpId="0" animBg="1"/>
      <p:bldP spid="18" grpId="0" animBg="1"/>
      <p:bldP spid="20" grpId="0" animBg="1"/>
      <p:bldP spid="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18499-1F4B-4FFB-B7D5-1509A3185B48}"/>
              </a:ext>
            </a:extLst>
          </p:cNvPr>
          <p:cNvSpPr>
            <a:spLocks noGrp="1"/>
          </p:cNvSpPr>
          <p:nvPr>
            <p:ph type="title"/>
          </p:nvPr>
        </p:nvSpPr>
        <p:spPr/>
        <p:txBody>
          <a:bodyPr/>
          <a:lstStyle/>
          <a:p>
            <a:r>
              <a:rPr lang="en-US" b="1" dirty="0"/>
              <a:t>Example 3</a:t>
            </a:r>
            <a:endParaRPr lang="hi-IN" b="1" dirty="0"/>
          </a:p>
        </p:txBody>
      </p:sp>
      <p:sp>
        <p:nvSpPr>
          <p:cNvPr id="3" name="Content Placeholder 2">
            <a:extLst>
              <a:ext uri="{FF2B5EF4-FFF2-40B4-BE49-F238E27FC236}">
                <a16:creationId xmlns:a16="http://schemas.microsoft.com/office/drawing/2014/main" id="{70710215-B376-4C6F-A9B2-5C3875918660}"/>
              </a:ext>
            </a:extLst>
          </p:cNvPr>
          <p:cNvSpPr>
            <a:spLocks noGrp="1"/>
          </p:cNvSpPr>
          <p:nvPr>
            <p:ph idx="1"/>
          </p:nvPr>
        </p:nvSpPr>
        <p:spPr/>
        <p:txBody>
          <a:bodyPr/>
          <a:lstStyle/>
          <a:p>
            <a:pPr marL="0" indent="0">
              <a:buNone/>
            </a:pPr>
            <a:r>
              <a:rPr lang="en-US" dirty="0"/>
              <a:t>Try this as an assignment</a:t>
            </a:r>
          </a:p>
          <a:p>
            <a:pPr algn="just"/>
            <a:r>
              <a:rPr lang="en-IN" dirty="0"/>
              <a:t>Listed below are some semi-precious stones available for one to pick up. Solve the problem using the Branch and Bound approach, such that the knapsack has a profit limit over the chosen objects to be no more than 6, and you are to fill the knapsack with maximum possible total weight. You are not allowed to break any object. Show your work.</a:t>
            </a:r>
          </a:p>
          <a:p>
            <a:endParaRPr lang="hi-IN" dirty="0"/>
          </a:p>
        </p:txBody>
      </p:sp>
      <p:sp>
        <p:nvSpPr>
          <p:cNvPr id="4" name="Footer Placeholder 3">
            <a:extLst>
              <a:ext uri="{FF2B5EF4-FFF2-40B4-BE49-F238E27FC236}">
                <a16:creationId xmlns:a16="http://schemas.microsoft.com/office/drawing/2014/main" id="{25F7D412-BC0A-43B0-964C-7CCC7B903B94}"/>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9F7F2ED1-08D5-4351-A800-8508833C7025}"/>
              </a:ext>
            </a:extLst>
          </p:cNvPr>
          <p:cNvSpPr>
            <a:spLocks noGrp="1"/>
          </p:cNvSpPr>
          <p:nvPr>
            <p:ph type="sldNum" sz="quarter" idx="12"/>
          </p:nvPr>
        </p:nvSpPr>
        <p:spPr/>
        <p:txBody>
          <a:bodyPr/>
          <a:lstStyle/>
          <a:p>
            <a:fld id="{F56F9007-E0C6-489E-B603-BD6BB4385429}" type="slidenum">
              <a:rPr lang="hi-IN" smtClean="0"/>
              <a:t>15</a:t>
            </a:fld>
            <a:endParaRPr lang="hi-IN"/>
          </a:p>
        </p:txBody>
      </p:sp>
      <p:graphicFrame>
        <p:nvGraphicFramePr>
          <p:cNvPr id="8" name="Table 7">
            <a:extLst>
              <a:ext uri="{FF2B5EF4-FFF2-40B4-BE49-F238E27FC236}">
                <a16:creationId xmlns:a16="http://schemas.microsoft.com/office/drawing/2014/main" id="{20E9E10F-9559-4CF2-9402-430F3A46D9F4}"/>
              </a:ext>
            </a:extLst>
          </p:cNvPr>
          <p:cNvGraphicFramePr>
            <a:graphicFrameLocks noGrp="1"/>
          </p:cNvGraphicFramePr>
          <p:nvPr>
            <p:extLst>
              <p:ext uri="{D42A27DB-BD31-4B8C-83A1-F6EECF244321}">
                <p14:modId xmlns:p14="http://schemas.microsoft.com/office/powerpoint/2010/main" val="3608095093"/>
              </p:ext>
            </p:extLst>
          </p:nvPr>
        </p:nvGraphicFramePr>
        <p:xfrm>
          <a:off x="4038599" y="4698537"/>
          <a:ext cx="3755570" cy="1266834"/>
        </p:xfrm>
        <a:graphic>
          <a:graphicData uri="http://schemas.openxmlformats.org/drawingml/2006/table">
            <a:tbl>
              <a:tblPr firstRow="1" firstCol="1" lastRow="1" lastCol="1" bandRow="1" bandCol="1">
                <a:tableStyleId>{5C22544A-7EE6-4342-B048-85BDC9FD1C3A}</a:tableStyleId>
              </a:tblPr>
              <a:tblGrid>
                <a:gridCol w="1935239">
                  <a:extLst>
                    <a:ext uri="{9D8B030D-6E8A-4147-A177-3AD203B41FA5}">
                      <a16:colId xmlns:a16="http://schemas.microsoft.com/office/drawing/2014/main" val="1069442139"/>
                    </a:ext>
                  </a:extLst>
                </a:gridCol>
                <a:gridCol w="486443">
                  <a:extLst>
                    <a:ext uri="{9D8B030D-6E8A-4147-A177-3AD203B41FA5}">
                      <a16:colId xmlns:a16="http://schemas.microsoft.com/office/drawing/2014/main" val="868066336"/>
                    </a:ext>
                  </a:extLst>
                </a:gridCol>
                <a:gridCol w="386856">
                  <a:extLst>
                    <a:ext uri="{9D8B030D-6E8A-4147-A177-3AD203B41FA5}">
                      <a16:colId xmlns:a16="http://schemas.microsoft.com/office/drawing/2014/main" val="4077706641"/>
                    </a:ext>
                  </a:extLst>
                </a:gridCol>
                <a:gridCol w="427074">
                  <a:extLst>
                    <a:ext uri="{9D8B030D-6E8A-4147-A177-3AD203B41FA5}">
                      <a16:colId xmlns:a16="http://schemas.microsoft.com/office/drawing/2014/main" val="3135375756"/>
                    </a:ext>
                  </a:extLst>
                </a:gridCol>
                <a:gridCol w="519958">
                  <a:extLst>
                    <a:ext uri="{9D8B030D-6E8A-4147-A177-3AD203B41FA5}">
                      <a16:colId xmlns:a16="http://schemas.microsoft.com/office/drawing/2014/main" val="3683098261"/>
                    </a:ext>
                  </a:extLst>
                </a:gridCol>
              </a:tblGrid>
              <a:tr h="422278">
                <a:tc>
                  <a:txBody>
                    <a:bodyPr/>
                    <a:lstStyle/>
                    <a:p>
                      <a:pPr algn="ctr">
                        <a:lnSpc>
                          <a:spcPct val="150000"/>
                        </a:lnSpc>
                        <a:spcAft>
                          <a:spcPts val="100"/>
                        </a:spcAft>
                      </a:pPr>
                      <a:r>
                        <a:rPr lang="en-IN" sz="2000" b="1" dirty="0">
                          <a:solidFill>
                            <a:schemeClr val="tx1"/>
                          </a:solidFill>
                          <a:effectLst/>
                        </a:rPr>
                        <a:t>Object Id.</a:t>
                      </a:r>
                      <a:endParaRPr lang="en-US" sz="2000" b="1"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100"/>
                        </a:spcAft>
                      </a:pPr>
                      <a:r>
                        <a:rPr lang="en-IN" sz="2000" b="1">
                          <a:solidFill>
                            <a:schemeClr val="tx1"/>
                          </a:solidFill>
                          <a:effectLst/>
                        </a:rPr>
                        <a:t>1</a:t>
                      </a:r>
                      <a:endParaRPr lang="en-US" sz="2000" b="1">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100"/>
                        </a:spcAft>
                      </a:pPr>
                      <a:r>
                        <a:rPr lang="en-IN" sz="2000" b="1">
                          <a:solidFill>
                            <a:schemeClr val="tx1"/>
                          </a:solidFill>
                          <a:effectLst/>
                        </a:rPr>
                        <a:t>2</a:t>
                      </a:r>
                      <a:endParaRPr lang="en-US" sz="2000" b="1">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100"/>
                        </a:spcAft>
                      </a:pPr>
                      <a:r>
                        <a:rPr lang="en-IN" sz="2000" b="1">
                          <a:solidFill>
                            <a:schemeClr val="tx1"/>
                          </a:solidFill>
                          <a:effectLst/>
                        </a:rPr>
                        <a:t>3</a:t>
                      </a:r>
                      <a:endParaRPr lang="en-US" sz="2000" b="1">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100"/>
                        </a:spcAft>
                      </a:pPr>
                      <a:r>
                        <a:rPr lang="en-IN" sz="2000" b="1" dirty="0">
                          <a:solidFill>
                            <a:schemeClr val="tx1"/>
                          </a:solidFill>
                          <a:effectLst/>
                        </a:rPr>
                        <a:t>4</a:t>
                      </a:r>
                      <a:endParaRPr lang="en-US" sz="2000" b="1"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2847886"/>
                  </a:ext>
                </a:extLst>
              </a:tr>
              <a:tr h="422278">
                <a:tc>
                  <a:txBody>
                    <a:bodyPr/>
                    <a:lstStyle/>
                    <a:p>
                      <a:pPr algn="ctr">
                        <a:lnSpc>
                          <a:spcPct val="150000"/>
                        </a:lnSpc>
                        <a:spcAft>
                          <a:spcPts val="100"/>
                        </a:spcAft>
                      </a:pPr>
                      <a:r>
                        <a:rPr lang="en-IN" sz="2000" b="1">
                          <a:solidFill>
                            <a:schemeClr val="tx1"/>
                          </a:solidFill>
                          <a:effectLst/>
                        </a:rPr>
                        <a:t>Weights</a:t>
                      </a:r>
                      <a:endParaRPr lang="en-US" sz="2000" b="1">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100"/>
                        </a:spcAft>
                      </a:pPr>
                      <a:r>
                        <a:rPr lang="en-IN" sz="2000" b="1">
                          <a:solidFill>
                            <a:schemeClr val="tx1"/>
                          </a:solidFill>
                          <a:effectLst/>
                        </a:rPr>
                        <a:t>6</a:t>
                      </a:r>
                      <a:endParaRPr lang="en-US" sz="2000" b="1">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100"/>
                        </a:spcAft>
                      </a:pPr>
                      <a:r>
                        <a:rPr lang="en-IN" sz="2000" b="1">
                          <a:solidFill>
                            <a:schemeClr val="tx1"/>
                          </a:solidFill>
                          <a:effectLst/>
                        </a:rPr>
                        <a:t>3</a:t>
                      </a:r>
                      <a:endParaRPr lang="en-US" sz="2000" b="1">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100"/>
                        </a:spcAft>
                      </a:pPr>
                      <a:r>
                        <a:rPr lang="en-IN" sz="2000" b="1">
                          <a:solidFill>
                            <a:schemeClr val="tx1"/>
                          </a:solidFill>
                          <a:effectLst/>
                        </a:rPr>
                        <a:t>4</a:t>
                      </a:r>
                      <a:endParaRPr lang="en-US" sz="2000" b="1">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100"/>
                        </a:spcAft>
                      </a:pPr>
                      <a:r>
                        <a:rPr lang="en-IN" sz="2000" b="1" dirty="0">
                          <a:solidFill>
                            <a:schemeClr val="tx1"/>
                          </a:solidFill>
                          <a:effectLst/>
                        </a:rPr>
                        <a:t>4</a:t>
                      </a:r>
                      <a:endParaRPr lang="en-US" sz="2000" b="1"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26658244"/>
                  </a:ext>
                </a:extLst>
              </a:tr>
              <a:tr h="422278">
                <a:tc>
                  <a:txBody>
                    <a:bodyPr/>
                    <a:lstStyle/>
                    <a:p>
                      <a:pPr algn="ctr">
                        <a:lnSpc>
                          <a:spcPct val="150000"/>
                        </a:lnSpc>
                        <a:spcAft>
                          <a:spcPts val="100"/>
                        </a:spcAft>
                      </a:pPr>
                      <a:r>
                        <a:rPr lang="en-IN" sz="2000" b="1" dirty="0">
                          <a:solidFill>
                            <a:schemeClr val="tx1"/>
                          </a:solidFill>
                          <a:effectLst/>
                        </a:rPr>
                        <a:t>Profits</a:t>
                      </a:r>
                      <a:endParaRPr lang="en-US" sz="2000" b="1"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100"/>
                        </a:spcAft>
                      </a:pPr>
                      <a:r>
                        <a:rPr lang="en-IN" sz="2000" b="1" dirty="0">
                          <a:solidFill>
                            <a:schemeClr val="tx1"/>
                          </a:solidFill>
                          <a:effectLst/>
                        </a:rPr>
                        <a:t>2</a:t>
                      </a:r>
                      <a:endParaRPr lang="en-US" sz="2000" b="1"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100"/>
                        </a:spcAft>
                      </a:pPr>
                      <a:r>
                        <a:rPr lang="en-IN" sz="2000" b="1" dirty="0">
                          <a:solidFill>
                            <a:schemeClr val="tx1"/>
                          </a:solidFill>
                          <a:effectLst/>
                        </a:rPr>
                        <a:t>3</a:t>
                      </a:r>
                      <a:endParaRPr lang="en-US" sz="2000" b="1"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100"/>
                        </a:spcAft>
                      </a:pPr>
                      <a:r>
                        <a:rPr lang="en-IN" sz="2000" b="1" dirty="0">
                          <a:solidFill>
                            <a:schemeClr val="tx1"/>
                          </a:solidFill>
                          <a:effectLst/>
                        </a:rPr>
                        <a:t>2</a:t>
                      </a:r>
                      <a:endParaRPr lang="en-US" sz="2000" b="1"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100"/>
                        </a:spcAft>
                      </a:pPr>
                      <a:r>
                        <a:rPr lang="en-IN" sz="2000" b="1" dirty="0">
                          <a:solidFill>
                            <a:schemeClr val="tx1"/>
                          </a:solidFill>
                          <a:effectLst/>
                        </a:rPr>
                        <a:t>1</a:t>
                      </a:r>
                      <a:endParaRPr lang="en-US" sz="2000" b="1"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4099833"/>
                  </a:ext>
                </a:extLst>
              </a:tr>
            </a:tbl>
          </a:graphicData>
        </a:graphic>
      </p:graphicFrame>
    </p:spTree>
    <p:extLst>
      <p:ext uri="{BB962C8B-B14F-4D97-AF65-F5344CB8AC3E}">
        <p14:creationId xmlns:p14="http://schemas.microsoft.com/office/powerpoint/2010/main" val="4133114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05EC0-F4D8-4C8B-85DF-B70937FA2994}"/>
              </a:ext>
            </a:extLst>
          </p:cNvPr>
          <p:cNvSpPr>
            <a:spLocks noGrp="1"/>
          </p:cNvSpPr>
          <p:nvPr>
            <p:ph type="title"/>
          </p:nvPr>
        </p:nvSpPr>
        <p:spPr/>
        <p:txBody>
          <a:bodyPr/>
          <a:lstStyle/>
          <a:p>
            <a:r>
              <a:rPr lang="en-IN" b="1" dirty="0"/>
              <a:t>Travelling Salesman Problem (TSP)</a:t>
            </a:r>
            <a:endParaRPr lang="hi-IN" b="1" dirty="0"/>
          </a:p>
        </p:txBody>
      </p:sp>
      <p:sp>
        <p:nvSpPr>
          <p:cNvPr id="3" name="Content Placeholder 2">
            <a:extLst>
              <a:ext uri="{FF2B5EF4-FFF2-40B4-BE49-F238E27FC236}">
                <a16:creationId xmlns:a16="http://schemas.microsoft.com/office/drawing/2014/main" id="{C97E6DA5-0F93-441C-B383-72711659214A}"/>
              </a:ext>
            </a:extLst>
          </p:cNvPr>
          <p:cNvSpPr>
            <a:spLocks noGrp="1"/>
          </p:cNvSpPr>
          <p:nvPr>
            <p:ph idx="1"/>
          </p:nvPr>
        </p:nvSpPr>
        <p:spPr/>
        <p:txBody>
          <a:bodyPr>
            <a:normAutofit fontScale="85000" lnSpcReduction="20000"/>
          </a:bodyPr>
          <a:lstStyle/>
          <a:p>
            <a:pPr algn="just"/>
            <a:r>
              <a:rPr lang="en-US" dirty="0"/>
              <a:t>Given a set of cities and distance between every pair of cities, the problem is to find the shortest possible route that visits every city exactly once and returns to the starting point.</a:t>
            </a:r>
          </a:p>
          <a:p>
            <a:pPr algn="just"/>
            <a:r>
              <a:rPr lang="en-US" dirty="0"/>
              <a:t>For example, consider the graph shown in figure on right side. A TSP tour in the graph is 1-2-4-3-1. The cost of the tour is 10+25+30+15 which is 80.</a:t>
            </a:r>
          </a:p>
          <a:p>
            <a:pPr algn="just"/>
            <a:r>
              <a:rPr lang="en-US" dirty="0"/>
              <a:t>The problem is a famous NP hard problem.</a:t>
            </a:r>
          </a:p>
          <a:p>
            <a:pPr marL="0" indent="0" algn="just">
              <a:buNone/>
            </a:pPr>
            <a:r>
              <a:rPr lang="en-US" dirty="0"/>
              <a:t>   There is no polynomial time solution for this </a:t>
            </a:r>
          </a:p>
          <a:p>
            <a:pPr marL="0" indent="0" algn="just">
              <a:buNone/>
            </a:pPr>
            <a:r>
              <a:rPr lang="en-US" dirty="0"/>
              <a:t>   problem.</a:t>
            </a:r>
          </a:p>
          <a:p>
            <a:pPr marL="0" indent="0" algn="just">
              <a:buNone/>
            </a:pPr>
            <a:r>
              <a:rPr lang="en-US" dirty="0"/>
              <a:t>   Complexity using Brute Force – </a:t>
            </a:r>
            <a:r>
              <a:rPr lang="el-GR" dirty="0"/>
              <a:t>θ</a:t>
            </a:r>
            <a:r>
              <a:rPr lang="en-US" dirty="0"/>
              <a:t>(n!)</a:t>
            </a:r>
          </a:p>
          <a:p>
            <a:pPr marL="0" indent="0" algn="just">
              <a:buNone/>
            </a:pPr>
            <a:r>
              <a:rPr lang="en-US" dirty="0"/>
              <a:t>   Complexity using DP – O(n</a:t>
            </a:r>
            <a:r>
              <a:rPr lang="en-US" baseline="30000" dirty="0"/>
              <a:t>2</a:t>
            </a:r>
            <a:r>
              <a:rPr lang="en-US" dirty="0"/>
              <a:t>2</a:t>
            </a:r>
            <a:r>
              <a:rPr lang="en-US" baseline="30000" dirty="0"/>
              <a:t>n</a:t>
            </a:r>
            <a:r>
              <a:rPr lang="en-US" dirty="0"/>
              <a:t>) – exponential</a:t>
            </a:r>
          </a:p>
          <a:p>
            <a:pPr marL="0" indent="0" algn="just">
              <a:buNone/>
            </a:pPr>
            <a:r>
              <a:rPr lang="en-US" dirty="0"/>
              <a:t>   Complexity using Branch and Bound – O(n!), </a:t>
            </a:r>
          </a:p>
          <a:p>
            <a:pPr marL="0" indent="0" algn="just">
              <a:buNone/>
            </a:pPr>
            <a:r>
              <a:rPr lang="en-US" dirty="0"/>
              <a:t>   but in best case works better</a:t>
            </a:r>
            <a:endParaRPr lang="hi-IN" dirty="0"/>
          </a:p>
        </p:txBody>
      </p:sp>
      <p:sp>
        <p:nvSpPr>
          <p:cNvPr id="4" name="Footer Placeholder 3">
            <a:extLst>
              <a:ext uri="{FF2B5EF4-FFF2-40B4-BE49-F238E27FC236}">
                <a16:creationId xmlns:a16="http://schemas.microsoft.com/office/drawing/2014/main" id="{800671BC-CD3C-4855-A5FD-266E424C2EB1}"/>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2957C9B5-F7FB-41FB-9770-305AC20C71E3}"/>
              </a:ext>
            </a:extLst>
          </p:cNvPr>
          <p:cNvSpPr>
            <a:spLocks noGrp="1"/>
          </p:cNvSpPr>
          <p:nvPr>
            <p:ph type="sldNum" sz="quarter" idx="12"/>
          </p:nvPr>
        </p:nvSpPr>
        <p:spPr/>
        <p:txBody>
          <a:bodyPr/>
          <a:lstStyle/>
          <a:p>
            <a:fld id="{F56F9007-E0C6-489E-B603-BD6BB4385429}" type="slidenum">
              <a:rPr lang="hi-IN" smtClean="0"/>
              <a:t>16</a:t>
            </a:fld>
            <a:endParaRPr lang="hi-IN"/>
          </a:p>
        </p:txBody>
      </p:sp>
      <p:pic>
        <p:nvPicPr>
          <p:cNvPr id="1026" name="Picture 2">
            <a:extLst>
              <a:ext uri="{FF2B5EF4-FFF2-40B4-BE49-F238E27FC236}">
                <a16:creationId xmlns:a16="http://schemas.microsoft.com/office/drawing/2014/main" id="{BFC7C858-1AFD-43D2-B585-FD7A7BF308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271" y="4001294"/>
            <a:ext cx="3314700" cy="2491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582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4C27B-461D-4BFC-A219-49659F0C8249}"/>
              </a:ext>
            </a:extLst>
          </p:cNvPr>
          <p:cNvSpPr>
            <a:spLocks noGrp="1"/>
          </p:cNvSpPr>
          <p:nvPr>
            <p:ph type="title"/>
          </p:nvPr>
        </p:nvSpPr>
        <p:spPr/>
        <p:txBody>
          <a:bodyPr/>
          <a:lstStyle/>
          <a:p>
            <a:r>
              <a:rPr lang="en-US" b="1" dirty="0"/>
              <a:t>Example 1</a:t>
            </a:r>
            <a:endParaRPr lang="hi-IN" b="1" dirty="0"/>
          </a:p>
        </p:txBody>
      </p:sp>
      <p:sp>
        <p:nvSpPr>
          <p:cNvPr id="3" name="Content Placeholder 2">
            <a:extLst>
              <a:ext uri="{FF2B5EF4-FFF2-40B4-BE49-F238E27FC236}">
                <a16:creationId xmlns:a16="http://schemas.microsoft.com/office/drawing/2014/main" id="{B4900B0F-410D-4584-913F-E68E3D0201E9}"/>
              </a:ext>
            </a:extLst>
          </p:cNvPr>
          <p:cNvSpPr>
            <a:spLocks noGrp="1"/>
          </p:cNvSpPr>
          <p:nvPr>
            <p:ph idx="1"/>
          </p:nvPr>
        </p:nvSpPr>
        <p:spPr/>
        <p:txBody>
          <a:bodyPr>
            <a:normAutofit lnSpcReduction="10000"/>
          </a:bodyPr>
          <a:lstStyle/>
          <a:p>
            <a:r>
              <a:rPr lang="en-US" dirty="0"/>
              <a:t>Solve the given TSP using Branch and Bound</a:t>
            </a:r>
          </a:p>
          <a:p>
            <a:endParaRPr lang="en-US" dirty="0"/>
          </a:p>
          <a:p>
            <a:pPr marL="0" indent="0">
              <a:buNone/>
            </a:pPr>
            <a:r>
              <a:rPr lang="en-US" dirty="0"/>
              <a:t>					</a:t>
            </a:r>
            <a:r>
              <a:rPr lang="en-US" b="1" dirty="0"/>
              <a:t>Solution:</a:t>
            </a:r>
          </a:p>
          <a:p>
            <a:pPr marL="0" indent="0">
              <a:buNone/>
            </a:pPr>
            <a:r>
              <a:rPr lang="en-US" dirty="0"/>
              <a:t>					Step 1: Write the initial cost matrix and 					reduce it</a:t>
            </a:r>
          </a:p>
          <a:p>
            <a:pPr marL="0" indent="0">
              <a:buNone/>
            </a:pPr>
            <a:r>
              <a:rPr lang="en-US" dirty="0"/>
              <a:t>					Step 2: Select the best vertex where we 					can land upon to minimize the tour cost</a:t>
            </a:r>
          </a:p>
          <a:p>
            <a:pPr marL="0" indent="0">
              <a:buNone/>
            </a:pPr>
            <a:r>
              <a:rPr lang="en-US" dirty="0"/>
              <a:t>					Step 3: Expand the selected vertex and 					repeat step 1 till the end point is 						reached</a:t>
            </a:r>
            <a:endParaRPr lang="hi-IN" dirty="0"/>
          </a:p>
        </p:txBody>
      </p:sp>
      <p:sp>
        <p:nvSpPr>
          <p:cNvPr id="4" name="Footer Placeholder 3">
            <a:extLst>
              <a:ext uri="{FF2B5EF4-FFF2-40B4-BE49-F238E27FC236}">
                <a16:creationId xmlns:a16="http://schemas.microsoft.com/office/drawing/2014/main" id="{BD75221A-2AFD-4F10-A899-496F6C2CE539}"/>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9F9AF4D9-47A1-4A76-BF45-E7774FC4E8B0}"/>
              </a:ext>
            </a:extLst>
          </p:cNvPr>
          <p:cNvSpPr>
            <a:spLocks noGrp="1"/>
          </p:cNvSpPr>
          <p:nvPr>
            <p:ph type="sldNum" sz="quarter" idx="12"/>
          </p:nvPr>
        </p:nvSpPr>
        <p:spPr/>
        <p:txBody>
          <a:bodyPr/>
          <a:lstStyle/>
          <a:p>
            <a:fld id="{F56F9007-E0C6-489E-B603-BD6BB4385429}" type="slidenum">
              <a:rPr lang="hi-IN" smtClean="0"/>
              <a:t>17</a:t>
            </a:fld>
            <a:endParaRPr lang="hi-IN"/>
          </a:p>
        </p:txBody>
      </p:sp>
      <p:pic>
        <p:nvPicPr>
          <p:cNvPr id="49" name="Picture 48">
            <a:extLst>
              <a:ext uri="{FF2B5EF4-FFF2-40B4-BE49-F238E27FC236}">
                <a16:creationId xmlns:a16="http://schemas.microsoft.com/office/drawing/2014/main" id="{A40EE245-6955-4E32-84E3-A94E5F0CC9ED}"/>
              </a:ext>
            </a:extLst>
          </p:cNvPr>
          <p:cNvPicPr>
            <a:picLocks noChangeAspect="1"/>
          </p:cNvPicPr>
          <p:nvPr/>
        </p:nvPicPr>
        <p:blipFill>
          <a:blip r:embed="rId2"/>
          <a:stretch>
            <a:fillRect/>
          </a:stretch>
        </p:blipFill>
        <p:spPr>
          <a:xfrm>
            <a:off x="1047625" y="2385060"/>
            <a:ext cx="3600450" cy="2971800"/>
          </a:xfrm>
          <a:prstGeom prst="rect">
            <a:avLst/>
          </a:prstGeom>
        </p:spPr>
      </p:pic>
    </p:spTree>
    <p:extLst>
      <p:ext uri="{BB962C8B-B14F-4D97-AF65-F5344CB8AC3E}">
        <p14:creationId xmlns:p14="http://schemas.microsoft.com/office/powerpoint/2010/main" val="320481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B82DA-95C8-4B6F-AE2A-86F645E0A0FF}"/>
              </a:ext>
            </a:extLst>
          </p:cNvPr>
          <p:cNvSpPr>
            <a:spLocks noGrp="1"/>
          </p:cNvSpPr>
          <p:nvPr>
            <p:ph type="title"/>
          </p:nvPr>
        </p:nvSpPr>
        <p:spPr/>
        <p:txBody>
          <a:bodyPr/>
          <a:lstStyle/>
          <a:p>
            <a:r>
              <a:rPr lang="en-US" b="1" dirty="0"/>
              <a:t>Example 1: TSP</a:t>
            </a:r>
            <a:endParaRPr lang="hi-IN" b="1" dirty="0"/>
          </a:p>
        </p:txBody>
      </p:sp>
      <p:sp>
        <p:nvSpPr>
          <p:cNvPr id="3" name="Content Placeholder 2">
            <a:extLst>
              <a:ext uri="{FF2B5EF4-FFF2-40B4-BE49-F238E27FC236}">
                <a16:creationId xmlns:a16="http://schemas.microsoft.com/office/drawing/2014/main" id="{B67C6158-E828-4D99-A856-8E0EF09F885B}"/>
              </a:ext>
            </a:extLst>
          </p:cNvPr>
          <p:cNvSpPr>
            <a:spLocks noGrp="1"/>
          </p:cNvSpPr>
          <p:nvPr>
            <p:ph idx="1"/>
          </p:nvPr>
        </p:nvSpPr>
        <p:spPr>
          <a:xfrm>
            <a:off x="838200" y="1615440"/>
            <a:ext cx="10515600" cy="4740910"/>
          </a:xfrm>
        </p:spPr>
        <p:txBody>
          <a:bodyPr>
            <a:normAutofit fontScale="77500" lnSpcReduction="20000"/>
          </a:bodyPr>
          <a:lstStyle/>
          <a:p>
            <a:r>
              <a:rPr lang="en-US" dirty="0"/>
              <a:t>Step 1: Write the initial cost matrix and reduce it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For reduction, do the following: </a:t>
            </a:r>
          </a:p>
          <a:p>
            <a:pPr lvl="1"/>
            <a:r>
              <a:rPr lang="en-US" dirty="0"/>
              <a:t>Reduce by row and reduce by column</a:t>
            </a:r>
          </a:p>
          <a:p>
            <a:pPr lvl="1"/>
            <a:r>
              <a:rPr lang="en-US" dirty="0"/>
              <a:t>Subtract each row and column by the minimum entry in that row/column</a:t>
            </a:r>
          </a:p>
          <a:p>
            <a:pPr lvl="1"/>
            <a:r>
              <a:rPr lang="en-US" dirty="0"/>
              <a:t>If a particular row or a column has a zero (0) then that row/column need not be reduced (i.e.) it is already in the reduced form</a:t>
            </a:r>
          </a:p>
          <a:p>
            <a:endParaRPr lang="hi-IN" dirty="0"/>
          </a:p>
        </p:txBody>
      </p:sp>
      <p:sp>
        <p:nvSpPr>
          <p:cNvPr id="4" name="Footer Placeholder 3">
            <a:extLst>
              <a:ext uri="{FF2B5EF4-FFF2-40B4-BE49-F238E27FC236}">
                <a16:creationId xmlns:a16="http://schemas.microsoft.com/office/drawing/2014/main" id="{DE647203-B33A-4024-8BBF-D8C4B00DE0C5}"/>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3693C6C5-A682-4D15-ADFC-E4F540152C4E}"/>
              </a:ext>
            </a:extLst>
          </p:cNvPr>
          <p:cNvSpPr>
            <a:spLocks noGrp="1"/>
          </p:cNvSpPr>
          <p:nvPr>
            <p:ph type="sldNum" sz="quarter" idx="12"/>
          </p:nvPr>
        </p:nvSpPr>
        <p:spPr/>
        <p:txBody>
          <a:bodyPr/>
          <a:lstStyle/>
          <a:p>
            <a:fld id="{F56F9007-E0C6-489E-B603-BD6BB4385429}" type="slidenum">
              <a:rPr lang="hi-IN" smtClean="0"/>
              <a:t>18</a:t>
            </a:fld>
            <a:endParaRPr lang="hi-IN"/>
          </a:p>
        </p:txBody>
      </p:sp>
      <p:pic>
        <p:nvPicPr>
          <p:cNvPr id="6" name="Picture 5">
            <a:extLst>
              <a:ext uri="{FF2B5EF4-FFF2-40B4-BE49-F238E27FC236}">
                <a16:creationId xmlns:a16="http://schemas.microsoft.com/office/drawing/2014/main" id="{1DF03258-4684-4509-B863-D8EB541B629F}"/>
              </a:ext>
            </a:extLst>
          </p:cNvPr>
          <p:cNvPicPr>
            <a:picLocks noChangeAspect="1"/>
          </p:cNvPicPr>
          <p:nvPr/>
        </p:nvPicPr>
        <p:blipFill>
          <a:blip r:embed="rId2"/>
          <a:stretch>
            <a:fillRect/>
          </a:stretch>
        </p:blipFill>
        <p:spPr>
          <a:xfrm>
            <a:off x="1196975" y="1999016"/>
            <a:ext cx="3445822" cy="2844171"/>
          </a:xfrm>
          <a:prstGeom prst="rect">
            <a:avLst/>
          </a:prstGeom>
        </p:spPr>
      </p:pic>
      <p:graphicFrame>
        <p:nvGraphicFramePr>
          <p:cNvPr id="7" name="Table 7">
            <a:extLst>
              <a:ext uri="{FF2B5EF4-FFF2-40B4-BE49-F238E27FC236}">
                <a16:creationId xmlns:a16="http://schemas.microsoft.com/office/drawing/2014/main" id="{974C22DF-38F7-4EA4-9C43-179BCC20E546}"/>
              </a:ext>
            </a:extLst>
          </p:cNvPr>
          <p:cNvGraphicFramePr>
            <a:graphicFrameLocks noGrp="1"/>
          </p:cNvGraphicFramePr>
          <p:nvPr>
            <p:extLst>
              <p:ext uri="{D42A27DB-BD31-4B8C-83A1-F6EECF244321}">
                <p14:modId xmlns:p14="http://schemas.microsoft.com/office/powerpoint/2010/main" val="1432051255"/>
              </p:ext>
            </p:extLst>
          </p:nvPr>
        </p:nvGraphicFramePr>
        <p:xfrm>
          <a:off x="6720840" y="2385060"/>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4</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12</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7</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11</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6</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10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2</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9" name="TextBox 8">
            <a:extLst>
              <a:ext uri="{FF2B5EF4-FFF2-40B4-BE49-F238E27FC236}">
                <a16:creationId xmlns:a16="http://schemas.microsoft.com/office/drawing/2014/main" id="{F7556A01-6ED7-4DDE-B482-03F8513BF51B}"/>
              </a:ext>
            </a:extLst>
          </p:cNvPr>
          <p:cNvSpPr txBox="1"/>
          <p:nvPr/>
        </p:nvSpPr>
        <p:spPr>
          <a:xfrm>
            <a:off x="7538720" y="1853208"/>
            <a:ext cx="2143760" cy="369332"/>
          </a:xfrm>
          <a:prstGeom prst="rect">
            <a:avLst/>
          </a:prstGeom>
          <a:noFill/>
        </p:spPr>
        <p:txBody>
          <a:bodyPr wrap="square" rtlCol="0">
            <a:spAutoFit/>
          </a:bodyPr>
          <a:lstStyle/>
          <a:p>
            <a:r>
              <a:rPr lang="en-US" b="1" dirty="0"/>
              <a:t>Initial Cost Matrix</a:t>
            </a:r>
            <a:endParaRPr lang="hi-IN" b="1" dirty="0"/>
          </a:p>
        </p:txBody>
      </p:sp>
    </p:spTree>
    <p:extLst>
      <p:ext uri="{BB962C8B-B14F-4D97-AF65-F5344CB8AC3E}">
        <p14:creationId xmlns:p14="http://schemas.microsoft.com/office/powerpoint/2010/main" val="248637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8903D-CBFB-4E52-922E-E400CD068D84}"/>
              </a:ext>
            </a:extLst>
          </p:cNvPr>
          <p:cNvSpPr>
            <a:spLocks noGrp="1"/>
          </p:cNvSpPr>
          <p:nvPr>
            <p:ph type="title"/>
          </p:nvPr>
        </p:nvSpPr>
        <p:spPr/>
        <p:txBody>
          <a:bodyPr/>
          <a:lstStyle/>
          <a:p>
            <a:r>
              <a:rPr lang="en-US" b="1" dirty="0"/>
              <a:t>Example 1: TSP -- </a:t>
            </a:r>
            <a:r>
              <a:rPr lang="en-US" b="1" dirty="0" err="1"/>
              <a:t>contd</a:t>
            </a:r>
            <a:endParaRPr lang="hi-IN" dirty="0"/>
          </a:p>
        </p:txBody>
      </p:sp>
      <p:sp>
        <p:nvSpPr>
          <p:cNvPr id="3" name="Content Placeholder 2">
            <a:extLst>
              <a:ext uri="{FF2B5EF4-FFF2-40B4-BE49-F238E27FC236}">
                <a16:creationId xmlns:a16="http://schemas.microsoft.com/office/drawing/2014/main" id="{F4BC3BCE-F184-4176-8B5B-0467AB0D4D74}"/>
              </a:ext>
            </a:extLst>
          </p:cNvPr>
          <p:cNvSpPr>
            <a:spLocks noGrp="1"/>
          </p:cNvSpPr>
          <p:nvPr>
            <p:ph idx="1"/>
          </p:nvPr>
        </p:nvSpPr>
        <p:spPr>
          <a:xfrm>
            <a:off x="838200" y="1452880"/>
            <a:ext cx="10515600" cy="4724083"/>
          </a:xfrm>
        </p:spPr>
        <p:txBody>
          <a:bodyPr/>
          <a:lstStyle/>
          <a:p>
            <a:endParaRPr lang="en-US" dirty="0"/>
          </a:p>
          <a:p>
            <a:endParaRPr lang="en-US" dirty="0"/>
          </a:p>
          <a:p>
            <a:endParaRPr lang="en-US" dirty="0"/>
          </a:p>
          <a:p>
            <a:endParaRPr lang="en-US" dirty="0"/>
          </a:p>
          <a:p>
            <a:pPr marL="0" indent="0">
              <a:buNone/>
            </a:pPr>
            <a:r>
              <a:rPr lang="en-US" dirty="0"/>
              <a:t>          </a:t>
            </a:r>
            <a:endParaRPr lang="hi-IN" dirty="0"/>
          </a:p>
        </p:txBody>
      </p:sp>
      <p:sp>
        <p:nvSpPr>
          <p:cNvPr id="4" name="Footer Placeholder 3">
            <a:extLst>
              <a:ext uri="{FF2B5EF4-FFF2-40B4-BE49-F238E27FC236}">
                <a16:creationId xmlns:a16="http://schemas.microsoft.com/office/drawing/2014/main" id="{C9D3D2A9-5869-4D77-A453-E9ECEE1CD1C3}"/>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E50B71DD-CEC2-45A7-B0E3-A3FA51151025}"/>
              </a:ext>
            </a:extLst>
          </p:cNvPr>
          <p:cNvSpPr>
            <a:spLocks noGrp="1"/>
          </p:cNvSpPr>
          <p:nvPr>
            <p:ph type="sldNum" sz="quarter" idx="12"/>
          </p:nvPr>
        </p:nvSpPr>
        <p:spPr/>
        <p:txBody>
          <a:bodyPr/>
          <a:lstStyle/>
          <a:p>
            <a:fld id="{F56F9007-E0C6-489E-B603-BD6BB4385429}" type="slidenum">
              <a:rPr lang="hi-IN" smtClean="0"/>
              <a:t>19</a:t>
            </a:fld>
            <a:endParaRPr lang="hi-IN"/>
          </a:p>
        </p:txBody>
      </p:sp>
      <p:graphicFrame>
        <p:nvGraphicFramePr>
          <p:cNvPr id="6" name="Table 7">
            <a:extLst>
              <a:ext uri="{FF2B5EF4-FFF2-40B4-BE49-F238E27FC236}">
                <a16:creationId xmlns:a16="http://schemas.microsoft.com/office/drawing/2014/main" id="{1073B627-22E7-4A3E-AD23-34E102DE23EC}"/>
              </a:ext>
            </a:extLst>
          </p:cNvPr>
          <p:cNvGraphicFramePr>
            <a:graphicFrameLocks noGrp="1"/>
          </p:cNvGraphicFramePr>
          <p:nvPr>
            <p:extLst>
              <p:ext uri="{D42A27DB-BD31-4B8C-83A1-F6EECF244321}">
                <p14:modId xmlns:p14="http://schemas.microsoft.com/office/powerpoint/2010/main" val="249079353"/>
              </p:ext>
            </p:extLst>
          </p:nvPr>
        </p:nvGraphicFramePr>
        <p:xfrm>
          <a:off x="955040" y="1632532"/>
          <a:ext cx="3190240" cy="152085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20605">
                  <a:extLst>
                    <a:ext uri="{9D8B030D-6E8A-4147-A177-3AD203B41FA5}">
                      <a16:colId xmlns:a16="http://schemas.microsoft.com/office/drawing/2014/main" val="328198431"/>
                    </a:ext>
                  </a:extLst>
                </a:gridCol>
              </a:tblGrid>
              <a:tr h="302281">
                <a:tc>
                  <a:txBody>
                    <a:bodyPr/>
                    <a:lstStyle/>
                    <a:p>
                      <a:pPr algn="ctr"/>
                      <a:endParaRPr lang="hi-IN" sz="1500" dirty="0">
                        <a:solidFill>
                          <a:schemeClr val="tx1"/>
                        </a:solidFill>
                      </a:endParaRPr>
                    </a:p>
                  </a:txBody>
                  <a:tcPr marT="37785" marB="37785">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500" dirty="0">
                          <a:solidFill>
                            <a:schemeClr val="tx1"/>
                          </a:solidFill>
                        </a:rPr>
                        <a:t>A</a:t>
                      </a:r>
                      <a:endParaRPr lang="hi-IN" sz="1500" dirty="0">
                        <a:solidFill>
                          <a:schemeClr val="tx1"/>
                        </a:solidFill>
                      </a:endParaRPr>
                    </a:p>
                  </a:txBody>
                  <a:tcPr marT="37785" marB="3778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B</a:t>
                      </a:r>
                      <a:endParaRPr lang="hi-IN" sz="1500" dirty="0">
                        <a:solidFill>
                          <a:schemeClr val="tx1"/>
                        </a:solidFill>
                      </a:endParaRPr>
                    </a:p>
                  </a:txBody>
                  <a:tcPr marT="37785" marB="3778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C</a:t>
                      </a:r>
                      <a:endParaRPr lang="hi-IN" sz="1500" dirty="0">
                        <a:solidFill>
                          <a:schemeClr val="tx1"/>
                        </a:solidFill>
                      </a:endParaRPr>
                    </a:p>
                  </a:txBody>
                  <a:tcPr marT="37785" marB="3778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D</a:t>
                      </a:r>
                      <a:endParaRPr lang="hi-IN" sz="1500" dirty="0">
                        <a:solidFill>
                          <a:schemeClr val="tx1"/>
                        </a:solidFill>
                      </a:endParaRPr>
                    </a:p>
                  </a:txBody>
                  <a:tcPr marT="37785" marB="3778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Min</a:t>
                      </a:r>
                      <a:endParaRPr lang="hi-IN" sz="1500" dirty="0">
                        <a:solidFill>
                          <a:schemeClr val="tx1"/>
                        </a:solidFill>
                      </a:endParaRPr>
                    </a:p>
                  </a:txBody>
                  <a:tcPr marT="37785" marB="37785">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02281">
                <a:tc>
                  <a:txBody>
                    <a:bodyPr/>
                    <a:lstStyle/>
                    <a:p>
                      <a:pPr algn="ctr"/>
                      <a:r>
                        <a:rPr lang="en-US" sz="1500" b="1" dirty="0">
                          <a:solidFill>
                            <a:schemeClr val="tx1"/>
                          </a:solidFill>
                        </a:rPr>
                        <a:t>A</a:t>
                      </a:r>
                      <a:endParaRPr lang="hi-IN" sz="1500" b="1" dirty="0">
                        <a:solidFill>
                          <a:schemeClr val="tx1"/>
                        </a:solidFill>
                      </a:endParaRPr>
                    </a:p>
                  </a:txBody>
                  <a:tcPr marT="37785" marB="37785">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sz="1500" dirty="0">
                          <a:solidFill>
                            <a:schemeClr val="tx1"/>
                          </a:solidFill>
                        </a:rPr>
                        <a:t>∞</a:t>
                      </a: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4</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12</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7</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4</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02281">
                <a:tc>
                  <a:txBody>
                    <a:bodyPr/>
                    <a:lstStyle/>
                    <a:p>
                      <a:pPr algn="ctr"/>
                      <a:r>
                        <a:rPr lang="en-US" sz="1500" b="1" dirty="0">
                          <a:solidFill>
                            <a:schemeClr val="tx1"/>
                          </a:solidFill>
                        </a:rPr>
                        <a:t>B</a:t>
                      </a:r>
                      <a:endParaRPr lang="hi-IN" sz="1500" b="1" dirty="0">
                        <a:solidFill>
                          <a:schemeClr val="tx1"/>
                        </a:solidFill>
                      </a:endParaRPr>
                    </a:p>
                  </a:txBody>
                  <a:tcPr marT="37785" marB="37785">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500" dirty="0">
                          <a:solidFill>
                            <a:schemeClr val="tx1"/>
                          </a:solidFill>
                        </a:rPr>
                        <a:t>5</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sz="1500" dirty="0">
                          <a:solidFill>
                            <a:schemeClr val="tx1"/>
                          </a:solidFill>
                        </a:rPr>
                        <a:t>∞</a:t>
                      </a: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sz="1500" dirty="0">
                          <a:solidFill>
                            <a:schemeClr val="tx1"/>
                          </a:solidFill>
                        </a:rPr>
                        <a:t>∞</a:t>
                      </a: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18</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5</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02281">
                <a:tc>
                  <a:txBody>
                    <a:bodyPr/>
                    <a:lstStyle/>
                    <a:p>
                      <a:pPr algn="ctr"/>
                      <a:r>
                        <a:rPr lang="en-US" sz="1500" b="1" dirty="0">
                          <a:solidFill>
                            <a:schemeClr val="tx1"/>
                          </a:solidFill>
                        </a:rPr>
                        <a:t>C</a:t>
                      </a:r>
                      <a:endParaRPr lang="hi-IN" sz="1500" b="1" dirty="0">
                        <a:solidFill>
                          <a:schemeClr val="tx1"/>
                        </a:solidFill>
                      </a:endParaRPr>
                    </a:p>
                  </a:txBody>
                  <a:tcPr marT="37785" marB="37785">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500" dirty="0">
                          <a:solidFill>
                            <a:schemeClr val="tx1"/>
                          </a:solidFill>
                        </a:rPr>
                        <a:t>11</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sz="1500" dirty="0">
                          <a:solidFill>
                            <a:schemeClr val="tx1"/>
                          </a:solidFill>
                        </a:rPr>
                        <a:t>∞</a:t>
                      </a: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sz="1500" dirty="0">
                          <a:solidFill>
                            <a:schemeClr val="tx1"/>
                          </a:solidFill>
                        </a:rPr>
                        <a:t>∞</a:t>
                      </a: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6</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6</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02281">
                <a:tc>
                  <a:txBody>
                    <a:bodyPr/>
                    <a:lstStyle/>
                    <a:p>
                      <a:pPr algn="ctr"/>
                      <a:r>
                        <a:rPr lang="en-US" sz="1500" b="1" dirty="0">
                          <a:solidFill>
                            <a:schemeClr val="tx1"/>
                          </a:solidFill>
                        </a:rPr>
                        <a:t>D</a:t>
                      </a:r>
                      <a:endParaRPr lang="hi-IN" sz="1500" b="1" dirty="0">
                        <a:solidFill>
                          <a:schemeClr val="tx1"/>
                        </a:solidFill>
                      </a:endParaRPr>
                    </a:p>
                  </a:txBody>
                  <a:tcPr marT="37785" marB="37785">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500" dirty="0">
                          <a:solidFill>
                            <a:schemeClr val="tx1"/>
                          </a:solidFill>
                        </a:rPr>
                        <a:t>10</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2</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3</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sz="1500" dirty="0">
                          <a:solidFill>
                            <a:schemeClr val="tx1"/>
                          </a:solidFill>
                        </a:rPr>
                        <a:t>∞</a:t>
                      </a: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solidFill>
                            <a:schemeClr val="tx1"/>
                          </a:solidFill>
                        </a:rPr>
                        <a:t>2</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7">
            <a:extLst>
              <a:ext uri="{FF2B5EF4-FFF2-40B4-BE49-F238E27FC236}">
                <a16:creationId xmlns:a16="http://schemas.microsoft.com/office/drawing/2014/main" id="{2A5A3CF6-DE14-46FB-A6E6-CAECD865A452}"/>
              </a:ext>
            </a:extLst>
          </p:cNvPr>
          <p:cNvGraphicFramePr>
            <a:graphicFrameLocks noGrp="1"/>
          </p:cNvGraphicFramePr>
          <p:nvPr>
            <p:extLst>
              <p:ext uri="{D42A27DB-BD31-4B8C-83A1-F6EECF244321}">
                <p14:modId xmlns:p14="http://schemas.microsoft.com/office/powerpoint/2010/main" val="2019491508"/>
              </p:ext>
            </p:extLst>
          </p:nvPr>
        </p:nvGraphicFramePr>
        <p:xfrm>
          <a:off x="6294120" y="1473835"/>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r>
                        <a:rPr lang="en-US" b="1" dirty="0">
                          <a:solidFill>
                            <a:schemeClr val="tx1"/>
                          </a:solidFill>
                        </a:rPr>
                        <a:t>Min</a:t>
                      </a:r>
                      <a:endParaRPr lang="hi-IN"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9252452"/>
                  </a:ext>
                </a:extLst>
              </a:tr>
            </a:tbl>
          </a:graphicData>
        </a:graphic>
      </p:graphicFrame>
      <p:graphicFrame>
        <p:nvGraphicFramePr>
          <p:cNvPr id="8" name="Table 7">
            <a:extLst>
              <a:ext uri="{FF2B5EF4-FFF2-40B4-BE49-F238E27FC236}">
                <a16:creationId xmlns:a16="http://schemas.microsoft.com/office/drawing/2014/main" id="{F7B81FE2-5C7B-496F-BAD0-6ADF78245454}"/>
              </a:ext>
            </a:extLst>
          </p:cNvPr>
          <p:cNvGraphicFramePr>
            <a:graphicFrameLocks noGrp="1"/>
          </p:cNvGraphicFramePr>
          <p:nvPr>
            <p:extLst>
              <p:ext uri="{D42A27DB-BD31-4B8C-83A1-F6EECF244321}">
                <p14:modId xmlns:p14="http://schemas.microsoft.com/office/powerpoint/2010/main" val="998603269"/>
              </p:ext>
            </p:extLst>
          </p:nvPr>
        </p:nvGraphicFramePr>
        <p:xfrm>
          <a:off x="6426200" y="4244340"/>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7</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9" name="TextBox 8">
            <a:extLst>
              <a:ext uri="{FF2B5EF4-FFF2-40B4-BE49-F238E27FC236}">
                <a16:creationId xmlns:a16="http://schemas.microsoft.com/office/drawing/2014/main" id="{303A9617-239B-401E-A21E-BA7B3FCC9489}"/>
              </a:ext>
            </a:extLst>
          </p:cNvPr>
          <p:cNvSpPr txBox="1"/>
          <p:nvPr/>
        </p:nvSpPr>
        <p:spPr>
          <a:xfrm>
            <a:off x="4914900" y="1494155"/>
            <a:ext cx="1102360" cy="646331"/>
          </a:xfrm>
          <a:prstGeom prst="rect">
            <a:avLst/>
          </a:prstGeom>
          <a:noFill/>
        </p:spPr>
        <p:txBody>
          <a:bodyPr wrap="square" rtlCol="0">
            <a:spAutoFit/>
          </a:bodyPr>
          <a:lstStyle/>
          <a:p>
            <a:r>
              <a:rPr lang="en-US" b="1" dirty="0"/>
              <a:t>Reduce by row</a:t>
            </a:r>
            <a:endParaRPr lang="hi-IN" b="1" dirty="0"/>
          </a:p>
        </p:txBody>
      </p:sp>
      <p:sp>
        <p:nvSpPr>
          <p:cNvPr id="10" name="TextBox 9">
            <a:extLst>
              <a:ext uri="{FF2B5EF4-FFF2-40B4-BE49-F238E27FC236}">
                <a16:creationId xmlns:a16="http://schemas.microsoft.com/office/drawing/2014/main" id="{37439F4C-ACFF-4070-ABB8-C16D23B4B39E}"/>
              </a:ext>
            </a:extLst>
          </p:cNvPr>
          <p:cNvSpPr txBox="1"/>
          <p:nvPr/>
        </p:nvSpPr>
        <p:spPr>
          <a:xfrm>
            <a:off x="9710420" y="3780155"/>
            <a:ext cx="1353820" cy="646331"/>
          </a:xfrm>
          <a:prstGeom prst="rect">
            <a:avLst/>
          </a:prstGeom>
          <a:noFill/>
        </p:spPr>
        <p:txBody>
          <a:bodyPr wrap="square" rtlCol="0">
            <a:spAutoFit/>
          </a:bodyPr>
          <a:lstStyle/>
          <a:p>
            <a:r>
              <a:rPr lang="en-US" b="1" dirty="0"/>
              <a:t>Reduce by column</a:t>
            </a:r>
            <a:endParaRPr lang="hi-IN" b="1" dirty="0"/>
          </a:p>
        </p:txBody>
      </p:sp>
      <p:sp>
        <p:nvSpPr>
          <p:cNvPr id="11" name="Arrow: Right 10">
            <a:extLst>
              <a:ext uri="{FF2B5EF4-FFF2-40B4-BE49-F238E27FC236}">
                <a16:creationId xmlns:a16="http://schemas.microsoft.com/office/drawing/2014/main" id="{5FE2A24A-BADB-4B7D-86BF-8283695C449D}"/>
              </a:ext>
            </a:extLst>
          </p:cNvPr>
          <p:cNvSpPr/>
          <p:nvPr/>
        </p:nvSpPr>
        <p:spPr>
          <a:xfrm>
            <a:off x="4470400" y="2376083"/>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2" name="Arrow: Down 11">
            <a:extLst>
              <a:ext uri="{FF2B5EF4-FFF2-40B4-BE49-F238E27FC236}">
                <a16:creationId xmlns:a16="http://schemas.microsoft.com/office/drawing/2014/main" id="{7DDD791D-596C-4F17-9E41-3E8E91F4ED3C}"/>
              </a:ext>
            </a:extLst>
          </p:cNvPr>
          <p:cNvSpPr/>
          <p:nvPr/>
        </p:nvSpPr>
        <p:spPr>
          <a:xfrm>
            <a:off x="8153400" y="3575466"/>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13" name="Rectangle 12">
            <a:extLst>
              <a:ext uri="{FF2B5EF4-FFF2-40B4-BE49-F238E27FC236}">
                <a16:creationId xmlns:a16="http://schemas.microsoft.com/office/drawing/2014/main" id="{1A884A52-04DE-45F6-AF25-F0B292FC08C4}"/>
              </a:ext>
            </a:extLst>
          </p:cNvPr>
          <p:cNvSpPr/>
          <p:nvPr/>
        </p:nvSpPr>
        <p:spPr>
          <a:xfrm>
            <a:off x="466090" y="4276347"/>
            <a:ext cx="6096000" cy="646331"/>
          </a:xfrm>
          <a:prstGeom prst="rect">
            <a:avLst/>
          </a:prstGeom>
        </p:spPr>
        <p:txBody>
          <a:bodyPr>
            <a:spAutoFit/>
          </a:bodyPr>
          <a:lstStyle/>
          <a:p>
            <a:r>
              <a:rPr lang="en-US" b="1" dirty="0"/>
              <a:t>Cost of Node 1 (Initial Node) = Previous node Cost + Min of    </a:t>
            </a:r>
          </a:p>
          <a:p>
            <a:r>
              <a:rPr lang="en-US" b="1" dirty="0"/>
              <a:t>                  Row + Min of Col = 0 + 4+5+6+2+1 = 18</a:t>
            </a:r>
          </a:p>
        </p:txBody>
      </p:sp>
      <p:sp>
        <p:nvSpPr>
          <p:cNvPr id="18" name="Oval 17">
            <a:extLst>
              <a:ext uri="{FF2B5EF4-FFF2-40B4-BE49-F238E27FC236}">
                <a16:creationId xmlns:a16="http://schemas.microsoft.com/office/drawing/2014/main" id="{5B694FD6-3EE3-4A36-AC56-83601928128D}"/>
              </a:ext>
            </a:extLst>
          </p:cNvPr>
          <p:cNvSpPr/>
          <p:nvPr/>
        </p:nvSpPr>
        <p:spPr>
          <a:xfrm>
            <a:off x="3450771" y="1452880"/>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9" name="Oval 18">
            <a:extLst>
              <a:ext uri="{FF2B5EF4-FFF2-40B4-BE49-F238E27FC236}">
                <a16:creationId xmlns:a16="http://schemas.microsoft.com/office/drawing/2014/main" id="{AAA6B182-B80F-49CF-9F78-F290DA44C212}"/>
              </a:ext>
            </a:extLst>
          </p:cNvPr>
          <p:cNvSpPr/>
          <p:nvPr/>
        </p:nvSpPr>
        <p:spPr>
          <a:xfrm>
            <a:off x="6172200" y="2990055"/>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Tree>
    <p:extLst>
      <p:ext uri="{BB962C8B-B14F-4D97-AF65-F5344CB8AC3E}">
        <p14:creationId xmlns:p14="http://schemas.microsoft.com/office/powerpoint/2010/main" val="241270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12" grpId="0" animBg="1"/>
      <p:bldP spid="13" grpId="0"/>
      <p:bldP spid="18" grpId="0" animBg="1"/>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A6A76-2FF1-4931-B92C-FD069340B394}"/>
              </a:ext>
            </a:extLst>
          </p:cNvPr>
          <p:cNvSpPr>
            <a:spLocks noGrp="1"/>
          </p:cNvSpPr>
          <p:nvPr>
            <p:ph type="title"/>
          </p:nvPr>
        </p:nvSpPr>
        <p:spPr/>
        <p:txBody>
          <a:bodyPr/>
          <a:lstStyle/>
          <a:p>
            <a:r>
              <a:rPr lang="en-US" b="1" dirty="0"/>
              <a:t>Example 1: TSP -- </a:t>
            </a:r>
            <a:r>
              <a:rPr lang="en-US" b="1" dirty="0" err="1"/>
              <a:t>contd</a:t>
            </a:r>
            <a:endParaRPr lang="hi-IN" dirty="0"/>
          </a:p>
        </p:txBody>
      </p:sp>
      <p:sp>
        <p:nvSpPr>
          <p:cNvPr id="3" name="Content Placeholder 2">
            <a:extLst>
              <a:ext uri="{FF2B5EF4-FFF2-40B4-BE49-F238E27FC236}">
                <a16:creationId xmlns:a16="http://schemas.microsoft.com/office/drawing/2014/main" id="{C9A8F305-2ED9-4321-9389-BE780A84F5EB}"/>
              </a:ext>
            </a:extLst>
          </p:cNvPr>
          <p:cNvSpPr>
            <a:spLocks noGrp="1"/>
          </p:cNvSpPr>
          <p:nvPr>
            <p:ph idx="1"/>
          </p:nvPr>
        </p:nvSpPr>
        <p:spPr>
          <a:xfrm>
            <a:off x="838200" y="1631872"/>
            <a:ext cx="4104640" cy="4545091"/>
          </a:xfrm>
        </p:spPr>
        <p:txBody>
          <a:bodyPr>
            <a:normAutofit fontScale="77500" lnSpcReduction="20000"/>
          </a:bodyPr>
          <a:lstStyle/>
          <a:p>
            <a:pPr algn="just"/>
            <a:r>
              <a:rPr lang="en-US" dirty="0"/>
              <a:t>State space tree</a:t>
            </a:r>
          </a:p>
          <a:p>
            <a:pPr lvl="1" algn="just"/>
            <a:r>
              <a:rPr lang="en-US" dirty="0"/>
              <a:t>Name the nodes with unique numbers as and when explored (i.e.) root A will be called as node 1 </a:t>
            </a:r>
          </a:p>
          <a:p>
            <a:pPr lvl="1" algn="just"/>
            <a:r>
              <a:rPr lang="en-US" dirty="0"/>
              <a:t>We have the cost of the first node 1 computed in the previous step as 18</a:t>
            </a:r>
          </a:p>
          <a:p>
            <a:pPr lvl="1" algn="just"/>
            <a:r>
              <a:rPr lang="en-US" dirty="0"/>
              <a:t>Now proceed with the next level construction in the tree</a:t>
            </a:r>
          </a:p>
          <a:p>
            <a:pPr lvl="1" algn="just"/>
            <a:r>
              <a:rPr lang="en-US" dirty="0"/>
              <a:t>Explore the possibilities or options for the salesman to travel</a:t>
            </a:r>
          </a:p>
          <a:p>
            <a:pPr lvl="1" algn="just"/>
            <a:r>
              <a:rPr lang="en-US" dirty="0"/>
              <a:t>Find the cost of all the possibilities from the previously reduced matrix</a:t>
            </a:r>
          </a:p>
          <a:p>
            <a:pPr lvl="1" algn="just"/>
            <a:r>
              <a:rPr lang="en-US" dirty="0"/>
              <a:t>Choose the node with the minimum cost to explore further and repeat the steps</a:t>
            </a:r>
            <a:endParaRPr lang="hi-IN" dirty="0"/>
          </a:p>
        </p:txBody>
      </p:sp>
      <p:sp>
        <p:nvSpPr>
          <p:cNvPr id="4" name="Footer Placeholder 3">
            <a:extLst>
              <a:ext uri="{FF2B5EF4-FFF2-40B4-BE49-F238E27FC236}">
                <a16:creationId xmlns:a16="http://schemas.microsoft.com/office/drawing/2014/main" id="{02026403-B9EB-4F6F-903A-96C731B0905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C55DF90E-C7BD-4E45-9B58-794843A1103E}"/>
              </a:ext>
            </a:extLst>
          </p:cNvPr>
          <p:cNvSpPr>
            <a:spLocks noGrp="1"/>
          </p:cNvSpPr>
          <p:nvPr>
            <p:ph type="sldNum" sz="quarter" idx="12"/>
          </p:nvPr>
        </p:nvSpPr>
        <p:spPr/>
        <p:txBody>
          <a:bodyPr/>
          <a:lstStyle/>
          <a:p>
            <a:fld id="{F56F9007-E0C6-489E-B603-BD6BB4385429}" type="slidenum">
              <a:rPr lang="hi-IN" smtClean="0"/>
              <a:t>20</a:t>
            </a:fld>
            <a:endParaRPr lang="hi-IN"/>
          </a:p>
        </p:txBody>
      </p:sp>
      <p:sp>
        <p:nvSpPr>
          <p:cNvPr id="6" name="Oval 5">
            <a:extLst>
              <a:ext uri="{FF2B5EF4-FFF2-40B4-BE49-F238E27FC236}">
                <a16:creationId xmlns:a16="http://schemas.microsoft.com/office/drawing/2014/main" id="{A913F9DF-7278-49DF-8317-3CAF51FBCEB6}"/>
              </a:ext>
            </a:extLst>
          </p:cNvPr>
          <p:cNvSpPr/>
          <p:nvPr/>
        </p:nvSpPr>
        <p:spPr>
          <a:xfrm>
            <a:off x="6832600" y="1316038"/>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a:t>
            </a:r>
            <a:endParaRPr lang="hi-IN" b="1" dirty="0">
              <a:ln w="0"/>
              <a:solidFill>
                <a:schemeClr val="tx1"/>
              </a:solidFill>
              <a:effectLst>
                <a:outerShdw blurRad="38100" dist="19050" dir="2700000" algn="tl" rotWithShape="0">
                  <a:schemeClr val="dk1">
                    <a:alpha val="40000"/>
                  </a:schemeClr>
                </a:outerShdw>
              </a:effectLst>
            </a:endParaRPr>
          </a:p>
        </p:txBody>
      </p:sp>
      <p:sp>
        <p:nvSpPr>
          <p:cNvPr id="7" name="Oval 6">
            <a:extLst>
              <a:ext uri="{FF2B5EF4-FFF2-40B4-BE49-F238E27FC236}">
                <a16:creationId xmlns:a16="http://schemas.microsoft.com/office/drawing/2014/main" id="{1835B6C2-8B25-4B2C-933D-D00D3226DF4D}"/>
              </a:ext>
            </a:extLst>
          </p:cNvPr>
          <p:cNvSpPr/>
          <p:nvPr/>
        </p:nvSpPr>
        <p:spPr>
          <a:xfrm>
            <a:off x="5567680" y="243840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8" name="Oval 7">
            <a:extLst>
              <a:ext uri="{FF2B5EF4-FFF2-40B4-BE49-F238E27FC236}">
                <a16:creationId xmlns:a16="http://schemas.microsoft.com/office/drawing/2014/main" id="{B6017DD2-7AB7-49B0-A785-5E27B92278E5}"/>
              </a:ext>
            </a:extLst>
          </p:cNvPr>
          <p:cNvSpPr/>
          <p:nvPr/>
        </p:nvSpPr>
        <p:spPr>
          <a:xfrm>
            <a:off x="6832600" y="2438400"/>
            <a:ext cx="640080" cy="71389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9" name="Oval 8">
            <a:extLst>
              <a:ext uri="{FF2B5EF4-FFF2-40B4-BE49-F238E27FC236}">
                <a16:creationId xmlns:a16="http://schemas.microsoft.com/office/drawing/2014/main" id="{59FE43A2-D4B8-4884-9006-7DC09C51220B}"/>
              </a:ext>
            </a:extLst>
          </p:cNvPr>
          <p:cNvSpPr/>
          <p:nvPr/>
        </p:nvSpPr>
        <p:spPr>
          <a:xfrm>
            <a:off x="8153400" y="243840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11" name="Straight Connector 10">
            <a:extLst>
              <a:ext uri="{FF2B5EF4-FFF2-40B4-BE49-F238E27FC236}">
                <a16:creationId xmlns:a16="http://schemas.microsoft.com/office/drawing/2014/main" id="{2765B92A-42BF-4EF8-A2C0-1A5D3D8FD4BF}"/>
              </a:ext>
            </a:extLst>
          </p:cNvPr>
          <p:cNvCxnSpPr>
            <a:cxnSpLocks/>
            <a:stCxn id="6" idx="3"/>
            <a:endCxn id="7" idx="0"/>
          </p:cNvCxnSpPr>
          <p:nvPr/>
        </p:nvCxnSpPr>
        <p:spPr>
          <a:xfrm flipH="1">
            <a:off x="5887720" y="1879725"/>
            <a:ext cx="1038618" cy="558675"/>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6BCBCB4-8DEE-43B6-A0F1-0C6E7F4EF807}"/>
              </a:ext>
            </a:extLst>
          </p:cNvPr>
          <p:cNvCxnSpPr>
            <a:cxnSpLocks/>
            <a:stCxn id="6" idx="4"/>
          </p:cNvCxnSpPr>
          <p:nvPr/>
        </p:nvCxnSpPr>
        <p:spPr>
          <a:xfrm>
            <a:off x="7152640" y="1976438"/>
            <a:ext cx="0" cy="461962"/>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78654225-5969-48C4-8E15-1F36FFCD5423}"/>
              </a:ext>
            </a:extLst>
          </p:cNvPr>
          <p:cNvCxnSpPr>
            <a:cxnSpLocks/>
            <a:stCxn id="6" idx="5"/>
            <a:endCxn id="9" idx="1"/>
          </p:cNvCxnSpPr>
          <p:nvPr/>
        </p:nvCxnSpPr>
        <p:spPr>
          <a:xfrm>
            <a:off x="7378942" y="1879725"/>
            <a:ext cx="868196" cy="655388"/>
          </a:xfrm>
          <a:prstGeom prst="line">
            <a:avLst/>
          </a:prstGeom>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EE42781A-2199-4BFD-AB04-1CE69CA4B1E4}"/>
              </a:ext>
            </a:extLst>
          </p:cNvPr>
          <p:cNvSpPr txBox="1"/>
          <p:nvPr/>
        </p:nvSpPr>
        <p:spPr>
          <a:xfrm>
            <a:off x="7410328" y="1262540"/>
            <a:ext cx="2241672" cy="369332"/>
          </a:xfrm>
          <a:prstGeom prst="rect">
            <a:avLst/>
          </a:prstGeom>
          <a:noFill/>
        </p:spPr>
        <p:txBody>
          <a:bodyPr wrap="square" rtlCol="0">
            <a:spAutoFit/>
          </a:bodyPr>
          <a:lstStyle/>
          <a:p>
            <a:r>
              <a:rPr lang="en-US" b="1" dirty="0"/>
              <a:t>Cost of node 1 = 18</a:t>
            </a:r>
            <a:endParaRPr lang="hi-IN" b="1" dirty="0"/>
          </a:p>
        </p:txBody>
      </p:sp>
      <p:sp>
        <p:nvSpPr>
          <p:cNvPr id="18" name="TextBox 17">
            <a:extLst>
              <a:ext uri="{FF2B5EF4-FFF2-40B4-BE49-F238E27FC236}">
                <a16:creationId xmlns:a16="http://schemas.microsoft.com/office/drawing/2014/main" id="{2D41B398-2587-4FD3-95BF-140333BCA73E}"/>
              </a:ext>
            </a:extLst>
          </p:cNvPr>
          <p:cNvSpPr txBox="1"/>
          <p:nvPr/>
        </p:nvSpPr>
        <p:spPr>
          <a:xfrm>
            <a:off x="5231798" y="3370578"/>
            <a:ext cx="6828122" cy="3139321"/>
          </a:xfrm>
          <a:prstGeom prst="rect">
            <a:avLst/>
          </a:prstGeom>
          <a:noFill/>
        </p:spPr>
        <p:txBody>
          <a:bodyPr wrap="square" rtlCol="0">
            <a:spAutoFit/>
          </a:bodyPr>
          <a:lstStyle/>
          <a:p>
            <a:pPr algn="just"/>
            <a:r>
              <a:rPr lang="en-US" dirty="0"/>
              <a:t>To start with the next step:</a:t>
            </a:r>
          </a:p>
          <a:p>
            <a:pPr marL="742950" lvl="1" indent="-285750" algn="just">
              <a:buFont typeface="Arial" panose="020B0604020202020204" pitchFamily="34" charset="0"/>
              <a:buChar char="•"/>
            </a:pPr>
            <a:r>
              <a:rPr lang="en-US" dirty="0"/>
              <a:t>Explore the next possible node, say A--B in the tree</a:t>
            </a:r>
          </a:p>
          <a:p>
            <a:pPr marL="742950" lvl="1" indent="-285750" algn="just">
              <a:buFont typeface="Arial" panose="020B0604020202020204" pitchFamily="34" charset="0"/>
              <a:buChar char="•"/>
            </a:pPr>
            <a:r>
              <a:rPr lang="en-US" dirty="0"/>
              <a:t>Consider the matrix obtained in the step 1 and note the value of matrix[A,B] which is 0 (Zero) for further computation</a:t>
            </a:r>
          </a:p>
          <a:p>
            <a:pPr marL="742950" lvl="1" indent="-285750" algn="just">
              <a:buFont typeface="Arial" panose="020B0604020202020204" pitchFamily="34" charset="0"/>
              <a:buChar char="•"/>
            </a:pPr>
            <a:r>
              <a:rPr lang="en-US" dirty="0"/>
              <a:t>Set entire Row A and Column B to ∞</a:t>
            </a:r>
          </a:p>
          <a:p>
            <a:pPr marL="742950" lvl="1" indent="-285750" algn="just">
              <a:buFont typeface="Arial" panose="020B0604020202020204" pitchFamily="34" charset="0"/>
              <a:buChar char="•"/>
            </a:pPr>
            <a:r>
              <a:rPr lang="en-US" dirty="0"/>
              <a:t>Set matrix[B,A] to ∞</a:t>
            </a:r>
          </a:p>
          <a:p>
            <a:pPr marL="742950" lvl="1" indent="-285750" algn="just">
              <a:buFont typeface="Arial" panose="020B0604020202020204" pitchFamily="34" charset="0"/>
              <a:buChar char="•"/>
            </a:pPr>
            <a:r>
              <a:rPr lang="en-US" dirty="0"/>
              <a:t>Now write the new cost matrix with these updates</a:t>
            </a:r>
          </a:p>
          <a:p>
            <a:pPr marL="742950" lvl="1" indent="-285750" algn="just">
              <a:buFont typeface="Arial" panose="020B0604020202020204" pitchFamily="34" charset="0"/>
              <a:buChar char="•"/>
            </a:pPr>
            <a:r>
              <a:rPr lang="en-US" dirty="0"/>
              <a:t>Go with row reduction and column reduction mentioned in the previous slide and compute the cost of the node</a:t>
            </a:r>
          </a:p>
          <a:p>
            <a:pPr marL="742950" lvl="1" indent="-285750" algn="just">
              <a:buFont typeface="Arial" panose="020B0604020202020204" pitchFamily="34" charset="0"/>
              <a:buChar char="•"/>
            </a:pPr>
            <a:r>
              <a:rPr lang="en-US" dirty="0"/>
              <a:t>Now repeat these steps for the next possible nodes and choose the node with minimum cost for the next level</a:t>
            </a:r>
            <a:endParaRPr lang="hi-IN" dirty="0"/>
          </a:p>
        </p:txBody>
      </p:sp>
      <p:sp>
        <p:nvSpPr>
          <p:cNvPr id="19" name="Rectangle 18">
            <a:extLst>
              <a:ext uri="{FF2B5EF4-FFF2-40B4-BE49-F238E27FC236}">
                <a16:creationId xmlns:a16="http://schemas.microsoft.com/office/drawing/2014/main" id="{36E19BBC-DEA5-475B-80D9-7896950FE146}"/>
              </a:ext>
            </a:extLst>
          </p:cNvPr>
          <p:cNvSpPr/>
          <p:nvPr/>
        </p:nvSpPr>
        <p:spPr>
          <a:xfrm>
            <a:off x="5231798" y="2078732"/>
            <a:ext cx="840295" cy="369332"/>
          </a:xfrm>
          <a:prstGeom prst="rect">
            <a:avLst/>
          </a:prstGeom>
        </p:spPr>
        <p:txBody>
          <a:bodyPr wrap="none">
            <a:spAutoFit/>
          </a:bodyPr>
          <a:lstStyle/>
          <a:p>
            <a:r>
              <a:rPr lang="en-US" b="1" dirty="0"/>
              <a:t>node 2</a:t>
            </a:r>
            <a:endParaRPr lang="hi-IN" dirty="0"/>
          </a:p>
        </p:txBody>
      </p:sp>
      <p:sp>
        <p:nvSpPr>
          <p:cNvPr id="20" name="Rectangle 19">
            <a:extLst>
              <a:ext uri="{FF2B5EF4-FFF2-40B4-BE49-F238E27FC236}">
                <a16:creationId xmlns:a16="http://schemas.microsoft.com/office/drawing/2014/main" id="{399724AB-BA46-4DD6-AE47-5A2D7D51CC55}"/>
              </a:ext>
            </a:extLst>
          </p:cNvPr>
          <p:cNvSpPr/>
          <p:nvPr/>
        </p:nvSpPr>
        <p:spPr>
          <a:xfrm>
            <a:off x="6387053" y="2165781"/>
            <a:ext cx="840295" cy="369332"/>
          </a:xfrm>
          <a:prstGeom prst="rect">
            <a:avLst/>
          </a:prstGeom>
        </p:spPr>
        <p:txBody>
          <a:bodyPr wrap="none">
            <a:spAutoFit/>
          </a:bodyPr>
          <a:lstStyle/>
          <a:p>
            <a:r>
              <a:rPr lang="en-US" b="1" dirty="0"/>
              <a:t>node 3</a:t>
            </a:r>
            <a:endParaRPr lang="hi-IN" dirty="0"/>
          </a:p>
        </p:txBody>
      </p:sp>
      <p:sp>
        <p:nvSpPr>
          <p:cNvPr id="21" name="Rectangle 20">
            <a:extLst>
              <a:ext uri="{FF2B5EF4-FFF2-40B4-BE49-F238E27FC236}">
                <a16:creationId xmlns:a16="http://schemas.microsoft.com/office/drawing/2014/main" id="{050F5224-4126-4D50-B05B-458ACBD4CC94}"/>
              </a:ext>
            </a:extLst>
          </p:cNvPr>
          <p:cNvSpPr/>
          <p:nvPr/>
        </p:nvSpPr>
        <p:spPr>
          <a:xfrm>
            <a:off x="8531164" y="2166622"/>
            <a:ext cx="840295" cy="369332"/>
          </a:xfrm>
          <a:prstGeom prst="rect">
            <a:avLst/>
          </a:prstGeom>
        </p:spPr>
        <p:txBody>
          <a:bodyPr wrap="none">
            <a:spAutoFit/>
          </a:bodyPr>
          <a:lstStyle/>
          <a:p>
            <a:r>
              <a:rPr lang="en-US" b="1" dirty="0"/>
              <a:t>node 4</a:t>
            </a:r>
            <a:endParaRPr lang="hi-IN" dirty="0"/>
          </a:p>
        </p:txBody>
      </p:sp>
      <p:pic>
        <p:nvPicPr>
          <p:cNvPr id="22" name="Picture 21">
            <a:extLst>
              <a:ext uri="{FF2B5EF4-FFF2-40B4-BE49-F238E27FC236}">
                <a16:creationId xmlns:a16="http://schemas.microsoft.com/office/drawing/2014/main" id="{DECF14A8-80B3-4386-8EE3-65E6A52B5423}"/>
              </a:ext>
            </a:extLst>
          </p:cNvPr>
          <p:cNvPicPr>
            <a:picLocks noChangeAspect="1"/>
          </p:cNvPicPr>
          <p:nvPr/>
        </p:nvPicPr>
        <p:blipFill>
          <a:blip r:embed="rId2"/>
          <a:stretch>
            <a:fillRect/>
          </a:stretch>
        </p:blipFill>
        <p:spPr>
          <a:xfrm>
            <a:off x="9712848" y="287909"/>
            <a:ext cx="2113392" cy="1744387"/>
          </a:xfrm>
          <a:prstGeom prst="rect">
            <a:avLst/>
          </a:prstGeom>
        </p:spPr>
      </p:pic>
    </p:spTree>
    <p:extLst>
      <p:ext uri="{BB962C8B-B14F-4D97-AF65-F5344CB8AC3E}">
        <p14:creationId xmlns:p14="http://schemas.microsoft.com/office/powerpoint/2010/main" val="99521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7" grpId="0" animBg="1"/>
      <p:bldP spid="8" grpId="0" animBg="1"/>
      <p:bldP spid="9" grpId="0" animBg="1"/>
      <p:bldP spid="17" grpId="0"/>
      <p:bldP spid="18" grpId="0"/>
      <p:bldP spid="19" grpId="0"/>
      <p:bldP spid="20"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2189-7552-4E33-9E7B-4DE20289BB36}"/>
              </a:ext>
            </a:extLst>
          </p:cNvPr>
          <p:cNvSpPr>
            <a:spLocks noGrp="1"/>
          </p:cNvSpPr>
          <p:nvPr>
            <p:ph type="title"/>
          </p:nvPr>
        </p:nvSpPr>
        <p:spPr/>
        <p:txBody>
          <a:bodyPr/>
          <a:lstStyle/>
          <a:p>
            <a:r>
              <a:rPr lang="en-US" b="1" dirty="0"/>
              <a:t>Example 1: TSP -- </a:t>
            </a:r>
            <a:r>
              <a:rPr lang="en-US" b="1" dirty="0" err="1"/>
              <a:t>contd</a:t>
            </a:r>
            <a:endParaRPr lang="hi-IN" dirty="0"/>
          </a:p>
        </p:txBody>
      </p:sp>
      <p:sp>
        <p:nvSpPr>
          <p:cNvPr id="3" name="Content Placeholder 2">
            <a:extLst>
              <a:ext uri="{FF2B5EF4-FFF2-40B4-BE49-F238E27FC236}">
                <a16:creationId xmlns:a16="http://schemas.microsoft.com/office/drawing/2014/main" id="{37C055A1-8DCE-40BD-96BE-DC0349835FE9}"/>
              </a:ext>
            </a:extLst>
          </p:cNvPr>
          <p:cNvSpPr>
            <a:spLocks noGrp="1"/>
          </p:cNvSpPr>
          <p:nvPr>
            <p:ph idx="1"/>
          </p:nvPr>
        </p:nvSpPr>
        <p:spPr/>
        <p:txBody>
          <a:bodyPr/>
          <a:lstStyle/>
          <a:p>
            <a:r>
              <a:rPr lang="en-US" dirty="0"/>
              <a:t>Now exploring A—B path</a:t>
            </a:r>
          </a:p>
          <a:p>
            <a:pPr lvl="1"/>
            <a:r>
              <a:rPr lang="en-US" sz="2000" dirty="0"/>
              <a:t>The cost matrix of node A becomes…</a:t>
            </a:r>
            <a:endParaRPr lang="hi-IN" sz="2000" dirty="0"/>
          </a:p>
        </p:txBody>
      </p:sp>
      <p:sp>
        <p:nvSpPr>
          <p:cNvPr id="4" name="Footer Placeholder 3">
            <a:extLst>
              <a:ext uri="{FF2B5EF4-FFF2-40B4-BE49-F238E27FC236}">
                <a16:creationId xmlns:a16="http://schemas.microsoft.com/office/drawing/2014/main" id="{3FBCE2A8-CF2B-4146-9CF1-F8A6DCA76137}"/>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1DC7713-BE6D-4807-8365-0ED01742EAAF}"/>
              </a:ext>
            </a:extLst>
          </p:cNvPr>
          <p:cNvSpPr>
            <a:spLocks noGrp="1"/>
          </p:cNvSpPr>
          <p:nvPr>
            <p:ph type="sldNum" sz="quarter" idx="12"/>
          </p:nvPr>
        </p:nvSpPr>
        <p:spPr/>
        <p:txBody>
          <a:bodyPr/>
          <a:lstStyle/>
          <a:p>
            <a:fld id="{F56F9007-E0C6-489E-B603-BD6BB4385429}" type="slidenum">
              <a:rPr lang="hi-IN" smtClean="0"/>
              <a:t>21</a:t>
            </a:fld>
            <a:endParaRPr lang="hi-IN"/>
          </a:p>
        </p:txBody>
      </p:sp>
      <p:graphicFrame>
        <p:nvGraphicFramePr>
          <p:cNvPr id="6" name="Table 5">
            <a:extLst>
              <a:ext uri="{FF2B5EF4-FFF2-40B4-BE49-F238E27FC236}">
                <a16:creationId xmlns:a16="http://schemas.microsoft.com/office/drawing/2014/main" id="{D6F50D1C-6C10-4DEE-B1F2-B7F70D225F30}"/>
              </a:ext>
            </a:extLst>
          </p:cNvPr>
          <p:cNvGraphicFramePr>
            <a:graphicFrameLocks noGrp="1"/>
          </p:cNvGraphicFramePr>
          <p:nvPr>
            <p:extLst>
              <p:ext uri="{D42A27DB-BD31-4B8C-83A1-F6EECF244321}">
                <p14:modId xmlns:p14="http://schemas.microsoft.com/office/powerpoint/2010/main" val="1809701082"/>
              </p:ext>
            </p:extLst>
          </p:nvPr>
        </p:nvGraphicFramePr>
        <p:xfrm>
          <a:off x="177800" y="2811352"/>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7</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6">
            <a:extLst>
              <a:ext uri="{FF2B5EF4-FFF2-40B4-BE49-F238E27FC236}">
                <a16:creationId xmlns:a16="http://schemas.microsoft.com/office/drawing/2014/main" id="{A7A71D93-ABE2-429F-8576-61090397B0B1}"/>
              </a:ext>
            </a:extLst>
          </p:cNvPr>
          <p:cNvGraphicFramePr>
            <a:graphicFrameLocks noGrp="1"/>
          </p:cNvGraphicFramePr>
          <p:nvPr>
            <p:extLst>
              <p:ext uri="{D42A27DB-BD31-4B8C-83A1-F6EECF244321}">
                <p14:modId xmlns:p14="http://schemas.microsoft.com/office/powerpoint/2010/main" val="3731026548"/>
              </p:ext>
            </p:extLst>
          </p:nvPr>
        </p:nvGraphicFramePr>
        <p:xfrm>
          <a:off x="3840480" y="2791558"/>
          <a:ext cx="3180080" cy="182880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10445">
                  <a:extLst>
                    <a:ext uri="{9D8B030D-6E8A-4147-A177-3AD203B41FA5}">
                      <a16:colId xmlns:a16="http://schemas.microsoft.com/office/drawing/2014/main" val="252318787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Min</a:t>
                      </a:r>
                      <a:endParaRPr lang="hi-IN"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8" name="TextBox 7">
            <a:extLst>
              <a:ext uri="{FF2B5EF4-FFF2-40B4-BE49-F238E27FC236}">
                <a16:creationId xmlns:a16="http://schemas.microsoft.com/office/drawing/2014/main" id="{8E4B49A0-9E43-4C50-8675-1197C97366AC}"/>
              </a:ext>
            </a:extLst>
          </p:cNvPr>
          <p:cNvSpPr txBox="1"/>
          <p:nvPr/>
        </p:nvSpPr>
        <p:spPr>
          <a:xfrm>
            <a:off x="7165340" y="1642159"/>
            <a:ext cx="1102360" cy="646331"/>
          </a:xfrm>
          <a:prstGeom prst="rect">
            <a:avLst/>
          </a:prstGeom>
          <a:noFill/>
        </p:spPr>
        <p:txBody>
          <a:bodyPr wrap="square" rtlCol="0">
            <a:spAutoFit/>
          </a:bodyPr>
          <a:lstStyle/>
          <a:p>
            <a:r>
              <a:rPr lang="en-US" b="1" dirty="0"/>
              <a:t>Reduce by row</a:t>
            </a:r>
            <a:endParaRPr lang="hi-IN" b="1" dirty="0"/>
          </a:p>
        </p:txBody>
      </p:sp>
      <p:sp>
        <p:nvSpPr>
          <p:cNvPr id="9" name="TextBox 8">
            <a:extLst>
              <a:ext uri="{FF2B5EF4-FFF2-40B4-BE49-F238E27FC236}">
                <a16:creationId xmlns:a16="http://schemas.microsoft.com/office/drawing/2014/main" id="{655296CB-F437-46A9-A2A7-93457B0439B7}"/>
              </a:ext>
            </a:extLst>
          </p:cNvPr>
          <p:cNvSpPr txBox="1"/>
          <p:nvPr/>
        </p:nvSpPr>
        <p:spPr>
          <a:xfrm>
            <a:off x="10443546" y="5135484"/>
            <a:ext cx="1353820" cy="646331"/>
          </a:xfrm>
          <a:prstGeom prst="rect">
            <a:avLst/>
          </a:prstGeom>
          <a:noFill/>
        </p:spPr>
        <p:txBody>
          <a:bodyPr wrap="square" rtlCol="0">
            <a:spAutoFit/>
          </a:bodyPr>
          <a:lstStyle/>
          <a:p>
            <a:r>
              <a:rPr lang="en-US" b="1" dirty="0"/>
              <a:t>Reduce by column</a:t>
            </a:r>
            <a:endParaRPr lang="hi-IN" b="1" dirty="0"/>
          </a:p>
        </p:txBody>
      </p:sp>
      <p:sp>
        <p:nvSpPr>
          <p:cNvPr id="10" name="Arrow: Right 9">
            <a:extLst>
              <a:ext uri="{FF2B5EF4-FFF2-40B4-BE49-F238E27FC236}">
                <a16:creationId xmlns:a16="http://schemas.microsoft.com/office/drawing/2014/main" id="{68D24F80-8C16-4CDD-9AE4-FAB8D8DAA522}"/>
              </a:ext>
            </a:extLst>
          </p:cNvPr>
          <p:cNvSpPr/>
          <p:nvPr/>
        </p:nvSpPr>
        <p:spPr>
          <a:xfrm>
            <a:off x="7034530" y="2397977"/>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1" name="Arrow: Down 10">
            <a:extLst>
              <a:ext uri="{FF2B5EF4-FFF2-40B4-BE49-F238E27FC236}">
                <a16:creationId xmlns:a16="http://schemas.microsoft.com/office/drawing/2014/main" id="{64211AFF-4871-410D-AE82-03C4151657A2}"/>
              </a:ext>
            </a:extLst>
          </p:cNvPr>
          <p:cNvSpPr/>
          <p:nvPr/>
        </p:nvSpPr>
        <p:spPr>
          <a:xfrm rot="1924878">
            <a:off x="10390206" y="4653950"/>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2" name="Table 11">
            <a:extLst>
              <a:ext uri="{FF2B5EF4-FFF2-40B4-BE49-F238E27FC236}">
                <a16:creationId xmlns:a16="http://schemas.microsoft.com/office/drawing/2014/main" id="{ACF61F84-857D-49F5-A057-A4D15E8F777A}"/>
              </a:ext>
            </a:extLst>
          </p:cNvPr>
          <p:cNvGraphicFramePr>
            <a:graphicFrameLocks noGrp="1"/>
          </p:cNvGraphicFramePr>
          <p:nvPr>
            <p:extLst>
              <p:ext uri="{D42A27DB-BD31-4B8C-83A1-F6EECF244321}">
                <p14:modId xmlns:p14="http://schemas.microsoft.com/office/powerpoint/2010/main" val="1873122698"/>
              </p:ext>
            </p:extLst>
          </p:nvPr>
        </p:nvGraphicFramePr>
        <p:xfrm>
          <a:off x="8168640" y="2612388"/>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r>
                        <a:rPr lang="en-US" b="1" dirty="0">
                          <a:solidFill>
                            <a:schemeClr val="tx1"/>
                          </a:solidFill>
                        </a:rPr>
                        <a:t>Min</a:t>
                      </a:r>
                      <a:endParaRPr lang="hi-IN"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9715164"/>
                  </a:ext>
                </a:extLst>
              </a:tr>
            </a:tbl>
          </a:graphicData>
        </a:graphic>
      </p:graphicFrame>
      <p:graphicFrame>
        <p:nvGraphicFramePr>
          <p:cNvPr id="13" name="Table 12">
            <a:extLst>
              <a:ext uri="{FF2B5EF4-FFF2-40B4-BE49-F238E27FC236}">
                <a16:creationId xmlns:a16="http://schemas.microsoft.com/office/drawing/2014/main" id="{D27ADEB2-CD97-4A14-83C6-800FBA53C3AA}"/>
              </a:ext>
            </a:extLst>
          </p:cNvPr>
          <p:cNvGraphicFramePr>
            <a:graphicFrameLocks noGrp="1"/>
          </p:cNvGraphicFramePr>
          <p:nvPr>
            <p:extLst>
              <p:ext uri="{D42A27DB-BD31-4B8C-83A1-F6EECF244321}">
                <p14:modId xmlns:p14="http://schemas.microsoft.com/office/powerpoint/2010/main" val="2460429735"/>
              </p:ext>
            </p:extLst>
          </p:nvPr>
        </p:nvGraphicFramePr>
        <p:xfrm>
          <a:off x="6941820" y="4920515"/>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14" name="Rectangle 13">
            <a:extLst>
              <a:ext uri="{FF2B5EF4-FFF2-40B4-BE49-F238E27FC236}">
                <a16:creationId xmlns:a16="http://schemas.microsoft.com/office/drawing/2014/main" id="{50B45B00-727F-4D8D-BBF6-EA0D4D282D0C}"/>
              </a:ext>
            </a:extLst>
          </p:cNvPr>
          <p:cNvSpPr/>
          <p:nvPr/>
        </p:nvSpPr>
        <p:spPr>
          <a:xfrm>
            <a:off x="515620" y="5263125"/>
            <a:ext cx="6096000" cy="923330"/>
          </a:xfrm>
          <a:prstGeom prst="rect">
            <a:avLst/>
          </a:prstGeom>
        </p:spPr>
        <p:txBody>
          <a:bodyPr>
            <a:spAutoFit/>
          </a:bodyPr>
          <a:lstStyle/>
          <a:p>
            <a:r>
              <a:rPr lang="en-US" b="1" dirty="0"/>
              <a:t>Cost of Node 2= Previous node Cost + Min of Row + Min of Col + cost of current link (i.e.) matrix[A,B]</a:t>
            </a:r>
          </a:p>
          <a:p>
            <a:r>
              <a:rPr lang="en-US" b="1" dirty="0"/>
              <a:t>               = 18 + 13 + 5 + 0 = 36</a:t>
            </a:r>
          </a:p>
        </p:txBody>
      </p:sp>
      <p:sp>
        <p:nvSpPr>
          <p:cNvPr id="15" name="Arrow: Right 14">
            <a:extLst>
              <a:ext uri="{FF2B5EF4-FFF2-40B4-BE49-F238E27FC236}">
                <a16:creationId xmlns:a16="http://schemas.microsoft.com/office/drawing/2014/main" id="{1D739C4E-C824-4787-A559-9EF14E8E8E62}"/>
              </a:ext>
            </a:extLst>
          </p:cNvPr>
          <p:cNvSpPr/>
          <p:nvPr/>
        </p:nvSpPr>
        <p:spPr>
          <a:xfrm>
            <a:off x="3326130" y="3599278"/>
            <a:ext cx="656590" cy="22088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6" name="Oval 15">
            <a:extLst>
              <a:ext uri="{FF2B5EF4-FFF2-40B4-BE49-F238E27FC236}">
                <a16:creationId xmlns:a16="http://schemas.microsoft.com/office/drawing/2014/main" id="{FF9F65D7-4271-4159-A8E0-EBA54F6FC31B}"/>
              </a:ext>
            </a:extLst>
          </p:cNvPr>
          <p:cNvSpPr/>
          <p:nvPr/>
        </p:nvSpPr>
        <p:spPr>
          <a:xfrm>
            <a:off x="6373249" y="2664459"/>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7" name="Oval 16">
            <a:extLst>
              <a:ext uri="{FF2B5EF4-FFF2-40B4-BE49-F238E27FC236}">
                <a16:creationId xmlns:a16="http://schemas.microsoft.com/office/drawing/2014/main" id="{916218DF-76E0-4082-B9AE-5E93222B6EF4}"/>
              </a:ext>
            </a:extLst>
          </p:cNvPr>
          <p:cNvSpPr/>
          <p:nvPr/>
        </p:nvSpPr>
        <p:spPr>
          <a:xfrm>
            <a:off x="7807960" y="4098370"/>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pic>
        <p:nvPicPr>
          <p:cNvPr id="18" name="Picture 17">
            <a:extLst>
              <a:ext uri="{FF2B5EF4-FFF2-40B4-BE49-F238E27FC236}">
                <a16:creationId xmlns:a16="http://schemas.microsoft.com/office/drawing/2014/main" id="{233C3E17-618C-4DAC-84C4-4F3553093DA2}"/>
              </a:ext>
            </a:extLst>
          </p:cNvPr>
          <p:cNvPicPr>
            <a:picLocks noChangeAspect="1"/>
          </p:cNvPicPr>
          <p:nvPr/>
        </p:nvPicPr>
        <p:blipFill>
          <a:blip r:embed="rId2"/>
          <a:stretch>
            <a:fillRect/>
          </a:stretch>
        </p:blipFill>
        <p:spPr>
          <a:xfrm>
            <a:off x="9027107" y="186511"/>
            <a:ext cx="2987093" cy="1489965"/>
          </a:xfrm>
          <a:prstGeom prst="rect">
            <a:avLst/>
          </a:prstGeom>
        </p:spPr>
      </p:pic>
    </p:spTree>
    <p:extLst>
      <p:ext uri="{BB962C8B-B14F-4D97-AF65-F5344CB8AC3E}">
        <p14:creationId xmlns:p14="http://schemas.microsoft.com/office/powerpoint/2010/main" val="3260669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4" grpId="0"/>
      <p:bldP spid="15" grpId="0" animBg="1"/>
      <p:bldP spid="16" grpId="0" animBg="1"/>
      <p:bldP spid="1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2189-7552-4E33-9E7B-4DE20289BB36}"/>
              </a:ext>
            </a:extLst>
          </p:cNvPr>
          <p:cNvSpPr>
            <a:spLocks noGrp="1"/>
          </p:cNvSpPr>
          <p:nvPr>
            <p:ph type="title"/>
          </p:nvPr>
        </p:nvSpPr>
        <p:spPr/>
        <p:txBody>
          <a:bodyPr/>
          <a:lstStyle/>
          <a:p>
            <a:r>
              <a:rPr lang="en-US" b="1" dirty="0"/>
              <a:t>Example 1: TSP -- </a:t>
            </a:r>
            <a:r>
              <a:rPr lang="en-US" b="1" dirty="0" err="1"/>
              <a:t>contd</a:t>
            </a:r>
            <a:endParaRPr lang="hi-IN" dirty="0"/>
          </a:p>
        </p:txBody>
      </p:sp>
      <p:sp>
        <p:nvSpPr>
          <p:cNvPr id="3" name="Content Placeholder 2">
            <a:extLst>
              <a:ext uri="{FF2B5EF4-FFF2-40B4-BE49-F238E27FC236}">
                <a16:creationId xmlns:a16="http://schemas.microsoft.com/office/drawing/2014/main" id="{37C055A1-8DCE-40BD-96BE-DC0349835FE9}"/>
              </a:ext>
            </a:extLst>
          </p:cNvPr>
          <p:cNvSpPr>
            <a:spLocks noGrp="1"/>
          </p:cNvSpPr>
          <p:nvPr>
            <p:ph idx="1"/>
          </p:nvPr>
        </p:nvSpPr>
        <p:spPr/>
        <p:txBody>
          <a:bodyPr/>
          <a:lstStyle/>
          <a:p>
            <a:r>
              <a:rPr lang="en-US" dirty="0"/>
              <a:t>Now exploring A—C path</a:t>
            </a:r>
          </a:p>
          <a:p>
            <a:pPr lvl="1"/>
            <a:r>
              <a:rPr lang="en-US" sz="2000" dirty="0"/>
              <a:t>The cost matrix of node A becomes…</a:t>
            </a:r>
            <a:endParaRPr lang="hi-IN" sz="2000" dirty="0"/>
          </a:p>
        </p:txBody>
      </p:sp>
      <p:sp>
        <p:nvSpPr>
          <p:cNvPr id="4" name="Footer Placeholder 3">
            <a:extLst>
              <a:ext uri="{FF2B5EF4-FFF2-40B4-BE49-F238E27FC236}">
                <a16:creationId xmlns:a16="http://schemas.microsoft.com/office/drawing/2014/main" id="{3FBCE2A8-CF2B-4146-9CF1-F8A6DCA76137}"/>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1DC7713-BE6D-4807-8365-0ED01742EAAF}"/>
              </a:ext>
            </a:extLst>
          </p:cNvPr>
          <p:cNvSpPr>
            <a:spLocks noGrp="1"/>
          </p:cNvSpPr>
          <p:nvPr>
            <p:ph type="sldNum" sz="quarter" idx="12"/>
          </p:nvPr>
        </p:nvSpPr>
        <p:spPr/>
        <p:txBody>
          <a:bodyPr/>
          <a:lstStyle/>
          <a:p>
            <a:fld id="{F56F9007-E0C6-489E-B603-BD6BB4385429}" type="slidenum">
              <a:rPr lang="hi-IN" smtClean="0"/>
              <a:t>22</a:t>
            </a:fld>
            <a:endParaRPr lang="hi-IN"/>
          </a:p>
        </p:txBody>
      </p:sp>
      <p:graphicFrame>
        <p:nvGraphicFramePr>
          <p:cNvPr id="6" name="Table 5">
            <a:extLst>
              <a:ext uri="{FF2B5EF4-FFF2-40B4-BE49-F238E27FC236}">
                <a16:creationId xmlns:a16="http://schemas.microsoft.com/office/drawing/2014/main" id="{D6F50D1C-6C10-4DEE-B1F2-B7F70D225F30}"/>
              </a:ext>
            </a:extLst>
          </p:cNvPr>
          <p:cNvGraphicFramePr>
            <a:graphicFrameLocks noGrp="1"/>
          </p:cNvGraphicFramePr>
          <p:nvPr>
            <p:extLst>
              <p:ext uri="{D42A27DB-BD31-4B8C-83A1-F6EECF244321}">
                <p14:modId xmlns:p14="http://schemas.microsoft.com/office/powerpoint/2010/main" val="3060325572"/>
              </p:ext>
            </p:extLst>
          </p:nvPr>
        </p:nvGraphicFramePr>
        <p:xfrm>
          <a:off x="177800" y="2811352"/>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7</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6">
            <a:extLst>
              <a:ext uri="{FF2B5EF4-FFF2-40B4-BE49-F238E27FC236}">
                <a16:creationId xmlns:a16="http://schemas.microsoft.com/office/drawing/2014/main" id="{A7A71D93-ABE2-429F-8576-61090397B0B1}"/>
              </a:ext>
            </a:extLst>
          </p:cNvPr>
          <p:cNvGraphicFramePr>
            <a:graphicFrameLocks noGrp="1"/>
          </p:cNvGraphicFramePr>
          <p:nvPr>
            <p:extLst>
              <p:ext uri="{D42A27DB-BD31-4B8C-83A1-F6EECF244321}">
                <p14:modId xmlns:p14="http://schemas.microsoft.com/office/powerpoint/2010/main" val="2099536206"/>
              </p:ext>
            </p:extLst>
          </p:nvPr>
        </p:nvGraphicFramePr>
        <p:xfrm>
          <a:off x="3840480" y="2791558"/>
          <a:ext cx="3180080" cy="182880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10445">
                  <a:extLst>
                    <a:ext uri="{9D8B030D-6E8A-4147-A177-3AD203B41FA5}">
                      <a16:colId xmlns:a16="http://schemas.microsoft.com/office/drawing/2014/main" val="252318787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Min</a:t>
                      </a:r>
                      <a:endParaRPr lang="hi-IN"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8" name="TextBox 7">
            <a:extLst>
              <a:ext uri="{FF2B5EF4-FFF2-40B4-BE49-F238E27FC236}">
                <a16:creationId xmlns:a16="http://schemas.microsoft.com/office/drawing/2014/main" id="{8E4B49A0-9E43-4C50-8675-1197C97366AC}"/>
              </a:ext>
            </a:extLst>
          </p:cNvPr>
          <p:cNvSpPr txBox="1"/>
          <p:nvPr/>
        </p:nvSpPr>
        <p:spPr>
          <a:xfrm>
            <a:off x="7165340" y="1642159"/>
            <a:ext cx="1102360" cy="646331"/>
          </a:xfrm>
          <a:prstGeom prst="rect">
            <a:avLst/>
          </a:prstGeom>
          <a:noFill/>
        </p:spPr>
        <p:txBody>
          <a:bodyPr wrap="square" rtlCol="0">
            <a:spAutoFit/>
          </a:bodyPr>
          <a:lstStyle/>
          <a:p>
            <a:r>
              <a:rPr lang="en-US" b="1" dirty="0"/>
              <a:t>Reduce by row</a:t>
            </a:r>
            <a:endParaRPr lang="hi-IN" b="1" dirty="0"/>
          </a:p>
        </p:txBody>
      </p:sp>
      <p:sp>
        <p:nvSpPr>
          <p:cNvPr id="9" name="TextBox 8">
            <a:extLst>
              <a:ext uri="{FF2B5EF4-FFF2-40B4-BE49-F238E27FC236}">
                <a16:creationId xmlns:a16="http://schemas.microsoft.com/office/drawing/2014/main" id="{655296CB-F437-46A9-A2A7-93457B0439B7}"/>
              </a:ext>
            </a:extLst>
          </p:cNvPr>
          <p:cNvSpPr txBox="1"/>
          <p:nvPr/>
        </p:nvSpPr>
        <p:spPr>
          <a:xfrm>
            <a:off x="10443546" y="5135484"/>
            <a:ext cx="1353820" cy="646331"/>
          </a:xfrm>
          <a:prstGeom prst="rect">
            <a:avLst/>
          </a:prstGeom>
          <a:noFill/>
        </p:spPr>
        <p:txBody>
          <a:bodyPr wrap="square" rtlCol="0">
            <a:spAutoFit/>
          </a:bodyPr>
          <a:lstStyle/>
          <a:p>
            <a:r>
              <a:rPr lang="en-US" b="1" dirty="0"/>
              <a:t>Reduce by column</a:t>
            </a:r>
            <a:endParaRPr lang="hi-IN" b="1" dirty="0"/>
          </a:p>
        </p:txBody>
      </p:sp>
      <p:sp>
        <p:nvSpPr>
          <p:cNvPr id="10" name="Arrow: Right 9">
            <a:extLst>
              <a:ext uri="{FF2B5EF4-FFF2-40B4-BE49-F238E27FC236}">
                <a16:creationId xmlns:a16="http://schemas.microsoft.com/office/drawing/2014/main" id="{68D24F80-8C16-4CDD-9AE4-FAB8D8DAA522}"/>
              </a:ext>
            </a:extLst>
          </p:cNvPr>
          <p:cNvSpPr/>
          <p:nvPr/>
        </p:nvSpPr>
        <p:spPr>
          <a:xfrm>
            <a:off x="7034530" y="2397977"/>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1" name="Arrow: Down 10">
            <a:extLst>
              <a:ext uri="{FF2B5EF4-FFF2-40B4-BE49-F238E27FC236}">
                <a16:creationId xmlns:a16="http://schemas.microsoft.com/office/drawing/2014/main" id="{64211AFF-4871-410D-AE82-03C4151657A2}"/>
              </a:ext>
            </a:extLst>
          </p:cNvPr>
          <p:cNvSpPr/>
          <p:nvPr/>
        </p:nvSpPr>
        <p:spPr>
          <a:xfrm rot="1924878">
            <a:off x="10390206" y="4653950"/>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2" name="Table 11">
            <a:extLst>
              <a:ext uri="{FF2B5EF4-FFF2-40B4-BE49-F238E27FC236}">
                <a16:creationId xmlns:a16="http://schemas.microsoft.com/office/drawing/2014/main" id="{ACF61F84-857D-49F5-A057-A4D15E8F777A}"/>
              </a:ext>
            </a:extLst>
          </p:cNvPr>
          <p:cNvGraphicFramePr>
            <a:graphicFrameLocks noGrp="1"/>
          </p:cNvGraphicFramePr>
          <p:nvPr>
            <p:extLst>
              <p:ext uri="{D42A27DB-BD31-4B8C-83A1-F6EECF244321}">
                <p14:modId xmlns:p14="http://schemas.microsoft.com/office/powerpoint/2010/main" val="3037649065"/>
              </p:ext>
            </p:extLst>
          </p:nvPr>
        </p:nvGraphicFramePr>
        <p:xfrm>
          <a:off x="8168640" y="2612388"/>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r>
                        <a:rPr lang="en-US" b="1" dirty="0">
                          <a:solidFill>
                            <a:schemeClr val="tx1"/>
                          </a:solidFill>
                        </a:rPr>
                        <a:t>Min</a:t>
                      </a:r>
                      <a:endParaRPr lang="hi-IN"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9715164"/>
                  </a:ext>
                </a:extLst>
              </a:tr>
            </a:tbl>
          </a:graphicData>
        </a:graphic>
      </p:graphicFrame>
      <p:graphicFrame>
        <p:nvGraphicFramePr>
          <p:cNvPr id="13" name="Table 12">
            <a:extLst>
              <a:ext uri="{FF2B5EF4-FFF2-40B4-BE49-F238E27FC236}">
                <a16:creationId xmlns:a16="http://schemas.microsoft.com/office/drawing/2014/main" id="{D27ADEB2-CD97-4A14-83C6-800FBA53C3AA}"/>
              </a:ext>
            </a:extLst>
          </p:cNvPr>
          <p:cNvGraphicFramePr>
            <a:graphicFrameLocks noGrp="1"/>
          </p:cNvGraphicFramePr>
          <p:nvPr>
            <p:extLst>
              <p:ext uri="{D42A27DB-BD31-4B8C-83A1-F6EECF244321}">
                <p14:modId xmlns:p14="http://schemas.microsoft.com/office/powerpoint/2010/main" val="973257809"/>
              </p:ext>
            </p:extLst>
          </p:nvPr>
        </p:nvGraphicFramePr>
        <p:xfrm>
          <a:off x="6941820" y="4920515"/>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14" name="Rectangle 13">
            <a:extLst>
              <a:ext uri="{FF2B5EF4-FFF2-40B4-BE49-F238E27FC236}">
                <a16:creationId xmlns:a16="http://schemas.microsoft.com/office/drawing/2014/main" id="{50B45B00-727F-4D8D-BBF6-EA0D4D282D0C}"/>
              </a:ext>
            </a:extLst>
          </p:cNvPr>
          <p:cNvSpPr/>
          <p:nvPr/>
        </p:nvSpPr>
        <p:spPr>
          <a:xfrm>
            <a:off x="515620" y="5263125"/>
            <a:ext cx="6096000" cy="923330"/>
          </a:xfrm>
          <a:prstGeom prst="rect">
            <a:avLst/>
          </a:prstGeom>
        </p:spPr>
        <p:txBody>
          <a:bodyPr>
            <a:spAutoFit/>
          </a:bodyPr>
          <a:lstStyle/>
          <a:p>
            <a:r>
              <a:rPr lang="en-US" b="1" dirty="0"/>
              <a:t>Cost of Node 3= Previous node Cost + Min of Row + Min of Col + cost of current link (i.e.) matrix[A,C]</a:t>
            </a:r>
          </a:p>
          <a:p>
            <a:r>
              <a:rPr lang="en-US" b="1" dirty="0"/>
              <a:t>          = 18 + 0 + 0 + 7 = 25</a:t>
            </a:r>
          </a:p>
        </p:txBody>
      </p:sp>
      <p:sp>
        <p:nvSpPr>
          <p:cNvPr id="15" name="Arrow: Right 14">
            <a:extLst>
              <a:ext uri="{FF2B5EF4-FFF2-40B4-BE49-F238E27FC236}">
                <a16:creationId xmlns:a16="http://schemas.microsoft.com/office/drawing/2014/main" id="{328FA424-608B-4939-9533-89A1388B914C}"/>
              </a:ext>
            </a:extLst>
          </p:cNvPr>
          <p:cNvSpPr/>
          <p:nvPr/>
        </p:nvSpPr>
        <p:spPr>
          <a:xfrm>
            <a:off x="3326130" y="3599278"/>
            <a:ext cx="656590" cy="22088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6" name="Oval 15">
            <a:extLst>
              <a:ext uri="{FF2B5EF4-FFF2-40B4-BE49-F238E27FC236}">
                <a16:creationId xmlns:a16="http://schemas.microsoft.com/office/drawing/2014/main" id="{A75D6EC1-9A58-4791-B092-F8EB87DCC50D}"/>
              </a:ext>
            </a:extLst>
          </p:cNvPr>
          <p:cNvSpPr/>
          <p:nvPr/>
        </p:nvSpPr>
        <p:spPr>
          <a:xfrm>
            <a:off x="6373249" y="2664459"/>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7" name="Oval 16">
            <a:extLst>
              <a:ext uri="{FF2B5EF4-FFF2-40B4-BE49-F238E27FC236}">
                <a16:creationId xmlns:a16="http://schemas.microsoft.com/office/drawing/2014/main" id="{47465BCD-E29F-4AB0-8CA4-F829A0A74966}"/>
              </a:ext>
            </a:extLst>
          </p:cNvPr>
          <p:cNvSpPr/>
          <p:nvPr/>
        </p:nvSpPr>
        <p:spPr>
          <a:xfrm>
            <a:off x="7807960" y="4098370"/>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pic>
        <p:nvPicPr>
          <p:cNvPr id="18" name="Picture 17">
            <a:extLst>
              <a:ext uri="{FF2B5EF4-FFF2-40B4-BE49-F238E27FC236}">
                <a16:creationId xmlns:a16="http://schemas.microsoft.com/office/drawing/2014/main" id="{9B9ACAA0-DE51-437E-96E3-E05E52E223FD}"/>
              </a:ext>
            </a:extLst>
          </p:cNvPr>
          <p:cNvPicPr>
            <a:picLocks noChangeAspect="1"/>
          </p:cNvPicPr>
          <p:nvPr/>
        </p:nvPicPr>
        <p:blipFill>
          <a:blip r:embed="rId2"/>
          <a:stretch>
            <a:fillRect/>
          </a:stretch>
        </p:blipFill>
        <p:spPr>
          <a:xfrm>
            <a:off x="9027107" y="186511"/>
            <a:ext cx="2987093" cy="1489965"/>
          </a:xfrm>
          <a:prstGeom prst="rect">
            <a:avLst/>
          </a:prstGeom>
        </p:spPr>
      </p:pic>
    </p:spTree>
    <p:extLst>
      <p:ext uri="{BB962C8B-B14F-4D97-AF65-F5344CB8AC3E}">
        <p14:creationId xmlns:p14="http://schemas.microsoft.com/office/powerpoint/2010/main" val="3994199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4" grpId="0"/>
      <p:bldP spid="15" grpId="0" animBg="1"/>
      <p:bldP spid="16" grpId="0" animBg="1"/>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2189-7552-4E33-9E7B-4DE20289BB36}"/>
              </a:ext>
            </a:extLst>
          </p:cNvPr>
          <p:cNvSpPr>
            <a:spLocks noGrp="1"/>
          </p:cNvSpPr>
          <p:nvPr>
            <p:ph type="title"/>
          </p:nvPr>
        </p:nvSpPr>
        <p:spPr/>
        <p:txBody>
          <a:bodyPr/>
          <a:lstStyle/>
          <a:p>
            <a:r>
              <a:rPr lang="en-US" b="1" dirty="0"/>
              <a:t>Example 1: TSP -- </a:t>
            </a:r>
            <a:r>
              <a:rPr lang="en-US" b="1" dirty="0" err="1"/>
              <a:t>contd</a:t>
            </a:r>
            <a:endParaRPr lang="hi-IN" dirty="0"/>
          </a:p>
        </p:txBody>
      </p:sp>
      <p:sp>
        <p:nvSpPr>
          <p:cNvPr id="3" name="Content Placeholder 2">
            <a:extLst>
              <a:ext uri="{FF2B5EF4-FFF2-40B4-BE49-F238E27FC236}">
                <a16:creationId xmlns:a16="http://schemas.microsoft.com/office/drawing/2014/main" id="{37C055A1-8DCE-40BD-96BE-DC0349835FE9}"/>
              </a:ext>
            </a:extLst>
          </p:cNvPr>
          <p:cNvSpPr>
            <a:spLocks noGrp="1"/>
          </p:cNvSpPr>
          <p:nvPr>
            <p:ph idx="1"/>
          </p:nvPr>
        </p:nvSpPr>
        <p:spPr/>
        <p:txBody>
          <a:bodyPr/>
          <a:lstStyle/>
          <a:p>
            <a:r>
              <a:rPr lang="en-US" dirty="0"/>
              <a:t>Now exploring A—D path</a:t>
            </a:r>
          </a:p>
          <a:p>
            <a:pPr lvl="1"/>
            <a:r>
              <a:rPr lang="en-US" dirty="0"/>
              <a:t>The cost matrix of node A becomes…</a:t>
            </a:r>
            <a:endParaRPr lang="hi-IN" dirty="0"/>
          </a:p>
        </p:txBody>
      </p:sp>
      <p:sp>
        <p:nvSpPr>
          <p:cNvPr id="4" name="Footer Placeholder 3">
            <a:extLst>
              <a:ext uri="{FF2B5EF4-FFF2-40B4-BE49-F238E27FC236}">
                <a16:creationId xmlns:a16="http://schemas.microsoft.com/office/drawing/2014/main" id="{3FBCE2A8-CF2B-4146-9CF1-F8A6DCA76137}"/>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1DC7713-BE6D-4807-8365-0ED01742EAAF}"/>
              </a:ext>
            </a:extLst>
          </p:cNvPr>
          <p:cNvSpPr>
            <a:spLocks noGrp="1"/>
          </p:cNvSpPr>
          <p:nvPr>
            <p:ph type="sldNum" sz="quarter" idx="12"/>
          </p:nvPr>
        </p:nvSpPr>
        <p:spPr/>
        <p:txBody>
          <a:bodyPr/>
          <a:lstStyle/>
          <a:p>
            <a:fld id="{F56F9007-E0C6-489E-B603-BD6BB4385429}" type="slidenum">
              <a:rPr lang="hi-IN" smtClean="0"/>
              <a:t>23</a:t>
            </a:fld>
            <a:endParaRPr lang="hi-IN"/>
          </a:p>
        </p:txBody>
      </p:sp>
      <p:graphicFrame>
        <p:nvGraphicFramePr>
          <p:cNvPr id="6" name="Table 5">
            <a:extLst>
              <a:ext uri="{FF2B5EF4-FFF2-40B4-BE49-F238E27FC236}">
                <a16:creationId xmlns:a16="http://schemas.microsoft.com/office/drawing/2014/main" id="{D6F50D1C-6C10-4DEE-B1F2-B7F70D225F30}"/>
              </a:ext>
            </a:extLst>
          </p:cNvPr>
          <p:cNvGraphicFramePr>
            <a:graphicFrameLocks noGrp="1"/>
          </p:cNvGraphicFramePr>
          <p:nvPr/>
        </p:nvGraphicFramePr>
        <p:xfrm>
          <a:off x="177800" y="2811352"/>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7</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6">
            <a:extLst>
              <a:ext uri="{FF2B5EF4-FFF2-40B4-BE49-F238E27FC236}">
                <a16:creationId xmlns:a16="http://schemas.microsoft.com/office/drawing/2014/main" id="{A7A71D93-ABE2-429F-8576-61090397B0B1}"/>
              </a:ext>
            </a:extLst>
          </p:cNvPr>
          <p:cNvGraphicFramePr>
            <a:graphicFrameLocks noGrp="1"/>
          </p:cNvGraphicFramePr>
          <p:nvPr>
            <p:extLst>
              <p:ext uri="{D42A27DB-BD31-4B8C-83A1-F6EECF244321}">
                <p14:modId xmlns:p14="http://schemas.microsoft.com/office/powerpoint/2010/main" val="1900059865"/>
              </p:ext>
            </p:extLst>
          </p:nvPr>
        </p:nvGraphicFramePr>
        <p:xfrm>
          <a:off x="3840480" y="2791558"/>
          <a:ext cx="3180080" cy="182880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10445">
                  <a:extLst>
                    <a:ext uri="{9D8B030D-6E8A-4147-A177-3AD203B41FA5}">
                      <a16:colId xmlns:a16="http://schemas.microsoft.com/office/drawing/2014/main" val="252318787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Min</a:t>
                      </a:r>
                      <a:endParaRPr lang="hi-IN"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8" name="TextBox 7">
            <a:extLst>
              <a:ext uri="{FF2B5EF4-FFF2-40B4-BE49-F238E27FC236}">
                <a16:creationId xmlns:a16="http://schemas.microsoft.com/office/drawing/2014/main" id="{8E4B49A0-9E43-4C50-8675-1197C97366AC}"/>
              </a:ext>
            </a:extLst>
          </p:cNvPr>
          <p:cNvSpPr txBox="1"/>
          <p:nvPr/>
        </p:nvSpPr>
        <p:spPr>
          <a:xfrm>
            <a:off x="7165340" y="1642159"/>
            <a:ext cx="1102360" cy="646331"/>
          </a:xfrm>
          <a:prstGeom prst="rect">
            <a:avLst/>
          </a:prstGeom>
          <a:noFill/>
        </p:spPr>
        <p:txBody>
          <a:bodyPr wrap="square" rtlCol="0">
            <a:spAutoFit/>
          </a:bodyPr>
          <a:lstStyle/>
          <a:p>
            <a:r>
              <a:rPr lang="en-US" b="1" dirty="0"/>
              <a:t>Reduce by row</a:t>
            </a:r>
            <a:endParaRPr lang="hi-IN" b="1" dirty="0"/>
          </a:p>
        </p:txBody>
      </p:sp>
      <p:sp>
        <p:nvSpPr>
          <p:cNvPr id="9" name="TextBox 8">
            <a:extLst>
              <a:ext uri="{FF2B5EF4-FFF2-40B4-BE49-F238E27FC236}">
                <a16:creationId xmlns:a16="http://schemas.microsoft.com/office/drawing/2014/main" id="{655296CB-F437-46A9-A2A7-93457B0439B7}"/>
              </a:ext>
            </a:extLst>
          </p:cNvPr>
          <p:cNvSpPr txBox="1"/>
          <p:nvPr/>
        </p:nvSpPr>
        <p:spPr>
          <a:xfrm>
            <a:off x="10443546" y="5135484"/>
            <a:ext cx="1353820" cy="646331"/>
          </a:xfrm>
          <a:prstGeom prst="rect">
            <a:avLst/>
          </a:prstGeom>
          <a:noFill/>
        </p:spPr>
        <p:txBody>
          <a:bodyPr wrap="square" rtlCol="0">
            <a:spAutoFit/>
          </a:bodyPr>
          <a:lstStyle/>
          <a:p>
            <a:r>
              <a:rPr lang="en-US" b="1" dirty="0"/>
              <a:t>Reduce by column</a:t>
            </a:r>
            <a:endParaRPr lang="hi-IN" b="1" dirty="0"/>
          </a:p>
        </p:txBody>
      </p:sp>
      <p:sp>
        <p:nvSpPr>
          <p:cNvPr id="10" name="Arrow: Right 9">
            <a:extLst>
              <a:ext uri="{FF2B5EF4-FFF2-40B4-BE49-F238E27FC236}">
                <a16:creationId xmlns:a16="http://schemas.microsoft.com/office/drawing/2014/main" id="{68D24F80-8C16-4CDD-9AE4-FAB8D8DAA522}"/>
              </a:ext>
            </a:extLst>
          </p:cNvPr>
          <p:cNvSpPr/>
          <p:nvPr/>
        </p:nvSpPr>
        <p:spPr>
          <a:xfrm>
            <a:off x="7034530" y="2397977"/>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1" name="Arrow: Down 10">
            <a:extLst>
              <a:ext uri="{FF2B5EF4-FFF2-40B4-BE49-F238E27FC236}">
                <a16:creationId xmlns:a16="http://schemas.microsoft.com/office/drawing/2014/main" id="{64211AFF-4871-410D-AE82-03C4151657A2}"/>
              </a:ext>
            </a:extLst>
          </p:cNvPr>
          <p:cNvSpPr/>
          <p:nvPr/>
        </p:nvSpPr>
        <p:spPr>
          <a:xfrm rot="1924878">
            <a:off x="10390206" y="4653950"/>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2" name="Table 11">
            <a:extLst>
              <a:ext uri="{FF2B5EF4-FFF2-40B4-BE49-F238E27FC236}">
                <a16:creationId xmlns:a16="http://schemas.microsoft.com/office/drawing/2014/main" id="{ACF61F84-857D-49F5-A057-A4D15E8F777A}"/>
              </a:ext>
            </a:extLst>
          </p:cNvPr>
          <p:cNvGraphicFramePr>
            <a:graphicFrameLocks noGrp="1"/>
          </p:cNvGraphicFramePr>
          <p:nvPr>
            <p:extLst>
              <p:ext uri="{D42A27DB-BD31-4B8C-83A1-F6EECF244321}">
                <p14:modId xmlns:p14="http://schemas.microsoft.com/office/powerpoint/2010/main" val="3563199937"/>
              </p:ext>
            </p:extLst>
          </p:nvPr>
        </p:nvGraphicFramePr>
        <p:xfrm>
          <a:off x="8168640" y="2612388"/>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endParaRPr lang="hi-IN"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9715164"/>
                  </a:ext>
                </a:extLst>
              </a:tr>
            </a:tbl>
          </a:graphicData>
        </a:graphic>
      </p:graphicFrame>
      <p:graphicFrame>
        <p:nvGraphicFramePr>
          <p:cNvPr id="13" name="Table 12">
            <a:extLst>
              <a:ext uri="{FF2B5EF4-FFF2-40B4-BE49-F238E27FC236}">
                <a16:creationId xmlns:a16="http://schemas.microsoft.com/office/drawing/2014/main" id="{D27ADEB2-CD97-4A14-83C6-800FBA53C3AA}"/>
              </a:ext>
            </a:extLst>
          </p:cNvPr>
          <p:cNvGraphicFramePr>
            <a:graphicFrameLocks noGrp="1"/>
          </p:cNvGraphicFramePr>
          <p:nvPr>
            <p:extLst>
              <p:ext uri="{D42A27DB-BD31-4B8C-83A1-F6EECF244321}">
                <p14:modId xmlns:p14="http://schemas.microsoft.com/office/powerpoint/2010/main" val="1833754786"/>
              </p:ext>
            </p:extLst>
          </p:nvPr>
        </p:nvGraphicFramePr>
        <p:xfrm>
          <a:off x="6941820" y="4920515"/>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14" name="Rectangle 13">
            <a:extLst>
              <a:ext uri="{FF2B5EF4-FFF2-40B4-BE49-F238E27FC236}">
                <a16:creationId xmlns:a16="http://schemas.microsoft.com/office/drawing/2014/main" id="{50B45B00-727F-4D8D-BBF6-EA0D4D282D0C}"/>
              </a:ext>
            </a:extLst>
          </p:cNvPr>
          <p:cNvSpPr/>
          <p:nvPr/>
        </p:nvSpPr>
        <p:spPr>
          <a:xfrm>
            <a:off x="515620" y="5263125"/>
            <a:ext cx="6096000" cy="923330"/>
          </a:xfrm>
          <a:prstGeom prst="rect">
            <a:avLst/>
          </a:prstGeom>
        </p:spPr>
        <p:txBody>
          <a:bodyPr>
            <a:spAutoFit/>
          </a:bodyPr>
          <a:lstStyle/>
          <a:p>
            <a:r>
              <a:rPr lang="en-US" b="1" dirty="0"/>
              <a:t>Cost of Node 4= Previous node Cost + Min of Row + Min of Col + cost of current link (i.e.) matrix[A,D] </a:t>
            </a:r>
          </a:p>
          <a:p>
            <a:r>
              <a:rPr lang="en-US" b="1" dirty="0"/>
              <a:t>              = 18 + 5 + 0 + 3 = 26</a:t>
            </a:r>
          </a:p>
        </p:txBody>
      </p:sp>
      <p:sp>
        <p:nvSpPr>
          <p:cNvPr id="15" name="Arrow: Right 14">
            <a:extLst>
              <a:ext uri="{FF2B5EF4-FFF2-40B4-BE49-F238E27FC236}">
                <a16:creationId xmlns:a16="http://schemas.microsoft.com/office/drawing/2014/main" id="{328FA424-608B-4939-9533-89A1388B914C}"/>
              </a:ext>
            </a:extLst>
          </p:cNvPr>
          <p:cNvSpPr/>
          <p:nvPr/>
        </p:nvSpPr>
        <p:spPr>
          <a:xfrm>
            <a:off x="3326130" y="3599278"/>
            <a:ext cx="656590" cy="22088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6" name="Oval 15">
            <a:extLst>
              <a:ext uri="{FF2B5EF4-FFF2-40B4-BE49-F238E27FC236}">
                <a16:creationId xmlns:a16="http://schemas.microsoft.com/office/drawing/2014/main" id="{0871E751-03FC-4528-B9BE-A8E6947FE464}"/>
              </a:ext>
            </a:extLst>
          </p:cNvPr>
          <p:cNvSpPr/>
          <p:nvPr/>
        </p:nvSpPr>
        <p:spPr>
          <a:xfrm>
            <a:off x="6373249" y="2664459"/>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7" name="Oval 16">
            <a:extLst>
              <a:ext uri="{FF2B5EF4-FFF2-40B4-BE49-F238E27FC236}">
                <a16:creationId xmlns:a16="http://schemas.microsoft.com/office/drawing/2014/main" id="{CAFFA91A-B555-4EA1-BA9B-52994432C76F}"/>
              </a:ext>
            </a:extLst>
          </p:cNvPr>
          <p:cNvSpPr/>
          <p:nvPr/>
        </p:nvSpPr>
        <p:spPr>
          <a:xfrm>
            <a:off x="7807960" y="4098370"/>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pic>
        <p:nvPicPr>
          <p:cNvPr id="18" name="Picture 17">
            <a:extLst>
              <a:ext uri="{FF2B5EF4-FFF2-40B4-BE49-F238E27FC236}">
                <a16:creationId xmlns:a16="http://schemas.microsoft.com/office/drawing/2014/main" id="{EA4C8453-BA0C-4D39-A36B-938CAEA39AA5}"/>
              </a:ext>
            </a:extLst>
          </p:cNvPr>
          <p:cNvPicPr>
            <a:picLocks noChangeAspect="1"/>
          </p:cNvPicPr>
          <p:nvPr/>
        </p:nvPicPr>
        <p:blipFill>
          <a:blip r:embed="rId2"/>
          <a:stretch>
            <a:fillRect/>
          </a:stretch>
        </p:blipFill>
        <p:spPr>
          <a:xfrm>
            <a:off x="9027107" y="186511"/>
            <a:ext cx="2987093" cy="1489965"/>
          </a:xfrm>
          <a:prstGeom prst="rect">
            <a:avLst/>
          </a:prstGeom>
        </p:spPr>
      </p:pic>
    </p:spTree>
    <p:extLst>
      <p:ext uri="{BB962C8B-B14F-4D97-AF65-F5344CB8AC3E}">
        <p14:creationId xmlns:p14="http://schemas.microsoft.com/office/powerpoint/2010/main" val="3185700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4" grpId="0"/>
      <p:bldP spid="15" grpId="0" animBg="1"/>
      <p:bldP spid="16" grpId="0" animBg="1"/>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B053C6CA-E637-467B-A421-EF39681574A3}"/>
              </a:ext>
            </a:extLst>
          </p:cNvPr>
          <p:cNvPicPr>
            <a:picLocks noChangeAspect="1"/>
          </p:cNvPicPr>
          <p:nvPr/>
        </p:nvPicPr>
        <p:blipFill>
          <a:blip r:embed="rId2"/>
          <a:stretch>
            <a:fillRect/>
          </a:stretch>
        </p:blipFill>
        <p:spPr>
          <a:xfrm>
            <a:off x="9922464" y="287909"/>
            <a:ext cx="1903776" cy="1571371"/>
          </a:xfrm>
          <a:prstGeom prst="rect">
            <a:avLst/>
          </a:prstGeom>
        </p:spPr>
      </p:pic>
      <p:sp>
        <p:nvSpPr>
          <p:cNvPr id="2" name="Title 1">
            <a:extLst>
              <a:ext uri="{FF2B5EF4-FFF2-40B4-BE49-F238E27FC236}">
                <a16:creationId xmlns:a16="http://schemas.microsoft.com/office/drawing/2014/main" id="{F9E3FD75-680B-4232-96A0-E7B0827A8EF1}"/>
              </a:ext>
            </a:extLst>
          </p:cNvPr>
          <p:cNvSpPr>
            <a:spLocks noGrp="1"/>
          </p:cNvSpPr>
          <p:nvPr>
            <p:ph type="title"/>
          </p:nvPr>
        </p:nvSpPr>
        <p:spPr/>
        <p:txBody>
          <a:bodyPr/>
          <a:lstStyle/>
          <a:p>
            <a:r>
              <a:rPr lang="en-US" b="1" dirty="0"/>
              <a:t>Example 1: TSP -- </a:t>
            </a:r>
            <a:r>
              <a:rPr lang="en-US" b="1" dirty="0" err="1"/>
              <a:t>contd</a:t>
            </a:r>
            <a:endParaRPr lang="hi-IN" dirty="0"/>
          </a:p>
        </p:txBody>
      </p:sp>
      <p:sp>
        <p:nvSpPr>
          <p:cNvPr id="3" name="Content Placeholder 2">
            <a:extLst>
              <a:ext uri="{FF2B5EF4-FFF2-40B4-BE49-F238E27FC236}">
                <a16:creationId xmlns:a16="http://schemas.microsoft.com/office/drawing/2014/main" id="{8F04DFB7-7C6C-42C3-8AB8-95EEACAFE08B}"/>
              </a:ext>
            </a:extLst>
          </p:cNvPr>
          <p:cNvSpPr>
            <a:spLocks noGrp="1"/>
          </p:cNvSpPr>
          <p:nvPr>
            <p:ph idx="1"/>
          </p:nvPr>
        </p:nvSpPr>
        <p:spPr>
          <a:xfrm>
            <a:off x="261764" y="2243253"/>
            <a:ext cx="4079608" cy="4351338"/>
          </a:xfrm>
        </p:spPr>
        <p:txBody>
          <a:bodyPr>
            <a:normAutofit/>
          </a:bodyPr>
          <a:lstStyle/>
          <a:p>
            <a:pPr algn="just"/>
            <a:r>
              <a:rPr lang="en-US" sz="2400" dirty="0"/>
              <a:t>From the resultant tree choose the lowest cost node for the next level of exploration and proceed with the further remaining options for the salesman to explore</a:t>
            </a:r>
          </a:p>
          <a:p>
            <a:pPr algn="just"/>
            <a:r>
              <a:rPr lang="en-US" sz="2400" dirty="0"/>
              <a:t>In this case, explore node 3 and find the cost of each node in the next level</a:t>
            </a:r>
          </a:p>
          <a:p>
            <a:pPr algn="just"/>
            <a:r>
              <a:rPr lang="en-US" sz="2400" dirty="0"/>
              <a:t>Repeat the previous steps</a:t>
            </a:r>
            <a:endParaRPr lang="hi-IN" sz="2400" dirty="0"/>
          </a:p>
        </p:txBody>
      </p:sp>
      <p:sp>
        <p:nvSpPr>
          <p:cNvPr id="4" name="Footer Placeholder 3">
            <a:extLst>
              <a:ext uri="{FF2B5EF4-FFF2-40B4-BE49-F238E27FC236}">
                <a16:creationId xmlns:a16="http://schemas.microsoft.com/office/drawing/2014/main" id="{23C414B5-2F6E-4779-8D91-D9C4B4A69C8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1C01F6AC-153E-45D6-A07C-4CA856D3F431}"/>
              </a:ext>
            </a:extLst>
          </p:cNvPr>
          <p:cNvSpPr>
            <a:spLocks noGrp="1"/>
          </p:cNvSpPr>
          <p:nvPr>
            <p:ph type="sldNum" sz="quarter" idx="12"/>
          </p:nvPr>
        </p:nvSpPr>
        <p:spPr/>
        <p:txBody>
          <a:bodyPr/>
          <a:lstStyle/>
          <a:p>
            <a:fld id="{F56F9007-E0C6-489E-B603-BD6BB4385429}" type="slidenum">
              <a:rPr lang="hi-IN" smtClean="0"/>
              <a:t>24</a:t>
            </a:fld>
            <a:endParaRPr lang="hi-IN"/>
          </a:p>
        </p:txBody>
      </p:sp>
      <p:sp>
        <p:nvSpPr>
          <p:cNvPr id="15" name="Oval 14">
            <a:extLst>
              <a:ext uri="{FF2B5EF4-FFF2-40B4-BE49-F238E27FC236}">
                <a16:creationId xmlns:a16="http://schemas.microsoft.com/office/drawing/2014/main" id="{20992046-D06F-408E-A8C0-3EF07E634E17}"/>
              </a:ext>
            </a:extLst>
          </p:cNvPr>
          <p:cNvSpPr/>
          <p:nvPr/>
        </p:nvSpPr>
        <p:spPr>
          <a:xfrm>
            <a:off x="6832600" y="828358"/>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a:t>
            </a:r>
            <a:endParaRPr lang="hi-IN" b="1" dirty="0">
              <a:ln w="0"/>
              <a:solidFill>
                <a:schemeClr val="tx1"/>
              </a:solidFill>
              <a:effectLst>
                <a:outerShdw blurRad="38100" dist="19050" dir="2700000" algn="tl" rotWithShape="0">
                  <a:schemeClr val="dk1">
                    <a:alpha val="40000"/>
                  </a:schemeClr>
                </a:outerShdw>
              </a:effectLst>
            </a:endParaRPr>
          </a:p>
        </p:txBody>
      </p:sp>
      <p:sp>
        <p:nvSpPr>
          <p:cNvPr id="16" name="Oval 15">
            <a:extLst>
              <a:ext uri="{FF2B5EF4-FFF2-40B4-BE49-F238E27FC236}">
                <a16:creationId xmlns:a16="http://schemas.microsoft.com/office/drawing/2014/main" id="{18C7C7D5-0349-4DAD-AD27-7718B33D5476}"/>
              </a:ext>
            </a:extLst>
          </p:cNvPr>
          <p:cNvSpPr/>
          <p:nvPr/>
        </p:nvSpPr>
        <p:spPr>
          <a:xfrm>
            <a:off x="5567680" y="19507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17" name="Oval 16">
            <a:extLst>
              <a:ext uri="{FF2B5EF4-FFF2-40B4-BE49-F238E27FC236}">
                <a16:creationId xmlns:a16="http://schemas.microsoft.com/office/drawing/2014/main" id="{082063CF-A1F8-4558-B17A-D78D798BB3AA}"/>
              </a:ext>
            </a:extLst>
          </p:cNvPr>
          <p:cNvSpPr/>
          <p:nvPr/>
        </p:nvSpPr>
        <p:spPr>
          <a:xfrm>
            <a:off x="6832600" y="1950720"/>
            <a:ext cx="640080" cy="71389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18" name="Oval 17">
            <a:extLst>
              <a:ext uri="{FF2B5EF4-FFF2-40B4-BE49-F238E27FC236}">
                <a16:creationId xmlns:a16="http://schemas.microsoft.com/office/drawing/2014/main" id="{A461E0BC-F12C-4BBE-836D-D5491455FD3F}"/>
              </a:ext>
            </a:extLst>
          </p:cNvPr>
          <p:cNvSpPr/>
          <p:nvPr/>
        </p:nvSpPr>
        <p:spPr>
          <a:xfrm>
            <a:off x="8153400" y="19507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19" name="Straight Connector 18">
            <a:extLst>
              <a:ext uri="{FF2B5EF4-FFF2-40B4-BE49-F238E27FC236}">
                <a16:creationId xmlns:a16="http://schemas.microsoft.com/office/drawing/2014/main" id="{48F70658-5908-4BD9-BEC5-A6D3CAC9229E}"/>
              </a:ext>
            </a:extLst>
          </p:cNvPr>
          <p:cNvCxnSpPr>
            <a:stCxn id="15" idx="3"/>
            <a:endCxn id="16" idx="0"/>
          </p:cNvCxnSpPr>
          <p:nvPr/>
        </p:nvCxnSpPr>
        <p:spPr>
          <a:xfrm flipH="1">
            <a:off x="5887720" y="1392045"/>
            <a:ext cx="1038618" cy="558675"/>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CCDC89B5-6093-47F5-9B5D-6A53EB7A51D2}"/>
              </a:ext>
            </a:extLst>
          </p:cNvPr>
          <p:cNvCxnSpPr>
            <a:stCxn id="15" idx="4"/>
          </p:cNvCxnSpPr>
          <p:nvPr/>
        </p:nvCxnSpPr>
        <p:spPr>
          <a:xfrm>
            <a:off x="7152640" y="1488758"/>
            <a:ext cx="0" cy="461962"/>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718277D7-DFE2-4696-AC7F-9E56529417A9}"/>
              </a:ext>
            </a:extLst>
          </p:cNvPr>
          <p:cNvCxnSpPr>
            <a:stCxn id="15" idx="5"/>
            <a:endCxn id="18" idx="1"/>
          </p:cNvCxnSpPr>
          <p:nvPr/>
        </p:nvCxnSpPr>
        <p:spPr>
          <a:xfrm>
            <a:off x="7378942" y="1392045"/>
            <a:ext cx="868196" cy="655388"/>
          </a:xfrm>
          <a:prstGeom prst="line">
            <a:avLst/>
          </a:prstGeom>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BD74DCC1-A1FF-43B3-9BA6-F0D640324855}"/>
              </a:ext>
            </a:extLst>
          </p:cNvPr>
          <p:cNvSpPr txBox="1"/>
          <p:nvPr/>
        </p:nvSpPr>
        <p:spPr>
          <a:xfrm>
            <a:off x="7410328" y="774860"/>
            <a:ext cx="2241672" cy="369332"/>
          </a:xfrm>
          <a:prstGeom prst="rect">
            <a:avLst/>
          </a:prstGeom>
          <a:noFill/>
        </p:spPr>
        <p:txBody>
          <a:bodyPr wrap="square" rtlCol="0">
            <a:spAutoFit/>
          </a:bodyPr>
          <a:lstStyle/>
          <a:p>
            <a:r>
              <a:rPr lang="en-US" b="1" dirty="0"/>
              <a:t>Cost of node 1 = 18</a:t>
            </a:r>
            <a:endParaRPr lang="hi-IN" b="1" dirty="0"/>
          </a:p>
        </p:txBody>
      </p:sp>
      <p:sp>
        <p:nvSpPr>
          <p:cNvPr id="23" name="Rectangle 22">
            <a:extLst>
              <a:ext uri="{FF2B5EF4-FFF2-40B4-BE49-F238E27FC236}">
                <a16:creationId xmlns:a16="http://schemas.microsoft.com/office/drawing/2014/main" id="{3DC5ECF9-E22C-43BE-B9AF-74F4B9A3DD0D}"/>
              </a:ext>
            </a:extLst>
          </p:cNvPr>
          <p:cNvSpPr/>
          <p:nvPr/>
        </p:nvSpPr>
        <p:spPr>
          <a:xfrm>
            <a:off x="4078729" y="1617743"/>
            <a:ext cx="2012730" cy="369332"/>
          </a:xfrm>
          <a:prstGeom prst="rect">
            <a:avLst/>
          </a:prstGeom>
        </p:spPr>
        <p:txBody>
          <a:bodyPr wrap="none">
            <a:spAutoFit/>
          </a:bodyPr>
          <a:lstStyle/>
          <a:p>
            <a:r>
              <a:rPr lang="en-US" b="1" dirty="0"/>
              <a:t>Cost of node 2 = 36</a:t>
            </a:r>
            <a:endParaRPr lang="hi-IN" dirty="0"/>
          </a:p>
        </p:txBody>
      </p:sp>
      <p:sp>
        <p:nvSpPr>
          <p:cNvPr id="24" name="Rectangle 23">
            <a:extLst>
              <a:ext uri="{FF2B5EF4-FFF2-40B4-BE49-F238E27FC236}">
                <a16:creationId xmlns:a16="http://schemas.microsoft.com/office/drawing/2014/main" id="{342893FE-2B6C-4E30-84E3-8AF418E88E65}"/>
              </a:ext>
            </a:extLst>
          </p:cNvPr>
          <p:cNvSpPr/>
          <p:nvPr/>
        </p:nvSpPr>
        <p:spPr>
          <a:xfrm>
            <a:off x="6096000" y="2647475"/>
            <a:ext cx="2012730" cy="369332"/>
          </a:xfrm>
          <a:prstGeom prst="rect">
            <a:avLst/>
          </a:prstGeom>
        </p:spPr>
        <p:txBody>
          <a:bodyPr wrap="none">
            <a:spAutoFit/>
          </a:bodyPr>
          <a:lstStyle/>
          <a:p>
            <a:r>
              <a:rPr lang="en-US" b="1" dirty="0"/>
              <a:t>Cost of node 3 = 25</a:t>
            </a:r>
            <a:endParaRPr lang="hi-IN" dirty="0"/>
          </a:p>
        </p:txBody>
      </p:sp>
      <p:sp>
        <p:nvSpPr>
          <p:cNvPr id="25" name="Rectangle 24">
            <a:extLst>
              <a:ext uri="{FF2B5EF4-FFF2-40B4-BE49-F238E27FC236}">
                <a16:creationId xmlns:a16="http://schemas.microsoft.com/office/drawing/2014/main" id="{8BF8F75A-5154-4FA4-B8B7-2631DA6B6360}"/>
              </a:ext>
            </a:extLst>
          </p:cNvPr>
          <p:cNvSpPr/>
          <p:nvPr/>
        </p:nvSpPr>
        <p:spPr>
          <a:xfrm>
            <a:off x="8531164" y="1678942"/>
            <a:ext cx="2012730" cy="369332"/>
          </a:xfrm>
          <a:prstGeom prst="rect">
            <a:avLst/>
          </a:prstGeom>
        </p:spPr>
        <p:txBody>
          <a:bodyPr wrap="none">
            <a:spAutoFit/>
          </a:bodyPr>
          <a:lstStyle/>
          <a:p>
            <a:r>
              <a:rPr lang="en-US" b="1" dirty="0"/>
              <a:t>Cost of node 4 = 26</a:t>
            </a:r>
            <a:endParaRPr lang="hi-IN" dirty="0"/>
          </a:p>
        </p:txBody>
      </p:sp>
      <p:sp>
        <p:nvSpPr>
          <p:cNvPr id="28" name="Oval 27">
            <a:extLst>
              <a:ext uri="{FF2B5EF4-FFF2-40B4-BE49-F238E27FC236}">
                <a16:creationId xmlns:a16="http://schemas.microsoft.com/office/drawing/2014/main" id="{30904886-BBFE-4150-B2CD-A27CD8020940}"/>
              </a:ext>
            </a:extLst>
          </p:cNvPr>
          <p:cNvSpPr/>
          <p:nvPr/>
        </p:nvSpPr>
        <p:spPr>
          <a:xfrm>
            <a:off x="6619258" y="34581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29" name="Oval 28">
            <a:extLst>
              <a:ext uri="{FF2B5EF4-FFF2-40B4-BE49-F238E27FC236}">
                <a16:creationId xmlns:a16="http://schemas.microsoft.com/office/drawing/2014/main" id="{387A3C5B-7073-404C-B4E5-2CA697719806}"/>
              </a:ext>
            </a:extLst>
          </p:cNvPr>
          <p:cNvSpPr/>
          <p:nvPr/>
        </p:nvSpPr>
        <p:spPr>
          <a:xfrm>
            <a:off x="7871662" y="34581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31" name="Straight Connector 30">
            <a:extLst>
              <a:ext uri="{FF2B5EF4-FFF2-40B4-BE49-F238E27FC236}">
                <a16:creationId xmlns:a16="http://schemas.microsoft.com/office/drawing/2014/main" id="{490B0783-40B7-40C3-980D-AD3B6D7C91AF}"/>
              </a:ext>
            </a:extLst>
          </p:cNvPr>
          <p:cNvCxnSpPr>
            <a:cxnSpLocks/>
            <a:endCxn id="28" idx="0"/>
          </p:cNvCxnSpPr>
          <p:nvPr/>
        </p:nvCxnSpPr>
        <p:spPr>
          <a:xfrm flipH="1">
            <a:off x="6939298" y="2683976"/>
            <a:ext cx="151861" cy="774144"/>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43521FD0-4154-49F9-A273-0173710C960C}"/>
              </a:ext>
            </a:extLst>
          </p:cNvPr>
          <p:cNvCxnSpPr>
            <a:cxnSpLocks/>
            <a:endCxn id="29" idx="1"/>
          </p:cNvCxnSpPr>
          <p:nvPr/>
        </p:nvCxnSpPr>
        <p:spPr>
          <a:xfrm>
            <a:off x="7317461" y="2587263"/>
            <a:ext cx="647939" cy="967570"/>
          </a:xfrm>
          <a:prstGeom prst="line">
            <a:avLst/>
          </a:prstGeom>
        </p:spPr>
        <p:style>
          <a:lnRef idx="1">
            <a:schemeClr val="dk1"/>
          </a:lnRef>
          <a:fillRef idx="0">
            <a:schemeClr val="dk1"/>
          </a:fillRef>
          <a:effectRef idx="0">
            <a:schemeClr val="dk1"/>
          </a:effectRef>
          <a:fontRef idx="minor">
            <a:schemeClr val="tx1"/>
          </a:fontRef>
        </p:style>
      </p:cxnSp>
      <p:sp>
        <p:nvSpPr>
          <p:cNvPr id="34" name="Rectangle 33">
            <a:extLst>
              <a:ext uri="{FF2B5EF4-FFF2-40B4-BE49-F238E27FC236}">
                <a16:creationId xmlns:a16="http://schemas.microsoft.com/office/drawing/2014/main" id="{F3A5B992-335C-40C3-BA9B-6A2E0EE55ADE}"/>
              </a:ext>
            </a:extLst>
          </p:cNvPr>
          <p:cNvSpPr/>
          <p:nvPr/>
        </p:nvSpPr>
        <p:spPr>
          <a:xfrm>
            <a:off x="5829047" y="3267608"/>
            <a:ext cx="988122" cy="369332"/>
          </a:xfrm>
          <a:prstGeom prst="rect">
            <a:avLst/>
          </a:prstGeom>
        </p:spPr>
        <p:txBody>
          <a:bodyPr wrap="square">
            <a:spAutoFit/>
          </a:bodyPr>
          <a:lstStyle/>
          <a:p>
            <a:r>
              <a:rPr lang="en-US" b="1" dirty="0"/>
              <a:t>node 5</a:t>
            </a:r>
            <a:endParaRPr lang="hi-IN" dirty="0"/>
          </a:p>
        </p:txBody>
      </p:sp>
      <p:sp>
        <p:nvSpPr>
          <p:cNvPr id="35" name="Rectangle 34">
            <a:extLst>
              <a:ext uri="{FF2B5EF4-FFF2-40B4-BE49-F238E27FC236}">
                <a16:creationId xmlns:a16="http://schemas.microsoft.com/office/drawing/2014/main" id="{F706ECBF-4E51-4B44-9F41-50FB802ADC2B}"/>
              </a:ext>
            </a:extLst>
          </p:cNvPr>
          <p:cNvSpPr/>
          <p:nvPr/>
        </p:nvSpPr>
        <p:spPr>
          <a:xfrm>
            <a:off x="8144993" y="3156857"/>
            <a:ext cx="988122" cy="369332"/>
          </a:xfrm>
          <a:prstGeom prst="rect">
            <a:avLst/>
          </a:prstGeom>
        </p:spPr>
        <p:txBody>
          <a:bodyPr wrap="square">
            <a:spAutoFit/>
          </a:bodyPr>
          <a:lstStyle/>
          <a:p>
            <a:r>
              <a:rPr lang="en-US" b="1" dirty="0"/>
              <a:t>node 6</a:t>
            </a:r>
            <a:endParaRPr lang="hi-IN" dirty="0"/>
          </a:p>
        </p:txBody>
      </p:sp>
      <p:sp>
        <p:nvSpPr>
          <p:cNvPr id="30" name="Oval 29">
            <a:extLst>
              <a:ext uri="{FF2B5EF4-FFF2-40B4-BE49-F238E27FC236}">
                <a16:creationId xmlns:a16="http://schemas.microsoft.com/office/drawing/2014/main" id="{F3D13EC1-A1F0-4E96-91CD-7189516D445D}"/>
              </a:ext>
            </a:extLst>
          </p:cNvPr>
          <p:cNvSpPr/>
          <p:nvPr/>
        </p:nvSpPr>
        <p:spPr>
          <a:xfrm>
            <a:off x="5887720" y="2120290"/>
            <a:ext cx="2439848" cy="94227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Tree>
    <p:extLst>
      <p:ext uri="{BB962C8B-B14F-4D97-AF65-F5344CB8AC3E}">
        <p14:creationId xmlns:p14="http://schemas.microsoft.com/office/powerpoint/2010/main" val="808242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0" end="0"/>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
                                            <p:txEl>
                                              <p:pRg st="1" end="1"/>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22" grpId="0"/>
      <p:bldP spid="23" grpId="0"/>
      <p:bldP spid="24" grpId="0"/>
      <p:bldP spid="25" grpId="0"/>
      <p:bldP spid="28" grpId="0" animBg="1"/>
      <p:bldP spid="29" grpId="0" animBg="1"/>
      <p:bldP spid="34" grpId="0"/>
      <p:bldP spid="35" grpId="0"/>
      <p:bldP spid="3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2189-7552-4E33-9E7B-4DE20289BB36}"/>
              </a:ext>
            </a:extLst>
          </p:cNvPr>
          <p:cNvSpPr>
            <a:spLocks noGrp="1"/>
          </p:cNvSpPr>
          <p:nvPr>
            <p:ph type="title"/>
          </p:nvPr>
        </p:nvSpPr>
        <p:spPr/>
        <p:txBody>
          <a:bodyPr/>
          <a:lstStyle/>
          <a:p>
            <a:r>
              <a:rPr lang="en-US" b="1" dirty="0"/>
              <a:t>Example 1: TSP -- </a:t>
            </a:r>
            <a:r>
              <a:rPr lang="en-US" b="1" dirty="0" err="1"/>
              <a:t>contd</a:t>
            </a:r>
            <a:endParaRPr lang="hi-IN" dirty="0"/>
          </a:p>
        </p:txBody>
      </p:sp>
      <p:sp>
        <p:nvSpPr>
          <p:cNvPr id="3" name="Content Placeholder 2">
            <a:extLst>
              <a:ext uri="{FF2B5EF4-FFF2-40B4-BE49-F238E27FC236}">
                <a16:creationId xmlns:a16="http://schemas.microsoft.com/office/drawing/2014/main" id="{37C055A1-8DCE-40BD-96BE-DC0349835FE9}"/>
              </a:ext>
            </a:extLst>
          </p:cNvPr>
          <p:cNvSpPr>
            <a:spLocks noGrp="1"/>
          </p:cNvSpPr>
          <p:nvPr>
            <p:ph idx="1"/>
          </p:nvPr>
        </p:nvSpPr>
        <p:spPr/>
        <p:txBody>
          <a:bodyPr/>
          <a:lstStyle/>
          <a:p>
            <a:r>
              <a:rPr lang="en-US" dirty="0"/>
              <a:t>Now exploring A—C—B path</a:t>
            </a:r>
          </a:p>
          <a:p>
            <a:pPr lvl="1"/>
            <a:r>
              <a:rPr lang="en-US" sz="2000" dirty="0"/>
              <a:t>The cost matrix of node C becomes…</a:t>
            </a:r>
            <a:endParaRPr lang="hi-IN" sz="2000" dirty="0"/>
          </a:p>
        </p:txBody>
      </p:sp>
      <p:sp>
        <p:nvSpPr>
          <p:cNvPr id="4" name="Footer Placeholder 3">
            <a:extLst>
              <a:ext uri="{FF2B5EF4-FFF2-40B4-BE49-F238E27FC236}">
                <a16:creationId xmlns:a16="http://schemas.microsoft.com/office/drawing/2014/main" id="{3FBCE2A8-CF2B-4146-9CF1-F8A6DCA76137}"/>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1DC7713-BE6D-4807-8365-0ED01742EAAF}"/>
              </a:ext>
            </a:extLst>
          </p:cNvPr>
          <p:cNvSpPr>
            <a:spLocks noGrp="1"/>
          </p:cNvSpPr>
          <p:nvPr>
            <p:ph type="sldNum" sz="quarter" idx="12"/>
          </p:nvPr>
        </p:nvSpPr>
        <p:spPr/>
        <p:txBody>
          <a:bodyPr/>
          <a:lstStyle/>
          <a:p>
            <a:fld id="{F56F9007-E0C6-489E-B603-BD6BB4385429}" type="slidenum">
              <a:rPr lang="hi-IN" smtClean="0"/>
              <a:t>25</a:t>
            </a:fld>
            <a:endParaRPr lang="hi-IN"/>
          </a:p>
        </p:txBody>
      </p:sp>
      <p:graphicFrame>
        <p:nvGraphicFramePr>
          <p:cNvPr id="6" name="Table 5">
            <a:extLst>
              <a:ext uri="{FF2B5EF4-FFF2-40B4-BE49-F238E27FC236}">
                <a16:creationId xmlns:a16="http://schemas.microsoft.com/office/drawing/2014/main" id="{D6F50D1C-6C10-4DEE-B1F2-B7F70D225F30}"/>
              </a:ext>
            </a:extLst>
          </p:cNvPr>
          <p:cNvGraphicFramePr>
            <a:graphicFrameLocks noGrp="1"/>
          </p:cNvGraphicFramePr>
          <p:nvPr>
            <p:extLst>
              <p:ext uri="{D42A27DB-BD31-4B8C-83A1-F6EECF244321}">
                <p14:modId xmlns:p14="http://schemas.microsoft.com/office/powerpoint/2010/main" val="1474313664"/>
              </p:ext>
            </p:extLst>
          </p:nvPr>
        </p:nvGraphicFramePr>
        <p:xfrm>
          <a:off x="177800" y="2811352"/>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6">
            <a:extLst>
              <a:ext uri="{FF2B5EF4-FFF2-40B4-BE49-F238E27FC236}">
                <a16:creationId xmlns:a16="http://schemas.microsoft.com/office/drawing/2014/main" id="{A7A71D93-ABE2-429F-8576-61090397B0B1}"/>
              </a:ext>
            </a:extLst>
          </p:cNvPr>
          <p:cNvGraphicFramePr>
            <a:graphicFrameLocks noGrp="1"/>
          </p:cNvGraphicFramePr>
          <p:nvPr>
            <p:extLst>
              <p:ext uri="{D42A27DB-BD31-4B8C-83A1-F6EECF244321}">
                <p14:modId xmlns:p14="http://schemas.microsoft.com/office/powerpoint/2010/main" val="1670943633"/>
              </p:ext>
            </p:extLst>
          </p:nvPr>
        </p:nvGraphicFramePr>
        <p:xfrm>
          <a:off x="3840480" y="2791558"/>
          <a:ext cx="3180080" cy="182880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10445">
                  <a:extLst>
                    <a:ext uri="{9D8B030D-6E8A-4147-A177-3AD203B41FA5}">
                      <a16:colId xmlns:a16="http://schemas.microsoft.com/office/drawing/2014/main" val="252318787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Min</a:t>
                      </a:r>
                      <a:endParaRPr lang="hi-IN"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8" name="TextBox 7">
            <a:extLst>
              <a:ext uri="{FF2B5EF4-FFF2-40B4-BE49-F238E27FC236}">
                <a16:creationId xmlns:a16="http://schemas.microsoft.com/office/drawing/2014/main" id="{8E4B49A0-9E43-4C50-8675-1197C97366AC}"/>
              </a:ext>
            </a:extLst>
          </p:cNvPr>
          <p:cNvSpPr txBox="1"/>
          <p:nvPr/>
        </p:nvSpPr>
        <p:spPr>
          <a:xfrm>
            <a:off x="7165340" y="1642159"/>
            <a:ext cx="1102360" cy="646331"/>
          </a:xfrm>
          <a:prstGeom prst="rect">
            <a:avLst/>
          </a:prstGeom>
          <a:noFill/>
        </p:spPr>
        <p:txBody>
          <a:bodyPr wrap="square" rtlCol="0">
            <a:spAutoFit/>
          </a:bodyPr>
          <a:lstStyle/>
          <a:p>
            <a:r>
              <a:rPr lang="en-US" b="1" dirty="0"/>
              <a:t>Reduce by row</a:t>
            </a:r>
            <a:endParaRPr lang="hi-IN" b="1" dirty="0"/>
          </a:p>
        </p:txBody>
      </p:sp>
      <p:sp>
        <p:nvSpPr>
          <p:cNvPr id="9" name="TextBox 8">
            <a:extLst>
              <a:ext uri="{FF2B5EF4-FFF2-40B4-BE49-F238E27FC236}">
                <a16:creationId xmlns:a16="http://schemas.microsoft.com/office/drawing/2014/main" id="{655296CB-F437-46A9-A2A7-93457B0439B7}"/>
              </a:ext>
            </a:extLst>
          </p:cNvPr>
          <p:cNvSpPr txBox="1"/>
          <p:nvPr/>
        </p:nvSpPr>
        <p:spPr>
          <a:xfrm>
            <a:off x="10443546" y="5135484"/>
            <a:ext cx="1353820" cy="646331"/>
          </a:xfrm>
          <a:prstGeom prst="rect">
            <a:avLst/>
          </a:prstGeom>
          <a:noFill/>
        </p:spPr>
        <p:txBody>
          <a:bodyPr wrap="square" rtlCol="0">
            <a:spAutoFit/>
          </a:bodyPr>
          <a:lstStyle/>
          <a:p>
            <a:r>
              <a:rPr lang="en-US" b="1" dirty="0"/>
              <a:t>Reduce by column</a:t>
            </a:r>
            <a:endParaRPr lang="hi-IN" b="1" dirty="0"/>
          </a:p>
        </p:txBody>
      </p:sp>
      <p:sp>
        <p:nvSpPr>
          <p:cNvPr id="10" name="Arrow: Right 9">
            <a:extLst>
              <a:ext uri="{FF2B5EF4-FFF2-40B4-BE49-F238E27FC236}">
                <a16:creationId xmlns:a16="http://schemas.microsoft.com/office/drawing/2014/main" id="{68D24F80-8C16-4CDD-9AE4-FAB8D8DAA522}"/>
              </a:ext>
            </a:extLst>
          </p:cNvPr>
          <p:cNvSpPr/>
          <p:nvPr/>
        </p:nvSpPr>
        <p:spPr>
          <a:xfrm>
            <a:off x="7034530" y="2397977"/>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1" name="Arrow: Down 10">
            <a:extLst>
              <a:ext uri="{FF2B5EF4-FFF2-40B4-BE49-F238E27FC236}">
                <a16:creationId xmlns:a16="http://schemas.microsoft.com/office/drawing/2014/main" id="{64211AFF-4871-410D-AE82-03C4151657A2}"/>
              </a:ext>
            </a:extLst>
          </p:cNvPr>
          <p:cNvSpPr/>
          <p:nvPr/>
        </p:nvSpPr>
        <p:spPr>
          <a:xfrm rot="1924878">
            <a:off x="10390206" y="4653950"/>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2" name="Table 11">
            <a:extLst>
              <a:ext uri="{FF2B5EF4-FFF2-40B4-BE49-F238E27FC236}">
                <a16:creationId xmlns:a16="http://schemas.microsoft.com/office/drawing/2014/main" id="{ACF61F84-857D-49F5-A057-A4D15E8F777A}"/>
              </a:ext>
            </a:extLst>
          </p:cNvPr>
          <p:cNvGraphicFramePr>
            <a:graphicFrameLocks noGrp="1"/>
          </p:cNvGraphicFramePr>
          <p:nvPr>
            <p:extLst>
              <p:ext uri="{D42A27DB-BD31-4B8C-83A1-F6EECF244321}">
                <p14:modId xmlns:p14="http://schemas.microsoft.com/office/powerpoint/2010/main" val="900795614"/>
              </p:ext>
            </p:extLst>
          </p:nvPr>
        </p:nvGraphicFramePr>
        <p:xfrm>
          <a:off x="8168640" y="2612388"/>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r>
                        <a:rPr lang="en-US" b="1" dirty="0">
                          <a:solidFill>
                            <a:schemeClr val="tx1"/>
                          </a:solidFill>
                        </a:rPr>
                        <a:t>Min</a:t>
                      </a:r>
                      <a:endParaRPr lang="hi-IN"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9715164"/>
                  </a:ext>
                </a:extLst>
              </a:tr>
            </a:tbl>
          </a:graphicData>
        </a:graphic>
      </p:graphicFrame>
      <p:graphicFrame>
        <p:nvGraphicFramePr>
          <p:cNvPr id="13" name="Table 12">
            <a:extLst>
              <a:ext uri="{FF2B5EF4-FFF2-40B4-BE49-F238E27FC236}">
                <a16:creationId xmlns:a16="http://schemas.microsoft.com/office/drawing/2014/main" id="{D27ADEB2-CD97-4A14-83C6-800FBA53C3AA}"/>
              </a:ext>
            </a:extLst>
          </p:cNvPr>
          <p:cNvGraphicFramePr>
            <a:graphicFrameLocks noGrp="1"/>
          </p:cNvGraphicFramePr>
          <p:nvPr>
            <p:extLst>
              <p:ext uri="{D42A27DB-BD31-4B8C-83A1-F6EECF244321}">
                <p14:modId xmlns:p14="http://schemas.microsoft.com/office/powerpoint/2010/main" val="3100904982"/>
              </p:ext>
            </p:extLst>
          </p:nvPr>
        </p:nvGraphicFramePr>
        <p:xfrm>
          <a:off x="6941820" y="4925970"/>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14" name="Rectangle 13">
            <a:extLst>
              <a:ext uri="{FF2B5EF4-FFF2-40B4-BE49-F238E27FC236}">
                <a16:creationId xmlns:a16="http://schemas.microsoft.com/office/drawing/2014/main" id="{50B45B00-727F-4D8D-BBF6-EA0D4D282D0C}"/>
              </a:ext>
            </a:extLst>
          </p:cNvPr>
          <p:cNvSpPr/>
          <p:nvPr/>
        </p:nvSpPr>
        <p:spPr>
          <a:xfrm>
            <a:off x="515620" y="5263125"/>
            <a:ext cx="6096000" cy="923330"/>
          </a:xfrm>
          <a:prstGeom prst="rect">
            <a:avLst/>
          </a:prstGeom>
        </p:spPr>
        <p:txBody>
          <a:bodyPr>
            <a:spAutoFit/>
          </a:bodyPr>
          <a:lstStyle/>
          <a:p>
            <a:r>
              <a:rPr lang="en-US" b="1" dirty="0"/>
              <a:t>Cost of Node 5= Previous node Cost + Min of Row + Min of Col + cost of current link (i.e.) matrix[C,B] </a:t>
            </a:r>
          </a:p>
          <a:p>
            <a:r>
              <a:rPr lang="en-US" b="1" dirty="0"/>
              <a:t>             = 25 + 8 + 13 + </a:t>
            </a:r>
            <a:r>
              <a:rPr lang="hi-IN" dirty="0"/>
              <a:t>∞</a:t>
            </a:r>
            <a:r>
              <a:rPr lang="en-US" b="1" dirty="0"/>
              <a:t> = </a:t>
            </a:r>
            <a:r>
              <a:rPr lang="hi-IN" dirty="0"/>
              <a:t>∞</a:t>
            </a:r>
          </a:p>
        </p:txBody>
      </p:sp>
      <p:sp>
        <p:nvSpPr>
          <p:cNvPr id="15" name="Arrow: Right 14">
            <a:extLst>
              <a:ext uri="{FF2B5EF4-FFF2-40B4-BE49-F238E27FC236}">
                <a16:creationId xmlns:a16="http://schemas.microsoft.com/office/drawing/2014/main" id="{328FA424-608B-4939-9533-89A1388B914C}"/>
              </a:ext>
            </a:extLst>
          </p:cNvPr>
          <p:cNvSpPr/>
          <p:nvPr/>
        </p:nvSpPr>
        <p:spPr>
          <a:xfrm>
            <a:off x="3326130" y="3599278"/>
            <a:ext cx="656590" cy="22088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6" name="Oval 15">
            <a:extLst>
              <a:ext uri="{FF2B5EF4-FFF2-40B4-BE49-F238E27FC236}">
                <a16:creationId xmlns:a16="http://schemas.microsoft.com/office/drawing/2014/main" id="{DD2C6A71-C3B0-4656-A6CA-6C67E8D1EEDA}"/>
              </a:ext>
            </a:extLst>
          </p:cNvPr>
          <p:cNvSpPr/>
          <p:nvPr/>
        </p:nvSpPr>
        <p:spPr>
          <a:xfrm>
            <a:off x="7807960" y="4098370"/>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7" name="Oval 16">
            <a:extLst>
              <a:ext uri="{FF2B5EF4-FFF2-40B4-BE49-F238E27FC236}">
                <a16:creationId xmlns:a16="http://schemas.microsoft.com/office/drawing/2014/main" id="{D6585A32-2A23-4332-845A-E7CA4113080B}"/>
              </a:ext>
            </a:extLst>
          </p:cNvPr>
          <p:cNvSpPr/>
          <p:nvPr/>
        </p:nvSpPr>
        <p:spPr>
          <a:xfrm>
            <a:off x="6356168" y="2668447"/>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pic>
        <p:nvPicPr>
          <p:cNvPr id="18" name="Picture 17">
            <a:extLst>
              <a:ext uri="{FF2B5EF4-FFF2-40B4-BE49-F238E27FC236}">
                <a16:creationId xmlns:a16="http://schemas.microsoft.com/office/drawing/2014/main" id="{72CEFF44-6265-46A0-85B3-42638B601A43}"/>
              </a:ext>
            </a:extLst>
          </p:cNvPr>
          <p:cNvPicPr>
            <a:picLocks noChangeAspect="1"/>
          </p:cNvPicPr>
          <p:nvPr/>
        </p:nvPicPr>
        <p:blipFill rotWithShape="1">
          <a:blip r:embed="rId2"/>
          <a:srcRect l="10387" t="14740"/>
          <a:stretch/>
        </p:blipFill>
        <p:spPr>
          <a:xfrm>
            <a:off x="8813130" y="238526"/>
            <a:ext cx="3201070" cy="1675317"/>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D7E2DE5-1CF8-7BDA-A8ED-8CD2F6DBCBA8}"/>
                  </a:ext>
                </a:extLst>
              </p:cNvPr>
              <p:cNvSpPr txBox="1"/>
              <p:nvPr/>
            </p:nvSpPr>
            <p:spPr>
              <a:xfrm>
                <a:off x="4298890" y="2533510"/>
                <a:ext cx="2075380" cy="338554"/>
              </a:xfrm>
              <a:prstGeom prst="rect">
                <a:avLst/>
              </a:prstGeom>
              <a:noFill/>
            </p:spPr>
            <p:txBody>
              <a:bodyPr wrap="square" rtlCol="0">
                <a:spAutoFit/>
              </a:bodyPr>
              <a:lstStyle/>
              <a:p>
                <a:r>
                  <a:rPr lang="en-US" sz="1600" b="1" dirty="0">
                    <a:solidFill>
                      <a:srgbClr val="C00000"/>
                    </a:solidFill>
                  </a:rPr>
                  <a:t>Make mat[B, A] =</a:t>
                </a:r>
                <a14:m>
                  <m:oMath xmlns:m="http://schemas.openxmlformats.org/officeDocument/2006/math">
                    <m:r>
                      <a:rPr lang="en-US" sz="1600" b="1" i="1" smtClean="0">
                        <a:solidFill>
                          <a:srgbClr val="C00000"/>
                        </a:solidFill>
                        <a:latin typeface="Cambria Math" panose="02040503050406030204" pitchFamily="18" charset="0"/>
                        <a:ea typeface="Cambria Math" panose="02040503050406030204" pitchFamily="18" charset="0"/>
                      </a:rPr>
                      <m:t>∞</m:t>
                    </m:r>
                  </m:oMath>
                </a14:m>
                <a:endParaRPr lang="en-US" sz="1600" b="1" dirty="0">
                  <a:solidFill>
                    <a:srgbClr val="C00000"/>
                  </a:solidFill>
                </a:endParaRPr>
              </a:p>
            </p:txBody>
          </p:sp>
        </mc:Choice>
        <mc:Fallback xmlns="">
          <p:sp>
            <p:nvSpPr>
              <p:cNvPr id="19" name="TextBox 18">
                <a:extLst>
                  <a:ext uri="{FF2B5EF4-FFF2-40B4-BE49-F238E27FC236}">
                    <a16:creationId xmlns:a16="http://schemas.microsoft.com/office/drawing/2014/main" id="{ED7E2DE5-1CF8-7BDA-A8ED-8CD2F6DBCBA8}"/>
                  </a:ext>
                </a:extLst>
              </p:cNvPr>
              <p:cNvSpPr txBox="1">
                <a:spLocks noRot="1" noChangeAspect="1" noMove="1" noResize="1" noEditPoints="1" noAdjustHandles="1" noChangeArrowheads="1" noChangeShapeType="1" noTextEdit="1"/>
              </p:cNvSpPr>
              <p:nvPr/>
            </p:nvSpPr>
            <p:spPr>
              <a:xfrm>
                <a:off x="4298890" y="2533510"/>
                <a:ext cx="2075380" cy="338554"/>
              </a:xfrm>
              <a:prstGeom prst="rect">
                <a:avLst/>
              </a:prstGeom>
              <a:blipFill>
                <a:blip r:embed="rId3"/>
                <a:stretch>
                  <a:fillRect l="-1466" t="-5455" b="-23636"/>
                </a:stretch>
              </a:blipFill>
            </p:spPr>
            <p:txBody>
              <a:bodyPr/>
              <a:lstStyle/>
              <a:p>
                <a:r>
                  <a:rPr lang="en-US">
                    <a:noFill/>
                  </a:rPr>
                  <a:t> </a:t>
                </a:r>
              </a:p>
            </p:txBody>
          </p:sp>
        </mc:Fallback>
      </mc:AlternateContent>
    </p:spTree>
    <p:extLst>
      <p:ext uri="{BB962C8B-B14F-4D97-AF65-F5344CB8AC3E}">
        <p14:creationId xmlns:p14="http://schemas.microsoft.com/office/powerpoint/2010/main" val="4104562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4" grpId="0"/>
      <p:bldP spid="15" grpId="0" animBg="1"/>
      <p:bldP spid="16" grpId="0" animBg="1"/>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2189-7552-4E33-9E7B-4DE20289BB36}"/>
              </a:ext>
            </a:extLst>
          </p:cNvPr>
          <p:cNvSpPr>
            <a:spLocks noGrp="1"/>
          </p:cNvSpPr>
          <p:nvPr>
            <p:ph type="title"/>
          </p:nvPr>
        </p:nvSpPr>
        <p:spPr/>
        <p:txBody>
          <a:bodyPr/>
          <a:lstStyle/>
          <a:p>
            <a:r>
              <a:rPr lang="en-US" b="1" dirty="0"/>
              <a:t>Example 1: TSP -- </a:t>
            </a:r>
            <a:r>
              <a:rPr lang="en-US" b="1" dirty="0" err="1"/>
              <a:t>contd</a:t>
            </a:r>
            <a:endParaRPr lang="hi-IN" dirty="0"/>
          </a:p>
        </p:txBody>
      </p:sp>
      <p:sp>
        <p:nvSpPr>
          <p:cNvPr id="3" name="Content Placeholder 2">
            <a:extLst>
              <a:ext uri="{FF2B5EF4-FFF2-40B4-BE49-F238E27FC236}">
                <a16:creationId xmlns:a16="http://schemas.microsoft.com/office/drawing/2014/main" id="{37C055A1-8DCE-40BD-96BE-DC0349835FE9}"/>
              </a:ext>
            </a:extLst>
          </p:cNvPr>
          <p:cNvSpPr>
            <a:spLocks noGrp="1"/>
          </p:cNvSpPr>
          <p:nvPr>
            <p:ph idx="1"/>
          </p:nvPr>
        </p:nvSpPr>
        <p:spPr/>
        <p:txBody>
          <a:bodyPr/>
          <a:lstStyle/>
          <a:p>
            <a:r>
              <a:rPr lang="en-US" dirty="0"/>
              <a:t>Now exploring A — C—D path</a:t>
            </a:r>
          </a:p>
          <a:p>
            <a:pPr lvl="1"/>
            <a:r>
              <a:rPr lang="en-US" sz="2000" dirty="0"/>
              <a:t>The cost matrix of node C becomes…</a:t>
            </a:r>
            <a:endParaRPr lang="hi-IN" sz="2000" dirty="0"/>
          </a:p>
        </p:txBody>
      </p:sp>
      <p:sp>
        <p:nvSpPr>
          <p:cNvPr id="4" name="Footer Placeholder 3">
            <a:extLst>
              <a:ext uri="{FF2B5EF4-FFF2-40B4-BE49-F238E27FC236}">
                <a16:creationId xmlns:a16="http://schemas.microsoft.com/office/drawing/2014/main" id="{3FBCE2A8-CF2B-4146-9CF1-F8A6DCA76137}"/>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1DC7713-BE6D-4807-8365-0ED01742EAAF}"/>
              </a:ext>
            </a:extLst>
          </p:cNvPr>
          <p:cNvSpPr>
            <a:spLocks noGrp="1"/>
          </p:cNvSpPr>
          <p:nvPr>
            <p:ph type="sldNum" sz="quarter" idx="12"/>
          </p:nvPr>
        </p:nvSpPr>
        <p:spPr/>
        <p:txBody>
          <a:bodyPr/>
          <a:lstStyle/>
          <a:p>
            <a:fld id="{F56F9007-E0C6-489E-B603-BD6BB4385429}" type="slidenum">
              <a:rPr lang="hi-IN" smtClean="0"/>
              <a:t>26</a:t>
            </a:fld>
            <a:endParaRPr lang="hi-IN"/>
          </a:p>
        </p:txBody>
      </p:sp>
      <p:graphicFrame>
        <p:nvGraphicFramePr>
          <p:cNvPr id="6" name="Table 5">
            <a:extLst>
              <a:ext uri="{FF2B5EF4-FFF2-40B4-BE49-F238E27FC236}">
                <a16:creationId xmlns:a16="http://schemas.microsoft.com/office/drawing/2014/main" id="{D6F50D1C-6C10-4DEE-B1F2-B7F70D225F30}"/>
              </a:ext>
            </a:extLst>
          </p:cNvPr>
          <p:cNvGraphicFramePr>
            <a:graphicFrameLocks noGrp="1"/>
          </p:cNvGraphicFramePr>
          <p:nvPr>
            <p:extLst>
              <p:ext uri="{D42A27DB-BD31-4B8C-83A1-F6EECF244321}">
                <p14:modId xmlns:p14="http://schemas.microsoft.com/office/powerpoint/2010/main" val="402619716"/>
              </p:ext>
            </p:extLst>
          </p:nvPr>
        </p:nvGraphicFramePr>
        <p:xfrm>
          <a:off x="177800" y="2811352"/>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13</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8</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6">
            <a:extLst>
              <a:ext uri="{FF2B5EF4-FFF2-40B4-BE49-F238E27FC236}">
                <a16:creationId xmlns:a16="http://schemas.microsoft.com/office/drawing/2014/main" id="{A7A71D93-ABE2-429F-8576-61090397B0B1}"/>
              </a:ext>
            </a:extLst>
          </p:cNvPr>
          <p:cNvGraphicFramePr>
            <a:graphicFrameLocks noGrp="1"/>
          </p:cNvGraphicFramePr>
          <p:nvPr>
            <p:extLst>
              <p:ext uri="{D42A27DB-BD31-4B8C-83A1-F6EECF244321}">
                <p14:modId xmlns:p14="http://schemas.microsoft.com/office/powerpoint/2010/main" val="1481089517"/>
              </p:ext>
            </p:extLst>
          </p:nvPr>
        </p:nvGraphicFramePr>
        <p:xfrm>
          <a:off x="3840480" y="2791558"/>
          <a:ext cx="3180080" cy="182880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10445">
                  <a:extLst>
                    <a:ext uri="{9D8B030D-6E8A-4147-A177-3AD203B41FA5}">
                      <a16:colId xmlns:a16="http://schemas.microsoft.com/office/drawing/2014/main" val="252318787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Min</a:t>
                      </a:r>
                      <a:endParaRPr lang="hi-IN"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8" name="TextBox 7">
            <a:extLst>
              <a:ext uri="{FF2B5EF4-FFF2-40B4-BE49-F238E27FC236}">
                <a16:creationId xmlns:a16="http://schemas.microsoft.com/office/drawing/2014/main" id="{8E4B49A0-9E43-4C50-8675-1197C97366AC}"/>
              </a:ext>
            </a:extLst>
          </p:cNvPr>
          <p:cNvSpPr txBox="1"/>
          <p:nvPr/>
        </p:nvSpPr>
        <p:spPr>
          <a:xfrm>
            <a:off x="7165340" y="1642159"/>
            <a:ext cx="1102360" cy="646331"/>
          </a:xfrm>
          <a:prstGeom prst="rect">
            <a:avLst/>
          </a:prstGeom>
          <a:noFill/>
        </p:spPr>
        <p:txBody>
          <a:bodyPr wrap="square" rtlCol="0">
            <a:spAutoFit/>
          </a:bodyPr>
          <a:lstStyle/>
          <a:p>
            <a:r>
              <a:rPr lang="en-US" b="1" dirty="0"/>
              <a:t>Reduce by row</a:t>
            </a:r>
            <a:endParaRPr lang="hi-IN" b="1" dirty="0"/>
          </a:p>
        </p:txBody>
      </p:sp>
      <p:sp>
        <p:nvSpPr>
          <p:cNvPr id="9" name="TextBox 8">
            <a:extLst>
              <a:ext uri="{FF2B5EF4-FFF2-40B4-BE49-F238E27FC236}">
                <a16:creationId xmlns:a16="http://schemas.microsoft.com/office/drawing/2014/main" id="{655296CB-F437-46A9-A2A7-93457B0439B7}"/>
              </a:ext>
            </a:extLst>
          </p:cNvPr>
          <p:cNvSpPr txBox="1"/>
          <p:nvPr/>
        </p:nvSpPr>
        <p:spPr>
          <a:xfrm>
            <a:off x="10443546" y="5135484"/>
            <a:ext cx="1353820" cy="646331"/>
          </a:xfrm>
          <a:prstGeom prst="rect">
            <a:avLst/>
          </a:prstGeom>
          <a:noFill/>
        </p:spPr>
        <p:txBody>
          <a:bodyPr wrap="square" rtlCol="0">
            <a:spAutoFit/>
          </a:bodyPr>
          <a:lstStyle/>
          <a:p>
            <a:r>
              <a:rPr lang="en-US" b="1" dirty="0"/>
              <a:t>Reduce by column</a:t>
            </a:r>
            <a:endParaRPr lang="hi-IN" b="1" dirty="0"/>
          </a:p>
        </p:txBody>
      </p:sp>
      <p:sp>
        <p:nvSpPr>
          <p:cNvPr id="10" name="Arrow: Right 9">
            <a:extLst>
              <a:ext uri="{FF2B5EF4-FFF2-40B4-BE49-F238E27FC236}">
                <a16:creationId xmlns:a16="http://schemas.microsoft.com/office/drawing/2014/main" id="{68D24F80-8C16-4CDD-9AE4-FAB8D8DAA522}"/>
              </a:ext>
            </a:extLst>
          </p:cNvPr>
          <p:cNvSpPr/>
          <p:nvPr/>
        </p:nvSpPr>
        <p:spPr>
          <a:xfrm>
            <a:off x="7034530" y="2397977"/>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1" name="Arrow: Down 10">
            <a:extLst>
              <a:ext uri="{FF2B5EF4-FFF2-40B4-BE49-F238E27FC236}">
                <a16:creationId xmlns:a16="http://schemas.microsoft.com/office/drawing/2014/main" id="{64211AFF-4871-410D-AE82-03C4151657A2}"/>
              </a:ext>
            </a:extLst>
          </p:cNvPr>
          <p:cNvSpPr/>
          <p:nvPr/>
        </p:nvSpPr>
        <p:spPr>
          <a:xfrm rot="1924878">
            <a:off x="10390206" y="4653950"/>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2" name="Table 11">
            <a:extLst>
              <a:ext uri="{FF2B5EF4-FFF2-40B4-BE49-F238E27FC236}">
                <a16:creationId xmlns:a16="http://schemas.microsoft.com/office/drawing/2014/main" id="{ACF61F84-857D-49F5-A057-A4D15E8F777A}"/>
              </a:ext>
            </a:extLst>
          </p:cNvPr>
          <p:cNvGraphicFramePr>
            <a:graphicFrameLocks noGrp="1"/>
          </p:cNvGraphicFramePr>
          <p:nvPr>
            <p:extLst>
              <p:ext uri="{D42A27DB-BD31-4B8C-83A1-F6EECF244321}">
                <p14:modId xmlns:p14="http://schemas.microsoft.com/office/powerpoint/2010/main" val="914231043"/>
              </p:ext>
            </p:extLst>
          </p:nvPr>
        </p:nvGraphicFramePr>
        <p:xfrm>
          <a:off x="8168640" y="2612388"/>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r>
                        <a:rPr lang="en-US" b="1" dirty="0">
                          <a:solidFill>
                            <a:schemeClr val="tx1"/>
                          </a:solidFill>
                        </a:rPr>
                        <a:t>Min</a:t>
                      </a:r>
                      <a:endParaRPr lang="hi-IN"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9715164"/>
                  </a:ext>
                </a:extLst>
              </a:tr>
            </a:tbl>
          </a:graphicData>
        </a:graphic>
      </p:graphicFrame>
      <p:graphicFrame>
        <p:nvGraphicFramePr>
          <p:cNvPr id="13" name="Table 12">
            <a:extLst>
              <a:ext uri="{FF2B5EF4-FFF2-40B4-BE49-F238E27FC236}">
                <a16:creationId xmlns:a16="http://schemas.microsoft.com/office/drawing/2014/main" id="{D27ADEB2-CD97-4A14-83C6-800FBA53C3AA}"/>
              </a:ext>
            </a:extLst>
          </p:cNvPr>
          <p:cNvGraphicFramePr>
            <a:graphicFrameLocks noGrp="1"/>
          </p:cNvGraphicFramePr>
          <p:nvPr>
            <p:extLst>
              <p:ext uri="{D42A27DB-BD31-4B8C-83A1-F6EECF244321}">
                <p14:modId xmlns:p14="http://schemas.microsoft.com/office/powerpoint/2010/main" val="182484953"/>
              </p:ext>
            </p:extLst>
          </p:nvPr>
        </p:nvGraphicFramePr>
        <p:xfrm>
          <a:off x="6941820" y="4920515"/>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14" name="Rectangle 13">
            <a:extLst>
              <a:ext uri="{FF2B5EF4-FFF2-40B4-BE49-F238E27FC236}">
                <a16:creationId xmlns:a16="http://schemas.microsoft.com/office/drawing/2014/main" id="{50B45B00-727F-4D8D-BBF6-EA0D4D282D0C}"/>
              </a:ext>
            </a:extLst>
          </p:cNvPr>
          <p:cNvSpPr/>
          <p:nvPr/>
        </p:nvSpPr>
        <p:spPr>
          <a:xfrm>
            <a:off x="515620" y="5263125"/>
            <a:ext cx="6096000" cy="923330"/>
          </a:xfrm>
          <a:prstGeom prst="rect">
            <a:avLst/>
          </a:prstGeom>
        </p:spPr>
        <p:txBody>
          <a:bodyPr>
            <a:spAutoFit/>
          </a:bodyPr>
          <a:lstStyle/>
          <a:p>
            <a:r>
              <a:rPr lang="en-US" b="1" dirty="0"/>
              <a:t>Cost of Node 6= Previous node Cost + Min of Row + Min of Col + cost of current link (i.e.) matrix[C,D] </a:t>
            </a:r>
          </a:p>
          <a:p>
            <a:r>
              <a:rPr lang="en-US" b="1" dirty="0"/>
              <a:t>          = 25 + 0 + 0 + 0 = 25</a:t>
            </a:r>
          </a:p>
        </p:txBody>
      </p:sp>
      <p:sp>
        <p:nvSpPr>
          <p:cNvPr id="15" name="Arrow: Right 14">
            <a:extLst>
              <a:ext uri="{FF2B5EF4-FFF2-40B4-BE49-F238E27FC236}">
                <a16:creationId xmlns:a16="http://schemas.microsoft.com/office/drawing/2014/main" id="{328FA424-608B-4939-9533-89A1388B914C}"/>
              </a:ext>
            </a:extLst>
          </p:cNvPr>
          <p:cNvSpPr/>
          <p:nvPr/>
        </p:nvSpPr>
        <p:spPr>
          <a:xfrm>
            <a:off x="3326130" y="3599278"/>
            <a:ext cx="656590" cy="22088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6" name="Oval 15">
            <a:extLst>
              <a:ext uri="{FF2B5EF4-FFF2-40B4-BE49-F238E27FC236}">
                <a16:creationId xmlns:a16="http://schemas.microsoft.com/office/drawing/2014/main" id="{0DD6812E-C8BC-4AC4-8538-99C51BAF7EE3}"/>
              </a:ext>
            </a:extLst>
          </p:cNvPr>
          <p:cNvSpPr/>
          <p:nvPr/>
        </p:nvSpPr>
        <p:spPr>
          <a:xfrm>
            <a:off x="7807960" y="4098370"/>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7" name="Oval 16">
            <a:extLst>
              <a:ext uri="{FF2B5EF4-FFF2-40B4-BE49-F238E27FC236}">
                <a16:creationId xmlns:a16="http://schemas.microsoft.com/office/drawing/2014/main" id="{D5A47664-1A25-4B5C-8108-73148279BE12}"/>
              </a:ext>
            </a:extLst>
          </p:cNvPr>
          <p:cNvSpPr/>
          <p:nvPr/>
        </p:nvSpPr>
        <p:spPr>
          <a:xfrm>
            <a:off x="6356168" y="2668447"/>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pic>
        <p:nvPicPr>
          <p:cNvPr id="18" name="Picture 17">
            <a:extLst>
              <a:ext uri="{FF2B5EF4-FFF2-40B4-BE49-F238E27FC236}">
                <a16:creationId xmlns:a16="http://schemas.microsoft.com/office/drawing/2014/main" id="{3E5661AA-8166-4317-92F8-D2195BA6BB94}"/>
              </a:ext>
            </a:extLst>
          </p:cNvPr>
          <p:cNvPicPr>
            <a:picLocks noChangeAspect="1"/>
          </p:cNvPicPr>
          <p:nvPr/>
        </p:nvPicPr>
        <p:blipFill rotWithShape="1">
          <a:blip r:embed="rId2"/>
          <a:srcRect l="10387" t="14740"/>
          <a:stretch/>
        </p:blipFill>
        <p:spPr>
          <a:xfrm>
            <a:off x="8813130" y="238526"/>
            <a:ext cx="3201070" cy="1675317"/>
          </a:xfrm>
          <a:prstGeom prst="rect">
            <a:avLst/>
          </a:prstGeom>
        </p:spPr>
      </p:pic>
    </p:spTree>
    <p:extLst>
      <p:ext uri="{BB962C8B-B14F-4D97-AF65-F5344CB8AC3E}">
        <p14:creationId xmlns:p14="http://schemas.microsoft.com/office/powerpoint/2010/main" val="4120328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4" grpId="0"/>
      <p:bldP spid="15" grpId="0" animBg="1"/>
      <p:bldP spid="16" grpId="0" animBg="1"/>
      <p:bldP spid="1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A6A4D903-0501-4156-90F3-D6CD8F535789}"/>
              </a:ext>
            </a:extLst>
          </p:cNvPr>
          <p:cNvPicPr>
            <a:picLocks noChangeAspect="1"/>
          </p:cNvPicPr>
          <p:nvPr/>
        </p:nvPicPr>
        <p:blipFill>
          <a:blip r:embed="rId2"/>
          <a:stretch>
            <a:fillRect/>
          </a:stretch>
        </p:blipFill>
        <p:spPr>
          <a:xfrm>
            <a:off x="9712848" y="287909"/>
            <a:ext cx="2113392" cy="1744387"/>
          </a:xfrm>
          <a:prstGeom prst="rect">
            <a:avLst/>
          </a:prstGeom>
        </p:spPr>
      </p:pic>
      <p:sp>
        <p:nvSpPr>
          <p:cNvPr id="2" name="Title 1">
            <a:extLst>
              <a:ext uri="{FF2B5EF4-FFF2-40B4-BE49-F238E27FC236}">
                <a16:creationId xmlns:a16="http://schemas.microsoft.com/office/drawing/2014/main" id="{F9E3FD75-680B-4232-96A0-E7B0827A8EF1}"/>
              </a:ext>
            </a:extLst>
          </p:cNvPr>
          <p:cNvSpPr>
            <a:spLocks noGrp="1"/>
          </p:cNvSpPr>
          <p:nvPr>
            <p:ph type="title"/>
          </p:nvPr>
        </p:nvSpPr>
        <p:spPr/>
        <p:txBody>
          <a:bodyPr/>
          <a:lstStyle/>
          <a:p>
            <a:r>
              <a:rPr lang="en-US" b="1" dirty="0"/>
              <a:t>Example 1: TSP -- </a:t>
            </a:r>
            <a:r>
              <a:rPr lang="en-US" b="1" dirty="0" err="1"/>
              <a:t>contd</a:t>
            </a:r>
            <a:endParaRPr lang="hi-IN" dirty="0"/>
          </a:p>
        </p:txBody>
      </p:sp>
      <p:sp>
        <p:nvSpPr>
          <p:cNvPr id="3" name="Content Placeholder 2">
            <a:extLst>
              <a:ext uri="{FF2B5EF4-FFF2-40B4-BE49-F238E27FC236}">
                <a16:creationId xmlns:a16="http://schemas.microsoft.com/office/drawing/2014/main" id="{8F04DFB7-7C6C-42C3-8AB8-95EEACAFE08B}"/>
              </a:ext>
            </a:extLst>
          </p:cNvPr>
          <p:cNvSpPr>
            <a:spLocks noGrp="1"/>
          </p:cNvSpPr>
          <p:nvPr>
            <p:ph idx="1"/>
          </p:nvPr>
        </p:nvSpPr>
        <p:spPr>
          <a:xfrm>
            <a:off x="261764" y="2243253"/>
            <a:ext cx="4079608" cy="4351338"/>
          </a:xfrm>
        </p:spPr>
        <p:txBody>
          <a:bodyPr>
            <a:normAutofit/>
          </a:bodyPr>
          <a:lstStyle/>
          <a:p>
            <a:pPr algn="just"/>
            <a:r>
              <a:rPr lang="en-US" sz="2400" dirty="0"/>
              <a:t>From the resultant tree choose the lowest cost node for the next level of exploration and proceed with the further remaining options for the salesman to explore</a:t>
            </a:r>
          </a:p>
          <a:p>
            <a:pPr algn="just"/>
            <a:r>
              <a:rPr lang="en-US" sz="2400" dirty="0"/>
              <a:t>In this case, explore node 6 and find the cost of each node in the next level</a:t>
            </a:r>
          </a:p>
          <a:p>
            <a:pPr algn="just"/>
            <a:r>
              <a:rPr lang="en-US" sz="2400" dirty="0"/>
              <a:t>Repeat the previous steps</a:t>
            </a:r>
            <a:endParaRPr lang="hi-IN" sz="2400" dirty="0"/>
          </a:p>
        </p:txBody>
      </p:sp>
      <p:sp>
        <p:nvSpPr>
          <p:cNvPr id="4" name="Footer Placeholder 3">
            <a:extLst>
              <a:ext uri="{FF2B5EF4-FFF2-40B4-BE49-F238E27FC236}">
                <a16:creationId xmlns:a16="http://schemas.microsoft.com/office/drawing/2014/main" id="{23C414B5-2F6E-4779-8D91-D9C4B4A69C8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1C01F6AC-153E-45D6-A07C-4CA856D3F431}"/>
              </a:ext>
            </a:extLst>
          </p:cNvPr>
          <p:cNvSpPr>
            <a:spLocks noGrp="1"/>
          </p:cNvSpPr>
          <p:nvPr>
            <p:ph type="sldNum" sz="quarter" idx="12"/>
          </p:nvPr>
        </p:nvSpPr>
        <p:spPr/>
        <p:txBody>
          <a:bodyPr/>
          <a:lstStyle/>
          <a:p>
            <a:fld id="{F56F9007-E0C6-489E-B603-BD6BB4385429}" type="slidenum">
              <a:rPr lang="hi-IN" smtClean="0"/>
              <a:t>27</a:t>
            </a:fld>
            <a:endParaRPr lang="hi-IN"/>
          </a:p>
        </p:txBody>
      </p:sp>
      <p:sp>
        <p:nvSpPr>
          <p:cNvPr id="15" name="Oval 14">
            <a:extLst>
              <a:ext uri="{FF2B5EF4-FFF2-40B4-BE49-F238E27FC236}">
                <a16:creationId xmlns:a16="http://schemas.microsoft.com/office/drawing/2014/main" id="{20992046-D06F-408E-A8C0-3EF07E634E17}"/>
              </a:ext>
            </a:extLst>
          </p:cNvPr>
          <p:cNvSpPr/>
          <p:nvPr/>
        </p:nvSpPr>
        <p:spPr>
          <a:xfrm>
            <a:off x="6832600" y="828358"/>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a:t>
            </a:r>
            <a:endParaRPr lang="hi-IN" b="1" dirty="0">
              <a:ln w="0"/>
              <a:solidFill>
                <a:schemeClr val="tx1"/>
              </a:solidFill>
              <a:effectLst>
                <a:outerShdw blurRad="38100" dist="19050" dir="2700000" algn="tl" rotWithShape="0">
                  <a:schemeClr val="dk1">
                    <a:alpha val="40000"/>
                  </a:schemeClr>
                </a:outerShdw>
              </a:effectLst>
            </a:endParaRPr>
          </a:p>
        </p:txBody>
      </p:sp>
      <p:sp>
        <p:nvSpPr>
          <p:cNvPr id="16" name="Oval 15">
            <a:extLst>
              <a:ext uri="{FF2B5EF4-FFF2-40B4-BE49-F238E27FC236}">
                <a16:creationId xmlns:a16="http://schemas.microsoft.com/office/drawing/2014/main" id="{18C7C7D5-0349-4DAD-AD27-7718B33D5476}"/>
              </a:ext>
            </a:extLst>
          </p:cNvPr>
          <p:cNvSpPr/>
          <p:nvPr/>
        </p:nvSpPr>
        <p:spPr>
          <a:xfrm>
            <a:off x="5567680" y="19507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17" name="Oval 16">
            <a:extLst>
              <a:ext uri="{FF2B5EF4-FFF2-40B4-BE49-F238E27FC236}">
                <a16:creationId xmlns:a16="http://schemas.microsoft.com/office/drawing/2014/main" id="{082063CF-A1F8-4558-B17A-D78D798BB3AA}"/>
              </a:ext>
            </a:extLst>
          </p:cNvPr>
          <p:cNvSpPr/>
          <p:nvPr/>
        </p:nvSpPr>
        <p:spPr>
          <a:xfrm>
            <a:off x="6832600" y="1950720"/>
            <a:ext cx="640080" cy="71389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18" name="Oval 17">
            <a:extLst>
              <a:ext uri="{FF2B5EF4-FFF2-40B4-BE49-F238E27FC236}">
                <a16:creationId xmlns:a16="http://schemas.microsoft.com/office/drawing/2014/main" id="{A461E0BC-F12C-4BBE-836D-D5491455FD3F}"/>
              </a:ext>
            </a:extLst>
          </p:cNvPr>
          <p:cNvSpPr/>
          <p:nvPr/>
        </p:nvSpPr>
        <p:spPr>
          <a:xfrm>
            <a:off x="8153400" y="19507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19" name="Straight Connector 18">
            <a:extLst>
              <a:ext uri="{FF2B5EF4-FFF2-40B4-BE49-F238E27FC236}">
                <a16:creationId xmlns:a16="http://schemas.microsoft.com/office/drawing/2014/main" id="{48F70658-5908-4BD9-BEC5-A6D3CAC9229E}"/>
              </a:ext>
            </a:extLst>
          </p:cNvPr>
          <p:cNvCxnSpPr>
            <a:stCxn id="15" idx="3"/>
            <a:endCxn id="16" idx="0"/>
          </p:cNvCxnSpPr>
          <p:nvPr/>
        </p:nvCxnSpPr>
        <p:spPr>
          <a:xfrm flipH="1">
            <a:off x="5887720" y="1392045"/>
            <a:ext cx="1038618" cy="558675"/>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CCDC89B5-6093-47F5-9B5D-6A53EB7A51D2}"/>
              </a:ext>
            </a:extLst>
          </p:cNvPr>
          <p:cNvCxnSpPr>
            <a:stCxn id="15" idx="4"/>
          </p:cNvCxnSpPr>
          <p:nvPr/>
        </p:nvCxnSpPr>
        <p:spPr>
          <a:xfrm>
            <a:off x="7152640" y="1488758"/>
            <a:ext cx="0" cy="461962"/>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718277D7-DFE2-4696-AC7F-9E56529417A9}"/>
              </a:ext>
            </a:extLst>
          </p:cNvPr>
          <p:cNvCxnSpPr>
            <a:stCxn id="15" idx="5"/>
            <a:endCxn id="18" idx="1"/>
          </p:cNvCxnSpPr>
          <p:nvPr/>
        </p:nvCxnSpPr>
        <p:spPr>
          <a:xfrm>
            <a:off x="7378942" y="1392045"/>
            <a:ext cx="868196" cy="655388"/>
          </a:xfrm>
          <a:prstGeom prst="line">
            <a:avLst/>
          </a:prstGeom>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BD74DCC1-A1FF-43B3-9BA6-F0D640324855}"/>
              </a:ext>
            </a:extLst>
          </p:cNvPr>
          <p:cNvSpPr txBox="1"/>
          <p:nvPr/>
        </p:nvSpPr>
        <p:spPr>
          <a:xfrm>
            <a:off x="7410328" y="774860"/>
            <a:ext cx="2241672" cy="369332"/>
          </a:xfrm>
          <a:prstGeom prst="rect">
            <a:avLst/>
          </a:prstGeom>
          <a:noFill/>
        </p:spPr>
        <p:txBody>
          <a:bodyPr wrap="square" rtlCol="0">
            <a:spAutoFit/>
          </a:bodyPr>
          <a:lstStyle/>
          <a:p>
            <a:r>
              <a:rPr lang="en-US" b="1" dirty="0"/>
              <a:t>Cost of node 1 = 18</a:t>
            </a:r>
            <a:endParaRPr lang="hi-IN" b="1" dirty="0"/>
          </a:p>
        </p:txBody>
      </p:sp>
      <p:sp>
        <p:nvSpPr>
          <p:cNvPr id="23" name="Rectangle 22">
            <a:extLst>
              <a:ext uri="{FF2B5EF4-FFF2-40B4-BE49-F238E27FC236}">
                <a16:creationId xmlns:a16="http://schemas.microsoft.com/office/drawing/2014/main" id="{3DC5ECF9-E22C-43BE-B9AF-74F4B9A3DD0D}"/>
              </a:ext>
            </a:extLst>
          </p:cNvPr>
          <p:cNvSpPr/>
          <p:nvPr/>
        </p:nvSpPr>
        <p:spPr>
          <a:xfrm>
            <a:off x="4078729" y="1617743"/>
            <a:ext cx="2012730" cy="369332"/>
          </a:xfrm>
          <a:prstGeom prst="rect">
            <a:avLst/>
          </a:prstGeom>
        </p:spPr>
        <p:txBody>
          <a:bodyPr wrap="none">
            <a:spAutoFit/>
          </a:bodyPr>
          <a:lstStyle/>
          <a:p>
            <a:r>
              <a:rPr lang="en-US" b="1" dirty="0"/>
              <a:t>Cost of node 2 = 36</a:t>
            </a:r>
            <a:endParaRPr lang="hi-IN" dirty="0"/>
          </a:p>
        </p:txBody>
      </p:sp>
      <p:sp>
        <p:nvSpPr>
          <p:cNvPr id="24" name="Rectangle 23">
            <a:extLst>
              <a:ext uri="{FF2B5EF4-FFF2-40B4-BE49-F238E27FC236}">
                <a16:creationId xmlns:a16="http://schemas.microsoft.com/office/drawing/2014/main" id="{342893FE-2B6C-4E30-84E3-8AF418E88E65}"/>
              </a:ext>
            </a:extLst>
          </p:cNvPr>
          <p:cNvSpPr/>
          <p:nvPr/>
        </p:nvSpPr>
        <p:spPr>
          <a:xfrm>
            <a:off x="6096000" y="2647475"/>
            <a:ext cx="2012730" cy="369332"/>
          </a:xfrm>
          <a:prstGeom prst="rect">
            <a:avLst/>
          </a:prstGeom>
        </p:spPr>
        <p:txBody>
          <a:bodyPr wrap="none">
            <a:spAutoFit/>
          </a:bodyPr>
          <a:lstStyle/>
          <a:p>
            <a:r>
              <a:rPr lang="en-US" b="1" dirty="0"/>
              <a:t>Cost of node 3 = 25</a:t>
            </a:r>
            <a:endParaRPr lang="hi-IN" dirty="0"/>
          </a:p>
        </p:txBody>
      </p:sp>
      <p:sp>
        <p:nvSpPr>
          <p:cNvPr id="25" name="Rectangle 24">
            <a:extLst>
              <a:ext uri="{FF2B5EF4-FFF2-40B4-BE49-F238E27FC236}">
                <a16:creationId xmlns:a16="http://schemas.microsoft.com/office/drawing/2014/main" id="{8BF8F75A-5154-4FA4-B8B7-2631DA6B6360}"/>
              </a:ext>
            </a:extLst>
          </p:cNvPr>
          <p:cNvSpPr/>
          <p:nvPr/>
        </p:nvSpPr>
        <p:spPr>
          <a:xfrm>
            <a:off x="8531164" y="1678942"/>
            <a:ext cx="2012730" cy="369332"/>
          </a:xfrm>
          <a:prstGeom prst="rect">
            <a:avLst/>
          </a:prstGeom>
        </p:spPr>
        <p:txBody>
          <a:bodyPr wrap="none">
            <a:spAutoFit/>
          </a:bodyPr>
          <a:lstStyle/>
          <a:p>
            <a:r>
              <a:rPr lang="en-US" b="1" dirty="0"/>
              <a:t>Cost of node 4 = 26</a:t>
            </a:r>
            <a:endParaRPr lang="hi-IN" dirty="0"/>
          </a:p>
        </p:txBody>
      </p:sp>
      <p:sp>
        <p:nvSpPr>
          <p:cNvPr id="28" name="Oval 27">
            <a:extLst>
              <a:ext uri="{FF2B5EF4-FFF2-40B4-BE49-F238E27FC236}">
                <a16:creationId xmlns:a16="http://schemas.microsoft.com/office/drawing/2014/main" id="{30904886-BBFE-4150-B2CD-A27CD8020940}"/>
              </a:ext>
            </a:extLst>
          </p:cNvPr>
          <p:cNvSpPr/>
          <p:nvPr/>
        </p:nvSpPr>
        <p:spPr>
          <a:xfrm>
            <a:off x="6619258" y="34581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29" name="Oval 28">
            <a:extLst>
              <a:ext uri="{FF2B5EF4-FFF2-40B4-BE49-F238E27FC236}">
                <a16:creationId xmlns:a16="http://schemas.microsoft.com/office/drawing/2014/main" id="{387A3C5B-7073-404C-B4E5-2CA697719806}"/>
              </a:ext>
            </a:extLst>
          </p:cNvPr>
          <p:cNvSpPr/>
          <p:nvPr/>
        </p:nvSpPr>
        <p:spPr>
          <a:xfrm>
            <a:off x="7871662" y="34581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31" name="Straight Connector 30">
            <a:extLst>
              <a:ext uri="{FF2B5EF4-FFF2-40B4-BE49-F238E27FC236}">
                <a16:creationId xmlns:a16="http://schemas.microsoft.com/office/drawing/2014/main" id="{490B0783-40B7-40C3-980D-AD3B6D7C91AF}"/>
              </a:ext>
            </a:extLst>
          </p:cNvPr>
          <p:cNvCxnSpPr>
            <a:cxnSpLocks/>
            <a:endCxn id="28" idx="0"/>
          </p:cNvCxnSpPr>
          <p:nvPr/>
        </p:nvCxnSpPr>
        <p:spPr>
          <a:xfrm flipH="1">
            <a:off x="6939298" y="2683976"/>
            <a:ext cx="151861" cy="774144"/>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43521FD0-4154-49F9-A273-0173710C960C}"/>
              </a:ext>
            </a:extLst>
          </p:cNvPr>
          <p:cNvCxnSpPr>
            <a:cxnSpLocks/>
            <a:endCxn id="29" idx="1"/>
          </p:cNvCxnSpPr>
          <p:nvPr/>
        </p:nvCxnSpPr>
        <p:spPr>
          <a:xfrm>
            <a:off x="7317461" y="2587263"/>
            <a:ext cx="647939" cy="967570"/>
          </a:xfrm>
          <a:prstGeom prst="line">
            <a:avLst/>
          </a:prstGeom>
        </p:spPr>
        <p:style>
          <a:lnRef idx="1">
            <a:schemeClr val="dk1"/>
          </a:lnRef>
          <a:fillRef idx="0">
            <a:schemeClr val="dk1"/>
          </a:fillRef>
          <a:effectRef idx="0">
            <a:schemeClr val="dk1"/>
          </a:effectRef>
          <a:fontRef idx="minor">
            <a:schemeClr val="tx1"/>
          </a:fontRef>
        </p:style>
      </p:cxnSp>
      <p:sp>
        <p:nvSpPr>
          <p:cNvPr id="34" name="Rectangle 33">
            <a:extLst>
              <a:ext uri="{FF2B5EF4-FFF2-40B4-BE49-F238E27FC236}">
                <a16:creationId xmlns:a16="http://schemas.microsoft.com/office/drawing/2014/main" id="{F3A5B992-335C-40C3-BA9B-6A2E0EE55ADE}"/>
              </a:ext>
            </a:extLst>
          </p:cNvPr>
          <p:cNvSpPr/>
          <p:nvPr/>
        </p:nvSpPr>
        <p:spPr>
          <a:xfrm>
            <a:off x="4803839" y="4096225"/>
            <a:ext cx="2028761" cy="369332"/>
          </a:xfrm>
          <a:prstGeom prst="rect">
            <a:avLst/>
          </a:prstGeom>
        </p:spPr>
        <p:txBody>
          <a:bodyPr wrap="none">
            <a:spAutoFit/>
          </a:bodyPr>
          <a:lstStyle/>
          <a:p>
            <a:r>
              <a:rPr lang="en-US" b="1" dirty="0"/>
              <a:t>Cost of node 5 = </a:t>
            </a:r>
            <a:r>
              <a:rPr lang="hi-IN" dirty="0"/>
              <a:t>∞</a:t>
            </a:r>
            <a:r>
              <a:rPr lang="en-US" b="1" dirty="0"/>
              <a:t> </a:t>
            </a:r>
            <a:endParaRPr lang="hi-IN" dirty="0"/>
          </a:p>
        </p:txBody>
      </p:sp>
      <p:sp>
        <p:nvSpPr>
          <p:cNvPr id="35" name="Rectangle 34">
            <a:extLst>
              <a:ext uri="{FF2B5EF4-FFF2-40B4-BE49-F238E27FC236}">
                <a16:creationId xmlns:a16="http://schemas.microsoft.com/office/drawing/2014/main" id="{F706ECBF-4E51-4B44-9F41-50FB802ADC2B}"/>
              </a:ext>
            </a:extLst>
          </p:cNvPr>
          <p:cNvSpPr/>
          <p:nvPr/>
        </p:nvSpPr>
        <p:spPr>
          <a:xfrm>
            <a:off x="8450261" y="3603654"/>
            <a:ext cx="2065630" cy="369332"/>
          </a:xfrm>
          <a:prstGeom prst="rect">
            <a:avLst/>
          </a:prstGeom>
        </p:spPr>
        <p:txBody>
          <a:bodyPr wrap="none">
            <a:spAutoFit/>
          </a:bodyPr>
          <a:lstStyle/>
          <a:p>
            <a:r>
              <a:rPr lang="en-US" b="1" dirty="0"/>
              <a:t>Cost of node 6 = 25 </a:t>
            </a:r>
            <a:endParaRPr lang="hi-IN" dirty="0"/>
          </a:p>
        </p:txBody>
      </p:sp>
      <p:sp>
        <p:nvSpPr>
          <p:cNvPr id="26" name="Oval 25">
            <a:extLst>
              <a:ext uri="{FF2B5EF4-FFF2-40B4-BE49-F238E27FC236}">
                <a16:creationId xmlns:a16="http://schemas.microsoft.com/office/drawing/2014/main" id="{8E43E7CB-56B0-4E24-9718-ECD8758C141F}"/>
              </a:ext>
            </a:extLst>
          </p:cNvPr>
          <p:cNvSpPr/>
          <p:nvPr/>
        </p:nvSpPr>
        <p:spPr>
          <a:xfrm>
            <a:off x="7896618" y="4705089"/>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27" name="Straight Connector 26">
            <a:extLst>
              <a:ext uri="{FF2B5EF4-FFF2-40B4-BE49-F238E27FC236}">
                <a16:creationId xmlns:a16="http://schemas.microsoft.com/office/drawing/2014/main" id="{857B9829-DD6F-414D-A60C-F491B91FB9DB}"/>
              </a:ext>
            </a:extLst>
          </p:cNvPr>
          <p:cNvCxnSpPr>
            <a:cxnSpLocks/>
            <a:stCxn id="29" idx="4"/>
            <a:endCxn id="26" idx="0"/>
          </p:cNvCxnSpPr>
          <p:nvPr/>
        </p:nvCxnSpPr>
        <p:spPr>
          <a:xfrm>
            <a:off x="8191702" y="4118520"/>
            <a:ext cx="24956" cy="586569"/>
          </a:xfrm>
          <a:prstGeom prst="line">
            <a:avLst/>
          </a:prstGeom>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6700C21E-925C-423F-9C81-9CD59B13ED6E}"/>
              </a:ext>
            </a:extLst>
          </p:cNvPr>
          <p:cNvSpPr/>
          <p:nvPr/>
        </p:nvSpPr>
        <p:spPr>
          <a:xfrm>
            <a:off x="8610600" y="4780854"/>
            <a:ext cx="840295" cy="369332"/>
          </a:xfrm>
          <a:prstGeom prst="rect">
            <a:avLst/>
          </a:prstGeom>
        </p:spPr>
        <p:txBody>
          <a:bodyPr wrap="none">
            <a:spAutoFit/>
          </a:bodyPr>
          <a:lstStyle/>
          <a:p>
            <a:r>
              <a:rPr lang="en-US" b="1" dirty="0"/>
              <a:t>node 7</a:t>
            </a:r>
            <a:endParaRPr lang="hi-IN" dirty="0"/>
          </a:p>
        </p:txBody>
      </p:sp>
      <p:sp>
        <p:nvSpPr>
          <p:cNvPr id="32" name="Oval 31">
            <a:extLst>
              <a:ext uri="{FF2B5EF4-FFF2-40B4-BE49-F238E27FC236}">
                <a16:creationId xmlns:a16="http://schemas.microsoft.com/office/drawing/2014/main" id="{9226927C-827B-4CA6-974A-046A51C9058E}"/>
              </a:ext>
            </a:extLst>
          </p:cNvPr>
          <p:cNvSpPr/>
          <p:nvPr/>
        </p:nvSpPr>
        <p:spPr>
          <a:xfrm>
            <a:off x="7422605" y="3285063"/>
            <a:ext cx="2439848" cy="94227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Tree>
    <p:extLst>
      <p:ext uri="{BB962C8B-B14F-4D97-AF65-F5344CB8AC3E}">
        <p14:creationId xmlns:p14="http://schemas.microsoft.com/office/powerpoint/2010/main" val="146735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subTnLst>
                                    <p:set>
                                      <p:cBhvr override="childStyle">
                                        <p:cTn dur="1" fill="hold" display="0" masterRel="nextClick" afterEffect="1"/>
                                        <p:tgtEl>
                                          <p:spTgt spid="32"/>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22" grpId="0"/>
      <p:bldP spid="23" grpId="0"/>
      <p:bldP spid="24" grpId="0"/>
      <p:bldP spid="25" grpId="0"/>
      <p:bldP spid="28" grpId="0" animBg="1"/>
      <p:bldP spid="29" grpId="0" animBg="1"/>
      <p:bldP spid="34" grpId="0"/>
      <p:bldP spid="35" grpId="0"/>
      <p:bldP spid="26" grpId="0" animBg="1"/>
      <p:bldP spid="9" grpId="0"/>
      <p:bldP spid="3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2189-7552-4E33-9E7B-4DE20289BB36}"/>
              </a:ext>
            </a:extLst>
          </p:cNvPr>
          <p:cNvSpPr>
            <a:spLocks noGrp="1"/>
          </p:cNvSpPr>
          <p:nvPr>
            <p:ph type="title"/>
          </p:nvPr>
        </p:nvSpPr>
        <p:spPr/>
        <p:txBody>
          <a:bodyPr/>
          <a:lstStyle/>
          <a:p>
            <a:r>
              <a:rPr lang="en-US" b="1" dirty="0"/>
              <a:t>Example 1: TSP -- </a:t>
            </a:r>
            <a:r>
              <a:rPr lang="en-US" b="1" dirty="0" err="1"/>
              <a:t>contd</a:t>
            </a:r>
            <a:endParaRPr lang="hi-IN" dirty="0"/>
          </a:p>
        </p:txBody>
      </p:sp>
      <p:sp>
        <p:nvSpPr>
          <p:cNvPr id="3" name="Content Placeholder 2">
            <a:extLst>
              <a:ext uri="{FF2B5EF4-FFF2-40B4-BE49-F238E27FC236}">
                <a16:creationId xmlns:a16="http://schemas.microsoft.com/office/drawing/2014/main" id="{37C055A1-8DCE-40BD-96BE-DC0349835FE9}"/>
              </a:ext>
            </a:extLst>
          </p:cNvPr>
          <p:cNvSpPr>
            <a:spLocks noGrp="1"/>
          </p:cNvSpPr>
          <p:nvPr>
            <p:ph idx="1"/>
          </p:nvPr>
        </p:nvSpPr>
        <p:spPr/>
        <p:txBody>
          <a:bodyPr/>
          <a:lstStyle/>
          <a:p>
            <a:r>
              <a:rPr lang="en-US" dirty="0"/>
              <a:t>Now exploring A — C—D —B  path</a:t>
            </a:r>
          </a:p>
          <a:p>
            <a:pPr lvl="1"/>
            <a:r>
              <a:rPr lang="en-US" sz="2000" dirty="0"/>
              <a:t>The cost matrix of node D becomes…</a:t>
            </a:r>
            <a:endParaRPr lang="hi-IN" sz="2000" dirty="0"/>
          </a:p>
        </p:txBody>
      </p:sp>
      <p:sp>
        <p:nvSpPr>
          <p:cNvPr id="4" name="Footer Placeholder 3">
            <a:extLst>
              <a:ext uri="{FF2B5EF4-FFF2-40B4-BE49-F238E27FC236}">
                <a16:creationId xmlns:a16="http://schemas.microsoft.com/office/drawing/2014/main" id="{3FBCE2A8-CF2B-4146-9CF1-F8A6DCA76137}"/>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1DC7713-BE6D-4807-8365-0ED01742EAAF}"/>
              </a:ext>
            </a:extLst>
          </p:cNvPr>
          <p:cNvSpPr>
            <a:spLocks noGrp="1"/>
          </p:cNvSpPr>
          <p:nvPr>
            <p:ph type="sldNum" sz="quarter" idx="12"/>
          </p:nvPr>
        </p:nvSpPr>
        <p:spPr/>
        <p:txBody>
          <a:bodyPr/>
          <a:lstStyle/>
          <a:p>
            <a:fld id="{F56F9007-E0C6-489E-B603-BD6BB4385429}" type="slidenum">
              <a:rPr lang="hi-IN" smtClean="0"/>
              <a:t>28</a:t>
            </a:fld>
            <a:endParaRPr lang="hi-IN"/>
          </a:p>
        </p:txBody>
      </p:sp>
      <p:graphicFrame>
        <p:nvGraphicFramePr>
          <p:cNvPr id="6" name="Table 5">
            <a:extLst>
              <a:ext uri="{FF2B5EF4-FFF2-40B4-BE49-F238E27FC236}">
                <a16:creationId xmlns:a16="http://schemas.microsoft.com/office/drawing/2014/main" id="{D6F50D1C-6C10-4DEE-B1F2-B7F70D225F30}"/>
              </a:ext>
            </a:extLst>
          </p:cNvPr>
          <p:cNvGraphicFramePr>
            <a:graphicFrameLocks noGrp="1"/>
          </p:cNvGraphicFramePr>
          <p:nvPr>
            <p:extLst>
              <p:ext uri="{D42A27DB-BD31-4B8C-83A1-F6EECF244321}">
                <p14:modId xmlns:p14="http://schemas.microsoft.com/office/powerpoint/2010/main" val="3578107764"/>
              </p:ext>
            </p:extLst>
          </p:nvPr>
        </p:nvGraphicFramePr>
        <p:xfrm>
          <a:off x="177800" y="2811352"/>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6">
            <a:extLst>
              <a:ext uri="{FF2B5EF4-FFF2-40B4-BE49-F238E27FC236}">
                <a16:creationId xmlns:a16="http://schemas.microsoft.com/office/drawing/2014/main" id="{A7A71D93-ABE2-429F-8576-61090397B0B1}"/>
              </a:ext>
            </a:extLst>
          </p:cNvPr>
          <p:cNvGraphicFramePr>
            <a:graphicFrameLocks noGrp="1"/>
          </p:cNvGraphicFramePr>
          <p:nvPr>
            <p:extLst>
              <p:ext uri="{D42A27DB-BD31-4B8C-83A1-F6EECF244321}">
                <p14:modId xmlns:p14="http://schemas.microsoft.com/office/powerpoint/2010/main" val="2921799274"/>
              </p:ext>
            </p:extLst>
          </p:nvPr>
        </p:nvGraphicFramePr>
        <p:xfrm>
          <a:off x="3840480" y="2791558"/>
          <a:ext cx="3180080" cy="182880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10445">
                  <a:extLst>
                    <a:ext uri="{9D8B030D-6E8A-4147-A177-3AD203B41FA5}">
                      <a16:colId xmlns:a16="http://schemas.microsoft.com/office/drawing/2014/main" val="252318787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Min</a:t>
                      </a:r>
                      <a:endParaRPr lang="hi-IN"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8" name="TextBox 7">
            <a:extLst>
              <a:ext uri="{FF2B5EF4-FFF2-40B4-BE49-F238E27FC236}">
                <a16:creationId xmlns:a16="http://schemas.microsoft.com/office/drawing/2014/main" id="{8E4B49A0-9E43-4C50-8675-1197C97366AC}"/>
              </a:ext>
            </a:extLst>
          </p:cNvPr>
          <p:cNvSpPr txBox="1"/>
          <p:nvPr/>
        </p:nvSpPr>
        <p:spPr>
          <a:xfrm>
            <a:off x="7165340" y="1642159"/>
            <a:ext cx="1102360" cy="646331"/>
          </a:xfrm>
          <a:prstGeom prst="rect">
            <a:avLst/>
          </a:prstGeom>
          <a:noFill/>
        </p:spPr>
        <p:txBody>
          <a:bodyPr wrap="square" rtlCol="0">
            <a:spAutoFit/>
          </a:bodyPr>
          <a:lstStyle/>
          <a:p>
            <a:r>
              <a:rPr lang="en-US" b="1" dirty="0"/>
              <a:t>Reduce by row</a:t>
            </a:r>
            <a:endParaRPr lang="hi-IN" b="1" dirty="0"/>
          </a:p>
        </p:txBody>
      </p:sp>
      <p:sp>
        <p:nvSpPr>
          <p:cNvPr id="9" name="TextBox 8">
            <a:extLst>
              <a:ext uri="{FF2B5EF4-FFF2-40B4-BE49-F238E27FC236}">
                <a16:creationId xmlns:a16="http://schemas.microsoft.com/office/drawing/2014/main" id="{655296CB-F437-46A9-A2A7-93457B0439B7}"/>
              </a:ext>
            </a:extLst>
          </p:cNvPr>
          <p:cNvSpPr txBox="1"/>
          <p:nvPr/>
        </p:nvSpPr>
        <p:spPr>
          <a:xfrm>
            <a:off x="10443546" y="5135484"/>
            <a:ext cx="1353820" cy="646331"/>
          </a:xfrm>
          <a:prstGeom prst="rect">
            <a:avLst/>
          </a:prstGeom>
          <a:noFill/>
        </p:spPr>
        <p:txBody>
          <a:bodyPr wrap="square" rtlCol="0">
            <a:spAutoFit/>
          </a:bodyPr>
          <a:lstStyle/>
          <a:p>
            <a:r>
              <a:rPr lang="en-US" b="1" dirty="0"/>
              <a:t>Reduce by column</a:t>
            </a:r>
            <a:endParaRPr lang="hi-IN" b="1" dirty="0"/>
          </a:p>
        </p:txBody>
      </p:sp>
      <p:sp>
        <p:nvSpPr>
          <p:cNvPr id="10" name="Arrow: Right 9">
            <a:extLst>
              <a:ext uri="{FF2B5EF4-FFF2-40B4-BE49-F238E27FC236}">
                <a16:creationId xmlns:a16="http://schemas.microsoft.com/office/drawing/2014/main" id="{68D24F80-8C16-4CDD-9AE4-FAB8D8DAA522}"/>
              </a:ext>
            </a:extLst>
          </p:cNvPr>
          <p:cNvSpPr/>
          <p:nvPr/>
        </p:nvSpPr>
        <p:spPr>
          <a:xfrm>
            <a:off x="7034530" y="2397977"/>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1" name="Arrow: Down 10">
            <a:extLst>
              <a:ext uri="{FF2B5EF4-FFF2-40B4-BE49-F238E27FC236}">
                <a16:creationId xmlns:a16="http://schemas.microsoft.com/office/drawing/2014/main" id="{64211AFF-4871-410D-AE82-03C4151657A2}"/>
              </a:ext>
            </a:extLst>
          </p:cNvPr>
          <p:cNvSpPr/>
          <p:nvPr/>
        </p:nvSpPr>
        <p:spPr>
          <a:xfrm rot="1924878">
            <a:off x="10390206" y="4653950"/>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2" name="Table 11">
            <a:extLst>
              <a:ext uri="{FF2B5EF4-FFF2-40B4-BE49-F238E27FC236}">
                <a16:creationId xmlns:a16="http://schemas.microsoft.com/office/drawing/2014/main" id="{ACF61F84-857D-49F5-A057-A4D15E8F777A}"/>
              </a:ext>
            </a:extLst>
          </p:cNvPr>
          <p:cNvGraphicFramePr>
            <a:graphicFrameLocks noGrp="1"/>
          </p:cNvGraphicFramePr>
          <p:nvPr>
            <p:extLst>
              <p:ext uri="{D42A27DB-BD31-4B8C-83A1-F6EECF244321}">
                <p14:modId xmlns:p14="http://schemas.microsoft.com/office/powerpoint/2010/main" val="3629527991"/>
              </p:ext>
            </p:extLst>
          </p:nvPr>
        </p:nvGraphicFramePr>
        <p:xfrm>
          <a:off x="8168640" y="2612388"/>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r>
                        <a:rPr lang="en-US" b="1" dirty="0">
                          <a:solidFill>
                            <a:schemeClr val="tx1"/>
                          </a:solidFill>
                        </a:rPr>
                        <a:t>Min</a:t>
                      </a:r>
                      <a:endParaRPr lang="hi-IN"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9715164"/>
                  </a:ext>
                </a:extLst>
              </a:tr>
            </a:tbl>
          </a:graphicData>
        </a:graphic>
      </p:graphicFrame>
      <p:graphicFrame>
        <p:nvGraphicFramePr>
          <p:cNvPr id="13" name="Table 12">
            <a:extLst>
              <a:ext uri="{FF2B5EF4-FFF2-40B4-BE49-F238E27FC236}">
                <a16:creationId xmlns:a16="http://schemas.microsoft.com/office/drawing/2014/main" id="{D27ADEB2-CD97-4A14-83C6-800FBA53C3AA}"/>
              </a:ext>
            </a:extLst>
          </p:cNvPr>
          <p:cNvGraphicFramePr>
            <a:graphicFrameLocks noGrp="1"/>
          </p:cNvGraphicFramePr>
          <p:nvPr>
            <p:extLst>
              <p:ext uri="{D42A27DB-BD31-4B8C-83A1-F6EECF244321}">
                <p14:modId xmlns:p14="http://schemas.microsoft.com/office/powerpoint/2010/main" val="4030131848"/>
              </p:ext>
            </p:extLst>
          </p:nvPr>
        </p:nvGraphicFramePr>
        <p:xfrm>
          <a:off x="6941820" y="4920515"/>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14" name="Rectangle 13">
            <a:extLst>
              <a:ext uri="{FF2B5EF4-FFF2-40B4-BE49-F238E27FC236}">
                <a16:creationId xmlns:a16="http://schemas.microsoft.com/office/drawing/2014/main" id="{50B45B00-727F-4D8D-BBF6-EA0D4D282D0C}"/>
              </a:ext>
            </a:extLst>
          </p:cNvPr>
          <p:cNvSpPr/>
          <p:nvPr/>
        </p:nvSpPr>
        <p:spPr>
          <a:xfrm>
            <a:off x="515620" y="5263125"/>
            <a:ext cx="6096000" cy="923330"/>
          </a:xfrm>
          <a:prstGeom prst="rect">
            <a:avLst/>
          </a:prstGeom>
        </p:spPr>
        <p:txBody>
          <a:bodyPr>
            <a:spAutoFit/>
          </a:bodyPr>
          <a:lstStyle/>
          <a:p>
            <a:r>
              <a:rPr lang="en-US" b="1" dirty="0"/>
              <a:t>Cost of Node 7= Previous node Cost + Min of Row + Min of Col + cost of current link (i.e.) matrix[D,B] </a:t>
            </a:r>
          </a:p>
          <a:p>
            <a:r>
              <a:rPr lang="en-US" b="1" dirty="0"/>
              <a:t>                  = 25 + 0 + 0 + 0 = 25</a:t>
            </a:r>
          </a:p>
        </p:txBody>
      </p:sp>
      <p:sp>
        <p:nvSpPr>
          <p:cNvPr id="15" name="Arrow: Right 14">
            <a:extLst>
              <a:ext uri="{FF2B5EF4-FFF2-40B4-BE49-F238E27FC236}">
                <a16:creationId xmlns:a16="http://schemas.microsoft.com/office/drawing/2014/main" id="{328FA424-608B-4939-9533-89A1388B914C}"/>
              </a:ext>
            </a:extLst>
          </p:cNvPr>
          <p:cNvSpPr/>
          <p:nvPr/>
        </p:nvSpPr>
        <p:spPr>
          <a:xfrm>
            <a:off x="3326130" y="3599278"/>
            <a:ext cx="656590" cy="22088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7" name="Speech Bubble: Rectangle with Corners Rounded 16">
            <a:extLst>
              <a:ext uri="{FF2B5EF4-FFF2-40B4-BE49-F238E27FC236}">
                <a16:creationId xmlns:a16="http://schemas.microsoft.com/office/drawing/2014/main" id="{2B6AFFA4-9A1D-4870-B7A5-BB8C9B5228C9}"/>
              </a:ext>
            </a:extLst>
          </p:cNvPr>
          <p:cNvSpPr/>
          <p:nvPr/>
        </p:nvSpPr>
        <p:spPr>
          <a:xfrm>
            <a:off x="4196080" y="5954486"/>
            <a:ext cx="2194560" cy="845450"/>
          </a:xfrm>
          <a:prstGeom prst="wedgeRoundRectCallout">
            <a:avLst>
              <a:gd name="adj1" fmla="val 98275"/>
              <a:gd name="adj2" fmla="val -50676"/>
              <a:gd name="adj3" fmla="val 16667"/>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Node is completely reduced… , reached terminal condition</a:t>
            </a:r>
            <a:endParaRPr lang="hi-IN" dirty="0">
              <a:solidFill>
                <a:schemeClr val="tx1"/>
              </a:solidFill>
            </a:endParaRPr>
          </a:p>
        </p:txBody>
      </p:sp>
      <p:sp>
        <p:nvSpPr>
          <p:cNvPr id="18" name="Oval 17">
            <a:extLst>
              <a:ext uri="{FF2B5EF4-FFF2-40B4-BE49-F238E27FC236}">
                <a16:creationId xmlns:a16="http://schemas.microsoft.com/office/drawing/2014/main" id="{206CB770-6B11-41BF-A481-8411BADD16BF}"/>
              </a:ext>
            </a:extLst>
          </p:cNvPr>
          <p:cNvSpPr/>
          <p:nvPr/>
        </p:nvSpPr>
        <p:spPr>
          <a:xfrm>
            <a:off x="7807960" y="4098370"/>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9" name="Oval 18">
            <a:extLst>
              <a:ext uri="{FF2B5EF4-FFF2-40B4-BE49-F238E27FC236}">
                <a16:creationId xmlns:a16="http://schemas.microsoft.com/office/drawing/2014/main" id="{7718FA82-1CBE-49A2-9DC6-C9B67186EDEF}"/>
              </a:ext>
            </a:extLst>
          </p:cNvPr>
          <p:cNvSpPr/>
          <p:nvPr/>
        </p:nvSpPr>
        <p:spPr>
          <a:xfrm>
            <a:off x="6356168" y="2668447"/>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pic>
        <p:nvPicPr>
          <p:cNvPr id="16" name="Picture 15">
            <a:extLst>
              <a:ext uri="{FF2B5EF4-FFF2-40B4-BE49-F238E27FC236}">
                <a16:creationId xmlns:a16="http://schemas.microsoft.com/office/drawing/2014/main" id="{1C7486E0-293C-4EC1-B622-94BE3C515E11}"/>
              </a:ext>
            </a:extLst>
          </p:cNvPr>
          <p:cNvPicPr>
            <a:picLocks noChangeAspect="1"/>
          </p:cNvPicPr>
          <p:nvPr/>
        </p:nvPicPr>
        <p:blipFill>
          <a:blip r:embed="rId2"/>
          <a:stretch>
            <a:fillRect/>
          </a:stretch>
        </p:blipFill>
        <p:spPr>
          <a:xfrm>
            <a:off x="9890184" y="62189"/>
            <a:ext cx="1921515" cy="2540707"/>
          </a:xfrm>
          <a:prstGeom prst="rect">
            <a:avLst/>
          </a:prstGeom>
        </p:spPr>
      </p:pic>
    </p:spTree>
    <p:extLst>
      <p:ext uri="{BB962C8B-B14F-4D97-AF65-F5344CB8AC3E}">
        <p14:creationId xmlns:p14="http://schemas.microsoft.com/office/powerpoint/2010/main" val="4141936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4" grpId="0"/>
      <p:bldP spid="15" grpId="0" animBg="1"/>
      <p:bldP spid="17" grpId="0" animBg="1"/>
      <p:bldP spid="18" grpId="0" animBg="1"/>
      <p:bldP spid="1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C7216-7ED7-48BA-9576-C5A04FC3AAFA}"/>
              </a:ext>
            </a:extLst>
          </p:cNvPr>
          <p:cNvSpPr>
            <a:spLocks noGrp="1"/>
          </p:cNvSpPr>
          <p:nvPr>
            <p:ph type="title"/>
          </p:nvPr>
        </p:nvSpPr>
        <p:spPr/>
        <p:txBody>
          <a:bodyPr/>
          <a:lstStyle/>
          <a:p>
            <a:r>
              <a:rPr lang="en-US" b="1" dirty="0"/>
              <a:t>Example 1: TSP -- </a:t>
            </a:r>
            <a:r>
              <a:rPr lang="en-US" b="1" dirty="0" err="1"/>
              <a:t>contd</a:t>
            </a:r>
            <a:endParaRPr lang="hi-IN" dirty="0"/>
          </a:p>
        </p:txBody>
      </p:sp>
      <p:sp>
        <p:nvSpPr>
          <p:cNvPr id="3" name="Content Placeholder 2">
            <a:extLst>
              <a:ext uri="{FF2B5EF4-FFF2-40B4-BE49-F238E27FC236}">
                <a16:creationId xmlns:a16="http://schemas.microsoft.com/office/drawing/2014/main" id="{E8CF21AA-E66E-4155-BEF9-B8707CFF47FD}"/>
              </a:ext>
            </a:extLst>
          </p:cNvPr>
          <p:cNvSpPr>
            <a:spLocks noGrp="1"/>
          </p:cNvSpPr>
          <p:nvPr>
            <p:ph idx="1"/>
          </p:nvPr>
        </p:nvSpPr>
        <p:spPr>
          <a:xfrm>
            <a:off x="838200" y="1825625"/>
            <a:ext cx="3795445" cy="4351338"/>
          </a:xfrm>
        </p:spPr>
        <p:txBody>
          <a:bodyPr>
            <a:normAutofit fontScale="85000" lnSpcReduction="20000"/>
          </a:bodyPr>
          <a:lstStyle/>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Final Solution (Path) is</a:t>
            </a:r>
          </a:p>
          <a:p>
            <a:pPr marL="0" indent="0">
              <a:buNone/>
            </a:pPr>
            <a:r>
              <a:rPr lang="en-US" b="1" dirty="0">
                <a:solidFill>
                  <a:srgbClr val="C00000"/>
                </a:solidFill>
              </a:rPr>
              <a:t>A – C – D – B – A </a:t>
            </a:r>
          </a:p>
          <a:p>
            <a:pPr marL="0" indent="0">
              <a:buNone/>
            </a:pPr>
            <a:r>
              <a:rPr lang="en-US" b="1" dirty="0">
                <a:solidFill>
                  <a:srgbClr val="C00000"/>
                </a:solidFill>
              </a:rPr>
              <a:t>with minimum cost as 25</a:t>
            </a:r>
            <a:endParaRPr lang="hi-IN" b="1" dirty="0">
              <a:solidFill>
                <a:srgbClr val="C00000"/>
              </a:solidFill>
            </a:endParaRPr>
          </a:p>
        </p:txBody>
      </p:sp>
      <p:sp>
        <p:nvSpPr>
          <p:cNvPr id="4" name="Footer Placeholder 3">
            <a:extLst>
              <a:ext uri="{FF2B5EF4-FFF2-40B4-BE49-F238E27FC236}">
                <a16:creationId xmlns:a16="http://schemas.microsoft.com/office/drawing/2014/main" id="{3A04A957-9172-434C-B689-08E1D6CAC67D}"/>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2DDA6206-FC01-4BC3-A489-89E25F781B41}"/>
              </a:ext>
            </a:extLst>
          </p:cNvPr>
          <p:cNvSpPr>
            <a:spLocks noGrp="1"/>
          </p:cNvSpPr>
          <p:nvPr>
            <p:ph type="sldNum" sz="quarter" idx="12"/>
          </p:nvPr>
        </p:nvSpPr>
        <p:spPr/>
        <p:txBody>
          <a:bodyPr/>
          <a:lstStyle/>
          <a:p>
            <a:fld id="{F56F9007-E0C6-489E-B603-BD6BB4385429}" type="slidenum">
              <a:rPr lang="hi-IN" smtClean="0"/>
              <a:t>29</a:t>
            </a:fld>
            <a:endParaRPr lang="hi-IN"/>
          </a:p>
        </p:txBody>
      </p:sp>
      <p:pic>
        <p:nvPicPr>
          <p:cNvPr id="6" name="Picture 5">
            <a:extLst>
              <a:ext uri="{FF2B5EF4-FFF2-40B4-BE49-F238E27FC236}">
                <a16:creationId xmlns:a16="http://schemas.microsoft.com/office/drawing/2014/main" id="{0CC36EEC-9E86-472A-9833-EB11EA17F513}"/>
              </a:ext>
            </a:extLst>
          </p:cNvPr>
          <p:cNvPicPr>
            <a:picLocks noChangeAspect="1"/>
          </p:cNvPicPr>
          <p:nvPr/>
        </p:nvPicPr>
        <p:blipFill>
          <a:blip r:embed="rId2"/>
          <a:stretch>
            <a:fillRect/>
          </a:stretch>
        </p:blipFill>
        <p:spPr>
          <a:xfrm>
            <a:off x="922312" y="1548337"/>
            <a:ext cx="3445822" cy="2844171"/>
          </a:xfrm>
          <a:prstGeom prst="rect">
            <a:avLst/>
          </a:prstGeom>
        </p:spPr>
      </p:pic>
      <p:sp>
        <p:nvSpPr>
          <p:cNvPr id="24" name="Oval 23">
            <a:extLst>
              <a:ext uri="{FF2B5EF4-FFF2-40B4-BE49-F238E27FC236}">
                <a16:creationId xmlns:a16="http://schemas.microsoft.com/office/drawing/2014/main" id="{16769862-5015-4FD5-B5BA-EF1CBFE6C2EF}"/>
              </a:ext>
            </a:extLst>
          </p:cNvPr>
          <p:cNvSpPr/>
          <p:nvPr/>
        </p:nvSpPr>
        <p:spPr>
          <a:xfrm>
            <a:off x="7058628" y="828358"/>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a:t>
            </a:r>
            <a:endParaRPr lang="hi-IN" b="1" dirty="0">
              <a:ln w="0"/>
              <a:solidFill>
                <a:schemeClr val="tx1"/>
              </a:solidFill>
              <a:effectLst>
                <a:outerShdw blurRad="38100" dist="19050" dir="2700000" algn="tl" rotWithShape="0">
                  <a:schemeClr val="dk1">
                    <a:alpha val="40000"/>
                  </a:schemeClr>
                </a:outerShdw>
              </a:effectLst>
            </a:endParaRPr>
          </a:p>
        </p:txBody>
      </p:sp>
      <p:sp>
        <p:nvSpPr>
          <p:cNvPr id="25" name="Oval 24">
            <a:extLst>
              <a:ext uri="{FF2B5EF4-FFF2-40B4-BE49-F238E27FC236}">
                <a16:creationId xmlns:a16="http://schemas.microsoft.com/office/drawing/2014/main" id="{1477B4FE-3167-400F-A89D-4EA5F374DAA3}"/>
              </a:ext>
            </a:extLst>
          </p:cNvPr>
          <p:cNvSpPr/>
          <p:nvPr/>
        </p:nvSpPr>
        <p:spPr>
          <a:xfrm>
            <a:off x="5793708" y="19507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26" name="Oval 25">
            <a:extLst>
              <a:ext uri="{FF2B5EF4-FFF2-40B4-BE49-F238E27FC236}">
                <a16:creationId xmlns:a16="http://schemas.microsoft.com/office/drawing/2014/main" id="{84C0FD1A-4FF3-440B-9F03-0B67C80E1D3E}"/>
              </a:ext>
            </a:extLst>
          </p:cNvPr>
          <p:cNvSpPr/>
          <p:nvPr/>
        </p:nvSpPr>
        <p:spPr>
          <a:xfrm>
            <a:off x="7058628" y="1950720"/>
            <a:ext cx="640080" cy="71389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27" name="Oval 26">
            <a:extLst>
              <a:ext uri="{FF2B5EF4-FFF2-40B4-BE49-F238E27FC236}">
                <a16:creationId xmlns:a16="http://schemas.microsoft.com/office/drawing/2014/main" id="{9F938DF3-935C-43B4-9B5F-0871B25BB483}"/>
              </a:ext>
            </a:extLst>
          </p:cNvPr>
          <p:cNvSpPr/>
          <p:nvPr/>
        </p:nvSpPr>
        <p:spPr>
          <a:xfrm>
            <a:off x="8379428" y="19507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28" name="Straight Connector 27">
            <a:extLst>
              <a:ext uri="{FF2B5EF4-FFF2-40B4-BE49-F238E27FC236}">
                <a16:creationId xmlns:a16="http://schemas.microsoft.com/office/drawing/2014/main" id="{E7377241-8601-4580-9CB7-6F927815ACD3}"/>
              </a:ext>
            </a:extLst>
          </p:cNvPr>
          <p:cNvCxnSpPr>
            <a:stCxn id="24" idx="3"/>
            <a:endCxn id="25" idx="0"/>
          </p:cNvCxnSpPr>
          <p:nvPr/>
        </p:nvCxnSpPr>
        <p:spPr>
          <a:xfrm flipH="1">
            <a:off x="6113748" y="1392045"/>
            <a:ext cx="1038618" cy="558675"/>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21230056-9EB7-4935-8608-26FE71A20A94}"/>
              </a:ext>
            </a:extLst>
          </p:cNvPr>
          <p:cNvCxnSpPr>
            <a:stCxn id="24" idx="4"/>
          </p:cNvCxnSpPr>
          <p:nvPr/>
        </p:nvCxnSpPr>
        <p:spPr>
          <a:xfrm>
            <a:off x="7378668" y="1488758"/>
            <a:ext cx="0" cy="461962"/>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1EA1259E-910E-451E-B252-C4AF2EC54BC0}"/>
              </a:ext>
            </a:extLst>
          </p:cNvPr>
          <p:cNvCxnSpPr>
            <a:stCxn id="24" idx="5"/>
            <a:endCxn id="27" idx="1"/>
          </p:cNvCxnSpPr>
          <p:nvPr/>
        </p:nvCxnSpPr>
        <p:spPr>
          <a:xfrm>
            <a:off x="7604970" y="1392045"/>
            <a:ext cx="868196" cy="655388"/>
          </a:xfrm>
          <a:prstGeom prst="line">
            <a:avLst/>
          </a:prstGeom>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2FF06977-7947-47C3-891F-1D4D24A98A71}"/>
              </a:ext>
            </a:extLst>
          </p:cNvPr>
          <p:cNvSpPr txBox="1"/>
          <p:nvPr/>
        </p:nvSpPr>
        <p:spPr>
          <a:xfrm>
            <a:off x="7636356" y="774860"/>
            <a:ext cx="2241672" cy="369332"/>
          </a:xfrm>
          <a:prstGeom prst="rect">
            <a:avLst/>
          </a:prstGeom>
          <a:noFill/>
        </p:spPr>
        <p:txBody>
          <a:bodyPr wrap="square" rtlCol="0">
            <a:spAutoFit/>
          </a:bodyPr>
          <a:lstStyle/>
          <a:p>
            <a:r>
              <a:rPr lang="en-US" b="1" dirty="0"/>
              <a:t>Cost of node 1 = 18</a:t>
            </a:r>
            <a:endParaRPr lang="hi-IN" b="1" dirty="0"/>
          </a:p>
        </p:txBody>
      </p:sp>
      <p:sp>
        <p:nvSpPr>
          <p:cNvPr id="32" name="Rectangle 31">
            <a:extLst>
              <a:ext uri="{FF2B5EF4-FFF2-40B4-BE49-F238E27FC236}">
                <a16:creationId xmlns:a16="http://schemas.microsoft.com/office/drawing/2014/main" id="{C48EC551-AD2A-42B5-B6C3-5D4866555EBC}"/>
              </a:ext>
            </a:extLst>
          </p:cNvPr>
          <p:cNvSpPr/>
          <p:nvPr/>
        </p:nvSpPr>
        <p:spPr>
          <a:xfrm>
            <a:off x="4304757" y="1617743"/>
            <a:ext cx="2012730" cy="369332"/>
          </a:xfrm>
          <a:prstGeom prst="rect">
            <a:avLst/>
          </a:prstGeom>
        </p:spPr>
        <p:txBody>
          <a:bodyPr wrap="none">
            <a:spAutoFit/>
          </a:bodyPr>
          <a:lstStyle/>
          <a:p>
            <a:r>
              <a:rPr lang="en-US" b="1" dirty="0"/>
              <a:t>Cost of node 2 = 36</a:t>
            </a:r>
            <a:endParaRPr lang="hi-IN" dirty="0"/>
          </a:p>
        </p:txBody>
      </p:sp>
      <p:sp>
        <p:nvSpPr>
          <p:cNvPr id="33" name="Rectangle 32">
            <a:extLst>
              <a:ext uri="{FF2B5EF4-FFF2-40B4-BE49-F238E27FC236}">
                <a16:creationId xmlns:a16="http://schemas.microsoft.com/office/drawing/2014/main" id="{612B0976-C1DA-40B6-AEAF-6A71EE3863A3}"/>
              </a:ext>
            </a:extLst>
          </p:cNvPr>
          <p:cNvSpPr/>
          <p:nvPr/>
        </p:nvSpPr>
        <p:spPr>
          <a:xfrm>
            <a:off x="6322028" y="2647475"/>
            <a:ext cx="2012730" cy="369332"/>
          </a:xfrm>
          <a:prstGeom prst="rect">
            <a:avLst/>
          </a:prstGeom>
        </p:spPr>
        <p:txBody>
          <a:bodyPr wrap="none">
            <a:spAutoFit/>
          </a:bodyPr>
          <a:lstStyle/>
          <a:p>
            <a:r>
              <a:rPr lang="en-US" b="1" dirty="0"/>
              <a:t>Cost of node 3 = 25</a:t>
            </a:r>
            <a:endParaRPr lang="hi-IN" dirty="0"/>
          </a:p>
        </p:txBody>
      </p:sp>
      <p:sp>
        <p:nvSpPr>
          <p:cNvPr id="34" name="Rectangle 33">
            <a:extLst>
              <a:ext uri="{FF2B5EF4-FFF2-40B4-BE49-F238E27FC236}">
                <a16:creationId xmlns:a16="http://schemas.microsoft.com/office/drawing/2014/main" id="{ADF1ADDC-BA88-48BD-B31B-E9EF2C5107F0}"/>
              </a:ext>
            </a:extLst>
          </p:cNvPr>
          <p:cNvSpPr/>
          <p:nvPr/>
        </p:nvSpPr>
        <p:spPr>
          <a:xfrm>
            <a:off x="8757192" y="1678942"/>
            <a:ext cx="2012730" cy="369332"/>
          </a:xfrm>
          <a:prstGeom prst="rect">
            <a:avLst/>
          </a:prstGeom>
        </p:spPr>
        <p:txBody>
          <a:bodyPr wrap="none">
            <a:spAutoFit/>
          </a:bodyPr>
          <a:lstStyle/>
          <a:p>
            <a:r>
              <a:rPr lang="en-US" b="1" dirty="0"/>
              <a:t>Cost of node 4 = 26</a:t>
            </a:r>
            <a:endParaRPr lang="hi-IN" dirty="0"/>
          </a:p>
        </p:txBody>
      </p:sp>
      <p:sp>
        <p:nvSpPr>
          <p:cNvPr id="35" name="Oval 34">
            <a:extLst>
              <a:ext uri="{FF2B5EF4-FFF2-40B4-BE49-F238E27FC236}">
                <a16:creationId xmlns:a16="http://schemas.microsoft.com/office/drawing/2014/main" id="{D1441E75-FA90-4330-8A31-399A688D9781}"/>
              </a:ext>
            </a:extLst>
          </p:cNvPr>
          <p:cNvSpPr/>
          <p:nvPr/>
        </p:nvSpPr>
        <p:spPr>
          <a:xfrm>
            <a:off x="6845286" y="34581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36" name="Oval 35">
            <a:extLst>
              <a:ext uri="{FF2B5EF4-FFF2-40B4-BE49-F238E27FC236}">
                <a16:creationId xmlns:a16="http://schemas.microsoft.com/office/drawing/2014/main" id="{978EB955-2E63-46DC-9E1F-A960C67EF138}"/>
              </a:ext>
            </a:extLst>
          </p:cNvPr>
          <p:cNvSpPr/>
          <p:nvPr/>
        </p:nvSpPr>
        <p:spPr>
          <a:xfrm>
            <a:off x="8097690" y="34581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37" name="Straight Connector 36">
            <a:extLst>
              <a:ext uri="{FF2B5EF4-FFF2-40B4-BE49-F238E27FC236}">
                <a16:creationId xmlns:a16="http://schemas.microsoft.com/office/drawing/2014/main" id="{C2203115-D88D-4EA5-8460-E0EFF123A355}"/>
              </a:ext>
            </a:extLst>
          </p:cNvPr>
          <p:cNvCxnSpPr>
            <a:cxnSpLocks/>
            <a:endCxn id="35" idx="0"/>
          </p:cNvCxnSpPr>
          <p:nvPr/>
        </p:nvCxnSpPr>
        <p:spPr>
          <a:xfrm flipH="1">
            <a:off x="7165326" y="2683976"/>
            <a:ext cx="151861" cy="774144"/>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2AC85D1B-5264-4117-962C-FB7DA413B5CD}"/>
              </a:ext>
            </a:extLst>
          </p:cNvPr>
          <p:cNvCxnSpPr>
            <a:cxnSpLocks/>
            <a:endCxn id="36" idx="1"/>
          </p:cNvCxnSpPr>
          <p:nvPr/>
        </p:nvCxnSpPr>
        <p:spPr>
          <a:xfrm>
            <a:off x="7543489" y="2587263"/>
            <a:ext cx="647939" cy="967570"/>
          </a:xfrm>
          <a:prstGeom prst="line">
            <a:avLst/>
          </a:prstGeom>
        </p:spPr>
        <p:style>
          <a:lnRef idx="1">
            <a:schemeClr val="dk1"/>
          </a:lnRef>
          <a:fillRef idx="0">
            <a:schemeClr val="dk1"/>
          </a:fillRef>
          <a:effectRef idx="0">
            <a:schemeClr val="dk1"/>
          </a:effectRef>
          <a:fontRef idx="minor">
            <a:schemeClr val="tx1"/>
          </a:fontRef>
        </p:style>
      </p:cxnSp>
      <p:sp>
        <p:nvSpPr>
          <p:cNvPr id="39" name="Oval 38">
            <a:extLst>
              <a:ext uri="{FF2B5EF4-FFF2-40B4-BE49-F238E27FC236}">
                <a16:creationId xmlns:a16="http://schemas.microsoft.com/office/drawing/2014/main" id="{CAD529B6-FCE8-458B-BE91-9793E1C7CB46}"/>
              </a:ext>
            </a:extLst>
          </p:cNvPr>
          <p:cNvSpPr/>
          <p:nvPr/>
        </p:nvSpPr>
        <p:spPr>
          <a:xfrm>
            <a:off x="8122646" y="4705089"/>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40" name="Straight Connector 39">
            <a:extLst>
              <a:ext uri="{FF2B5EF4-FFF2-40B4-BE49-F238E27FC236}">
                <a16:creationId xmlns:a16="http://schemas.microsoft.com/office/drawing/2014/main" id="{F21072D1-A0B8-4E23-96FF-33BAD29886F3}"/>
              </a:ext>
            </a:extLst>
          </p:cNvPr>
          <p:cNvCxnSpPr>
            <a:cxnSpLocks/>
            <a:stCxn id="36" idx="4"/>
            <a:endCxn id="39" idx="0"/>
          </p:cNvCxnSpPr>
          <p:nvPr/>
        </p:nvCxnSpPr>
        <p:spPr>
          <a:xfrm>
            <a:off x="8417730" y="4118520"/>
            <a:ext cx="24956" cy="586569"/>
          </a:xfrm>
          <a:prstGeom prst="line">
            <a:avLst/>
          </a:prstGeom>
        </p:spPr>
        <p:style>
          <a:lnRef idx="1">
            <a:schemeClr val="dk1"/>
          </a:lnRef>
          <a:fillRef idx="0">
            <a:schemeClr val="dk1"/>
          </a:fillRef>
          <a:effectRef idx="0">
            <a:schemeClr val="dk1"/>
          </a:effectRef>
          <a:fontRef idx="minor">
            <a:schemeClr val="tx1"/>
          </a:fontRef>
        </p:style>
      </p:cxnSp>
      <p:sp>
        <p:nvSpPr>
          <p:cNvPr id="41" name="Rectangle 40">
            <a:extLst>
              <a:ext uri="{FF2B5EF4-FFF2-40B4-BE49-F238E27FC236}">
                <a16:creationId xmlns:a16="http://schemas.microsoft.com/office/drawing/2014/main" id="{A5172673-4987-49D7-A8D7-C6072D9C5E44}"/>
              </a:ext>
            </a:extLst>
          </p:cNvPr>
          <p:cNvSpPr/>
          <p:nvPr/>
        </p:nvSpPr>
        <p:spPr>
          <a:xfrm>
            <a:off x="4964178" y="3749188"/>
            <a:ext cx="2028761" cy="369332"/>
          </a:xfrm>
          <a:prstGeom prst="rect">
            <a:avLst/>
          </a:prstGeom>
        </p:spPr>
        <p:txBody>
          <a:bodyPr wrap="none">
            <a:spAutoFit/>
          </a:bodyPr>
          <a:lstStyle/>
          <a:p>
            <a:r>
              <a:rPr lang="en-US" b="1" dirty="0"/>
              <a:t>Cost of node 5 = </a:t>
            </a:r>
            <a:r>
              <a:rPr lang="hi-IN" dirty="0"/>
              <a:t>∞</a:t>
            </a:r>
            <a:r>
              <a:rPr lang="en-US" b="1" dirty="0"/>
              <a:t> </a:t>
            </a:r>
            <a:endParaRPr lang="hi-IN" dirty="0"/>
          </a:p>
        </p:txBody>
      </p:sp>
      <p:sp>
        <p:nvSpPr>
          <p:cNvPr id="42" name="Rectangle 41">
            <a:extLst>
              <a:ext uri="{FF2B5EF4-FFF2-40B4-BE49-F238E27FC236}">
                <a16:creationId xmlns:a16="http://schemas.microsoft.com/office/drawing/2014/main" id="{6C92B593-7C3F-4F3E-B5DA-6EDB0A960658}"/>
              </a:ext>
            </a:extLst>
          </p:cNvPr>
          <p:cNvSpPr/>
          <p:nvPr/>
        </p:nvSpPr>
        <p:spPr>
          <a:xfrm>
            <a:off x="8610600" y="3244334"/>
            <a:ext cx="2065630" cy="369332"/>
          </a:xfrm>
          <a:prstGeom prst="rect">
            <a:avLst/>
          </a:prstGeom>
        </p:spPr>
        <p:txBody>
          <a:bodyPr wrap="none">
            <a:spAutoFit/>
          </a:bodyPr>
          <a:lstStyle/>
          <a:p>
            <a:r>
              <a:rPr lang="en-US" b="1" dirty="0"/>
              <a:t>Cost of node 6 = 25 </a:t>
            </a:r>
            <a:endParaRPr lang="hi-IN" dirty="0"/>
          </a:p>
        </p:txBody>
      </p:sp>
      <p:sp>
        <p:nvSpPr>
          <p:cNvPr id="43" name="Rectangle 42">
            <a:extLst>
              <a:ext uri="{FF2B5EF4-FFF2-40B4-BE49-F238E27FC236}">
                <a16:creationId xmlns:a16="http://schemas.microsoft.com/office/drawing/2014/main" id="{8FA57396-42D2-4DA6-91BF-2C38AD5D09DE}"/>
              </a:ext>
            </a:extLst>
          </p:cNvPr>
          <p:cNvSpPr/>
          <p:nvPr/>
        </p:nvSpPr>
        <p:spPr>
          <a:xfrm>
            <a:off x="8689670" y="4705089"/>
            <a:ext cx="2065630" cy="369332"/>
          </a:xfrm>
          <a:prstGeom prst="rect">
            <a:avLst/>
          </a:prstGeom>
        </p:spPr>
        <p:txBody>
          <a:bodyPr wrap="none">
            <a:spAutoFit/>
          </a:bodyPr>
          <a:lstStyle/>
          <a:p>
            <a:r>
              <a:rPr lang="en-US" b="1" dirty="0"/>
              <a:t>Cost of node 7 = 25 </a:t>
            </a:r>
            <a:endParaRPr lang="hi-IN" dirty="0"/>
          </a:p>
        </p:txBody>
      </p:sp>
    </p:spTree>
    <p:extLst>
      <p:ext uri="{BB962C8B-B14F-4D97-AF65-F5344CB8AC3E}">
        <p14:creationId xmlns:p14="http://schemas.microsoft.com/office/powerpoint/2010/main" val="278969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31" grpId="0"/>
      <p:bldP spid="32" grpId="0"/>
      <p:bldP spid="33" grpId="0"/>
      <p:bldP spid="34" grpId="0"/>
      <p:bldP spid="35" grpId="0" animBg="1"/>
      <p:bldP spid="36" grpId="0" animBg="1"/>
      <p:bldP spid="39" grpId="0" animBg="1"/>
      <p:bldP spid="41" grpId="0"/>
      <p:bldP spid="42" grpId="0"/>
      <p:bldP spid="4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B82DA-95C8-4B6F-AE2A-86F645E0A0FF}"/>
              </a:ext>
            </a:extLst>
          </p:cNvPr>
          <p:cNvSpPr>
            <a:spLocks noGrp="1"/>
          </p:cNvSpPr>
          <p:nvPr>
            <p:ph type="title"/>
          </p:nvPr>
        </p:nvSpPr>
        <p:spPr/>
        <p:txBody>
          <a:bodyPr/>
          <a:lstStyle/>
          <a:p>
            <a:r>
              <a:rPr lang="en-US" b="1" dirty="0"/>
              <a:t>Example 2: Solve the given TSP</a:t>
            </a:r>
            <a:endParaRPr lang="hi-IN" b="1" dirty="0"/>
          </a:p>
        </p:txBody>
      </p:sp>
      <p:sp>
        <p:nvSpPr>
          <p:cNvPr id="3" name="Content Placeholder 2">
            <a:extLst>
              <a:ext uri="{FF2B5EF4-FFF2-40B4-BE49-F238E27FC236}">
                <a16:creationId xmlns:a16="http://schemas.microsoft.com/office/drawing/2014/main" id="{B67C6158-E828-4D99-A856-8E0EF09F885B}"/>
              </a:ext>
            </a:extLst>
          </p:cNvPr>
          <p:cNvSpPr>
            <a:spLocks noGrp="1"/>
          </p:cNvSpPr>
          <p:nvPr>
            <p:ph idx="1"/>
          </p:nvPr>
        </p:nvSpPr>
        <p:spPr>
          <a:xfrm>
            <a:off x="838200" y="1615440"/>
            <a:ext cx="10515600" cy="4740910"/>
          </a:xfrm>
        </p:spPr>
        <p:txBody>
          <a:bodyPr>
            <a:normAutofit fontScale="85000" lnSpcReduction="20000"/>
          </a:bodyPr>
          <a:lstStyle/>
          <a:p>
            <a:r>
              <a:rPr lang="en-US" dirty="0"/>
              <a:t>Step 1: Write the initial cost matrix and reduce it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For reduction, do the following: </a:t>
            </a:r>
          </a:p>
          <a:p>
            <a:pPr lvl="1"/>
            <a:r>
              <a:rPr lang="en-US" dirty="0"/>
              <a:t>Reduce by row and reduce by column</a:t>
            </a:r>
          </a:p>
          <a:p>
            <a:pPr lvl="1"/>
            <a:r>
              <a:rPr lang="en-US" dirty="0"/>
              <a:t>Subtract each row and column by the minimum entry in that row/column</a:t>
            </a:r>
          </a:p>
          <a:p>
            <a:pPr lvl="1"/>
            <a:r>
              <a:rPr lang="en-US" dirty="0"/>
              <a:t>If a particular row or a column has a zero (0) then that row/column need not be reduced</a:t>
            </a:r>
          </a:p>
          <a:p>
            <a:endParaRPr lang="hi-IN" dirty="0"/>
          </a:p>
        </p:txBody>
      </p:sp>
      <p:sp>
        <p:nvSpPr>
          <p:cNvPr id="4" name="Footer Placeholder 3">
            <a:extLst>
              <a:ext uri="{FF2B5EF4-FFF2-40B4-BE49-F238E27FC236}">
                <a16:creationId xmlns:a16="http://schemas.microsoft.com/office/drawing/2014/main" id="{DE647203-B33A-4024-8BBF-D8C4B00DE0C5}"/>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3693C6C5-A682-4D15-ADFC-E4F540152C4E}"/>
              </a:ext>
            </a:extLst>
          </p:cNvPr>
          <p:cNvSpPr>
            <a:spLocks noGrp="1"/>
          </p:cNvSpPr>
          <p:nvPr>
            <p:ph type="sldNum" sz="quarter" idx="12"/>
          </p:nvPr>
        </p:nvSpPr>
        <p:spPr/>
        <p:txBody>
          <a:bodyPr/>
          <a:lstStyle/>
          <a:p>
            <a:fld id="{F56F9007-E0C6-489E-B603-BD6BB4385429}" type="slidenum">
              <a:rPr lang="hi-IN" smtClean="0"/>
              <a:t>30</a:t>
            </a:fld>
            <a:endParaRPr lang="hi-IN"/>
          </a:p>
        </p:txBody>
      </p:sp>
      <p:graphicFrame>
        <p:nvGraphicFramePr>
          <p:cNvPr id="7" name="Table 7">
            <a:extLst>
              <a:ext uri="{FF2B5EF4-FFF2-40B4-BE49-F238E27FC236}">
                <a16:creationId xmlns:a16="http://schemas.microsoft.com/office/drawing/2014/main" id="{974C22DF-38F7-4EA4-9C43-179BCC20E546}"/>
              </a:ext>
            </a:extLst>
          </p:cNvPr>
          <p:cNvGraphicFramePr>
            <a:graphicFrameLocks noGrp="1"/>
          </p:cNvGraphicFramePr>
          <p:nvPr>
            <p:extLst>
              <p:ext uri="{D42A27DB-BD31-4B8C-83A1-F6EECF244321}">
                <p14:modId xmlns:p14="http://schemas.microsoft.com/office/powerpoint/2010/main" val="2230660769"/>
              </p:ext>
            </p:extLst>
          </p:nvPr>
        </p:nvGraphicFramePr>
        <p:xfrm>
          <a:off x="6720840" y="2385060"/>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10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35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25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15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35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30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25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30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9" name="TextBox 8">
            <a:extLst>
              <a:ext uri="{FF2B5EF4-FFF2-40B4-BE49-F238E27FC236}">
                <a16:creationId xmlns:a16="http://schemas.microsoft.com/office/drawing/2014/main" id="{F7556A01-6ED7-4DDE-B482-03F8513BF51B}"/>
              </a:ext>
            </a:extLst>
          </p:cNvPr>
          <p:cNvSpPr txBox="1"/>
          <p:nvPr/>
        </p:nvSpPr>
        <p:spPr>
          <a:xfrm>
            <a:off x="7538720" y="1853208"/>
            <a:ext cx="2143760" cy="369332"/>
          </a:xfrm>
          <a:prstGeom prst="rect">
            <a:avLst/>
          </a:prstGeom>
          <a:noFill/>
        </p:spPr>
        <p:txBody>
          <a:bodyPr wrap="square" rtlCol="0">
            <a:spAutoFit/>
          </a:bodyPr>
          <a:lstStyle/>
          <a:p>
            <a:r>
              <a:rPr lang="en-US" b="1" dirty="0"/>
              <a:t>Initial Cost Matrix</a:t>
            </a:r>
            <a:endParaRPr lang="hi-IN" b="1" dirty="0"/>
          </a:p>
        </p:txBody>
      </p:sp>
      <p:grpSp>
        <p:nvGrpSpPr>
          <p:cNvPr id="16" name="Group 15">
            <a:extLst>
              <a:ext uri="{FF2B5EF4-FFF2-40B4-BE49-F238E27FC236}">
                <a16:creationId xmlns:a16="http://schemas.microsoft.com/office/drawing/2014/main" id="{DC8A4784-BB9E-44F5-9D86-E4E6EBCE1927}"/>
              </a:ext>
            </a:extLst>
          </p:cNvPr>
          <p:cNvGrpSpPr/>
          <p:nvPr/>
        </p:nvGrpSpPr>
        <p:grpSpPr>
          <a:xfrm>
            <a:off x="2122170" y="2053825"/>
            <a:ext cx="3314700" cy="2491270"/>
            <a:chOff x="2122170" y="2053825"/>
            <a:chExt cx="3314700" cy="2491270"/>
          </a:xfrm>
        </p:grpSpPr>
        <p:pic>
          <p:nvPicPr>
            <p:cNvPr id="11" name="Picture 2">
              <a:extLst>
                <a:ext uri="{FF2B5EF4-FFF2-40B4-BE49-F238E27FC236}">
                  <a16:creationId xmlns:a16="http://schemas.microsoft.com/office/drawing/2014/main" id="{673637D5-16B4-434A-9F88-2B72D22F9D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170" y="2053825"/>
              <a:ext cx="3314700" cy="2491270"/>
            </a:xfrm>
            <a:prstGeom prst="rect">
              <a:avLst/>
            </a:prstGeom>
            <a:noFill/>
            <a:extLst>
              <a:ext uri="{909E8E84-426E-40DD-AFC4-6F175D3DCCD1}">
                <a14:hiddenFill xmlns:a14="http://schemas.microsoft.com/office/drawing/2010/main">
                  <a:solidFill>
                    <a:srgbClr val="FFFFFF"/>
                  </a:solidFill>
                </a14:hiddenFill>
              </a:ext>
            </a:extLst>
          </p:spPr>
        </p:pic>
        <p:sp>
          <p:nvSpPr>
            <p:cNvPr id="12" name="Oval 11">
              <a:extLst>
                <a:ext uri="{FF2B5EF4-FFF2-40B4-BE49-F238E27FC236}">
                  <a16:creationId xmlns:a16="http://schemas.microsoft.com/office/drawing/2014/main" id="{836BD010-BBDB-4209-8EC1-8116B479ECB8}"/>
                </a:ext>
              </a:extLst>
            </p:cNvPr>
            <p:cNvSpPr/>
            <p:nvPr/>
          </p:nvSpPr>
          <p:spPr>
            <a:xfrm>
              <a:off x="3703321" y="2119141"/>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a:t>
              </a:r>
              <a:endParaRPr lang="hi-IN" b="1" dirty="0">
                <a:ln w="0"/>
                <a:solidFill>
                  <a:schemeClr val="tx1"/>
                </a:solidFill>
                <a:effectLst>
                  <a:outerShdw blurRad="38100" dist="19050" dir="2700000" algn="tl" rotWithShape="0">
                    <a:schemeClr val="dk1">
                      <a:alpha val="40000"/>
                    </a:schemeClr>
                  </a:outerShdw>
                </a:effectLst>
              </a:endParaRPr>
            </a:p>
          </p:txBody>
        </p:sp>
        <p:sp>
          <p:nvSpPr>
            <p:cNvPr id="13" name="Oval 12">
              <a:extLst>
                <a:ext uri="{FF2B5EF4-FFF2-40B4-BE49-F238E27FC236}">
                  <a16:creationId xmlns:a16="http://schemas.microsoft.com/office/drawing/2014/main" id="{183FC5E8-656A-44E6-BD6C-B7A74902E079}"/>
                </a:ext>
              </a:extLst>
            </p:cNvPr>
            <p:cNvSpPr/>
            <p:nvPr/>
          </p:nvSpPr>
          <p:spPr>
            <a:xfrm>
              <a:off x="2175327" y="3996781"/>
              <a:ext cx="426357" cy="390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14" name="Oval 13">
              <a:extLst>
                <a:ext uri="{FF2B5EF4-FFF2-40B4-BE49-F238E27FC236}">
                  <a16:creationId xmlns:a16="http://schemas.microsoft.com/office/drawing/2014/main" id="{BE32DD17-17C2-4B59-B35A-FDEA8235BC95}"/>
                </a:ext>
              </a:extLst>
            </p:cNvPr>
            <p:cNvSpPr/>
            <p:nvPr/>
          </p:nvSpPr>
          <p:spPr>
            <a:xfrm>
              <a:off x="4921070" y="4029194"/>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15" name="Oval 14">
              <a:extLst>
                <a:ext uri="{FF2B5EF4-FFF2-40B4-BE49-F238E27FC236}">
                  <a16:creationId xmlns:a16="http://schemas.microsoft.com/office/drawing/2014/main" id="{93E9185F-BEDE-49AE-B0F4-B33D6579FAF5}"/>
                </a:ext>
              </a:extLst>
            </p:cNvPr>
            <p:cNvSpPr/>
            <p:nvPr/>
          </p:nvSpPr>
          <p:spPr>
            <a:xfrm>
              <a:off x="3690258" y="3244334"/>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123358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8903D-CBFB-4E52-922E-E400CD068D84}"/>
              </a:ext>
            </a:extLst>
          </p:cNvPr>
          <p:cNvSpPr>
            <a:spLocks noGrp="1"/>
          </p:cNvSpPr>
          <p:nvPr>
            <p:ph type="title"/>
          </p:nvPr>
        </p:nvSpPr>
        <p:spPr/>
        <p:txBody>
          <a:bodyPr/>
          <a:lstStyle/>
          <a:p>
            <a:r>
              <a:rPr lang="en-US" b="1" dirty="0"/>
              <a:t>Example 2: TSP -- </a:t>
            </a:r>
            <a:r>
              <a:rPr lang="en-US" b="1" dirty="0" err="1"/>
              <a:t>contd</a:t>
            </a:r>
            <a:endParaRPr lang="hi-IN" dirty="0"/>
          </a:p>
        </p:txBody>
      </p:sp>
      <p:sp>
        <p:nvSpPr>
          <p:cNvPr id="3" name="Content Placeholder 2">
            <a:extLst>
              <a:ext uri="{FF2B5EF4-FFF2-40B4-BE49-F238E27FC236}">
                <a16:creationId xmlns:a16="http://schemas.microsoft.com/office/drawing/2014/main" id="{F4BC3BCE-F184-4176-8B5B-0467AB0D4D74}"/>
              </a:ext>
            </a:extLst>
          </p:cNvPr>
          <p:cNvSpPr>
            <a:spLocks noGrp="1"/>
          </p:cNvSpPr>
          <p:nvPr>
            <p:ph idx="1"/>
          </p:nvPr>
        </p:nvSpPr>
        <p:spPr>
          <a:xfrm>
            <a:off x="838200" y="1452880"/>
            <a:ext cx="10515600" cy="4724083"/>
          </a:xfrm>
        </p:spPr>
        <p:txBody>
          <a:bodyPr/>
          <a:lstStyle/>
          <a:p>
            <a:endParaRPr lang="en-US" dirty="0"/>
          </a:p>
          <a:p>
            <a:endParaRPr lang="en-US" dirty="0"/>
          </a:p>
          <a:p>
            <a:endParaRPr lang="en-US" dirty="0"/>
          </a:p>
          <a:p>
            <a:endParaRPr lang="en-US" dirty="0"/>
          </a:p>
          <a:p>
            <a:pPr marL="0" indent="0">
              <a:buNone/>
            </a:pPr>
            <a:r>
              <a:rPr lang="en-US" dirty="0"/>
              <a:t>          </a:t>
            </a:r>
            <a:endParaRPr lang="hi-IN" dirty="0"/>
          </a:p>
        </p:txBody>
      </p:sp>
      <p:sp>
        <p:nvSpPr>
          <p:cNvPr id="4" name="Footer Placeholder 3">
            <a:extLst>
              <a:ext uri="{FF2B5EF4-FFF2-40B4-BE49-F238E27FC236}">
                <a16:creationId xmlns:a16="http://schemas.microsoft.com/office/drawing/2014/main" id="{C9D3D2A9-5869-4D77-A453-E9ECEE1CD1C3}"/>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E50B71DD-CEC2-45A7-B0E3-A3FA51151025}"/>
              </a:ext>
            </a:extLst>
          </p:cNvPr>
          <p:cNvSpPr>
            <a:spLocks noGrp="1"/>
          </p:cNvSpPr>
          <p:nvPr>
            <p:ph type="sldNum" sz="quarter" idx="12"/>
          </p:nvPr>
        </p:nvSpPr>
        <p:spPr/>
        <p:txBody>
          <a:bodyPr/>
          <a:lstStyle/>
          <a:p>
            <a:fld id="{F56F9007-E0C6-489E-B603-BD6BB4385429}" type="slidenum">
              <a:rPr lang="hi-IN" smtClean="0"/>
              <a:t>31</a:t>
            </a:fld>
            <a:endParaRPr lang="hi-IN"/>
          </a:p>
        </p:txBody>
      </p:sp>
      <p:graphicFrame>
        <p:nvGraphicFramePr>
          <p:cNvPr id="6" name="Table 7">
            <a:extLst>
              <a:ext uri="{FF2B5EF4-FFF2-40B4-BE49-F238E27FC236}">
                <a16:creationId xmlns:a16="http://schemas.microsoft.com/office/drawing/2014/main" id="{1073B627-22E7-4A3E-AD23-34E102DE23EC}"/>
              </a:ext>
            </a:extLst>
          </p:cNvPr>
          <p:cNvGraphicFramePr>
            <a:graphicFrameLocks noGrp="1"/>
          </p:cNvGraphicFramePr>
          <p:nvPr>
            <p:extLst>
              <p:ext uri="{D42A27DB-BD31-4B8C-83A1-F6EECF244321}">
                <p14:modId xmlns:p14="http://schemas.microsoft.com/office/powerpoint/2010/main" val="3628893166"/>
              </p:ext>
            </p:extLst>
          </p:nvPr>
        </p:nvGraphicFramePr>
        <p:xfrm>
          <a:off x="955040" y="1632532"/>
          <a:ext cx="3190240" cy="176721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20605">
                  <a:extLst>
                    <a:ext uri="{9D8B030D-6E8A-4147-A177-3AD203B41FA5}">
                      <a16:colId xmlns:a16="http://schemas.microsoft.com/office/drawing/2014/main" val="328198431"/>
                    </a:ext>
                  </a:extLst>
                </a:gridCol>
              </a:tblGrid>
              <a:tr h="302281">
                <a:tc>
                  <a:txBody>
                    <a:bodyPr/>
                    <a:lstStyle/>
                    <a:p>
                      <a:pPr algn="ctr"/>
                      <a:endParaRPr lang="hi-IN" sz="1500" dirty="0">
                        <a:solidFill>
                          <a:schemeClr val="tx1"/>
                        </a:solidFill>
                      </a:endParaRPr>
                    </a:p>
                  </a:txBody>
                  <a:tcPr marT="37785" marB="37785">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500" dirty="0">
                          <a:solidFill>
                            <a:schemeClr val="tx1"/>
                          </a:solidFill>
                        </a:rPr>
                        <a:t>A</a:t>
                      </a:r>
                      <a:endParaRPr lang="hi-IN" sz="1500" dirty="0">
                        <a:solidFill>
                          <a:schemeClr val="tx1"/>
                        </a:solidFill>
                      </a:endParaRPr>
                    </a:p>
                  </a:txBody>
                  <a:tcPr marT="37785" marB="3778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B</a:t>
                      </a:r>
                      <a:endParaRPr lang="hi-IN" sz="1500" dirty="0">
                        <a:solidFill>
                          <a:schemeClr val="tx1"/>
                        </a:solidFill>
                      </a:endParaRPr>
                    </a:p>
                  </a:txBody>
                  <a:tcPr marT="37785" marB="3778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C</a:t>
                      </a:r>
                      <a:endParaRPr lang="hi-IN" sz="1500" dirty="0">
                        <a:solidFill>
                          <a:schemeClr val="tx1"/>
                        </a:solidFill>
                      </a:endParaRPr>
                    </a:p>
                  </a:txBody>
                  <a:tcPr marT="37785" marB="3778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D</a:t>
                      </a:r>
                      <a:endParaRPr lang="hi-IN" sz="1500" dirty="0">
                        <a:solidFill>
                          <a:schemeClr val="tx1"/>
                        </a:solidFill>
                      </a:endParaRPr>
                    </a:p>
                  </a:txBody>
                  <a:tcPr marT="37785" marB="3778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Min</a:t>
                      </a:r>
                      <a:endParaRPr lang="hi-IN" sz="1500" dirty="0">
                        <a:solidFill>
                          <a:schemeClr val="tx1"/>
                        </a:solidFill>
                      </a:endParaRPr>
                    </a:p>
                  </a:txBody>
                  <a:tcPr marT="37785" marB="37785">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02281">
                <a:tc>
                  <a:txBody>
                    <a:bodyPr/>
                    <a:lstStyle/>
                    <a:p>
                      <a:pPr algn="ctr"/>
                      <a:r>
                        <a:rPr lang="en-US" sz="1500" b="1" dirty="0">
                          <a:solidFill>
                            <a:schemeClr val="tx1"/>
                          </a:solidFill>
                        </a:rPr>
                        <a:t>A</a:t>
                      </a:r>
                      <a:endParaRPr lang="hi-IN" sz="1500" b="1" dirty="0">
                        <a:solidFill>
                          <a:schemeClr val="tx1"/>
                        </a:solidFill>
                      </a:endParaRPr>
                    </a:p>
                  </a:txBody>
                  <a:tcPr marT="37785" marB="37785">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10</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02281">
                <a:tc>
                  <a:txBody>
                    <a:bodyPr/>
                    <a:lstStyle/>
                    <a:p>
                      <a:pPr algn="ctr"/>
                      <a:r>
                        <a:rPr lang="en-US" sz="1500" b="1" dirty="0">
                          <a:solidFill>
                            <a:schemeClr val="tx1"/>
                          </a:solidFill>
                        </a:rPr>
                        <a:t>B</a:t>
                      </a:r>
                      <a:endParaRPr lang="hi-IN" sz="1500" b="1" dirty="0">
                        <a:solidFill>
                          <a:schemeClr val="tx1"/>
                        </a:solidFill>
                      </a:endParaRPr>
                    </a:p>
                  </a:txBody>
                  <a:tcPr marT="37785" marB="37785">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10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35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25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10</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02281">
                <a:tc>
                  <a:txBody>
                    <a:bodyPr/>
                    <a:lstStyle/>
                    <a:p>
                      <a:pPr algn="ctr"/>
                      <a:r>
                        <a:rPr lang="en-US" sz="1500" b="1" dirty="0">
                          <a:solidFill>
                            <a:schemeClr val="tx1"/>
                          </a:solidFill>
                        </a:rPr>
                        <a:t>C</a:t>
                      </a:r>
                      <a:endParaRPr lang="hi-IN" sz="1500" b="1" dirty="0">
                        <a:solidFill>
                          <a:schemeClr val="tx1"/>
                        </a:solidFill>
                      </a:endParaRPr>
                    </a:p>
                  </a:txBody>
                  <a:tcPr marT="37785" marB="37785">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15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35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30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500" dirty="0">
                          <a:solidFill>
                            <a:schemeClr val="tx1"/>
                          </a:solidFill>
                        </a:rPr>
                        <a:t>15</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02281">
                <a:tc>
                  <a:txBody>
                    <a:bodyPr/>
                    <a:lstStyle/>
                    <a:p>
                      <a:pPr algn="ctr"/>
                      <a:r>
                        <a:rPr lang="en-US" sz="1500" b="1" dirty="0">
                          <a:solidFill>
                            <a:schemeClr val="tx1"/>
                          </a:solidFill>
                        </a:rPr>
                        <a:t>D</a:t>
                      </a:r>
                      <a:endParaRPr lang="hi-IN" sz="1500" b="1" dirty="0">
                        <a:solidFill>
                          <a:schemeClr val="tx1"/>
                        </a:solidFill>
                      </a:endParaRPr>
                    </a:p>
                  </a:txBody>
                  <a:tcPr marT="37785" marB="37785">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25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30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solidFill>
                            <a:schemeClr val="tx1"/>
                          </a:solidFill>
                        </a:rPr>
                        <a:t>20</a:t>
                      </a:r>
                      <a:endParaRPr lang="hi-IN" sz="1500" dirty="0">
                        <a:solidFill>
                          <a:schemeClr val="tx1"/>
                        </a:solidFill>
                      </a:endParaRPr>
                    </a:p>
                  </a:txBody>
                  <a:tcPr marT="37785" marB="3778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7">
            <a:extLst>
              <a:ext uri="{FF2B5EF4-FFF2-40B4-BE49-F238E27FC236}">
                <a16:creationId xmlns:a16="http://schemas.microsoft.com/office/drawing/2014/main" id="{2A5A3CF6-DE14-46FB-A6E6-CAECD865A452}"/>
              </a:ext>
            </a:extLst>
          </p:cNvPr>
          <p:cNvGraphicFramePr>
            <a:graphicFrameLocks noGrp="1"/>
          </p:cNvGraphicFramePr>
          <p:nvPr>
            <p:extLst>
              <p:ext uri="{D42A27DB-BD31-4B8C-83A1-F6EECF244321}">
                <p14:modId xmlns:p14="http://schemas.microsoft.com/office/powerpoint/2010/main" val="3684279158"/>
              </p:ext>
            </p:extLst>
          </p:nvPr>
        </p:nvGraphicFramePr>
        <p:xfrm>
          <a:off x="6294120" y="1473835"/>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r>
                        <a:rPr lang="en-US" b="1" dirty="0">
                          <a:solidFill>
                            <a:schemeClr val="tx1"/>
                          </a:solidFill>
                        </a:rPr>
                        <a:t>Min</a:t>
                      </a:r>
                      <a:endParaRPr lang="hi-IN"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10</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9252452"/>
                  </a:ext>
                </a:extLst>
              </a:tr>
            </a:tbl>
          </a:graphicData>
        </a:graphic>
      </p:graphicFrame>
      <p:graphicFrame>
        <p:nvGraphicFramePr>
          <p:cNvPr id="8" name="Table 7">
            <a:extLst>
              <a:ext uri="{FF2B5EF4-FFF2-40B4-BE49-F238E27FC236}">
                <a16:creationId xmlns:a16="http://schemas.microsoft.com/office/drawing/2014/main" id="{F7B81FE2-5C7B-496F-BAD0-6ADF78245454}"/>
              </a:ext>
            </a:extLst>
          </p:cNvPr>
          <p:cNvGraphicFramePr>
            <a:graphicFrameLocks noGrp="1"/>
          </p:cNvGraphicFramePr>
          <p:nvPr>
            <p:extLst>
              <p:ext uri="{D42A27DB-BD31-4B8C-83A1-F6EECF244321}">
                <p14:modId xmlns:p14="http://schemas.microsoft.com/office/powerpoint/2010/main" val="2237207037"/>
              </p:ext>
            </p:extLst>
          </p:nvPr>
        </p:nvGraphicFramePr>
        <p:xfrm>
          <a:off x="6426200" y="4244340"/>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9" name="TextBox 8">
            <a:extLst>
              <a:ext uri="{FF2B5EF4-FFF2-40B4-BE49-F238E27FC236}">
                <a16:creationId xmlns:a16="http://schemas.microsoft.com/office/drawing/2014/main" id="{303A9617-239B-401E-A21E-BA7B3FCC9489}"/>
              </a:ext>
            </a:extLst>
          </p:cNvPr>
          <p:cNvSpPr txBox="1"/>
          <p:nvPr/>
        </p:nvSpPr>
        <p:spPr>
          <a:xfrm>
            <a:off x="4914900" y="1494155"/>
            <a:ext cx="1102360" cy="646331"/>
          </a:xfrm>
          <a:prstGeom prst="rect">
            <a:avLst/>
          </a:prstGeom>
          <a:noFill/>
        </p:spPr>
        <p:txBody>
          <a:bodyPr wrap="square" rtlCol="0">
            <a:spAutoFit/>
          </a:bodyPr>
          <a:lstStyle/>
          <a:p>
            <a:r>
              <a:rPr lang="en-US" b="1" dirty="0"/>
              <a:t>Reduce by row</a:t>
            </a:r>
            <a:endParaRPr lang="hi-IN" b="1" dirty="0"/>
          </a:p>
        </p:txBody>
      </p:sp>
      <p:sp>
        <p:nvSpPr>
          <p:cNvPr id="10" name="TextBox 9">
            <a:extLst>
              <a:ext uri="{FF2B5EF4-FFF2-40B4-BE49-F238E27FC236}">
                <a16:creationId xmlns:a16="http://schemas.microsoft.com/office/drawing/2014/main" id="{37439F4C-ACFF-4070-ABB8-C16D23B4B39E}"/>
              </a:ext>
            </a:extLst>
          </p:cNvPr>
          <p:cNvSpPr txBox="1"/>
          <p:nvPr/>
        </p:nvSpPr>
        <p:spPr>
          <a:xfrm>
            <a:off x="9710420" y="3780155"/>
            <a:ext cx="1353820" cy="646331"/>
          </a:xfrm>
          <a:prstGeom prst="rect">
            <a:avLst/>
          </a:prstGeom>
          <a:noFill/>
        </p:spPr>
        <p:txBody>
          <a:bodyPr wrap="square" rtlCol="0">
            <a:spAutoFit/>
          </a:bodyPr>
          <a:lstStyle/>
          <a:p>
            <a:r>
              <a:rPr lang="en-US" b="1" dirty="0"/>
              <a:t>Reduce by column</a:t>
            </a:r>
            <a:endParaRPr lang="hi-IN" b="1" dirty="0"/>
          </a:p>
        </p:txBody>
      </p:sp>
      <p:sp>
        <p:nvSpPr>
          <p:cNvPr id="11" name="Arrow: Right 10">
            <a:extLst>
              <a:ext uri="{FF2B5EF4-FFF2-40B4-BE49-F238E27FC236}">
                <a16:creationId xmlns:a16="http://schemas.microsoft.com/office/drawing/2014/main" id="{5FE2A24A-BADB-4B7D-86BF-8283695C449D}"/>
              </a:ext>
            </a:extLst>
          </p:cNvPr>
          <p:cNvSpPr/>
          <p:nvPr/>
        </p:nvSpPr>
        <p:spPr>
          <a:xfrm>
            <a:off x="4470400" y="2376083"/>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2" name="Arrow: Down 11">
            <a:extLst>
              <a:ext uri="{FF2B5EF4-FFF2-40B4-BE49-F238E27FC236}">
                <a16:creationId xmlns:a16="http://schemas.microsoft.com/office/drawing/2014/main" id="{7DDD791D-596C-4F17-9E41-3E8E91F4ED3C}"/>
              </a:ext>
            </a:extLst>
          </p:cNvPr>
          <p:cNvSpPr/>
          <p:nvPr/>
        </p:nvSpPr>
        <p:spPr>
          <a:xfrm>
            <a:off x="8153400" y="3575466"/>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sp>
        <p:nvSpPr>
          <p:cNvPr id="13" name="Rectangle 12">
            <a:extLst>
              <a:ext uri="{FF2B5EF4-FFF2-40B4-BE49-F238E27FC236}">
                <a16:creationId xmlns:a16="http://schemas.microsoft.com/office/drawing/2014/main" id="{1A884A52-04DE-45F6-AF25-F0B292FC08C4}"/>
              </a:ext>
            </a:extLst>
          </p:cNvPr>
          <p:cNvSpPr/>
          <p:nvPr/>
        </p:nvSpPr>
        <p:spPr>
          <a:xfrm>
            <a:off x="466090" y="4276347"/>
            <a:ext cx="6096000" cy="646331"/>
          </a:xfrm>
          <a:prstGeom prst="rect">
            <a:avLst/>
          </a:prstGeom>
        </p:spPr>
        <p:txBody>
          <a:bodyPr>
            <a:spAutoFit/>
          </a:bodyPr>
          <a:lstStyle/>
          <a:p>
            <a:r>
              <a:rPr lang="en-US" b="1" dirty="0"/>
              <a:t>Cost of Node 1 (Initial Node) = Previous node Cost + Min of  </a:t>
            </a:r>
          </a:p>
          <a:p>
            <a:r>
              <a:rPr lang="en-US" b="1" dirty="0"/>
              <a:t>                                   Row + Min of Col = 0 + 55 + 15 = 70</a:t>
            </a:r>
          </a:p>
        </p:txBody>
      </p:sp>
      <p:sp>
        <p:nvSpPr>
          <p:cNvPr id="18" name="Oval 17">
            <a:extLst>
              <a:ext uri="{FF2B5EF4-FFF2-40B4-BE49-F238E27FC236}">
                <a16:creationId xmlns:a16="http://schemas.microsoft.com/office/drawing/2014/main" id="{5B694FD6-3EE3-4A36-AC56-83601928128D}"/>
              </a:ext>
            </a:extLst>
          </p:cNvPr>
          <p:cNvSpPr/>
          <p:nvPr/>
        </p:nvSpPr>
        <p:spPr>
          <a:xfrm>
            <a:off x="3450771" y="1452880"/>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9" name="Oval 18">
            <a:extLst>
              <a:ext uri="{FF2B5EF4-FFF2-40B4-BE49-F238E27FC236}">
                <a16:creationId xmlns:a16="http://schemas.microsoft.com/office/drawing/2014/main" id="{AAA6B182-B80F-49CF-9F78-F290DA44C212}"/>
              </a:ext>
            </a:extLst>
          </p:cNvPr>
          <p:cNvSpPr/>
          <p:nvPr/>
        </p:nvSpPr>
        <p:spPr>
          <a:xfrm>
            <a:off x="6172200" y="2990055"/>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Tree>
    <p:extLst>
      <p:ext uri="{BB962C8B-B14F-4D97-AF65-F5344CB8AC3E}">
        <p14:creationId xmlns:p14="http://schemas.microsoft.com/office/powerpoint/2010/main" val="2021146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12" grpId="0" animBg="1"/>
      <p:bldP spid="13" grpId="0"/>
      <p:bldP spid="18" grpId="0" animBg="1"/>
      <p:bldP spid="1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A6A76-2FF1-4931-B92C-FD069340B394}"/>
              </a:ext>
            </a:extLst>
          </p:cNvPr>
          <p:cNvSpPr>
            <a:spLocks noGrp="1"/>
          </p:cNvSpPr>
          <p:nvPr>
            <p:ph type="title"/>
          </p:nvPr>
        </p:nvSpPr>
        <p:spPr/>
        <p:txBody>
          <a:bodyPr/>
          <a:lstStyle/>
          <a:p>
            <a:r>
              <a:rPr lang="en-US" b="1" dirty="0"/>
              <a:t>Example 2: TSP -- </a:t>
            </a:r>
            <a:r>
              <a:rPr lang="en-US" b="1" dirty="0" err="1"/>
              <a:t>contd</a:t>
            </a:r>
            <a:endParaRPr lang="hi-IN" dirty="0"/>
          </a:p>
        </p:txBody>
      </p:sp>
      <p:sp>
        <p:nvSpPr>
          <p:cNvPr id="3" name="Content Placeholder 2">
            <a:extLst>
              <a:ext uri="{FF2B5EF4-FFF2-40B4-BE49-F238E27FC236}">
                <a16:creationId xmlns:a16="http://schemas.microsoft.com/office/drawing/2014/main" id="{C9A8F305-2ED9-4321-9389-BE780A84F5EB}"/>
              </a:ext>
            </a:extLst>
          </p:cNvPr>
          <p:cNvSpPr>
            <a:spLocks noGrp="1"/>
          </p:cNvSpPr>
          <p:nvPr>
            <p:ph idx="1"/>
          </p:nvPr>
        </p:nvSpPr>
        <p:spPr>
          <a:xfrm>
            <a:off x="838200" y="1631872"/>
            <a:ext cx="4104640" cy="4545091"/>
          </a:xfrm>
        </p:spPr>
        <p:txBody>
          <a:bodyPr>
            <a:normAutofit fontScale="77500" lnSpcReduction="20000"/>
          </a:bodyPr>
          <a:lstStyle/>
          <a:p>
            <a:pPr algn="just"/>
            <a:r>
              <a:rPr lang="en-US" dirty="0"/>
              <a:t>State space tree</a:t>
            </a:r>
          </a:p>
          <a:p>
            <a:pPr lvl="1" algn="just"/>
            <a:r>
              <a:rPr lang="en-US" dirty="0"/>
              <a:t>Name the nodes with unique numbers as and when explored (i.e.) root A will be called as node 1 </a:t>
            </a:r>
          </a:p>
          <a:p>
            <a:pPr lvl="1" algn="just"/>
            <a:r>
              <a:rPr lang="en-US" dirty="0"/>
              <a:t>We have the cost of the first node 1 computed in the previous step as 70</a:t>
            </a:r>
          </a:p>
          <a:p>
            <a:pPr lvl="1" algn="just"/>
            <a:r>
              <a:rPr lang="en-US" dirty="0"/>
              <a:t>Now proceed with the next level construction in the tree</a:t>
            </a:r>
          </a:p>
          <a:p>
            <a:pPr lvl="1" algn="just"/>
            <a:r>
              <a:rPr lang="en-US" dirty="0"/>
              <a:t>Explore the possibilities or options for the salesman to travel</a:t>
            </a:r>
          </a:p>
          <a:p>
            <a:pPr lvl="1" algn="just"/>
            <a:r>
              <a:rPr lang="en-US" dirty="0"/>
              <a:t>Find the cost of all the possibilities from the previously reduced matrix</a:t>
            </a:r>
          </a:p>
          <a:p>
            <a:pPr lvl="1" algn="just"/>
            <a:r>
              <a:rPr lang="en-US" dirty="0"/>
              <a:t>Choose the node with the minimum cost to explore further and repeat the steps</a:t>
            </a:r>
            <a:endParaRPr lang="hi-IN" dirty="0"/>
          </a:p>
        </p:txBody>
      </p:sp>
      <p:sp>
        <p:nvSpPr>
          <p:cNvPr id="4" name="Footer Placeholder 3">
            <a:extLst>
              <a:ext uri="{FF2B5EF4-FFF2-40B4-BE49-F238E27FC236}">
                <a16:creationId xmlns:a16="http://schemas.microsoft.com/office/drawing/2014/main" id="{02026403-B9EB-4F6F-903A-96C731B0905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C55DF90E-C7BD-4E45-9B58-794843A1103E}"/>
              </a:ext>
            </a:extLst>
          </p:cNvPr>
          <p:cNvSpPr>
            <a:spLocks noGrp="1"/>
          </p:cNvSpPr>
          <p:nvPr>
            <p:ph type="sldNum" sz="quarter" idx="12"/>
          </p:nvPr>
        </p:nvSpPr>
        <p:spPr/>
        <p:txBody>
          <a:bodyPr/>
          <a:lstStyle/>
          <a:p>
            <a:fld id="{F56F9007-E0C6-489E-B603-BD6BB4385429}" type="slidenum">
              <a:rPr lang="hi-IN" smtClean="0"/>
              <a:t>32</a:t>
            </a:fld>
            <a:endParaRPr lang="hi-IN"/>
          </a:p>
        </p:txBody>
      </p:sp>
      <p:sp>
        <p:nvSpPr>
          <p:cNvPr id="6" name="Oval 5">
            <a:extLst>
              <a:ext uri="{FF2B5EF4-FFF2-40B4-BE49-F238E27FC236}">
                <a16:creationId xmlns:a16="http://schemas.microsoft.com/office/drawing/2014/main" id="{A913F9DF-7278-49DF-8317-3CAF51FBCEB6}"/>
              </a:ext>
            </a:extLst>
          </p:cNvPr>
          <p:cNvSpPr/>
          <p:nvPr/>
        </p:nvSpPr>
        <p:spPr>
          <a:xfrm>
            <a:off x="6832600" y="1316038"/>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a:t>
            </a:r>
            <a:endParaRPr lang="hi-IN" b="1" dirty="0">
              <a:ln w="0"/>
              <a:solidFill>
                <a:schemeClr val="tx1"/>
              </a:solidFill>
              <a:effectLst>
                <a:outerShdw blurRad="38100" dist="19050" dir="2700000" algn="tl" rotWithShape="0">
                  <a:schemeClr val="dk1">
                    <a:alpha val="40000"/>
                  </a:schemeClr>
                </a:outerShdw>
              </a:effectLst>
            </a:endParaRPr>
          </a:p>
        </p:txBody>
      </p:sp>
      <p:sp>
        <p:nvSpPr>
          <p:cNvPr id="7" name="Oval 6">
            <a:extLst>
              <a:ext uri="{FF2B5EF4-FFF2-40B4-BE49-F238E27FC236}">
                <a16:creationId xmlns:a16="http://schemas.microsoft.com/office/drawing/2014/main" id="{1835B6C2-8B25-4B2C-933D-D00D3226DF4D}"/>
              </a:ext>
            </a:extLst>
          </p:cNvPr>
          <p:cNvSpPr/>
          <p:nvPr/>
        </p:nvSpPr>
        <p:spPr>
          <a:xfrm>
            <a:off x="5567680" y="243840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8" name="Oval 7">
            <a:extLst>
              <a:ext uri="{FF2B5EF4-FFF2-40B4-BE49-F238E27FC236}">
                <a16:creationId xmlns:a16="http://schemas.microsoft.com/office/drawing/2014/main" id="{B6017DD2-7AB7-49B0-A785-5E27B92278E5}"/>
              </a:ext>
            </a:extLst>
          </p:cNvPr>
          <p:cNvSpPr/>
          <p:nvPr/>
        </p:nvSpPr>
        <p:spPr>
          <a:xfrm>
            <a:off x="6832600" y="2438400"/>
            <a:ext cx="640080" cy="71389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9" name="Oval 8">
            <a:extLst>
              <a:ext uri="{FF2B5EF4-FFF2-40B4-BE49-F238E27FC236}">
                <a16:creationId xmlns:a16="http://schemas.microsoft.com/office/drawing/2014/main" id="{59FE43A2-D4B8-4884-9006-7DC09C51220B}"/>
              </a:ext>
            </a:extLst>
          </p:cNvPr>
          <p:cNvSpPr/>
          <p:nvPr/>
        </p:nvSpPr>
        <p:spPr>
          <a:xfrm>
            <a:off x="8153400" y="243840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11" name="Straight Connector 10">
            <a:extLst>
              <a:ext uri="{FF2B5EF4-FFF2-40B4-BE49-F238E27FC236}">
                <a16:creationId xmlns:a16="http://schemas.microsoft.com/office/drawing/2014/main" id="{2765B92A-42BF-4EF8-A2C0-1A5D3D8FD4BF}"/>
              </a:ext>
            </a:extLst>
          </p:cNvPr>
          <p:cNvCxnSpPr>
            <a:cxnSpLocks/>
            <a:stCxn id="6" idx="3"/>
            <a:endCxn id="7" idx="0"/>
          </p:cNvCxnSpPr>
          <p:nvPr/>
        </p:nvCxnSpPr>
        <p:spPr>
          <a:xfrm flipH="1">
            <a:off x="5887720" y="1879725"/>
            <a:ext cx="1038618" cy="558675"/>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6BCBCB4-8DEE-43B6-A0F1-0C6E7F4EF807}"/>
              </a:ext>
            </a:extLst>
          </p:cNvPr>
          <p:cNvCxnSpPr>
            <a:cxnSpLocks/>
            <a:stCxn id="6" idx="4"/>
          </p:cNvCxnSpPr>
          <p:nvPr/>
        </p:nvCxnSpPr>
        <p:spPr>
          <a:xfrm>
            <a:off x="7152640" y="1976438"/>
            <a:ext cx="0" cy="461962"/>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78654225-5969-48C4-8E15-1F36FFCD5423}"/>
              </a:ext>
            </a:extLst>
          </p:cNvPr>
          <p:cNvCxnSpPr>
            <a:cxnSpLocks/>
            <a:stCxn id="6" idx="5"/>
            <a:endCxn id="9" idx="1"/>
          </p:cNvCxnSpPr>
          <p:nvPr/>
        </p:nvCxnSpPr>
        <p:spPr>
          <a:xfrm>
            <a:off x="7378942" y="1879725"/>
            <a:ext cx="868196" cy="655388"/>
          </a:xfrm>
          <a:prstGeom prst="line">
            <a:avLst/>
          </a:prstGeom>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EE42781A-2199-4BFD-AB04-1CE69CA4B1E4}"/>
              </a:ext>
            </a:extLst>
          </p:cNvPr>
          <p:cNvSpPr txBox="1"/>
          <p:nvPr/>
        </p:nvSpPr>
        <p:spPr>
          <a:xfrm>
            <a:off x="7410328" y="1262540"/>
            <a:ext cx="2241672" cy="369332"/>
          </a:xfrm>
          <a:prstGeom prst="rect">
            <a:avLst/>
          </a:prstGeom>
          <a:noFill/>
        </p:spPr>
        <p:txBody>
          <a:bodyPr wrap="square" rtlCol="0">
            <a:spAutoFit/>
          </a:bodyPr>
          <a:lstStyle/>
          <a:p>
            <a:r>
              <a:rPr lang="en-US" b="1" dirty="0"/>
              <a:t>Cost of node 1 = 70</a:t>
            </a:r>
            <a:endParaRPr lang="hi-IN" b="1" dirty="0"/>
          </a:p>
        </p:txBody>
      </p:sp>
      <p:sp>
        <p:nvSpPr>
          <p:cNvPr id="18" name="TextBox 17">
            <a:extLst>
              <a:ext uri="{FF2B5EF4-FFF2-40B4-BE49-F238E27FC236}">
                <a16:creationId xmlns:a16="http://schemas.microsoft.com/office/drawing/2014/main" id="{2D41B398-2587-4FD3-95BF-140333BCA73E}"/>
              </a:ext>
            </a:extLst>
          </p:cNvPr>
          <p:cNvSpPr txBox="1"/>
          <p:nvPr/>
        </p:nvSpPr>
        <p:spPr>
          <a:xfrm>
            <a:off x="5231798" y="3370578"/>
            <a:ext cx="6828122" cy="3139321"/>
          </a:xfrm>
          <a:prstGeom prst="rect">
            <a:avLst/>
          </a:prstGeom>
          <a:noFill/>
        </p:spPr>
        <p:txBody>
          <a:bodyPr wrap="square" rtlCol="0">
            <a:spAutoFit/>
          </a:bodyPr>
          <a:lstStyle/>
          <a:p>
            <a:pPr algn="just"/>
            <a:r>
              <a:rPr lang="en-US" dirty="0"/>
              <a:t>To start with the next step:</a:t>
            </a:r>
          </a:p>
          <a:p>
            <a:pPr marL="742950" lvl="1" indent="-285750" algn="just">
              <a:buFont typeface="Arial" panose="020B0604020202020204" pitchFamily="34" charset="0"/>
              <a:buChar char="•"/>
            </a:pPr>
            <a:r>
              <a:rPr lang="en-US" dirty="0"/>
              <a:t>Explore the next possible node, say A--B in the tree</a:t>
            </a:r>
          </a:p>
          <a:p>
            <a:pPr marL="742950" lvl="1" indent="-285750" algn="just">
              <a:buFont typeface="Arial" panose="020B0604020202020204" pitchFamily="34" charset="0"/>
              <a:buChar char="•"/>
            </a:pPr>
            <a:r>
              <a:rPr lang="en-US" dirty="0"/>
              <a:t>Consider the matrix obtained in the step 1 and note the value of matrix[A,B] which is 0 (Zero) for further computation</a:t>
            </a:r>
          </a:p>
          <a:p>
            <a:pPr marL="742950" lvl="1" indent="-285750" algn="just">
              <a:buFont typeface="Arial" panose="020B0604020202020204" pitchFamily="34" charset="0"/>
              <a:buChar char="•"/>
            </a:pPr>
            <a:r>
              <a:rPr lang="en-US" dirty="0"/>
              <a:t>Set entire Row A and Column B to ∞</a:t>
            </a:r>
          </a:p>
          <a:p>
            <a:pPr marL="742950" lvl="1" indent="-285750" algn="just">
              <a:buFont typeface="Arial" panose="020B0604020202020204" pitchFamily="34" charset="0"/>
              <a:buChar char="•"/>
            </a:pPr>
            <a:r>
              <a:rPr lang="en-US" dirty="0"/>
              <a:t>Set matrix[B,A] to ∞</a:t>
            </a:r>
          </a:p>
          <a:p>
            <a:pPr marL="742950" lvl="1" indent="-285750" algn="just">
              <a:buFont typeface="Arial" panose="020B0604020202020204" pitchFamily="34" charset="0"/>
              <a:buChar char="•"/>
            </a:pPr>
            <a:r>
              <a:rPr lang="en-US" dirty="0"/>
              <a:t>Now write the new cost matrix with these updates</a:t>
            </a:r>
          </a:p>
          <a:p>
            <a:pPr marL="742950" lvl="1" indent="-285750" algn="just">
              <a:buFont typeface="Arial" panose="020B0604020202020204" pitchFamily="34" charset="0"/>
              <a:buChar char="•"/>
            </a:pPr>
            <a:r>
              <a:rPr lang="en-US" dirty="0"/>
              <a:t>Go with row reduction and column reduction mentioned in the previous slide and compute the cost of the node</a:t>
            </a:r>
          </a:p>
          <a:p>
            <a:pPr marL="742950" lvl="1" indent="-285750" algn="just">
              <a:buFont typeface="Arial" panose="020B0604020202020204" pitchFamily="34" charset="0"/>
              <a:buChar char="•"/>
            </a:pPr>
            <a:r>
              <a:rPr lang="en-US" dirty="0"/>
              <a:t>Now repeat these steps for the next possible nodes and choose the node with minimum cost for the next level</a:t>
            </a:r>
            <a:endParaRPr lang="hi-IN" dirty="0"/>
          </a:p>
        </p:txBody>
      </p:sp>
      <p:sp>
        <p:nvSpPr>
          <p:cNvPr id="19" name="Rectangle 18">
            <a:extLst>
              <a:ext uri="{FF2B5EF4-FFF2-40B4-BE49-F238E27FC236}">
                <a16:creationId xmlns:a16="http://schemas.microsoft.com/office/drawing/2014/main" id="{36E19BBC-DEA5-475B-80D9-7896950FE146}"/>
              </a:ext>
            </a:extLst>
          </p:cNvPr>
          <p:cNvSpPr/>
          <p:nvPr/>
        </p:nvSpPr>
        <p:spPr>
          <a:xfrm>
            <a:off x="5231798" y="2078732"/>
            <a:ext cx="840295" cy="369332"/>
          </a:xfrm>
          <a:prstGeom prst="rect">
            <a:avLst/>
          </a:prstGeom>
        </p:spPr>
        <p:txBody>
          <a:bodyPr wrap="none">
            <a:spAutoFit/>
          </a:bodyPr>
          <a:lstStyle/>
          <a:p>
            <a:r>
              <a:rPr lang="en-US" b="1" dirty="0"/>
              <a:t>node 2</a:t>
            </a:r>
            <a:endParaRPr lang="hi-IN" dirty="0"/>
          </a:p>
        </p:txBody>
      </p:sp>
      <p:sp>
        <p:nvSpPr>
          <p:cNvPr id="20" name="Rectangle 19">
            <a:extLst>
              <a:ext uri="{FF2B5EF4-FFF2-40B4-BE49-F238E27FC236}">
                <a16:creationId xmlns:a16="http://schemas.microsoft.com/office/drawing/2014/main" id="{399724AB-BA46-4DD6-AE47-5A2D7D51CC55}"/>
              </a:ext>
            </a:extLst>
          </p:cNvPr>
          <p:cNvSpPr/>
          <p:nvPr/>
        </p:nvSpPr>
        <p:spPr>
          <a:xfrm>
            <a:off x="6387053" y="2165781"/>
            <a:ext cx="840295" cy="369332"/>
          </a:xfrm>
          <a:prstGeom prst="rect">
            <a:avLst/>
          </a:prstGeom>
        </p:spPr>
        <p:txBody>
          <a:bodyPr wrap="none">
            <a:spAutoFit/>
          </a:bodyPr>
          <a:lstStyle/>
          <a:p>
            <a:r>
              <a:rPr lang="en-US" b="1" dirty="0"/>
              <a:t>node 3</a:t>
            </a:r>
            <a:endParaRPr lang="hi-IN" dirty="0"/>
          </a:p>
        </p:txBody>
      </p:sp>
      <p:sp>
        <p:nvSpPr>
          <p:cNvPr id="21" name="Rectangle 20">
            <a:extLst>
              <a:ext uri="{FF2B5EF4-FFF2-40B4-BE49-F238E27FC236}">
                <a16:creationId xmlns:a16="http://schemas.microsoft.com/office/drawing/2014/main" id="{050F5224-4126-4D50-B05B-458ACBD4CC94}"/>
              </a:ext>
            </a:extLst>
          </p:cNvPr>
          <p:cNvSpPr/>
          <p:nvPr/>
        </p:nvSpPr>
        <p:spPr>
          <a:xfrm>
            <a:off x="8531164" y="2166622"/>
            <a:ext cx="840295" cy="369332"/>
          </a:xfrm>
          <a:prstGeom prst="rect">
            <a:avLst/>
          </a:prstGeom>
        </p:spPr>
        <p:txBody>
          <a:bodyPr wrap="none">
            <a:spAutoFit/>
          </a:bodyPr>
          <a:lstStyle/>
          <a:p>
            <a:r>
              <a:rPr lang="en-US" b="1" dirty="0"/>
              <a:t>node 4</a:t>
            </a:r>
            <a:endParaRPr lang="hi-IN" dirty="0"/>
          </a:p>
        </p:txBody>
      </p:sp>
      <p:grpSp>
        <p:nvGrpSpPr>
          <p:cNvPr id="22" name="Group 21">
            <a:extLst>
              <a:ext uri="{FF2B5EF4-FFF2-40B4-BE49-F238E27FC236}">
                <a16:creationId xmlns:a16="http://schemas.microsoft.com/office/drawing/2014/main" id="{92026637-4E43-42B6-A66B-C8AE75829E17}"/>
              </a:ext>
            </a:extLst>
          </p:cNvPr>
          <p:cNvGrpSpPr/>
          <p:nvPr/>
        </p:nvGrpSpPr>
        <p:grpSpPr>
          <a:xfrm>
            <a:off x="9559892" y="235938"/>
            <a:ext cx="2449830" cy="1743200"/>
            <a:chOff x="2122170" y="2053825"/>
            <a:chExt cx="3314700" cy="2491270"/>
          </a:xfrm>
        </p:grpSpPr>
        <p:pic>
          <p:nvPicPr>
            <p:cNvPr id="23" name="Picture 2">
              <a:extLst>
                <a:ext uri="{FF2B5EF4-FFF2-40B4-BE49-F238E27FC236}">
                  <a16:creationId xmlns:a16="http://schemas.microsoft.com/office/drawing/2014/main" id="{823AC9D1-B047-44E6-9ED7-CD0B8C0834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170" y="2053825"/>
              <a:ext cx="3314700" cy="2491270"/>
            </a:xfrm>
            <a:prstGeom prst="rect">
              <a:avLst/>
            </a:prstGeom>
            <a:noFill/>
            <a:extLst>
              <a:ext uri="{909E8E84-426E-40DD-AFC4-6F175D3DCCD1}">
                <a14:hiddenFill xmlns:a14="http://schemas.microsoft.com/office/drawing/2010/main">
                  <a:solidFill>
                    <a:srgbClr val="FFFFFF"/>
                  </a:solidFill>
                </a14:hiddenFill>
              </a:ext>
            </a:extLst>
          </p:spPr>
        </p:pic>
        <p:sp>
          <p:nvSpPr>
            <p:cNvPr id="24" name="Oval 23">
              <a:extLst>
                <a:ext uri="{FF2B5EF4-FFF2-40B4-BE49-F238E27FC236}">
                  <a16:creationId xmlns:a16="http://schemas.microsoft.com/office/drawing/2014/main" id="{ED54693A-1DA3-459E-92BE-EAC58FD993BD}"/>
                </a:ext>
              </a:extLst>
            </p:cNvPr>
            <p:cNvSpPr/>
            <p:nvPr/>
          </p:nvSpPr>
          <p:spPr>
            <a:xfrm>
              <a:off x="3703321" y="2119141"/>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a:t>
              </a:r>
              <a:endParaRPr lang="hi-IN" b="1" dirty="0">
                <a:ln w="0"/>
                <a:solidFill>
                  <a:schemeClr val="tx1"/>
                </a:solidFill>
                <a:effectLst>
                  <a:outerShdw blurRad="38100" dist="19050" dir="2700000" algn="tl" rotWithShape="0">
                    <a:schemeClr val="dk1">
                      <a:alpha val="40000"/>
                    </a:schemeClr>
                  </a:outerShdw>
                </a:effectLst>
              </a:endParaRPr>
            </a:p>
          </p:txBody>
        </p:sp>
        <p:sp>
          <p:nvSpPr>
            <p:cNvPr id="25" name="Oval 24">
              <a:extLst>
                <a:ext uri="{FF2B5EF4-FFF2-40B4-BE49-F238E27FC236}">
                  <a16:creationId xmlns:a16="http://schemas.microsoft.com/office/drawing/2014/main" id="{ABAAF91F-5692-4155-8587-EF2A67D3AD10}"/>
                </a:ext>
              </a:extLst>
            </p:cNvPr>
            <p:cNvSpPr/>
            <p:nvPr/>
          </p:nvSpPr>
          <p:spPr>
            <a:xfrm>
              <a:off x="2175327" y="3996781"/>
              <a:ext cx="426357" cy="390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26" name="Oval 25">
              <a:extLst>
                <a:ext uri="{FF2B5EF4-FFF2-40B4-BE49-F238E27FC236}">
                  <a16:creationId xmlns:a16="http://schemas.microsoft.com/office/drawing/2014/main" id="{3970B83D-0731-45E1-8969-AB5E1DCBC0CB}"/>
                </a:ext>
              </a:extLst>
            </p:cNvPr>
            <p:cNvSpPr/>
            <p:nvPr/>
          </p:nvSpPr>
          <p:spPr>
            <a:xfrm>
              <a:off x="4921070" y="4029194"/>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27" name="Oval 26">
              <a:extLst>
                <a:ext uri="{FF2B5EF4-FFF2-40B4-BE49-F238E27FC236}">
                  <a16:creationId xmlns:a16="http://schemas.microsoft.com/office/drawing/2014/main" id="{4F85F030-4400-4510-B1A3-D1320192D218}"/>
                </a:ext>
              </a:extLst>
            </p:cNvPr>
            <p:cNvSpPr/>
            <p:nvPr/>
          </p:nvSpPr>
          <p:spPr>
            <a:xfrm>
              <a:off x="3690258" y="3244334"/>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829485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7" grpId="0" animBg="1"/>
      <p:bldP spid="8" grpId="0" animBg="1"/>
      <p:bldP spid="9" grpId="0" animBg="1"/>
      <p:bldP spid="17" grpId="0"/>
      <p:bldP spid="18" grpId="0"/>
      <p:bldP spid="19" grpId="0"/>
      <p:bldP spid="20" grpId="0"/>
      <p:bldP spid="2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2189-7552-4E33-9E7B-4DE20289BB36}"/>
              </a:ext>
            </a:extLst>
          </p:cNvPr>
          <p:cNvSpPr>
            <a:spLocks noGrp="1"/>
          </p:cNvSpPr>
          <p:nvPr>
            <p:ph type="title"/>
          </p:nvPr>
        </p:nvSpPr>
        <p:spPr/>
        <p:txBody>
          <a:bodyPr/>
          <a:lstStyle/>
          <a:p>
            <a:r>
              <a:rPr lang="en-US" b="1" dirty="0"/>
              <a:t>Example 2 : TSP -- </a:t>
            </a:r>
            <a:r>
              <a:rPr lang="en-US" b="1" dirty="0" err="1"/>
              <a:t>contd</a:t>
            </a:r>
            <a:endParaRPr lang="hi-IN" dirty="0"/>
          </a:p>
        </p:txBody>
      </p:sp>
      <p:sp>
        <p:nvSpPr>
          <p:cNvPr id="3" name="Content Placeholder 2">
            <a:extLst>
              <a:ext uri="{FF2B5EF4-FFF2-40B4-BE49-F238E27FC236}">
                <a16:creationId xmlns:a16="http://schemas.microsoft.com/office/drawing/2014/main" id="{37C055A1-8DCE-40BD-96BE-DC0349835FE9}"/>
              </a:ext>
            </a:extLst>
          </p:cNvPr>
          <p:cNvSpPr>
            <a:spLocks noGrp="1"/>
          </p:cNvSpPr>
          <p:nvPr>
            <p:ph idx="1"/>
          </p:nvPr>
        </p:nvSpPr>
        <p:spPr/>
        <p:txBody>
          <a:bodyPr/>
          <a:lstStyle/>
          <a:p>
            <a:r>
              <a:rPr lang="en-US" dirty="0"/>
              <a:t>Now exploring A—B path</a:t>
            </a:r>
          </a:p>
          <a:p>
            <a:pPr lvl="1"/>
            <a:r>
              <a:rPr lang="en-US" sz="2000" dirty="0"/>
              <a:t>The cost matrix of node A becomes…</a:t>
            </a:r>
            <a:endParaRPr lang="hi-IN" sz="2000" dirty="0"/>
          </a:p>
        </p:txBody>
      </p:sp>
      <p:sp>
        <p:nvSpPr>
          <p:cNvPr id="4" name="Footer Placeholder 3">
            <a:extLst>
              <a:ext uri="{FF2B5EF4-FFF2-40B4-BE49-F238E27FC236}">
                <a16:creationId xmlns:a16="http://schemas.microsoft.com/office/drawing/2014/main" id="{3FBCE2A8-CF2B-4146-9CF1-F8A6DCA76137}"/>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1DC7713-BE6D-4807-8365-0ED01742EAAF}"/>
              </a:ext>
            </a:extLst>
          </p:cNvPr>
          <p:cNvSpPr>
            <a:spLocks noGrp="1"/>
          </p:cNvSpPr>
          <p:nvPr>
            <p:ph type="sldNum" sz="quarter" idx="12"/>
          </p:nvPr>
        </p:nvSpPr>
        <p:spPr/>
        <p:txBody>
          <a:bodyPr/>
          <a:lstStyle/>
          <a:p>
            <a:fld id="{F56F9007-E0C6-489E-B603-BD6BB4385429}" type="slidenum">
              <a:rPr lang="hi-IN" smtClean="0"/>
              <a:t>33</a:t>
            </a:fld>
            <a:endParaRPr lang="hi-IN"/>
          </a:p>
        </p:txBody>
      </p:sp>
      <p:graphicFrame>
        <p:nvGraphicFramePr>
          <p:cNvPr id="6" name="Table 5">
            <a:extLst>
              <a:ext uri="{FF2B5EF4-FFF2-40B4-BE49-F238E27FC236}">
                <a16:creationId xmlns:a16="http://schemas.microsoft.com/office/drawing/2014/main" id="{D6F50D1C-6C10-4DEE-B1F2-B7F70D225F30}"/>
              </a:ext>
            </a:extLst>
          </p:cNvPr>
          <p:cNvGraphicFramePr>
            <a:graphicFrameLocks noGrp="1"/>
          </p:cNvGraphicFramePr>
          <p:nvPr>
            <p:extLst>
              <p:ext uri="{D42A27DB-BD31-4B8C-83A1-F6EECF244321}">
                <p14:modId xmlns:p14="http://schemas.microsoft.com/office/powerpoint/2010/main" val="2401375680"/>
              </p:ext>
            </p:extLst>
          </p:nvPr>
        </p:nvGraphicFramePr>
        <p:xfrm>
          <a:off x="177800" y="2811352"/>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6">
            <a:extLst>
              <a:ext uri="{FF2B5EF4-FFF2-40B4-BE49-F238E27FC236}">
                <a16:creationId xmlns:a16="http://schemas.microsoft.com/office/drawing/2014/main" id="{A7A71D93-ABE2-429F-8576-61090397B0B1}"/>
              </a:ext>
            </a:extLst>
          </p:cNvPr>
          <p:cNvGraphicFramePr>
            <a:graphicFrameLocks noGrp="1"/>
          </p:cNvGraphicFramePr>
          <p:nvPr>
            <p:extLst>
              <p:ext uri="{D42A27DB-BD31-4B8C-83A1-F6EECF244321}">
                <p14:modId xmlns:p14="http://schemas.microsoft.com/office/powerpoint/2010/main" val="3012026813"/>
              </p:ext>
            </p:extLst>
          </p:nvPr>
        </p:nvGraphicFramePr>
        <p:xfrm>
          <a:off x="3840480" y="2791558"/>
          <a:ext cx="3180080" cy="182880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10445">
                  <a:extLst>
                    <a:ext uri="{9D8B030D-6E8A-4147-A177-3AD203B41FA5}">
                      <a16:colId xmlns:a16="http://schemas.microsoft.com/office/drawing/2014/main" val="252318787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Min</a:t>
                      </a:r>
                      <a:endParaRPr lang="hi-IN"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8" name="TextBox 7">
            <a:extLst>
              <a:ext uri="{FF2B5EF4-FFF2-40B4-BE49-F238E27FC236}">
                <a16:creationId xmlns:a16="http://schemas.microsoft.com/office/drawing/2014/main" id="{8E4B49A0-9E43-4C50-8675-1197C97366AC}"/>
              </a:ext>
            </a:extLst>
          </p:cNvPr>
          <p:cNvSpPr txBox="1"/>
          <p:nvPr/>
        </p:nvSpPr>
        <p:spPr>
          <a:xfrm>
            <a:off x="7165340" y="1642159"/>
            <a:ext cx="1102360" cy="646331"/>
          </a:xfrm>
          <a:prstGeom prst="rect">
            <a:avLst/>
          </a:prstGeom>
          <a:noFill/>
        </p:spPr>
        <p:txBody>
          <a:bodyPr wrap="square" rtlCol="0">
            <a:spAutoFit/>
          </a:bodyPr>
          <a:lstStyle/>
          <a:p>
            <a:r>
              <a:rPr lang="en-US" b="1" dirty="0"/>
              <a:t>Reduce by row</a:t>
            </a:r>
            <a:endParaRPr lang="hi-IN" b="1" dirty="0"/>
          </a:p>
        </p:txBody>
      </p:sp>
      <p:sp>
        <p:nvSpPr>
          <p:cNvPr id="9" name="TextBox 8">
            <a:extLst>
              <a:ext uri="{FF2B5EF4-FFF2-40B4-BE49-F238E27FC236}">
                <a16:creationId xmlns:a16="http://schemas.microsoft.com/office/drawing/2014/main" id="{655296CB-F437-46A9-A2A7-93457B0439B7}"/>
              </a:ext>
            </a:extLst>
          </p:cNvPr>
          <p:cNvSpPr txBox="1"/>
          <p:nvPr/>
        </p:nvSpPr>
        <p:spPr>
          <a:xfrm>
            <a:off x="10443546" y="5135484"/>
            <a:ext cx="1353820" cy="646331"/>
          </a:xfrm>
          <a:prstGeom prst="rect">
            <a:avLst/>
          </a:prstGeom>
          <a:noFill/>
        </p:spPr>
        <p:txBody>
          <a:bodyPr wrap="square" rtlCol="0">
            <a:spAutoFit/>
          </a:bodyPr>
          <a:lstStyle/>
          <a:p>
            <a:r>
              <a:rPr lang="en-US" b="1" dirty="0"/>
              <a:t>Reduce by column</a:t>
            </a:r>
            <a:endParaRPr lang="hi-IN" b="1" dirty="0"/>
          </a:p>
        </p:txBody>
      </p:sp>
      <p:sp>
        <p:nvSpPr>
          <p:cNvPr id="10" name="Arrow: Right 9">
            <a:extLst>
              <a:ext uri="{FF2B5EF4-FFF2-40B4-BE49-F238E27FC236}">
                <a16:creationId xmlns:a16="http://schemas.microsoft.com/office/drawing/2014/main" id="{68D24F80-8C16-4CDD-9AE4-FAB8D8DAA522}"/>
              </a:ext>
            </a:extLst>
          </p:cNvPr>
          <p:cNvSpPr/>
          <p:nvPr/>
        </p:nvSpPr>
        <p:spPr>
          <a:xfrm>
            <a:off x="7034530" y="2397977"/>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1" name="Arrow: Down 10">
            <a:extLst>
              <a:ext uri="{FF2B5EF4-FFF2-40B4-BE49-F238E27FC236}">
                <a16:creationId xmlns:a16="http://schemas.microsoft.com/office/drawing/2014/main" id="{64211AFF-4871-410D-AE82-03C4151657A2}"/>
              </a:ext>
            </a:extLst>
          </p:cNvPr>
          <p:cNvSpPr/>
          <p:nvPr/>
        </p:nvSpPr>
        <p:spPr>
          <a:xfrm rot="1924878">
            <a:off x="10390206" y="4653950"/>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2" name="Table 11">
            <a:extLst>
              <a:ext uri="{FF2B5EF4-FFF2-40B4-BE49-F238E27FC236}">
                <a16:creationId xmlns:a16="http://schemas.microsoft.com/office/drawing/2014/main" id="{ACF61F84-857D-49F5-A057-A4D15E8F777A}"/>
              </a:ext>
            </a:extLst>
          </p:cNvPr>
          <p:cNvGraphicFramePr>
            <a:graphicFrameLocks noGrp="1"/>
          </p:cNvGraphicFramePr>
          <p:nvPr>
            <p:extLst>
              <p:ext uri="{D42A27DB-BD31-4B8C-83A1-F6EECF244321}">
                <p14:modId xmlns:p14="http://schemas.microsoft.com/office/powerpoint/2010/main" val="2864029915"/>
              </p:ext>
            </p:extLst>
          </p:nvPr>
        </p:nvGraphicFramePr>
        <p:xfrm>
          <a:off x="8168640" y="2612388"/>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r>
                        <a:rPr lang="en-US" b="1" dirty="0">
                          <a:solidFill>
                            <a:schemeClr val="tx1"/>
                          </a:solidFill>
                        </a:rPr>
                        <a:t>Min</a:t>
                      </a:r>
                      <a:endParaRPr lang="hi-IN"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9715164"/>
                  </a:ext>
                </a:extLst>
              </a:tr>
            </a:tbl>
          </a:graphicData>
        </a:graphic>
      </p:graphicFrame>
      <p:graphicFrame>
        <p:nvGraphicFramePr>
          <p:cNvPr id="13" name="Table 12">
            <a:extLst>
              <a:ext uri="{FF2B5EF4-FFF2-40B4-BE49-F238E27FC236}">
                <a16:creationId xmlns:a16="http://schemas.microsoft.com/office/drawing/2014/main" id="{D27ADEB2-CD97-4A14-83C6-800FBA53C3AA}"/>
              </a:ext>
            </a:extLst>
          </p:cNvPr>
          <p:cNvGraphicFramePr>
            <a:graphicFrameLocks noGrp="1"/>
          </p:cNvGraphicFramePr>
          <p:nvPr>
            <p:extLst>
              <p:ext uri="{D42A27DB-BD31-4B8C-83A1-F6EECF244321}">
                <p14:modId xmlns:p14="http://schemas.microsoft.com/office/powerpoint/2010/main" val="1147901400"/>
              </p:ext>
            </p:extLst>
          </p:nvPr>
        </p:nvGraphicFramePr>
        <p:xfrm>
          <a:off x="6941820" y="4920515"/>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14" name="Rectangle 13">
            <a:extLst>
              <a:ext uri="{FF2B5EF4-FFF2-40B4-BE49-F238E27FC236}">
                <a16:creationId xmlns:a16="http://schemas.microsoft.com/office/drawing/2014/main" id="{50B45B00-727F-4D8D-BBF6-EA0D4D282D0C}"/>
              </a:ext>
            </a:extLst>
          </p:cNvPr>
          <p:cNvSpPr/>
          <p:nvPr/>
        </p:nvSpPr>
        <p:spPr>
          <a:xfrm>
            <a:off x="515620" y="5263125"/>
            <a:ext cx="6096000" cy="923330"/>
          </a:xfrm>
          <a:prstGeom prst="rect">
            <a:avLst/>
          </a:prstGeom>
        </p:spPr>
        <p:txBody>
          <a:bodyPr>
            <a:spAutoFit/>
          </a:bodyPr>
          <a:lstStyle/>
          <a:p>
            <a:r>
              <a:rPr lang="en-US" b="1" dirty="0"/>
              <a:t>Cost of Node 2= Previous node Cost + Min of Row + Min of Col + cost of current link (i.e.) matrix[A,B]</a:t>
            </a:r>
          </a:p>
          <a:p>
            <a:r>
              <a:rPr lang="en-US" b="1" dirty="0"/>
              <a:t>               = 70 + 5 + 5 + 0 = 80</a:t>
            </a:r>
          </a:p>
        </p:txBody>
      </p:sp>
      <p:sp>
        <p:nvSpPr>
          <p:cNvPr id="15" name="Arrow: Right 14">
            <a:extLst>
              <a:ext uri="{FF2B5EF4-FFF2-40B4-BE49-F238E27FC236}">
                <a16:creationId xmlns:a16="http://schemas.microsoft.com/office/drawing/2014/main" id="{1D739C4E-C824-4787-A559-9EF14E8E8E62}"/>
              </a:ext>
            </a:extLst>
          </p:cNvPr>
          <p:cNvSpPr/>
          <p:nvPr/>
        </p:nvSpPr>
        <p:spPr>
          <a:xfrm>
            <a:off x="3326130" y="3599278"/>
            <a:ext cx="656590" cy="22088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6" name="Oval 15">
            <a:extLst>
              <a:ext uri="{FF2B5EF4-FFF2-40B4-BE49-F238E27FC236}">
                <a16:creationId xmlns:a16="http://schemas.microsoft.com/office/drawing/2014/main" id="{FF9F65D7-4271-4159-A8E0-EBA54F6FC31B}"/>
              </a:ext>
            </a:extLst>
          </p:cNvPr>
          <p:cNvSpPr/>
          <p:nvPr/>
        </p:nvSpPr>
        <p:spPr>
          <a:xfrm>
            <a:off x="6373249" y="2664459"/>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7" name="Oval 16">
            <a:extLst>
              <a:ext uri="{FF2B5EF4-FFF2-40B4-BE49-F238E27FC236}">
                <a16:creationId xmlns:a16="http://schemas.microsoft.com/office/drawing/2014/main" id="{916218DF-76E0-4082-B9AE-5E93222B6EF4}"/>
              </a:ext>
            </a:extLst>
          </p:cNvPr>
          <p:cNvSpPr/>
          <p:nvPr/>
        </p:nvSpPr>
        <p:spPr>
          <a:xfrm>
            <a:off x="7807960" y="4098370"/>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pic>
        <p:nvPicPr>
          <p:cNvPr id="18" name="Picture 17">
            <a:extLst>
              <a:ext uri="{FF2B5EF4-FFF2-40B4-BE49-F238E27FC236}">
                <a16:creationId xmlns:a16="http://schemas.microsoft.com/office/drawing/2014/main" id="{DE4552EC-3700-4F51-92BD-3FE518A9A463}"/>
              </a:ext>
            </a:extLst>
          </p:cNvPr>
          <p:cNvPicPr>
            <a:picLocks noChangeAspect="1"/>
          </p:cNvPicPr>
          <p:nvPr/>
        </p:nvPicPr>
        <p:blipFill>
          <a:blip r:embed="rId2"/>
          <a:stretch>
            <a:fillRect/>
          </a:stretch>
        </p:blipFill>
        <p:spPr>
          <a:xfrm>
            <a:off x="8514968" y="155126"/>
            <a:ext cx="3282398" cy="1556932"/>
          </a:xfrm>
          <a:prstGeom prst="rect">
            <a:avLst/>
          </a:prstGeom>
        </p:spPr>
      </p:pic>
    </p:spTree>
    <p:extLst>
      <p:ext uri="{BB962C8B-B14F-4D97-AF65-F5344CB8AC3E}">
        <p14:creationId xmlns:p14="http://schemas.microsoft.com/office/powerpoint/2010/main" val="448197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4" grpId="0"/>
      <p:bldP spid="15" grpId="0" animBg="1"/>
      <p:bldP spid="16" grpId="0" animBg="1"/>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2189-7552-4E33-9E7B-4DE20289BB36}"/>
              </a:ext>
            </a:extLst>
          </p:cNvPr>
          <p:cNvSpPr>
            <a:spLocks noGrp="1"/>
          </p:cNvSpPr>
          <p:nvPr>
            <p:ph type="title"/>
          </p:nvPr>
        </p:nvSpPr>
        <p:spPr/>
        <p:txBody>
          <a:bodyPr/>
          <a:lstStyle/>
          <a:p>
            <a:r>
              <a:rPr lang="en-US" b="1" dirty="0"/>
              <a:t>Example 2 : TSP -- </a:t>
            </a:r>
            <a:r>
              <a:rPr lang="en-US" b="1" dirty="0" err="1"/>
              <a:t>contd</a:t>
            </a:r>
            <a:endParaRPr lang="hi-IN" dirty="0"/>
          </a:p>
        </p:txBody>
      </p:sp>
      <p:sp>
        <p:nvSpPr>
          <p:cNvPr id="3" name="Content Placeholder 2">
            <a:extLst>
              <a:ext uri="{FF2B5EF4-FFF2-40B4-BE49-F238E27FC236}">
                <a16:creationId xmlns:a16="http://schemas.microsoft.com/office/drawing/2014/main" id="{37C055A1-8DCE-40BD-96BE-DC0349835FE9}"/>
              </a:ext>
            </a:extLst>
          </p:cNvPr>
          <p:cNvSpPr>
            <a:spLocks noGrp="1"/>
          </p:cNvSpPr>
          <p:nvPr>
            <p:ph idx="1"/>
          </p:nvPr>
        </p:nvSpPr>
        <p:spPr/>
        <p:txBody>
          <a:bodyPr/>
          <a:lstStyle/>
          <a:p>
            <a:r>
              <a:rPr lang="en-US" dirty="0"/>
              <a:t>Now exploring A—C path</a:t>
            </a:r>
          </a:p>
          <a:p>
            <a:pPr lvl="1"/>
            <a:r>
              <a:rPr lang="en-US" sz="2000" dirty="0"/>
              <a:t>The cost matrix of node A becomes…</a:t>
            </a:r>
            <a:endParaRPr lang="hi-IN" sz="2000" dirty="0"/>
          </a:p>
        </p:txBody>
      </p:sp>
      <p:sp>
        <p:nvSpPr>
          <p:cNvPr id="4" name="Footer Placeholder 3">
            <a:extLst>
              <a:ext uri="{FF2B5EF4-FFF2-40B4-BE49-F238E27FC236}">
                <a16:creationId xmlns:a16="http://schemas.microsoft.com/office/drawing/2014/main" id="{3FBCE2A8-CF2B-4146-9CF1-F8A6DCA76137}"/>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1DC7713-BE6D-4807-8365-0ED01742EAAF}"/>
              </a:ext>
            </a:extLst>
          </p:cNvPr>
          <p:cNvSpPr>
            <a:spLocks noGrp="1"/>
          </p:cNvSpPr>
          <p:nvPr>
            <p:ph type="sldNum" sz="quarter" idx="12"/>
          </p:nvPr>
        </p:nvSpPr>
        <p:spPr/>
        <p:txBody>
          <a:bodyPr/>
          <a:lstStyle/>
          <a:p>
            <a:fld id="{F56F9007-E0C6-489E-B603-BD6BB4385429}" type="slidenum">
              <a:rPr lang="hi-IN" smtClean="0"/>
              <a:t>34</a:t>
            </a:fld>
            <a:endParaRPr lang="hi-IN"/>
          </a:p>
        </p:txBody>
      </p:sp>
      <p:graphicFrame>
        <p:nvGraphicFramePr>
          <p:cNvPr id="6" name="Table 5">
            <a:extLst>
              <a:ext uri="{FF2B5EF4-FFF2-40B4-BE49-F238E27FC236}">
                <a16:creationId xmlns:a16="http://schemas.microsoft.com/office/drawing/2014/main" id="{D6F50D1C-6C10-4DEE-B1F2-B7F70D225F30}"/>
              </a:ext>
            </a:extLst>
          </p:cNvPr>
          <p:cNvGraphicFramePr>
            <a:graphicFrameLocks noGrp="1"/>
          </p:cNvGraphicFramePr>
          <p:nvPr>
            <p:extLst>
              <p:ext uri="{D42A27DB-BD31-4B8C-83A1-F6EECF244321}">
                <p14:modId xmlns:p14="http://schemas.microsoft.com/office/powerpoint/2010/main" val="730675680"/>
              </p:ext>
            </p:extLst>
          </p:nvPr>
        </p:nvGraphicFramePr>
        <p:xfrm>
          <a:off x="177800" y="2811352"/>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6">
            <a:extLst>
              <a:ext uri="{FF2B5EF4-FFF2-40B4-BE49-F238E27FC236}">
                <a16:creationId xmlns:a16="http://schemas.microsoft.com/office/drawing/2014/main" id="{A7A71D93-ABE2-429F-8576-61090397B0B1}"/>
              </a:ext>
            </a:extLst>
          </p:cNvPr>
          <p:cNvGraphicFramePr>
            <a:graphicFrameLocks noGrp="1"/>
          </p:cNvGraphicFramePr>
          <p:nvPr>
            <p:extLst>
              <p:ext uri="{D42A27DB-BD31-4B8C-83A1-F6EECF244321}">
                <p14:modId xmlns:p14="http://schemas.microsoft.com/office/powerpoint/2010/main" val="2709327061"/>
              </p:ext>
            </p:extLst>
          </p:nvPr>
        </p:nvGraphicFramePr>
        <p:xfrm>
          <a:off x="3840480" y="2791558"/>
          <a:ext cx="3180080" cy="182880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10445">
                  <a:extLst>
                    <a:ext uri="{9D8B030D-6E8A-4147-A177-3AD203B41FA5}">
                      <a16:colId xmlns:a16="http://schemas.microsoft.com/office/drawing/2014/main" val="252318787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Min</a:t>
                      </a:r>
                      <a:endParaRPr lang="hi-IN"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8" name="TextBox 7">
            <a:extLst>
              <a:ext uri="{FF2B5EF4-FFF2-40B4-BE49-F238E27FC236}">
                <a16:creationId xmlns:a16="http://schemas.microsoft.com/office/drawing/2014/main" id="{8E4B49A0-9E43-4C50-8675-1197C97366AC}"/>
              </a:ext>
            </a:extLst>
          </p:cNvPr>
          <p:cNvSpPr txBox="1"/>
          <p:nvPr/>
        </p:nvSpPr>
        <p:spPr>
          <a:xfrm>
            <a:off x="7165340" y="1642159"/>
            <a:ext cx="1102360" cy="646331"/>
          </a:xfrm>
          <a:prstGeom prst="rect">
            <a:avLst/>
          </a:prstGeom>
          <a:noFill/>
        </p:spPr>
        <p:txBody>
          <a:bodyPr wrap="square" rtlCol="0">
            <a:spAutoFit/>
          </a:bodyPr>
          <a:lstStyle/>
          <a:p>
            <a:r>
              <a:rPr lang="en-US" b="1" dirty="0"/>
              <a:t>Reduce by row</a:t>
            </a:r>
            <a:endParaRPr lang="hi-IN" b="1" dirty="0"/>
          </a:p>
        </p:txBody>
      </p:sp>
      <p:sp>
        <p:nvSpPr>
          <p:cNvPr id="9" name="TextBox 8">
            <a:extLst>
              <a:ext uri="{FF2B5EF4-FFF2-40B4-BE49-F238E27FC236}">
                <a16:creationId xmlns:a16="http://schemas.microsoft.com/office/drawing/2014/main" id="{655296CB-F437-46A9-A2A7-93457B0439B7}"/>
              </a:ext>
            </a:extLst>
          </p:cNvPr>
          <p:cNvSpPr txBox="1"/>
          <p:nvPr/>
        </p:nvSpPr>
        <p:spPr>
          <a:xfrm>
            <a:off x="10443546" y="5135484"/>
            <a:ext cx="1353820" cy="646331"/>
          </a:xfrm>
          <a:prstGeom prst="rect">
            <a:avLst/>
          </a:prstGeom>
          <a:noFill/>
        </p:spPr>
        <p:txBody>
          <a:bodyPr wrap="square" rtlCol="0">
            <a:spAutoFit/>
          </a:bodyPr>
          <a:lstStyle/>
          <a:p>
            <a:r>
              <a:rPr lang="en-US" b="1" dirty="0"/>
              <a:t>Reduce by column</a:t>
            </a:r>
            <a:endParaRPr lang="hi-IN" b="1" dirty="0"/>
          </a:p>
        </p:txBody>
      </p:sp>
      <p:sp>
        <p:nvSpPr>
          <p:cNvPr id="10" name="Arrow: Right 9">
            <a:extLst>
              <a:ext uri="{FF2B5EF4-FFF2-40B4-BE49-F238E27FC236}">
                <a16:creationId xmlns:a16="http://schemas.microsoft.com/office/drawing/2014/main" id="{68D24F80-8C16-4CDD-9AE4-FAB8D8DAA522}"/>
              </a:ext>
            </a:extLst>
          </p:cNvPr>
          <p:cNvSpPr/>
          <p:nvPr/>
        </p:nvSpPr>
        <p:spPr>
          <a:xfrm>
            <a:off x="7034530" y="2397977"/>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1" name="Arrow: Down 10">
            <a:extLst>
              <a:ext uri="{FF2B5EF4-FFF2-40B4-BE49-F238E27FC236}">
                <a16:creationId xmlns:a16="http://schemas.microsoft.com/office/drawing/2014/main" id="{64211AFF-4871-410D-AE82-03C4151657A2}"/>
              </a:ext>
            </a:extLst>
          </p:cNvPr>
          <p:cNvSpPr/>
          <p:nvPr/>
        </p:nvSpPr>
        <p:spPr>
          <a:xfrm rot="1924878">
            <a:off x="10390206" y="4653950"/>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2" name="Table 11">
            <a:extLst>
              <a:ext uri="{FF2B5EF4-FFF2-40B4-BE49-F238E27FC236}">
                <a16:creationId xmlns:a16="http://schemas.microsoft.com/office/drawing/2014/main" id="{ACF61F84-857D-49F5-A057-A4D15E8F777A}"/>
              </a:ext>
            </a:extLst>
          </p:cNvPr>
          <p:cNvGraphicFramePr>
            <a:graphicFrameLocks noGrp="1"/>
          </p:cNvGraphicFramePr>
          <p:nvPr>
            <p:extLst>
              <p:ext uri="{D42A27DB-BD31-4B8C-83A1-F6EECF244321}">
                <p14:modId xmlns:p14="http://schemas.microsoft.com/office/powerpoint/2010/main" val="1380353340"/>
              </p:ext>
            </p:extLst>
          </p:nvPr>
        </p:nvGraphicFramePr>
        <p:xfrm>
          <a:off x="8168640" y="2612388"/>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r>
                        <a:rPr lang="en-US" b="1" dirty="0">
                          <a:solidFill>
                            <a:schemeClr val="tx1"/>
                          </a:solidFill>
                        </a:rPr>
                        <a:t>Min</a:t>
                      </a:r>
                      <a:endParaRPr lang="hi-IN"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9715164"/>
                  </a:ext>
                </a:extLst>
              </a:tr>
            </a:tbl>
          </a:graphicData>
        </a:graphic>
      </p:graphicFrame>
      <p:graphicFrame>
        <p:nvGraphicFramePr>
          <p:cNvPr id="13" name="Table 12">
            <a:extLst>
              <a:ext uri="{FF2B5EF4-FFF2-40B4-BE49-F238E27FC236}">
                <a16:creationId xmlns:a16="http://schemas.microsoft.com/office/drawing/2014/main" id="{D27ADEB2-CD97-4A14-83C6-800FBA53C3AA}"/>
              </a:ext>
            </a:extLst>
          </p:cNvPr>
          <p:cNvGraphicFramePr>
            <a:graphicFrameLocks noGrp="1"/>
          </p:cNvGraphicFramePr>
          <p:nvPr>
            <p:extLst>
              <p:ext uri="{D42A27DB-BD31-4B8C-83A1-F6EECF244321}">
                <p14:modId xmlns:p14="http://schemas.microsoft.com/office/powerpoint/2010/main" val="1621288426"/>
              </p:ext>
            </p:extLst>
          </p:nvPr>
        </p:nvGraphicFramePr>
        <p:xfrm>
          <a:off x="6941820" y="4920515"/>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14" name="Rectangle 13">
            <a:extLst>
              <a:ext uri="{FF2B5EF4-FFF2-40B4-BE49-F238E27FC236}">
                <a16:creationId xmlns:a16="http://schemas.microsoft.com/office/drawing/2014/main" id="{50B45B00-727F-4D8D-BBF6-EA0D4D282D0C}"/>
              </a:ext>
            </a:extLst>
          </p:cNvPr>
          <p:cNvSpPr/>
          <p:nvPr/>
        </p:nvSpPr>
        <p:spPr>
          <a:xfrm>
            <a:off x="515620" y="5263125"/>
            <a:ext cx="6096000" cy="923330"/>
          </a:xfrm>
          <a:prstGeom prst="rect">
            <a:avLst/>
          </a:prstGeom>
        </p:spPr>
        <p:txBody>
          <a:bodyPr>
            <a:spAutoFit/>
          </a:bodyPr>
          <a:lstStyle/>
          <a:p>
            <a:r>
              <a:rPr lang="en-US" b="1" dirty="0"/>
              <a:t>Cost of Node 3= Previous node Cost + Min of Row + Min of Col + cost of current link (i.e.) matrix[A,C] </a:t>
            </a:r>
          </a:p>
          <a:p>
            <a:r>
              <a:rPr lang="en-US" b="1" dirty="0"/>
              <a:t>              = 70 + 5 + 5 + 0 = 80</a:t>
            </a:r>
          </a:p>
        </p:txBody>
      </p:sp>
      <p:sp>
        <p:nvSpPr>
          <p:cNvPr id="15" name="Arrow: Right 14">
            <a:extLst>
              <a:ext uri="{FF2B5EF4-FFF2-40B4-BE49-F238E27FC236}">
                <a16:creationId xmlns:a16="http://schemas.microsoft.com/office/drawing/2014/main" id="{328FA424-608B-4939-9533-89A1388B914C}"/>
              </a:ext>
            </a:extLst>
          </p:cNvPr>
          <p:cNvSpPr/>
          <p:nvPr/>
        </p:nvSpPr>
        <p:spPr>
          <a:xfrm>
            <a:off x="3326130" y="3599278"/>
            <a:ext cx="656590" cy="22088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6" name="Oval 15">
            <a:extLst>
              <a:ext uri="{FF2B5EF4-FFF2-40B4-BE49-F238E27FC236}">
                <a16:creationId xmlns:a16="http://schemas.microsoft.com/office/drawing/2014/main" id="{A75D6EC1-9A58-4791-B092-F8EB87DCC50D}"/>
              </a:ext>
            </a:extLst>
          </p:cNvPr>
          <p:cNvSpPr/>
          <p:nvPr/>
        </p:nvSpPr>
        <p:spPr>
          <a:xfrm>
            <a:off x="6373249" y="2664459"/>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7" name="Oval 16">
            <a:extLst>
              <a:ext uri="{FF2B5EF4-FFF2-40B4-BE49-F238E27FC236}">
                <a16:creationId xmlns:a16="http://schemas.microsoft.com/office/drawing/2014/main" id="{47465BCD-E29F-4AB0-8CA4-F829A0A74966}"/>
              </a:ext>
            </a:extLst>
          </p:cNvPr>
          <p:cNvSpPr/>
          <p:nvPr/>
        </p:nvSpPr>
        <p:spPr>
          <a:xfrm>
            <a:off x="7807960" y="4098370"/>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pic>
        <p:nvPicPr>
          <p:cNvPr id="18" name="Picture 17">
            <a:extLst>
              <a:ext uri="{FF2B5EF4-FFF2-40B4-BE49-F238E27FC236}">
                <a16:creationId xmlns:a16="http://schemas.microsoft.com/office/drawing/2014/main" id="{038B9849-E48A-417A-9295-3127A4F5CD76}"/>
              </a:ext>
            </a:extLst>
          </p:cNvPr>
          <p:cNvPicPr>
            <a:picLocks noChangeAspect="1"/>
          </p:cNvPicPr>
          <p:nvPr/>
        </p:nvPicPr>
        <p:blipFill>
          <a:blip r:embed="rId2"/>
          <a:stretch>
            <a:fillRect/>
          </a:stretch>
        </p:blipFill>
        <p:spPr>
          <a:xfrm>
            <a:off x="8514968" y="155126"/>
            <a:ext cx="3282398" cy="1556932"/>
          </a:xfrm>
          <a:prstGeom prst="rect">
            <a:avLst/>
          </a:prstGeom>
        </p:spPr>
      </p:pic>
    </p:spTree>
    <p:extLst>
      <p:ext uri="{BB962C8B-B14F-4D97-AF65-F5344CB8AC3E}">
        <p14:creationId xmlns:p14="http://schemas.microsoft.com/office/powerpoint/2010/main" val="606583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4" grpId="0"/>
      <p:bldP spid="15" grpId="0" animBg="1"/>
      <p:bldP spid="16" grpId="0" animBg="1"/>
      <p:bldP spid="1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2189-7552-4E33-9E7B-4DE20289BB36}"/>
              </a:ext>
            </a:extLst>
          </p:cNvPr>
          <p:cNvSpPr>
            <a:spLocks noGrp="1"/>
          </p:cNvSpPr>
          <p:nvPr>
            <p:ph type="title"/>
          </p:nvPr>
        </p:nvSpPr>
        <p:spPr/>
        <p:txBody>
          <a:bodyPr/>
          <a:lstStyle/>
          <a:p>
            <a:r>
              <a:rPr lang="en-US" b="1" dirty="0"/>
              <a:t>Example 2 : TSP -- </a:t>
            </a:r>
            <a:r>
              <a:rPr lang="en-US" b="1" dirty="0" err="1"/>
              <a:t>contd</a:t>
            </a:r>
            <a:endParaRPr lang="hi-IN" dirty="0"/>
          </a:p>
        </p:txBody>
      </p:sp>
      <p:sp>
        <p:nvSpPr>
          <p:cNvPr id="3" name="Content Placeholder 2">
            <a:extLst>
              <a:ext uri="{FF2B5EF4-FFF2-40B4-BE49-F238E27FC236}">
                <a16:creationId xmlns:a16="http://schemas.microsoft.com/office/drawing/2014/main" id="{37C055A1-8DCE-40BD-96BE-DC0349835FE9}"/>
              </a:ext>
            </a:extLst>
          </p:cNvPr>
          <p:cNvSpPr>
            <a:spLocks noGrp="1"/>
          </p:cNvSpPr>
          <p:nvPr>
            <p:ph idx="1"/>
          </p:nvPr>
        </p:nvSpPr>
        <p:spPr/>
        <p:txBody>
          <a:bodyPr/>
          <a:lstStyle/>
          <a:p>
            <a:r>
              <a:rPr lang="en-US" dirty="0"/>
              <a:t>Now exploring A—D path</a:t>
            </a:r>
          </a:p>
          <a:p>
            <a:pPr lvl="1"/>
            <a:r>
              <a:rPr lang="en-US" dirty="0"/>
              <a:t>The cost matrix of node A becomes…</a:t>
            </a:r>
            <a:endParaRPr lang="hi-IN" dirty="0"/>
          </a:p>
        </p:txBody>
      </p:sp>
      <p:sp>
        <p:nvSpPr>
          <p:cNvPr id="4" name="Footer Placeholder 3">
            <a:extLst>
              <a:ext uri="{FF2B5EF4-FFF2-40B4-BE49-F238E27FC236}">
                <a16:creationId xmlns:a16="http://schemas.microsoft.com/office/drawing/2014/main" id="{3FBCE2A8-CF2B-4146-9CF1-F8A6DCA76137}"/>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1DC7713-BE6D-4807-8365-0ED01742EAAF}"/>
              </a:ext>
            </a:extLst>
          </p:cNvPr>
          <p:cNvSpPr>
            <a:spLocks noGrp="1"/>
          </p:cNvSpPr>
          <p:nvPr>
            <p:ph type="sldNum" sz="quarter" idx="12"/>
          </p:nvPr>
        </p:nvSpPr>
        <p:spPr/>
        <p:txBody>
          <a:bodyPr/>
          <a:lstStyle/>
          <a:p>
            <a:fld id="{F56F9007-E0C6-489E-B603-BD6BB4385429}" type="slidenum">
              <a:rPr lang="hi-IN" smtClean="0"/>
              <a:t>35</a:t>
            </a:fld>
            <a:endParaRPr lang="hi-IN"/>
          </a:p>
        </p:txBody>
      </p:sp>
      <p:graphicFrame>
        <p:nvGraphicFramePr>
          <p:cNvPr id="6" name="Table 5">
            <a:extLst>
              <a:ext uri="{FF2B5EF4-FFF2-40B4-BE49-F238E27FC236}">
                <a16:creationId xmlns:a16="http://schemas.microsoft.com/office/drawing/2014/main" id="{D6F50D1C-6C10-4DEE-B1F2-B7F70D225F30}"/>
              </a:ext>
            </a:extLst>
          </p:cNvPr>
          <p:cNvGraphicFramePr>
            <a:graphicFrameLocks noGrp="1"/>
          </p:cNvGraphicFramePr>
          <p:nvPr>
            <p:extLst>
              <p:ext uri="{D42A27DB-BD31-4B8C-83A1-F6EECF244321}">
                <p14:modId xmlns:p14="http://schemas.microsoft.com/office/powerpoint/2010/main" val="1927697083"/>
              </p:ext>
            </p:extLst>
          </p:nvPr>
        </p:nvGraphicFramePr>
        <p:xfrm>
          <a:off x="177800" y="2811352"/>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6">
            <a:extLst>
              <a:ext uri="{FF2B5EF4-FFF2-40B4-BE49-F238E27FC236}">
                <a16:creationId xmlns:a16="http://schemas.microsoft.com/office/drawing/2014/main" id="{A7A71D93-ABE2-429F-8576-61090397B0B1}"/>
              </a:ext>
            </a:extLst>
          </p:cNvPr>
          <p:cNvGraphicFramePr>
            <a:graphicFrameLocks noGrp="1"/>
          </p:cNvGraphicFramePr>
          <p:nvPr>
            <p:extLst>
              <p:ext uri="{D42A27DB-BD31-4B8C-83A1-F6EECF244321}">
                <p14:modId xmlns:p14="http://schemas.microsoft.com/office/powerpoint/2010/main" val="2504376900"/>
              </p:ext>
            </p:extLst>
          </p:nvPr>
        </p:nvGraphicFramePr>
        <p:xfrm>
          <a:off x="3840480" y="2791558"/>
          <a:ext cx="3180080" cy="182880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10445">
                  <a:extLst>
                    <a:ext uri="{9D8B030D-6E8A-4147-A177-3AD203B41FA5}">
                      <a16:colId xmlns:a16="http://schemas.microsoft.com/office/drawing/2014/main" val="252318787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Min</a:t>
                      </a:r>
                      <a:endParaRPr lang="hi-IN"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8" name="TextBox 7">
            <a:extLst>
              <a:ext uri="{FF2B5EF4-FFF2-40B4-BE49-F238E27FC236}">
                <a16:creationId xmlns:a16="http://schemas.microsoft.com/office/drawing/2014/main" id="{8E4B49A0-9E43-4C50-8675-1197C97366AC}"/>
              </a:ext>
            </a:extLst>
          </p:cNvPr>
          <p:cNvSpPr txBox="1"/>
          <p:nvPr/>
        </p:nvSpPr>
        <p:spPr>
          <a:xfrm>
            <a:off x="7165340" y="1642159"/>
            <a:ext cx="1102360" cy="646331"/>
          </a:xfrm>
          <a:prstGeom prst="rect">
            <a:avLst/>
          </a:prstGeom>
          <a:noFill/>
        </p:spPr>
        <p:txBody>
          <a:bodyPr wrap="square" rtlCol="0">
            <a:spAutoFit/>
          </a:bodyPr>
          <a:lstStyle/>
          <a:p>
            <a:r>
              <a:rPr lang="en-US" b="1" dirty="0"/>
              <a:t>Reduce by row</a:t>
            </a:r>
            <a:endParaRPr lang="hi-IN" b="1" dirty="0"/>
          </a:p>
        </p:txBody>
      </p:sp>
      <p:sp>
        <p:nvSpPr>
          <p:cNvPr id="9" name="TextBox 8">
            <a:extLst>
              <a:ext uri="{FF2B5EF4-FFF2-40B4-BE49-F238E27FC236}">
                <a16:creationId xmlns:a16="http://schemas.microsoft.com/office/drawing/2014/main" id="{655296CB-F437-46A9-A2A7-93457B0439B7}"/>
              </a:ext>
            </a:extLst>
          </p:cNvPr>
          <p:cNvSpPr txBox="1"/>
          <p:nvPr/>
        </p:nvSpPr>
        <p:spPr>
          <a:xfrm>
            <a:off x="10443546" y="5135484"/>
            <a:ext cx="1353820" cy="646331"/>
          </a:xfrm>
          <a:prstGeom prst="rect">
            <a:avLst/>
          </a:prstGeom>
          <a:noFill/>
        </p:spPr>
        <p:txBody>
          <a:bodyPr wrap="square" rtlCol="0">
            <a:spAutoFit/>
          </a:bodyPr>
          <a:lstStyle/>
          <a:p>
            <a:r>
              <a:rPr lang="en-US" b="1" dirty="0"/>
              <a:t>Reduce by column</a:t>
            </a:r>
            <a:endParaRPr lang="hi-IN" b="1" dirty="0"/>
          </a:p>
        </p:txBody>
      </p:sp>
      <p:sp>
        <p:nvSpPr>
          <p:cNvPr id="10" name="Arrow: Right 9">
            <a:extLst>
              <a:ext uri="{FF2B5EF4-FFF2-40B4-BE49-F238E27FC236}">
                <a16:creationId xmlns:a16="http://schemas.microsoft.com/office/drawing/2014/main" id="{68D24F80-8C16-4CDD-9AE4-FAB8D8DAA522}"/>
              </a:ext>
            </a:extLst>
          </p:cNvPr>
          <p:cNvSpPr/>
          <p:nvPr/>
        </p:nvSpPr>
        <p:spPr>
          <a:xfrm>
            <a:off x="7034530" y="2397977"/>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1" name="Arrow: Down 10">
            <a:extLst>
              <a:ext uri="{FF2B5EF4-FFF2-40B4-BE49-F238E27FC236}">
                <a16:creationId xmlns:a16="http://schemas.microsoft.com/office/drawing/2014/main" id="{64211AFF-4871-410D-AE82-03C4151657A2}"/>
              </a:ext>
            </a:extLst>
          </p:cNvPr>
          <p:cNvSpPr/>
          <p:nvPr/>
        </p:nvSpPr>
        <p:spPr>
          <a:xfrm rot="1924878">
            <a:off x="10390206" y="4653950"/>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2" name="Table 11">
            <a:extLst>
              <a:ext uri="{FF2B5EF4-FFF2-40B4-BE49-F238E27FC236}">
                <a16:creationId xmlns:a16="http://schemas.microsoft.com/office/drawing/2014/main" id="{ACF61F84-857D-49F5-A057-A4D15E8F777A}"/>
              </a:ext>
            </a:extLst>
          </p:cNvPr>
          <p:cNvGraphicFramePr>
            <a:graphicFrameLocks noGrp="1"/>
          </p:cNvGraphicFramePr>
          <p:nvPr>
            <p:extLst>
              <p:ext uri="{D42A27DB-BD31-4B8C-83A1-F6EECF244321}">
                <p14:modId xmlns:p14="http://schemas.microsoft.com/office/powerpoint/2010/main" val="793441922"/>
              </p:ext>
            </p:extLst>
          </p:nvPr>
        </p:nvGraphicFramePr>
        <p:xfrm>
          <a:off x="8168640" y="2612388"/>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endParaRPr lang="hi-IN"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9715164"/>
                  </a:ext>
                </a:extLst>
              </a:tr>
            </a:tbl>
          </a:graphicData>
        </a:graphic>
      </p:graphicFrame>
      <p:graphicFrame>
        <p:nvGraphicFramePr>
          <p:cNvPr id="13" name="Table 12">
            <a:extLst>
              <a:ext uri="{FF2B5EF4-FFF2-40B4-BE49-F238E27FC236}">
                <a16:creationId xmlns:a16="http://schemas.microsoft.com/office/drawing/2014/main" id="{D27ADEB2-CD97-4A14-83C6-800FBA53C3AA}"/>
              </a:ext>
            </a:extLst>
          </p:cNvPr>
          <p:cNvGraphicFramePr>
            <a:graphicFrameLocks noGrp="1"/>
          </p:cNvGraphicFramePr>
          <p:nvPr>
            <p:extLst>
              <p:ext uri="{D42A27DB-BD31-4B8C-83A1-F6EECF244321}">
                <p14:modId xmlns:p14="http://schemas.microsoft.com/office/powerpoint/2010/main" val="1077287024"/>
              </p:ext>
            </p:extLst>
          </p:nvPr>
        </p:nvGraphicFramePr>
        <p:xfrm>
          <a:off x="6941820" y="4920515"/>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14" name="Rectangle 13">
            <a:extLst>
              <a:ext uri="{FF2B5EF4-FFF2-40B4-BE49-F238E27FC236}">
                <a16:creationId xmlns:a16="http://schemas.microsoft.com/office/drawing/2014/main" id="{50B45B00-727F-4D8D-BBF6-EA0D4D282D0C}"/>
              </a:ext>
            </a:extLst>
          </p:cNvPr>
          <p:cNvSpPr/>
          <p:nvPr/>
        </p:nvSpPr>
        <p:spPr>
          <a:xfrm>
            <a:off x="515620" y="5263125"/>
            <a:ext cx="6096000" cy="923330"/>
          </a:xfrm>
          <a:prstGeom prst="rect">
            <a:avLst/>
          </a:prstGeom>
        </p:spPr>
        <p:txBody>
          <a:bodyPr>
            <a:spAutoFit/>
          </a:bodyPr>
          <a:lstStyle/>
          <a:p>
            <a:r>
              <a:rPr lang="en-US" b="1" dirty="0"/>
              <a:t>Cost of Node 4= Previous node Cost + Min of Row + Min of Col + cost of current link (i.e.) matrix[A,D] </a:t>
            </a:r>
          </a:p>
          <a:p>
            <a:r>
              <a:rPr lang="en-US" b="1" dirty="0"/>
              <a:t>                      = 70 + 5 + 0 + 0 =75</a:t>
            </a:r>
          </a:p>
        </p:txBody>
      </p:sp>
      <p:sp>
        <p:nvSpPr>
          <p:cNvPr id="15" name="Arrow: Right 14">
            <a:extLst>
              <a:ext uri="{FF2B5EF4-FFF2-40B4-BE49-F238E27FC236}">
                <a16:creationId xmlns:a16="http://schemas.microsoft.com/office/drawing/2014/main" id="{328FA424-608B-4939-9533-89A1388B914C}"/>
              </a:ext>
            </a:extLst>
          </p:cNvPr>
          <p:cNvSpPr/>
          <p:nvPr/>
        </p:nvSpPr>
        <p:spPr>
          <a:xfrm>
            <a:off x="3326130" y="3599278"/>
            <a:ext cx="656590" cy="22088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6" name="Oval 15">
            <a:extLst>
              <a:ext uri="{FF2B5EF4-FFF2-40B4-BE49-F238E27FC236}">
                <a16:creationId xmlns:a16="http://schemas.microsoft.com/office/drawing/2014/main" id="{0871E751-03FC-4528-B9BE-A8E6947FE464}"/>
              </a:ext>
            </a:extLst>
          </p:cNvPr>
          <p:cNvSpPr/>
          <p:nvPr/>
        </p:nvSpPr>
        <p:spPr>
          <a:xfrm>
            <a:off x="6373249" y="2664459"/>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7" name="Oval 16">
            <a:extLst>
              <a:ext uri="{FF2B5EF4-FFF2-40B4-BE49-F238E27FC236}">
                <a16:creationId xmlns:a16="http://schemas.microsoft.com/office/drawing/2014/main" id="{CAFFA91A-B555-4EA1-BA9B-52994432C76F}"/>
              </a:ext>
            </a:extLst>
          </p:cNvPr>
          <p:cNvSpPr/>
          <p:nvPr/>
        </p:nvSpPr>
        <p:spPr>
          <a:xfrm>
            <a:off x="7807960" y="4098370"/>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pic>
        <p:nvPicPr>
          <p:cNvPr id="18" name="Picture 17">
            <a:extLst>
              <a:ext uri="{FF2B5EF4-FFF2-40B4-BE49-F238E27FC236}">
                <a16:creationId xmlns:a16="http://schemas.microsoft.com/office/drawing/2014/main" id="{0E9F8071-3AA7-4B22-AEF6-C5A999568D11}"/>
              </a:ext>
            </a:extLst>
          </p:cNvPr>
          <p:cNvPicPr>
            <a:picLocks noChangeAspect="1"/>
          </p:cNvPicPr>
          <p:nvPr/>
        </p:nvPicPr>
        <p:blipFill>
          <a:blip r:embed="rId2"/>
          <a:stretch>
            <a:fillRect/>
          </a:stretch>
        </p:blipFill>
        <p:spPr>
          <a:xfrm>
            <a:off x="8514968" y="155126"/>
            <a:ext cx="3282398" cy="1556932"/>
          </a:xfrm>
          <a:prstGeom prst="rect">
            <a:avLst/>
          </a:prstGeom>
        </p:spPr>
      </p:pic>
    </p:spTree>
    <p:extLst>
      <p:ext uri="{BB962C8B-B14F-4D97-AF65-F5344CB8AC3E}">
        <p14:creationId xmlns:p14="http://schemas.microsoft.com/office/powerpoint/2010/main" val="78994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4" grpId="0"/>
      <p:bldP spid="15" grpId="0" animBg="1"/>
      <p:bldP spid="16" grpId="0" animBg="1"/>
      <p:bldP spid="1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B037F5EE-8177-4F04-BEC6-0FF42BDB30F4}"/>
              </a:ext>
            </a:extLst>
          </p:cNvPr>
          <p:cNvGrpSpPr/>
          <p:nvPr/>
        </p:nvGrpSpPr>
        <p:grpSpPr>
          <a:xfrm>
            <a:off x="9802610" y="235938"/>
            <a:ext cx="2207111" cy="1443004"/>
            <a:chOff x="2122170" y="2053825"/>
            <a:chExt cx="3314700" cy="2491270"/>
          </a:xfrm>
        </p:grpSpPr>
        <p:pic>
          <p:nvPicPr>
            <p:cNvPr id="27" name="Picture 2">
              <a:extLst>
                <a:ext uri="{FF2B5EF4-FFF2-40B4-BE49-F238E27FC236}">
                  <a16:creationId xmlns:a16="http://schemas.microsoft.com/office/drawing/2014/main" id="{02458F63-4B01-4808-8C98-12ECA7FE2C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170" y="2053825"/>
              <a:ext cx="3314700" cy="2491270"/>
            </a:xfrm>
            <a:prstGeom prst="rect">
              <a:avLst/>
            </a:prstGeom>
            <a:noFill/>
            <a:extLst>
              <a:ext uri="{909E8E84-426E-40DD-AFC4-6F175D3DCCD1}">
                <a14:hiddenFill xmlns:a14="http://schemas.microsoft.com/office/drawing/2010/main">
                  <a:solidFill>
                    <a:srgbClr val="FFFFFF"/>
                  </a:solidFill>
                </a14:hiddenFill>
              </a:ext>
            </a:extLst>
          </p:spPr>
        </p:pic>
        <p:sp>
          <p:nvSpPr>
            <p:cNvPr id="32" name="Oval 31">
              <a:extLst>
                <a:ext uri="{FF2B5EF4-FFF2-40B4-BE49-F238E27FC236}">
                  <a16:creationId xmlns:a16="http://schemas.microsoft.com/office/drawing/2014/main" id="{E65CA171-765A-4D69-BDD5-35017F87D93D}"/>
                </a:ext>
              </a:extLst>
            </p:cNvPr>
            <p:cNvSpPr/>
            <p:nvPr/>
          </p:nvSpPr>
          <p:spPr>
            <a:xfrm>
              <a:off x="3703321" y="2119141"/>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a:t>
              </a:r>
              <a:endParaRPr lang="hi-IN" b="1" dirty="0">
                <a:ln w="0"/>
                <a:solidFill>
                  <a:schemeClr val="tx1"/>
                </a:solidFill>
                <a:effectLst>
                  <a:outerShdw blurRad="38100" dist="19050" dir="2700000" algn="tl" rotWithShape="0">
                    <a:schemeClr val="dk1">
                      <a:alpha val="40000"/>
                    </a:schemeClr>
                  </a:outerShdw>
                </a:effectLst>
              </a:endParaRPr>
            </a:p>
          </p:txBody>
        </p:sp>
        <p:sp>
          <p:nvSpPr>
            <p:cNvPr id="36" name="Oval 35">
              <a:extLst>
                <a:ext uri="{FF2B5EF4-FFF2-40B4-BE49-F238E27FC236}">
                  <a16:creationId xmlns:a16="http://schemas.microsoft.com/office/drawing/2014/main" id="{07307ED1-E54D-4256-A92E-BC0B4B48C8DA}"/>
                </a:ext>
              </a:extLst>
            </p:cNvPr>
            <p:cNvSpPr/>
            <p:nvPr/>
          </p:nvSpPr>
          <p:spPr>
            <a:xfrm>
              <a:off x="2175327" y="3996781"/>
              <a:ext cx="426357" cy="390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37" name="Oval 36">
              <a:extLst>
                <a:ext uri="{FF2B5EF4-FFF2-40B4-BE49-F238E27FC236}">
                  <a16:creationId xmlns:a16="http://schemas.microsoft.com/office/drawing/2014/main" id="{058FDF42-371A-42BD-9D0F-3D91794B52D3}"/>
                </a:ext>
              </a:extLst>
            </p:cNvPr>
            <p:cNvSpPr/>
            <p:nvPr/>
          </p:nvSpPr>
          <p:spPr>
            <a:xfrm>
              <a:off x="4921070" y="4029194"/>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38" name="Oval 37">
              <a:extLst>
                <a:ext uri="{FF2B5EF4-FFF2-40B4-BE49-F238E27FC236}">
                  <a16:creationId xmlns:a16="http://schemas.microsoft.com/office/drawing/2014/main" id="{249EBD71-8123-4BE4-9DCC-53BA014B8C56}"/>
                </a:ext>
              </a:extLst>
            </p:cNvPr>
            <p:cNvSpPr/>
            <p:nvPr/>
          </p:nvSpPr>
          <p:spPr>
            <a:xfrm>
              <a:off x="3690258" y="3244334"/>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grpSp>
      <p:sp>
        <p:nvSpPr>
          <p:cNvPr id="2" name="Title 1">
            <a:extLst>
              <a:ext uri="{FF2B5EF4-FFF2-40B4-BE49-F238E27FC236}">
                <a16:creationId xmlns:a16="http://schemas.microsoft.com/office/drawing/2014/main" id="{F9E3FD75-680B-4232-96A0-E7B0827A8EF1}"/>
              </a:ext>
            </a:extLst>
          </p:cNvPr>
          <p:cNvSpPr>
            <a:spLocks noGrp="1"/>
          </p:cNvSpPr>
          <p:nvPr>
            <p:ph type="title"/>
          </p:nvPr>
        </p:nvSpPr>
        <p:spPr/>
        <p:txBody>
          <a:bodyPr/>
          <a:lstStyle/>
          <a:p>
            <a:r>
              <a:rPr lang="en-US" b="1" dirty="0"/>
              <a:t>Example 2 : TSP -- </a:t>
            </a:r>
            <a:r>
              <a:rPr lang="en-US" b="1" dirty="0" err="1"/>
              <a:t>contd</a:t>
            </a:r>
            <a:endParaRPr lang="hi-IN" dirty="0"/>
          </a:p>
        </p:txBody>
      </p:sp>
      <p:sp>
        <p:nvSpPr>
          <p:cNvPr id="3" name="Content Placeholder 2">
            <a:extLst>
              <a:ext uri="{FF2B5EF4-FFF2-40B4-BE49-F238E27FC236}">
                <a16:creationId xmlns:a16="http://schemas.microsoft.com/office/drawing/2014/main" id="{8F04DFB7-7C6C-42C3-8AB8-95EEACAFE08B}"/>
              </a:ext>
            </a:extLst>
          </p:cNvPr>
          <p:cNvSpPr>
            <a:spLocks noGrp="1"/>
          </p:cNvSpPr>
          <p:nvPr>
            <p:ph idx="1"/>
          </p:nvPr>
        </p:nvSpPr>
        <p:spPr>
          <a:xfrm>
            <a:off x="261764" y="2243253"/>
            <a:ext cx="4079608" cy="4351338"/>
          </a:xfrm>
        </p:spPr>
        <p:txBody>
          <a:bodyPr>
            <a:normAutofit/>
          </a:bodyPr>
          <a:lstStyle/>
          <a:p>
            <a:pPr algn="just"/>
            <a:r>
              <a:rPr lang="en-US" sz="2400" dirty="0"/>
              <a:t>From the resultant tree choose the lowest cost node for the next level of exploration and proceed with the further remaining options for the salesman to explore</a:t>
            </a:r>
          </a:p>
          <a:p>
            <a:pPr algn="just"/>
            <a:r>
              <a:rPr lang="en-US" sz="2400" dirty="0"/>
              <a:t>In this case, explore node 4 and find the cost of each node in the next level</a:t>
            </a:r>
          </a:p>
          <a:p>
            <a:pPr algn="just"/>
            <a:r>
              <a:rPr lang="en-US" sz="2400" dirty="0"/>
              <a:t>Repeat the previous steps</a:t>
            </a:r>
            <a:endParaRPr lang="hi-IN" sz="2400" dirty="0"/>
          </a:p>
        </p:txBody>
      </p:sp>
      <p:sp>
        <p:nvSpPr>
          <p:cNvPr id="4" name="Footer Placeholder 3">
            <a:extLst>
              <a:ext uri="{FF2B5EF4-FFF2-40B4-BE49-F238E27FC236}">
                <a16:creationId xmlns:a16="http://schemas.microsoft.com/office/drawing/2014/main" id="{23C414B5-2F6E-4779-8D91-D9C4B4A69C8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1C01F6AC-153E-45D6-A07C-4CA856D3F431}"/>
              </a:ext>
            </a:extLst>
          </p:cNvPr>
          <p:cNvSpPr>
            <a:spLocks noGrp="1"/>
          </p:cNvSpPr>
          <p:nvPr>
            <p:ph type="sldNum" sz="quarter" idx="12"/>
          </p:nvPr>
        </p:nvSpPr>
        <p:spPr/>
        <p:txBody>
          <a:bodyPr/>
          <a:lstStyle/>
          <a:p>
            <a:fld id="{F56F9007-E0C6-489E-B603-BD6BB4385429}" type="slidenum">
              <a:rPr lang="hi-IN" smtClean="0"/>
              <a:t>36</a:t>
            </a:fld>
            <a:endParaRPr lang="hi-IN"/>
          </a:p>
        </p:txBody>
      </p:sp>
      <p:sp>
        <p:nvSpPr>
          <p:cNvPr id="15" name="Oval 14">
            <a:extLst>
              <a:ext uri="{FF2B5EF4-FFF2-40B4-BE49-F238E27FC236}">
                <a16:creationId xmlns:a16="http://schemas.microsoft.com/office/drawing/2014/main" id="{20992046-D06F-408E-A8C0-3EF07E634E17}"/>
              </a:ext>
            </a:extLst>
          </p:cNvPr>
          <p:cNvSpPr/>
          <p:nvPr/>
        </p:nvSpPr>
        <p:spPr>
          <a:xfrm>
            <a:off x="6832600" y="828358"/>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a:t>
            </a:r>
            <a:endParaRPr lang="hi-IN" b="1" dirty="0">
              <a:ln w="0"/>
              <a:solidFill>
                <a:schemeClr val="tx1"/>
              </a:solidFill>
              <a:effectLst>
                <a:outerShdw blurRad="38100" dist="19050" dir="2700000" algn="tl" rotWithShape="0">
                  <a:schemeClr val="dk1">
                    <a:alpha val="40000"/>
                  </a:schemeClr>
                </a:outerShdw>
              </a:effectLst>
            </a:endParaRPr>
          </a:p>
        </p:txBody>
      </p:sp>
      <p:sp>
        <p:nvSpPr>
          <p:cNvPr id="16" name="Oval 15">
            <a:extLst>
              <a:ext uri="{FF2B5EF4-FFF2-40B4-BE49-F238E27FC236}">
                <a16:creationId xmlns:a16="http://schemas.microsoft.com/office/drawing/2014/main" id="{18C7C7D5-0349-4DAD-AD27-7718B33D5476}"/>
              </a:ext>
            </a:extLst>
          </p:cNvPr>
          <p:cNvSpPr/>
          <p:nvPr/>
        </p:nvSpPr>
        <p:spPr>
          <a:xfrm>
            <a:off x="5567680" y="19507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17" name="Oval 16">
            <a:extLst>
              <a:ext uri="{FF2B5EF4-FFF2-40B4-BE49-F238E27FC236}">
                <a16:creationId xmlns:a16="http://schemas.microsoft.com/office/drawing/2014/main" id="{082063CF-A1F8-4558-B17A-D78D798BB3AA}"/>
              </a:ext>
            </a:extLst>
          </p:cNvPr>
          <p:cNvSpPr/>
          <p:nvPr/>
        </p:nvSpPr>
        <p:spPr>
          <a:xfrm>
            <a:off x="6832600" y="1950720"/>
            <a:ext cx="640080" cy="71389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18" name="Oval 17">
            <a:extLst>
              <a:ext uri="{FF2B5EF4-FFF2-40B4-BE49-F238E27FC236}">
                <a16:creationId xmlns:a16="http://schemas.microsoft.com/office/drawing/2014/main" id="{A461E0BC-F12C-4BBE-836D-D5491455FD3F}"/>
              </a:ext>
            </a:extLst>
          </p:cNvPr>
          <p:cNvSpPr/>
          <p:nvPr/>
        </p:nvSpPr>
        <p:spPr>
          <a:xfrm>
            <a:off x="8153400" y="19507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19" name="Straight Connector 18">
            <a:extLst>
              <a:ext uri="{FF2B5EF4-FFF2-40B4-BE49-F238E27FC236}">
                <a16:creationId xmlns:a16="http://schemas.microsoft.com/office/drawing/2014/main" id="{48F70658-5908-4BD9-BEC5-A6D3CAC9229E}"/>
              </a:ext>
            </a:extLst>
          </p:cNvPr>
          <p:cNvCxnSpPr>
            <a:stCxn id="15" idx="3"/>
            <a:endCxn id="16" idx="0"/>
          </p:cNvCxnSpPr>
          <p:nvPr/>
        </p:nvCxnSpPr>
        <p:spPr>
          <a:xfrm flipH="1">
            <a:off x="5887720" y="1392045"/>
            <a:ext cx="1038618" cy="558675"/>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CCDC89B5-6093-47F5-9B5D-6A53EB7A51D2}"/>
              </a:ext>
            </a:extLst>
          </p:cNvPr>
          <p:cNvCxnSpPr>
            <a:stCxn id="15" idx="4"/>
          </p:cNvCxnSpPr>
          <p:nvPr/>
        </p:nvCxnSpPr>
        <p:spPr>
          <a:xfrm>
            <a:off x="7152640" y="1488758"/>
            <a:ext cx="0" cy="461962"/>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718277D7-DFE2-4696-AC7F-9E56529417A9}"/>
              </a:ext>
            </a:extLst>
          </p:cNvPr>
          <p:cNvCxnSpPr>
            <a:stCxn id="15" idx="5"/>
            <a:endCxn id="18" idx="1"/>
          </p:cNvCxnSpPr>
          <p:nvPr/>
        </p:nvCxnSpPr>
        <p:spPr>
          <a:xfrm>
            <a:off x="7378942" y="1392045"/>
            <a:ext cx="868196" cy="655388"/>
          </a:xfrm>
          <a:prstGeom prst="line">
            <a:avLst/>
          </a:prstGeom>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BD74DCC1-A1FF-43B3-9BA6-F0D640324855}"/>
              </a:ext>
            </a:extLst>
          </p:cNvPr>
          <p:cNvSpPr txBox="1"/>
          <p:nvPr/>
        </p:nvSpPr>
        <p:spPr>
          <a:xfrm>
            <a:off x="7410328" y="774860"/>
            <a:ext cx="2241672" cy="369332"/>
          </a:xfrm>
          <a:prstGeom prst="rect">
            <a:avLst/>
          </a:prstGeom>
          <a:noFill/>
        </p:spPr>
        <p:txBody>
          <a:bodyPr wrap="square" rtlCol="0">
            <a:spAutoFit/>
          </a:bodyPr>
          <a:lstStyle/>
          <a:p>
            <a:r>
              <a:rPr lang="en-US" b="1" dirty="0"/>
              <a:t>Cost of node 1 = 18</a:t>
            </a:r>
            <a:endParaRPr lang="hi-IN" b="1" dirty="0"/>
          </a:p>
        </p:txBody>
      </p:sp>
      <p:sp>
        <p:nvSpPr>
          <p:cNvPr id="23" name="Rectangle 22">
            <a:extLst>
              <a:ext uri="{FF2B5EF4-FFF2-40B4-BE49-F238E27FC236}">
                <a16:creationId xmlns:a16="http://schemas.microsoft.com/office/drawing/2014/main" id="{3DC5ECF9-E22C-43BE-B9AF-74F4B9A3DD0D}"/>
              </a:ext>
            </a:extLst>
          </p:cNvPr>
          <p:cNvSpPr/>
          <p:nvPr/>
        </p:nvSpPr>
        <p:spPr>
          <a:xfrm>
            <a:off x="4078729" y="1617743"/>
            <a:ext cx="2012730" cy="369332"/>
          </a:xfrm>
          <a:prstGeom prst="rect">
            <a:avLst/>
          </a:prstGeom>
        </p:spPr>
        <p:txBody>
          <a:bodyPr wrap="none">
            <a:spAutoFit/>
          </a:bodyPr>
          <a:lstStyle/>
          <a:p>
            <a:r>
              <a:rPr lang="en-US" b="1" dirty="0"/>
              <a:t>Cost of node 2 = 80</a:t>
            </a:r>
            <a:endParaRPr lang="hi-IN" dirty="0"/>
          </a:p>
        </p:txBody>
      </p:sp>
      <p:sp>
        <p:nvSpPr>
          <p:cNvPr id="24" name="Rectangle 23">
            <a:extLst>
              <a:ext uri="{FF2B5EF4-FFF2-40B4-BE49-F238E27FC236}">
                <a16:creationId xmlns:a16="http://schemas.microsoft.com/office/drawing/2014/main" id="{342893FE-2B6C-4E30-84E3-8AF418E88E65}"/>
              </a:ext>
            </a:extLst>
          </p:cNvPr>
          <p:cNvSpPr/>
          <p:nvPr/>
        </p:nvSpPr>
        <p:spPr>
          <a:xfrm>
            <a:off x="6096000" y="2647475"/>
            <a:ext cx="2012730" cy="369332"/>
          </a:xfrm>
          <a:prstGeom prst="rect">
            <a:avLst/>
          </a:prstGeom>
        </p:spPr>
        <p:txBody>
          <a:bodyPr wrap="none">
            <a:spAutoFit/>
          </a:bodyPr>
          <a:lstStyle/>
          <a:p>
            <a:r>
              <a:rPr lang="en-US" b="1" dirty="0"/>
              <a:t>Cost of node 3 = 80</a:t>
            </a:r>
            <a:endParaRPr lang="hi-IN" dirty="0"/>
          </a:p>
        </p:txBody>
      </p:sp>
      <p:sp>
        <p:nvSpPr>
          <p:cNvPr id="25" name="Rectangle 24">
            <a:extLst>
              <a:ext uri="{FF2B5EF4-FFF2-40B4-BE49-F238E27FC236}">
                <a16:creationId xmlns:a16="http://schemas.microsoft.com/office/drawing/2014/main" id="{8BF8F75A-5154-4FA4-B8B7-2631DA6B6360}"/>
              </a:ext>
            </a:extLst>
          </p:cNvPr>
          <p:cNvSpPr/>
          <p:nvPr/>
        </p:nvSpPr>
        <p:spPr>
          <a:xfrm>
            <a:off x="8531164" y="1678942"/>
            <a:ext cx="2012730" cy="369332"/>
          </a:xfrm>
          <a:prstGeom prst="rect">
            <a:avLst/>
          </a:prstGeom>
        </p:spPr>
        <p:txBody>
          <a:bodyPr wrap="none">
            <a:spAutoFit/>
          </a:bodyPr>
          <a:lstStyle/>
          <a:p>
            <a:r>
              <a:rPr lang="en-US" b="1" dirty="0"/>
              <a:t>Cost of node 4 = 75</a:t>
            </a:r>
            <a:endParaRPr lang="hi-IN" dirty="0"/>
          </a:p>
        </p:txBody>
      </p:sp>
      <p:sp>
        <p:nvSpPr>
          <p:cNvPr id="28" name="Oval 27">
            <a:extLst>
              <a:ext uri="{FF2B5EF4-FFF2-40B4-BE49-F238E27FC236}">
                <a16:creationId xmlns:a16="http://schemas.microsoft.com/office/drawing/2014/main" id="{30904886-BBFE-4150-B2CD-A27CD8020940}"/>
              </a:ext>
            </a:extLst>
          </p:cNvPr>
          <p:cNvSpPr/>
          <p:nvPr/>
        </p:nvSpPr>
        <p:spPr>
          <a:xfrm>
            <a:off x="7956842" y="3360468"/>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29" name="Oval 28">
            <a:extLst>
              <a:ext uri="{FF2B5EF4-FFF2-40B4-BE49-F238E27FC236}">
                <a16:creationId xmlns:a16="http://schemas.microsoft.com/office/drawing/2014/main" id="{387A3C5B-7073-404C-B4E5-2CA697719806}"/>
              </a:ext>
            </a:extLst>
          </p:cNvPr>
          <p:cNvSpPr/>
          <p:nvPr/>
        </p:nvSpPr>
        <p:spPr>
          <a:xfrm>
            <a:off x="9058204" y="34581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31" name="Straight Connector 30">
            <a:extLst>
              <a:ext uri="{FF2B5EF4-FFF2-40B4-BE49-F238E27FC236}">
                <a16:creationId xmlns:a16="http://schemas.microsoft.com/office/drawing/2014/main" id="{490B0783-40B7-40C3-980D-AD3B6D7C91AF}"/>
              </a:ext>
            </a:extLst>
          </p:cNvPr>
          <p:cNvCxnSpPr>
            <a:cxnSpLocks/>
          </p:cNvCxnSpPr>
          <p:nvPr/>
        </p:nvCxnSpPr>
        <p:spPr>
          <a:xfrm flipH="1">
            <a:off x="8308599" y="2611120"/>
            <a:ext cx="151861" cy="774144"/>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43521FD0-4154-49F9-A273-0173710C960C}"/>
              </a:ext>
            </a:extLst>
          </p:cNvPr>
          <p:cNvCxnSpPr>
            <a:cxnSpLocks/>
            <a:endCxn id="29" idx="1"/>
          </p:cNvCxnSpPr>
          <p:nvPr/>
        </p:nvCxnSpPr>
        <p:spPr>
          <a:xfrm>
            <a:off x="8504003" y="2587263"/>
            <a:ext cx="647939" cy="967570"/>
          </a:xfrm>
          <a:prstGeom prst="line">
            <a:avLst/>
          </a:prstGeom>
        </p:spPr>
        <p:style>
          <a:lnRef idx="1">
            <a:schemeClr val="dk1"/>
          </a:lnRef>
          <a:fillRef idx="0">
            <a:schemeClr val="dk1"/>
          </a:fillRef>
          <a:effectRef idx="0">
            <a:schemeClr val="dk1"/>
          </a:effectRef>
          <a:fontRef idx="minor">
            <a:schemeClr val="tx1"/>
          </a:fontRef>
        </p:style>
      </p:cxnSp>
      <p:sp>
        <p:nvSpPr>
          <p:cNvPr id="34" name="Rectangle 33">
            <a:extLst>
              <a:ext uri="{FF2B5EF4-FFF2-40B4-BE49-F238E27FC236}">
                <a16:creationId xmlns:a16="http://schemas.microsoft.com/office/drawing/2014/main" id="{F3A5B992-335C-40C3-BA9B-6A2E0EE55ADE}"/>
              </a:ext>
            </a:extLst>
          </p:cNvPr>
          <p:cNvSpPr/>
          <p:nvPr/>
        </p:nvSpPr>
        <p:spPr>
          <a:xfrm>
            <a:off x="7015589" y="3267608"/>
            <a:ext cx="988122" cy="369332"/>
          </a:xfrm>
          <a:prstGeom prst="rect">
            <a:avLst/>
          </a:prstGeom>
        </p:spPr>
        <p:txBody>
          <a:bodyPr wrap="square">
            <a:spAutoFit/>
          </a:bodyPr>
          <a:lstStyle/>
          <a:p>
            <a:r>
              <a:rPr lang="en-US" b="1" dirty="0"/>
              <a:t>node 5</a:t>
            </a:r>
            <a:endParaRPr lang="hi-IN" dirty="0"/>
          </a:p>
        </p:txBody>
      </p:sp>
      <p:sp>
        <p:nvSpPr>
          <p:cNvPr id="35" name="Rectangle 34">
            <a:extLst>
              <a:ext uri="{FF2B5EF4-FFF2-40B4-BE49-F238E27FC236}">
                <a16:creationId xmlns:a16="http://schemas.microsoft.com/office/drawing/2014/main" id="{F706ECBF-4E51-4B44-9F41-50FB802ADC2B}"/>
              </a:ext>
            </a:extLst>
          </p:cNvPr>
          <p:cNvSpPr/>
          <p:nvPr/>
        </p:nvSpPr>
        <p:spPr>
          <a:xfrm>
            <a:off x="9331535" y="3156857"/>
            <a:ext cx="988122" cy="369332"/>
          </a:xfrm>
          <a:prstGeom prst="rect">
            <a:avLst/>
          </a:prstGeom>
        </p:spPr>
        <p:txBody>
          <a:bodyPr wrap="square">
            <a:spAutoFit/>
          </a:bodyPr>
          <a:lstStyle/>
          <a:p>
            <a:r>
              <a:rPr lang="en-US" b="1" dirty="0"/>
              <a:t>node 6</a:t>
            </a:r>
            <a:endParaRPr lang="hi-IN" dirty="0"/>
          </a:p>
        </p:txBody>
      </p:sp>
      <p:sp>
        <p:nvSpPr>
          <p:cNvPr id="30" name="Oval 29">
            <a:extLst>
              <a:ext uri="{FF2B5EF4-FFF2-40B4-BE49-F238E27FC236}">
                <a16:creationId xmlns:a16="http://schemas.microsoft.com/office/drawing/2014/main" id="{F3D13EC1-A1F0-4E96-91CD-7189516D445D}"/>
              </a:ext>
            </a:extLst>
          </p:cNvPr>
          <p:cNvSpPr/>
          <p:nvPr/>
        </p:nvSpPr>
        <p:spPr>
          <a:xfrm>
            <a:off x="7362763" y="1794365"/>
            <a:ext cx="2439848" cy="94227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6" name="TextBox 5">
            <a:extLst>
              <a:ext uri="{FF2B5EF4-FFF2-40B4-BE49-F238E27FC236}">
                <a16:creationId xmlns:a16="http://schemas.microsoft.com/office/drawing/2014/main" id="{4D144455-439A-7981-4DD2-D1A471A15045}"/>
              </a:ext>
            </a:extLst>
          </p:cNvPr>
          <p:cNvSpPr txBox="1"/>
          <p:nvPr/>
        </p:nvSpPr>
        <p:spPr>
          <a:xfrm>
            <a:off x="9019617" y="768567"/>
            <a:ext cx="460187" cy="369332"/>
          </a:xfrm>
          <a:prstGeom prst="rect">
            <a:avLst/>
          </a:prstGeom>
          <a:solidFill>
            <a:schemeClr val="bg1"/>
          </a:solidFill>
        </p:spPr>
        <p:txBody>
          <a:bodyPr wrap="square" rtlCol="0">
            <a:spAutoFit/>
          </a:bodyPr>
          <a:lstStyle/>
          <a:p>
            <a:r>
              <a:rPr lang="en-US" b="1" dirty="0"/>
              <a:t>70</a:t>
            </a:r>
          </a:p>
        </p:txBody>
      </p:sp>
    </p:spTree>
    <p:extLst>
      <p:ext uri="{BB962C8B-B14F-4D97-AF65-F5344CB8AC3E}">
        <p14:creationId xmlns:p14="http://schemas.microsoft.com/office/powerpoint/2010/main" val="4061977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0" end="0"/>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
                                            <p:txEl>
                                              <p:pRg st="1" end="1"/>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22" grpId="0"/>
      <p:bldP spid="23" grpId="0"/>
      <p:bldP spid="24" grpId="0"/>
      <p:bldP spid="25" grpId="0"/>
      <p:bldP spid="28" grpId="0" animBg="1"/>
      <p:bldP spid="29" grpId="0" animBg="1"/>
      <p:bldP spid="34" grpId="0"/>
      <p:bldP spid="35" grpId="0"/>
      <p:bldP spid="3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2189-7552-4E33-9E7B-4DE20289BB36}"/>
              </a:ext>
            </a:extLst>
          </p:cNvPr>
          <p:cNvSpPr>
            <a:spLocks noGrp="1"/>
          </p:cNvSpPr>
          <p:nvPr>
            <p:ph type="title"/>
          </p:nvPr>
        </p:nvSpPr>
        <p:spPr/>
        <p:txBody>
          <a:bodyPr/>
          <a:lstStyle/>
          <a:p>
            <a:r>
              <a:rPr lang="en-US" b="1" dirty="0"/>
              <a:t>Example 2 : TSP -- </a:t>
            </a:r>
            <a:r>
              <a:rPr lang="en-US" b="1" dirty="0" err="1"/>
              <a:t>contd</a:t>
            </a:r>
            <a:endParaRPr lang="hi-IN" dirty="0"/>
          </a:p>
        </p:txBody>
      </p:sp>
      <p:sp>
        <p:nvSpPr>
          <p:cNvPr id="3" name="Content Placeholder 2">
            <a:extLst>
              <a:ext uri="{FF2B5EF4-FFF2-40B4-BE49-F238E27FC236}">
                <a16:creationId xmlns:a16="http://schemas.microsoft.com/office/drawing/2014/main" id="{37C055A1-8DCE-40BD-96BE-DC0349835FE9}"/>
              </a:ext>
            </a:extLst>
          </p:cNvPr>
          <p:cNvSpPr>
            <a:spLocks noGrp="1"/>
          </p:cNvSpPr>
          <p:nvPr>
            <p:ph idx="1"/>
          </p:nvPr>
        </p:nvSpPr>
        <p:spPr/>
        <p:txBody>
          <a:bodyPr/>
          <a:lstStyle/>
          <a:p>
            <a:r>
              <a:rPr lang="en-US" dirty="0"/>
              <a:t>Now exploring A—D—B path</a:t>
            </a:r>
          </a:p>
          <a:p>
            <a:pPr lvl="1"/>
            <a:r>
              <a:rPr lang="en-US" sz="2000" dirty="0"/>
              <a:t>The cost matrix of node D becomes…</a:t>
            </a:r>
            <a:endParaRPr lang="hi-IN" sz="2000" dirty="0"/>
          </a:p>
        </p:txBody>
      </p:sp>
      <p:sp>
        <p:nvSpPr>
          <p:cNvPr id="4" name="Footer Placeholder 3">
            <a:extLst>
              <a:ext uri="{FF2B5EF4-FFF2-40B4-BE49-F238E27FC236}">
                <a16:creationId xmlns:a16="http://schemas.microsoft.com/office/drawing/2014/main" id="{3FBCE2A8-CF2B-4146-9CF1-F8A6DCA76137}"/>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1DC7713-BE6D-4807-8365-0ED01742EAAF}"/>
              </a:ext>
            </a:extLst>
          </p:cNvPr>
          <p:cNvSpPr>
            <a:spLocks noGrp="1"/>
          </p:cNvSpPr>
          <p:nvPr>
            <p:ph type="sldNum" sz="quarter" idx="12"/>
          </p:nvPr>
        </p:nvSpPr>
        <p:spPr/>
        <p:txBody>
          <a:bodyPr/>
          <a:lstStyle/>
          <a:p>
            <a:fld id="{F56F9007-E0C6-489E-B603-BD6BB4385429}" type="slidenum">
              <a:rPr lang="hi-IN" smtClean="0"/>
              <a:t>37</a:t>
            </a:fld>
            <a:endParaRPr lang="hi-IN"/>
          </a:p>
        </p:txBody>
      </p:sp>
      <p:graphicFrame>
        <p:nvGraphicFramePr>
          <p:cNvPr id="6" name="Table 5">
            <a:extLst>
              <a:ext uri="{FF2B5EF4-FFF2-40B4-BE49-F238E27FC236}">
                <a16:creationId xmlns:a16="http://schemas.microsoft.com/office/drawing/2014/main" id="{D6F50D1C-6C10-4DEE-B1F2-B7F70D225F30}"/>
              </a:ext>
            </a:extLst>
          </p:cNvPr>
          <p:cNvGraphicFramePr>
            <a:graphicFrameLocks noGrp="1"/>
          </p:cNvGraphicFramePr>
          <p:nvPr>
            <p:extLst>
              <p:ext uri="{D42A27DB-BD31-4B8C-83A1-F6EECF244321}">
                <p14:modId xmlns:p14="http://schemas.microsoft.com/office/powerpoint/2010/main" val="2226026472"/>
              </p:ext>
            </p:extLst>
          </p:nvPr>
        </p:nvGraphicFramePr>
        <p:xfrm>
          <a:off x="177800" y="2811352"/>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6">
            <a:extLst>
              <a:ext uri="{FF2B5EF4-FFF2-40B4-BE49-F238E27FC236}">
                <a16:creationId xmlns:a16="http://schemas.microsoft.com/office/drawing/2014/main" id="{A7A71D93-ABE2-429F-8576-61090397B0B1}"/>
              </a:ext>
            </a:extLst>
          </p:cNvPr>
          <p:cNvGraphicFramePr>
            <a:graphicFrameLocks noGrp="1"/>
          </p:cNvGraphicFramePr>
          <p:nvPr>
            <p:extLst>
              <p:ext uri="{D42A27DB-BD31-4B8C-83A1-F6EECF244321}">
                <p14:modId xmlns:p14="http://schemas.microsoft.com/office/powerpoint/2010/main" val="1771730802"/>
              </p:ext>
            </p:extLst>
          </p:nvPr>
        </p:nvGraphicFramePr>
        <p:xfrm>
          <a:off x="3840480" y="2791558"/>
          <a:ext cx="3180080" cy="182880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10445">
                  <a:extLst>
                    <a:ext uri="{9D8B030D-6E8A-4147-A177-3AD203B41FA5}">
                      <a16:colId xmlns:a16="http://schemas.microsoft.com/office/drawing/2014/main" val="252318787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Min</a:t>
                      </a:r>
                      <a:endParaRPr lang="hi-IN"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8" name="TextBox 7">
            <a:extLst>
              <a:ext uri="{FF2B5EF4-FFF2-40B4-BE49-F238E27FC236}">
                <a16:creationId xmlns:a16="http://schemas.microsoft.com/office/drawing/2014/main" id="{8E4B49A0-9E43-4C50-8675-1197C97366AC}"/>
              </a:ext>
            </a:extLst>
          </p:cNvPr>
          <p:cNvSpPr txBox="1"/>
          <p:nvPr/>
        </p:nvSpPr>
        <p:spPr>
          <a:xfrm>
            <a:off x="7165340" y="1642159"/>
            <a:ext cx="1102360" cy="646331"/>
          </a:xfrm>
          <a:prstGeom prst="rect">
            <a:avLst/>
          </a:prstGeom>
          <a:noFill/>
        </p:spPr>
        <p:txBody>
          <a:bodyPr wrap="square" rtlCol="0">
            <a:spAutoFit/>
          </a:bodyPr>
          <a:lstStyle/>
          <a:p>
            <a:r>
              <a:rPr lang="en-US" b="1" dirty="0"/>
              <a:t>Reduce by row</a:t>
            </a:r>
            <a:endParaRPr lang="hi-IN" b="1" dirty="0"/>
          </a:p>
        </p:txBody>
      </p:sp>
      <p:sp>
        <p:nvSpPr>
          <p:cNvPr id="9" name="TextBox 8">
            <a:extLst>
              <a:ext uri="{FF2B5EF4-FFF2-40B4-BE49-F238E27FC236}">
                <a16:creationId xmlns:a16="http://schemas.microsoft.com/office/drawing/2014/main" id="{655296CB-F437-46A9-A2A7-93457B0439B7}"/>
              </a:ext>
            </a:extLst>
          </p:cNvPr>
          <p:cNvSpPr txBox="1"/>
          <p:nvPr/>
        </p:nvSpPr>
        <p:spPr>
          <a:xfrm>
            <a:off x="10443546" y="5135484"/>
            <a:ext cx="1353820" cy="646331"/>
          </a:xfrm>
          <a:prstGeom prst="rect">
            <a:avLst/>
          </a:prstGeom>
          <a:noFill/>
        </p:spPr>
        <p:txBody>
          <a:bodyPr wrap="square" rtlCol="0">
            <a:spAutoFit/>
          </a:bodyPr>
          <a:lstStyle/>
          <a:p>
            <a:r>
              <a:rPr lang="en-US" b="1" dirty="0"/>
              <a:t>Reduce by column</a:t>
            </a:r>
            <a:endParaRPr lang="hi-IN" b="1" dirty="0"/>
          </a:p>
        </p:txBody>
      </p:sp>
      <p:sp>
        <p:nvSpPr>
          <p:cNvPr id="10" name="Arrow: Right 9">
            <a:extLst>
              <a:ext uri="{FF2B5EF4-FFF2-40B4-BE49-F238E27FC236}">
                <a16:creationId xmlns:a16="http://schemas.microsoft.com/office/drawing/2014/main" id="{68D24F80-8C16-4CDD-9AE4-FAB8D8DAA522}"/>
              </a:ext>
            </a:extLst>
          </p:cNvPr>
          <p:cNvSpPr/>
          <p:nvPr/>
        </p:nvSpPr>
        <p:spPr>
          <a:xfrm>
            <a:off x="7034530" y="2397977"/>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1" name="Arrow: Down 10">
            <a:extLst>
              <a:ext uri="{FF2B5EF4-FFF2-40B4-BE49-F238E27FC236}">
                <a16:creationId xmlns:a16="http://schemas.microsoft.com/office/drawing/2014/main" id="{64211AFF-4871-410D-AE82-03C4151657A2}"/>
              </a:ext>
            </a:extLst>
          </p:cNvPr>
          <p:cNvSpPr/>
          <p:nvPr/>
        </p:nvSpPr>
        <p:spPr>
          <a:xfrm rot="1924878">
            <a:off x="10390206" y="4653950"/>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2" name="Table 11">
            <a:extLst>
              <a:ext uri="{FF2B5EF4-FFF2-40B4-BE49-F238E27FC236}">
                <a16:creationId xmlns:a16="http://schemas.microsoft.com/office/drawing/2014/main" id="{ACF61F84-857D-49F5-A057-A4D15E8F777A}"/>
              </a:ext>
            </a:extLst>
          </p:cNvPr>
          <p:cNvGraphicFramePr>
            <a:graphicFrameLocks noGrp="1"/>
          </p:cNvGraphicFramePr>
          <p:nvPr>
            <p:extLst>
              <p:ext uri="{D42A27DB-BD31-4B8C-83A1-F6EECF244321}">
                <p14:modId xmlns:p14="http://schemas.microsoft.com/office/powerpoint/2010/main" val="3695205957"/>
              </p:ext>
            </p:extLst>
          </p:nvPr>
        </p:nvGraphicFramePr>
        <p:xfrm>
          <a:off x="8168640" y="2612388"/>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r>
                        <a:rPr lang="en-US" b="1" dirty="0">
                          <a:solidFill>
                            <a:schemeClr val="tx1"/>
                          </a:solidFill>
                        </a:rPr>
                        <a:t>Min</a:t>
                      </a:r>
                      <a:endParaRPr lang="hi-IN"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9715164"/>
                  </a:ext>
                </a:extLst>
              </a:tr>
            </a:tbl>
          </a:graphicData>
        </a:graphic>
      </p:graphicFrame>
      <p:graphicFrame>
        <p:nvGraphicFramePr>
          <p:cNvPr id="13" name="Table 12">
            <a:extLst>
              <a:ext uri="{FF2B5EF4-FFF2-40B4-BE49-F238E27FC236}">
                <a16:creationId xmlns:a16="http://schemas.microsoft.com/office/drawing/2014/main" id="{D27ADEB2-CD97-4A14-83C6-800FBA53C3AA}"/>
              </a:ext>
            </a:extLst>
          </p:cNvPr>
          <p:cNvGraphicFramePr>
            <a:graphicFrameLocks noGrp="1"/>
          </p:cNvGraphicFramePr>
          <p:nvPr>
            <p:extLst>
              <p:ext uri="{D42A27DB-BD31-4B8C-83A1-F6EECF244321}">
                <p14:modId xmlns:p14="http://schemas.microsoft.com/office/powerpoint/2010/main" val="1070758061"/>
              </p:ext>
            </p:extLst>
          </p:nvPr>
        </p:nvGraphicFramePr>
        <p:xfrm>
          <a:off x="6941820" y="4925970"/>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14" name="Rectangle 13">
            <a:extLst>
              <a:ext uri="{FF2B5EF4-FFF2-40B4-BE49-F238E27FC236}">
                <a16:creationId xmlns:a16="http://schemas.microsoft.com/office/drawing/2014/main" id="{50B45B00-727F-4D8D-BBF6-EA0D4D282D0C}"/>
              </a:ext>
            </a:extLst>
          </p:cNvPr>
          <p:cNvSpPr/>
          <p:nvPr/>
        </p:nvSpPr>
        <p:spPr>
          <a:xfrm>
            <a:off x="515620" y="5263125"/>
            <a:ext cx="6096000" cy="923330"/>
          </a:xfrm>
          <a:prstGeom prst="rect">
            <a:avLst/>
          </a:prstGeom>
        </p:spPr>
        <p:txBody>
          <a:bodyPr>
            <a:spAutoFit/>
          </a:bodyPr>
          <a:lstStyle/>
          <a:p>
            <a:r>
              <a:rPr lang="en-US" b="1" dirty="0"/>
              <a:t>Cost of Node 5= Previous node Cost + Min of Row + Min of Col + cost of current link (i.e.) matrix[D,B]</a:t>
            </a:r>
          </a:p>
          <a:p>
            <a:r>
              <a:rPr lang="en-US" b="1" dirty="0"/>
              <a:t>                = 75 + 20 + 0 + 0 = 95</a:t>
            </a:r>
            <a:endParaRPr lang="hi-IN" b="1" dirty="0"/>
          </a:p>
        </p:txBody>
      </p:sp>
      <p:sp>
        <p:nvSpPr>
          <p:cNvPr id="15" name="Arrow: Right 14">
            <a:extLst>
              <a:ext uri="{FF2B5EF4-FFF2-40B4-BE49-F238E27FC236}">
                <a16:creationId xmlns:a16="http://schemas.microsoft.com/office/drawing/2014/main" id="{328FA424-608B-4939-9533-89A1388B914C}"/>
              </a:ext>
            </a:extLst>
          </p:cNvPr>
          <p:cNvSpPr/>
          <p:nvPr/>
        </p:nvSpPr>
        <p:spPr>
          <a:xfrm>
            <a:off x="3326130" y="3599278"/>
            <a:ext cx="656590" cy="22088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6" name="Oval 15">
            <a:extLst>
              <a:ext uri="{FF2B5EF4-FFF2-40B4-BE49-F238E27FC236}">
                <a16:creationId xmlns:a16="http://schemas.microsoft.com/office/drawing/2014/main" id="{DD2C6A71-C3B0-4656-A6CA-6C67E8D1EEDA}"/>
              </a:ext>
            </a:extLst>
          </p:cNvPr>
          <p:cNvSpPr/>
          <p:nvPr/>
        </p:nvSpPr>
        <p:spPr>
          <a:xfrm>
            <a:off x="7807960" y="4098370"/>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7" name="Oval 16">
            <a:extLst>
              <a:ext uri="{FF2B5EF4-FFF2-40B4-BE49-F238E27FC236}">
                <a16:creationId xmlns:a16="http://schemas.microsoft.com/office/drawing/2014/main" id="{D6585A32-2A23-4332-845A-E7CA4113080B}"/>
              </a:ext>
            </a:extLst>
          </p:cNvPr>
          <p:cNvSpPr/>
          <p:nvPr/>
        </p:nvSpPr>
        <p:spPr>
          <a:xfrm>
            <a:off x="6356168" y="2668447"/>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pic>
        <p:nvPicPr>
          <p:cNvPr id="18" name="Picture 17">
            <a:extLst>
              <a:ext uri="{FF2B5EF4-FFF2-40B4-BE49-F238E27FC236}">
                <a16:creationId xmlns:a16="http://schemas.microsoft.com/office/drawing/2014/main" id="{1E2F64F7-0FD1-4BFF-9610-1FA2FB08A25B}"/>
              </a:ext>
            </a:extLst>
          </p:cNvPr>
          <p:cNvPicPr>
            <a:picLocks noChangeAspect="1"/>
          </p:cNvPicPr>
          <p:nvPr/>
        </p:nvPicPr>
        <p:blipFill>
          <a:blip r:embed="rId2"/>
          <a:stretch>
            <a:fillRect/>
          </a:stretch>
        </p:blipFill>
        <p:spPr>
          <a:xfrm>
            <a:off x="9327645" y="216929"/>
            <a:ext cx="2665474" cy="2159953"/>
          </a:xfrm>
          <a:prstGeom prst="rect">
            <a:avLst/>
          </a:prstGeom>
        </p:spPr>
      </p:pic>
      <p:sp>
        <p:nvSpPr>
          <p:cNvPr id="19" name="TextBox 18">
            <a:extLst>
              <a:ext uri="{FF2B5EF4-FFF2-40B4-BE49-F238E27FC236}">
                <a16:creationId xmlns:a16="http://schemas.microsoft.com/office/drawing/2014/main" id="{B1F81486-446F-111F-AF4B-0F7C518AD064}"/>
              </a:ext>
            </a:extLst>
          </p:cNvPr>
          <p:cNvSpPr txBox="1"/>
          <p:nvPr/>
        </p:nvSpPr>
        <p:spPr>
          <a:xfrm>
            <a:off x="11532932" y="211281"/>
            <a:ext cx="460187" cy="307777"/>
          </a:xfrm>
          <a:prstGeom prst="rect">
            <a:avLst/>
          </a:prstGeom>
          <a:solidFill>
            <a:schemeClr val="bg1"/>
          </a:solidFill>
        </p:spPr>
        <p:txBody>
          <a:bodyPr wrap="square" rtlCol="0">
            <a:spAutoFit/>
          </a:bodyPr>
          <a:lstStyle/>
          <a:p>
            <a:r>
              <a:rPr lang="en-US" sz="1400" b="1" dirty="0"/>
              <a:t>70</a:t>
            </a:r>
          </a:p>
        </p:txBody>
      </p:sp>
    </p:spTree>
    <p:extLst>
      <p:ext uri="{BB962C8B-B14F-4D97-AF65-F5344CB8AC3E}">
        <p14:creationId xmlns:p14="http://schemas.microsoft.com/office/powerpoint/2010/main" val="544653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4" grpId="0"/>
      <p:bldP spid="15" grpId="0" animBg="1"/>
      <p:bldP spid="16" grpId="0" animBg="1"/>
      <p:bldP spid="1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2189-7552-4E33-9E7B-4DE20289BB36}"/>
              </a:ext>
            </a:extLst>
          </p:cNvPr>
          <p:cNvSpPr>
            <a:spLocks noGrp="1"/>
          </p:cNvSpPr>
          <p:nvPr>
            <p:ph type="title"/>
          </p:nvPr>
        </p:nvSpPr>
        <p:spPr/>
        <p:txBody>
          <a:bodyPr/>
          <a:lstStyle/>
          <a:p>
            <a:r>
              <a:rPr lang="en-US" b="1" dirty="0"/>
              <a:t>Example 2 : TSP -- </a:t>
            </a:r>
            <a:r>
              <a:rPr lang="en-US" b="1" dirty="0" err="1"/>
              <a:t>contd</a:t>
            </a:r>
            <a:endParaRPr lang="hi-IN" dirty="0"/>
          </a:p>
        </p:txBody>
      </p:sp>
      <p:sp>
        <p:nvSpPr>
          <p:cNvPr id="3" name="Content Placeholder 2">
            <a:extLst>
              <a:ext uri="{FF2B5EF4-FFF2-40B4-BE49-F238E27FC236}">
                <a16:creationId xmlns:a16="http://schemas.microsoft.com/office/drawing/2014/main" id="{37C055A1-8DCE-40BD-96BE-DC0349835FE9}"/>
              </a:ext>
            </a:extLst>
          </p:cNvPr>
          <p:cNvSpPr>
            <a:spLocks noGrp="1"/>
          </p:cNvSpPr>
          <p:nvPr>
            <p:ph idx="1"/>
          </p:nvPr>
        </p:nvSpPr>
        <p:spPr/>
        <p:txBody>
          <a:bodyPr/>
          <a:lstStyle/>
          <a:p>
            <a:r>
              <a:rPr lang="en-US" dirty="0"/>
              <a:t>Now exploring A — D—C path</a:t>
            </a:r>
          </a:p>
          <a:p>
            <a:pPr lvl="1"/>
            <a:r>
              <a:rPr lang="en-US" sz="2000" dirty="0"/>
              <a:t>The cost matrix of node D becomes…</a:t>
            </a:r>
            <a:endParaRPr lang="hi-IN" sz="2000" dirty="0"/>
          </a:p>
        </p:txBody>
      </p:sp>
      <p:sp>
        <p:nvSpPr>
          <p:cNvPr id="4" name="Footer Placeholder 3">
            <a:extLst>
              <a:ext uri="{FF2B5EF4-FFF2-40B4-BE49-F238E27FC236}">
                <a16:creationId xmlns:a16="http://schemas.microsoft.com/office/drawing/2014/main" id="{3FBCE2A8-CF2B-4146-9CF1-F8A6DCA76137}"/>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1DC7713-BE6D-4807-8365-0ED01742EAAF}"/>
              </a:ext>
            </a:extLst>
          </p:cNvPr>
          <p:cNvSpPr>
            <a:spLocks noGrp="1"/>
          </p:cNvSpPr>
          <p:nvPr>
            <p:ph type="sldNum" sz="quarter" idx="12"/>
          </p:nvPr>
        </p:nvSpPr>
        <p:spPr/>
        <p:txBody>
          <a:bodyPr/>
          <a:lstStyle/>
          <a:p>
            <a:fld id="{F56F9007-E0C6-489E-B603-BD6BB4385429}" type="slidenum">
              <a:rPr lang="hi-IN" smtClean="0"/>
              <a:t>38</a:t>
            </a:fld>
            <a:endParaRPr lang="hi-IN"/>
          </a:p>
        </p:txBody>
      </p:sp>
      <p:graphicFrame>
        <p:nvGraphicFramePr>
          <p:cNvPr id="6" name="Table 5">
            <a:extLst>
              <a:ext uri="{FF2B5EF4-FFF2-40B4-BE49-F238E27FC236}">
                <a16:creationId xmlns:a16="http://schemas.microsoft.com/office/drawing/2014/main" id="{D6F50D1C-6C10-4DEE-B1F2-B7F70D225F30}"/>
              </a:ext>
            </a:extLst>
          </p:cNvPr>
          <p:cNvGraphicFramePr>
            <a:graphicFrameLocks noGrp="1"/>
          </p:cNvGraphicFramePr>
          <p:nvPr>
            <p:extLst>
              <p:ext uri="{D42A27DB-BD31-4B8C-83A1-F6EECF244321}">
                <p14:modId xmlns:p14="http://schemas.microsoft.com/office/powerpoint/2010/main" val="884904179"/>
              </p:ext>
            </p:extLst>
          </p:nvPr>
        </p:nvGraphicFramePr>
        <p:xfrm>
          <a:off x="177800" y="2811352"/>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6">
            <a:extLst>
              <a:ext uri="{FF2B5EF4-FFF2-40B4-BE49-F238E27FC236}">
                <a16:creationId xmlns:a16="http://schemas.microsoft.com/office/drawing/2014/main" id="{A7A71D93-ABE2-429F-8576-61090397B0B1}"/>
              </a:ext>
            </a:extLst>
          </p:cNvPr>
          <p:cNvGraphicFramePr>
            <a:graphicFrameLocks noGrp="1"/>
          </p:cNvGraphicFramePr>
          <p:nvPr>
            <p:extLst>
              <p:ext uri="{D42A27DB-BD31-4B8C-83A1-F6EECF244321}">
                <p14:modId xmlns:p14="http://schemas.microsoft.com/office/powerpoint/2010/main" val="3330799956"/>
              </p:ext>
            </p:extLst>
          </p:nvPr>
        </p:nvGraphicFramePr>
        <p:xfrm>
          <a:off x="3840480" y="2791558"/>
          <a:ext cx="3180080" cy="182880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10445">
                  <a:extLst>
                    <a:ext uri="{9D8B030D-6E8A-4147-A177-3AD203B41FA5}">
                      <a16:colId xmlns:a16="http://schemas.microsoft.com/office/drawing/2014/main" val="252318787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Min</a:t>
                      </a:r>
                      <a:endParaRPr lang="hi-IN"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20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8" name="TextBox 7">
            <a:extLst>
              <a:ext uri="{FF2B5EF4-FFF2-40B4-BE49-F238E27FC236}">
                <a16:creationId xmlns:a16="http://schemas.microsoft.com/office/drawing/2014/main" id="{8E4B49A0-9E43-4C50-8675-1197C97366AC}"/>
              </a:ext>
            </a:extLst>
          </p:cNvPr>
          <p:cNvSpPr txBox="1"/>
          <p:nvPr/>
        </p:nvSpPr>
        <p:spPr>
          <a:xfrm>
            <a:off x="7165340" y="1642159"/>
            <a:ext cx="1102360" cy="646331"/>
          </a:xfrm>
          <a:prstGeom prst="rect">
            <a:avLst/>
          </a:prstGeom>
          <a:noFill/>
        </p:spPr>
        <p:txBody>
          <a:bodyPr wrap="square" rtlCol="0">
            <a:spAutoFit/>
          </a:bodyPr>
          <a:lstStyle/>
          <a:p>
            <a:r>
              <a:rPr lang="en-US" b="1" dirty="0"/>
              <a:t>Reduce by row</a:t>
            </a:r>
            <a:endParaRPr lang="hi-IN" b="1" dirty="0"/>
          </a:p>
        </p:txBody>
      </p:sp>
      <p:sp>
        <p:nvSpPr>
          <p:cNvPr id="9" name="TextBox 8">
            <a:extLst>
              <a:ext uri="{FF2B5EF4-FFF2-40B4-BE49-F238E27FC236}">
                <a16:creationId xmlns:a16="http://schemas.microsoft.com/office/drawing/2014/main" id="{655296CB-F437-46A9-A2A7-93457B0439B7}"/>
              </a:ext>
            </a:extLst>
          </p:cNvPr>
          <p:cNvSpPr txBox="1"/>
          <p:nvPr/>
        </p:nvSpPr>
        <p:spPr>
          <a:xfrm>
            <a:off x="10443546" y="5135484"/>
            <a:ext cx="1353820" cy="646331"/>
          </a:xfrm>
          <a:prstGeom prst="rect">
            <a:avLst/>
          </a:prstGeom>
          <a:noFill/>
        </p:spPr>
        <p:txBody>
          <a:bodyPr wrap="square" rtlCol="0">
            <a:spAutoFit/>
          </a:bodyPr>
          <a:lstStyle/>
          <a:p>
            <a:r>
              <a:rPr lang="en-US" b="1" dirty="0"/>
              <a:t>Reduce by column</a:t>
            </a:r>
            <a:endParaRPr lang="hi-IN" b="1" dirty="0"/>
          </a:p>
        </p:txBody>
      </p:sp>
      <p:sp>
        <p:nvSpPr>
          <p:cNvPr id="10" name="Arrow: Right 9">
            <a:extLst>
              <a:ext uri="{FF2B5EF4-FFF2-40B4-BE49-F238E27FC236}">
                <a16:creationId xmlns:a16="http://schemas.microsoft.com/office/drawing/2014/main" id="{68D24F80-8C16-4CDD-9AE4-FAB8D8DAA522}"/>
              </a:ext>
            </a:extLst>
          </p:cNvPr>
          <p:cNvSpPr/>
          <p:nvPr/>
        </p:nvSpPr>
        <p:spPr>
          <a:xfrm>
            <a:off x="7034530" y="2397977"/>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1" name="Arrow: Down 10">
            <a:extLst>
              <a:ext uri="{FF2B5EF4-FFF2-40B4-BE49-F238E27FC236}">
                <a16:creationId xmlns:a16="http://schemas.microsoft.com/office/drawing/2014/main" id="{64211AFF-4871-410D-AE82-03C4151657A2}"/>
              </a:ext>
            </a:extLst>
          </p:cNvPr>
          <p:cNvSpPr/>
          <p:nvPr/>
        </p:nvSpPr>
        <p:spPr>
          <a:xfrm rot="1924878">
            <a:off x="10390206" y="4653950"/>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2" name="Table 11">
            <a:extLst>
              <a:ext uri="{FF2B5EF4-FFF2-40B4-BE49-F238E27FC236}">
                <a16:creationId xmlns:a16="http://schemas.microsoft.com/office/drawing/2014/main" id="{ACF61F84-857D-49F5-A057-A4D15E8F777A}"/>
              </a:ext>
            </a:extLst>
          </p:cNvPr>
          <p:cNvGraphicFramePr>
            <a:graphicFrameLocks noGrp="1"/>
          </p:cNvGraphicFramePr>
          <p:nvPr>
            <p:extLst>
              <p:ext uri="{D42A27DB-BD31-4B8C-83A1-F6EECF244321}">
                <p14:modId xmlns:p14="http://schemas.microsoft.com/office/powerpoint/2010/main" val="251941367"/>
              </p:ext>
            </p:extLst>
          </p:nvPr>
        </p:nvGraphicFramePr>
        <p:xfrm>
          <a:off x="8168640" y="2612388"/>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r>
                        <a:rPr lang="en-US" b="1" dirty="0">
                          <a:solidFill>
                            <a:schemeClr val="tx1"/>
                          </a:solidFill>
                        </a:rPr>
                        <a:t>Min</a:t>
                      </a:r>
                      <a:endParaRPr lang="hi-IN"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9715164"/>
                  </a:ext>
                </a:extLst>
              </a:tr>
            </a:tbl>
          </a:graphicData>
        </a:graphic>
      </p:graphicFrame>
      <p:graphicFrame>
        <p:nvGraphicFramePr>
          <p:cNvPr id="13" name="Table 12">
            <a:extLst>
              <a:ext uri="{FF2B5EF4-FFF2-40B4-BE49-F238E27FC236}">
                <a16:creationId xmlns:a16="http://schemas.microsoft.com/office/drawing/2014/main" id="{D27ADEB2-CD97-4A14-83C6-800FBA53C3AA}"/>
              </a:ext>
            </a:extLst>
          </p:cNvPr>
          <p:cNvGraphicFramePr>
            <a:graphicFrameLocks noGrp="1"/>
          </p:cNvGraphicFramePr>
          <p:nvPr>
            <p:extLst>
              <p:ext uri="{D42A27DB-BD31-4B8C-83A1-F6EECF244321}">
                <p14:modId xmlns:p14="http://schemas.microsoft.com/office/powerpoint/2010/main" val="945800132"/>
              </p:ext>
            </p:extLst>
          </p:nvPr>
        </p:nvGraphicFramePr>
        <p:xfrm>
          <a:off x="6941820" y="4920515"/>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14" name="Rectangle 13">
            <a:extLst>
              <a:ext uri="{FF2B5EF4-FFF2-40B4-BE49-F238E27FC236}">
                <a16:creationId xmlns:a16="http://schemas.microsoft.com/office/drawing/2014/main" id="{50B45B00-727F-4D8D-BBF6-EA0D4D282D0C}"/>
              </a:ext>
            </a:extLst>
          </p:cNvPr>
          <p:cNvSpPr/>
          <p:nvPr/>
        </p:nvSpPr>
        <p:spPr>
          <a:xfrm>
            <a:off x="515620" y="5263125"/>
            <a:ext cx="6096000" cy="923330"/>
          </a:xfrm>
          <a:prstGeom prst="rect">
            <a:avLst/>
          </a:prstGeom>
        </p:spPr>
        <p:txBody>
          <a:bodyPr>
            <a:spAutoFit/>
          </a:bodyPr>
          <a:lstStyle/>
          <a:p>
            <a:r>
              <a:rPr lang="en-US" b="1" dirty="0"/>
              <a:t>Cost of Node 6= Previous node Cost + Min of Row + Min of Col + cost of current link (i.e.) matrix[D,C] </a:t>
            </a:r>
          </a:p>
          <a:p>
            <a:r>
              <a:rPr lang="en-US" b="1" dirty="0"/>
              <a:t>                          = 75 + 20 + 0 + 0 = 95</a:t>
            </a:r>
          </a:p>
        </p:txBody>
      </p:sp>
      <p:sp>
        <p:nvSpPr>
          <p:cNvPr id="15" name="Arrow: Right 14">
            <a:extLst>
              <a:ext uri="{FF2B5EF4-FFF2-40B4-BE49-F238E27FC236}">
                <a16:creationId xmlns:a16="http://schemas.microsoft.com/office/drawing/2014/main" id="{328FA424-608B-4939-9533-89A1388B914C}"/>
              </a:ext>
            </a:extLst>
          </p:cNvPr>
          <p:cNvSpPr/>
          <p:nvPr/>
        </p:nvSpPr>
        <p:spPr>
          <a:xfrm>
            <a:off x="3326130" y="3599278"/>
            <a:ext cx="656590" cy="22088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6" name="Oval 15">
            <a:extLst>
              <a:ext uri="{FF2B5EF4-FFF2-40B4-BE49-F238E27FC236}">
                <a16:creationId xmlns:a16="http://schemas.microsoft.com/office/drawing/2014/main" id="{0DD6812E-C8BC-4AC4-8538-99C51BAF7EE3}"/>
              </a:ext>
            </a:extLst>
          </p:cNvPr>
          <p:cNvSpPr/>
          <p:nvPr/>
        </p:nvSpPr>
        <p:spPr>
          <a:xfrm>
            <a:off x="7807960" y="4098370"/>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7" name="Oval 16">
            <a:extLst>
              <a:ext uri="{FF2B5EF4-FFF2-40B4-BE49-F238E27FC236}">
                <a16:creationId xmlns:a16="http://schemas.microsoft.com/office/drawing/2014/main" id="{D5A47664-1A25-4B5C-8108-73148279BE12}"/>
              </a:ext>
            </a:extLst>
          </p:cNvPr>
          <p:cNvSpPr/>
          <p:nvPr/>
        </p:nvSpPr>
        <p:spPr>
          <a:xfrm>
            <a:off x="6356168" y="2668447"/>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pic>
        <p:nvPicPr>
          <p:cNvPr id="18" name="Picture 17">
            <a:extLst>
              <a:ext uri="{FF2B5EF4-FFF2-40B4-BE49-F238E27FC236}">
                <a16:creationId xmlns:a16="http://schemas.microsoft.com/office/drawing/2014/main" id="{918C6AB4-1F17-4548-9A9C-535EF479B8D3}"/>
              </a:ext>
            </a:extLst>
          </p:cNvPr>
          <p:cNvPicPr>
            <a:picLocks noChangeAspect="1"/>
          </p:cNvPicPr>
          <p:nvPr/>
        </p:nvPicPr>
        <p:blipFill>
          <a:blip r:embed="rId2"/>
          <a:stretch>
            <a:fillRect/>
          </a:stretch>
        </p:blipFill>
        <p:spPr>
          <a:xfrm>
            <a:off x="9327645" y="216929"/>
            <a:ext cx="2665474" cy="2159953"/>
          </a:xfrm>
          <a:prstGeom prst="rect">
            <a:avLst/>
          </a:prstGeom>
        </p:spPr>
      </p:pic>
      <p:sp>
        <p:nvSpPr>
          <p:cNvPr id="19" name="TextBox 18">
            <a:extLst>
              <a:ext uri="{FF2B5EF4-FFF2-40B4-BE49-F238E27FC236}">
                <a16:creationId xmlns:a16="http://schemas.microsoft.com/office/drawing/2014/main" id="{11427CFD-E947-E28B-53AD-3B539AEEDE92}"/>
              </a:ext>
            </a:extLst>
          </p:cNvPr>
          <p:cNvSpPr txBox="1"/>
          <p:nvPr/>
        </p:nvSpPr>
        <p:spPr>
          <a:xfrm>
            <a:off x="11532932" y="211281"/>
            <a:ext cx="460187" cy="307777"/>
          </a:xfrm>
          <a:prstGeom prst="rect">
            <a:avLst/>
          </a:prstGeom>
          <a:solidFill>
            <a:schemeClr val="bg1"/>
          </a:solidFill>
        </p:spPr>
        <p:txBody>
          <a:bodyPr wrap="square" rtlCol="0">
            <a:spAutoFit/>
          </a:bodyPr>
          <a:lstStyle/>
          <a:p>
            <a:r>
              <a:rPr lang="en-US" sz="1400" b="1" dirty="0"/>
              <a:t>70</a:t>
            </a:r>
          </a:p>
        </p:txBody>
      </p:sp>
    </p:spTree>
    <p:extLst>
      <p:ext uri="{BB962C8B-B14F-4D97-AF65-F5344CB8AC3E}">
        <p14:creationId xmlns:p14="http://schemas.microsoft.com/office/powerpoint/2010/main" val="142327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4" grpId="0"/>
      <p:bldP spid="15" grpId="0" animBg="1"/>
      <p:bldP spid="16" grpId="0" animBg="1"/>
      <p:bldP spid="1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3FD75-680B-4232-96A0-E7B0827A8EF1}"/>
              </a:ext>
            </a:extLst>
          </p:cNvPr>
          <p:cNvSpPr>
            <a:spLocks noGrp="1"/>
          </p:cNvSpPr>
          <p:nvPr>
            <p:ph type="title"/>
          </p:nvPr>
        </p:nvSpPr>
        <p:spPr/>
        <p:txBody>
          <a:bodyPr/>
          <a:lstStyle/>
          <a:p>
            <a:r>
              <a:rPr lang="en-US" b="1" dirty="0"/>
              <a:t>Example 2 : TSP -- </a:t>
            </a:r>
            <a:r>
              <a:rPr lang="en-US" b="1" dirty="0" err="1"/>
              <a:t>contd</a:t>
            </a:r>
            <a:endParaRPr lang="hi-IN" dirty="0"/>
          </a:p>
        </p:txBody>
      </p:sp>
      <p:sp>
        <p:nvSpPr>
          <p:cNvPr id="3" name="Content Placeholder 2">
            <a:extLst>
              <a:ext uri="{FF2B5EF4-FFF2-40B4-BE49-F238E27FC236}">
                <a16:creationId xmlns:a16="http://schemas.microsoft.com/office/drawing/2014/main" id="{8F04DFB7-7C6C-42C3-8AB8-95EEACAFE08B}"/>
              </a:ext>
            </a:extLst>
          </p:cNvPr>
          <p:cNvSpPr>
            <a:spLocks noGrp="1"/>
          </p:cNvSpPr>
          <p:nvPr>
            <p:ph idx="1"/>
          </p:nvPr>
        </p:nvSpPr>
        <p:spPr>
          <a:xfrm>
            <a:off x="261764" y="2243253"/>
            <a:ext cx="4079608" cy="4351338"/>
          </a:xfrm>
        </p:spPr>
        <p:txBody>
          <a:bodyPr>
            <a:normAutofit/>
          </a:bodyPr>
          <a:lstStyle/>
          <a:p>
            <a:pPr algn="just"/>
            <a:r>
              <a:rPr lang="en-US" sz="2400" dirty="0"/>
              <a:t>From the resultant tree choose the lowest cost node for the next level of exploration and proceed with the further remaining options for the salesman to explore</a:t>
            </a:r>
          </a:p>
          <a:p>
            <a:pPr algn="just"/>
            <a:r>
              <a:rPr lang="en-US" sz="2400" dirty="0"/>
              <a:t>In this case, explore node 2 and find the cost of each node in the next level</a:t>
            </a:r>
          </a:p>
          <a:p>
            <a:pPr algn="just"/>
            <a:r>
              <a:rPr lang="en-US" sz="2400" dirty="0"/>
              <a:t>Repeat the previous steps</a:t>
            </a:r>
            <a:endParaRPr lang="hi-IN" sz="2400" dirty="0"/>
          </a:p>
        </p:txBody>
      </p:sp>
      <p:sp>
        <p:nvSpPr>
          <p:cNvPr id="4" name="Footer Placeholder 3">
            <a:extLst>
              <a:ext uri="{FF2B5EF4-FFF2-40B4-BE49-F238E27FC236}">
                <a16:creationId xmlns:a16="http://schemas.microsoft.com/office/drawing/2014/main" id="{23C414B5-2F6E-4779-8D91-D9C4B4A69C8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1C01F6AC-153E-45D6-A07C-4CA856D3F431}"/>
              </a:ext>
            </a:extLst>
          </p:cNvPr>
          <p:cNvSpPr>
            <a:spLocks noGrp="1"/>
          </p:cNvSpPr>
          <p:nvPr>
            <p:ph type="sldNum" sz="quarter" idx="12"/>
          </p:nvPr>
        </p:nvSpPr>
        <p:spPr/>
        <p:txBody>
          <a:bodyPr/>
          <a:lstStyle/>
          <a:p>
            <a:fld id="{F56F9007-E0C6-489E-B603-BD6BB4385429}" type="slidenum">
              <a:rPr lang="hi-IN" smtClean="0"/>
              <a:t>39</a:t>
            </a:fld>
            <a:endParaRPr lang="hi-IN"/>
          </a:p>
        </p:txBody>
      </p:sp>
      <p:sp>
        <p:nvSpPr>
          <p:cNvPr id="15" name="Oval 14">
            <a:extLst>
              <a:ext uri="{FF2B5EF4-FFF2-40B4-BE49-F238E27FC236}">
                <a16:creationId xmlns:a16="http://schemas.microsoft.com/office/drawing/2014/main" id="{20992046-D06F-408E-A8C0-3EF07E634E17}"/>
              </a:ext>
            </a:extLst>
          </p:cNvPr>
          <p:cNvSpPr/>
          <p:nvPr/>
        </p:nvSpPr>
        <p:spPr>
          <a:xfrm>
            <a:off x="6832600" y="828358"/>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a:t>
            </a:r>
            <a:endParaRPr lang="hi-IN" b="1" dirty="0">
              <a:ln w="0"/>
              <a:solidFill>
                <a:schemeClr val="tx1"/>
              </a:solidFill>
              <a:effectLst>
                <a:outerShdw blurRad="38100" dist="19050" dir="2700000" algn="tl" rotWithShape="0">
                  <a:schemeClr val="dk1">
                    <a:alpha val="40000"/>
                  </a:schemeClr>
                </a:outerShdw>
              </a:effectLst>
            </a:endParaRPr>
          </a:p>
        </p:txBody>
      </p:sp>
      <p:sp>
        <p:nvSpPr>
          <p:cNvPr id="16" name="Oval 15">
            <a:extLst>
              <a:ext uri="{FF2B5EF4-FFF2-40B4-BE49-F238E27FC236}">
                <a16:creationId xmlns:a16="http://schemas.microsoft.com/office/drawing/2014/main" id="{18C7C7D5-0349-4DAD-AD27-7718B33D5476}"/>
              </a:ext>
            </a:extLst>
          </p:cNvPr>
          <p:cNvSpPr/>
          <p:nvPr/>
        </p:nvSpPr>
        <p:spPr>
          <a:xfrm>
            <a:off x="5567680" y="19507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17" name="Oval 16">
            <a:extLst>
              <a:ext uri="{FF2B5EF4-FFF2-40B4-BE49-F238E27FC236}">
                <a16:creationId xmlns:a16="http://schemas.microsoft.com/office/drawing/2014/main" id="{082063CF-A1F8-4558-B17A-D78D798BB3AA}"/>
              </a:ext>
            </a:extLst>
          </p:cNvPr>
          <p:cNvSpPr/>
          <p:nvPr/>
        </p:nvSpPr>
        <p:spPr>
          <a:xfrm>
            <a:off x="6832600" y="1950720"/>
            <a:ext cx="640080" cy="71389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18" name="Oval 17">
            <a:extLst>
              <a:ext uri="{FF2B5EF4-FFF2-40B4-BE49-F238E27FC236}">
                <a16:creationId xmlns:a16="http://schemas.microsoft.com/office/drawing/2014/main" id="{A461E0BC-F12C-4BBE-836D-D5491455FD3F}"/>
              </a:ext>
            </a:extLst>
          </p:cNvPr>
          <p:cNvSpPr/>
          <p:nvPr/>
        </p:nvSpPr>
        <p:spPr>
          <a:xfrm>
            <a:off x="8153400" y="19507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19" name="Straight Connector 18">
            <a:extLst>
              <a:ext uri="{FF2B5EF4-FFF2-40B4-BE49-F238E27FC236}">
                <a16:creationId xmlns:a16="http://schemas.microsoft.com/office/drawing/2014/main" id="{48F70658-5908-4BD9-BEC5-A6D3CAC9229E}"/>
              </a:ext>
            </a:extLst>
          </p:cNvPr>
          <p:cNvCxnSpPr>
            <a:stCxn id="15" idx="3"/>
            <a:endCxn id="16" idx="0"/>
          </p:cNvCxnSpPr>
          <p:nvPr/>
        </p:nvCxnSpPr>
        <p:spPr>
          <a:xfrm flipH="1">
            <a:off x="5887720" y="1392045"/>
            <a:ext cx="1038618" cy="558675"/>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CCDC89B5-6093-47F5-9B5D-6A53EB7A51D2}"/>
              </a:ext>
            </a:extLst>
          </p:cNvPr>
          <p:cNvCxnSpPr>
            <a:stCxn id="15" idx="4"/>
          </p:cNvCxnSpPr>
          <p:nvPr/>
        </p:nvCxnSpPr>
        <p:spPr>
          <a:xfrm>
            <a:off x="7152640" y="1488758"/>
            <a:ext cx="0" cy="461962"/>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718277D7-DFE2-4696-AC7F-9E56529417A9}"/>
              </a:ext>
            </a:extLst>
          </p:cNvPr>
          <p:cNvCxnSpPr>
            <a:stCxn id="15" idx="5"/>
            <a:endCxn id="18" idx="1"/>
          </p:cNvCxnSpPr>
          <p:nvPr/>
        </p:nvCxnSpPr>
        <p:spPr>
          <a:xfrm>
            <a:off x="7378942" y="1392045"/>
            <a:ext cx="868196" cy="655388"/>
          </a:xfrm>
          <a:prstGeom prst="line">
            <a:avLst/>
          </a:prstGeom>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BD74DCC1-A1FF-43B3-9BA6-F0D640324855}"/>
              </a:ext>
            </a:extLst>
          </p:cNvPr>
          <p:cNvSpPr txBox="1"/>
          <p:nvPr/>
        </p:nvSpPr>
        <p:spPr>
          <a:xfrm>
            <a:off x="7410328" y="774860"/>
            <a:ext cx="2241672" cy="369332"/>
          </a:xfrm>
          <a:prstGeom prst="rect">
            <a:avLst/>
          </a:prstGeom>
          <a:noFill/>
        </p:spPr>
        <p:txBody>
          <a:bodyPr wrap="square" rtlCol="0">
            <a:spAutoFit/>
          </a:bodyPr>
          <a:lstStyle/>
          <a:p>
            <a:r>
              <a:rPr lang="en-US" b="1" dirty="0"/>
              <a:t>Cost of node 1 = 18</a:t>
            </a:r>
            <a:endParaRPr lang="hi-IN" b="1" dirty="0"/>
          </a:p>
        </p:txBody>
      </p:sp>
      <p:sp>
        <p:nvSpPr>
          <p:cNvPr id="23" name="Rectangle 22">
            <a:extLst>
              <a:ext uri="{FF2B5EF4-FFF2-40B4-BE49-F238E27FC236}">
                <a16:creationId xmlns:a16="http://schemas.microsoft.com/office/drawing/2014/main" id="{3DC5ECF9-E22C-43BE-B9AF-74F4B9A3DD0D}"/>
              </a:ext>
            </a:extLst>
          </p:cNvPr>
          <p:cNvSpPr/>
          <p:nvPr/>
        </p:nvSpPr>
        <p:spPr>
          <a:xfrm>
            <a:off x="4078729" y="1617743"/>
            <a:ext cx="2012730" cy="369332"/>
          </a:xfrm>
          <a:prstGeom prst="rect">
            <a:avLst/>
          </a:prstGeom>
        </p:spPr>
        <p:txBody>
          <a:bodyPr wrap="none">
            <a:spAutoFit/>
          </a:bodyPr>
          <a:lstStyle/>
          <a:p>
            <a:r>
              <a:rPr lang="en-US" b="1" dirty="0"/>
              <a:t>Cost of node 2 = 80</a:t>
            </a:r>
            <a:endParaRPr lang="hi-IN" dirty="0"/>
          </a:p>
        </p:txBody>
      </p:sp>
      <p:sp>
        <p:nvSpPr>
          <p:cNvPr id="24" name="Rectangle 23">
            <a:extLst>
              <a:ext uri="{FF2B5EF4-FFF2-40B4-BE49-F238E27FC236}">
                <a16:creationId xmlns:a16="http://schemas.microsoft.com/office/drawing/2014/main" id="{342893FE-2B6C-4E30-84E3-8AF418E88E65}"/>
              </a:ext>
            </a:extLst>
          </p:cNvPr>
          <p:cNvSpPr/>
          <p:nvPr/>
        </p:nvSpPr>
        <p:spPr>
          <a:xfrm>
            <a:off x="6096000" y="2647475"/>
            <a:ext cx="2012730" cy="369332"/>
          </a:xfrm>
          <a:prstGeom prst="rect">
            <a:avLst/>
          </a:prstGeom>
        </p:spPr>
        <p:txBody>
          <a:bodyPr wrap="none">
            <a:spAutoFit/>
          </a:bodyPr>
          <a:lstStyle/>
          <a:p>
            <a:r>
              <a:rPr lang="en-US" b="1" dirty="0"/>
              <a:t>Cost of node 3 = 80</a:t>
            </a:r>
            <a:endParaRPr lang="hi-IN" dirty="0"/>
          </a:p>
        </p:txBody>
      </p:sp>
      <p:sp>
        <p:nvSpPr>
          <p:cNvPr id="25" name="Rectangle 24">
            <a:extLst>
              <a:ext uri="{FF2B5EF4-FFF2-40B4-BE49-F238E27FC236}">
                <a16:creationId xmlns:a16="http://schemas.microsoft.com/office/drawing/2014/main" id="{8BF8F75A-5154-4FA4-B8B7-2631DA6B6360}"/>
              </a:ext>
            </a:extLst>
          </p:cNvPr>
          <p:cNvSpPr/>
          <p:nvPr/>
        </p:nvSpPr>
        <p:spPr>
          <a:xfrm>
            <a:off x="8531164" y="1678942"/>
            <a:ext cx="2012730" cy="369332"/>
          </a:xfrm>
          <a:prstGeom prst="rect">
            <a:avLst/>
          </a:prstGeom>
        </p:spPr>
        <p:txBody>
          <a:bodyPr wrap="none">
            <a:spAutoFit/>
          </a:bodyPr>
          <a:lstStyle/>
          <a:p>
            <a:r>
              <a:rPr lang="en-US" b="1" dirty="0"/>
              <a:t>Cost of node 4 = 75</a:t>
            </a:r>
            <a:endParaRPr lang="hi-IN" dirty="0"/>
          </a:p>
        </p:txBody>
      </p:sp>
      <p:sp>
        <p:nvSpPr>
          <p:cNvPr id="28" name="Oval 27">
            <a:extLst>
              <a:ext uri="{FF2B5EF4-FFF2-40B4-BE49-F238E27FC236}">
                <a16:creationId xmlns:a16="http://schemas.microsoft.com/office/drawing/2014/main" id="{30904886-BBFE-4150-B2CD-A27CD8020940}"/>
              </a:ext>
            </a:extLst>
          </p:cNvPr>
          <p:cNvSpPr/>
          <p:nvPr/>
        </p:nvSpPr>
        <p:spPr>
          <a:xfrm>
            <a:off x="7956842" y="3360468"/>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29" name="Oval 28">
            <a:extLst>
              <a:ext uri="{FF2B5EF4-FFF2-40B4-BE49-F238E27FC236}">
                <a16:creationId xmlns:a16="http://schemas.microsoft.com/office/drawing/2014/main" id="{387A3C5B-7073-404C-B4E5-2CA697719806}"/>
              </a:ext>
            </a:extLst>
          </p:cNvPr>
          <p:cNvSpPr/>
          <p:nvPr/>
        </p:nvSpPr>
        <p:spPr>
          <a:xfrm>
            <a:off x="9058204" y="34581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31" name="Straight Connector 30">
            <a:extLst>
              <a:ext uri="{FF2B5EF4-FFF2-40B4-BE49-F238E27FC236}">
                <a16:creationId xmlns:a16="http://schemas.microsoft.com/office/drawing/2014/main" id="{490B0783-40B7-40C3-980D-AD3B6D7C91AF}"/>
              </a:ext>
            </a:extLst>
          </p:cNvPr>
          <p:cNvCxnSpPr>
            <a:cxnSpLocks/>
          </p:cNvCxnSpPr>
          <p:nvPr/>
        </p:nvCxnSpPr>
        <p:spPr>
          <a:xfrm flipH="1">
            <a:off x="8308599" y="2611120"/>
            <a:ext cx="151861" cy="774144"/>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43521FD0-4154-49F9-A273-0173710C960C}"/>
              </a:ext>
            </a:extLst>
          </p:cNvPr>
          <p:cNvCxnSpPr>
            <a:cxnSpLocks/>
            <a:endCxn id="29" idx="1"/>
          </p:cNvCxnSpPr>
          <p:nvPr/>
        </p:nvCxnSpPr>
        <p:spPr>
          <a:xfrm>
            <a:off x="8504003" y="2587263"/>
            <a:ext cx="647939" cy="967570"/>
          </a:xfrm>
          <a:prstGeom prst="line">
            <a:avLst/>
          </a:prstGeom>
        </p:spPr>
        <p:style>
          <a:lnRef idx="1">
            <a:schemeClr val="dk1"/>
          </a:lnRef>
          <a:fillRef idx="0">
            <a:schemeClr val="dk1"/>
          </a:fillRef>
          <a:effectRef idx="0">
            <a:schemeClr val="dk1"/>
          </a:effectRef>
          <a:fontRef idx="minor">
            <a:schemeClr val="tx1"/>
          </a:fontRef>
        </p:style>
      </p:cxnSp>
      <p:sp>
        <p:nvSpPr>
          <p:cNvPr id="34" name="Rectangle 33">
            <a:extLst>
              <a:ext uri="{FF2B5EF4-FFF2-40B4-BE49-F238E27FC236}">
                <a16:creationId xmlns:a16="http://schemas.microsoft.com/office/drawing/2014/main" id="{F3A5B992-335C-40C3-BA9B-6A2E0EE55ADE}"/>
              </a:ext>
            </a:extLst>
          </p:cNvPr>
          <p:cNvSpPr/>
          <p:nvPr/>
        </p:nvSpPr>
        <p:spPr>
          <a:xfrm>
            <a:off x="6262335" y="4093934"/>
            <a:ext cx="2012730" cy="369332"/>
          </a:xfrm>
          <a:prstGeom prst="rect">
            <a:avLst/>
          </a:prstGeom>
        </p:spPr>
        <p:txBody>
          <a:bodyPr wrap="square">
            <a:spAutoFit/>
          </a:bodyPr>
          <a:lstStyle/>
          <a:p>
            <a:r>
              <a:rPr lang="en-US" b="1" dirty="0"/>
              <a:t>node 8</a:t>
            </a:r>
            <a:endParaRPr lang="hi-IN" dirty="0"/>
          </a:p>
        </p:txBody>
      </p:sp>
      <p:sp>
        <p:nvSpPr>
          <p:cNvPr id="35" name="Rectangle 34">
            <a:extLst>
              <a:ext uri="{FF2B5EF4-FFF2-40B4-BE49-F238E27FC236}">
                <a16:creationId xmlns:a16="http://schemas.microsoft.com/office/drawing/2014/main" id="{F706ECBF-4E51-4B44-9F41-50FB802ADC2B}"/>
              </a:ext>
            </a:extLst>
          </p:cNvPr>
          <p:cNvSpPr/>
          <p:nvPr/>
        </p:nvSpPr>
        <p:spPr>
          <a:xfrm>
            <a:off x="9698284" y="3458120"/>
            <a:ext cx="2012729" cy="369332"/>
          </a:xfrm>
          <a:prstGeom prst="rect">
            <a:avLst/>
          </a:prstGeom>
        </p:spPr>
        <p:txBody>
          <a:bodyPr wrap="square">
            <a:spAutoFit/>
          </a:bodyPr>
          <a:lstStyle/>
          <a:p>
            <a:r>
              <a:rPr lang="en-US" b="1" dirty="0"/>
              <a:t>Cost of node 6 = 95</a:t>
            </a:r>
            <a:endParaRPr lang="hi-IN" dirty="0"/>
          </a:p>
        </p:txBody>
      </p:sp>
      <p:sp>
        <p:nvSpPr>
          <p:cNvPr id="30" name="Oval 29">
            <a:extLst>
              <a:ext uri="{FF2B5EF4-FFF2-40B4-BE49-F238E27FC236}">
                <a16:creationId xmlns:a16="http://schemas.microsoft.com/office/drawing/2014/main" id="{F3D13EC1-A1F0-4E96-91CD-7189516D445D}"/>
              </a:ext>
            </a:extLst>
          </p:cNvPr>
          <p:cNvSpPr/>
          <p:nvPr/>
        </p:nvSpPr>
        <p:spPr>
          <a:xfrm>
            <a:off x="4462022" y="1678372"/>
            <a:ext cx="2439848" cy="94227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26" name="Oval 25">
            <a:extLst>
              <a:ext uri="{FF2B5EF4-FFF2-40B4-BE49-F238E27FC236}">
                <a16:creationId xmlns:a16="http://schemas.microsoft.com/office/drawing/2014/main" id="{2F150835-9E20-4DC4-A72D-027EE3D9237A}"/>
              </a:ext>
            </a:extLst>
          </p:cNvPr>
          <p:cNvSpPr/>
          <p:nvPr/>
        </p:nvSpPr>
        <p:spPr>
          <a:xfrm>
            <a:off x="5322502" y="3393123"/>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27" name="Oval 26">
            <a:extLst>
              <a:ext uri="{FF2B5EF4-FFF2-40B4-BE49-F238E27FC236}">
                <a16:creationId xmlns:a16="http://schemas.microsoft.com/office/drawing/2014/main" id="{76710408-FEBA-4774-8C86-52DE19FCA929}"/>
              </a:ext>
            </a:extLst>
          </p:cNvPr>
          <p:cNvSpPr/>
          <p:nvPr/>
        </p:nvSpPr>
        <p:spPr>
          <a:xfrm>
            <a:off x="6423864" y="3490775"/>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32" name="Straight Connector 31">
            <a:extLst>
              <a:ext uri="{FF2B5EF4-FFF2-40B4-BE49-F238E27FC236}">
                <a16:creationId xmlns:a16="http://schemas.microsoft.com/office/drawing/2014/main" id="{327A5C68-8C9B-4BF7-BF69-E4F60675D995}"/>
              </a:ext>
            </a:extLst>
          </p:cNvPr>
          <p:cNvCxnSpPr>
            <a:cxnSpLocks/>
          </p:cNvCxnSpPr>
          <p:nvPr/>
        </p:nvCxnSpPr>
        <p:spPr>
          <a:xfrm flipH="1">
            <a:off x="5674259" y="2643775"/>
            <a:ext cx="151861" cy="774144"/>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80707CCB-B244-4128-A380-ACAF60C14200}"/>
              </a:ext>
            </a:extLst>
          </p:cNvPr>
          <p:cNvCxnSpPr>
            <a:cxnSpLocks/>
            <a:endCxn id="27" idx="1"/>
          </p:cNvCxnSpPr>
          <p:nvPr/>
        </p:nvCxnSpPr>
        <p:spPr>
          <a:xfrm>
            <a:off x="5869663" y="2619918"/>
            <a:ext cx="647939" cy="967570"/>
          </a:xfrm>
          <a:prstGeom prst="line">
            <a:avLst/>
          </a:prstGeom>
        </p:spPr>
        <p:style>
          <a:lnRef idx="1">
            <a:schemeClr val="dk1"/>
          </a:lnRef>
          <a:fillRef idx="0">
            <a:schemeClr val="dk1"/>
          </a:fillRef>
          <a:effectRef idx="0">
            <a:schemeClr val="dk1"/>
          </a:effectRef>
          <a:fontRef idx="minor">
            <a:schemeClr val="tx1"/>
          </a:fontRef>
        </p:style>
      </p:cxnSp>
      <p:sp>
        <p:nvSpPr>
          <p:cNvPr id="37" name="Rectangle 36">
            <a:extLst>
              <a:ext uri="{FF2B5EF4-FFF2-40B4-BE49-F238E27FC236}">
                <a16:creationId xmlns:a16="http://schemas.microsoft.com/office/drawing/2014/main" id="{79D78B76-5395-4C0C-B9FE-152EEDD91080}"/>
              </a:ext>
            </a:extLst>
          </p:cNvPr>
          <p:cNvSpPr/>
          <p:nvPr/>
        </p:nvSpPr>
        <p:spPr>
          <a:xfrm>
            <a:off x="4762445" y="4075739"/>
            <a:ext cx="1099655" cy="369332"/>
          </a:xfrm>
          <a:prstGeom prst="rect">
            <a:avLst/>
          </a:prstGeom>
        </p:spPr>
        <p:txBody>
          <a:bodyPr wrap="square">
            <a:spAutoFit/>
          </a:bodyPr>
          <a:lstStyle/>
          <a:p>
            <a:r>
              <a:rPr lang="en-US" b="1" dirty="0"/>
              <a:t>node 7</a:t>
            </a:r>
            <a:endParaRPr lang="hi-IN" dirty="0"/>
          </a:p>
        </p:txBody>
      </p:sp>
      <p:sp>
        <p:nvSpPr>
          <p:cNvPr id="38" name="Rectangle 37">
            <a:extLst>
              <a:ext uri="{FF2B5EF4-FFF2-40B4-BE49-F238E27FC236}">
                <a16:creationId xmlns:a16="http://schemas.microsoft.com/office/drawing/2014/main" id="{6AF83747-BC2B-4B84-A8C5-0529C0EA8774}"/>
              </a:ext>
            </a:extLst>
          </p:cNvPr>
          <p:cNvSpPr/>
          <p:nvPr/>
        </p:nvSpPr>
        <p:spPr>
          <a:xfrm>
            <a:off x="7467075" y="4030567"/>
            <a:ext cx="2012729" cy="369332"/>
          </a:xfrm>
          <a:prstGeom prst="rect">
            <a:avLst/>
          </a:prstGeom>
        </p:spPr>
        <p:txBody>
          <a:bodyPr wrap="square">
            <a:spAutoFit/>
          </a:bodyPr>
          <a:lstStyle/>
          <a:p>
            <a:r>
              <a:rPr lang="en-US" b="1" dirty="0"/>
              <a:t>Cost of node 5 = 95</a:t>
            </a:r>
            <a:endParaRPr lang="hi-IN" dirty="0"/>
          </a:p>
        </p:txBody>
      </p:sp>
      <p:grpSp>
        <p:nvGrpSpPr>
          <p:cNvPr id="39" name="Group 38">
            <a:extLst>
              <a:ext uri="{FF2B5EF4-FFF2-40B4-BE49-F238E27FC236}">
                <a16:creationId xmlns:a16="http://schemas.microsoft.com/office/drawing/2014/main" id="{DBA752C4-E45A-47B3-854C-F3F9EF8DBA5B}"/>
              </a:ext>
            </a:extLst>
          </p:cNvPr>
          <p:cNvGrpSpPr/>
          <p:nvPr/>
        </p:nvGrpSpPr>
        <p:grpSpPr>
          <a:xfrm>
            <a:off x="9936026" y="235938"/>
            <a:ext cx="2073696" cy="1454750"/>
            <a:chOff x="2122170" y="2053825"/>
            <a:chExt cx="3314700" cy="2491270"/>
          </a:xfrm>
        </p:grpSpPr>
        <p:pic>
          <p:nvPicPr>
            <p:cNvPr id="40" name="Picture 2">
              <a:extLst>
                <a:ext uri="{FF2B5EF4-FFF2-40B4-BE49-F238E27FC236}">
                  <a16:creationId xmlns:a16="http://schemas.microsoft.com/office/drawing/2014/main" id="{1A82A29D-21EB-4A34-8769-DF077EA866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170" y="2053825"/>
              <a:ext cx="3314700" cy="2491270"/>
            </a:xfrm>
            <a:prstGeom prst="rect">
              <a:avLst/>
            </a:prstGeom>
            <a:noFill/>
            <a:extLst>
              <a:ext uri="{909E8E84-426E-40DD-AFC4-6F175D3DCCD1}">
                <a14:hiddenFill xmlns:a14="http://schemas.microsoft.com/office/drawing/2010/main">
                  <a:solidFill>
                    <a:srgbClr val="FFFFFF"/>
                  </a:solidFill>
                </a14:hiddenFill>
              </a:ext>
            </a:extLst>
          </p:spPr>
        </p:pic>
        <p:sp>
          <p:nvSpPr>
            <p:cNvPr id="41" name="Oval 40">
              <a:extLst>
                <a:ext uri="{FF2B5EF4-FFF2-40B4-BE49-F238E27FC236}">
                  <a16:creationId xmlns:a16="http://schemas.microsoft.com/office/drawing/2014/main" id="{3011B3AD-F76C-46E9-9D56-0785E75E62D7}"/>
                </a:ext>
              </a:extLst>
            </p:cNvPr>
            <p:cNvSpPr/>
            <p:nvPr/>
          </p:nvSpPr>
          <p:spPr>
            <a:xfrm>
              <a:off x="3703321" y="2119141"/>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a:t>
              </a:r>
              <a:endParaRPr lang="hi-IN" b="1" dirty="0">
                <a:ln w="0"/>
                <a:solidFill>
                  <a:schemeClr val="tx1"/>
                </a:solidFill>
                <a:effectLst>
                  <a:outerShdw blurRad="38100" dist="19050" dir="2700000" algn="tl" rotWithShape="0">
                    <a:schemeClr val="dk1">
                      <a:alpha val="40000"/>
                    </a:schemeClr>
                  </a:outerShdw>
                </a:effectLst>
              </a:endParaRPr>
            </a:p>
          </p:txBody>
        </p:sp>
        <p:sp>
          <p:nvSpPr>
            <p:cNvPr id="42" name="Oval 41">
              <a:extLst>
                <a:ext uri="{FF2B5EF4-FFF2-40B4-BE49-F238E27FC236}">
                  <a16:creationId xmlns:a16="http://schemas.microsoft.com/office/drawing/2014/main" id="{035B7443-5F85-4C62-B4D5-E1DB42F79CB0}"/>
                </a:ext>
              </a:extLst>
            </p:cNvPr>
            <p:cNvSpPr/>
            <p:nvPr/>
          </p:nvSpPr>
          <p:spPr>
            <a:xfrm>
              <a:off x="2175327" y="3996781"/>
              <a:ext cx="426357" cy="390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43" name="Oval 42">
              <a:extLst>
                <a:ext uri="{FF2B5EF4-FFF2-40B4-BE49-F238E27FC236}">
                  <a16:creationId xmlns:a16="http://schemas.microsoft.com/office/drawing/2014/main" id="{A24ECE61-412A-4533-A2E3-51CDE33436C1}"/>
                </a:ext>
              </a:extLst>
            </p:cNvPr>
            <p:cNvSpPr/>
            <p:nvPr/>
          </p:nvSpPr>
          <p:spPr>
            <a:xfrm>
              <a:off x="4921070" y="4029194"/>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44" name="Oval 43">
              <a:extLst>
                <a:ext uri="{FF2B5EF4-FFF2-40B4-BE49-F238E27FC236}">
                  <a16:creationId xmlns:a16="http://schemas.microsoft.com/office/drawing/2014/main" id="{24CAB4CD-8B40-4C69-B082-9609CFA5403A}"/>
                </a:ext>
              </a:extLst>
            </p:cNvPr>
            <p:cNvSpPr/>
            <p:nvPr/>
          </p:nvSpPr>
          <p:spPr>
            <a:xfrm>
              <a:off x="3690258" y="3244334"/>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grpSp>
      <p:sp>
        <p:nvSpPr>
          <p:cNvPr id="6" name="TextBox 5">
            <a:extLst>
              <a:ext uri="{FF2B5EF4-FFF2-40B4-BE49-F238E27FC236}">
                <a16:creationId xmlns:a16="http://schemas.microsoft.com/office/drawing/2014/main" id="{676BB34C-7878-2987-741B-885A115820BB}"/>
              </a:ext>
            </a:extLst>
          </p:cNvPr>
          <p:cNvSpPr txBox="1"/>
          <p:nvPr/>
        </p:nvSpPr>
        <p:spPr>
          <a:xfrm>
            <a:off x="9019617" y="768567"/>
            <a:ext cx="460187" cy="369332"/>
          </a:xfrm>
          <a:prstGeom prst="rect">
            <a:avLst/>
          </a:prstGeom>
          <a:solidFill>
            <a:schemeClr val="bg1"/>
          </a:solidFill>
        </p:spPr>
        <p:txBody>
          <a:bodyPr wrap="square" rtlCol="0">
            <a:spAutoFit/>
          </a:bodyPr>
          <a:lstStyle/>
          <a:p>
            <a:r>
              <a:rPr lang="en-US" b="1" dirty="0"/>
              <a:t>70</a:t>
            </a:r>
          </a:p>
        </p:txBody>
      </p:sp>
    </p:spTree>
    <p:extLst>
      <p:ext uri="{BB962C8B-B14F-4D97-AF65-F5344CB8AC3E}">
        <p14:creationId xmlns:p14="http://schemas.microsoft.com/office/powerpoint/2010/main" val="1355277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
                                            <p:txEl>
                                              <p:pRg st="0" end="0"/>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
                                            <p:txEl>
                                              <p:pRg st="1" end="1"/>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22" grpId="0"/>
      <p:bldP spid="23" grpId="0"/>
      <p:bldP spid="24" grpId="0"/>
      <p:bldP spid="25" grpId="0"/>
      <p:bldP spid="28" grpId="0" animBg="1"/>
      <p:bldP spid="29" grpId="0" animBg="1"/>
      <p:bldP spid="34" grpId="0"/>
      <p:bldP spid="35" grpId="0"/>
      <p:bldP spid="30" grpId="0" animBg="1"/>
      <p:bldP spid="26" grpId="0" animBg="1"/>
      <p:bldP spid="27" grpId="0" animBg="1"/>
      <p:bldP spid="37" grpId="0"/>
      <p:bldP spid="3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2189-7552-4E33-9E7B-4DE20289BB36}"/>
              </a:ext>
            </a:extLst>
          </p:cNvPr>
          <p:cNvSpPr>
            <a:spLocks noGrp="1"/>
          </p:cNvSpPr>
          <p:nvPr>
            <p:ph type="title"/>
          </p:nvPr>
        </p:nvSpPr>
        <p:spPr/>
        <p:txBody>
          <a:bodyPr/>
          <a:lstStyle/>
          <a:p>
            <a:r>
              <a:rPr lang="en-US" b="1" dirty="0"/>
              <a:t>Example 2 : TSP -- </a:t>
            </a:r>
            <a:r>
              <a:rPr lang="en-US" b="1" dirty="0" err="1"/>
              <a:t>contd</a:t>
            </a:r>
            <a:endParaRPr lang="hi-IN" dirty="0"/>
          </a:p>
        </p:txBody>
      </p:sp>
      <p:sp>
        <p:nvSpPr>
          <p:cNvPr id="3" name="Content Placeholder 2">
            <a:extLst>
              <a:ext uri="{FF2B5EF4-FFF2-40B4-BE49-F238E27FC236}">
                <a16:creationId xmlns:a16="http://schemas.microsoft.com/office/drawing/2014/main" id="{37C055A1-8DCE-40BD-96BE-DC0349835FE9}"/>
              </a:ext>
            </a:extLst>
          </p:cNvPr>
          <p:cNvSpPr>
            <a:spLocks noGrp="1"/>
          </p:cNvSpPr>
          <p:nvPr>
            <p:ph idx="1"/>
          </p:nvPr>
        </p:nvSpPr>
        <p:spPr/>
        <p:txBody>
          <a:bodyPr/>
          <a:lstStyle/>
          <a:p>
            <a:r>
              <a:rPr lang="en-US" dirty="0"/>
              <a:t>Now exploring A—B—C path</a:t>
            </a:r>
          </a:p>
          <a:p>
            <a:pPr lvl="1"/>
            <a:r>
              <a:rPr lang="en-US" sz="2000" dirty="0"/>
              <a:t>The cost matrix of node B becomes…</a:t>
            </a:r>
            <a:endParaRPr lang="hi-IN" sz="2000" dirty="0"/>
          </a:p>
        </p:txBody>
      </p:sp>
      <p:sp>
        <p:nvSpPr>
          <p:cNvPr id="4" name="Footer Placeholder 3">
            <a:extLst>
              <a:ext uri="{FF2B5EF4-FFF2-40B4-BE49-F238E27FC236}">
                <a16:creationId xmlns:a16="http://schemas.microsoft.com/office/drawing/2014/main" id="{3FBCE2A8-CF2B-4146-9CF1-F8A6DCA76137}"/>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1DC7713-BE6D-4807-8365-0ED01742EAAF}"/>
              </a:ext>
            </a:extLst>
          </p:cNvPr>
          <p:cNvSpPr>
            <a:spLocks noGrp="1"/>
          </p:cNvSpPr>
          <p:nvPr>
            <p:ph type="sldNum" sz="quarter" idx="12"/>
          </p:nvPr>
        </p:nvSpPr>
        <p:spPr/>
        <p:txBody>
          <a:bodyPr/>
          <a:lstStyle/>
          <a:p>
            <a:fld id="{F56F9007-E0C6-489E-B603-BD6BB4385429}" type="slidenum">
              <a:rPr lang="hi-IN" smtClean="0"/>
              <a:t>40</a:t>
            </a:fld>
            <a:endParaRPr lang="hi-IN"/>
          </a:p>
        </p:txBody>
      </p:sp>
      <p:graphicFrame>
        <p:nvGraphicFramePr>
          <p:cNvPr id="6" name="Table 5">
            <a:extLst>
              <a:ext uri="{FF2B5EF4-FFF2-40B4-BE49-F238E27FC236}">
                <a16:creationId xmlns:a16="http://schemas.microsoft.com/office/drawing/2014/main" id="{D6F50D1C-6C10-4DEE-B1F2-B7F70D225F30}"/>
              </a:ext>
            </a:extLst>
          </p:cNvPr>
          <p:cNvGraphicFramePr>
            <a:graphicFrameLocks noGrp="1"/>
          </p:cNvGraphicFramePr>
          <p:nvPr>
            <p:extLst>
              <p:ext uri="{D42A27DB-BD31-4B8C-83A1-F6EECF244321}">
                <p14:modId xmlns:p14="http://schemas.microsoft.com/office/powerpoint/2010/main" val="1488233835"/>
              </p:ext>
            </p:extLst>
          </p:nvPr>
        </p:nvGraphicFramePr>
        <p:xfrm>
          <a:off x="177800" y="2811352"/>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6">
            <a:extLst>
              <a:ext uri="{FF2B5EF4-FFF2-40B4-BE49-F238E27FC236}">
                <a16:creationId xmlns:a16="http://schemas.microsoft.com/office/drawing/2014/main" id="{A7A71D93-ABE2-429F-8576-61090397B0B1}"/>
              </a:ext>
            </a:extLst>
          </p:cNvPr>
          <p:cNvGraphicFramePr>
            <a:graphicFrameLocks noGrp="1"/>
          </p:cNvGraphicFramePr>
          <p:nvPr>
            <p:extLst>
              <p:ext uri="{D42A27DB-BD31-4B8C-83A1-F6EECF244321}">
                <p14:modId xmlns:p14="http://schemas.microsoft.com/office/powerpoint/2010/main" val="128953352"/>
              </p:ext>
            </p:extLst>
          </p:nvPr>
        </p:nvGraphicFramePr>
        <p:xfrm>
          <a:off x="3840480" y="2791558"/>
          <a:ext cx="3180080" cy="182880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10445">
                  <a:extLst>
                    <a:ext uri="{9D8B030D-6E8A-4147-A177-3AD203B41FA5}">
                      <a16:colId xmlns:a16="http://schemas.microsoft.com/office/drawing/2014/main" val="252318787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Min</a:t>
                      </a:r>
                      <a:endParaRPr lang="hi-IN"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8" name="TextBox 7">
            <a:extLst>
              <a:ext uri="{FF2B5EF4-FFF2-40B4-BE49-F238E27FC236}">
                <a16:creationId xmlns:a16="http://schemas.microsoft.com/office/drawing/2014/main" id="{8E4B49A0-9E43-4C50-8675-1197C97366AC}"/>
              </a:ext>
            </a:extLst>
          </p:cNvPr>
          <p:cNvSpPr txBox="1"/>
          <p:nvPr/>
        </p:nvSpPr>
        <p:spPr>
          <a:xfrm>
            <a:off x="7165340" y="1642159"/>
            <a:ext cx="1102360" cy="646331"/>
          </a:xfrm>
          <a:prstGeom prst="rect">
            <a:avLst/>
          </a:prstGeom>
          <a:noFill/>
        </p:spPr>
        <p:txBody>
          <a:bodyPr wrap="square" rtlCol="0">
            <a:spAutoFit/>
          </a:bodyPr>
          <a:lstStyle/>
          <a:p>
            <a:r>
              <a:rPr lang="en-US" b="1" dirty="0"/>
              <a:t>Reduce by row</a:t>
            </a:r>
            <a:endParaRPr lang="hi-IN" b="1" dirty="0"/>
          </a:p>
        </p:txBody>
      </p:sp>
      <p:sp>
        <p:nvSpPr>
          <p:cNvPr id="9" name="TextBox 8">
            <a:extLst>
              <a:ext uri="{FF2B5EF4-FFF2-40B4-BE49-F238E27FC236}">
                <a16:creationId xmlns:a16="http://schemas.microsoft.com/office/drawing/2014/main" id="{655296CB-F437-46A9-A2A7-93457B0439B7}"/>
              </a:ext>
            </a:extLst>
          </p:cNvPr>
          <p:cNvSpPr txBox="1"/>
          <p:nvPr/>
        </p:nvSpPr>
        <p:spPr>
          <a:xfrm>
            <a:off x="10443546" y="5135484"/>
            <a:ext cx="1353820" cy="646331"/>
          </a:xfrm>
          <a:prstGeom prst="rect">
            <a:avLst/>
          </a:prstGeom>
          <a:noFill/>
        </p:spPr>
        <p:txBody>
          <a:bodyPr wrap="square" rtlCol="0">
            <a:spAutoFit/>
          </a:bodyPr>
          <a:lstStyle/>
          <a:p>
            <a:r>
              <a:rPr lang="en-US" b="1" dirty="0"/>
              <a:t>Reduce by column</a:t>
            </a:r>
            <a:endParaRPr lang="hi-IN" b="1" dirty="0"/>
          </a:p>
        </p:txBody>
      </p:sp>
      <p:sp>
        <p:nvSpPr>
          <p:cNvPr id="10" name="Arrow: Right 9">
            <a:extLst>
              <a:ext uri="{FF2B5EF4-FFF2-40B4-BE49-F238E27FC236}">
                <a16:creationId xmlns:a16="http://schemas.microsoft.com/office/drawing/2014/main" id="{68D24F80-8C16-4CDD-9AE4-FAB8D8DAA522}"/>
              </a:ext>
            </a:extLst>
          </p:cNvPr>
          <p:cNvSpPr/>
          <p:nvPr/>
        </p:nvSpPr>
        <p:spPr>
          <a:xfrm>
            <a:off x="7034530" y="2397977"/>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1" name="Arrow: Down 10">
            <a:extLst>
              <a:ext uri="{FF2B5EF4-FFF2-40B4-BE49-F238E27FC236}">
                <a16:creationId xmlns:a16="http://schemas.microsoft.com/office/drawing/2014/main" id="{64211AFF-4871-410D-AE82-03C4151657A2}"/>
              </a:ext>
            </a:extLst>
          </p:cNvPr>
          <p:cNvSpPr/>
          <p:nvPr/>
        </p:nvSpPr>
        <p:spPr>
          <a:xfrm rot="1924878">
            <a:off x="10390206" y="4653950"/>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2" name="Table 11">
            <a:extLst>
              <a:ext uri="{FF2B5EF4-FFF2-40B4-BE49-F238E27FC236}">
                <a16:creationId xmlns:a16="http://schemas.microsoft.com/office/drawing/2014/main" id="{ACF61F84-857D-49F5-A057-A4D15E8F777A}"/>
              </a:ext>
            </a:extLst>
          </p:cNvPr>
          <p:cNvGraphicFramePr>
            <a:graphicFrameLocks noGrp="1"/>
          </p:cNvGraphicFramePr>
          <p:nvPr>
            <p:extLst>
              <p:ext uri="{D42A27DB-BD31-4B8C-83A1-F6EECF244321}">
                <p14:modId xmlns:p14="http://schemas.microsoft.com/office/powerpoint/2010/main" val="2331962165"/>
              </p:ext>
            </p:extLst>
          </p:nvPr>
        </p:nvGraphicFramePr>
        <p:xfrm>
          <a:off x="8168640" y="2612388"/>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r>
                        <a:rPr lang="en-US" b="1" dirty="0">
                          <a:solidFill>
                            <a:schemeClr val="tx1"/>
                          </a:solidFill>
                        </a:rPr>
                        <a:t>Min</a:t>
                      </a:r>
                      <a:endParaRPr lang="hi-IN"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9715164"/>
                  </a:ext>
                </a:extLst>
              </a:tr>
            </a:tbl>
          </a:graphicData>
        </a:graphic>
      </p:graphicFrame>
      <p:graphicFrame>
        <p:nvGraphicFramePr>
          <p:cNvPr id="13" name="Table 12">
            <a:extLst>
              <a:ext uri="{FF2B5EF4-FFF2-40B4-BE49-F238E27FC236}">
                <a16:creationId xmlns:a16="http://schemas.microsoft.com/office/drawing/2014/main" id="{D27ADEB2-CD97-4A14-83C6-800FBA53C3AA}"/>
              </a:ext>
            </a:extLst>
          </p:cNvPr>
          <p:cNvGraphicFramePr>
            <a:graphicFrameLocks noGrp="1"/>
          </p:cNvGraphicFramePr>
          <p:nvPr>
            <p:extLst>
              <p:ext uri="{D42A27DB-BD31-4B8C-83A1-F6EECF244321}">
                <p14:modId xmlns:p14="http://schemas.microsoft.com/office/powerpoint/2010/main" val="1437111313"/>
              </p:ext>
            </p:extLst>
          </p:nvPr>
        </p:nvGraphicFramePr>
        <p:xfrm>
          <a:off x="6941820" y="4925970"/>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14" name="Rectangle 13">
            <a:extLst>
              <a:ext uri="{FF2B5EF4-FFF2-40B4-BE49-F238E27FC236}">
                <a16:creationId xmlns:a16="http://schemas.microsoft.com/office/drawing/2014/main" id="{50B45B00-727F-4D8D-BBF6-EA0D4D282D0C}"/>
              </a:ext>
            </a:extLst>
          </p:cNvPr>
          <p:cNvSpPr/>
          <p:nvPr/>
        </p:nvSpPr>
        <p:spPr>
          <a:xfrm>
            <a:off x="515620" y="5263125"/>
            <a:ext cx="6096000" cy="923330"/>
          </a:xfrm>
          <a:prstGeom prst="rect">
            <a:avLst/>
          </a:prstGeom>
        </p:spPr>
        <p:txBody>
          <a:bodyPr>
            <a:spAutoFit/>
          </a:bodyPr>
          <a:lstStyle/>
          <a:p>
            <a:r>
              <a:rPr lang="en-US" b="1" dirty="0"/>
              <a:t>Cost of Node 7= Previous node Cost + Min of Row + Min of Col + cost of current link (i.e.) matrix[B,C] </a:t>
            </a:r>
          </a:p>
          <a:p>
            <a:r>
              <a:rPr lang="en-US" b="1" dirty="0"/>
              <a:t>               = 80 + 5 + 0 + 10 = 95</a:t>
            </a:r>
            <a:endParaRPr lang="hi-IN" b="1" dirty="0"/>
          </a:p>
        </p:txBody>
      </p:sp>
      <p:sp>
        <p:nvSpPr>
          <p:cNvPr id="15" name="Arrow: Right 14">
            <a:extLst>
              <a:ext uri="{FF2B5EF4-FFF2-40B4-BE49-F238E27FC236}">
                <a16:creationId xmlns:a16="http://schemas.microsoft.com/office/drawing/2014/main" id="{328FA424-608B-4939-9533-89A1388B914C}"/>
              </a:ext>
            </a:extLst>
          </p:cNvPr>
          <p:cNvSpPr/>
          <p:nvPr/>
        </p:nvSpPr>
        <p:spPr>
          <a:xfrm>
            <a:off x="3326130" y="3599278"/>
            <a:ext cx="656590" cy="22088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6" name="Oval 15">
            <a:extLst>
              <a:ext uri="{FF2B5EF4-FFF2-40B4-BE49-F238E27FC236}">
                <a16:creationId xmlns:a16="http://schemas.microsoft.com/office/drawing/2014/main" id="{DD2C6A71-C3B0-4656-A6CA-6C67E8D1EEDA}"/>
              </a:ext>
            </a:extLst>
          </p:cNvPr>
          <p:cNvSpPr/>
          <p:nvPr/>
        </p:nvSpPr>
        <p:spPr>
          <a:xfrm>
            <a:off x="7807960" y="4098370"/>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7" name="Oval 16">
            <a:extLst>
              <a:ext uri="{FF2B5EF4-FFF2-40B4-BE49-F238E27FC236}">
                <a16:creationId xmlns:a16="http://schemas.microsoft.com/office/drawing/2014/main" id="{D6585A32-2A23-4332-845A-E7CA4113080B}"/>
              </a:ext>
            </a:extLst>
          </p:cNvPr>
          <p:cNvSpPr/>
          <p:nvPr/>
        </p:nvSpPr>
        <p:spPr>
          <a:xfrm>
            <a:off x="6356168" y="2668447"/>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pic>
        <p:nvPicPr>
          <p:cNvPr id="18" name="Picture 17">
            <a:extLst>
              <a:ext uri="{FF2B5EF4-FFF2-40B4-BE49-F238E27FC236}">
                <a16:creationId xmlns:a16="http://schemas.microsoft.com/office/drawing/2014/main" id="{15E1B57C-AA00-4DD8-8DFB-937355EF0B70}"/>
              </a:ext>
            </a:extLst>
          </p:cNvPr>
          <p:cNvPicPr>
            <a:picLocks noChangeAspect="1"/>
          </p:cNvPicPr>
          <p:nvPr/>
        </p:nvPicPr>
        <p:blipFill>
          <a:blip r:embed="rId2"/>
          <a:stretch>
            <a:fillRect/>
          </a:stretch>
        </p:blipFill>
        <p:spPr>
          <a:xfrm>
            <a:off x="9479085" y="168980"/>
            <a:ext cx="2535115" cy="1814409"/>
          </a:xfrm>
          <a:prstGeom prst="rect">
            <a:avLst/>
          </a:prstGeom>
        </p:spPr>
      </p:pic>
      <p:sp>
        <p:nvSpPr>
          <p:cNvPr id="19" name="TextBox 18">
            <a:extLst>
              <a:ext uri="{FF2B5EF4-FFF2-40B4-BE49-F238E27FC236}">
                <a16:creationId xmlns:a16="http://schemas.microsoft.com/office/drawing/2014/main" id="{894099BC-FD61-F35D-E3C9-8DFB2F82BC12}"/>
              </a:ext>
            </a:extLst>
          </p:cNvPr>
          <p:cNvSpPr txBox="1"/>
          <p:nvPr/>
        </p:nvSpPr>
        <p:spPr>
          <a:xfrm>
            <a:off x="11594576" y="159911"/>
            <a:ext cx="460187" cy="307777"/>
          </a:xfrm>
          <a:prstGeom prst="rect">
            <a:avLst/>
          </a:prstGeom>
          <a:solidFill>
            <a:schemeClr val="bg1"/>
          </a:solidFill>
        </p:spPr>
        <p:txBody>
          <a:bodyPr wrap="square" rtlCol="0">
            <a:spAutoFit/>
          </a:bodyPr>
          <a:lstStyle/>
          <a:p>
            <a:r>
              <a:rPr lang="en-US" sz="1400" b="1" dirty="0"/>
              <a:t>70</a:t>
            </a:r>
          </a:p>
        </p:txBody>
      </p:sp>
    </p:spTree>
    <p:extLst>
      <p:ext uri="{BB962C8B-B14F-4D97-AF65-F5344CB8AC3E}">
        <p14:creationId xmlns:p14="http://schemas.microsoft.com/office/powerpoint/2010/main" val="962720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4" grpId="0"/>
      <p:bldP spid="15" grpId="0" animBg="1"/>
      <p:bldP spid="16" grpId="0" animBg="1"/>
      <p:bldP spid="1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2189-7552-4E33-9E7B-4DE20289BB36}"/>
              </a:ext>
            </a:extLst>
          </p:cNvPr>
          <p:cNvSpPr>
            <a:spLocks noGrp="1"/>
          </p:cNvSpPr>
          <p:nvPr>
            <p:ph type="title"/>
          </p:nvPr>
        </p:nvSpPr>
        <p:spPr/>
        <p:txBody>
          <a:bodyPr/>
          <a:lstStyle/>
          <a:p>
            <a:r>
              <a:rPr lang="en-US" b="1" dirty="0"/>
              <a:t>Example 2 : TSP -- </a:t>
            </a:r>
            <a:r>
              <a:rPr lang="en-US" b="1" dirty="0" err="1"/>
              <a:t>contd</a:t>
            </a:r>
            <a:endParaRPr lang="hi-IN" dirty="0"/>
          </a:p>
        </p:txBody>
      </p:sp>
      <p:sp>
        <p:nvSpPr>
          <p:cNvPr id="3" name="Content Placeholder 2">
            <a:extLst>
              <a:ext uri="{FF2B5EF4-FFF2-40B4-BE49-F238E27FC236}">
                <a16:creationId xmlns:a16="http://schemas.microsoft.com/office/drawing/2014/main" id="{37C055A1-8DCE-40BD-96BE-DC0349835FE9}"/>
              </a:ext>
            </a:extLst>
          </p:cNvPr>
          <p:cNvSpPr>
            <a:spLocks noGrp="1"/>
          </p:cNvSpPr>
          <p:nvPr>
            <p:ph idx="1"/>
          </p:nvPr>
        </p:nvSpPr>
        <p:spPr/>
        <p:txBody>
          <a:bodyPr/>
          <a:lstStyle/>
          <a:p>
            <a:r>
              <a:rPr lang="en-US" dirty="0"/>
              <a:t>Now exploring A — B—D path</a:t>
            </a:r>
          </a:p>
          <a:p>
            <a:pPr lvl="1"/>
            <a:r>
              <a:rPr lang="en-US" sz="2000" dirty="0"/>
              <a:t>The cost matrix of node B becomes…</a:t>
            </a:r>
            <a:endParaRPr lang="hi-IN" sz="2000" dirty="0"/>
          </a:p>
        </p:txBody>
      </p:sp>
      <p:sp>
        <p:nvSpPr>
          <p:cNvPr id="4" name="Footer Placeholder 3">
            <a:extLst>
              <a:ext uri="{FF2B5EF4-FFF2-40B4-BE49-F238E27FC236}">
                <a16:creationId xmlns:a16="http://schemas.microsoft.com/office/drawing/2014/main" id="{3FBCE2A8-CF2B-4146-9CF1-F8A6DCA76137}"/>
              </a:ext>
            </a:extLst>
          </p:cNvPr>
          <p:cNvSpPr>
            <a:spLocks noGrp="1"/>
          </p:cNvSpPr>
          <p:nvPr>
            <p:ph type="ftr" sz="quarter" idx="11"/>
          </p:nvPr>
        </p:nvSpPr>
        <p:spPr/>
        <p:txBody>
          <a:bodyPr/>
          <a:lstStyle/>
          <a:p>
            <a:r>
              <a:rPr lang="en-US" dirty="0"/>
              <a:t>Amrita School of Engineering</a:t>
            </a:r>
            <a:endParaRPr lang="hi-IN" dirty="0"/>
          </a:p>
        </p:txBody>
      </p:sp>
      <p:sp>
        <p:nvSpPr>
          <p:cNvPr id="5" name="Slide Number Placeholder 4">
            <a:extLst>
              <a:ext uri="{FF2B5EF4-FFF2-40B4-BE49-F238E27FC236}">
                <a16:creationId xmlns:a16="http://schemas.microsoft.com/office/drawing/2014/main" id="{B1DC7713-BE6D-4807-8365-0ED01742EAAF}"/>
              </a:ext>
            </a:extLst>
          </p:cNvPr>
          <p:cNvSpPr>
            <a:spLocks noGrp="1"/>
          </p:cNvSpPr>
          <p:nvPr>
            <p:ph type="sldNum" sz="quarter" idx="12"/>
          </p:nvPr>
        </p:nvSpPr>
        <p:spPr/>
        <p:txBody>
          <a:bodyPr/>
          <a:lstStyle/>
          <a:p>
            <a:fld id="{F56F9007-E0C6-489E-B603-BD6BB4385429}" type="slidenum">
              <a:rPr lang="hi-IN" smtClean="0"/>
              <a:t>41</a:t>
            </a:fld>
            <a:endParaRPr lang="hi-IN"/>
          </a:p>
        </p:txBody>
      </p:sp>
      <p:graphicFrame>
        <p:nvGraphicFramePr>
          <p:cNvPr id="6" name="Table 5">
            <a:extLst>
              <a:ext uri="{FF2B5EF4-FFF2-40B4-BE49-F238E27FC236}">
                <a16:creationId xmlns:a16="http://schemas.microsoft.com/office/drawing/2014/main" id="{D6F50D1C-6C10-4DEE-B1F2-B7F70D225F30}"/>
              </a:ext>
            </a:extLst>
          </p:cNvPr>
          <p:cNvGraphicFramePr>
            <a:graphicFrameLocks noGrp="1"/>
          </p:cNvGraphicFramePr>
          <p:nvPr>
            <p:extLst>
              <p:ext uri="{D42A27DB-BD31-4B8C-83A1-F6EECF244321}">
                <p14:modId xmlns:p14="http://schemas.microsoft.com/office/powerpoint/2010/main" val="493756086"/>
              </p:ext>
            </p:extLst>
          </p:nvPr>
        </p:nvGraphicFramePr>
        <p:xfrm>
          <a:off x="177800" y="2811352"/>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6">
            <a:extLst>
              <a:ext uri="{FF2B5EF4-FFF2-40B4-BE49-F238E27FC236}">
                <a16:creationId xmlns:a16="http://schemas.microsoft.com/office/drawing/2014/main" id="{A7A71D93-ABE2-429F-8576-61090397B0B1}"/>
              </a:ext>
            </a:extLst>
          </p:cNvPr>
          <p:cNvGraphicFramePr>
            <a:graphicFrameLocks noGrp="1"/>
          </p:cNvGraphicFramePr>
          <p:nvPr>
            <p:extLst>
              <p:ext uri="{D42A27DB-BD31-4B8C-83A1-F6EECF244321}">
                <p14:modId xmlns:p14="http://schemas.microsoft.com/office/powerpoint/2010/main" val="3882942643"/>
              </p:ext>
            </p:extLst>
          </p:nvPr>
        </p:nvGraphicFramePr>
        <p:xfrm>
          <a:off x="3840480" y="2791558"/>
          <a:ext cx="3180080" cy="182880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10445">
                  <a:extLst>
                    <a:ext uri="{9D8B030D-6E8A-4147-A177-3AD203B41FA5}">
                      <a16:colId xmlns:a16="http://schemas.microsoft.com/office/drawing/2014/main" val="252318787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Min</a:t>
                      </a:r>
                      <a:endParaRPr lang="hi-IN"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8" name="TextBox 7">
            <a:extLst>
              <a:ext uri="{FF2B5EF4-FFF2-40B4-BE49-F238E27FC236}">
                <a16:creationId xmlns:a16="http://schemas.microsoft.com/office/drawing/2014/main" id="{8E4B49A0-9E43-4C50-8675-1197C97366AC}"/>
              </a:ext>
            </a:extLst>
          </p:cNvPr>
          <p:cNvSpPr txBox="1"/>
          <p:nvPr/>
        </p:nvSpPr>
        <p:spPr>
          <a:xfrm>
            <a:off x="7165340" y="1642159"/>
            <a:ext cx="1102360" cy="646331"/>
          </a:xfrm>
          <a:prstGeom prst="rect">
            <a:avLst/>
          </a:prstGeom>
          <a:noFill/>
        </p:spPr>
        <p:txBody>
          <a:bodyPr wrap="square" rtlCol="0">
            <a:spAutoFit/>
          </a:bodyPr>
          <a:lstStyle/>
          <a:p>
            <a:r>
              <a:rPr lang="en-US" b="1" dirty="0"/>
              <a:t>Reduce by row</a:t>
            </a:r>
            <a:endParaRPr lang="hi-IN" b="1" dirty="0"/>
          </a:p>
        </p:txBody>
      </p:sp>
      <p:sp>
        <p:nvSpPr>
          <p:cNvPr id="9" name="TextBox 8">
            <a:extLst>
              <a:ext uri="{FF2B5EF4-FFF2-40B4-BE49-F238E27FC236}">
                <a16:creationId xmlns:a16="http://schemas.microsoft.com/office/drawing/2014/main" id="{655296CB-F437-46A9-A2A7-93457B0439B7}"/>
              </a:ext>
            </a:extLst>
          </p:cNvPr>
          <p:cNvSpPr txBox="1"/>
          <p:nvPr/>
        </p:nvSpPr>
        <p:spPr>
          <a:xfrm>
            <a:off x="10443546" y="5135484"/>
            <a:ext cx="1353820" cy="646331"/>
          </a:xfrm>
          <a:prstGeom prst="rect">
            <a:avLst/>
          </a:prstGeom>
          <a:noFill/>
        </p:spPr>
        <p:txBody>
          <a:bodyPr wrap="square" rtlCol="0">
            <a:spAutoFit/>
          </a:bodyPr>
          <a:lstStyle/>
          <a:p>
            <a:r>
              <a:rPr lang="en-US" b="1" dirty="0"/>
              <a:t>Reduce by column</a:t>
            </a:r>
            <a:endParaRPr lang="hi-IN" b="1" dirty="0"/>
          </a:p>
        </p:txBody>
      </p:sp>
      <p:sp>
        <p:nvSpPr>
          <p:cNvPr id="10" name="Arrow: Right 9">
            <a:extLst>
              <a:ext uri="{FF2B5EF4-FFF2-40B4-BE49-F238E27FC236}">
                <a16:creationId xmlns:a16="http://schemas.microsoft.com/office/drawing/2014/main" id="{68D24F80-8C16-4CDD-9AE4-FAB8D8DAA522}"/>
              </a:ext>
            </a:extLst>
          </p:cNvPr>
          <p:cNvSpPr/>
          <p:nvPr/>
        </p:nvSpPr>
        <p:spPr>
          <a:xfrm>
            <a:off x="7034530" y="2397977"/>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1" name="Arrow: Down 10">
            <a:extLst>
              <a:ext uri="{FF2B5EF4-FFF2-40B4-BE49-F238E27FC236}">
                <a16:creationId xmlns:a16="http://schemas.microsoft.com/office/drawing/2014/main" id="{64211AFF-4871-410D-AE82-03C4151657A2}"/>
              </a:ext>
            </a:extLst>
          </p:cNvPr>
          <p:cNvSpPr/>
          <p:nvPr/>
        </p:nvSpPr>
        <p:spPr>
          <a:xfrm rot="1924878">
            <a:off x="10390206" y="4653950"/>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2" name="Table 11">
            <a:extLst>
              <a:ext uri="{FF2B5EF4-FFF2-40B4-BE49-F238E27FC236}">
                <a16:creationId xmlns:a16="http://schemas.microsoft.com/office/drawing/2014/main" id="{ACF61F84-857D-49F5-A057-A4D15E8F777A}"/>
              </a:ext>
            </a:extLst>
          </p:cNvPr>
          <p:cNvGraphicFramePr>
            <a:graphicFrameLocks noGrp="1"/>
          </p:cNvGraphicFramePr>
          <p:nvPr>
            <p:extLst>
              <p:ext uri="{D42A27DB-BD31-4B8C-83A1-F6EECF244321}">
                <p14:modId xmlns:p14="http://schemas.microsoft.com/office/powerpoint/2010/main" val="3397422994"/>
              </p:ext>
            </p:extLst>
          </p:nvPr>
        </p:nvGraphicFramePr>
        <p:xfrm>
          <a:off x="8168640" y="2612388"/>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r>
                        <a:rPr lang="en-US" b="1" dirty="0">
                          <a:solidFill>
                            <a:schemeClr val="tx1"/>
                          </a:solidFill>
                        </a:rPr>
                        <a:t>Min</a:t>
                      </a:r>
                      <a:endParaRPr lang="hi-IN"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9715164"/>
                  </a:ext>
                </a:extLst>
              </a:tr>
            </a:tbl>
          </a:graphicData>
        </a:graphic>
      </p:graphicFrame>
      <p:graphicFrame>
        <p:nvGraphicFramePr>
          <p:cNvPr id="13" name="Table 12">
            <a:extLst>
              <a:ext uri="{FF2B5EF4-FFF2-40B4-BE49-F238E27FC236}">
                <a16:creationId xmlns:a16="http://schemas.microsoft.com/office/drawing/2014/main" id="{D27ADEB2-CD97-4A14-83C6-800FBA53C3AA}"/>
              </a:ext>
            </a:extLst>
          </p:cNvPr>
          <p:cNvGraphicFramePr>
            <a:graphicFrameLocks noGrp="1"/>
          </p:cNvGraphicFramePr>
          <p:nvPr>
            <p:extLst>
              <p:ext uri="{D42A27DB-BD31-4B8C-83A1-F6EECF244321}">
                <p14:modId xmlns:p14="http://schemas.microsoft.com/office/powerpoint/2010/main" val="2247195770"/>
              </p:ext>
            </p:extLst>
          </p:nvPr>
        </p:nvGraphicFramePr>
        <p:xfrm>
          <a:off x="6941820" y="4920515"/>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14" name="Rectangle 13">
            <a:extLst>
              <a:ext uri="{FF2B5EF4-FFF2-40B4-BE49-F238E27FC236}">
                <a16:creationId xmlns:a16="http://schemas.microsoft.com/office/drawing/2014/main" id="{50B45B00-727F-4D8D-BBF6-EA0D4D282D0C}"/>
              </a:ext>
            </a:extLst>
          </p:cNvPr>
          <p:cNvSpPr/>
          <p:nvPr/>
        </p:nvSpPr>
        <p:spPr>
          <a:xfrm>
            <a:off x="515620" y="5263125"/>
            <a:ext cx="6096000" cy="923330"/>
          </a:xfrm>
          <a:prstGeom prst="rect">
            <a:avLst/>
          </a:prstGeom>
        </p:spPr>
        <p:txBody>
          <a:bodyPr>
            <a:spAutoFit/>
          </a:bodyPr>
          <a:lstStyle/>
          <a:p>
            <a:r>
              <a:rPr lang="en-US" b="1" dirty="0"/>
              <a:t>Cost of Node 8= Previous node Cost + Min of Row + Min of Col + cost of current link (i.e.) matrix[B,D] </a:t>
            </a:r>
          </a:p>
          <a:p>
            <a:r>
              <a:rPr lang="en-US" b="1" dirty="0"/>
              <a:t>                       = 80 + 0 + 0 + 0 = 80</a:t>
            </a:r>
          </a:p>
        </p:txBody>
      </p:sp>
      <p:sp>
        <p:nvSpPr>
          <p:cNvPr id="15" name="Arrow: Right 14">
            <a:extLst>
              <a:ext uri="{FF2B5EF4-FFF2-40B4-BE49-F238E27FC236}">
                <a16:creationId xmlns:a16="http://schemas.microsoft.com/office/drawing/2014/main" id="{328FA424-608B-4939-9533-89A1388B914C}"/>
              </a:ext>
            </a:extLst>
          </p:cNvPr>
          <p:cNvSpPr/>
          <p:nvPr/>
        </p:nvSpPr>
        <p:spPr>
          <a:xfrm>
            <a:off x="3326130" y="3599278"/>
            <a:ext cx="656590" cy="22088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6" name="Oval 15">
            <a:extLst>
              <a:ext uri="{FF2B5EF4-FFF2-40B4-BE49-F238E27FC236}">
                <a16:creationId xmlns:a16="http://schemas.microsoft.com/office/drawing/2014/main" id="{0DD6812E-C8BC-4AC4-8538-99C51BAF7EE3}"/>
              </a:ext>
            </a:extLst>
          </p:cNvPr>
          <p:cNvSpPr/>
          <p:nvPr/>
        </p:nvSpPr>
        <p:spPr>
          <a:xfrm>
            <a:off x="7807960" y="4098370"/>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7" name="Oval 16">
            <a:extLst>
              <a:ext uri="{FF2B5EF4-FFF2-40B4-BE49-F238E27FC236}">
                <a16:creationId xmlns:a16="http://schemas.microsoft.com/office/drawing/2014/main" id="{D5A47664-1A25-4B5C-8108-73148279BE12}"/>
              </a:ext>
            </a:extLst>
          </p:cNvPr>
          <p:cNvSpPr/>
          <p:nvPr/>
        </p:nvSpPr>
        <p:spPr>
          <a:xfrm>
            <a:off x="6356168" y="2668447"/>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pic>
        <p:nvPicPr>
          <p:cNvPr id="18" name="Picture 17">
            <a:extLst>
              <a:ext uri="{FF2B5EF4-FFF2-40B4-BE49-F238E27FC236}">
                <a16:creationId xmlns:a16="http://schemas.microsoft.com/office/drawing/2014/main" id="{49157173-EFA8-4D8D-9DA2-DE86864A2069}"/>
              </a:ext>
            </a:extLst>
          </p:cNvPr>
          <p:cNvPicPr>
            <a:picLocks noChangeAspect="1"/>
          </p:cNvPicPr>
          <p:nvPr/>
        </p:nvPicPr>
        <p:blipFill>
          <a:blip r:embed="rId2"/>
          <a:stretch>
            <a:fillRect/>
          </a:stretch>
        </p:blipFill>
        <p:spPr>
          <a:xfrm>
            <a:off x="9479085" y="168980"/>
            <a:ext cx="2535115" cy="1814409"/>
          </a:xfrm>
          <a:prstGeom prst="rect">
            <a:avLst/>
          </a:prstGeom>
        </p:spPr>
      </p:pic>
      <p:sp>
        <p:nvSpPr>
          <p:cNvPr id="19" name="TextBox 18">
            <a:extLst>
              <a:ext uri="{FF2B5EF4-FFF2-40B4-BE49-F238E27FC236}">
                <a16:creationId xmlns:a16="http://schemas.microsoft.com/office/drawing/2014/main" id="{0EBAD257-CF82-7C04-3740-9931BF957C60}"/>
              </a:ext>
            </a:extLst>
          </p:cNvPr>
          <p:cNvSpPr txBox="1"/>
          <p:nvPr/>
        </p:nvSpPr>
        <p:spPr>
          <a:xfrm>
            <a:off x="11594576" y="159911"/>
            <a:ext cx="460187" cy="307777"/>
          </a:xfrm>
          <a:prstGeom prst="rect">
            <a:avLst/>
          </a:prstGeom>
          <a:solidFill>
            <a:schemeClr val="bg1"/>
          </a:solidFill>
        </p:spPr>
        <p:txBody>
          <a:bodyPr wrap="square" rtlCol="0">
            <a:spAutoFit/>
          </a:bodyPr>
          <a:lstStyle/>
          <a:p>
            <a:r>
              <a:rPr lang="en-US" sz="1400" b="1" dirty="0"/>
              <a:t>70</a:t>
            </a:r>
          </a:p>
        </p:txBody>
      </p:sp>
    </p:spTree>
    <p:extLst>
      <p:ext uri="{BB962C8B-B14F-4D97-AF65-F5344CB8AC3E}">
        <p14:creationId xmlns:p14="http://schemas.microsoft.com/office/powerpoint/2010/main" val="380213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4" grpId="0"/>
      <p:bldP spid="15" grpId="0" animBg="1"/>
      <p:bldP spid="16" grpId="0" animBg="1"/>
      <p:bldP spid="1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3FD75-680B-4232-96A0-E7B0827A8EF1}"/>
              </a:ext>
            </a:extLst>
          </p:cNvPr>
          <p:cNvSpPr>
            <a:spLocks noGrp="1"/>
          </p:cNvSpPr>
          <p:nvPr>
            <p:ph type="title"/>
          </p:nvPr>
        </p:nvSpPr>
        <p:spPr/>
        <p:txBody>
          <a:bodyPr/>
          <a:lstStyle/>
          <a:p>
            <a:r>
              <a:rPr lang="en-US" b="1" dirty="0"/>
              <a:t>Example 2 : TSP -- </a:t>
            </a:r>
            <a:r>
              <a:rPr lang="en-US" b="1" dirty="0" err="1"/>
              <a:t>contd</a:t>
            </a:r>
            <a:endParaRPr lang="hi-IN" dirty="0"/>
          </a:p>
        </p:txBody>
      </p:sp>
      <p:sp>
        <p:nvSpPr>
          <p:cNvPr id="3" name="Content Placeholder 2">
            <a:extLst>
              <a:ext uri="{FF2B5EF4-FFF2-40B4-BE49-F238E27FC236}">
                <a16:creationId xmlns:a16="http://schemas.microsoft.com/office/drawing/2014/main" id="{8F04DFB7-7C6C-42C3-8AB8-95EEACAFE08B}"/>
              </a:ext>
            </a:extLst>
          </p:cNvPr>
          <p:cNvSpPr>
            <a:spLocks noGrp="1"/>
          </p:cNvSpPr>
          <p:nvPr>
            <p:ph idx="1"/>
          </p:nvPr>
        </p:nvSpPr>
        <p:spPr>
          <a:xfrm>
            <a:off x="261764" y="2243253"/>
            <a:ext cx="4079608" cy="4351338"/>
          </a:xfrm>
        </p:spPr>
        <p:txBody>
          <a:bodyPr>
            <a:normAutofit/>
          </a:bodyPr>
          <a:lstStyle/>
          <a:p>
            <a:pPr algn="just"/>
            <a:r>
              <a:rPr lang="en-US" sz="2400" dirty="0"/>
              <a:t>From the resultant tree choose the lowest cost node for the next level of exploration and proceed with the further remaining options for the salesman to explore</a:t>
            </a:r>
          </a:p>
          <a:p>
            <a:pPr algn="just"/>
            <a:r>
              <a:rPr lang="en-US" sz="2400" dirty="0"/>
              <a:t>In this case, explore node 8 and find the cost of each node in the next level</a:t>
            </a:r>
          </a:p>
          <a:p>
            <a:pPr algn="just"/>
            <a:r>
              <a:rPr lang="en-US" sz="2400" dirty="0"/>
              <a:t>Repeat the previous steps</a:t>
            </a:r>
            <a:endParaRPr lang="hi-IN" sz="2400" dirty="0"/>
          </a:p>
        </p:txBody>
      </p:sp>
      <p:sp>
        <p:nvSpPr>
          <p:cNvPr id="4" name="Footer Placeholder 3">
            <a:extLst>
              <a:ext uri="{FF2B5EF4-FFF2-40B4-BE49-F238E27FC236}">
                <a16:creationId xmlns:a16="http://schemas.microsoft.com/office/drawing/2014/main" id="{23C414B5-2F6E-4779-8D91-D9C4B4A69C8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1C01F6AC-153E-45D6-A07C-4CA856D3F431}"/>
              </a:ext>
            </a:extLst>
          </p:cNvPr>
          <p:cNvSpPr>
            <a:spLocks noGrp="1"/>
          </p:cNvSpPr>
          <p:nvPr>
            <p:ph type="sldNum" sz="quarter" idx="12"/>
          </p:nvPr>
        </p:nvSpPr>
        <p:spPr/>
        <p:txBody>
          <a:bodyPr/>
          <a:lstStyle/>
          <a:p>
            <a:fld id="{F56F9007-E0C6-489E-B603-BD6BB4385429}" type="slidenum">
              <a:rPr lang="hi-IN" smtClean="0"/>
              <a:t>42</a:t>
            </a:fld>
            <a:endParaRPr lang="hi-IN"/>
          </a:p>
        </p:txBody>
      </p:sp>
      <p:sp>
        <p:nvSpPr>
          <p:cNvPr id="15" name="Oval 14">
            <a:extLst>
              <a:ext uri="{FF2B5EF4-FFF2-40B4-BE49-F238E27FC236}">
                <a16:creationId xmlns:a16="http://schemas.microsoft.com/office/drawing/2014/main" id="{20992046-D06F-408E-A8C0-3EF07E634E17}"/>
              </a:ext>
            </a:extLst>
          </p:cNvPr>
          <p:cNvSpPr/>
          <p:nvPr/>
        </p:nvSpPr>
        <p:spPr>
          <a:xfrm>
            <a:off x="6832600" y="828358"/>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a:t>
            </a:r>
            <a:endParaRPr lang="hi-IN" b="1" dirty="0">
              <a:ln w="0"/>
              <a:solidFill>
                <a:schemeClr val="tx1"/>
              </a:solidFill>
              <a:effectLst>
                <a:outerShdw blurRad="38100" dist="19050" dir="2700000" algn="tl" rotWithShape="0">
                  <a:schemeClr val="dk1">
                    <a:alpha val="40000"/>
                  </a:schemeClr>
                </a:outerShdw>
              </a:effectLst>
            </a:endParaRPr>
          </a:p>
        </p:txBody>
      </p:sp>
      <p:sp>
        <p:nvSpPr>
          <p:cNvPr id="16" name="Oval 15">
            <a:extLst>
              <a:ext uri="{FF2B5EF4-FFF2-40B4-BE49-F238E27FC236}">
                <a16:creationId xmlns:a16="http://schemas.microsoft.com/office/drawing/2014/main" id="{18C7C7D5-0349-4DAD-AD27-7718B33D5476}"/>
              </a:ext>
            </a:extLst>
          </p:cNvPr>
          <p:cNvSpPr/>
          <p:nvPr/>
        </p:nvSpPr>
        <p:spPr>
          <a:xfrm>
            <a:off x="5567680" y="19507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17" name="Oval 16">
            <a:extLst>
              <a:ext uri="{FF2B5EF4-FFF2-40B4-BE49-F238E27FC236}">
                <a16:creationId xmlns:a16="http://schemas.microsoft.com/office/drawing/2014/main" id="{082063CF-A1F8-4558-B17A-D78D798BB3AA}"/>
              </a:ext>
            </a:extLst>
          </p:cNvPr>
          <p:cNvSpPr/>
          <p:nvPr/>
        </p:nvSpPr>
        <p:spPr>
          <a:xfrm>
            <a:off x="6832600" y="1950720"/>
            <a:ext cx="640080" cy="71389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18" name="Oval 17">
            <a:extLst>
              <a:ext uri="{FF2B5EF4-FFF2-40B4-BE49-F238E27FC236}">
                <a16:creationId xmlns:a16="http://schemas.microsoft.com/office/drawing/2014/main" id="{A461E0BC-F12C-4BBE-836D-D5491455FD3F}"/>
              </a:ext>
            </a:extLst>
          </p:cNvPr>
          <p:cNvSpPr/>
          <p:nvPr/>
        </p:nvSpPr>
        <p:spPr>
          <a:xfrm>
            <a:off x="8153400" y="19507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19" name="Straight Connector 18">
            <a:extLst>
              <a:ext uri="{FF2B5EF4-FFF2-40B4-BE49-F238E27FC236}">
                <a16:creationId xmlns:a16="http://schemas.microsoft.com/office/drawing/2014/main" id="{48F70658-5908-4BD9-BEC5-A6D3CAC9229E}"/>
              </a:ext>
            </a:extLst>
          </p:cNvPr>
          <p:cNvCxnSpPr>
            <a:stCxn id="15" idx="3"/>
            <a:endCxn id="16" idx="0"/>
          </p:cNvCxnSpPr>
          <p:nvPr/>
        </p:nvCxnSpPr>
        <p:spPr>
          <a:xfrm flipH="1">
            <a:off x="5887720" y="1392045"/>
            <a:ext cx="1038618" cy="558675"/>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CCDC89B5-6093-47F5-9B5D-6A53EB7A51D2}"/>
              </a:ext>
            </a:extLst>
          </p:cNvPr>
          <p:cNvCxnSpPr>
            <a:stCxn id="15" idx="4"/>
          </p:cNvCxnSpPr>
          <p:nvPr/>
        </p:nvCxnSpPr>
        <p:spPr>
          <a:xfrm>
            <a:off x="7152640" y="1488758"/>
            <a:ext cx="0" cy="461962"/>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718277D7-DFE2-4696-AC7F-9E56529417A9}"/>
              </a:ext>
            </a:extLst>
          </p:cNvPr>
          <p:cNvCxnSpPr>
            <a:stCxn id="15" idx="5"/>
            <a:endCxn id="18" idx="1"/>
          </p:cNvCxnSpPr>
          <p:nvPr/>
        </p:nvCxnSpPr>
        <p:spPr>
          <a:xfrm>
            <a:off x="7378942" y="1392045"/>
            <a:ext cx="868196" cy="655388"/>
          </a:xfrm>
          <a:prstGeom prst="line">
            <a:avLst/>
          </a:prstGeom>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BD74DCC1-A1FF-43B3-9BA6-F0D640324855}"/>
              </a:ext>
            </a:extLst>
          </p:cNvPr>
          <p:cNvSpPr txBox="1"/>
          <p:nvPr/>
        </p:nvSpPr>
        <p:spPr>
          <a:xfrm>
            <a:off x="7410328" y="774860"/>
            <a:ext cx="2241672" cy="369332"/>
          </a:xfrm>
          <a:prstGeom prst="rect">
            <a:avLst/>
          </a:prstGeom>
          <a:noFill/>
        </p:spPr>
        <p:txBody>
          <a:bodyPr wrap="square" rtlCol="0">
            <a:spAutoFit/>
          </a:bodyPr>
          <a:lstStyle/>
          <a:p>
            <a:r>
              <a:rPr lang="en-US" b="1" dirty="0"/>
              <a:t>Cost of node 1 = 18</a:t>
            </a:r>
            <a:endParaRPr lang="hi-IN" b="1" dirty="0"/>
          </a:p>
        </p:txBody>
      </p:sp>
      <p:sp>
        <p:nvSpPr>
          <p:cNvPr id="23" name="Rectangle 22">
            <a:extLst>
              <a:ext uri="{FF2B5EF4-FFF2-40B4-BE49-F238E27FC236}">
                <a16:creationId xmlns:a16="http://schemas.microsoft.com/office/drawing/2014/main" id="{3DC5ECF9-E22C-43BE-B9AF-74F4B9A3DD0D}"/>
              </a:ext>
            </a:extLst>
          </p:cNvPr>
          <p:cNvSpPr/>
          <p:nvPr/>
        </p:nvSpPr>
        <p:spPr>
          <a:xfrm>
            <a:off x="4078729" y="1617743"/>
            <a:ext cx="2012730" cy="369332"/>
          </a:xfrm>
          <a:prstGeom prst="rect">
            <a:avLst/>
          </a:prstGeom>
        </p:spPr>
        <p:txBody>
          <a:bodyPr wrap="none">
            <a:spAutoFit/>
          </a:bodyPr>
          <a:lstStyle/>
          <a:p>
            <a:r>
              <a:rPr lang="en-US" b="1" dirty="0"/>
              <a:t>Cost of node 2 = 80</a:t>
            </a:r>
            <a:endParaRPr lang="hi-IN" dirty="0"/>
          </a:p>
        </p:txBody>
      </p:sp>
      <p:sp>
        <p:nvSpPr>
          <p:cNvPr id="24" name="Rectangle 23">
            <a:extLst>
              <a:ext uri="{FF2B5EF4-FFF2-40B4-BE49-F238E27FC236}">
                <a16:creationId xmlns:a16="http://schemas.microsoft.com/office/drawing/2014/main" id="{342893FE-2B6C-4E30-84E3-8AF418E88E65}"/>
              </a:ext>
            </a:extLst>
          </p:cNvPr>
          <p:cNvSpPr/>
          <p:nvPr/>
        </p:nvSpPr>
        <p:spPr>
          <a:xfrm>
            <a:off x="6096000" y="2647475"/>
            <a:ext cx="2012730" cy="369332"/>
          </a:xfrm>
          <a:prstGeom prst="rect">
            <a:avLst/>
          </a:prstGeom>
        </p:spPr>
        <p:txBody>
          <a:bodyPr wrap="none">
            <a:spAutoFit/>
          </a:bodyPr>
          <a:lstStyle/>
          <a:p>
            <a:r>
              <a:rPr lang="en-US" b="1" dirty="0"/>
              <a:t>Cost of node 3 = 80</a:t>
            </a:r>
            <a:endParaRPr lang="hi-IN" dirty="0"/>
          </a:p>
        </p:txBody>
      </p:sp>
      <p:sp>
        <p:nvSpPr>
          <p:cNvPr id="25" name="Rectangle 24">
            <a:extLst>
              <a:ext uri="{FF2B5EF4-FFF2-40B4-BE49-F238E27FC236}">
                <a16:creationId xmlns:a16="http://schemas.microsoft.com/office/drawing/2014/main" id="{8BF8F75A-5154-4FA4-B8B7-2631DA6B6360}"/>
              </a:ext>
            </a:extLst>
          </p:cNvPr>
          <p:cNvSpPr/>
          <p:nvPr/>
        </p:nvSpPr>
        <p:spPr>
          <a:xfrm>
            <a:off x="8531164" y="1678942"/>
            <a:ext cx="2012730" cy="369332"/>
          </a:xfrm>
          <a:prstGeom prst="rect">
            <a:avLst/>
          </a:prstGeom>
        </p:spPr>
        <p:txBody>
          <a:bodyPr wrap="none">
            <a:spAutoFit/>
          </a:bodyPr>
          <a:lstStyle/>
          <a:p>
            <a:r>
              <a:rPr lang="en-US" b="1" dirty="0"/>
              <a:t>Cost of node 4 = 75</a:t>
            </a:r>
            <a:endParaRPr lang="hi-IN" dirty="0"/>
          </a:p>
        </p:txBody>
      </p:sp>
      <p:sp>
        <p:nvSpPr>
          <p:cNvPr id="28" name="Oval 27">
            <a:extLst>
              <a:ext uri="{FF2B5EF4-FFF2-40B4-BE49-F238E27FC236}">
                <a16:creationId xmlns:a16="http://schemas.microsoft.com/office/drawing/2014/main" id="{30904886-BBFE-4150-B2CD-A27CD8020940}"/>
              </a:ext>
            </a:extLst>
          </p:cNvPr>
          <p:cNvSpPr/>
          <p:nvPr/>
        </p:nvSpPr>
        <p:spPr>
          <a:xfrm>
            <a:off x="7956842" y="3360468"/>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29" name="Oval 28">
            <a:extLst>
              <a:ext uri="{FF2B5EF4-FFF2-40B4-BE49-F238E27FC236}">
                <a16:creationId xmlns:a16="http://schemas.microsoft.com/office/drawing/2014/main" id="{387A3C5B-7073-404C-B4E5-2CA697719806}"/>
              </a:ext>
            </a:extLst>
          </p:cNvPr>
          <p:cNvSpPr/>
          <p:nvPr/>
        </p:nvSpPr>
        <p:spPr>
          <a:xfrm>
            <a:off x="9058204" y="3458120"/>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31" name="Straight Connector 30">
            <a:extLst>
              <a:ext uri="{FF2B5EF4-FFF2-40B4-BE49-F238E27FC236}">
                <a16:creationId xmlns:a16="http://schemas.microsoft.com/office/drawing/2014/main" id="{490B0783-40B7-40C3-980D-AD3B6D7C91AF}"/>
              </a:ext>
            </a:extLst>
          </p:cNvPr>
          <p:cNvCxnSpPr>
            <a:cxnSpLocks/>
          </p:cNvCxnSpPr>
          <p:nvPr/>
        </p:nvCxnSpPr>
        <p:spPr>
          <a:xfrm flipH="1">
            <a:off x="8308599" y="2611120"/>
            <a:ext cx="151861" cy="774144"/>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43521FD0-4154-49F9-A273-0173710C960C}"/>
              </a:ext>
            </a:extLst>
          </p:cNvPr>
          <p:cNvCxnSpPr>
            <a:cxnSpLocks/>
            <a:endCxn id="29" idx="1"/>
          </p:cNvCxnSpPr>
          <p:nvPr/>
        </p:nvCxnSpPr>
        <p:spPr>
          <a:xfrm>
            <a:off x="8504003" y="2587263"/>
            <a:ext cx="647939" cy="967570"/>
          </a:xfrm>
          <a:prstGeom prst="line">
            <a:avLst/>
          </a:prstGeom>
        </p:spPr>
        <p:style>
          <a:lnRef idx="1">
            <a:schemeClr val="dk1"/>
          </a:lnRef>
          <a:fillRef idx="0">
            <a:schemeClr val="dk1"/>
          </a:fillRef>
          <a:effectRef idx="0">
            <a:schemeClr val="dk1"/>
          </a:effectRef>
          <a:fontRef idx="minor">
            <a:schemeClr val="tx1"/>
          </a:fontRef>
        </p:style>
      </p:cxnSp>
      <p:sp>
        <p:nvSpPr>
          <p:cNvPr id="34" name="Rectangle 33">
            <a:extLst>
              <a:ext uri="{FF2B5EF4-FFF2-40B4-BE49-F238E27FC236}">
                <a16:creationId xmlns:a16="http://schemas.microsoft.com/office/drawing/2014/main" id="{F3A5B992-335C-40C3-BA9B-6A2E0EE55ADE}"/>
              </a:ext>
            </a:extLst>
          </p:cNvPr>
          <p:cNvSpPr/>
          <p:nvPr/>
        </p:nvSpPr>
        <p:spPr>
          <a:xfrm>
            <a:off x="5821463" y="4158159"/>
            <a:ext cx="2012730" cy="369332"/>
          </a:xfrm>
          <a:prstGeom prst="rect">
            <a:avLst/>
          </a:prstGeom>
        </p:spPr>
        <p:txBody>
          <a:bodyPr wrap="square">
            <a:spAutoFit/>
          </a:bodyPr>
          <a:lstStyle/>
          <a:p>
            <a:r>
              <a:rPr lang="en-US" b="1" dirty="0"/>
              <a:t>Cost of node 8 = 80</a:t>
            </a:r>
            <a:endParaRPr lang="hi-IN" dirty="0"/>
          </a:p>
        </p:txBody>
      </p:sp>
      <p:sp>
        <p:nvSpPr>
          <p:cNvPr id="35" name="Rectangle 34">
            <a:extLst>
              <a:ext uri="{FF2B5EF4-FFF2-40B4-BE49-F238E27FC236}">
                <a16:creationId xmlns:a16="http://schemas.microsoft.com/office/drawing/2014/main" id="{F706ECBF-4E51-4B44-9F41-50FB802ADC2B}"/>
              </a:ext>
            </a:extLst>
          </p:cNvPr>
          <p:cNvSpPr/>
          <p:nvPr/>
        </p:nvSpPr>
        <p:spPr>
          <a:xfrm>
            <a:off x="9698284" y="3458120"/>
            <a:ext cx="2012729" cy="369332"/>
          </a:xfrm>
          <a:prstGeom prst="rect">
            <a:avLst/>
          </a:prstGeom>
        </p:spPr>
        <p:txBody>
          <a:bodyPr wrap="square">
            <a:spAutoFit/>
          </a:bodyPr>
          <a:lstStyle/>
          <a:p>
            <a:r>
              <a:rPr lang="en-US" b="1" dirty="0"/>
              <a:t>Cost of node 6 = 95</a:t>
            </a:r>
            <a:endParaRPr lang="hi-IN" dirty="0"/>
          </a:p>
        </p:txBody>
      </p:sp>
      <p:sp>
        <p:nvSpPr>
          <p:cNvPr id="26" name="Oval 25">
            <a:extLst>
              <a:ext uri="{FF2B5EF4-FFF2-40B4-BE49-F238E27FC236}">
                <a16:creationId xmlns:a16="http://schemas.microsoft.com/office/drawing/2014/main" id="{2F150835-9E20-4DC4-A72D-027EE3D9237A}"/>
              </a:ext>
            </a:extLst>
          </p:cNvPr>
          <p:cNvSpPr/>
          <p:nvPr/>
        </p:nvSpPr>
        <p:spPr>
          <a:xfrm>
            <a:off x="5322502" y="3393123"/>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27" name="Oval 26">
            <a:extLst>
              <a:ext uri="{FF2B5EF4-FFF2-40B4-BE49-F238E27FC236}">
                <a16:creationId xmlns:a16="http://schemas.microsoft.com/office/drawing/2014/main" id="{76710408-FEBA-4774-8C86-52DE19FCA929}"/>
              </a:ext>
            </a:extLst>
          </p:cNvPr>
          <p:cNvSpPr/>
          <p:nvPr/>
        </p:nvSpPr>
        <p:spPr>
          <a:xfrm>
            <a:off x="6423864" y="3490775"/>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32" name="Straight Connector 31">
            <a:extLst>
              <a:ext uri="{FF2B5EF4-FFF2-40B4-BE49-F238E27FC236}">
                <a16:creationId xmlns:a16="http://schemas.microsoft.com/office/drawing/2014/main" id="{327A5C68-8C9B-4BF7-BF69-E4F60675D995}"/>
              </a:ext>
            </a:extLst>
          </p:cNvPr>
          <p:cNvCxnSpPr>
            <a:cxnSpLocks/>
          </p:cNvCxnSpPr>
          <p:nvPr/>
        </p:nvCxnSpPr>
        <p:spPr>
          <a:xfrm flipH="1">
            <a:off x="5674259" y="2643775"/>
            <a:ext cx="151861" cy="774144"/>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80707CCB-B244-4128-A380-ACAF60C14200}"/>
              </a:ext>
            </a:extLst>
          </p:cNvPr>
          <p:cNvCxnSpPr>
            <a:cxnSpLocks/>
            <a:endCxn id="27" idx="1"/>
          </p:cNvCxnSpPr>
          <p:nvPr/>
        </p:nvCxnSpPr>
        <p:spPr>
          <a:xfrm>
            <a:off x="5869663" y="2619918"/>
            <a:ext cx="647939" cy="967570"/>
          </a:xfrm>
          <a:prstGeom prst="line">
            <a:avLst/>
          </a:prstGeom>
        </p:spPr>
        <p:style>
          <a:lnRef idx="1">
            <a:schemeClr val="dk1"/>
          </a:lnRef>
          <a:fillRef idx="0">
            <a:schemeClr val="dk1"/>
          </a:fillRef>
          <a:effectRef idx="0">
            <a:schemeClr val="dk1"/>
          </a:effectRef>
          <a:fontRef idx="minor">
            <a:schemeClr val="tx1"/>
          </a:fontRef>
        </p:style>
      </p:cxnSp>
      <p:sp>
        <p:nvSpPr>
          <p:cNvPr id="37" name="Rectangle 36">
            <a:extLst>
              <a:ext uri="{FF2B5EF4-FFF2-40B4-BE49-F238E27FC236}">
                <a16:creationId xmlns:a16="http://schemas.microsoft.com/office/drawing/2014/main" id="{79D78B76-5395-4C0C-B9FE-152EEDD91080}"/>
              </a:ext>
            </a:extLst>
          </p:cNvPr>
          <p:cNvSpPr/>
          <p:nvPr/>
        </p:nvSpPr>
        <p:spPr>
          <a:xfrm>
            <a:off x="4159478" y="3108185"/>
            <a:ext cx="2012729" cy="369332"/>
          </a:xfrm>
          <a:prstGeom prst="rect">
            <a:avLst/>
          </a:prstGeom>
        </p:spPr>
        <p:txBody>
          <a:bodyPr wrap="square">
            <a:spAutoFit/>
          </a:bodyPr>
          <a:lstStyle/>
          <a:p>
            <a:r>
              <a:rPr lang="en-US" b="1" dirty="0"/>
              <a:t>Cost of node 7 = 95</a:t>
            </a:r>
            <a:endParaRPr lang="hi-IN" dirty="0"/>
          </a:p>
        </p:txBody>
      </p:sp>
      <p:sp>
        <p:nvSpPr>
          <p:cNvPr id="38" name="Rectangle 37">
            <a:extLst>
              <a:ext uri="{FF2B5EF4-FFF2-40B4-BE49-F238E27FC236}">
                <a16:creationId xmlns:a16="http://schemas.microsoft.com/office/drawing/2014/main" id="{6AF83747-BC2B-4B84-A8C5-0529C0EA8774}"/>
              </a:ext>
            </a:extLst>
          </p:cNvPr>
          <p:cNvSpPr/>
          <p:nvPr/>
        </p:nvSpPr>
        <p:spPr>
          <a:xfrm>
            <a:off x="7119368" y="3181679"/>
            <a:ext cx="2012729" cy="369332"/>
          </a:xfrm>
          <a:prstGeom prst="rect">
            <a:avLst/>
          </a:prstGeom>
        </p:spPr>
        <p:txBody>
          <a:bodyPr wrap="square">
            <a:spAutoFit/>
          </a:bodyPr>
          <a:lstStyle/>
          <a:p>
            <a:r>
              <a:rPr lang="en-US" b="1" dirty="0"/>
              <a:t>Cost of node 5 = 95</a:t>
            </a:r>
            <a:endParaRPr lang="hi-IN" dirty="0"/>
          </a:p>
        </p:txBody>
      </p:sp>
      <p:sp>
        <p:nvSpPr>
          <p:cNvPr id="39" name="Oval 38">
            <a:extLst>
              <a:ext uri="{FF2B5EF4-FFF2-40B4-BE49-F238E27FC236}">
                <a16:creationId xmlns:a16="http://schemas.microsoft.com/office/drawing/2014/main" id="{6D5036B4-C1C3-4F56-85FB-CBDB55F928B3}"/>
              </a:ext>
            </a:extLst>
          </p:cNvPr>
          <p:cNvSpPr/>
          <p:nvPr/>
        </p:nvSpPr>
        <p:spPr>
          <a:xfrm>
            <a:off x="5790575" y="3558556"/>
            <a:ext cx="2439848" cy="94227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40" name="Oval 39">
            <a:extLst>
              <a:ext uri="{FF2B5EF4-FFF2-40B4-BE49-F238E27FC236}">
                <a16:creationId xmlns:a16="http://schemas.microsoft.com/office/drawing/2014/main" id="{19C049D5-82A8-43E0-9101-A0F38F2C6B78}"/>
              </a:ext>
            </a:extLst>
          </p:cNvPr>
          <p:cNvSpPr/>
          <p:nvPr/>
        </p:nvSpPr>
        <p:spPr>
          <a:xfrm>
            <a:off x="7512433" y="4938572"/>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41" name="Straight Connector 40">
            <a:extLst>
              <a:ext uri="{FF2B5EF4-FFF2-40B4-BE49-F238E27FC236}">
                <a16:creationId xmlns:a16="http://schemas.microsoft.com/office/drawing/2014/main" id="{0D83B9E4-7CC4-4A35-BD74-2A4957692B67}"/>
              </a:ext>
            </a:extLst>
          </p:cNvPr>
          <p:cNvCxnSpPr>
            <a:cxnSpLocks/>
            <a:endCxn id="40" idx="1"/>
          </p:cNvCxnSpPr>
          <p:nvPr/>
        </p:nvCxnSpPr>
        <p:spPr>
          <a:xfrm>
            <a:off x="6958232" y="4067715"/>
            <a:ext cx="647939" cy="967570"/>
          </a:xfrm>
          <a:prstGeom prst="line">
            <a:avLst/>
          </a:prstGeom>
        </p:spPr>
        <p:style>
          <a:lnRef idx="1">
            <a:schemeClr val="dk1"/>
          </a:lnRef>
          <a:fillRef idx="0">
            <a:schemeClr val="dk1"/>
          </a:fillRef>
          <a:effectRef idx="0">
            <a:schemeClr val="dk1"/>
          </a:effectRef>
          <a:fontRef idx="minor">
            <a:schemeClr val="tx1"/>
          </a:fontRef>
        </p:style>
      </p:cxnSp>
      <p:sp>
        <p:nvSpPr>
          <p:cNvPr id="42" name="Rectangle 41">
            <a:extLst>
              <a:ext uri="{FF2B5EF4-FFF2-40B4-BE49-F238E27FC236}">
                <a16:creationId xmlns:a16="http://schemas.microsoft.com/office/drawing/2014/main" id="{E601BE3C-FE5A-45DD-B429-CFFEF4F5E4AF}"/>
              </a:ext>
            </a:extLst>
          </p:cNvPr>
          <p:cNvSpPr/>
          <p:nvPr/>
        </p:nvSpPr>
        <p:spPr>
          <a:xfrm>
            <a:off x="8152513" y="4938572"/>
            <a:ext cx="2012729" cy="369332"/>
          </a:xfrm>
          <a:prstGeom prst="rect">
            <a:avLst/>
          </a:prstGeom>
        </p:spPr>
        <p:txBody>
          <a:bodyPr wrap="square">
            <a:spAutoFit/>
          </a:bodyPr>
          <a:lstStyle/>
          <a:p>
            <a:r>
              <a:rPr lang="en-US" b="1" dirty="0"/>
              <a:t>node 9</a:t>
            </a:r>
            <a:endParaRPr lang="hi-IN" dirty="0"/>
          </a:p>
        </p:txBody>
      </p:sp>
      <p:grpSp>
        <p:nvGrpSpPr>
          <p:cNvPr id="43" name="Group 42">
            <a:extLst>
              <a:ext uri="{FF2B5EF4-FFF2-40B4-BE49-F238E27FC236}">
                <a16:creationId xmlns:a16="http://schemas.microsoft.com/office/drawing/2014/main" id="{6471857F-FD06-437E-AA79-20EBE1A8AA9E}"/>
              </a:ext>
            </a:extLst>
          </p:cNvPr>
          <p:cNvGrpSpPr/>
          <p:nvPr/>
        </p:nvGrpSpPr>
        <p:grpSpPr>
          <a:xfrm>
            <a:off x="9936026" y="235938"/>
            <a:ext cx="2073696" cy="1454750"/>
            <a:chOff x="2122170" y="2053825"/>
            <a:chExt cx="3314700" cy="2491270"/>
          </a:xfrm>
        </p:grpSpPr>
        <p:pic>
          <p:nvPicPr>
            <p:cNvPr id="44" name="Picture 2">
              <a:extLst>
                <a:ext uri="{FF2B5EF4-FFF2-40B4-BE49-F238E27FC236}">
                  <a16:creationId xmlns:a16="http://schemas.microsoft.com/office/drawing/2014/main" id="{61745A86-6C46-4846-93EB-64F31896CC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170" y="2053825"/>
              <a:ext cx="3314700" cy="2491270"/>
            </a:xfrm>
            <a:prstGeom prst="rect">
              <a:avLst/>
            </a:prstGeom>
            <a:noFill/>
            <a:extLst>
              <a:ext uri="{909E8E84-426E-40DD-AFC4-6F175D3DCCD1}">
                <a14:hiddenFill xmlns:a14="http://schemas.microsoft.com/office/drawing/2010/main">
                  <a:solidFill>
                    <a:srgbClr val="FFFFFF"/>
                  </a:solidFill>
                </a14:hiddenFill>
              </a:ext>
            </a:extLst>
          </p:spPr>
        </p:pic>
        <p:sp>
          <p:nvSpPr>
            <p:cNvPr id="45" name="Oval 44">
              <a:extLst>
                <a:ext uri="{FF2B5EF4-FFF2-40B4-BE49-F238E27FC236}">
                  <a16:creationId xmlns:a16="http://schemas.microsoft.com/office/drawing/2014/main" id="{99476610-63DA-484A-9BD5-AF3AAD46B814}"/>
                </a:ext>
              </a:extLst>
            </p:cNvPr>
            <p:cNvSpPr/>
            <p:nvPr/>
          </p:nvSpPr>
          <p:spPr>
            <a:xfrm>
              <a:off x="3703321" y="2119141"/>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a:t>
              </a:r>
              <a:endParaRPr lang="hi-IN" b="1" dirty="0">
                <a:ln w="0"/>
                <a:solidFill>
                  <a:schemeClr val="tx1"/>
                </a:solidFill>
                <a:effectLst>
                  <a:outerShdw blurRad="38100" dist="19050" dir="2700000" algn="tl" rotWithShape="0">
                    <a:schemeClr val="dk1">
                      <a:alpha val="40000"/>
                    </a:schemeClr>
                  </a:outerShdw>
                </a:effectLst>
              </a:endParaRPr>
            </a:p>
          </p:txBody>
        </p:sp>
        <p:sp>
          <p:nvSpPr>
            <p:cNvPr id="46" name="Oval 45">
              <a:extLst>
                <a:ext uri="{FF2B5EF4-FFF2-40B4-BE49-F238E27FC236}">
                  <a16:creationId xmlns:a16="http://schemas.microsoft.com/office/drawing/2014/main" id="{5DAD5B3A-5899-45D4-A2E9-032A51056715}"/>
                </a:ext>
              </a:extLst>
            </p:cNvPr>
            <p:cNvSpPr/>
            <p:nvPr/>
          </p:nvSpPr>
          <p:spPr>
            <a:xfrm>
              <a:off x="2175327" y="3996781"/>
              <a:ext cx="426357" cy="390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47" name="Oval 46">
              <a:extLst>
                <a:ext uri="{FF2B5EF4-FFF2-40B4-BE49-F238E27FC236}">
                  <a16:creationId xmlns:a16="http://schemas.microsoft.com/office/drawing/2014/main" id="{E38B6351-2A38-42B6-90FC-3A6FD57E3829}"/>
                </a:ext>
              </a:extLst>
            </p:cNvPr>
            <p:cNvSpPr/>
            <p:nvPr/>
          </p:nvSpPr>
          <p:spPr>
            <a:xfrm>
              <a:off x="4921070" y="4029194"/>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48" name="Oval 47">
              <a:extLst>
                <a:ext uri="{FF2B5EF4-FFF2-40B4-BE49-F238E27FC236}">
                  <a16:creationId xmlns:a16="http://schemas.microsoft.com/office/drawing/2014/main" id="{79E8CD55-AC39-4212-B84C-E81AF65DF48D}"/>
                </a:ext>
              </a:extLst>
            </p:cNvPr>
            <p:cNvSpPr/>
            <p:nvPr/>
          </p:nvSpPr>
          <p:spPr>
            <a:xfrm>
              <a:off x="3690258" y="3244334"/>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grpSp>
      <p:sp>
        <p:nvSpPr>
          <p:cNvPr id="6" name="TextBox 5">
            <a:extLst>
              <a:ext uri="{FF2B5EF4-FFF2-40B4-BE49-F238E27FC236}">
                <a16:creationId xmlns:a16="http://schemas.microsoft.com/office/drawing/2014/main" id="{3BB07B04-70A6-EDF8-6984-AE8D4E3E64B4}"/>
              </a:ext>
            </a:extLst>
          </p:cNvPr>
          <p:cNvSpPr txBox="1"/>
          <p:nvPr/>
        </p:nvSpPr>
        <p:spPr>
          <a:xfrm>
            <a:off x="9019617" y="768567"/>
            <a:ext cx="460187" cy="369332"/>
          </a:xfrm>
          <a:prstGeom prst="rect">
            <a:avLst/>
          </a:prstGeom>
          <a:solidFill>
            <a:schemeClr val="bg1"/>
          </a:solidFill>
        </p:spPr>
        <p:txBody>
          <a:bodyPr wrap="square" rtlCol="0">
            <a:spAutoFit/>
          </a:bodyPr>
          <a:lstStyle/>
          <a:p>
            <a:r>
              <a:rPr lang="en-US" b="1" dirty="0"/>
              <a:t>70</a:t>
            </a:r>
          </a:p>
        </p:txBody>
      </p:sp>
    </p:spTree>
    <p:extLst>
      <p:ext uri="{BB962C8B-B14F-4D97-AF65-F5344CB8AC3E}">
        <p14:creationId xmlns:p14="http://schemas.microsoft.com/office/powerpoint/2010/main" val="2340228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9"/>
                                        </p:tgtEl>
                                        <p:attrNameLst>
                                          <p:attrName>style.visibility</p:attrName>
                                        </p:attrNameLst>
                                      </p:cBhvr>
                                      <p:to>
                                        <p:strVal val="visible"/>
                                      </p:to>
                                    </p:set>
                                  </p:childTnLst>
                                  <p:subTnLst>
                                    <p:set>
                                      <p:cBhvr override="childStyle">
                                        <p:cTn dur="1" fill="hold" display="0" masterRel="nextClick" afterEffect="1"/>
                                        <p:tgtEl>
                                          <p:spTgt spid="39"/>
                                        </p:tgtEl>
                                        <p:attrNameLst>
                                          <p:attrName>style.visibility</p:attrName>
                                        </p:attrNameLst>
                                      </p:cBhvr>
                                      <p:to>
                                        <p:strVal val="hidden"/>
                                      </p:to>
                                    </p:set>
                                  </p:subTnLst>
                                </p:cTn>
                              </p:par>
                              <p:par>
                                <p:cTn id="59" presetID="1"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0" end="0"/>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
                                            <p:txEl>
                                              <p:pRg st="1" end="1"/>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22" grpId="0"/>
      <p:bldP spid="23" grpId="0"/>
      <p:bldP spid="24" grpId="0"/>
      <p:bldP spid="25" grpId="0"/>
      <p:bldP spid="28" grpId="0" animBg="1"/>
      <p:bldP spid="29" grpId="0" animBg="1"/>
      <p:bldP spid="34" grpId="0"/>
      <p:bldP spid="35" grpId="0"/>
      <p:bldP spid="26" grpId="0" animBg="1"/>
      <p:bldP spid="27" grpId="0" animBg="1"/>
      <p:bldP spid="37" grpId="0"/>
      <p:bldP spid="38" grpId="0"/>
      <p:bldP spid="39" grpId="0" animBg="1"/>
      <p:bldP spid="40" grpId="0" animBg="1"/>
      <p:bldP spid="4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2189-7552-4E33-9E7B-4DE20289BB36}"/>
              </a:ext>
            </a:extLst>
          </p:cNvPr>
          <p:cNvSpPr>
            <a:spLocks noGrp="1"/>
          </p:cNvSpPr>
          <p:nvPr>
            <p:ph type="title"/>
          </p:nvPr>
        </p:nvSpPr>
        <p:spPr/>
        <p:txBody>
          <a:bodyPr/>
          <a:lstStyle/>
          <a:p>
            <a:r>
              <a:rPr lang="en-US" b="1" dirty="0"/>
              <a:t>Example 2 : TSP -- </a:t>
            </a:r>
            <a:r>
              <a:rPr lang="en-US" b="1" dirty="0" err="1"/>
              <a:t>contd</a:t>
            </a:r>
            <a:endParaRPr lang="hi-IN" dirty="0"/>
          </a:p>
        </p:txBody>
      </p:sp>
      <p:sp>
        <p:nvSpPr>
          <p:cNvPr id="3" name="Content Placeholder 2">
            <a:extLst>
              <a:ext uri="{FF2B5EF4-FFF2-40B4-BE49-F238E27FC236}">
                <a16:creationId xmlns:a16="http://schemas.microsoft.com/office/drawing/2014/main" id="{37C055A1-8DCE-40BD-96BE-DC0349835FE9}"/>
              </a:ext>
            </a:extLst>
          </p:cNvPr>
          <p:cNvSpPr>
            <a:spLocks noGrp="1"/>
          </p:cNvSpPr>
          <p:nvPr>
            <p:ph idx="1"/>
          </p:nvPr>
        </p:nvSpPr>
        <p:spPr/>
        <p:txBody>
          <a:bodyPr/>
          <a:lstStyle/>
          <a:p>
            <a:r>
              <a:rPr lang="en-US" dirty="0"/>
              <a:t>Now exploring A — B—D —C path</a:t>
            </a:r>
          </a:p>
          <a:p>
            <a:pPr lvl="1"/>
            <a:r>
              <a:rPr lang="en-US" sz="2000" dirty="0"/>
              <a:t>The cost matrix of node D becomes…</a:t>
            </a:r>
            <a:endParaRPr lang="hi-IN" sz="2000" dirty="0"/>
          </a:p>
        </p:txBody>
      </p:sp>
      <p:sp>
        <p:nvSpPr>
          <p:cNvPr id="4" name="Footer Placeholder 3">
            <a:extLst>
              <a:ext uri="{FF2B5EF4-FFF2-40B4-BE49-F238E27FC236}">
                <a16:creationId xmlns:a16="http://schemas.microsoft.com/office/drawing/2014/main" id="{3FBCE2A8-CF2B-4146-9CF1-F8A6DCA76137}"/>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B1DC7713-BE6D-4807-8365-0ED01742EAAF}"/>
              </a:ext>
            </a:extLst>
          </p:cNvPr>
          <p:cNvSpPr>
            <a:spLocks noGrp="1"/>
          </p:cNvSpPr>
          <p:nvPr>
            <p:ph type="sldNum" sz="quarter" idx="12"/>
          </p:nvPr>
        </p:nvSpPr>
        <p:spPr/>
        <p:txBody>
          <a:bodyPr/>
          <a:lstStyle/>
          <a:p>
            <a:fld id="{F56F9007-E0C6-489E-B603-BD6BB4385429}" type="slidenum">
              <a:rPr lang="hi-IN" smtClean="0"/>
              <a:t>43</a:t>
            </a:fld>
            <a:endParaRPr lang="hi-IN"/>
          </a:p>
        </p:txBody>
      </p:sp>
      <p:graphicFrame>
        <p:nvGraphicFramePr>
          <p:cNvPr id="6" name="Table 5">
            <a:extLst>
              <a:ext uri="{FF2B5EF4-FFF2-40B4-BE49-F238E27FC236}">
                <a16:creationId xmlns:a16="http://schemas.microsoft.com/office/drawing/2014/main" id="{D6F50D1C-6C10-4DEE-B1F2-B7F70D225F30}"/>
              </a:ext>
            </a:extLst>
          </p:cNvPr>
          <p:cNvGraphicFramePr>
            <a:graphicFrameLocks noGrp="1"/>
          </p:cNvGraphicFramePr>
          <p:nvPr>
            <p:extLst>
              <p:ext uri="{D42A27DB-BD31-4B8C-83A1-F6EECF244321}">
                <p14:modId xmlns:p14="http://schemas.microsoft.com/office/powerpoint/2010/main" val="168301706"/>
              </p:ext>
            </p:extLst>
          </p:nvPr>
        </p:nvGraphicFramePr>
        <p:xfrm>
          <a:off x="177800" y="2811352"/>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graphicFrame>
        <p:nvGraphicFramePr>
          <p:cNvPr id="7" name="Table 6">
            <a:extLst>
              <a:ext uri="{FF2B5EF4-FFF2-40B4-BE49-F238E27FC236}">
                <a16:creationId xmlns:a16="http://schemas.microsoft.com/office/drawing/2014/main" id="{A7A71D93-ABE2-429F-8576-61090397B0B1}"/>
              </a:ext>
            </a:extLst>
          </p:cNvPr>
          <p:cNvGraphicFramePr>
            <a:graphicFrameLocks noGrp="1"/>
          </p:cNvGraphicFramePr>
          <p:nvPr>
            <p:extLst>
              <p:ext uri="{D42A27DB-BD31-4B8C-83A1-F6EECF244321}">
                <p14:modId xmlns:p14="http://schemas.microsoft.com/office/powerpoint/2010/main" val="2137214913"/>
              </p:ext>
            </p:extLst>
          </p:nvPr>
        </p:nvGraphicFramePr>
        <p:xfrm>
          <a:off x="3840480" y="2791558"/>
          <a:ext cx="3180080" cy="1828800"/>
        </p:xfrm>
        <a:graphic>
          <a:graphicData uri="http://schemas.openxmlformats.org/drawingml/2006/table">
            <a:tbl>
              <a:tblPr firstRow="1" bandRow="1">
                <a:tableStyleId>{5C22544A-7EE6-4342-B048-85BDC9FD1C3A}</a:tableStyleId>
              </a:tblPr>
              <a:tblGrid>
                <a:gridCol w="513927">
                  <a:extLst>
                    <a:ext uri="{9D8B030D-6E8A-4147-A177-3AD203B41FA5}">
                      <a16:colId xmlns:a16="http://schemas.microsoft.com/office/drawing/2014/main" val="175131169"/>
                    </a:ext>
                  </a:extLst>
                </a:gridCol>
                <a:gridCol w="513927">
                  <a:extLst>
                    <a:ext uri="{9D8B030D-6E8A-4147-A177-3AD203B41FA5}">
                      <a16:colId xmlns:a16="http://schemas.microsoft.com/office/drawing/2014/main" val="626299514"/>
                    </a:ext>
                  </a:extLst>
                </a:gridCol>
                <a:gridCol w="513927">
                  <a:extLst>
                    <a:ext uri="{9D8B030D-6E8A-4147-A177-3AD203B41FA5}">
                      <a16:colId xmlns:a16="http://schemas.microsoft.com/office/drawing/2014/main" val="661925674"/>
                    </a:ext>
                  </a:extLst>
                </a:gridCol>
                <a:gridCol w="513927">
                  <a:extLst>
                    <a:ext uri="{9D8B030D-6E8A-4147-A177-3AD203B41FA5}">
                      <a16:colId xmlns:a16="http://schemas.microsoft.com/office/drawing/2014/main" val="745894467"/>
                    </a:ext>
                  </a:extLst>
                </a:gridCol>
                <a:gridCol w="513927">
                  <a:extLst>
                    <a:ext uri="{9D8B030D-6E8A-4147-A177-3AD203B41FA5}">
                      <a16:colId xmlns:a16="http://schemas.microsoft.com/office/drawing/2014/main" val="993456499"/>
                    </a:ext>
                  </a:extLst>
                </a:gridCol>
                <a:gridCol w="610445">
                  <a:extLst>
                    <a:ext uri="{9D8B030D-6E8A-4147-A177-3AD203B41FA5}">
                      <a16:colId xmlns:a16="http://schemas.microsoft.com/office/drawing/2014/main" val="252318787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Min</a:t>
                      </a:r>
                      <a:endParaRPr lang="hi-IN"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8" name="TextBox 7">
            <a:extLst>
              <a:ext uri="{FF2B5EF4-FFF2-40B4-BE49-F238E27FC236}">
                <a16:creationId xmlns:a16="http://schemas.microsoft.com/office/drawing/2014/main" id="{8E4B49A0-9E43-4C50-8675-1197C97366AC}"/>
              </a:ext>
            </a:extLst>
          </p:cNvPr>
          <p:cNvSpPr txBox="1"/>
          <p:nvPr/>
        </p:nvSpPr>
        <p:spPr>
          <a:xfrm>
            <a:off x="7165340" y="1642159"/>
            <a:ext cx="1102360" cy="646331"/>
          </a:xfrm>
          <a:prstGeom prst="rect">
            <a:avLst/>
          </a:prstGeom>
          <a:noFill/>
        </p:spPr>
        <p:txBody>
          <a:bodyPr wrap="square" rtlCol="0">
            <a:spAutoFit/>
          </a:bodyPr>
          <a:lstStyle/>
          <a:p>
            <a:r>
              <a:rPr lang="en-US" b="1" dirty="0"/>
              <a:t>Reduce by row</a:t>
            </a:r>
            <a:endParaRPr lang="hi-IN" b="1" dirty="0"/>
          </a:p>
        </p:txBody>
      </p:sp>
      <p:sp>
        <p:nvSpPr>
          <p:cNvPr id="9" name="TextBox 8">
            <a:extLst>
              <a:ext uri="{FF2B5EF4-FFF2-40B4-BE49-F238E27FC236}">
                <a16:creationId xmlns:a16="http://schemas.microsoft.com/office/drawing/2014/main" id="{655296CB-F437-46A9-A2A7-93457B0439B7}"/>
              </a:ext>
            </a:extLst>
          </p:cNvPr>
          <p:cNvSpPr txBox="1"/>
          <p:nvPr/>
        </p:nvSpPr>
        <p:spPr>
          <a:xfrm>
            <a:off x="10443546" y="5135484"/>
            <a:ext cx="1353820" cy="646331"/>
          </a:xfrm>
          <a:prstGeom prst="rect">
            <a:avLst/>
          </a:prstGeom>
          <a:noFill/>
        </p:spPr>
        <p:txBody>
          <a:bodyPr wrap="square" rtlCol="0">
            <a:spAutoFit/>
          </a:bodyPr>
          <a:lstStyle/>
          <a:p>
            <a:r>
              <a:rPr lang="en-US" b="1" dirty="0"/>
              <a:t>Reduce by column</a:t>
            </a:r>
            <a:endParaRPr lang="hi-IN" b="1" dirty="0"/>
          </a:p>
        </p:txBody>
      </p:sp>
      <p:sp>
        <p:nvSpPr>
          <p:cNvPr id="10" name="Arrow: Right 9">
            <a:extLst>
              <a:ext uri="{FF2B5EF4-FFF2-40B4-BE49-F238E27FC236}">
                <a16:creationId xmlns:a16="http://schemas.microsoft.com/office/drawing/2014/main" id="{68D24F80-8C16-4CDD-9AE4-FAB8D8DAA522}"/>
              </a:ext>
            </a:extLst>
          </p:cNvPr>
          <p:cNvSpPr/>
          <p:nvPr/>
        </p:nvSpPr>
        <p:spPr>
          <a:xfrm>
            <a:off x="7034530" y="2397977"/>
            <a:ext cx="1546860" cy="21336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1" name="Arrow: Down 10">
            <a:extLst>
              <a:ext uri="{FF2B5EF4-FFF2-40B4-BE49-F238E27FC236}">
                <a16:creationId xmlns:a16="http://schemas.microsoft.com/office/drawing/2014/main" id="{64211AFF-4871-410D-AE82-03C4151657A2}"/>
              </a:ext>
            </a:extLst>
          </p:cNvPr>
          <p:cNvSpPr/>
          <p:nvPr/>
        </p:nvSpPr>
        <p:spPr>
          <a:xfrm rot="1924878">
            <a:off x="10390206" y="4653950"/>
            <a:ext cx="106680" cy="6463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hi-IN"/>
          </a:p>
        </p:txBody>
      </p:sp>
      <p:graphicFrame>
        <p:nvGraphicFramePr>
          <p:cNvPr id="12" name="Table 11">
            <a:extLst>
              <a:ext uri="{FF2B5EF4-FFF2-40B4-BE49-F238E27FC236}">
                <a16:creationId xmlns:a16="http://schemas.microsoft.com/office/drawing/2014/main" id="{ACF61F84-857D-49F5-A057-A4D15E8F777A}"/>
              </a:ext>
            </a:extLst>
          </p:cNvPr>
          <p:cNvGraphicFramePr>
            <a:graphicFrameLocks noGrp="1"/>
          </p:cNvGraphicFramePr>
          <p:nvPr>
            <p:extLst>
              <p:ext uri="{D42A27DB-BD31-4B8C-83A1-F6EECF244321}">
                <p14:modId xmlns:p14="http://schemas.microsoft.com/office/powerpoint/2010/main" val="107068250"/>
              </p:ext>
            </p:extLst>
          </p:nvPr>
        </p:nvGraphicFramePr>
        <p:xfrm>
          <a:off x="8168640" y="2612388"/>
          <a:ext cx="3083560" cy="219456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r h="310547">
                <a:tc>
                  <a:txBody>
                    <a:bodyPr/>
                    <a:lstStyle/>
                    <a:p>
                      <a:pPr algn="ctr"/>
                      <a:r>
                        <a:rPr lang="en-US" b="1" dirty="0">
                          <a:solidFill>
                            <a:schemeClr val="tx1"/>
                          </a:solidFill>
                        </a:rPr>
                        <a:t>Min</a:t>
                      </a:r>
                      <a:endParaRPr lang="hi-IN" b="1" dirty="0">
                        <a:solidFill>
                          <a:schemeClr val="tx1"/>
                        </a:solidFill>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endParaRPr lang="hi-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9715164"/>
                  </a:ext>
                </a:extLst>
              </a:tr>
            </a:tbl>
          </a:graphicData>
        </a:graphic>
      </p:graphicFrame>
      <p:graphicFrame>
        <p:nvGraphicFramePr>
          <p:cNvPr id="13" name="Table 12">
            <a:extLst>
              <a:ext uri="{FF2B5EF4-FFF2-40B4-BE49-F238E27FC236}">
                <a16:creationId xmlns:a16="http://schemas.microsoft.com/office/drawing/2014/main" id="{D27ADEB2-CD97-4A14-83C6-800FBA53C3AA}"/>
              </a:ext>
            </a:extLst>
          </p:cNvPr>
          <p:cNvGraphicFramePr>
            <a:graphicFrameLocks noGrp="1"/>
          </p:cNvGraphicFramePr>
          <p:nvPr>
            <p:extLst>
              <p:ext uri="{D42A27DB-BD31-4B8C-83A1-F6EECF244321}">
                <p14:modId xmlns:p14="http://schemas.microsoft.com/office/powerpoint/2010/main" val="24499987"/>
              </p:ext>
            </p:extLst>
          </p:nvPr>
        </p:nvGraphicFramePr>
        <p:xfrm>
          <a:off x="6941820" y="4920515"/>
          <a:ext cx="3083560" cy="1828800"/>
        </p:xfrm>
        <a:graphic>
          <a:graphicData uri="http://schemas.openxmlformats.org/drawingml/2006/table">
            <a:tbl>
              <a:tblPr firstRow="1" bandRow="1">
                <a:tableStyleId>{5C22544A-7EE6-4342-B048-85BDC9FD1C3A}</a:tableStyleId>
              </a:tblPr>
              <a:tblGrid>
                <a:gridCol w="616712">
                  <a:extLst>
                    <a:ext uri="{9D8B030D-6E8A-4147-A177-3AD203B41FA5}">
                      <a16:colId xmlns:a16="http://schemas.microsoft.com/office/drawing/2014/main" val="175131169"/>
                    </a:ext>
                  </a:extLst>
                </a:gridCol>
                <a:gridCol w="616712">
                  <a:extLst>
                    <a:ext uri="{9D8B030D-6E8A-4147-A177-3AD203B41FA5}">
                      <a16:colId xmlns:a16="http://schemas.microsoft.com/office/drawing/2014/main" val="626299514"/>
                    </a:ext>
                  </a:extLst>
                </a:gridCol>
                <a:gridCol w="616712">
                  <a:extLst>
                    <a:ext uri="{9D8B030D-6E8A-4147-A177-3AD203B41FA5}">
                      <a16:colId xmlns:a16="http://schemas.microsoft.com/office/drawing/2014/main" val="661925674"/>
                    </a:ext>
                  </a:extLst>
                </a:gridCol>
                <a:gridCol w="616712">
                  <a:extLst>
                    <a:ext uri="{9D8B030D-6E8A-4147-A177-3AD203B41FA5}">
                      <a16:colId xmlns:a16="http://schemas.microsoft.com/office/drawing/2014/main" val="745894467"/>
                    </a:ext>
                  </a:extLst>
                </a:gridCol>
                <a:gridCol w="616712">
                  <a:extLst>
                    <a:ext uri="{9D8B030D-6E8A-4147-A177-3AD203B41FA5}">
                      <a16:colId xmlns:a16="http://schemas.microsoft.com/office/drawing/2014/main" val="993456499"/>
                    </a:ext>
                  </a:extLst>
                </a:gridCol>
              </a:tblGrid>
              <a:tr h="310547">
                <a:tc>
                  <a:txBody>
                    <a:bodyPr/>
                    <a:lstStyle/>
                    <a:p>
                      <a:pPr algn="ctr"/>
                      <a:endParaRPr lang="hi-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tx1"/>
                          </a:solidFill>
                        </a:rPr>
                        <a:t>A</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a:t>
                      </a:r>
                      <a:endParaRPr lang="hi-IN"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9143382"/>
                  </a:ext>
                </a:extLst>
              </a:tr>
              <a:tr h="310547">
                <a:tc>
                  <a:txBody>
                    <a:bodyPr/>
                    <a:lstStyle/>
                    <a:p>
                      <a:pPr algn="ctr"/>
                      <a:r>
                        <a:rPr lang="en-US" b="1" dirty="0">
                          <a:solidFill>
                            <a:schemeClr val="tx1"/>
                          </a:solidFill>
                        </a:rPr>
                        <a:t>A</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246289"/>
                  </a:ext>
                </a:extLst>
              </a:tr>
              <a:tr h="310547">
                <a:tc>
                  <a:txBody>
                    <a:bodyPr/>
                    <a:lstStyle/>
                    <a:p>
                      <a:pPr algn="ctr"/>
                      <a:r>
                        <a:rPr lang="en-US" b="1" dirty="0">
                          <a:solidFill>
                            <a:schemeClr val="tx1"/>
                          </a:solidFill>
                        </a:rPr>
                        <a:t>B</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15798"/>
                  </a:ext>
                </a:extLst>
              </a:tr>
              <a:tr h="310547">
                <a:tc>
                  <a:txBody>
                    <a:bodyPr/>
                    <a:lstStyle/>
                    <a:p>
                      <a:pPr algn="ctr"/>
                      <a:r>
                        <a:rPr lang="en-US" b="1" dirty="0">
                          <a:solidFill>
                            <a:schemeClr val="tx1"/>
                          </a:solidFill>
                        </a:rPr>
                        <a:t>C</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a:solidFill>
                            <a:schemeClr val="tx1"/>
                          </a:solidFill>
                        </a:rPr>
                        <a:t>∞</a:t>
                      </a:r>
                      <a:endParaRPr lang="hi-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8957766"/>
                  </a:ext>
                </a:extLst>
              </a:tr>
              <a:tr h="310547">
                <a:tc>
                  <a:txBody>
                    <a:bodyPr/>
                    <a:lstStyle/>
                    <a:p>
                      <a:pPr algn="ctr"/>
                      <a:r>
                        <a:rPr lang="en-US" b="1" dirty="0">
                          <a:solidFill>
                            <a:schemeClr val="tx1"/>
                          </a:solidFill>
                        </a:rPr>
                        <a:t>D</a:t>
                      </a:r>
                      <a:endParaRPr lang="hi-IN"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i-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542255"/>
                  </a:ext>
                </a:extLst>
              </a:tr>
            </a:tbl>
          </a:graphicData>
        </a:graphic>
      </p:graphicFrame>
      <p:sp>
        <p:nvSpPr>
          <p:cNvPr id="14" name="Rectangle 13">
            <a:extLst>
              <a:ext uri="{FF2B5EF4-FFF2-40B4-BE49-F238E27FC236}">
                <a16:creationId xmlns:a16="http://schemas.microsoft.com/office/drawing/2014/main" id="{50B45B00-727F-4D8D-BBF6-EA0D4D282D0C}"/>
              </a:ext>
            </a:extLst>
          </p:cNvPr>
          <p:cNvSpPr/>
          <p:nvPr/>
        </p:nvSpPr>
        <p:spPr>
          <a:xfrm>
            <a:off x="515620" y="5263125"/>
            <a:ext cx="6096000" cy="923330"/>
          </a:xfrm>
          <a:prstGeom prst="rect">
            <a:avLst/>
          </a:prstGeom>
        </p:spPr>
        <p:txBody>
          <a:bodyPr>
            <a:spAutoFit/>
          </a:bodyPr>
          <a:lstStyle/>
          <a:p>
            <a:r>
              <a:rPr lang="en-US" b="1" dirty="0"/>
              <a:t>Cost of Node 9= Previous node Cost + Min of Row + Min of Col + cost of current link (i.e.) matrix[D,C]</a:t>
            </a:r>
          </a:p>
          <a:p>
            <a:r>
              <a:rPr lang="en-US" b="1" dirty="0"/>
              <a:t>               = 80 + 0 + 0 + 0 = 80</a:t>
            </a:r>
          </a:p>
        </p:txBody>
      </p:sp>
      <p:sp>
        <p:nvSpPr>
          <p:cNvPr id="15" name="Arrow: Right 14">
            <a:extLst>
              <a:ext uri="{FF2B5EF4-FFF2-40B4-BE49-F238E27FC236}">
                <a16:creationId xmlns:a16="http://schemas.microsoft.com/office/drawing/2014/main" id="{328FA424-608B-4939-9533-89A1388B914C}"/>
              </a:ext>
            </a:extLst>
          </p:cNvPr>
          <p:cNvSpPr/>
          <p:nvPr/>
        </p:nvSpPr>
        <p:spPr>
          <a:xfrm>
            <a:off x="3326130" y="3599278"/>
            <a:ext cx="656590" cy="22088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7" name="Speech Bubble: Rectangle with Corners Rounded 16">
            <a:extLst>
              <a:ext uri="{FF2B5EF4-FFF2-40B4-BE49-F238E27FC236}">
                <a16:creationId xmlns:a16="http://schemas.microsoft.com/office/drawing/2014/main" id="{2B6AFFA4-9A1D-4870-B7A5-BB8C9B5228C9}"/>
              </a:ext>
            </a:extLst>
          </p:cNvPr>
          <p:cNvSpPr/>
          <p:nvPr/>
        </p:nvSpPr>
        <p:spPr>
          <a:xfrm>
            <a:off x="4196080" y="5954486"/>
            <a:ext cx="2194560" cy="845450"/>
          </a:xfrm>
          <a:prstGeom prst="wedgeRoundRectCallout">
            <a:avLst>
              <a:gd name="adj1" fmla="val 98275"/>
              <a:gd name="adj2" fmla="val -50676"/>
              <a:gd name="adj3" fmla="val 16667"/>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Node is completely reduced… , reached terminal condition</a:t>
            </a:r>
            <a:endParaRPr lang="hi-IN" dirty="0">
              <a:solidFill>
                <a:schemeClr val="tx1"/>
              </a:solidFill>
            </a:endParaRPr>
          </a:p>
        </p:txBody>
      </p:sp>
      <p:sp>
        <p:nvSpPr>
          <p:cNvPr id="18" name="Oval 17">
            <a:extLst>
              <a:ext uri="{FF2B5EF4-FFF2-40B4-BE49-F238E27FC236}">
                <a16:creationId xmlns:a16="http://schemas.microsoft.com/office/drawing/2014/main" id="{206CB770-6B11-41BF-A481-8411BADD16BF}"/>
              </a:ext>
            </a:extLst>
          </p:cNvPr>
          <p:cNvSpPr/>
          <p:nvPr/>
        </p:nvSpPr>
        <p:spPr>
          <a:xfrm>
            <a:off x="7807960" y="4098370"/>
            <a:ext cx="3668486" cy="85772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9" name="Oval 18">
            <a:extLst>
              <a:ext uri="{FF2B5EF4-FFF2-40B4-BE49-F238E27FC236}">
                <a16:creationId xmlns:a16="http://schemas.microsoft.com/office/drawing/2014/main" id="{7718FA82-1CBE-49A2-9DC6-C9B67186EDEF}"/>
              </a:ext>
            </a:extLst>
          </p:cNvPr>
          <p:cNvSpPr/>
          <p:nvPr/>
        </p:nvSpPr>
        <p:spPr>
          <a:xfrm>
            <a:off x="6356168" y="2668447"/>
            <a:ext cx="718639" cy="212258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pic>
        <p:nvPicPr>
          <p:cNvPr id="16" name="Picture 15">
            <a:extLst>
              <a:ext uri="{FF2B5EF4-FFF2-40B4-BE49-F238E27FC236}">
                <a16:creationId xmlns:a16="http://schemas.microsoft.com/office/drawing/2014/main" id="{3FF3C805-C0BA-4095-B6F8-B8347B718386}"/>
              </a:ext>
            </a:extLst>
          </p:cNvPr>
          <p:cNvPicPr>
            <a:picLocks noChangeAspect="1"/>
          </p:cNvPicPr>
          <p:nvPr/>
        </p:nvPicPr>
        <p:blipFill>
          <a:blip r:embed="rId2"/>
          <a:stretch>
            <a:fillRect/>
          </a:stretch>
        </p:blipFill>
        <p:spPr>
          <a:xfrm>
            <a:off x="9771478" y="149697"/>
            <a:ext cx="2237642" cy="2237642"/>
          </a:xfrm>
          <a:prstGeom prst="rect">
            <a:avLst/>
          </a:prstGeom>
        </p:spPr>
      </p:pic>
      <p:sp>
        <p:nvSpPr>
          <p:cNvPr id="20" name="TextBox 19">
            <a:extLst>
              <a:ext uri="{FF2B5EF4-FFF2-40B4-BE49-F238E27FC236}">
                <a16:creationId xmlns:a16="http://schemas.microsoft.com/office/drawing/2014/main" id="{2FEBFF86-1958-81DB-214D-4185E71BC0E1}"/>
              </a:ext>
            </a:extLst>
          </p:cNvPr>
          <p:cNvSpPr txBox="1"/>
          <p:nvPr/>
        </p:nvSpPr>
        <p:spPr>
          <a:xfrm>
            <a:off x="11635672" y="67445"/>
            <a:ext cx="460187" cy="307777"/>
          </a:xfrm>
          <a:prstGeom prst="rect">
            <a:avLst/>
          </a:prstGeom>
          <a:solidFill>
            <a:schemeClr val="bg1"/>
          </a:solidFill>
        </p:spPr>
        <p:txBody>
          <a:bodyPr wrap="square" rtlCol="0">
            <a:spAutoFit/>
          </a:bodyPr>
          <a:lstStyle/>
          <a:p>
            <a:r>
              <a:rPr lang="en-US" sz="1400" b="1" dirty="0"/>
              <a:t>70</a:t>
            </a:r>
          </a:p>
        </p:txBody>
      </p:sp>
    </p:spTree>
    <p:extLst>
      <p:ext uri="{BB962C8B-B14F-4D97-AF65-F5344CB8AC3E}">
        <p14:creationId xmlns:p14="http://schemas.microsoft.com/office/powerpoint/2010/main" val="259895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4" grpId="0"/>
      <p:bldP spid="15" grpId="0" animBg="1"/>
      <p:bldP spid="17" grpId="0" animBg="1"/>
      <p:bldP spid="18" grpId="0" animBg="1"/>
      <p:bldP spid="1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C7216-7ED7-48BA-9576-C5A04FC3AAFA}"/>
              </a:ext>
            </a:extLst>
          </p:cNvPr>
          <p:cNvSpPr>
            <a:spLocks noGrp="1"/>
          </p:cNvSpPr>
          <p:nvPr>
            <p:ph type="title"/>
          </p:nvPr>
        </p:nvSpPr>
        <p:spPr/>
        <p:txBody>
          <a:bodyPr/>
          <a:lstStyle/>
          <a:p>
            <a:r>
              <a:rPr lang="en-US" b="1" dirty="0"/>
              <a:t>Example 2 : TSP -- </a:t>
            </a:r>
            <a:r>
              <a:rPr lang="en-US" b="1" dirty="0" err="1"/>
              <a:t>contd</a:t>
            </a:r>
            <a:endParaRPr lang="hi-IN" dirty="0"/>
          </a:p>
        </p:txBody>
      </p:sp>
      <p:sp>
        <p:nvSpPr>
          <p:cNvPr id="3" name="Content Placeholder 2">
            <a:extLst>
              <a:ext uri="{FF2B5EF4-FFF2-40B4-BE49-F238E27FC236}">
                <a16:creationId xmlns:a16="http://schemas.microsoft.com/office/drawing/2014/main" id="{E8CF21AA-E66E-4155-BEF9-B8707CFF47FD}"/>
              </a:ext>
            </a:extLst>
          </p:cNvPr>
          <p:cNvSpPr>
            <a:spLocks noGrp="1"/>
          </p:cNvSpPr>
          <p:nvPr>
            <p:ph idx="1"/>
          </p:nvPr>
        </p:nvSpPr>
        <p:spPr>
          <a:xfrm>
            <a:off x="838200" y="1825625"/>
            <a:ext cx="4212771" cy="4351338"/>
          </a:xfrm>
        </p:spPr>
        <p:txBody>
          <a:bodyPr>
            <a:normAutofit fontScale="92500" lnSpcReduction="10000"/>
          </a:bodyPr>
          <a:lstStyle/>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Final Solution (Path) is</a:t>
            </a:r>
          </a:p>
          <a:p>
            <a:pPr marL="0" indent="0">
              <a:buNone/>
            </a:pPr>
            <a:r>
              <a:rPr lang="en-US" b="1" dirty="0">
                <a:solidFill>
                  <a:srgbClr val="C00000"/>
                </a:solidFill>
              </a:rPr>
              <a:t>A – B – D – C – A </a:t>
            </a:r>
          </a:p>
          <a:p>
            <a:pPr marL="0" indent="0">
              <a:buNone/>
            </a:pPr>
            <a:r>
              <a:rPr lang="en-US" b="1" dirty="0">
                <a:solidFill>
                  <a:srgbClr val="C00000"/>
                </a:solidFill>
              </a:rPr>
              <a:t>with minimum cost as 80</a:t>
            </a:r>
            <a:endParaRPr lang="hi-IN" b="1" dirty="0">
              <a:solidFill>
                <a:srgbClr val="C00000"/>
              </a:solidFill>
            </a:endParaRPr>
          </a:p>
        </p:txBody>
      </p:sp>
      <p:sp>
        <p:nvSpPr>
          <p:cNvPr id="4" name="Footer Placeholder 3">
            <a:extLst>
              <a:ext uri="{FF2B5EF4-FFF2-40B4-BE49-F238E27FC236}">
                <a16:creationId xmlns:a16="http://schemas.microsoft.com/office/drawing/2014/main" id="{3A04A957-9172-434C-B689-08E1D6CAC67D}"/>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2DDA6206-FC01-4BC3-A489-89E25F781B41}"/>
              </a:ext>
            </a:extLst>
          </p:cNvPr>
          <p:cNvSpPr>
            <a:spLocks noGrp="1"/>
          </p:cNvSpPr>
          <p:nvPr>
            <p:ph type="sldNum" sz="quarter" idx="12"/>
          </p:nvPr>
        </p:nvSpPr>
        <p:spPr/>
        <p:txBody>
          <a:bodyPr/>
          <a:lstStyle/>
          <a:p>
            <a:fld id="{F56F9007-E0C6-489E-B603-BD6BB4385429}" type="slidenum">
              <a:rPr lang="hi-IN" smtClean="0"/>
              <a:t>44</a:t>
            </a:fld>
            <a:endParaRPr lang="hi-IN"/>
          </a:p>
        </p:txBody>
      </p:sp>
      <p:grpSp>
        <p:nvGrpSpPr>
          <p:cNvPr id="7" name="Group 6">
            <a:extLst>
              <a:ext uri="{FF2B5EF4-FFF2-40B4-BE49-F238E27FC236}">
                <a16:creationId xmlns:a16="http://schemas.microsoft.com/office/drawing/2014/main" id="{E864EEFF-664B-4E3D-BA51-1EC384F6485F}"/>
              </a:ext>
            </a:extLst>
          </p:cNvPr>
          <p:cNvGrpSpPr/>
          <p:nvPr/>
        </p:nvGrpSpPr>
        <p:grpSpPr>
          <a:xfrm>
            <a:off x="1287235" y="1825625"/>
            <a:ext cx="3314700" cy="2491270"/>
            <a:chOff x="2122170" y="2053825"/>
            <a:chExt cx="3314700" cy="2491270"/>
          </a:xfrm>
        </p:grpSpPr>
        <p:pic>
          <p:nvPicPr>
            <p:cNvPr id="8" name="Picture 2">
              <a:extLst>
                <a:ext uri="{FF2B5EF4-FFF2-40B4-BE49-F238E27FC236}">
                  <a16:creationId xmlns:a16="http://schemas.microsoft.com/office/drawing/2014/main" id="{7BC32D98-9CF0-457B-A104-E8D546C659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170" y="2053825"/>
              <a:ext cx="3314700" cy="2491270"/>
            </a:xfrm>
            <a:prstGeom prst="rect">
              <a:avLst/>
            </a:prstGeom>
            <a:noFill/>
            <a:extLst>
              <a:ext uri="{909E8E84-426E-40DD-AFC4-6F175D3DCCD1}">
                <a14:hiddenFill xmlns:a14="http://schemas.microsoft.com/office/drawing/2010/main">
                  <a:solidFill>
                    <a:srgbClr val="FFFFFF"/>
                  </a:solidFill>
                </a14:hiddenFill>
              </a:ext>
            </a:extLst>
          </p:spPr>
        </p:pic>
        <p:sp>
          <p:nvSpPr>
            <p:cNvPr id="9" name="Oval 8">
              <a:extLst>
                <a:ext uri="{FF2B5EF4-FFF2-40B4-BE49-F238E27FC236}">
                  <a16:creationId xmlns:a16="http://schemas.microsoft.com/office/drawing/2014/main" id="{A22BE95C-C21A-489C-A575-1EB8EC249648}"/>
                </a:ext>
              </a:extLst>
            </p:cNvPr>
            <p:cNvSpPr/>
            <p:nvPr/>
          </p:nvSpPr>
          <p:spPr>
            <a:xfrm>
              <a:off x="3703321" y="2119141"/>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a:t>
              </a:r>
              <a:endParaRPr lang="hi-IN" b="1" dirty="0">
                <a:ln w="0"/>
                <a:solidFill>
                  <a:schemeClr val="tx1"/>
                </a:solidFill>
                <a:effectLst>
                  <a:outerShdw blurRad="38100" dist="19050" dir="2700000" algn="tl" rotWithShape="0">
                    <a:schemeClr val="dk1">
                      <a:alpha val="40000"/>
                    </a:schemeClr>
                  </a:outerShdw>
                </a:effectLst>
              </a:endParaRPr>
            </a:p>
          </p:txBody>
        </p:sp>
        <p:sp>
          <p:nvSpPr>
            <p:cNvPr id="10" name="Oval 9">
              <a:extLst>
                <a:ext uri="{FF2B5EF4-FFF2-40B4-BE49-F238E27FC236}">
                  <a16:creationId xmlns:a16="http://schemas.microsoft.com/office/drawing/2014/main" id="{7C196432-7E03-41AE-BC07-8F5D075413F1}"/>
                </a:ext>
              </a:extLst>
            </p:cNvPr>
            <p:cNvSpPr/>
            <p:nvPr/>
          </p:nvSpPr>
          <p:spPr>
            <a:xfrm>
              <a:off x="2175327" y="3996781"/>
              <a:ext cx="426357" cy="390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11" name="Oval 10">
              <a:extLst>
                <a:ext uri="{FF2B5EF4-FFF2-40B4-BE49-F238E27FC236}">
                  <a16:creationId xmlns:a16="http://schemas.microsoft.com/office/drawing/2014/main" id="{9725900D-98B6-4C3E-AD8C-CF6F66CB7E95}"/>
                </a:ext>
              </a:extLst>
            </p:cNvPr>
            <p:cNvSpPr/>
            <p:nvPr/>
          </p:nvSpPr>
          <p:spPr>
            <a:xfrm>
              <a:off x="4921070" y="4029194"/>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12" name="Oval 11">
              <a:extLst>
                <a:ext uri="{FF2B5EF4-FFF2-40B4-BE49-F238E27FC236}">
                  <a16:creationId xmlns:a16="http://schemas.microsoft.com/office/drawing/2014/main" id="{77A38657-DD12-4B6A-BFAC-4DE8398A801E}"/>
                </a:ext>
              </a:extLst>
            </p:cNvPr>
            <p:cNvSpPr/>
            <p:nvPr/>
          </p:nvSpPr>
          <p:spPr>
            <a:xfrm>
              <a:off x="3690258" y="3244334"/>
              <a:ext cx="381000" cy="3693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grpSp>
      <p:sp>
        <p:nvSpPr>
          <p:cNvPr id="68" name="Oval 67">
            <a:extLst>
              <a:ext uri="{FF2B5EF4-FFF2-40B4-BE49-F238E27FC236}">
                <a16:creationId xmlns:a16="http://schemas.microsoft.com/office/drawing/2014/main" id="{191AC567-F9CD-4035-8A77-0700F689A82F}"/>
              </a:ext>
            </a:extLst>
          </p:cNvPr>
          <p:cNvSpPr/>
          <p:nvPr/>
        </p:nvSpPr>
        <p:spPr>
          <a:xfrm>
            <a:off x="7320302" y="868557"/>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a:t>
            </a:r>
            <a:endParaRPr lang="hi-IN" b="1" dirty="0">
              <a:ln w="0"/>
              <a:solidFill>
                <a:schemeClr val="tx1"/>
              </a:solidFill>
              <a:effectLst>
                <a:outerShdw blurRad="38100" dist="19050" dir="2700000" algn="tl" rotWithShape="0">
                  <a:schemeClr val="dk1">
                    <a:alpha val="40000"/>
                  </a:schemeClr>
                </a:outerShdw>
              </a:effectLst>
            </a:endParaRPr>
          </a:p>
        </p:txBody>
      </p:sp>
      <p:sp>
        <p:nvSpPr>
          <p:cNvPr id="69" name="Oval 68">
            <a:extLst>
              <a:ext uri="{FF2B5EF4-FFF2-40B4-BE49-F238E27FC236}">
                <a16:creationId xmlns:a16="http://schemas.microsoft.com/office/drawing/2014/main" id="{2FFF5419-5FA0-486E-A863-73767C860F62}"/>
              </a:ext>
            </a:extLst>
          </p:cNvPr>
          <p:cNvSpPr/>
          <p:nvPr/>
        </p:nvSpPr>
        <p:spPr>
          <a:xfrm>
            <a:off x="6055382" y="1990919"/>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70" name="Oval 69">
            <a:extLst>
              <a:ext uri="{FF2B5EF4-FFF2-40B4-BE49-F238E27FC236}">
                <a16:creationId xmlns:a16="http://schemas.microsoft.com/office/drawing/2014/main" id="{7C1DF9FE-62DE-4263-9BB5-4CCAEC945556}"/>
              </a:ext>
            </a:extLst>
          </p:cNvPr>
          <p:cNvSpPr/>
          <p:nvPr/>
        </p:nvSpPr>
        <p:spPr>
          <a:xfrm>
            <a:off x="7320302" y="1990919"/>
            <a:ext cx="640080" cy="71389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71" name="Oval 70">
            <a:extLst>
              <a:ext uri="{FF2B5EF4-FFF2-40B4-BE49-F238E27FC236}">
                <a16:creationId xmlns:a16="http://schemas.microsoft.com/office/drawing/2014/main" id="{4BA08DB2-1D25-473C-BFF2-9E62E56FEDD2}"/>
              </a:ext>
            </a:extLst>
          </p:cNvPr>
          <p:cNvSpPr/>
          <p:nvPr/>
        </p:nvSpPr>
        <p:spPr>
          <a:xfrm>
            <a:off x="8641102" y="1990919"/>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72" name="Straight Connector 71">
            <a:extLst>
              <a:ext uri="{FF2B5EF4-FFF2-40B4-BE49-F238E27FC236}">
                <a16:creationId xmlns:a16="http://schemas.microsoft.com/office/drawing/2014/main" id="{65C28EE7-39AB-4FEE-9039-C71FFCF864B6}"/>
              </a:ext>
            </a:extLst>
          </p:cNvPr>
          <p:cNvCxnSpPr>
            <a:stCxn id="68" idx="3"/>
            <a:endCxn id="69" idx="0"/>
          </p:cNvCxnSpPr>
          <p:nvPr/>
        </p:nvCxnSpPr>
        <p:spPr>
          <a:xfrm flipH="1">
            <a:off x="6375422" y="1432244"/>
            <a:ext cx="1038618" cy="558675"/>
          </a:xfrm>
          <a:prstGeom prst="line">
            <a:avLst/>
          </a:prstGeom>
        </p:spPr>
        <p:style>
          <a:lnRef idx="1">
            <a:schemeClr val="dk1"/>
          </a:lnRef>
          <a:fillRef idx="0">
            <a:schemeClr val="dk1"/>
          </a:fillRef>
          <a:effectRef idx="0">
            <a:schemeClr val="dk1"/>
          </a:effectRef>
          <a:fontRef idx="minor">
            <a:schemeClr val="tx1"/>
          </a:fontRef>
        </p:style>
      </p:cxnSp>
      <p:cxnSp>
        <p:nvCxnSpPr>
          <p:cNvPr id="73" name="Straight Connector 72">
            <a:extLst>
              <a:ext uri="{FF2B5EF4-FFF2-40B4-BE49-F238E27FC236}">
                <a16:creationId xmlns:a16="http://schemas.microsoft.com/office/drawing/2014/main" id="{EFA3159A-FDD8-4302-960C-AADDF3FA87FD}"/>
              </a:ext>
            </a:extLst>
          </p:cNvPr>
          <p:cNvCxnSpPr>
            <a:stCxn id="68" idx="4"/>
          </p:cNvCxnSpPr>
          <p:nvPr/>
        </p:nvCxnSpPr>
        <p:spPr>
          <a:xfrm>
            <a:off x="7640342" y="1528957"/>
            <a:ext cx="0" cy="461962"/>
          </a:xfrm>
          <a:prstGeom prst="line">
            <a:avLst/>
          </a:prstGeom>
        </p:spPr>
        <p:style>
          <a:lnRef idx="1">
            <a:schemeClr val="dk1"/>
          </a:lnRef>
          <a:fillRef idx="0">
            <a:schemeClr val="dk1"/>
          </a:fillRef>
          <a:effectRef idx="0">
            <a:schemeClr val="dk1"/>
          </a:effectRef>
          <a:fontRef idx="minor">
            <a:schemeClr val="tx1"/>
          </a:fontRef>
        </p:style>
      </p:cxnSp>
      <p:cxnSp>
        <p:nvCxnSpPr>
          <p:cNvPr id="74" name="Straight Connector 73">
            <a:extLst>
              <a:ext uri="{FF2B5EF4-FFF2-40B4-BE49-F238E27FC236}">
                <a16:creationId xmlns:a16="http://schemas.microsoft.com/office/drawing/2014/main" id="{6F1BEACC-3AFD-4586-83A6-E29DA251209B}"/>
              </a:ext>
            </a:extLst>
          </p:cNvPr>
          <p:cNvCxnSpPr>
            <a:stCxn id="68" idx="5"/>
            <a:endCxn id="71" idx="1"/>
          </p:cNvCxnSpPr>
          <p:nvPr/>
        </p:nvCxnSpPr>
        <p:spPr>
          <a:xfrm>
            <a:off x="7866644" y="1432244"/>
            <a:ext cx="868196" cy="655388"/>
          </a:xfrm>
          <a:prstGeom prst="line">
            <a:avLst/>
          </a:prstGeom>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C830B0BF-F1E0-48AF-8FE4-AD98A0C5DE4D}"/>
              </a:ext>
            </a:extLst>
          </p:cNvPr>
          <p:cNvSpPr txBox="1"/>
          <p:nvPr/>
        </p:nvSpPr>
        <p:spPr>
          <a:xfrm>
            <a:off x="7898030" y="815059"/>
            <a:ext cx="2241672" cy="369332"/>
          </a:xfrm>
          <a:prstGeom prst="rect">
            <a:avLst/>
          </a:prstGeom>
          <a:noFill/>
        </p:spPr>
        <p:txBody>
          <a:bodyPr wrap="square" rtlCol="0">
            <a:spAutoFit/>
          </a:bodyPr>
          <a:lstStyle/>
          <a:p>
            <a:r>
              <a:rPr lang="en-US" b="1" dirty="0"/>
              <a:t>Cost of node 1 = 18</a:t>
            </a:r>
            <a:endParaRPr lang="hi-IN" b="1" dirty="0"/>
          </a:p>
        </p:txBody>
      </p:sp>
      <p:sp>
        <p:nvSpPr>
          <p:cNvPr id="76" name="Rectangle 75">
            <a:extLst>
              <a:ext uri="{FF2B5EF4-FFF2-40B4-BE49-F238E27FC236}">
                <a16:creationId xmlns:a16="http://schemas.microsoft.com/office/drawing/2014/main" id="{547AA90C-C5D4-4AB8-805E-478ABD28879C}"/>
              </a:ext>
            </a:extLst>
          </p:cNvPr>
          <p:cNvSpPr/>
          <p:nvPr/>
        </p:nvSpPr>
        <p:spPr>
          <a:xfrm>
            <a:off x="4566431" y="1657942"/>
            <a:ext cx="2012730" cy="369332"/>
          </a:xfrm>
          <a:prstGeom prst="rect">
            <a:avLst/>
          </a:prstGeom>
        </p:spPr>
        <p:txBody>
          <a:bodyPr wrap="none">
            <a:spAutoFit/>
          </a:bodyPr>
          <a:lstStyle/>
          <a:p>
            <a:r>
              <a:rPr lang="en-US" b="1" dirty="0"/>
              <a:t>Cost of node 2 = 80</a:t>
            </a:r>
            <a:endParaRPr lang="hi-IN" dirty="0"/>
          </a:p>
        </p:txBody>
      </p:sp>
      <p:sp>
        <p:nvSpPr>
          <p:cNvPr id="77" name="Rectangle 76">
            <a:extLst>
              <a:ext uri="{FF2B5EF4-FFF2-40B4-BE49-F238E27FC236}">
                <a16:creationId xmlns:a16="http://schemas.microsoft.com/office/drawing/2014/main" id="{5421AC9F-BA98-4D89-B5C1-204921C1DC0C}"/>
              </a:ext>
            </a:extLst>
          </p:cNvPr>
          <p:cNvSpPr/>
          <p:nvPr/>
        </p:nvSpPr>
        <p:spPr>
          <a:xfrm>
            <a:off x="6583702" y="2687674"/>
            <a:ext cx="2012730" cy="369332"/>
          </a:xfrm>
          <a:prstGeom prst="rect">
            <a:avLst/>
          </a:prstGeom>
        </p:spPr>
        <p:txBody>
          <a:bodyPr wrap="none">
            <a:spAutoFit/>
          </a:bodyPr>
          <a:lstStyle/>
          <a:p>
            <a:r>
              <a:rPr lang="en-US" b="1" dirty="0"/>
              <a:t>Cost of node 3 = 80</a:t>
            </a:r>
            <a:endParaRPr lang="hi-IN" dirty="0"/>
          </a:p>
        </p:txBody>
      </p:sp>
      <p:sp>
        <p:nvSpPr>
          <p:cNvPr id="78" name="Rectangle 77">
            <a:extLst>
              <a:ext uri="{FF2B5EF4-FFF2-40B4-BE49-F238E27FC236}">
                <a16:creationId xmlns:a16="http://schemas.microsoft.com/office/drawing/2014/main" id="{76CF7F50-F885-42C2-AD99-23A474D58A1D}"/>
              </a:ext>
            </a:extLst>
          </p:cNvPr>
          <p:cNvSpPr/>
          <p:nvPr/>
        </p:nvSpPr>
        <p:spPr>
          <a:xfrm>
            <a:off x="9018866" y="1719141"/>
            <a:ext cx="2012730" cy="369332"/>
          </a:xfrm>
          <a:prstGeom prst="rect">
            <a:avLst/>
          </a:prstGeom>
        </p:spPr>
        <p:txBody>
          <a:bodyPr wrap="none">
            <a:spAutoFit/>
          </a:bodyPr>
          <a:lstStyle/>
          <a:p>
            <a:r>
              <a:rPr lang="en-US" b="1" dirty="0"/>
              <a:t>Cost of node 4 = 75</a:t>
            </a:r>
            <a:endParaRPr lang="hi-IN" dirty="0"/>
          </a:p>
        </p:txBody>
      </p:sp>
      <p:sp>
        <p:nvSpPr>
          <p:cNvPr id="79" name="Oval 78">
            <a:extLst>
              <a:ext uri="{FF2B5EF4-FFF2-40B4-BE49-F238E27FC236}">
                <a16:creationId xmlns:a16="http://schemas.microsoft.com/office/drawing/2014/main" id="{909CEC88-0E68-41B0-9932-7AE31C1B121F}"/>
              </a:ext>
            </a:extLst>
          </p:cNvPr>
          <p:cNvSpPr/>
          <p:nvPr/>
        </p:nvSpPr>
        <p:spPr>
          <a:xfrm>
            <a:off x="8444544" y="3400667"/>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B</a:t>
            </a:r>
            <a:endParaRPr lang="hi-IN" b="1" dirty="0">
              <a:ln w="0"/>
              <a:solidFill>
                <a:schemeClr val="tx1"/>
              </a:solidFill>
              <a:effectLst>
                <a:outerShdw blurRad="38100" dist="19050" dir="2700000" algn="tl" rotWithShape="0">
                  <a:schemeClr val="dk1">
                    <a:alpha val="40000"/>
                  </a:schemeClr>
                </a:outerShdw>
              </a:effectLst>
            </a:endParaRPr>
          </a:p>
        </p:txBody>
      </p:sp>
      <p:sp>
        <p:nvSpPr>
          <p:cNvPr id="80" name="Oval 79">
            <a:extLst>
              <a:ext uri="{FF2B5EF4-FFF2-40B4-BE49-F238E27FC236}">
                <a16:creationId xmlns:a16="http://schemas.microsoft.com/office/drawing/2014/main" id="{745B1F6B-C4BF-4202-8707-CF551D95E2F2}"/>
              </a:ext>
            </a:extLst>
          </p:cNvPr>
          <p:cNvSpPr/>
          <p:nvPr/>
        </p:nvSpPr>
        <p:spPr>
          <a:xfrm>
            <a:off x="9545906" y="3498319"/>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81" name="Straight Connector 80">
            <a:extLst>
              <a:ext uri="{FF2B5EF4-FFF2-40B4-BE49-F238E27FC236}">
                <a16:creationId xmlns:a16="http://schemas.microsoft.com/office/drawing/2014/main" id="{511971A6-A7AA-48C1-B71A-0D8749232A32}"/>
              </a:ext>
            </a:extLst>
          </p:cNvPr>
          <p:cNvCxnSpPr>
            <a:cxnSpLocks/>
          </p:cNvCxnSpPr>
          <p:nvPr/>
        </p:nvCxnSpPr>
        <p:spPr>
          <a:xfrm flipH="1">
            <a:off x="8796301" y="2651319"/>
            <a:ext cx="151861" cy="774144"/>
          </a:xfrm>
          <a:prstGeom prst="line">
            <a:avLst/>
          </a:prstGeom>
        </p:spPr>
        <p:style>
          <a:lnRef idx="1">
            <a:schemeClr val="dk1"/>
          </a:lnRef>
          <a:fillRef idx="0">
            <a:schemeClr val="dk1"/>
          </a:fillRef>
          <a:effectRef idx="0">
            <a:schemeClr val="dk1"/>
          </a:effectRef>
          <a:fontRef idx="minor">
            <a:schemeClr val="tx1"/>
          </a:fontRef>
        </p:style>
      </p:cxnSp>
      <p:cxnSp>
        <p:nvCxnSpPr>
          <p:cNvPr id="82" name="Straight Connector 81">
            <a:extLst>
              <a:ext uri="{FF2B5EF4-FFF2-40B4-BE49-F238E27FC236}">
                <a16:creationId xmlns:a16="http://schemas.microsoft.com/office/drawing/2014/main" id="{AC2DED50-664D-4557-9731-1C85B641965D}"/>
              </a:ext>
            </a:extLst>
          </p:cNvPr>
          <p:cNvCxnSpPr>
            <a:cxnSpLocks/>
            <a:endCxn id="80" idx="1"/>
          </p:cNvCxnSpPr>
          <p:nvPr/>
        </p:nvCxnSpPr>
        <p:spPr>
          <a:xfrm>
            <a:off x="8991705" y="2627462"/>
            <a:ext cx="647939" cy="967570"/>
          </a:xfrm>
          <a:prstGeom prst="line">
            <a:avLst/>
          </a:prstGeom>
        </p:spPr>
        <p:style>
          <a:lnRef idx="1">
            <a:schemeClr val="dk1"/>
          </a:lnRef>
          <a:fillRef idx="0">
            <a:schemeClr val="dk1"/>
          </a:fillRef>
          <a:effectRef idx="0">
            <a:schemeClr val="dk1"/>
          </a:effectRef>
          <a:fontRef idx="minor">
            <a:schemeClr val="tx1"/>
          </a:fontRef>
        </p:style>
      </p:cxnSp>
      <p:sp>
        <p:nvSpPr>
          <p:cNvPr id="83" name="Rectangle 82">
            <a:extLst>
              <a:ext uri="{FF2B5EF4-FFF2-40B4-BE49-F238E27FC236}">
                <a16:creationId xmlns:a16="http://schemas.microsoft.com/office/drawing/2014/main" id="{65BB57EA-83D8-4254-B387-96696B7028CD}"/>
              </a:ext>
            </a:extLst>
          </p:cNvPr>
          <p:cNvSpPr/>
          <p:nvPr/>
        </p:nvSpPr>
        <p:spPr>
          <a:xfrm>
            <a:off x="6309165" y="4198358"/>
            <a:ext cx="2012730" cy="369332"/>
          </a:xfrm>
          <a:prstGeom prst="rect">
            <a:avLst/>
          </a:prstGeom>
        </p:spPr>
        <p:txBody>
          <a:bodyPr wrap="square">
            <a:spAutoFit/>
          </a:bodyPr>
          <a:lstStyle/>
          <a:p>
            <a:r>
              <a:rPr lang="en-US" b="1" dirty="0"/>
              <a:t>Cost of node 8 = 80</a:t>
            </a:r>
            <a:endParaRPr lang="hi-IN" dirty="0"/>
          </a:p>
        </p:txBody>
      </p:sp>
      <p:sp>
        <p:nvSpPr>
          <p:cNvPr id="84" name="Rectangle 83">
            <a:extLst>
              <a:ext uri="{FF2B5EF4-FFF2-40B4-BE49-F238E27FC236}">
                <a16:creationId xmlns:a16="http://schemas.microsoft.com/office/drawing/2014/main" id="{36C0953D-FA6C-4CC4-B3CD-A2F73EC47EB7}"/>
              </a:ext>
            </a:extLst>
          </p:cNvPr>
          <p:cNvSpPr/>
          <p:nvPr/>
        </p:nvSpPr>
        <p:spPr>
          <a:xfrm>
            <a:off x="10185986" y="3498319"/>
            <a:ext cx="2012729" cy="369332"/>
          </a:xfrm>
          <a:prstGeom prst="rect">
            <a:avLst/>
          </a:prstGeom>
        </p:spPr>
        <p:txBody>
          <a:bodyPr wrap="square">
            <a:spAutoFit/>
          </a:bodyPr>
          <a:lstStyle/>
          <a:p>
            <a:r>
              <a:rPr lang="en-US" b="1" dirty="0"/>
              <a:t>Cost of node 6 = 95</a:t>
            </a:r>
            <a:endParaRPr lang="hi-IN" dirty="0"/>
          </a:p>
        </p:txBody>
      </p:sp>
      <p:sp>
        <p:nvSpPr>
          <p:cNvPr id="85" name="Oval 84">
            <a:extLst>
              <a:ext uri="{FF2B5EF4-FFF2-40B4-BE49-F238E27FC236}">
                <a16:creationId xmlns:a16="http://schemas.microsoft.com/office/drawing/2014/main" id="{611A9020-D2EE-4CB5-AF1A-0A70A3EFFB21}"/>
              </a:ext>
            </a:extLst>
          </p:cNvPr>
          <p:cNvSpPr/>
          <p:nvPr/>
        </p:nvSpPr>
        <p:spPr>
          <a:xfrm>
            <a:off x="5810204" y="3433322"/>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sp>
        <p:nvSpPr>
          <p:cNvPr id="86" name="Oval 85">
            <a:extLst>
              <a:ext uri="{FF2B5EF4-FFF2-40B4-BE49-F238E27FC236}">
                <a16:creationId xmlns:a16="http://schemas.microsoft.com/office/drawing/2014/main" id="{C647419A-5F88-4EB4-ABC4-5028A4F73A9C}"/>
              </a:ext>
            </a:extLst>
          </p:cNvPr>
          <p:cNvSpPr/>
          <p:nvPr/>
        </p:nvSpPr>
        <p:spPr>
          <a:xfrm>
            <a:off x="6911566" y="3530974"/>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D</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87" name="Straight Connector 86">
            <a:extLst>
              <a:ext uri="{FF2B5EF4-FFF2-40B4-BE49-F238E27FC236}">
                <a16:creationId xmlns:a16="http://schemas.microsoft.com/office/drawing/2014/main" id="{3920EDF5-F060-4EEF-9536-98A5DAA2A1E1}"/>
              </a:ext>
            </a:extLst>
          </p:cNvPr>
          <p:cNvCxnSpPr>
            <a:cxnSpLocks/>
          </p:cNvCxnSpPr>
          <p:nvPr/>
        </p:nvCxnSpPr>
        <p:spPr>
          <a:xfrm flipH="1">
            <a:off x="6161961" y="2683974"/>
            <a:ext cx="151861" cy="774144"/>
          </a:xfrm>
          <a:prstGeom prst="line">
            <a:avLst/>
          </a:prstGeom>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7430AE52-8978-4FDC-A8A0-FC94AB39DE28}"/>
              </a:ext>
            </a:extLst>
          </p:cNvPr>
          <p:cNvCxnSpPr>
            <a:cxnSpLocks/>
            <a:endCxn id="86" idx="1"/>
          </p:cNvCxnSpPr>
          <p:nvPr/>
        </p:nvCxnSpPr>
        <p:spPr>
          <a:xfrm>
            <a:off x="6357365" y="2660117"/>
            <a:ext cx="647939" cy="967570"/>
          </a:xfrm>
          <a:prstGeom prst="line">
            <a:avLst/>
          </a:prstGeom>
        </p:spPr>
        <p:style>
          <a:lnRef idx="1">
            <a:schemeClr val="dk1"/>
          </a:lnRef>
          <a:fillRef idx="0">
            <a:schemeClr val="dk1"/>
          </a:fillRef>
          <a:effectRef idx="0">
            <a:schemeClr val="dk1"/>
          </a:effectRef>
          <a:fontRef idx="minor">
            <a:schemeClr val="tx1"/>
          </a:fontRef>
        </p:style>
      </p:cxnSp>
      <p:sp>
        <p:nvSpPr>
          <p:cNvPr id="89" name="Rectangle 88">
            <a:extLst>
              <a:ext uri="{FF2B5EF4-FFF2-40B4-BE49-F238E27FC236}">
                <a16:creationId xmlns:a16="http://schemas.microsoft.com/office/drawing/2014/main" id="{F655F4A1-C411-40D1-8F57-A98C773B20AF}"/>
              </a:ext>
            </a:extLst>
          </p:cNvPr>
          <p:cNvSpPr/>
          <p:nvPr/>
        </p:nvSpPr>
        <p:spPr>
          <a:xfrm>
            <a:off x="4647180" y="3148384"/>
            <a:ext cx="2012729" cy="369332"/>
          </a:xfrm>
          <a:prstGeom prst="rect">
            <a:avLst/>
          </a:prstGeom>
        </p:spPr>
        <p:txBody>
          <a:bodyPr wrap="square">
            <a:spAutoFit/>
          </a:bodyPr>
          <a:lstStyle/>
          <a:p>
            <a:r>
              <a:rPr lang="en-US" b="1" dirty="0"/>
              <a:t>Cost of node 7 = 95</a:t>
            </a:r>
            <a:endParaRPr lang="hi-IN" dirty="0"/>
          </a:p>
        </p:txBody>
      </p:sp>
      <p:sp>
        <p:nvSpPr>
          <p:cNvPr id="90" name="Rectangle 89">
            <a:extLst>
              <a:ext uri="{FF2B5EF4-FFF2-40B4-BE49-F238E27FC236}">
                <a16:creationId xmlns:a16="http://schemas.microsoft.com/office/drawing/2014/main" id="{294EFB63-BA36-4FD7-BB61-FFC3663B7AAA}"/>
              </a:ext>
            </a:extLst>
          </p:cNvPr>
          <p:cNvSpPr/>
          <p:nvPr/>
        </p:nvSpPr>
        <p:spPr>
          <a:xfrm>
            <a:off x="7607070" y="3221878"/>
            <a:ext cx="2012729" cy="369332"/>
          </a:xfrm>
          <a:prstGeom prst="rect">
            <a:avLst/>
          </a:prstGeom>
        </p:spPr>
        <p:txBody>
          <a:bodyPr wrap="square">
            <a:spAutoFit/>
          </a:bodyPr>
          <a:lstStyle/>
          <a:p>
            <a:r>
              <a:rPr lang="en-US" b="1" dirty="0"/>
              <a:t>Cost of node 5 = 95</a:t>
            </a:r>
            <a:endParaRPr lang="hi-IN" dirty="0"/>
          </a:p>
        </p:txBody>
      </p:sp>
      <p:sp>
        <p:nvSpPr>
          <p:cNvPr id="92" name="Oval 91">
            <a:extLst>
              <a:ext uri="{FF2B5EF4-FFF2-40B4-BE49-F238E27FC236}">
                <a16:creationId xmlns:a16="http://schemas.microsoft.com/office/drawing/2014/main" id="{282ADCC1-B20B-40E4-8836-2CD1054000E0}"/>
              </a:ext>
            </a:extLst>
          </p:cNvPr>
          <p:cNvSpPr/>
          <p:nvPr/>
        </p:nvSpPr>
        <p:spPr>
          <a:xfrm>
            <a:off x="8000135" y="4978771"/>
            <a:ext cx="640080" cy="660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C</a:t>
            </a:r>
            <a:endParaRPr lang="hi-IN" b="1" dirty="0">
              <a:ln w="0"/>
              <a:solidFill>
                <a:schemeClr val="tx1"/>
              </a:solidFill>
              <a:effectLst>
                <a:outerShdw blurRad="38100" dist="19050" dir="2700000" algn="tl" rotWithShape="0">
                  <a:schemeClr val="dk1">
                    <a:alpha val="40000"/>
                  </a:schemeClr>
                </a:outerShdw>
              </a:effectLst>
            </a:endParaRPr>
          </a:p>
        </p:txBody>
      </p:sp>
      <p:cxnSp>
        <p:nvCxnSpPr>
          <p:cNvPr id="93" name="Straight Connector 92">
            <a:extLst>
              <a:ext uri="{FF2B5EF4-FFF2-40B4-BE49-F238E27FC236}">
                <a16:creationId xmlns:a16="http://schemas.microsoft.com/office/drawing/2014/main" id="{A93984E1-761E-4CA6-851C-60640AF15CC5}"/>
              </a:ext>
            </a:extLst>
          </p:cNvPr>
          <p:cNvCxnSpPr>
            <a:cxnSpLocks/>
            <a:endCxn id="92" idx="1"/>
          </p:cNvCxnSpPr>
          <p:nvPr/>
        </p:nvCxnSpPr>
        <p:spPr>
          <a:xfrm>
            <a:off x="7445934" y="4107914"/>
            <a:ext cx="647939" cy="967570"/>
          </a:xfrm>
          <a:prstGeom prst="line">
            <a:avLst/>
          </a:prstGeom>
        </p:spPr>
        <p:style>
          <a:lnRef idx="1">
            <a:schemeClr val="dk1"/>
          </a:lnRef>
          <a:fillRef idx="0">
            <a:schemeClr val="dk1"/>
          </a:fillRef>
          <a:effectRef idx="0">
            <a:schemeClr val="dk1"/>
          </a:effectRef>
          <a:fontRef idx="minor">
            <a:schemeClr val="tx1"/>
          </a:fontRef>
        </p:style>
      </p:cxnSp>
      <p:sp>
        <p:nvSpPr>
          <p:cNvPr id="94" name="Rectangle 93">
            <a:extLst>
              <a:ext uri="{FF2B5EF4-FFF2-40B4-BE49-F238E27FC236}">
                <a16:creationId xmlns:a16="http://schemas.microsoft.com/office/drawing/2014/main" id="{783EC620-FFDE-4070-8AEB-D7B0FF76C0A7}"/>
              </a:ext>
            </a:extLst>
          </p:cNvPr>
          <p:cNvSpPr/>
          <p:nvPr/>
        </p:nvSpPr>
        <p:spPr>
          <a:xfrm>
            <a:off x="8640215" y="4978771"/>
            <a:ext cx="2012729" cy="369332"/>
          </a:xfrm>
          <a:prstGeom prst="rect">
            <a:avLst/>
          </a:prstGeom>
        </p:spPr>
        <p:txBody>
          <a:bodyPr wrap="square">
            <a:spAutoFit/>
          </a:bodyPr>
          <a:lstStyle/>
          <a:p>
            <a:r>
              <a:rPr lang="en-US" b="1" dirty="0"/>
              <a:t>Cost of node 9 = 80</a:t>
            </a:r>
            <a:endParaRPr lang="hi-IN" dirty="0"/>
          </a:p>
        </p:txBody>
      </p:sp>
      <p:sp>
        <p:nvSpPr>
          <p:cNvPr id="6" name="TextBox 5">
            <a:extLst>
              <a:ext uri="{FF2B5EF4-FFF2-40B4-BE49-F238E27FC236}">
                <a16:creationId xmlns:a16="http://schemas.microsoft.com/office/drawing/2014/main" id="{93A16A22-0A72-4F01-A153-4298107435F9}"/>
              </a:ext>
            </a:extLst>
          </p:cNvPr>
          <p:cNvSpPr txBox="1"/>
          <p:nvPr/>
        </p:nvSpPr>
        <p:spPr>
          <a:xfrm>
            <a:off x="9565044" y="787158"/>
            <a:ext cx="460187" cy="369332"/>
          </a:xfrm>
          <a:prstGeom prst="rect">
            <a:avLst/>
          </a:prstGeom>
          <a:solidFill>
            <a:schemeClr val="bg1"/>
          </a:solidFill>
        </p:spPr>
        <p:txBody>
          <a:bodyPr wrap="square" rtlCol="0">
            <a:spAutoFit/>
          </a:bodyPr>
          <a:lstStyle/>
          <a:p>
            <a:r>
              <a:rPr lang="en-US" b="1" dirty="0"/>
              <a:t>70</a:t>
            </a:r>
          </a:p>
        </p:txBody>
      </p:sp>
    </p:spTree>
    <p:extLst>
      <p:ext uri="{BB962C8B-B14F-4D97-AF65-F5344CB8AC3E}">
        <p14:creationId xmlns:p14="http://schemas.microsoft.com/office/powerpoint/2010/main" val="36840171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DBDD7-2BFB-432B-903D-792BA00D2131}"/>
              </a:ext>
            </a:extLst>
          </p:cNvPr>
          <p:cNvSpPr>
            <a:spLocks noGrp="1"/>
          </p:cNvSpPr>
          <p:nvPr>
            <p:ph type="title"/>
          </p:nvPr>
        </p:nvSpPr>
        <p:spPr/>
        <p:txBody>
          <a:bodyPr/>
          <a:lstStyle/>
          <a:p>
            <a:r>
              <a:rPr lang="en-US" b="1" dirty="0"/>
              <a:t>Complexity of Branch and Bound</a:t>
            </a:r>
            <a:endParaRPr lang="hi-IN" b="1" dirty="0"/>
          </a:p>
        </p:txBody>
      </p:sp>
      <p:sp>
        <p:nvSpPr>
          <p:cNvPr id="3" name="Content Placeholder 2">
            <a:extLst>
              <a:ext uri="{FF2B5EF4-FFF2-40B4-BE49-F238E27FC236}">
                <a16:creationId xmlns:a16="http://schemas.microsoft.com/office/drawing/2014/main" id="{DBEF3A1F-40DB-495D-A0FD-686F485BEF05}"/>
              </a:ext>
            </a:extLst>
          </p:cNvPr>
          <p:cNvSpPr>
            <a:spLocks noGrp="1"/>
          </p:cNvSpPr>
          <p:nvPr>
            <p:ph idx="1"/>
          </p:nvPr>
        </p:nvSpPr>
        <p:spPr/>
        <p:txBody>
          <a:bodyPr/>
          <a:lstStyle/>
          <a:p>
            <a:pPr algn="just"/>
            <a:r>
              <a:rPr lang="en-US" dirty="0"/>
              <a:t>These problems are typically exponential in terms of </a:t>
            </a:r>
            <a:r>
              <a:rPr lang="en-US" b="1" dirty="0"/>
              <a:t>time complexity</a:t>
            </a:r>
            <a:r>
              <a:rPr lang="en-US" dirty="0"/>
              <a:t> and may require exploring all possible permutations in worst case. </a:t>
            </a:r>
          </a:p>
          <a:p>
            <a:pPr algn="just"/>
            <a:r>
              <a:rPr lang="en-US" dirty="0"/>
              <a:t>But, Branch and Bound solve the problems relatively quickly (best case and average case).</a:t>
            </a:r>
            <a:endParaRPr lang="hi-IN" dirty="0"/>
          </a:p>
        </p:txBody>
      </p:sp>
      <p:sp>
        <p:nvSpPr>
          <p:cNvPr id="4" name="Footer Placeholder 3">
            <a:extLst>
              <a:ext uri="{FF2B5EF4-FFF2-40B4-BE49-F238E27FC236}">
                <a16:creationId xmlns:a16="http://schemas.microsoft.com/office/drawing/2014/main" id="{C13171F5-BFB4-4E44-AC11-C7E46796FB3F}"/>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7F4ECDD3-1273-4E7F-A962-410BF31F9E08}"/>
              </a:ext>
            </a:extLst>
          </p:cNvPr>
          <p:cNvSpPr>
            <a:spLocks noGrp="1"/>
          </p:cNvSpPr>
          <p:nvPr>
            <p:ph type="sldNum" sz="quarter" idx="12"/>
          </p:nvPr>
        </p:nvSpPr>
        <p:spPr/>
        <p:txBody>
          <a:bodyPr/>
          <a:lstStyle/>
          <a:p>
            <a:fld id="{F56F9007-E0C6-489E-B603-BD6BB4385429}" type="slidenum">
              <a:rPr lang="hi-IN" smtClean="0"/>
              <a:t>45</a:t>
            </a:fld>
            <a:endParaRPr lang="hi-IN"/>
          </a:p>
        </p:txBody>
      </p:sp>
    </p:spTree>
    <p:extLst>
      <p:ext uri="{BB962C8B-B14F-4D97-AF65-F5344CB8AC3E}">
        <p14:creationId xmlns:p14="http://schemas.microsoft.com/office/powerpoint/2010/main" val="27657071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F8490-4EBB-4B50-9CB3-69FA623238A6}"/>
              </a:ext>
            </a:extLst>
          </p:cNvPr>
          <p:cNvSpPr>
            <a:spLocks noGrp="1"/>
          </p:cNvSpPr>
          <p:nvPr>
            <p:ph type="title"/>
          </p:nvPr>
        </p:nvSpPr>
        <p:spPr/>
        <p:txBody>
          <a:bodyPr/>
          <a:lstStyle/>
          <a:p>
            <a:r>
              <a:rPr lang="en-US" b="1" dirty="0"/>
              <a:t>Exercise Problem</a:t>
            </a:r>
            <a:endParaRPr lang="hi-IN" b="1" dirty="0"/>
          </a:p>
        </p:txBody>
      </p:sp>
      <p:sp>
        <p:nvSpPr>
          <p:cNvPr id="3" name="Content Placeholder 2">
            <a:extLst>
              <a:ext uri="{FF2B5EF4-FFF2-40B4-BE49-F238E27FC236}">
                <a16:creationId xmlns:a16="http://schemas.microsoft.com/office/drawing/2014/main" id="{85ECAB25-8B1D-4698-B8BE-5D69584BC166}"/>
              </a:ext>
            </a:extLst>
          </p:cNvPr>
          <p:cNvSpPr>
            <a:spLocks noGrp="1"/>
          </p:cNvSpPr>
          <p:nvPr>
            <p:ph idx="1"/>
          </p:nvPr>
        </p:nvSpPr>
        <p:spPr/>
        <p:txBody>
          <a:bodyPr/>
          <a:lstStyle/>
          <a:p>
            <a:r>
              <a:rPr lang="en-US" dirty="0"/>
              <a:t>Solve the TSP given using Branch and Bound</a:t>
            </a:r>
            <a:endParaRPr lang="hi-IN" dirty="0"/>
          </a:p>
        </p:txBody>
      </p:sp>
      <p:sp>
        <p:nvSpPr>
          <p:cNvPr id="4" name="Footer Placeholder 3">
            <a:extLst>
              <a:ext uri="{FF2B5EF4-FFF2-40B4-BE49-F238E27FC236}">
                <a16:creationId xmlns:a16="http://schemas.microsoft.com/office/drawing/2014/main" id="{C82533E6-9273-472D-895F-07276B8D27F9}"/>
              </a:ext>
            </a:extLst>
          </p:cNvPr>
          <p:cNvSpPr>
            <a:spLocks noGrp="1"/>
          </p:cNvSpPr>
          <p:nvPr>
            <p:ph type="ftr" sz="quarter" idx="11"/>
          </p:nvPr>
        </p:nvSpPr>
        <p:spPr/>
        <p:txBody>
          <a:bodyPr/>
          <a:lstStyle/>
          <a:p>
            <a:r>
              <a:rPr lang="en-US"/>
              <a:t>Amrita School of Engineering</a:t>
            </a:r>
            <a:endParaRPr lang="hi-IN"/>
          </a:p>
        </p:txBody>
      </p:sp>
      <p:sp>
        <p:nvSpPr>
          <p:cNvPr id="5" name="Slide Number Placeholder 4">
            <a:extLst>
              <a:ext uri="{FF2B5EF4-FFF2-40B4-BE49-F238E27FC236}">
                <a16:creationId xmlns:a16="http://schemas.microsoft.com/office/drawing/2014/main" id="{9B88CEA3-3DF0-4D78-8CC6-0B34DBC48206}"/>
              </a:ext>
            </a:extLst>
          </p:cNvPr>
          <p:cNvSpPr>
            <a:spLocks noGrp="1"/>
          </p:cNvSpPr>
          <p:nvPr>
            <p:ph type="sldNum" sz="quarter" idx="12"/>
          </p:nvPr>
        </p:nvSpPr>
        <p:spPr/>
        <p:txBody>
          <a:bodyPr/>
          <a:lstStyle/>
          <a:p>
            <a:fld id="{F56F9007-E0C6-489E-B603-BD6BB4385429}" type="slidenum">
              <a:rPr lang="hi-IN" smtClean="0"/>
              <a:t>46</a:t>
            </a:fld>
            <a:endParaRPr lang="hi-IN"/>
          </a:p>
        </p:txBody>
      </p:sp>
      <p:grpSp>
        <p:nvGrpSpPr>
          <p:cNvPr id="8" name="Group 7">
            <a:extLst>
              <a:ext uri="{FF2B5EF4-FFF2-40B4-BE49-F238E27FC236}">
                <a16:creationId xmlns:a16="http://schemas.microsoft.com/office/drawing/2014/main" id="{B226AD41-1A25-4AA0-BC7B-1AE1F31BB578}"/>
              </a:ext>
            </a:extLst>
          </p:cNvPr>
          <p:cNvGrpSpPr/>
          <p:nvPr/>
        </p:nvGrpSpPr>
        <p:grpSpPr>
          <a:xfrm>
            <a:off x="5524500" y="2238500"/>
            <a:ext cx="4370614" cy="3525588"/>
            <a:chOff x="5524500" y="2238500"/>
            <a:chExt cx="4370614" cy="3525588"/>
          </a:xfrm>
        </p:grpSpPr>
        <p:pic>
          <p:nvPicPr>
            <p:cNvPr id="6" name="Picture 5">
              <a:extLst>
                <a:ext uri="{FF2B5EF4-FFF2-40B4-BE49-F238E27FC236}">
                  <a16:creationId xmlns:a16="http://schemas.microsoft.com/office/drawing/2014/main" id="{B41DEC96-7E5F-478F-A82B-65C32879C013}"/>
                </a:ext>
              </a:extLst>
            </p:cNvPr>
            <p:cNvPicPr>
              <a:picLocks noChangeAspect="1"/>
            </p:cNvPicPr>
            <p:nvPr/>
          </p:nvPicPr>
          <p:blipFill>
            <a:blip r:embed="rId2"/>
            <a:stretch>
              <a:fillRect/>
            </a:stretch>
          </p:blipFill>
          <p:spPr>
            <a:xfrm>
              <a:off x="5949043" y="2238500"/>
              <a:ext cx="3946071" cy="3525588"/>
            </a:xfrm>
            <a:prstGeom prst="rect">
              <a:avLst/>
            </a:prstGeom>
          </p:spPr>
        </p:pic>
        <p:sp>
          <p:nvSpPr>
            <p:cNvPr id="7" name="TextBox 6">
              <a:extLst>
                <a:ext uri="{FF2B5EF4-FFF2-40B4-BE49-F238E27FC236}">
                  <a16:creationId xmlns:a16="http://schemas.microsoft.com/office/drawing/2014/main" id="{3CFD8DB6-8239-40F9-866E-81FF35CA90E3}"/>
                </a:ext>
              </a:extLst>
            </p:cNvPr>
            <p:cNvSpPr txBox="1"/>
            <p:nvPr/>
          </p:nvSpPr>
          <p:spPr>
            <a:xfrm>
              <a:off x="5524500" y="2238500"/>
              <a:ext cx="1143000" cy="566058"/>
            </a:xfrm>
            <a:prstGeom prst="rect">
              <a:avLst/>
            </a:prstGeom>
            <a:solidFill>
              <a:schemeClr val="bg1"/>
            </a:solidFill>
          </p:spPr>
          <p:txBody>
            <a:bodyPr wrap="square" rtlCol="0">
              <a:spAutoFit/>
            </a:bodyPr>
            <a:lstStyle/>
            <a:p>
              <a:endParaRPr lang="hi-IN" dirty="0"/>
            </a:p>
          </p:txBody>
        </p:sp>
      </p:grpSp>
    </p:spTree>
    <p:extLst>
      <p:ext uri="{BB962C8B-B14F-4D97-AF65-F5344CB8AC3E}">
        <p14:creationId xmlns:p14="http://schemas.microsoft.com/office/powerpoint/2010/main" val="1174096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1616</TotalTime>
  <Words>6326</Words>
  <Application>Microsoft Office PowerPoint</Application>
  <PresentationFormat>Widescreen</PresentationFormat>
  <Paragraphs>2492</Paragraphs>
  <Slides>46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Calibri Light</vt:lpstr>
      <vt:lpstr>Cambria Math</vt:lpstr>
      <vt:lpstr>Courier New</vt:lpstr>
      <vt:lpstr>Office Theme</vt:lpstr>
      <vt:lpstr>Branch and Bound</vt:lpstr>
      <vt:lpstr>Introduction</vt:lpstr>
      <vt:lpstr>Introduction</vt:lpstr>
      <vt:lpstr>State Space Pruning</vt:lpstr>
      <vt:lpstr>Branch and Bound - Examples</vt:lpstr>
      <vt:lpstr>0-1 Knapsack Problem</vt:lpstr>
      <vt:lpstr>0-1 Knapsack – Branch and Bound</vt:lpstr>
      <vt:lpstr>Example 1</vt:lpstr>
      <vt:lpstr>Example 1</vt:lpstr>
      <vt:lpstr>Example 1</vt:lpstr>
      <vt:lpstr>Example 2</vt:lpstr>
      <vt:lpstr>Example 2</vt:lpstr>
      <vt:lpstr>Example 2 --contd</vt:lpstr>
      <vt:lpstr>PowerPoint Presentation</vt:lpstr>
      <vt:lpstr>Example 3</vt:lpstr>
      <vt:lpstr>Travelling Salesman Problem (TSP)</vt:lpstr>
      <vt:lpstr>Example 1</vt:lpstr>
      <vt:lpstr>Example 1: TSP</vt:lpstr>
      <vt:lpstr>Example 1: TSP -- contd</vt:lpstr>
      <vt:lpstr>Example 1: TSP -- contd</vt:lpstr>
      <vt:lpstr>Example 1: TSP -- contd</vt:lpstr>
      <vt:lpstr>Example 1: TSP -- contd</vt:lpstr>
      <vt:lpstr>Example 1: TSP -- contd</vt:lpstr>
      <vt:lpstr>Example 1: TSP -- contd</vt:lpstr>
      <vt:lpstr>Example 1: TSP -- contd</vt:lpstr>
      <vt:lpstr>Example 1: TSP -- contd</vt:lpstr>
      <vt:lpstr>Example 1: TSP -- contd</vt:lpstr>
      <vt:lpstr>Example 1: TSP -- contd</vt:lpstr>
      <vt:lpstr>Example 1: TSP -- contd</vt:lpstr>
      <vt:lpstr>Example 2: Solve the given TSP</vt:lpstr>
      <vt:lpstr>Example 2: TSP -- contd</vt:lpstr>
      <vt:lpstr>Example 2: TSP -- contd</vt:lpstr>
      <vt:lpstr>Example 2 : TSP -- contd</vt:lpstr>
      <vt:lpstr>Example 2 : TSP -- contd</vt:lpstr>
      <vt:lpstr>Example 2 : TSP -- contd</vt:lpstr>
      <vt:lpstr>Example 2 : TSP -- contd</vt:lpstr>
      <vt:lpstr>Example 2 : TSP -- contd</vt:lpstr>
      <vt:lpstr>Example 2 : TSP -- contd</vt:lpstr>
      <vt:lpstr>Example 2 : TSP -- contd</vt:lpstr>
      <vt:lpstr>Example 2 : TSP -- contd</vt:lpstr>
      <vt:lpstr>Example 2 : TSP -- contd</vt:lpstr>
      <vt:lpstr>Example 2 : TSP -- contd</vt:lpstr>
      <vt:lpstr>Example 2 : TSP -- contd</vt:lpstr>
      <vt:lpstr>Example 2 : TSP -- contd</vt:lpstr>
      <vt:lpstr>Complexity of Branch and Bound</vt:lpstr>
      <vt:lpstr>Exercise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Branch and Bound</dc:title>
  <dc:creator>Supriya M</dc:creator>
  <cp:lastModifiedBy>Dr. Supriya M.</cp:lastModifiedBy>
  <cp:revision>703</cp:revision>
  <dcterms:created xsi:type="dcterms:W3CDTF">2020-04-25T16:05:31Z</dcterms:created>
  <dcterms:modified xsi:type="dcterms:W3CDTF">2024-07-19T08:47:19Z</dcterms:modified>
</cp:coreProperties>
</file>