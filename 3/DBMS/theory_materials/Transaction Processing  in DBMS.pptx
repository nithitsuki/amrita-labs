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6"/>
  </p:notesMasterIdLst>
  <p:sldIdLst>
    <p:sldId id="256" r:id="rId2"/>
    <p:sldId id="303" r:id="rId3"/>
    <p:sldId id="304" r:id="rId4"/>
    <p:sldId id="305" r:id="rId5"/>
    <p:sldId id="306" r:id="rId6"/>
    <p:sldId id="307" r:id="rId7"/>
    <p:sldId id="308" r:id="rId8"/>
    <p:sldId id="309" r:id="rId9"/>
    <p:sldId id="310" r:id="rId10"/>
    <p:sldId id="311" r:id="rId11"/>
    <p:sldId id="312" r:id="rId12"/>
    <p:sldId id="313" r:id="rId13"/>
    <p:sldId id="314" r:id="rId14"/>
    <p:sldId id="315" r:id="rId15"/>
    <p:sldId id="316" r:id="rId16"/>
    <p:sldId id="371" r:id="rId17"/>
    <p:sldId id="257" r:id="rId18"/>
    <p:sldId id="258" r:id="rId19"/>
    <p:sldId id="259" r:id="rId20"/>
    <p:sldId id="260" r:id="rId21"/>
    <p:sldId id="261" r:id="rId22"/>
    <p:sldId id="262" r:id="rId23"/>
    <p:sldId id="263" r:id="rId24"/>
    <p:sldId id="264" r:id="rId25"/>
    <p:sldId id="283" r:id="rId26"/>
    <p:sldId id="325" r:id="rId27"/>
    <p:sldId id="351" r:id="rId28"/>
    <p:sldId id="324" r:id="rId29"/>
    <p:sldId id="317" r:id="rId30"/>
    <p:sldId id="318" r:id="rId31"/>
    <p:sldId id="319" r:id="rId32"/>
    <p:sldId id="320" r:id="rId33"/>
    <p:sldId id="321" r:id="rId34"/>
    <p:sldId id="322" r:id="rId35"/>
    <p:sldId id="323" r:id="rId36"/>
    <p:sldId id="327" r:id="rId37"/>
    <p:sldId id="326" r:id="rId38"/>
    <p:sldId id="329" r:id="rId39"/>
    <p:sldId id="328" r:id="rId40"/>
    <p:sldId id="330" r:id="rId41"/>
    <p:sldId id="331" r:id="rId42"/>
    <p:sldId id="332" r:id="rId43"/>
    <p:sldId id="333" r:id="rId44"/>
    <p:sldId id="334" r:id="rId45"/>
    <p:sldId id="335" r:id="rId46"/>
    <p:sldId id="336" r:id="rId47"/>
    <p:sldId id="340" r:id="rId48"/>
    <p:sldId id="341" r:id="rId49"/>
    <p:sldId id="337" r:id="rId50"/>
    <p:sldId id="338" r:id="rId51"/>
    <p:sldId id="342" r:id="rId52"/>
    <p:sldId id="343" r:id="rId53"/>
    <p:sldId id="344" r:id="rId54"/>
    <p:sldId id="347" r:id="rId55"/>
    <p:sldId id="348" r:id="rId56"/>
    <p:sldId id="349" r:id="rId57"/>
    <p:sldId id="350" r:id="rId58"/>
    <p:sldId id="353" r:id="rId59"/>
    <p:sldId id="372" r:id="rId60"/>
    <p:sldId id="354" r:id="rId61"/>
    <p:sldId id="373" r:id="rId62"/>
    <p:sldId id="374" r:id="rId63"/>
    <p:sldId id="355" r:id="rId64"/>
    <p:sldId id="356" r:id="rId65"/>
    <p:sldId id="357" r:id="rId66"/>
    <p:sldId id="358" r:id="rId67"/>
    <p:sldId id="359" r:id="rId68"/>
    <p:sldId id="360" r:id="rId69"/>
    <p:sldId id="365" r:id="rId70"/>
    <p:sldId id="366" r:id="rId71"/>
    <p:sldId id="362" r:id="rId72"/>
    <p:sldId id="363" r:id="rId73"/>
    <p:sldId id="364" r:id="rId74"/>
    <p:sldId id="367" r:id="rId75"/>
    <p:sldId id="368" r:id="rId76"/>
    <p:sldId id="369" r:id="rId77"/>
    <p:sldId id="370" r:id="rId78"/>
    <p:sldId id="375" r:id="rId79"/>
    <p:sldId id="376" r:id="rId80"/>
    <p:sldId id="377" r:id="rId81"/>
    <p:sldId id="378" r:id="rId82"/>
    <p:sldId id="379" r:id="rId83"/>
    <p:sldId id="380" r:id="rId84"/>
    <p:sldId id="381" r:id="rId85"/>
    <p:sldId id="382" r:id="rId86"/>
    <p:sldId id="383" r:id="rId87"/>
    <p:sldId id="384" r:id="rId88"/>
    <p:sldId id="385" r:id="rId89"/>
    <p:sldId id="386" r:id="rId90"/>
    <p:sldId id="387" r:id="rId91"/>
    <p:sldId id="388" r:id="rId92"/>
    <p:sldId id="389" r:id="rId93"/>
    <p:sldId id="390" r:id="rId94"/>
    <p:sldId id="392" r:id="rId95"/>
    <p:sldId id="391" r:id="rId96"/>
    <p:sldId id="393" r:id="rId97"/>
    <p:sldId id="284" r:id="rId98"/>
    <p:sldId id="266" r:id="rId99"/>
    <p:sldId id="285" r:id="rId100"/>
    <p:sldId id="286" r:id="rId101"/>
    <p:sldId id="287" r:id="rId102"/>
    <p:sldId id="288" r:id="rId103"/>
    <p:sldId id="289" r:id="rId104"/>
    <p:sldId id="290" r:id="rId105"/>
    <p:sldId id="291" r:id="rId106"/>
    <p:sldId id="292" r:id="rId107"/>
    <p:sldId id="293" r:id="rId108"/>
    <p:sldId id="294" r:id="rId109"/>
    <p:sldId id="295" r:id="rId110"/>
    <p:sldId id="394" r:id="rId111"/>
    <p:sldId id="395" r:id="rId112"/>
    <p:sldId id="297" r:id="rId113"/>
    <p:sldId id="298" r:id="rId114"/>
    <p:sldId id="399" r:id="rId115"/>
    <p:sldId id="396" r:id="rId116"/>
    <p:sldId id="397" r:id="rId117"/>
    <p:sldId id="398" r:id="rId118"/>
    <p:sldId id="299" r:id="rId119"/>
    <p:sldId id="301" r:id="rId120"/>
    <p:sldId id="300" r:id="rId121"/>
    <p:sldId id="302" r:id="rId122"/>
    <p:sldId id="352" r:id="rId123"/>
    <p:sldId id="401" r:id="rId124"/>
    <p:sldId id="400" r:id="rId1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55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369307-8C4D-422D-A68E-320FEA5F4A87}" type="datetimeFigureOut">
              <a:rPr lang="en-US" smtClean="0"/>
              <a:t>11/15/2023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22FB03-4617-4EBB-BC4D-8D3A452E8B87}" type="slidenum">
              <a:rPr lang="en-US" smtClean="0"/>
              <a:t>‹#›</a:t>
            </a:fld>
            <a:endParaRPr lang="en-US"/>
          </a:p>
        </p:txBody>
      </p:sp>
    </p:spTree>
    <p:extLst>
      <p:ext uri="{BB962C8B-B14F-4D97-AF65-F5344CB8AC3E}">
        <p14:creationId xmlns:p14="http://schemas.microsoft.com/office/powerpoint/2010/main" val="2728230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A026FEE-DDDB-4534-8F48-2472B4E65D90}" type="slidenum">
              <a:rPr lang="en-CA" altLang="en-US" sz="1200" smtClean="0">
                <a:latin typeface="Tahoma" panose="020B0604030504040204" pitchFamily="34" charset="0"/>
              </a:rPr>
              <a:pPr/>
              <a:t>2</a:t>
            </a:fld>
            <a:endParaRPr lang="en-CA" altLang="en-US" sz="1200" smtClean="0">
              <a:latin typeface="Tahoma" panose="020B0604030504040204" pitchFamily="34" charset="0"/>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617314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8872C3F-0DC3-4BB0-B412-4B36D1FC88BC}" type="slidenum">
              <a:rPr lang="en-CA" altLang="en-US" sz="1200" smtClean="0">
                <a:latin typeface="Tahoma" panose="020B0604030504040204" pitchFamily="34" charset="0"/>
              </a:rPr>
              <a:pPr/>
              <a:t>3</a:t>
            </a:fld>
            <a:endParaRPr lang="en-CA" altLang="en-US" sz="1200" smtClean="0">
              <a:latin typeface="Tahoma" panose="020B0604030504040204" pitchFamily="34" charset="0"/>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666227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3CC6CE91-F0AD-459D-A330-9EEDB8166FA8}" type="slidenum">
              <a:rPr lang="en-CA" altLang="en-US" sz="1200" smtClean="0">
                <a:latin typeface="Tahoma" panose="020B0604030504040204" pitchFamily="34" charset="0"/>
              </a:rPr>
              <a:pPr/>
              <a:t>4</a:t>
            </a:fld>
            <a:endParaRPr lang="en-CA" altLang="en-US" sz="1200" smtClean="0">
              <a:latin typeface="Tahoma" panose="020B0604030504040204" pitchFamily="34"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9399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04B5EB7-4334-4117-9EBF-CF7EB086BFD0}" type="slidenum">
              <a:rPr lang="en-CA" altLang="en-US" sz="1200" smtClean="0">
                <a:latin typeface="Tahoma" panose="020B0604030504040204" pitchFamily="34" charset="0"/>
              </a:rPr>
              <a:pPr/>
              <a:t>5</a:t>
            </a:fld>
            <a:endParaRPr lang="en-CA" altLang="en-US" sz="1200" smtClean="0">
              <a:latin typeface="Tahoma" panose="020B0604030504040204" pitchFamily="34"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130289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F91C7B5-7F8E-4945-A48F-5EB8CBA0F185}" type="slidenum">
              <a:rPr lang="en-CA" altLang="en-US" sz="1200" smtClean="0">
                <a:latin typeface="Tahoma" panose="020B0604030504040204" pitchFamily="34" charset="0"/>
              </a:rPr>
              <a:pPr/>
              <a:t>6</a:t>
            </a:fld>
            <a:endParaRPr lang="en-CA" altLang="en-US" sz="1200" smtClean="0">
              <a:latin typeface="Tahoma" panose="020B0604030504040204" pitchFamily="34"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862869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879D238-A615-4109-BC1A-81A0268912F1}" type="slidenum">
              <a:rPr lang="en-CA" altLang="en-US" sz="1200" smtClean="0">
                <a:latin typeface="Tahoma" panose="020B0604030504040204" pitchFamily="34" charset="0"/>
              </a:rPr>
              <a:pPr/>
              <a:t>7</a:t>
            </a:fld>
            <a:endParaRPr lang="en-CA" altLang="en-US" sz="1200" smtClean="0">
              <a:latin typeface="Tahoma" panose="020B0604030504040204" pitchFamily="34"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368352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34C2C86-84A2-4394-94BE-54BBB40EFE71}" type="slidenum">
              <a:rPr lang="en-CA" altLang="en-US" sz="1200" smtClean="0">
                <a:latin typeface="Tahoma" panose="020B0604030504040204" pitchFamily="34" charset="0"/>
              </a:rPr>
              <a:pPr/>
              <a:t>8</a:t>
            </a:fld>
            <a:endParaRPr lang="en-CA" altLang="en-US" sz="1200" smtClean="0">
              <a:latin typeface="Tahoma" panose="020B060403050404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057199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0FDA594-D6A0-41E2-92BE-848B3171ECF4}" type="slidenum">
              <a:rPr lang="en-CA" altLang="en-US" sz="1200" smtClean="0">
                <a:latin typeface="Tahoma" panose="020B0604030504040204" pitchFamily="34" charset="0"/>
              </a:rPr>
              <a:pPr/>
              <a:t>9</a:t>
            </a:fld>
            <a:endParaRPr lang="en-CA" altLang="en-US" sz="1200" smtClean="0">
              <a:latin typeface="Tahoma" panose="020B0604030504040204" pitchFamily="34"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040802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06859AD7-59A0-4611-9ED6-35D76DB7B460}" type="slidenum">
              <a:rPr lang="en-CA" altLang="en-US" sz="1200" smtClean="0">
                <a:latin typeface="Tahoma" panose="020B0604030504040204" pitchFamily="34" charset="0"/>
              </a:rPr>
              <a:pPr/>
              <a:t>10</a:t>
            </a:fld>
            <a:endParaRPr lang="en-CA" altLang="en-US" sz="1200" smtClean="0">
              <a:latin typeface="Tahoma" panose="020B0604030504040204" pitchFamily="3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688883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A3F6554-2286-4D80-9AE6-3456C44620BD}" type="slidenum">
              <a:rPr lang="en-CA" altLang="en-US" sz="1200" smtClean="0">
                <a:latin typeface="Tahoma" panose="020B0604030504040204" pitchFamily="34" charset="0"/>
              </a:rPr>
              <a:pPr/>
              <a:t>11</a:t>
            </a:fld>
            <a:endParaRPr lang="en-CA" altLang="en-US" sz="1200" smtClean="0">
              <a:latin typeface="Tahoma" panose="020B0604030504040204" pitchFamily="3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255400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2EBBA9FB-21EB-483E-B6FF-EA6D8D949A21}" type="slidenum">
              <a:rPr lang="en-CA" altLang="en-US" sz="1200" smtClean="0">
                <a:latin typeface="Tahoma" panose="020B0604030504040204" pitchFamily="34" charset="0"/>
              </a:rPr>
              <a:pPr/>
              <a:t>12</a:t>
            </a:fld>
            <a:endParaRPr lang="en-CA" altLang="en-US" sz="1200" smtClean="0">
              <a:latin typeface="Tahoma" panose="020B0604030504040204" pitchFamily="34"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4204043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062AB1D-DBC7-4DC8-A50D-F9E6F4C09A5C}" type="slidenum">
              <a:rPr lang="en-CA" altLang="en-US" sz="1200" smtClean="0">
                <a:latin typeface="Tahoma" panose="020B0604030504040204" pitchFamily="34" charset="0"/>
              </a:rPr>
              <a:pPr/>
              <a:t>14</a:t>
            </a:fld>
            <a:endParaRPr lang="en-CA" altLang="en-US" sz="1200" smtClean="0">
              <a:latin typeface="Tahoma" panose="020B060403050404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393430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5C1AAF5-6AEA-4D14-8684-0B8539C0EA31}" type="slidenum">
              <a:rPr lang="en-US" altLang="en-US" sz="1300">
                <a:latin typeface="Times New Roman" panose="02020603050405020304" pitchFamily="18" charset="0"/>
              </a:rPr>
              <a:pPr/>
              <a:t>16</a:t>
            </a:fld>
            <a:endParaRPr lang="en-US" altLang="en-US" sz="13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71200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720BA8D-4F0C-4D4D-9BE4-41F6950D838A}" type="slidenum">
              <a:rPr lang="en-CA" altLang="en-US" sz="1200" smtClean="0">
                <a:latin typeface="Tahoma" panose="020B0604030504040204" pitchFamily="34" charset="0"/>
              </a:rPr>
              <a:pPr/>
              <a:t>29</a:t>
            </a:fld>
            <a:endParaRPr lang="en-CA" altLang="en-US" sz="1200" smtClean="0">
              <a:latin typeface="Tahoma" panose="020B0604030504040204" pitchFamily="3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395227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28C9CD5-056F-4C61-B487-79FCB6DC83E1}" type="slidenum">
              <a:rPr lang="en-CA" altLang="en-US" sz="1200" smtClean="0">
                <a:latin typeface="Tahoma" panose="020B0604030504040204" pitchFamily="34" charset="0"/>
              </a:rPr>
              <a:pPr/>
              <a:t>30</a:t>
            </a:fld>
            <a:endParaRPr lang="en-CA" altLang="en-US" sz="1200" smtClean="0">
              <a:latin typeface="Tahoma" panose="020B0604030504040204" pitchFamily="3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7839181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522531E-CCD3-475D-9183-A01018E80684}" type="slidenum">
              <a:rPr lang="en-CA" altLang="en-US" sz="1200" smtClean="0">
                <a:latin typeface="Tahoma" panose="020B0604030504040204" pitchFamily="34" charset="0"/>
              </a:rPr>
              <a:pPr/>
              <a:t>31</a:t>
            </a:fld>
            <a:endParaRPr lang="en-CA" altLang="en-US" sz="1200" smtClean="0">
              <a:latin typeface="Tahoma" panose="020B0604030504040204" pitchFamily="3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4131391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47FA0F4-44C0-4CA1-83CE-30FCA983F713}" type="slidenum">
              <a:rPr lang="en-CA" altLang="en-US" sz="1200" smtClean="0">
                <a:latin typeface="Tahoma" panose="020B0604030504040204" pitchFamily="34" charset="0"/>
              </a:rPr>
              <a:pPr/>
              <a:t>32</a:t>
            </a:fld>
            <a:endParaRPr lang="en-CA" altLang="en-US" sz="1200" smtClean="0">
              <a:latin typeface="Tahoma" panose="020B0604030504040204" pitchFamily="3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013825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3248449-20A9-4DF9-8823-9B76399F7B34}" type="slidenum">
              <a:rPr lang="en-CA" altLang="en-US" sz="1200" smtClean="0">
                <a:latin typeface="Tahoma" panose="020B0604030504040204" pitchFamily="34" charset="0"/>
              </a:rPr>
              <a:pPr/>
              <a:t>33</a:t>
            </a:fld>
            <a:endParaRPr lang="en-CA" altLang="en-US" sz="1200" smtClean="0">
              <a:latin typeface="Tahoma" panose="020B0604030504040204" pitchFamily="3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9231338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0CAA7790-0F83-4B79-A26A-238D14A3ECB0}" type="slidenum">
              <a:rPr lang="en-CA" altLang="en-US" sz="1200" smtClean="0">
                <a:latin typeface="Tahoma" panose="020B0604030504040204" pitchFamily="34" charset="0"/>
              </a:rPr>
              <a:pPr/>
              <a:t>34</a:t>
            </a:fld>
            <a:endParaRPr lang="en-CA" altLang="en-US" sz="1200" smtClean="0">
              <a:latin typeface="Tahoma" panose="020B0604030504040204" pitchFamily="3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8758812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00944A5-057F-4AFE-8148-A9B7EBFDDC10}" type="slidenum">
              <a:rPr lang="en-CA" altLang="en-US" sz="1200" smtClean="0">
                <a:latin typeface="Tahoma" panose="020B0604030504040204" pitchFamily="34" charset="0"/>
              </a:rPr>
              <a:pPr/>
              <a:t>35</a:t>
            </a:fld>
            <a:endParaRPr lang="en-CA" altLang="en-US" sz="1200" smtClean="0">
              <a:latin typeface="Tahoma" panose="020B0604030504040204" pitchFamily="34"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2155579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3D1A389-AEC8-4E15-84F2-F25B8AE188D6}" type="slidenum">
              <a:rPr lang="en-CA" altLang="en-US" sz="1200" smtClean="0">
                <a:latin typeface="Tahoma" panose="020B0604030504040204" pitchFamily="34" charset="0"/>
              </a:rPr>
              <a:pPr/>
              <a:t>36</a:t>
            </a:fld>
            <a:endParaRPr lang="en-CA" altLang="en-US" sz="1200" smtClean="0">
              <a:latin typeface="Tahoma" panose="020B060403050404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0411577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3328FE2-192E-4E49-B6B7-BF1F91DBF82C}" type="slidenum">
              <a:rPr lang="en-CA" altLang="en-US" sz="1200" smtClean="0">
                <a:latin typeface="Tahoma" panose="020B0604030504040204" pitchFamily="34" charset="0"/>
              </a:rPr>
              <a:pPr/>
              <a:t>47</a:t>
            </a:fld>
            <a:endParaRPr lang="en-CA" altLang="en-US" sz="1200" smtClean="0">
              <a:latin typeface="Tahoma" panose="020B060403050404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604676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7813EC7-709E-4230-9723-E7FEB99E67CD}" type="slidenum">
              <a:rPr lang="en-CA" altLang="en-US" sz="1200" smtClean="0">
                <a:latin typeface="Tahoma" panose="020B0604030504040204" pitchFamily="34" charset="0"/>
              </a:rPr>
              <a:pPr/>
              <a:t>48</a:t>
            </a:fld>
            <a:endParaRPr lang="en-CA" altLang="en-US" sz="1200" smtClean="0">
              <a:latin typeface="Tahoma" panose="020B060403050404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121896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1175AC5-717B-41F5-A026-24A6A91DE2F9}"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358682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175AC5-717B-41F5-A026-24A6A91DE2F9}"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12704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175AC5-717B-41F5-A026-24A6A91DE2F9}"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2915332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1175AC5-717B-41F5-A026-24A6A91DE2F9}" type="datetimeFigureOut">
              <a:rPr lang="en-US" smtClean="0"/>
              <a:t>11/15/2023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1713333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1175AC5-717B-41F5-A026-24A6A91DE2F9}" type="datetimeFigureOut">
              <a:rPr lang="en-US" smtClean="0"/>
              <a:t>11/15/2023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160372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1175AC5-717B-41F5-A026-24A6A91DE2F9}" type="datetimeFigureOut">
              <a:rPr lang="en-US" smtClean="0"/>
              <a:t>11/15/2023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4150492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175AC5-717B-41F5-A026-24A6A91DE2F9}" type="datetimeFigureOut">
              <a:rPr lang="en-US" smtClean="0"/>
              <a:t>11/15/2023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973614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175AC5-717B-41F5-A026-24A6A91DE2F9}" type="datetimeFigureOut">
              <a:rPr lang="en-US" smtClean="0"/>
              <a:t>11/15/2023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2497554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175AC5-717B-41F5-A026-24A6A91DE2F9}" type="datetimeFigureOut">
              <a:rPr lang="en-US" smtClean="0"/>
              <a:t>11/15/2023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626492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175AC5-717B-41F5-A026-24A6A91DE2F9}"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3384071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175AC5-717B-41F5-A026-24A6A91DE2F9}" type="datetimeFigureOut">
              <a:rPr lang="en-US" smtClean="0"/>
              <a:t>11/15/2023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ED7385-1A27-4338-8D43-B2B3002AB878}" type="slidenum">
              <a:rPr lang="en-US" smtClean="0"/>
              <a:t>‹#›</a:t>
            </a:fld>
            <a:endParaRPr lang="en-US"/>
          </a:p>
        </p:txBody>
      </p:sp>
    </p:spTree>
    <p:extLst>
      <p:ext uri="{BB962C8B-B14F-4D97-AF65-F5344CB8AC3E}">
        <p14:creationId xmlns:p14="http://schemas.microsoft.com/office/powerpoint/2010/main" val="174862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175AC5-717B-41F5-A026-24A6A91DE2F9}" type="datetimeFigureOut">
              <a:rPr lang="en-US" smtClean="0"/>
              <a:t>11/15/2023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ED7385-1A27-4338-8D43-B2B3002AB878}" type="slidenum">
              <a:rPr lang="en-US" smtClean="0"/>
              <a:t>‹#›</a:t>
            </a:fld>
            <a:endParaRPr lang="en-US"/>
          </a:p>
        </p:txBody>
      </p:sp>
    </p:spTree>
    <p:extLst>
      <p:ext uri="{BB962C8B-B14F-4D97-AF65-F5344CB8AC3E}">
        <p14:creationId xmlns:p14="http://schemas.microsoft.com/office/powerpoint/2010/main" val="1942817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hyperlink" Target="https://www.gatevidyalay.com/view-serializability-in-dbms/"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
            </a:r>
            <a:br>
              <a:rPr lang="en-US" dirty="0" smtClean="0"/>
            </a:br>
            <a:r>
              <a:rPr lang="en-US" dirty="0" smtClean="0"/>
              <a:t>Transaction Processing &amp; Concurrency Control</a:t>
            </a:r>
            <a:r>
              <a:rPr lang="en-US" dirty="0"/>
              <a:t/>
            </a:r>
            <a:br>
              <a:rPr lang="en-US" dirty="0"/>
            </a:br>
            <a:endParaRPr lang="en-US" dirty="0"/>
          </a:p>
        </p:txBody>
      </p:sp>
    </p:spTree>
    <p:extLst>
      <p:ext uri="{BB962C8B-B14F-4D97-AF65-F5344CB8AC3E}">
        <p14:creationId xmlns:p14="http://schemas.microsoft.com/office/powerpoint/2010/main" val="394156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p:txBody>
          <a:bodyPr/>
          <a:lstStyle/>
          <a:p>
            <a:pPr eaLnBrk="1" hangingPunct="1"/>
            <a:r>
              <a:rPr lang="en-US" altLang="en-US" dirty="0" smtClean="0"/>
              <a:t> Introduction to Transaction Processing</a:t>
            </a:r>
          </a:p>
        </p:txBody>
      </p:sp>
      <p:sp>
        <p:nvSpPr>
          <p:cNvPr id="11267" name="Rectangle 5"/>
          <p:cNvSpPr>
            <a:spLocks noGrp="1" noChangeArrowheads="1"/>
          </p:cNvSpPr>
          <p:nvPr>
            <p:ph type="body" idx="1"/>
          </p:nvPr>
        </p:nvSpPr>
        <p:spPr/>
        <p:txBody>
          <a:bodyPr/>
          <a:lstStyle/>
          <a:p>
            <a:pPr eaLnBrk="1" hangingPunct="1">
              <a:lnSpc>
                <a:spcPct val="80000"/>
              </a:lnSpc>
            </a:pPr>
            <a:r>
              <a:rPr lang="en-US" altLang="en-US" b="1" smtClean="0"/>
              <a:t>Single-User System</a:t>
            </a:r>
            <a:r>
              <a:rPr lang="en-US" altLang="en-US" smtClean="0"/>
              <a:t>:</a:t>
            </a:r>
          </a:p>
          <a:p>
            <a:pPr lvl="1" eaLnBrk="1" hangingPunct="1">
              <a:lnSpc>
                <a:spcPct val="80000"/>
              </a:lnSpc>
            </a:pPr>
            <a:r>
              <a:rPr lang="en-US" altLang="en-US" smtClean="0"/>
              <a:t>At most one user at a time can use the system. </a:t>
            </a:r>
          </a:p>
          <a:p>
            <a:pPr eaLnBrk="1" hangingPunct="1">
              <a:lnSpc>
                <a:spcPct val="80000"/>
              </a:lnSpc>
            </a:pPr>
            <a:r>
              <a:rPr lang="en-US" altLang="en-US" b="1" smtClean="0"/>
              <a:t>Multiuser System</a:t>
            </a:r>
            <a:r>
              <a:rPr lang="en-US" altLang="en-US" smtClean="0"/>
              <a:t>:</a:t>
            </a:r>
          </a:p>
          <a:p>
            <a:pPr lvl="1" eaLnBrk="1" hangingPunct="1">
              <a:lnSpc>
                <a:spcPct val="80000"/>
              </a:lnSpc>
            </a:pPr>
            <a:r>
              <a:rPr lang="en-US" altLang="en-US" smtClean="0"/>
              <a:t>Many users can access the system concurrently.</a:t>
            </a:r>
          </a:p>
          <a:p>
            <a:pPr eaLnBrk="1" hangingPunct="1">
              <a:lnSpc>
                <a:spcPct val="80000"/>
              </a:lnSpc>
            </a:pPr>
            <a:r>
              <a:rPr lang="en-US" altLang="en-US" b="1" smtClean="0"/>
              <a:t>Concurrency</a:t>
            </a:r>
          </a:p>
          <a:p>
            <a:pPr lvl="1" eaLnBrk="1" hangingPunct="1">
              <a:lnSpc>
                <a:spcPct val="80000"/>
              </a:lnSpc>
            </a:pPr>
            <a:r>
              <a:rPr lang="en-US" altLang="en-US" b="1" smtClean="0"/>
              <a:t>Interleaved processing</a:t>
            </a:r>
            <a:r>
              <a:rPr lang="en-US" altLang="en-US" smtClean="0"/>
              <a:t>:</a:t>
            </a:r>
          </a:p>
          <a:p>
            <a:pPr lvl="2" eaLnBrk="1" hangingPunct="1">
              <a:lnSpc>
                <a:spcPct val="80000"/>
              </a:lnSpc>
            </a:pPr>
            <a:r>
              <a:rPr lang="en-US" altLang="en-US" smtClean="0"/>
              <a:t>Concurrent execution of processes is interleaved in a single CPU</a:t>
            </a:r>
          </a:p>
          <a:p>
            <a:pPr lvl="1" eaLnBrk="1" hangingPunct="1">
              <a:lnSpc>
                <a:spcPct val="80000"/>
              </a:lnSpc>
            </a:pPr>
            <a:r>
              <a:rPr lang="en-US" altLang="en-US" b="1" smtClean="0"/>
              <a:t>Parallel processing</a:t>
            </a:r>
            <a:r>
              <a:rPr lang="en-US" altLang="en-US" smtClean="0"/>
              <a:t>:</a:t>
            </a:r>
          </a:p>
          <a:p>
            <a:pPr lvl="2" eaLnBrk="1" hangingPunct="1">
              <a:lnSpc>
                <a:spcPct val="80000"/>
              </a:lnSpc>
            </a:pPr>
            <a:r>
              <a:rPr lang="en-US" altLang="en-US" smtClean="0"/>
              <a:t>Processes are concurrently executed in multiple CPUs. </a:t>
            </a:r>
          </a:p>
        </p:txBody>
      </p:sp>
      <p:sp>
        <p:nvSpPr>
          <p:cNvPr id="11268" name="Slide Number Placeholder 1"/>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a:solidFill>
                  <a:srgbClr val="990033"/>
                </a:solidFill>
              </a:rPr>
              <a:t>Slide 17- </a:t>
            </a:r>
            <a:fld id="{30E6D742-886D-4D8A-9BC9-44CEB49CDECF}" type="slidenum">
              <a:rPr lang="en-US" altLang="en-US" sz="1400">
                <a:solidFill>
                  <a:srgbClr val="990033"/>
                </a:solidFill>
              </a:rPr>
              <a:pPr/>
              <a:t>2</a:t>
            </a:fld>
            <a:endParaRPr lang="en-CA" altLang="en-US" sz="1400">
              <a:solidFill>
                <a:srgbClr val="990033"/>
              </a:solidFill>
            </a:endParaRPr>
          </a:p>
        </p:txBody>
      </p:sp>
    </p:spTree>
    <p:extLst>
      <p:ext uri="{BB962C8B-B14F-4D97-AF65-F5344CB8AC3E}">
        <p14:creationId xmlns:p14="http://schemas.microsoft.com/office/powerpoint/2010/main" val="26262412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lstStyle/>
          <a:p>
            <a:pPr eaLnBrk="1" hangingPunct="1"/>
            <a:r>
              <a:rPr lang="en-US" altLang="en-US" sz="3200" dirty="0"/>
              <a:t>Introduction to Transaction Processing :</a:t>
            </a:r>
          </a:p>
        </p:txBody>
      </p:sp>
      <p:sp>
        <p:nvSpPr>
          <p:cNvPr id="13315" name="Rectangle 5"/>
          <p:cNvSpPr>
            <a:spLocks noGrp="1" noChangeArrowheads="1"/>
          </p:cNvSpPr>
          <p:nvPr>
            <p:ph type="body" idx="1"/>
          </p:nvPr>
        </p:nvSpPr>
        <p:spPr>
          <a:xfrm>
            <a:off x="838200" y="1390918"/>
            <a:ext cx="10515600" cy="4786045"/>
          </a:xfrm>
        </p:spPr>
        <p:txBody>
          <a:bodyPr>
            <a:normAutofit/>
          </a:bodyPr>
          <a:lstStyle/>
          <a:p>
            <a:pPr algn="just" eaLnBrk="1" hangingPunct="1">
              <a:lnSpc>
                <a:spcPct val="80000"/>
              </a:lnSpc>
            </a:pPr>
            <a:r>
              <a:rPr lang="en-US" altLang="en-US" dirty="0"/>
              <a:t>A </a:t>
            </a:r>
            <a:r>
              <a:rPr lang="en-US" altLang="en-US" b="1" dirty="0"/>
              <a:t>Transaction</a:t>
            </a:r>
            <a:r>
              <a:rPr lang="en-US" altLang="en-US" dirty="0"/>
              <a:t>:</a:t>
            </a:r>
          </a:p>
          <a:p>
            <a:pPr lvl="1" algn="just" eaLnBrk="1" hangingPunct="1">
              <a:lnSpc>
                <a:spcPct val="80000"/>
              </a:lnSpc>
            </a:pPr>
            <a:r>
              <a:rPr lang="en-US" altLang="en-US" dirty="0"/>
              <a:t>Logical unit of database processing that includes one or more access operations (read -retrieval, write - insert or update, delete).</a:t>
            </a:r>
          </a:p>
          <a:p>
            <a:pPr algn="just" eaLnBrk="1" hangingPunct="1">
              <a:lnSpc>
                <a:spcPct val="80000"/>
              </a:lnSpc>
            </a:pPr>
            <a:r>
              <a:rPr lang="en-US" altLang="en-US" dirty="0"/>
              <a:t>A transaction (set of operations) may be stand-alone specified in a high level language like SQL submitted interactively, or may be embedded within a program.</a:t>
            </a:r>
          </a:p>
          <a:p>
            <a:pPr algn="just" eaLnBrk="1" hangingPunct="1">
              <a:lnSpc>
                <a:spcPct val="80000"/>
              </a:lnSpc>
            </a:pPr>
            <a:r>
              <a:rPr lang="en-US" altLang="en-US" b="1" dirty="0"/>
              <a:t>Transaction boundaries</a:t>
            </a:r>
            <a:r>
              <a:rPr lang="en-US" altLang="en-US" dirty="0"/>
              <a:t>:</a:t>
            </a:r>
          </a:p>
          <a:p>
            <a:pPr lvl="1" algn="just" eaLnBrk="1" hangingPunct="1">
              <a:lnSpc>
                <a:spcPct val="80000"/>
              </a:lnSpc>
            </a:pPr>
            <a:r>
              <a:rPr lang="en-US" altLang="en-US" dirty="0"/>
              <a:t>Begin and End transaction.</a:t>
            </a:r>
          </a:p>
          <a:p>
            <a:pPr algn="just" eaLnBrk="1" hangingPunct="1">
              <a:lnSpc>
                <a:spcPct val="80000"/>
              </a:lnSpc>
            </a:pPr>
            <a:r>
              <a:rPr lang="en-US" altLang="en-US" dirty="0"/>
              <a:t>An </a:t>
            </a:r>
            <a:r>
              <a:rPr lang="en-US" altLang="en-US" b="1" dirty="0"/>
              <a:t>application program</a:t>
            </a:r>
            <a:r>
              <a:rPr lang="en-US" altLang="en-US" dirty="0"/>
              <a:t> may contain several transactions separated by the Begin and End transaction boundaries.</a:t>
            </a:r>
          </a:p>
        </p:txBody>
      </p:sp>
      <p:sp>
        <p:nvSpPr>
          <p:cNvPr id="13316" name="Slide Number Placeholder 1"/>
          <p:cNvSpPr>
            <a:spLocks noGrp="1"/>
          </p:cNvSpPr>
          <p:nvPr>
            <p:ph type="sldNum" sz="quarter" idx="10"/>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a:solidFill>
                  <a:srgbClr val="990033"/>
                </a:solidFill>
              </a:rPr>
              <a:t>Slide 17- </a:t>
            </a:r>
            <a:fld id="{B5383C13-DFD4-4D53-A670-3CBB1983AE57}" type="slidenum">
              <a:rPr lang="en-US" altLang="en-US" sz="1400">
                <a:solidFill>
                  <a:srgbClr val="990033"/>
                </a:solidFill>
              </a:rPr>
              <a:pPr/>
              <a:t>3</a:t>
            </a:fld>
            <a:endParaRPr lang="en-CA" altLang="en-US" sz="1400">
              <a:solidFill>
                <a:srgbClr val="990033"/>
              </a:solidFill>
            </a:endParaRPr>
          </a:p>
        </p:txBody>
      </p:sp>
    </p:spTree>
    <p:extLst>
      <p:ext uri="{BB962C8B-B14F-4D97-AF65-F5344CB8AC3E}">
        <p14:creationId xmlns:p14="http://schemas.microsoft.com/office/powerpoint/2010/main" val="2138311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D3F1EC2D-C147-4435-B5B5-73BBE02AB755}" type="slidenum">
              <a:rPr lang="en-US" altLang="en-US" sz="1400">
                <a:solidFill>
                  <a:srgbClr val="990033"/>
                </a:solidFill>
              </a:rPr>
              <a:pPr>
                <a:spcBef>
                  <a:spcPct val="0"/>
                </a:spcBef>
                <a:buClrTx/>
                <a:buSzTx/>
                <a:buFontTx/>
                <a:buNone/>
              </a:pPr>
              <a:t>4</a:t>
            </a:fld>
            <a:endParaRPr lang="en-CA" altLang="en-US" sz="1400">
              <a:solidFill>
                <a:srgbClr val="990033"/>
              </a:solidFill>
            </a:endParaRPr>
          </a:p>
        </p:txBody>
      </p:sp>
      <p:sp>
        <p:nvSpPr>
          <p:cNvPr id="15363" name="Rectangle 4"/>
          <p:cNvSpPr>
            <a:spLocks noGrp="1" noChangeArrowheads="1"/>
          </p:cNvSpPr>
          <p:nvPr>
            <p:ph type="title"/>
          </p:nvPr>
        </p:nvSpPr>
        <p:spPr/>
        <p:txBody>
          <a:bodyPr/>
          <a:lstStyle/>
          <a:p>
            <a:pPr eaLnBrk="1" hangingPunct="1"/>
            <a:r>
              <a:rPr lang="en-US" altLang="en-US" sz="3200" dirty="0"/>
              <a:t>Introduction to Transaction </a:t>
            </a:r>
            <a:r>
              <a:rPr lang="en-US" altLang="en-US" sz="3200" dirty="0" smtClean="0"/>
              <a:t>Processing:</a:t>
            </a:r>
            <a:endParaRPr lang="en-US" altLang="en-US" sz="3200" dirty="0"/>
          </a:p>
        </p:txBody>
      </p:sp>
      <p:sp>
        <p:nvSpPr>
          <p:cNvPr id="15364" name="Rectangle 5"/>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en-US" sz="2400"/>
              <a:t>SIMPLE MODEL OF A DATABASE (for purposes of discussing transactions):</a:t>
            </a:r>
          </a:p>
          <a:p>
            <a:pPr eaLnBrk="1" hangingPunct="1">
              <a:lnSpc>
                <a:spcPct val="90000"/>
              </a:lnSpc>
            </a:pPr>
            <a:r>
              <a:rPr lang="en-US" altLang="en-US" sz="2400" b="1"/>
              <a:t>A database</a:t>
            </a:r>
            <a:r>
              <a:rPr lang="en-US" altLang="en-US" sz="2400"/>
              <a:t> is a collection of named data items</a:t>
            </a:r>
          </a:p>
          <a:p>
            <a:pPr eaLnBrk="1" hangingPunct="1">
              <a:lnSpc>
                <a:spcPct val="90000"/>
              </a:lnSpc>
            </a:pPr>
            <a:r>
              <a:rPr lang="en-US" altLang="en-US" sz="2400" b="1"/>
              <a:t>Granularity</a:t>
            </a:r>
            <a:r>
              <a:rPr lang="en-US" altLang="en-US" sz="2400"/>
              <a:t> of data - a field, a record , or a whole disk block (Concepts are independent of granularity)</a:t>
            </a:r>
          </a:p>
          <a:p>
            <a:pPr eaLnBrk="1" hangingPunct="1">
              <a:lnSpc>
                <a:spcPct val="90000"/>
              </a:lnSpc>
            </a:pPr>
            <a:r>
              <a:rPr lang="en-US" altLang="en-US" sz="2400"/>
              <a:t>Basic operations are </a:t>
            </a:r>
            <a:r>
              <a:rPr lang="en-US" altLang="en-US" sz="2400" b="1"/>
              <a:t>read</a:t>
            </a:r>
            <a:r>
              <a:rPr lang="en-US" altLang="en-US" sz="2400"/>
              <a:t> and </a:t>
            </a:r>
            <a:r>
              <a:rPr lang="en-US" altLang="en-US" sz="2400" b="1"/>
              <a:t>write</a:t>
            </a:r>
          </a:p>
          <a:p>
            <a:pPr lvl="1" eaLnBrk="1" hangingPunct="1">
              <a:lnSpc>
                <a:spcPct val="90000"/>
              </a:lnSpc>
            </a:pPr>
            <a:r>
              <a:rPr lang="en-US" altLang="en-US" b="1"/>
              <a:t>read_item(X</a:t>
            </a:r>
            <a:r>
              <a:rPr lang="en-US" altLang="en-US"/>
              <a:t>): Reads a database item named X into a program variable. To simplify our notation, we assume that the program variable is also named X.</a:t>
            </a:r>
          </a:p>
          <a:p>
            <a:pPr lvl="1" eaLnBrk="1" hangingPunct="1">
              <a:lnSpc>
                <a:spcPct val="90000"/>
              </a:lnSpc>
            </a:pPr>
            <a:r>
              <a:rPr lang="en-US" altLang="en-US" b="1"/>
              <a:t>write_item(X</a:t>
            </a:r>
            <a:r>
              <a:rPr lang="en-US" altLang="en-US"/>
              <a:t>): Writes the value of program variable X into the database item named X.</a:t>
            </a:r>
          </a:p>
        </p:txBody>
      </p:sp>
    </p:spTree>
    <p:extLst>
      <p:ext uri="{BB962C8B-B14F-4D97-AF65-F5344CB8AC3E}">
        <p14:creationId xmlns:p14="http://schemas.microsoft.com/office/powerpoint/2010/main" val="28902026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ABF0F002-9714-42F6-8B38-5C95D67AB0A8}" type="slidenum">
              <a:rPr lang="en-US" altLang="en-US" sz="1400">
                <a:solidFill>
                  <a:srgbClr val="990033"/>
                </a:solidFill>
              </a:rPr>
              <a:pPr>
                <a:spcBef>
                  <a:spcPct val="0"/>
                </a:spcBef>
                <a:buClrTx/>
                <a:buSzTx/>
                <a:buFontTx/>
                <a:buNone/>
              </a:pPr>
              <a:t>5</a:t>
            </a:fld>
            <a:endParaRPr lang="en-CA" altLang="en-US" sz="1400">
              <a:solidFill>
                <a:srgbClr val="990033"/>
              </a:solidFill>
            </a:endParaRPr>
          </a:p>
        </p:txBody>
      </p:sp>
      <p:sp>
        <p:nvSpPr>
          <p:cNvPr id="17412" name="Rectangle 5"/>
          <p:cNvSpPr>
            <a:spLocks noGrp="1" noChangeArrowheads="1"/>
          </p:cNvSpPr>
          <p:nvPr>
            <p:ph type="body" idx="1"/>
          </p:nvPr>
        </p:nvSpPr>
        <p:spPr>
          <a:xfrm>
            <a:off x="838200" y="708338"/>
            <a:ext cx="10515600" cy="5468625"/>
          </a:xfrm>
        </p:spPr>
        <p:txBody>
          <a:bodyPr>
            <a:normAutofit/>
          </a:bodyPr>
          <a:lstStyle/>
          <a:p>
            <a:pPr eaLnBrk="1" hangingPunct="1">
              <a:lnSpc>
                <a:spcPct val="80000"/>
              </a:lnSpc>
              <a:buFont typeface="Wingdings" panose="05000000000000000000" pitchFamily="2" charset="2"/>
              <a:buNone/>
            </a:pPr>
            <a:r>
              <a:rPr lang="en-US" altLang="en-US" dirty="0"/>
              <a:t>READ AND WRITE OPERATIONS:</a:t>
            </a:r>
          </a:p>
          <a:p>
            <a:pPr eaLnBrk="1" hangingPunct="1">
              <a:lnSpc>
                <a:spcPct val="80000"/>
              </a:lnSpc>
            </a:pPr>
            <a:r>
              <a:rPr lang="en-US" altLang="en-US" dirty="0"/>
              <a:t>Basic unit of data transfer from the disk to the computer main memory is one block. In general, a data item (what is read or written) will be the field of some record in the database, although it may be a larger unit such as a record or even a whole block.</a:t>
            </a:r>
          </a:p>
          <a:p>
            <a:pPr eaLnBrk="1" hangingPunct="1">
              <a:lnSpc>
                <a:spcPct val="80000"/>
              </a:lnSpc>
            </a:pPr>
            <a:r>
              <a:rPr lang="en-US" altLang="en-US" dirty="0" err="1"/>
              <a:t>read_item</a:t>
            </a:r>
            <a:r>
              <a:rPr lang="en-US" altLang="en-US" dirty="0"/>
              <a:t>(X) command includes the following steps:</a:t>
            </a:r>
          </a:p>
          <a:p>
            <a:pPr lvl="1" eaLnBrk="1" hangingPunct="1">
              <a:lnSpc>
                <a:spcPct val="80000"/>
              </a:lnSpc>
            </a:pPr>
            <a:r>
              <a:rPr lang="en-US" altLang="en-US" dirty="0"/>
              <a:t>Find the address of the disk block that contains item X.</a:t>
            </a:r>
          </a:p>
          <a:p>
            <a:pPr lvl="1" eaLnBrk="1" hangingPunct="1">
              <a:lnSpc>
                <a:spcPct val="80000"/>
              </a:lnSpc>
            </a:pPr>
            <a:r>
              <a:rPr lang="en-US" altLang="en-US" dirty="0"/>
              <a:t>Copy that disk block into a buffer in main memory (if that disk block is not already in some main memory buffer).</a:t>
            </a:r>
          </a:p>
          <a:p>
            <a:pPr lvl="1" eaLnBrk="1" hangingPunct="1">
              <a:lnSpc>
                <a:spcPct val="80000"/>
              </a:lnSpc>
            </a:pPr>
            <a:r>
              <a:rPr lang="en-US" altLang="en-US" dirty="0"/>
              <a:t>Copy item X from the buffer to the program variable named X.   </a:t>
            </a:r>
          </a:p>
        </p:txBody>
      </p:sp>
    </p:spTree>
    <p:extLst>
      <p:ext uri="{BB962C8B-B14F-4D97-AF65-F5344CB8AC3E}">
        <p14:creationId xmlns:p14="http://schemas.microsoft.com/office/powerpoint/2010/main" val="42940367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B7DE3FAB-0B55-4DE3-9E20-EF4C8B462A75}" type="slidenum">
              <a:rPr lang="en-US" altLang="en-US" sz="1400">
                <a:solidFill>
                  <a:srgbClr val="990033"/>
                </a:solidFill>
              </a:rPr>
              <a:pPr>
                <a:spcBef>
                  <a:spcPct val="0"/>
                </a:spcBef>
                <a:buClrTx/>
                <a:buSzTx/>
                <a:buFontTx/>
                <a:buNone/>
              </a:pPr>
              <a:t>6</a:t>
            </a:fld>
            <a:endParaRPr lang="en-CA" altLang="en-US" sz="1400">
              <a:solidFill>
                <a:srgbClr val="990033"/>
              </a:solidFill>
            </a:endParaRPr>
          </a:p>
        </p:txBody>
      </p:sp>
      <p:sp>
        <p:nvSpPr>
          <p:cNvPr id="19460" name="Rectangle 5"/>
          <p:cNvSpPr>
            <a:spLocks noGrp="1" noChangeArrowheads="1"/>
          </p:cNvSpPr>
          <p:nvPr>
            <p:ph type="body" idx="1"/>
          </p:nvPr>
        </p:nvSpPr>
        <p:spPr>
          <a:xfrm>
            <a:off x="838200" y="721217"/>
            <a:ext cx="10515600" cy="5455746"/>
          </a:xfrm>
        </p:spPr>
        <p:txBody>
          <a:bodyPr>
            <a:normAutofit/>
          </a:bodyPr>
          <a:lstStyle/>
          <a:p>
            <a:pPr eaLnBrk="1" hangingPunct="1">
              <a:lnSpc>
                <a:spcPct val="80000"/>
              </a:lnSpc>
              <a:buFont typeface="Wingdings" panose="05000000000000000000" pitchFamily="2" charset="2"/>
              <a:buNone/>
            </a:pPr>
            <a:r>
              <a:rPr lang="en-US" altLang="en-US" dirty="0"/>
              <a:t>READ AND WRITE OPERATIONS (contd.):</a:t>
            </a:r>
          </a:p>
          <a:p>
            <a:pPr eaLnBrk="1" hangingPunct="1">
              <a:lnSpc>
                <a:spcPct val="80000"/>
              </a:lnSpc>
            </a:pPr>
            <a:r>
              <a:rPr lang="en-US" altLang="en-US" b="1" dirty="0" err="1"/>
              <a:t>write_item</a:t>
            </a:r>
            <a:r>
              <a:rPr lang="en-US" altLang="en-US" b="1" dirty="0"/>
              <a:t>(X</a:t>
            </a:r>
            <a:r>
              <a:rPr lang="en-US" altLang="en-US" dirty="0"/>
              <a:t>) command includes the following steps:</a:t>
            </a:r>
          </a:p>
          <a:p>
            <a:pPr lvl="1" eaLnBrk="1" hangingPunct="1">
              <a:lnSpc>
                <a:spcPct val="80000"/>
              </a:lnSpc>
            </a:pPr>
            <a:r>
              <a:rPr lang="en-US" altLang="en-US" dirty="0"/>
              <a:t>Find the address of the disk block that contains item X.</a:t>
            </a:r>
          </a:p>
          <a:p>
            <a:pPr lvl="1" eaLnBrk="1" hangingPunct="1">
              <a:lnSpc>
                <a:spcPct val="80000"/>
              </a:lnSpc>
            </a:pPr>
            <a:r>
              <a:rPr lang="en-US" altLang="en-US" dirty="0"/>
              <a:t>Copy that disk block into a buffer in main memory (if that disk block is not already in some main memory buffer).</a:t>
            </a:r>
          </a:p>
          <a:p>
            <a:pPr lvl="1" eaLnBrk="1" hangingPunct="1">
              <a:lnSpc>
                <a:spcPct val="80000"/>
              </a:lnSpc>
            </a:pPr>
            <a:r>
              <a:rPr lang="en-US" altLang="en-US" dirty="0"/>
              <a:t>Copy item X from the program variable named X into its correct location in the buffer.</a:t>
            </a:r>
          </a:p>
          <a:p>
            <a:pPr lvl="1" eaLnBrk="1" hangingPunct="1">
              <a:lnSpc>
                <a:spcPct val="80000"/>
              </a:lnSpc>
            </a:pPr>
            <a:r>
              <a:rPr lang="en-US" altLang="en-US" dirty="0"/>
              <a:t>Store the updated block from the buffer back to disk (either immediately or at some later point in time). </a:t>
            </a:r>
          </a:p>
        </p:txBody>
      </p:sp>
    </p:spTree>
    <p:extLst>
      <p:ext uri="{BB962C8B-B14F-4D97-AF65-F5344CB8AC3E}">
        <p14:creationId xmlns:p14="http://schemas.microsoft.com/office/powerpoint/2010/main" val="35883673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291BD9CB-D1D2-4CD3-8062-04098A455B11}" type="slidenum">
              <a:rPr lang="en-US" altLang="en-US" sz="1400">
                <a:solidFill>
                  <a:srgbClr val="990033"/>
                </a:solidFill>
              </a:rPr>
              <a:pPr>
                <a:spcBef>
                  <a:spcPct val="0"/>
                </a:spcBef>
                <a:buClrTx/>
                <a:buSzTx/>
                <a:buFontTx/>
                <a:buNone/>
              </a:pPr>
              <a:t>7</a:t>
            </a:fld>
            <a:endParaRPr lang="en-CA" altLang="en-US" sz="1400">
              <a:solidFill>
                <a:srgbClr val="990033"/>
              </a:solidFill>
            </a:endParaRPr>
          </a:p>
        </p:txBody>
      </p:sp>
      <p:sp>
        <p:nvSpPr>
          <p:cNvPr id="21507" name="Rectangle 5"/>
          <p:cNvSpPr>
            <a:spLocks noGrp="1" noChangeArrowheads="1"/>
          </p:cNvSpPr>
          <p:nvPr>
            <p:ph type="title"/>
          </p:nvPr>
        </p:nvSpPr>
        <p:spPr/>
        <p:txBody>
          <a:bodyPr/>
          <a:lstStyle/>
          <a:p>
            <a:pPr eaLnBrk="1" hangingPunct="1"/>
            <a:r>
              <a:rPr lang="en-US" altLang="en-US" smtClean="0"/>
              <a:t>Two sample transactions</a:t>
            </a:r>
          </a:p>
        </p:txBody>
      </p:sp>
      <p:sp>
        <p:nvSpPr>
          <p:cNvPr id="21508" name="Rectangle 6"/>
          <p:cNvSpPr>
            <a:spLocks noGrp="1" noChangeArrowheads="1"/>
          </p:cNvSpPr>
          <p:nvPr>
            <p:ph type="body" idx="1"/>
          </p:nvPr>
        </p:nvSpPr>
        <p:spPr>
          <a:xfrm>
            <a:off x="1763714" y="1600200"/>
            <a:ext cx="8294687" cy="1295400"/>
          </a:xfrm>
        </p:spPr>
        <p:txBody>
          <a:bodyPr/>
          <a:lstStyle/>
          <a:p>
            <a:pPr eaLnBrk="1" hangingPunct="1">
              <a:lnSpc>
                <a:spcPct val="80000"/>
              </a:lnSpc>
            </a:pPr>
            <a:r>
              <a:rPr lang="en-US" altLang="en-US" smtClean="0"/>
              <a:t>FIGURE 17.2 Two sample transactions:</a:t>
            </a:r>
          </a:p>
          <a:p>
            <a:pPr lvl="1" eaLnBrk="1" hangingPunct="1">
              <a:lnSpc>
                <a:spcPct val="80000"/>
              </a:lnSpc>
            </a:pPr>
            <a:r>
              <a:rPr lang="en-US" altLang="en-US" smtClean="0"/>
              <a:t>(a) Transaction T1</a:t>
            </a:r>
          </a:p>
          <a:p>
            <a:pPr lvl="1" eaLnBrk="1" hangingPunct="1">
              <a:lnSpc>
                <a:spcPct val="80000"/>
              </a:lnSpc>
            </a:pPr>
            <a:r>
              <a:rPr lang="en-US" altLang="en-US" smtClean="0"/>
              <a:t>(b) Transaction T2</a:t>
            </a:r>
          </a:p>
        </p:txBody>
      </p:sp>
      <p:pic>
        <p:nvPicPr>
          <p:cNvPr id="21509" name="Picture 3"/>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1763714" y="2819401"/>
            <a:ext cx="8294687" cy="3667125"/>
          </a:xfrm>
        </p:spPr>
      </p:pic>
    </p:spTree>
    <p:extLst>
      <p:ext uri="{BB962C8B-B14F-4D97-AF65-F5344CB8AC3E}">
        <p14:creationId xmlns:p14="http://schemas.microsoft.com/office/powerpoint/2010/main" val="26120460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E2F4F502-B979-4E6E-AE59-5D30CB0DB5D8}" type="slidenum">
              <a:rPr lang="en-US" altLang="en-US" sz="1400">
                <a:solidFill>
                  <a:srgbClr val="990033"/>
                </a:solidFill>
              </a:rPr>
              <a:pPr>
                <a:spcBef>
                  <a:spcPct val="0"/>
                </a:spcBef>
                <a:buClrTx/>
                <a:buSzTx/>
                <a:buFontTx/>
                <a:buNone/>
              </a:pPr>
              <a:t>8</a:t>
            </a:fld>
            <a:endParaRPr lang="en-CA" altLang="en-US" sz="1400">
              <a:solidFill>
                <a:srgbClr val="990033"/>
              </a:solidFill>
            </a:endParaRPr>
          </a:p>
        </p:txBody>
      </p:sp>
      <p:sp>
        <p:nvSpPr>
          <p:cNvPr id="23555" name="Rectangle 4"/>
          <p:cNvSpPr>
            <a:spLocks noGrp="1" noChangeArrowheads="1"/>
          </p:cNvSpPr>
          <p:nvPr>
            <p:ph type="title"/>
          </p:nvPr>
        </p:nvSpPr>
        <p:spPr/>
        <p:txBody>
          <a:bodyPr/>
          <a:lstStyle/>
          <a:p>
            <a:pPr eaLnBrk="1" hangingPunct="1"/>
            <a:r>
              <a:rPr lang="en-US" altLang="en-US" sz="3200"/>
              <a:t>2 Transaction and System Concepts (1)</a:t>
            </a:r>
          </a:p>
        </p:txBody>
      </p:sp>
      <p:sp>
        <p:nvSpPr>
          <p:cNvPr id="23556" name="Rectangle 5"/>
          <p:cNvSpPr>
            <a:spLocks noGrp="1" noChangeArrowheads="1"/>
          </p:cNvSpPr>
          <p:nvPr>
            <p:ph type="body" idx="1"/>
          </p:nvPr>
        </p:nvSpPr>
        <p:spPr/>
        <p:txBody>
          <a:bodyPr>
            <a:normAutofit lnSpcReduction="10000"/>
          </a:bodyPr>
          <a:lstStyle/>
          <a:p>
            <a:pPr algn="just">
              <a:lnSpc>
                <a:spcPct val="80000"/>
              </a:lnSpc>
            </a:pPr>
            <a:r>
              <a:rPr lang="en-US" altLang="en-US" dirty="0"/>
              <a:t>A </a:t>
            </a:r>
            <a:r>
              <a:rPr lang="en-US" altLang="en-US" b="1" dirty="0">
                <a:solidFill>
                  <a:srgbClr val="000099"/>
                </a:solidFill>
              </a:rPr>
              <a:t>transaction</a:t>
            </a:r>
            <a:r>
              <a:rPr lang="en-US" altLang="en-US" i="1" dirty="0"/>
              <a:t> </a:t>
            </a:r>
            <a:r>
              <a:rPr lang="en-US" altLang="en-US" dirty="0"/>
              <a:t>is a </a:t>
            </a:r>
            <a:r>
              <a:rPr lang="en-US" altLang="en-US" i="1" dirty="0"/>
              <a:t>unit </a:t>
            </a:r>
            <a:r>
              <a:rPr lang="en-US" altLang="en-US" dirty="0"/>
              <a:t>of program execution that accesses and  possibly updates various data items.</a:t>
            </a:r>
          </a:p>
          <a:p>
            <a:pPr marL="0" indent="0" algn="just" eaLnBrk="1" hangingPunct="1">
              <a:lnSpc>
                <a:spcPct val="80000"/>
              </a:lnSpc>
              <a:buNone/>
            </a:pPr>
            <a:r>
              <a:rPr lang="en-US" altLang="en-US" dirty="0" smtClean="0"/>
              <a:t> </a:t>
            </a:r>
          </a:p>
          <a:p>
            <a:pPr lvl="1" algn="just" eaLnBrk="1" hangingPunct="1">
              <a:lnSpc>
                <a:spcPct val="80000"/>
              </a:lnSpc>
            </a:pPr>
            <a:r>
              <a:rPr lang="en-US" altLang="en-US" sz="2800" dirty="0"/>
              <a:t>For recovery purposes, the system needs to keep track of when the transaction starts, terminates, and commits or aborts.</a:t>
            </a:r>
          </a:p>
          <a:p>
            <a:pPr algn="just" eaLnBrk="1" hangingPunct="1">
              <a:lnSpc>
                <a:spcPct val="80000"/>
              </a:lnSpc>
            </a:pPr>
            <a:r>
              <a:rPr lang="en-US" altLang="en-US" b="1" dirty="0" smtClean="0"/>
              <a:t>Transaction</a:t>
            </a:r>
            <a:r>
              <a:rPr lang="en-US" altLang="en-US" dirty="0" smtClean="0"/>
              <a:t> </a:t>
            </a:r>
            <a:r>
              <a:rPr lang="en-US" altLang="en-US" b="1" dirty="0" smtClean="0"/>
              <a:t>states</a:t>
            </a:r>
            <a:r>
              <a:rPr lang="en-US" altLang="en-US" dirty="0" smtClean="0"/>
              <a:t>:</a:t>
            </a:r>
          </a:p>
          <a:p>
            <a:pPr lvl="1" algn="just" eaLnBrk="1" hangingPunct="1">
              <a:lnSpc>
                <a:spcPct val="80000"/>
              </a:lnSpc>
            </a:pPr>
            <a:r>
              <a:rPr lang="en-US" altLang="en-US" sz="2800" dirty="0"/>
              <a:t>Active state</a:t>
            </a:r>
          </a:p>
          <a:p>
            <a:pPr lvl="1" algn="just" eaLnBrk="1" hangingPunct="1">
              <a:lnSpc>
                <a:spcPct val="80000"/>
              </a:lnSpc>
            </a:pPr>
            <a:r>
              <a:rPr lang="en-US" altLang="en-US" sz="2800" dirty="0"/>
              <a:t>Partially committed state</a:t>
            </a:r>
          </a:p>
          <a:p>
            <a:pPr lvl="1" algn="just" eaLnBrk="1" hangingPunct="1">
              <a:lnSpc>
                <a:spcPct val="80000"/>
              </a:lnSpc>
            </a:pPr>
            <a:r>
              <a:rPr lang="en-US" altLang="en-US" sz="2800" dirty="0"/>
              <a:t>Committed state</a:t>
            </a:r>
          </a:p>
          <a:p>
            <a:pPr lvl="1" algn="just" eaLnBrk="1" hangingPunct="1">
              <a:lnSpc>
                <a:spcPct val="80000"/>
              </a:lnSpc>
            </a:pPr>
            <a:r>
              <a:rPr lang="en-US" altLang="en-US" sz="2800" dirty="0"/>
              <a:t>Failed state</a:t>
            </a:r>
          </a:p>
          <a:p>
            <a:pPr lvl="1" algn="just" eaLnBrk="1" hangingPunct="1">
              <a:lnSpc>
                <a:spcPct val="80000"/>
              </a:lnSpc>
            </a:pPr>
            <a:r>
              <a:rPr lang="en-US" altLang="en-US" sz="2800" dirty="0"/>
              <a:t>Terminated State </a:t>
            </a:r>
          </a:p>
        </p:txBody>
      </p:sp>
    </p:spTree>
    <p:extLst>
      <p:ext uri="{BB962C8B-B14F-4D97-AF65-F5344CB8AC3E}">
        <p14:creationId xmlns:p14="http://schemas.microsoft.com/office/powerpoint/2010/main" val="24951734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A0A16EE8-8EBA-45D3-B929-78FD14E92178}" type="slidenum">
              <a:rPr lang="en-US" altLang="en-US" sz="1400">
                <a:solidFill>
                  <a:srgbClr val="990033"/>
                </a:solidFill>
              </a:rPr>
              <a:pPr>
                <a:spcBef>
                  <a:spcPct val="0"/>
                </a:spcBef>
                <a:buClrTx/>
                <a:buSzTx/>
                <a:buFontTx/>
                <a:buNone/>
              </a:pPr>
              <a:t>9</a:t>
            </a:fld>
            <a:endParaRPr lang="en-CA" altLang="en-US" sz="1400">
              <a:solidFill>
                <a:srgbClr val="990033"/>
              </a:solidFill>
            </a:endParaRPr>
          </a:p>
        </p:txBody>
      </p:sp>
      <p:sp>
        <p:nvSpPr>
          <p:cNvPr id="25604" name="Rectangle 5"/>
          <p:cNvSpPr>
            <a:spLocks noGrp="1" noChangeArrowheads="1"/>
          </p:cNvSpPr>
          <p:nvPr>
            <p:ph type="body" idx="1"/>
          </p:nvPr>
        </p:nvSpPr>
        <p:spPr>
          <a:xfrm>
            <a:off x="838200" y="953037"/>
            <a:ext cx="10515600" cy="5223926"/>
          </a:xfrm>
        </p:spPr>
        <p:txBody>
          <a:bodyPr>
            <a:noAutofit/>
          </a:bodyPr>
          <a:lstStyle/>
          <a:p>
            <a:pPr algn="just" eaLnBrk="1" hangingPunct="1">
              <a:lnSpc>
                <a:spcPct val="80000"/>
              </a:lnSpc>
            </a:pPr>
            <a:r>
              <a:rPr lang="en-US" altLang="en-US" sz="3200" dirty="0"/>
              <a:t>Recovery manager keeps track of the following operations:</a:t>
            </a:r>
          </a:p>
          <a:p>
            <a:pPr lvl="1" algn="just" eaLnBrk="1" hangingPunct="1">
              <a:lnSpc>
                <a:spcPct val="80000"/>
              </a:lnSpc>
            </a:pPr>
            <a:r>
              <a:rPr lang="en-US" altLang="en-US" sz="2800" b="1" dirty="0" err="1"/>
              <a:t>begin_transaction</a:t>
            </a:r>
            <a:r>
              <a:rPr lang="en-US" altLang="en-US" sz="2800" dirty="0"/>
              <a:t>: This marks the beginning of transaction execution.</a:t>
            </a:r>
          </a:p>
          <a:p>
            <a:pPr lvl="1" algn="just" eaLnBrk="1" hangingPunct="1">
              <a:lnSpc>
                <a:spcPct val="80000"/>
              </a:lnSpc>
            </a:pPr>
            <a:r>
              <a:rPr lang="en-US" altLang="en-US" sz="2800" b="1" dirty="0"/>
              <a:t>read</a:t>
            </a:r>
            <a:r>
              <a:rPr lang="en-US" altLang="en-US" sz="2800" dirty="0"/>
              <a:t> or </a:t>
            </a:r>
            <a:r>
              <a:rPr lang="en-US" altLang="en-US" sz="2800" b="1" dirty="0"/>
              <a:t>write</a:t>
            </a:r>
            <a:r>
              <a:rPr lang="en-US" altLang="en-US" sz="2800" dirty="0"/>
              <a:t>: These specify read or write operations on the database items that are executed as part of a transaction.</a:t>
            </a:r>
          </a:p>
          <a:p>
            <a:pPr lvl="1" algn="just" eaLnBrk="1" hangingPunct="1">
              <a:lnSpc>
                <a:spcPct val="80000"/>
              </a:lnSpc>
            </a:pPr>
            <a:r>
              <a:rPr lang="en-US" altLang="en-US" sz="2800" b="1" dirty="0" err="1"/>
              <a:t>end_transaction</a:t>
            </a:r>
            <a:r>
              <a:rPr lang="en-US" altLang="en-US" sz="2800" dirty="0"/>
              <a:t>: This specifies that read and write transaction operations have ended and marks the end limit of transaction execution.</a:t>
            </a:r>
          </a:p>
          <a:p>
            <a:pPr lvl="2" algn="just" eaLnBrk="1" hangingPunct="1">
              <a:lnSpc>
                <a:spcPct val="80000"/>
              </a:lnSpc>
            </a:pPr>
            <a:r>
              <a:rPr lang="en-US" altLang="en-US" sz="2800" dirty="0"/>
              <a:t>At this point it may be necessary to check whether the changes introduced by the transaction can be permanently applied to the database or whether the transaction has to be aborted because it violates concurrency control or for some other reason.</a:t>
            </a:r>
          </a:p>
        </p:txBody>
      </p:sp>
    </p:spTree>
    <p:extLst>
      <p:ext uri="{BB962C8B-B14F-4D97-AF65-F5344CB8AC3E}">
        <p14:creationId xmlns:p14="http://schemas.microsoft.com/office/powerpoint/2010/main" val="35908870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E42D162D-7398-4D69-A0BF-231E152ADBE6}" type="slidenum">
              <a:rPr lang="en-US" altLang="en-US" sz="1400">
                <a:solidFill>
                  <a:srgbClr val="990033"/>
                </a:solidFill>
              </a:rPr>
              <a:pPr>
                <a:spcBef>
                  <a:spcPct val="0"/>
                </a:spcBef>
                <a:buClrTx/>
                <a:buSzTx/>
                <a:buFontTx/>
                <a:buNone/>
              </a:pPr>
              <a:t>10</a:t>
            </a:fld>
            <a:endParaRPr lang="en-CA" altLang="en-US" sz="1400">
              <a:solidFill>
                <a:srgbClr val="990033"/>
              </a:solidFill>
            </a:endParaRPr>
          </a:p>
        </p:txBody>
      </p:sp>
      <p:sp>
        <p:nvSpPr>
          <p:cNvPr id="27652" name="Rectangle 5"/>
          <p:cNvSpPr>
            <a:spLocks noGrp="1" noChangeArrowheads="1"/>
          </p:cNvSpPr>
          <p:nvPr>
            <p:ph type="body" idx="1"/>
          </p:nvPr>
        </p:nvSpPr>
        <p:spPr>
          <a:xfrm>
            <a:off x="838200" y="347730"/>
            <a:ext cx="10817180" cy="5829233"/>
          </a:xfrm>
        </p:spPr>
        <p:txBody>
          <a:bodyPr>
            <a:normAutofit/>
          </a:bodyPr>
          <a:lstStyle/>
          <a:p>
            <a:pPr algn="just" eaLnBrk="1" hangingPunct="1"/>
            <a:r>
              <a:rPr lang="en-US" altLang="en-US" sz="3200" dirty="0" smtClean="0"/>
              <a:t>Recovery manager keeps track of the following operations (</a:t>
            </a:r>
            <a:r>
              <a:rPr lang="en-US" altLang="en-US" sz="3200" dirty="0" err="1" smtClean="0"/>
              <a:t>cont</a:t>
            </a:r>
            <a:r>
              <a:rPr lang="en-US" altLang="en-US" sz="3200" dirty="0" smtClean="0"/>
              <a:t>):</a:t>
            </a:r>
          </a:p>
          <a:p>
            <a:pPr lvl="1" algn="just" eaLnBrk="1" hangingPunct="1"/>
            <a:r>
              <a:rPr lang="en-US" altLang="en-US" sz="2800" b="1" dirty="0" err="1" smtClean="0"/>
              <a:t>commit_transaction</a:t>
            </a:r>
            <a:r>
              <a:rPr lang="en-US" altLang="en-US" sz="2800" dirty="0" smtClean="0"/>
              <a:t>: This signals a successful end of the transaction so that any changes (updates) executed by the transaction can be safely committed to the database and will not be undone.</a:t>
            </a:r>
          </a:p>
          <a:p>
            <a:pPr marL="457200" lvl="1" indent="0" algn="just" eaLnBrk="1" hangingPunct="1">
              <a:buNone/>
            </a:pPr>
            <a:endParaRPr lang="en-US" altLang="en-US" sz="2800" dirty="0" smtClean="0"/>
          </a:p>
          <a:p>
            <a:pPr lvl="1" algn="just" eaLnBrk="1" hangingPunct="1"/>
            <a:r>
              <a:rPr lang="en-US" altLang="en-US" sz="2800" b="1" dirty="0" smtClean="0"/>
              <a:t>rollback</a:t>
            </a:r>
            <a:r>
              <a:rPr lang="en-US" altLang="en-US" sz="2800" dirty="0" smtClean="0"/>
              <a:t> (or </a:t>
            </a:r>
            <a:r>
              <a:rPr lang="en-US" altLang="en-US" sz="2800" b="1" dirty="0" smtClean="0"/>
              <a:t>abort</a:t>
            </a:r>
            <a:r>
              <a:rPr lang="en-US" altLang="en-US" sz="2800" dirty="0" smtClean="0"/>
              <a:t>): This signals that the transaction has ended unsuccessfully, so that any changes or effects that the transaction may have applied to the database must be undone.  </a:t>
            </a:r>
          </a:p>
        </p:txBody>
      </p:sp>
    </p:spTree>
    <p:extLst>
      <p:ext uri="{BB962C8B-B14F-4D97-AF65-F5344CB8AC3E}">
        <p14:creationId xmlns:p14="http://schemas.microsoft.com/office/powerpoint/2010/main" val="39526233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87ABF400-DF17-4DDF-8F04-F8834BA49B60}" type="slidenum">
              <a:rPr lang="en-US" altLang="en-US" sz="1400">
                <a:solidFill>
                  <a:srgbClr val="990033"/>
                </a:solidFill>
              </a:rPr>
              <a:pPr>
                <a:spcBef>
                  <a:spcPct val="0"/>
                </a:spcBef>
                <a:buClrTx/>
                <a:buSzTx/>
                <a:buFontTx/>
                <a:buNone/>
              </a:pPr>
              <a:t>11</a:t>
            </a:fld>
            <a:endParaRPr lang="en-CA" altLang="en-US" sz="1400">
              <a:solidFill>
                <a:srgbClr val="990033"/>
              </a:solidFill>
            </a:endParaRPr>
          </a:p>
        </p:txBody>
      </p:sp>
      <p:sp>
        <p:nvSpPr>
          <p:cNvPr id="29699" name="Rectangle 4"/>
          <p:cNvSpPr>
            <a:spLocks noGrp="1" noChangeArrowheads="1"/>
          </p:cNvSpPr>
          <p:nvPr>
            <p:ph type="title"/>
          </p:nvPr>
        </p:nvSpPr>
        <p:spPr/>
        <p:txBody>
          <a:bodyPr/>
          <a:lstStyle/>
          <a:p>
            <a:pPr eaLnBrk="1" hangingPunct="1"/>
            <a:r>
              <a:rPr lang="en-US" altLang="en-US" sz="3200"/>
              <a:t>Transaction and System Concepts (4)</a:t>
            </a:r>
          </a:p>
        </p:txBody>
      </p:sp>
      <p:sp>
        <p:nvSpPr>
          <p:cNvPr id="29700" name="Rectangle 5"/>
          <p:cNvSpPr>
            <a:spLocks noGrp="1" noChangeArrowheads="1"/>
          </p:cNvSpPr>
          <p:nvPr>
            <p:ph type="body" idx="1"/>
          </p:nvPr>
        </p:nvSpPr>
        <p:spPr/>
        <p:txBody>
          <a:bodyPr>
            <a:normAutofit/>
          </a:bodyPr>
          <a:lstStyle/>
          <a:p>
            <a:pPr eaLnBrk="1" hangingPunct="1"/>
            <a:r>
              <a:rPr lang="en-US" altLang="en-US" sz="3200" dirty="0" smtClean="0"/>
              <a:t>Recovery techniques use the following operators:</a:t>
            </a:r>
          </a:p>
          <a:p>
            <a:pPr lvl="1" eaLnBrk="1" hangingPunct="1"/>
            <a:r>
              <a:rPr lang="en-US" altLang="en-US" sz="2800" b="1" dirty="0" smtClean="0"/>
              <a:t>undo</a:t>
            </a:r>
            <a:r>
              <a:rPr lang="en-US" altLang="en-US" sz="2800" dirty="0" smtClean="0"/>
              <a:t>: Similar to rollback except that it applies to a single operation rather than to a whole transaction.</a:t>
            </a:r>
          </a:p>
          <a:p>
            <a:pPr lvl="1" eaLnBrk="1" hangingPunct="1"/>
            <a:r>
              <a:rPr lang="en-US" altLang="en-US" sz="2800" b="1" dirty="0" smtClean="0"/>
              <a:t>redo</a:t>
            </a:r>
            <a:r>
              <a:rPr lang="en-US" altLang="en-US" sz="2800" dirty="0" smtClean="0"/>
              <a:t>: This specifies that certain </a:t>
            </a:r>
            <a:r>
              <a:rPr lang="en-US" altLang="en-US" sz="2800" i="1" dirty="0" smtClean="0"/>
              <a:t>transaction</a:t>
            </a:r>
            <a:r>
              <a:rPr lang="en-US" altLang="en-US" sz="2800" dirty="0" smtClean="0"/>
              <a:t> </a:t>
            </a:r>
            <a:r>
              <a:rPr lang="en-US" altLang="en-US" sz="2800" i="1" dirty="0" smtClean="0"/>
              <a:t>operations</a:t>
            </a:r>
            <a:r>
              <a:rPr lang="en-US" altLang="en-US" sz="2800" dirty="0" smtClean="0"/>
              <a:t> must be </a:t>
            </a:r>
            <a:r>
              <a:rPr lang="en-US" altLang="en-US" sz="2800" i="1" dirty="0" smtClean="0"/>
              <a:t>redone</a:t>
            </a:r>
            <a:r>
              <a:rPr lang="en-US" altLang="en-US" sz="2800" dirty="0" smtClean="0"/>
              <a:t> to ensure that all the operations of a committed transaction have been applied successfully to the database. </a:t>
            </a:r>
          </a:p>
        </p:txBody>
      </p:sp>
    </p:spTree>
    <p:extLst>
      <p:ext uri="{BB962C8B-B14F-4D97-AF65-F5344CB8AC3E}">
        <p14:creationId xmlns:p14="http://schemas.microsoft.com/office/powerpoint/2010/main" val="12942868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77C802AA-3CE9-46A4-9CA3-F64A529FAEEA}" type="slidenum">
              <a:rPr lang="en-US" altLang="en-US" sz="1400">
                <a:solidFill>
                  <a:srgbClr val="990033"/>
                </a:solidFill>
              </a:rPr>
              <a:pPr>
                <a:spcBef>
                  <a:spcPct val="0"/>
                </a:spcBef>
                <a:buClrTx/>
                <a:buSzTx/>
                <a:buFontTx/>
                <a:buNone/>
              </a:pPr>
              <a:t>12</a:t>
            </a:fld>
            <a:endParaRPr lang="en-CA" altLang="en-US" sz="1400">
              <a:solidFill>
                <a:srgbClr val="990033"/>
              </a:solidFill>
            </a:endParaRPr>
          </a:p>
        </p:txBody>
      </p:sp>
      <p:sp>
        <p:nvSpPr>
          <p:cNvPr id="31747" name="Rectangle 5"/>
          <p:cNvSpPr>
            <a:spLocks noGrp="1" noChangeArrowheads="1"/>
          </p:cNvSpPr>
          <p:nvPr>
            <p:ph type="title"/>
          </p:nvPr>
        </p:nvSpPr>
        <p:spPr/>
        <p:txBody>
          <a:bodyPr/>
          <a:lstStyle/>
          <a:p>
            <a:pPr eaLnBrk="1" hangingPunct="1"/>
            <a:r>
              <a:rPr lang="en-US" altLang="en-US" smtClean="0"/>
              <a:t>State transition diagram illustrating the states for transaction execution</a:t>
            </a:r>
            <a:endParaRPr lang="en-US" altLang="en-US" smtClean="0">
              <a:sym typeface="Symbol" panose="05050102010706020507" pitchFamily="18" charset="2"/>
            </a:endParaRPr>
          </a:p>
        </p:txBody>
      </p:sp>
      <p:pic>
        <p:nvPicPr>
          <p:cNvPr id="31748" name="Picture 7" descr="fig17_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970468"/>
            <a:ext cx="8305800" cy="3683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73845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altLang="en-US" smtClean="0"/>
              <a:t>Properties of Transactions</a:t>
            </a:r>
          </a:p>
        </p:txBody>
      </p:sp>
      <p:sp>
        <p:nvSpPr>
          <p:cNvPr id="3" name="Content Placeholder 2"/>
          <p:cNvSpPr>
            <a:spLocks noGrp="1"/>
          </p:cNvSpPr>
          <p:nvPr>
            <p:ph idx="1"/>
          </p:nvPr>
        </p:nvSpPr>
        <p:spPr/>
        <p:txBody>
          <a:bodyPr/>
          <a:lstStyle/>
          <a:p>
            <a:pPr eaLnBrk="1" hangingPunct="1">
              <a:defRPr/>
            </a:pPr>
            <a:r>
              <a:rPr lang="en-US" dirty="0" smtClean="0"/>
              <a:t>Atomicity</a:t>
            </a:r>
          </a:p>
          <a:p>
            <a:pPr eaLnBrk="1" hangingPunct="1">
              <a:defRPr/>
            </a:pPr>
            <a:r>
              <a:rPr lang="en-US" dirty="0" smtClean="0"/>
              <a:t>Consistency</a:t>
            </a:r>
          </a:p>
          <a:p>
            <a:pPr eaLnBrk="1" hangingPunct="1">
              <a:defRPr/>
            </a:pPr>
            <a:r>
              <a:rPr lang="en-US" dirty="0" smtClean="0"/>
              <a:t>Isolation</a:t>
            </a:r>
          </a:p>
          <a:p>
            <a:pPr eaLnBrk="1" hangingPunct="1">
              <a:defRPr/>
            </a:pPr>
            <a:r>
              <a:rPr lang="en-US" dirty="0" smtClean="0"/>
              <a:t>Durability </a:t>
            </a:r>
          </a:p>
          <a:p>
            <a:pPr eaLnBrk="1" hangingPunct="1">
              <a:defRPr/>
            </a:pPr>
            <a:endParaRPr lang="en-US" dirty="0" smtClean="0"/>
          </a:p>
          <a:p>
            <a:pPr marL="0" indent="0">
              <a:buNone/>
              <a:defRPr/>
            </a:pPr>
            <a:r>
              <a:rPr lang="en-US" dirty="0" smtClean="0"/>
              <a:t>ACID properties</a:t>
            </a:r>
          </a:p>
        </p:txBody>
      </p:sp>
      <p:sp>
        <p:nvSpPr>
          <p:cNvPr id="3379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168A7A49-C4B4-4DB7-A384-8DA9B5FE0387}" type="slidenum">
              <a:rPr lang="en-US" altLang="en-US" sz="1400">
                <a:solidFill>
                  <a:srgbClr val="990033"/>
                </a:solidFill>
              </a:rPr>
              <a:pPr>
                <a:spcBef>
                  <a:spcPct val="0"/>
                </a:spcBef>
                <a:buClrTx/>
                <a:buSzTx/>
                <a:buFontTx/>
                <a:buNone/>
              </a:pPr>
              <a:t>13</a:t>
            </a:fld>
            <a:endParaRPr lang="en-CA" altLang="en-US" sz="1400">
              <a:solidFill>
                <a:srgbClr val="990033"/>
              </a:solidFill>
            </a:endParaRPr>
          </a:p>
        </p:txBody>
      </p:sp>
    </p:spTree>
    <p:extLst>
      <p:ext uri="{BB962C8B-B14F-4D97-AF65-F5344CB8AC3E}">
        <p14:creationId xmlns:p14="http://schemas.microsoft.com/office/powerpoint/2010/main" val="41662987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9A717F45-596D-4F70-AFA5-C462A92C86EB}" type="slidenum">
              <a:rPr lang="en-US" altLang="en-US" sz="1400">
                <a:solidFill>
                  <a:srgbClr val="990033"/>
                </a:solidFill>
              </a:rPr>
              <a:pPr>
                <a:spcBef>
                  <a:spcPct val="0"/>
                </a:spcBef>
                <a:buClrTx/>
                <a:buSzTx/>
                <a:buFontTx/>
                <a:buNone/>
              </a:pPr>
              <a:t>14</a:t>
            </a:fld>
            <a:endParaRPr lang="en-CA" altLang="en-US" sz="1400">
              <a:solidFill>
                <a:srgbClr val="990033"/>
              </a:solidFill>
            </a:endParaRPr>
          </a:p>
        </p:txBody>
      </p:sp>
      <p:sp>
        <p:nvSpPr>
          <p:cNvPr id="34819" name="Rectangle 6"/>
          <p:cNvSpPr>
            <a:spLocks noGrp="1" noChangeArrowheads="1"/>
          </p:cNvSpPr>
          <p:nvPr>
            <p:ph type="title"/>
          </p:nvPr>
        </p:nvSpPr>
        <p:spPr/>
        <p:txBody>
          <a:bodyPr/>
          <a:lstStyle/>
          <a:p>
            <a:pPr eaLnBrk="1" hangingPunct="1"/>
            <a:r>
              <a:rPr lang="en-US" altLang="en-US" sz="3200"/>
              <a:t>3 Desirable Properties of Transactions (1)</a:t>
            </a:r>
          </a:p>
        </p:txBody>
      </p:sp>
      <p:sp>
        <p:nvSpPr>
          <p:cNvPr id="34820" name="Rectangle 7"/>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en-US" sz="2000"/>
              <a:t>ACID properties:</a:t>
            </a:r>
          </a:p>
          <a:p>
            <a:pPr eaLnBrk="1" hangingPunct="1">
              <a:lnSpc>
                <a:spcPct val="90000"/>
              </a:lnSpc>
            </a:pPr>
            <a:r>
              <a:rPr lang="en-US" altLang="en-US" sz="2000" b="1"/>
              <a:t>Atomicity</a:t>
            </a:r>
            <a:r>
              <a:rPr lang="en-US" altLang="en-US" sz="2000"/>
              <a:t>: A transaction is an atomic unit of processing; it is either performed in its entirety or not performed at all.</a:t>
            </a:r>
          </a:p>
          <a:p>
            <a:pPr eaLnBrk="1" hangingPunct="1">
              <a:lnSpc>
                <a:spcPct val="90000"/>
              </a:lnSpc>
            </a:pPr>
            <a:r>
              <a:rPr lang="en-US" altLang="en-US" sz="2000" b="1"/>
              <a:t>Consistency preservation</a:t>
            </a:r>
            <a:r>
              <a:rPr lang="en-US" altLang="en-US" sz="2000"/>
              <a:t>: A correct execution of the transaction must take the database from one consistent state to another.</a:t>
            </a:r>
          </a:p>
          <a:p>
            <a:pPr eaLnBrk="1" hangingPunct="1">
              <a:lnSpc>
                <a:spcPct val="90000"/>
              </a:lnSpc>
            </a:pPr>
            <a:r>
              <a:rPr lang="en-US" altLang="en-US" sz="2000" b="1"/>
              <a:t>Isolation</a:t>
            </a:r>
            <a:r>
              <a:rPr lang="en-US" altLang="en-US" sz="2000"/>
              <a:t>: A transaction should not make its updates visible to other transactions until it is committed; this property, when enforced strictly, solves the temporary update problem and makes cascading rollbacks of transactions  unnecessary (see Chapter 21).</a:t>
            </a:r>
          </a:p>
          <a:p>
            <a:pPr eaLnBrk="1" hangingPunct="1">
              <a:lnSpc>
                <a:spcPct val="90000"/>
              </a:lnSpc>
            </a:pPr>
            <a:r>
              <a:rPr lang="en-US" altLang="en-US" sz="2000" b="1"/>
              <a:t>Durability or permanency</a:t>
            </a:r>
            <a:r>
              <a:rPr lang="en-US" altLang="en-US" sz="2000"/>
              <a:t>: Once a transaction changes the database and the changes are committed, these changes must never be lost because of subsequent failure.</a:t>
            </a:r>
          </a:p>
        </p:txBody>
      </p:sp>
    </p:spTree>
    <p:extLst>
      <p:ext uri="{BB962C8B-B14F-4D97-AF65-F5344CB8AC3E}">
        <p14:creationId xmlns:p14="http://schemas.microsoft.com/office/powerpoint/2010/main" val="14775886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8186"/>
            <a:ext cx="10515600" cy="5558777"/>
          </a:xfrm>
        </p:spPr>
        <p:txBody>
          <a:bodyPr/>
          <a:lstStyle/>
          <a:p>
            <a:endParaRPr lang="en-US" dirty="0"/>
          </a:p>
        </p:txBody>
      </p:sp>
      <p:sp>
        <p:nvSpPr>
          <p:cNvPr id="4" name="Rectangle 3"/>
          <p:cNvSpPr/>
          <p:nvPr/>
        </p:nvSpPr>
        <p:spPr>
          <a:xfrm>
            <a:off x="1892341" y="3272034"/>
            <a:ext cx="7788927" cy="597087"/>
          </a:xfrm>
          <a:prstGeom prst="rect">
            <a:avLst/>
          </a:prstGeom>
        </p:spPr>
        <p:txBody>
          <a:bodyPr wrap="none">
            <a:spAutoFit/>
          </a:bodyPr>
          <a:lstStyle/>
          <a:p>
            <a:pPr algn="ctr">
              <a:lnSpc>
                <a:spcPct val="80000"/>
              </a:lnSpc>
            </a:pPr>
            <a:r>
              <a:rPr lang="en-US" altLang="en-US" sz="4000" dirty="0" smtClean="0"/>
              <a:t>Why Concurrency Control is needed:</a:t>
            </a:r>
          </a:p>
        </p:txBody>
      </p:sp>
    </p:spTree>
    <p:extLst>
      <p:ext uri="{BB962C8B-B14F-4D97-AF65-F5344CB8AC3E}">
        <p14:creationId xmlns:p14="http://schemas.microsoft.com/office/powerpoint/2010/main" val="9277606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a:xfrm>
            <a:off x="838200" y="-343212"/>
            <a:ext cx="10515600" cy="1325563"/>
          </a:xfrm>
        </p:spPr>
        <p:txBody>
          <a:bodyPr/>
          <a:lstStyle/>
          <a:p>
            <a:pPr>
              <a:defRPr/>
            </a:pPr>
            <a:r>
              <a:rPr lang="en-US" dirty="0">
                <a:effectLst>
                  <a:outerShdw blurRad="38100" dist="38100" dir="2700000" algn="tl">
                    <a:srgbClr val="C0C0C0"/>
                  </a:outerShdw>
                </a:effectLst>
              </a:rPr>
              <a:t>Concurrent Executions</a:t>
            </a:r>
          </a:p>
        </p:txBody>
      </p:sp>
      <p:sp>
        <p:nvSpPr>
          <p:cNvPr id="13315" name="Rectangle 3"/>
          <p:cNvSpPr>
            <a:spLocks noGrp="1" noChangeArrowheads="1"/>
          </p:cNvSpPr>
          <p:nvPr>
            <p:ph idx="1"/>
          </p:nvPr>
        </p:nvSpPr>
        <p:spPr>
          <a:xfrm>
            <a:off x="708338" y="1102497"/>
            <a:ext cx="10406129" cy="5367972"/>
          </a:xfrm>
        </p:spPr>
        <p:txBody>
          <a:bodyPr/>
          <a:lstStyle/>
          <a:p>
            <a:pPr algn="just"/>
            <a:r>
              <a:rPr lang="en-US" altLang="en-US" dirty="0"/>
              <a:t>Multiple transactions are allowed to run concurrently in the system.  Advantages are:</a:t>
            </a:r>
          </a:p>
          <a:p>
            <a:pPr lvl="1" algn="just"/>
            <a:r>
              <a:rPr lang="en-US" altLang="en-US" b="1" dirty="0"/>
              <a:t>Increased processor and disk utilization</a:t>
            </a:r>
            <a:r>
              <a:rPr lang="en-US" altLang="en-US" dirty="0"/>
              <a:t>, leading to better transaction </a:t>
            </a:r>
            <a:r>
              <a:rPr lang="en-US" altLang="en-US" i="1" dirty="0"/>
              <a:t>throughput</a:t>
            </a:r>
          </a:p>
          <a:p>
            <a:pPr lvl="2" algn="just"/>
            <a:r>
              <a:rPr lang="en-US" altLang="en-US" dirty="0"/>
              <a:t>E</a:t>
            </a:r>
            <a:r>
              <a:rPr lang="en-US" altLang="en-US" dirty="0" smtClean="0"/>
              <a:t>.g</a:t>
            </a:r>
            <a:r>
              <a:rPr lang="en-US" altLang="en-US" dirty="0"/>
              <a:t>., one transaction can be using the CPU while another is reading from or writing to the disk</a:t>
            </a:r>
          </a:p>
          <a:p>
            <a:pPr lvl="1" algn="just"/>
            <a:r>
              <a:rPr lang="en-US" altLang="en-US" b="1" dirty="0"/>
              <a:t>Reduced average response time</a:t>
            </a:r>
            <a:r>
              <a:rPr lang="en-US" altLang="en-US" dirty="0"/>
              <a:t> for transactions: short transactions need not wait behind long ones.</a:t>
            </a:r>
          </a:p>
          <a:p>
            <a:pPr algn="just"/>
            <a:r>
              <a:rPr lang="en-US" altLang="en-US" b="1" dirty="0">
                <a:solidFill>
                  <a:srgbClr val="000099"/>
                </a:solidFill>
              </a:rPr>
              <a:t>Concurrency control schemes</a:t>
            </a:r>
            <a:r>
              <a:rPr lang="en-US" altLang="en-US" i="1" dirty="0"/>
              <a:t> </a:t>
            </a:r>
            <a:r>
              <a:rPr lang="en-US" altLang="en-US" dirty="0"/>
              <a:t>– mechanisms  to achieve isolation</a:t>
            </a:r>
          </a:p>
          <a:p>
            <a:pPr lvl="1" algn="just"/>
            <a:r>
              <a:rPr lang="en-US" altLang="en-US" dirty="0"/>
              <a:t>That is, to control the interaction among the concurrent transactions in order to prevent them from destroying the consistency of the database</a:t>
            </a:r>
          </a:p>
          <a:p>
            <a:pPr marL="857250" lvl="2" indent="0" algn="just">
              <a:buNone/>
            </a:pPr>
            <a:endParaRPr lang="en-US" altLang="en-US" dirty="0"/>
          </a:p>
        </p:txBody>
      </p:sp>
    </p:spTree>
    <p:extLst>
      <p:ext uri="{BB962C8B-B14F-4D97-AF65-F5344CB8AC3E}">
        <p14:creationId xmlns:p14="http://schemas.microsoft.com/office/powerpoint/2010/main" val="39527893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6366"/>
            <a:ext cx="10515600" cy="5790597"/>
          </a:xfrm>
        </p:spPr>
        <p:txBody>
          <a:bodyPr/>
          <a:lstStyle/>
          <a:p>
            <a:pPr algn="just"/>
            <a:r>
              <a:rPr lang="en-US" dirty="0"/>
              <a:t>In a </a:t>
            </a:r>
            <a:r>
              <a:rPr lang="en-US" b="1" dirty="0"/>
              <a:t>multi-user system</a:t>
            </a:r>
            <a:r>
              <a:rPr lang="en-US" dirty="0"/>
              <a:t>, </a:t>
            </a:r>
            <a:r>
              <a:rPr lang="en-US" dirty="0">
                <a:solidFill>
                  <a:srgbClr val="FF0000"/>
                </a:solidFill>
              </a:rPr>
              <a:t>multiple users can access and use the same database at one time, which is known as the concurrent execution of the database</a:t>
            </a:r>
            <a:r>
              <a:rPr lang="en-US" dirty="0"/>
              <a:t>. It means that the same database is executed simultaneously on a multi-user system by different users.</a:t>
            </a:r>
          </a:p>
          <a:p>
            <a:pPr algn="just"/>
            <a:r>
              <a:rPr lang="en-US" dirty="0"/>
              <a:t>While working on the database transactions, there occurs the requirement of using the database by multiple users for performing different operations, and in that case, concurrent execution of the database is performed.</a:t>
            </a:r>
          </a:p>
          <a:p>
            <a:pPr algn="just"/>
            <a:r>
              <a:rPr lang="en-US" dirty="0"/>
              <a:t>The thing is that the </a:t>
            </a:r>
            <a:r>
              <a:rPr lang="en-US" dirty="0">
                <a:solidFill>
                  <a:srgbClr val="FF0000"/>
                </a:solidFill>
              </a:rPr>
              <a:t>simultaneous execution that is performed should be done in an interleaved manner, and no operation should affect the other executing operations, thus maintaining the consistency of the database.</a:t>
            </a:r>
            <a:r>
              <a:rPr lang="en-US" dirty="0"/>
              <a:t> Thus, on making the concurrent execution of the transaction operations, there occur several challenging problems that need to be solved.</a:t>
            </a:r>
          </a:p>
          <a:p>
            <a:pPr algn="just"/>
            <a:endParaRPr lang="en-US" dirty="0"/>
          </a:p>
        </p:txBody>
      </p:sp>
    </p:spTree>
    <p:extLst>
      <p:ext uri="{BB962C8B-B14F-4D97-AF65-F5344CB8AC3E}">
        <p14:creationId xmlns:p14="http://schemas.microsoft.com/office/powerpoint/2010/main" val="41624393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46244"/>
          </a:xfrm>
        </p:spPr>
        <p:txBody>
          <a:bodyPr>
            <a:normAutofit fontScale="90000"/>
          </a:bodyPr>
          <a:lstStyle/>
          <a:p>
            <a:r>
              <a:rPr lang="en-US" dirty="0"/>
              <a:t>Problems with Concurrent Execution</a:t>
            </a:r>
            <a:br>
              <a:rPr lang="en-US" dirty="0"/>
            </a:br>
            <a:endParaRPr lang="en-US" dirty="0"/>
          </a:p>
        </p:txBody>
      </p:sp>
      <p:sp>
        <p:nvSpPr>
          <p:cNvPr id="3" name="Content Placeholder 2"/>
          <p:cNvSpPr>
            <a:spLocks noGrp="1"/>
          </p:cNvSpPr>
          <p:nvPr>
            <p:ph idx="1"/>
          </p:nvPr>
        </p:nvSpPr>
        <p:spPr>
          <a:xfrm>
            <a:off x="838199" y="940158"/>
            <a:ext cx="11036121" cy="5236805"/>
          </a:xfrm>
        </p:spPr>
        <p:txBody>
          <a:bodyPr/>
          <a:lstStyle/>
          <a:p>
            <a:pPr algn="just"/>
            <a:r>
              <a:rPr lang="en-US" dirty="0"/>
              <a:t>In a database transaction, the two main </a:t>
            </a:r>
            <a:r>
              <a:rPr lang="en-US" dirty="0" smtClean="0"/>
              <a:t>operations are </a:t>
            </a:r>
            <a:r>
              <a:rPr lang="en-US" b="1" dirty="0" smtClean="0"/>
              <a:t>READ</a:t>
            </a:r>
            <a:r>
              <a:rPr lang="en-US" dirty="0" smtClean="0"/>
              <a:t> and </a:t>
            </a:r>
            <a:r>
              <a:rPr lang="en-US" b="1" dirty="0" smtClean="0"/>
              <a:t>WRITE </a:t>
            </a:r>
            <a:r>
              <a:rPr lang="en-US" dirty="0" smtClean="0"/>
              <a:t>operations</a:t>
            </a:r>
            <a:r>
              <a:rPr lang="en-US" dirty="0"/>
              <a:t>. So, there is a need to manage these two operations in the concurrent execution of the transactions as if these operations are not performed in an interleaved manner, and the data may become inconsistent. So, the following problems occur with the Concurrent Execution of the operations</a:t>
            </a:r>
            <a:r>
              <a:rPr lang="en-US" dirty="0" smtClean="0"/>
              <a:t>:</a:t>
            </a:r>
          </a:p>
          <a:p>
            <a:pPr algn="just"/>
            <a:r>
              <a:rPr lang="en-US" dirty="0" smtClean="0"/>
              <a:t>Lost </a:t>
            </a:r>
            <a:r>
              <a:rPr lang="en-US" dirty="0"/>
              <a:t>Update Problems (W - W Conflict)</a:t>
            </a:r>
          </a:p>
          <a:p>
            <a:pPr algn="just"/>
            <a:r>
              <a:rPr lang="en-US" dirty="0"/>
              <a:t>Dirty Read Problems (W-R Conflict</a:t>
            </a:r>
            <a:r>
              <a:rPr lang="en-US" dirty="0" smtClean="0"/>
              <a:t>)</a:t>
            </a:r>
          </a:p>
          <a:p>
            <a:pPr algn="just"/>
            <a:r>
              <a:rPr lang="en-US" dirty="0"/>
              <a:t>Unrepeatable Read Problem (W-R Conflict</a:t>
            </a:r>
            <a:r>
              <a:rPr lang="en-US" dirty="0" smtClean="0"/>
              <a:t>)</a:t>
            </a:r>
          </a:p>
          <a:p>
            <a:pPr algn="just"/>
            <a:r>
              <a:rPr lang="en-US" altLang="en-US" dirty="0" smtClean="0"/>
              <a:t>The Blind Write Problem</a:t>
            </a:r>
          </a:p>
          <a:p>
            <a:pPr algn="just"/>
            <a:r>
              <a:rPr lang="en-US" dirty="0"/>
              <a:t>Phantom Read Problem</a:t>
            </a:r>
            <a:endParaRPr lang="en-US" altLang="en-US" dirty="0" smtClean="0"/>
          </a:p>
          <a:p>
            <a:pPr algn="just"/>
            <a:endParaRPr lang="en-US" dirty="0" smtClean="0"/>
          </a:p>
          <a:p>
            <a:pPr algn="just"/>
            <a:endParaRPr lang="en-US" dirty="0"/>
          </a:p>
          <a:p>
            <a:pPr marL="0" indent="0" algn="just">
              <a:buNone/>
            </a:pPr>
            <a:endParaRPr lang="en-US" dirty="0"/>
          </a:p>
          <a:p>
            <a:pPr algn="just"/>
            <a:endParaRPr lang="en-US" dirty="0"/>
          </a:p>
        </p:txBody>
      </p:sp>
    </p:spTree>
    <p:extLst>
      <p:ext uri="{BB962C8B-B14F-4D97-AF65-F5344CB8AC3E}">
        <p14:creationId xmlns:p14="http://schemas.microsoft.com/office/powerpoint/2010/main" val="21413774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154"/>
          </a:xfrm>
        </p:spPr>
        <p:txBody>
          <a:bodyPr>
            <a:normAutofit fontScale="90000"/>
          </a:bodyPr>
          <a:lstStyle/>
          <a:p>
            <a:r>
              <a:rPr lang="en-US" dirty="0" smtClean="0"/>
              <a:t>Lost Update Problems (W - W Conflict)</a:t>
            </a:r>
            <a:br>
              <a:rPr lang="en-US" dirty="0" smtClean="0"/>
            </a:br>
            <a:endParaRPr lang="en-US" dirty="0"/>
          </a:p>
        </p:txBody>
      </p:sp>
      <p:sp>
        <p:nvSpPr>
          <p:cNvPr id="3" name="Content Placeholder 2"/>
          <p:cNvSpPr>
            <a:spLocks noGrp="1"/>
          </p:cNvSpPr>
          <p:nvPr>
            <p:ph idx="1"/>
          </p:nvPr>
        </p:nvSpPr>
        <p:spPr>
          <a:xfrm>
            <a:off x="838200" y="798490"/>
            <a:ext cx="10515600" cy="5378473"/>
          </a:xfrm>
        </p:spPr>
        <p:txBody>
          <a:bodyPr/>
          <a:lstStyle/>
          <a:p>
            <a:r>
              <a:rPr lang="en-US" sz="2400" dirty="0"/>
              <a:t>The problem occurs </a:t>
            </a:r>
            <a:r>
              <a:rPr lang="en-US" sz="2400" i="1" dirty="0"/>
              <a:t>when two different database transactions perform the read/write operations on the same database items in an interleaved manner (i.e., concurrent execution) that makes the values of the items incorrect hence making the database inconsistent</a:t>
            </a:r>
            <a:r>
              <a:rPr lang="en-US" sz="2400" dirty="0" smtClean="0"/>
              <a:t>.</a:t>
            </a:r>
          </a:p>
          <a:p>
            <a:r>
              <a:rPr lang="en-US" sz="2400" b="1" dirty="0"/>
              <a:t>Consider the below diagram where two transactions T</a:t>
            </a:r>
            <a:r>
              <a:rPr lang="en-US" sz="2400" b="1" baseline="-25000" dirty="0"/>
              <a:t>X</a:t>
            </a:r>
            <a:r>
              <a:rPr lang="en-US" sz="2400" b="1" dirty="0"/>
              <a:t> and T</a:t>
            </a:r>
            <a:r>
              <a:rPr lang="en-US" sz="2400" b="1" baseline="-25000" dirty="0"/>
              <a:t>Y</a:t>
            </a:r>
            <a:r>
              <a:rPr lang="en-US" sz="2400" b="1" dirty="0"/>
              <a:t>, are performed on the same account A where the balance of account A is $300.</a:t>
            </a:r>
            <a:endParaRPr lang="en-US" sz="2400" dirty="0"/>
          </a:p>
          <a:p>
            <a:r>
              <a:rPr lang="en-US" dirty="0" smtClean="0"/>
              <a:t/>
            </a:r>
            <a:br>
              <a:rPr lang="en-US" dirty="0" smtClean="0"/>
            </a:br>
            <a:endParaRPr lang="en-US" dirty="0"/>
          </a:p>
        </p:txBody>
      </p:sp>
      <p:pic>
        <p:nvPicPr>
          <p:cNvPr id="4" name="Picture 3"/>
          <p:cNvPicPr>
            <a:picLocks noChangeAspect="1"/>
          </p:cNvPicPr>
          <p:nvPr/>
        </p:nvPicPr>
        <p:blipFill>
          <a:blip r:embed="rId2"/>
          <a:stretch>
            <a:fillRect/>
          </a:stretch>
        </p:blipFill>
        <p:spPr>
          <a:xfrm>
            <a:off x="2144264" y="3062755"/>
            <a:ext cx="5095875" cy="3486150"/>
          </a:xfrm>
          <a:prstGeom prst="rect">
            <a:avLst/>
          </a:prstGeom>
        </p:spPr>
      </p:pic>
    </p:spTree>
    <p:extLst>
      <p:ext uri="{BB962C8B-B14F-4D97-AF65-F5344CB8AC3E}">
        <p14:creationId xmlns:p14="http://schemas.microsoft.com/office/powerpoint/2010/main" val="40203852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2276"/>
            <a:ext cx="10515600" cy="5674687"/>
          </a:xfrm>
        </p:spPr>
        <p:txBody>
          <a:bodyPr>
            <a:normAutofit fontScale="92500" lnSpcReduction="20000"/>
          </a:bodyPr>
          <a:lstStyle/>
          <a:p>
            <a:r>
              <a:rPr lang="en-US" dirty="0"/>
              <a:t>At time t1, transaction T</a:t>
            </a:r>
            <a:r>
              <a:rPr lang="en-US" baseline="-25000" dirty="0"/>
              <a:t>X</a:t>
            </a:r>
            <a:r>
              <a:rPr lang="en-US" dirty="0"/>
              <a:t> reads the value of account A, i.e., $300 (only read).</a:t>
            </a:r>
          </a:p>
          <a:p>
            <a:r>
              <a:rPr lang="en-US" dirty="0"/>
              <a:t>At time t2, transaction T</a:t>
            </a:r>
            <a:r>
              <a:rPr lang="en-US" baseline="-25000" dirty="0"/>
              <a:t>X</a:t>
            </a:r>
            <a:r>
              <a:rPr lang="en-US" dirty="0"/>
              <a:t> deducts $50 from account A that becomes $250 (only deducted and not updated/write).</a:t>
            </a:r>
          </a:p>
          <a:p>
            <a:r>
              <a:rPr lang="en-US" dirty="0"/>
              <a:t>Alternately, at time t3, transaction T</a:t>
            </a:r>
            <a:r>
              <a:rPr lang="en-US" baseline="-25000" dirty="0"/>
              <a:t>Y</a:t>
            </a:r>
            <a:r>
              <a:rPr lang="en-US" dirty="0"/>
              <a:t> reads the value of account A that will be $300 only because T</a:t>
            </a:r>
            <a:r>
              <a:rPr lang="en-US" baseline="-25000" dirty="0"/>
              <a:t>X</a:t>
            </a:r>
            <a:r>
              <a:rPr lang="en-US" dirty="0"/>
              <a:t> didn't update the value yet.</a:t>
            </a:r>
          </a:p>
          <a:p>
            <a:r>
              <a:rPr lang="en-US" dirty="0"/>
              <a:t>At time t4, transaction T</a:t>
            </a:r>
            <a:r>
              <a:rPr lang="en-US" baseline="-25000" dirty="0"/>
              <a:t>Y</a:t>
            </a:r>
            <a:r>
              <a:rPr lang="en-US" dirty="0"/>
              <a:t> adds $100 to account A that becomes $400 (only added but not updated/write).</a:t>
            </a:r>
          </a:p>
          <a:p>
            <a:r>
              <a:rPr lang="en-US" dirty="0"/>
              <a:t>At time t6, transaction T</a:t>
            </a:r>
            <a:r>
              <a:rPr lang="en-US" baseline="-25000" dirty="0"/>
              <a:t>X</a:t>
            </a:r>
            <a:r>
              <a:rPr lang="en-US" dirty="0"/>
              <a:t> writes the value of account A that will be updated as $250 only, as T</a:t>
            </a:r>
            <a:r>
              <a:rPr lang="en-US" baseline="-25000" dirty="0"/>
              <a:t>Y</a:t>
            </a:r>
            <a:r>
              <a:rPr lang="en-US" dirty="0"/>
              <a:t> didn't update the value yet.</a:t>
            </a:r>
          </a:p>
          <a:p>
            <a:r>
              <a:rPr lang="en-US" dirty="0"/>
              <a:t>Similarly, at time t7, transaction T</a:t>
            </a:r>
            <a:r>
              <a:rPr lang="en-US" baseline="-25000" dirty="0"/>
              <a:t>Y</a:t>
            </a:r>
            <a:r>
              <a:rPr lang="en-US" dirty="0"/>
              <a:t> writes the values of account A, so it will write as done at time t4 that will be $400. It means the value written by T</a:t>
            </a:r>
            <a:r>
              <a:rPr lang="en-US" baseline="-25000" dirty="0"/>
              <a:t>X</a:t>
            </a:r>
            <a:r>
              <a:rPr lang="en-US" dirty="0"/>
              <a:t> is lost, i.e., $250 is lost.</a:t>
            </a:r>
          </a:p>
          <a:p>
            <a:pPr marL="0" indent="0">
              <a:buNone/>
            </a:pPr>
            <a:endParaRPr lang="en-US" dirty="0" smtClean="0"/>
          </a:p>
          <a:p>
            <a:pPr marL="0" indent="0">
              <a:buNone/>
            </a:pPr>
            <a:r>
              <a:rPr lang="en-US" dirty="0" smtClean="0"/>
              <a:t>Hence </a:t>
            </a:r>
            <a:r>
              <a:rPr lang="en-US" dirty="0"/>
              <a:t>data becomes incorrect, and database sets to inconsistent.</a:t>
            </a:r>
          </a:p>
        </p:txBody>
      </p:sp>
    </p:spTree>
    <p:extLst>
      <p:ext uri="{BB962C8B-B14F-4D97-AF65-F5344CB8AC3E}">
        <p14:creationId xmlns:p14="http://schemas.microsoft.com/office/powerpoint/2010/main" val="41930425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07607"/>
          </a:xfrm>
        </p:spPr>
        <p:txBody>
          <a:bodyPr>
            <a:normAutofit fontScale="90000"/>
          </a:bodyPr>
          <a:lstStyle/>
          <a:p>
            <a:r>
              <a:rPr lang="en-US" dirty="0"/>
              <a:t>Dirty Read Problems (W-R Conflict)</a:t>
            </a:r>
            <a:br>
              <a:rPr lang="en-US" dirty="0"/>
            </a:br>
            <a:endParaRPr lang="en-US" dirty="0"/>
          </a:p>
        </p:txBody>
      </p:sp>
      <p:sp>
        <p:nvSpPr>
          <p:cNvPr id="3" name="Content Placeholder 2"/>
          <p:cNvSpPr>
            <a:spLocks noGrp="1"/>
          </p:cNvSpPr>
          <p:nvPr>
            <p:ph idx="1"/>
          </p:nvPr>
        </p:nvSpPr>
        <p:spPr>
          <a:xfrm>
            <a:off x="838200" y="927279"/>
            <a:ext cx="10515600" cy="5666704"/>
          </a:xfrm>
        </p:spPr>
        <p:txBody>
          <a:bodyPr/>
          <a:lstStyle/>
          <a:p>
            <a:r>
              <a:rPr lang="en-US" sz="2400" dirty="0"/>
              <a:t>The dirty read problem occurs </a:t>
            </a:r>
            <a:r>
              <a:rPr lang="en-US" sz="2400" i="1" dirty="0"/>
              <a:t>when one transaction updates an item of the database, and somehow the transaction fails, and before the data gets rollback, the updated database item is accessed by another transaction. </a:t>
            </a:r>
            <a:endParaRPr lang="en-US" sz="2400" dirty="0"/>
          </a:p>
          <a:p>
            <a:r>
              <a:rPr lang="en-US" sz="2400" b="1" dirty="0" smtClean="0"/>
              <a:t>Consider </a:t>
            </a:r>
            <a:r>
              <a:rPr lang="en-US" sz="2400" b="1" dirty="0"/>
              <a:t>two transactions T</a:t>
            </a:r>
            <a:r>
              <a:rPr lang="en-US" sz="2400" b="1" baseline="-25000" dirty="0"/>
              <a:t>X</a:t>
            </a:r>
            <a:r>
              <a:rPr lang="en-US" sz="2400" b="1" dirty="0"/>
              <a:t> and T</a:t>
            </a:r>
            <a:r>
              <a:rPr lang="en-US" sz="2400" b="1" baseline="-25000" dirty="0"/>
              <a:t>Y</a:t>
            </a:r>
            <a:r>
              <a:rPr lang="en-US" sz="2400" b="1" dirty="0"/>
              <a:t> in the below diagram performing read/write operations on account A where the available balance in account A is $300:</a:t>
            </a:r>
            <a:endParaRPr lang="en-US" sz="2400" dirty="0"/>
          </a:p>
          <a:p>
            <a:endParaRPr lang="en-US" dirty="0"/>
          </a:p>
        </p:txBody>
      </p:sp>
      <p:pic>
        <p:nvPicPr>
          <p:cNvPr id="4" name="Picture 3"/>
          <p:cNvPicPr>
            <a:picLocks noChangeAspect="1"/>
          </p:cNvPicPr>
          <p:nvPr/>
        </p:nvPicPr>
        <p:blipFill>
          <a:blip r:embed="rId2"/>
          <a:stretch>
            <a:fillRect/>
          </a:stretch>
        </p:blipFill>
        <p:spPr>
          <a:xfrm>
            <a:off x="2744273" y="3327846"/>
            <a:ext cx="5029200" cy="3009900"/>
          </a:xfrm>
          <a:prstGeom prst="rect">
            <a:avLst/>
          </a:prstGeom>
        </p:spPr>
      </p:pic>
    </p:spTree>
    <p:extLst>
      <p:ext uri="{BB962C8B-B14F-4D97-AF65-F5344CB8AC3E}">
        <p14:creationId xmlns:p14="http://schemas.microsoft.com/office/powerpoint/2010/main" val="28403002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1972"/>
            <a:ext cx="10515600" cy="5854991"/>
          </a:xfrm>
        </p:spPr>
        <p:txBody>
          <a:bodyPr/>
          <a:lstStyle/>
          <a:p>
            <a:r>
              <a:rPr lang="en-US" dirty="0"/>
              <a:t>At time t1, transaction T</a:t>
            </a:r>
            <a:r>
              <a:rPr lang="en-US" baseline="-25000" dirty="0"/>
              <a:t>X</a:t>
            </a:r>
            <a:r>
              <a:rPr lang="en-US" dirty="0"/>
              <a:t> reads the value of account A, i.e., $300.</a:t>
            </a:r>
          </a:p>
          <a:p>
            <a:r>
              <a:rPr lang="en-US" dirty="0"/>
              <a:t>At time t2, transaction T</a:t>
            </a:r>
            <a:r>
              <a:rPr lang="en-US" baseline="-25000" dirty="0"/>
              <a:t>X</a:t>
            </a:r>
            <a:r>
              <a:rPr lang="en-US" dirty="0"/>
              <a:t> adds $50 to account A that becomes $350.</a:t>
            </a:r>
          </a:p>
          <a:p>
            <a:r>
              <a:rPr lang="en-US" dirty="0"/>
              <a:t>At time t3, transaction T</a:t>
            </a:r>
            <a:r>
              <a:rPr lang="en-US" baseline="-25000" dirty="0"/>
              <a:t>X</a:t>
            </a:r>
            <a:r>
              <a:rPr lang="en-US" dirty="0"/>
              <a:t> writes the updated value in account A, i.e., $350.</a:t>
            </a:r>
          </a:p>
          <a:p>
            <a:r>
              <a:rPr lang="en-US" dirty="0"/>
              <a:t>Then at time t4, transaction T</a:t>
            </a:r>
            <a:r>
              <a:rPr lang="en-US" baseline="-25000" dirty="0"/>
              <a:t>Y</a:t>
            </a:r>
            <a:r>
              <a:rPr lang="en-US" dirty="0"/>
              <a:t> reads account A that will be read as $350.</a:t>
            </a:r>
          </a:p>
          <a:p>
            <a:r>
              <a:rPr lang="en-US" dirty="0"/>
              <a:t>Then at time t5, transaction T</a:t>
            </a:r>
            <a:r>
              <a:rPr lang="en-US" baseline="-25000" dirty="0"/>
              <a:t>X</a:t>
            </a:r>
            <a:r>
              <a:rPr lang="en-US" dirty="0"/>
              <a:t> rollbacks due to server problem, and the value changes back to $300 (as initially).</a:t>
            </a:r>
          </a:p>
          <a:p>
            <a:r>
              <a:rPr lang="en-US" dirty="0"/>
              <a:t>But the value for account A remains $350 for transaction T</a:t>
            </a:r>
            <a:r>
              <a:rPr lang="en-US" baseline="-25000" dirty="0"/>
              <a:t>Y</a:t>
            </a:r>
            <a:r>
              <a:rPr lang="en-US" dirty="0"/>
              <a:t> as committed, which is the dirty read and therefore known as the Dirty Read Problem.</a:t>
            </a:r>
          </a:p>
          <a:p>
            <a:pPr marL="0" indent="0">
              <a:buNone/>
            </a:pPr>
            <a:endParaRPr lang="en-US" dirty="0"/>
          </a:p>
        </p:txBody>
      </p:sp>
    </p:spTree>
    <p:extLst>
      <p:ext uri="{BB962C8B-B14F-4D97-AF65-F5344CB8AC3E}">
        <p14:creationId xmlns:p14="http://schemas.microsoft.com/office/powerpoint/2010/main" val="26891105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0638"/>
          </a:xfrm>
        </p:spPr>
        <p:txBody>
          <a:bodyPr>
            <a:normAutofit fontScale="90000"/>
          </a:bodyPr>
          <a:lstStyle/>
          <a:p>
            <a:r>
              <a:rPr lang="en-US"/>
              <a:t>Unrepeatable Read Problem (W-R Conflict)</a:t>
            </a:r>
          </a:p>
        </p:txBody>
      </p:sp>
      <p:sp>
        <p:nvSpPr>
          <p:cNvPr id="3" name="Content Placeholder 2"/>
          <p:cNvSpPr>
            <a:spLocks noGrp="1"/>
          </p:cNvSpPr>
          <p:nvPr>
            <p:ph idx="1"/>
          </p:nvPr>
        </p:nvSpPr>
        <p:spPr>
          <a:xfrm>
            <a:off x="838200" y="1133341"/>
            <a:ext cx="10515600" cy="5043622"/>
          </a:xfrm>
        </p:spPr>
        <p:txBody>
          <a:bodyPr>
            <a:normAutofit/>
          </a:bodyPr>
          <a:lstStyle/>
          <a:p>
            <a:r>
              <a:rPr lang="en-US" sz="2400" i="1" dirty="0"/>
              <a:t>Also known as Inconsistent Retrievals Problem that occurs when in a transaction, two different values are read for </a:t>
            </a:r>
            <a:r>
              <a:rPr lang="en-US" sz="2400" i="1" dirty="0" smtClean="0"/>
              <a:t>the </a:t>
            </a:r>
            <a:r>
              <a:rPr lang="en-US" sz="2400" i="1" dirty="0"/>
              <a:t>same database item</a:t>
            </a:r>
            <a:r>
              <a:rPr lang="en-US" sz="2400" i="1" dirty="0" smtClean="0"/>
              <a:t>.</a:t>
            </a:r>
          </a:p>
          <a:p>
            <a:r>
              <a:rPr lang="en-US" sz="2400" b="1" dirty="0"/>
              <a:t>Consider two transactions, T</a:t>
            </a:r>
            <a:r>
              <a:rPr lang="en-US" sz="2400" b="1" baseline="-25000" dirty="0"/>
              <a:t>X</a:t>
            </a:r>
            <a:r>
              <a:rPr lang="en-US" sz="2400" b="1" dirty="0"/>
              <a:t> and T</a:t>
            </a:r>
            <a:r>
              <a:rPr lang="en-US" sz="2400" b="1" baseline="-25000" dirty="0"/>
              <a:t>Y</a:t>
            </a:r>
            <a:r>
              <a:rPr lang="en-US" sz="2400" b="1" dirty="0"/>
              <a:t>, performing the read/write operations on account A, having an available balance = $300. The diagram is shown below:</a:t>
            </a:r>
            <a:endParaRPr lang="en-US" sz="2400" dirty="0"/>
          </a:p>
        </p:txBody>
      </p:sp>
      <p:pic>
        <p:nvPicPr>
          <p:cNvPr id="4" name="Picture 3"/>
          <p:cNvPicPr>
            <a:picLocks noChangeAspect="1"/>
          </p:cNvPicPr>
          <p:nvPr/>
        </p:nvPicPr>
        <p:blipFill>
          <a:blip r:embed="rId2"/>
          <a:stretch>
            <a:fillRect/>
          </a:stretch>
        </p:blipFill>
        <p:spPr>
          <a:xfrm>
            <a:off x="2910625" y="2640171"/>
            <a:ext cx="5578967" cy="3856350"/>
          </a:xfrm>
          <a:prstGeom prst="rect">
            <a:avLst/>
          </a:prstGeom>
        </p:spPr>
      </p:pic>
    </p:spTree>
    <p:extLst>
      <p:ext uri="{BB962C8B-B14F-4D97-AF65-F5344CB8AC3E}">
        <p14:creationId xmlns:p14="http://schemas.microsoft.com/office/powerpoint/2010/main" val="21105628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4546"/>
            <a:ext cx="10515600" cy="6022417"/>
          </a:xfrm>
        </p:spPr>
        <p:txBody>
          <a:bodyPr>
            <a:normAutofit/>
          </a:bodyPr>
          <a:lstStyle/>
          <a:p>
            <a:r>
              <a:rPr lang="en-US" dirty="0"/>
              <a:t>At time t1, transaction T</a:t>
            </a:r>
            <a:r>
              <a:rPr lang="en-US" baseline="-25000" dirty="0"/>
              <a:t>X</a:t>
            </a:r>
            <a:r>
              <a:rPr lang="en-US" dirty="0"/>
              <a:t> reads the value from account A, i.e., $300.</a:t>
            </a:r>
          </a:p>
          <a:p>
            <a:r>
              <a:rPr lang="en-US" dirty="0"/>
              <a:t>At time t2, transaction T</a:t>
            </a:r>
            <a:r>
              <a:rPr lang="en-US" baseline="-25000" dirty="0"/>
              <a:t>Y</a:t>
            </a:r>
            <a:r>
              <a:rPr lang="en-US" dirty="0"/>
              <a:t> reads the value from account A, i.e., $300.</a:t>
            </a:r>
          </a:p>
          <a:p>
            <a:r>
              <a:rPr lang="en-US" dirty="0"/>
              <a:t>At time t3, transaction T</a:t>
            </a:r>
            <a:r>
              <a:rPr lang="en-US" baseline="-25000" dirty="0"/>
              <a:t>Y</a:t>
            </a:r>
            <a:r>
              <a:rPr lang="en-US" dirty="0"/>
              <a:t> updates the value of account A by adding $100 to the available balance, and then it becomes $400.</a:t>
            </a:r>
          </a:p>
          <a:p>
            <a:r>
              <a:rPr lang="en-US" dirty="0"/>
              <a:t>At time t4, transaction T</a:t>
            </a:r>
            <a:r>
              <a:rPr lang="en-US" baseline="-25000" dirty="0"/>
              <a:t>Y</a:t>
            </a:r>
            <a:r>
              <a:rPr lang="en-US" dirty="0"/>
              <a:t> writes the updated value, i.e., $400.</a:t>
            </a:r>
          </a:p>
          <a:p>
            <a:r>
              <a:rPr lang="en-US" dirty="0"/>
              <a:t>After that, at time t5, transaction T</a:t>
            </a:r>
            <a:r>
              <a:rPr lang="en-US" baseline="-25000" dirty="0"/>
              <a:t>X</a:t>
            </a:r>
            <a:r>
              <a:rPr lang="en-US" dirty="0"/>
              <a:t> reads the available value of account A, and that will be read as $400.</a:t>
            </a:r>
          </a:p>
          <a:p>
            <a:r>
              <a:rPr lang="en-US" dirty="0"/>
              <a:t>It means that within the same transaction T</a:t>
            </a:r>
            <a:r>
              <a:rPr lang="en-US" baseline="-25000" dirty="0"/>
              <a:t>X</a:t>
            </a:r>
            <a:r>
              <a:rPr lang="en-US" dirty="0"/>
              <a:t>, it reads two different values of account A, i.e., $ 300 initially, and after </a:t>
            </a:r>
            <a:r>
              <a:rPr lang="en-US" dirty="0" err="1"/>
              <a:t>updation</a:t>
            </a:r>
            <a:r>
              <a:rPr lang="en-US" dirty="0"/>
              <a:t> made by transaction T</a:t>
            </a:r>
            <a:r>
              <a:rPr lang="en-US" baseline="-25000" dirty="0"/>
              <a:t>Y</a:t>
            </a:r>
            <a:r>
              <a:rPr lang="en-US" dirty="0"/>
              <a:t>, it reads $400. It is an unrepeatable read and is therefore known as the Unrepeatable read problem.</a:t>
            </a:r>
          </a:p>
          <a:p>
            <a:pPr marL="0" indent="0">
              <a:buNone/>
            </a:pPr>
            <a:endParaRPr lang="en-US" dirty="0"/>
          </a:p>
        </p:txBody>
      </p:sp>
    </p:spTree>
    <p:extLst>
      <p:ext uri="{BB962C8B-B14F-4D97-AF65-F5344CB8AC3E}">
        <p14:creationId xmlns:p14="http://schemas.microsoft.com/office/powerpoint/2010/main" val="16398919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5185"/>
          </a:xfrm>
        </p:spPr>
        <p:txBody>
          <a:bodyPr>
            <a:normAutofit fontScale="90000"/>
          </a:bodyPr>
          <a:lstStyle/>
          <a:p>
            <a:r>
              <a:rPr lang="en-US" altLang="en-US" b="1" dirty="0" smtClean="0"/>
              <a:t>The Blind Write Problem</a:t>
            </a:r>
            <a:br>
              <a:rPr lang="en-US" altLang="en-US" b="1" dirty="0" smtClean="0"/>
            </a:br>
            <a:endParaRPr lang="en-US" dirty="0"/>
          </a:p>
        </p:txBody>
      </p:sp>
      <p:sp>
        <p:nvSpPr>
          <p:cNvPr id="3" name="Content Placeholder 2"/>
          <p:cNvSpPr>
            <a:spLocks noGrp="1"/>
          </p:cNvSpPr>
          <p:nvPr>
            <p:ph idx="1"/>
          </p:nvPr>
        </p:nvSpPr>
        <p:spPr>
          <a:xfrm>
            <a:off x="838200" y="837127"/>
            <a:ext cx="10515600" cy="5339836"/>
          </a:xfrm>
        </p:spPr>
        <p:txBody>
          <a:bodyPr/>
          <a:lstStyle/>
          <a:p>
            <a:pPr lvl="1">
              <a:lnSpc>
                <a:spcPct val="80000"/>
              </a:lnSpc>
            </a:pPr>
            <a:r>
              <a:rPr lang="en-US" altLang="en-US" sz="1900" dirty="0" smtClean="0"/>
              <a:t>If one transaction writes a value without reading it. </a:t>
            </a:r>
          </a:p>
          <a:p>
            <a:endParaRPr lang="en-US" dirty="0"/>
          </a:p>
        </p:txBody>
      </p:sp>
      <p:pic>
        <p:nvPicPr>
          <p:cNvPr id="4" name="Picture 3"/>
          <p:cNvPicPr>
            <a:picLocks noChangeAspect="1"/>
          </p:cNvPicPr>
          <p:nvPr/>
        </p:nvPicPr>
        <p:blipFill>
          <a:blip r:embed="rId2"/>
          <a:stretch>
            <a:fillRect/>
          </a:stretch>
        </p:blipFill>
        <p:spPr>
          <a:xfrm>
            <a:off x="2268492" y="1416676"/>
            <a:ext cx="6051260" cy="4314423"/>
          </a:xfrm>
          <a:prstGeom prst="rect">
            <a:avLst/>
          </a:prstGeom>
        </p:spPr>
      </p:pic>
    </p:spTree>
    <p:extLst>
      <p:ext uri="{BB962C8B-B14F-4D97-AF65-F5344CB8AC3E}">
        <p14:creationId xmlns:p14="http://schemas.microsoft.com/office/powerpoint/2010/main" val="14013886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7760"/>
          </a:xfrm>
        </p:spPr>
        <p:txBody>
          <a:bodyPr>
            <a:normAutofit fontScale="90000"/>
          </a:bodyPr>
          <a:lstStyle/>
          <a:p>
            <a:r>
              <a:rPr lang="en-US" b="1" u="sng" dirty="0"/>
              <a:t>Phantom Read Problem-</a:t>
            </a:r>
            <a:r>
              <a:rPr lang="en-US" b="1" dirty="0"/>
              <a:t/>
            </a:r>
            <a:br>
              <a:rPr lang="en-US" b="1" dirty="0"/>
            </a:br>
            <a:endParaRPr lang="en-US" dirty="0"/>
          </a:p>
        </p:txBody>
      </p:sp>
      <p:sp>
        <p:nvSpPr>
          <p:cNvPr id="3" name="Content Placeholder 2"/>
          <p:cNvSpPr>
            <a:spLocks noGrp="1"/>
          </p:cNvSpPr>
          <p:nvPr>
            <p:ph idx="1"/>
          </p:nvPr>
        </p:nvSpPr>
        <p:spPr>
          <a:xfrm>
            <a:off x="838200" y="991673"/>
            <a:ext cx="10515600" cy="5185290"/>
          </a:xfrm>
        </p:spPr>
        <p:txBody>
          <a:bodyPr/>
          <a:lstStyle/>
          <a:p>
            <a:r>
              <a:rPr lang="en-US" sz="2400" dirty="0"/>
              <a:t>This problem occurs when a transaction reads some variable from the buffer and when it reads the same variable later, it finds that the variable does not exist</a:t>
            </a:r>
            <a:r>
              <a:rPr lang="en-US" sz="2400" dirty="0" smtClean="0"/>
              <a:t>.</a:t>
            </a:r>
          </a:p>
          <a:p>
            <a:endParaRPr lang="en-US" dirty="0"/>
          </a:p>
        </p:txBody>
      </p:sp>
      <p:pic>
        <p:nvPicPr>
          <p:cNvPr id="4" name="Picture 3"/>
          <p:cNvPicPr>
            <a:picLocks noChangeAspect="1"/>
          </p:cNvPicPr>
          <p:nvPr/>
        </p:nvPicPr>
        <p:blipFill>
          <a:blip r:embed="rId2"/>
          <a:stretch>
            <a:fillRect/>
          </a:stretch>
        </p:blipFill>
        <p:spPr>
          <a:xfrm>
            <a:off x="1666941" y="2206446"/>
            <a:ext cx="4067175" cy="2419350"/>
          </a:xfrm>
          <a:prstGeom prst="rect">
            <a:avLst/>
          </a:prstGeom>
        </p:spPr>
      </p:pic>
      <p:sp>
        <p:nvSpPr>
          <p:cNvPr id="5" name="Rectangle 4"/>
          <p:cNvSpPr/>
          <p:nvPr/>
        </p:nvSpPr>
        <p:spPr>
          <a:xfrm>
            <a:off x="5628066" y="1975250"/>
            <a:ext cx="5164428" cy="3139321"/>
          </a:xfrm>
          <a:prstGeom prst="rect">
            <a:avLst/>
          </a:prstGeom>
        </p:spPr>
        <p:txBody>
          <a:bodyPr wrap="square">
            <a:spAutoFit/>
          </a:bodyPr>
          <a:lstStyle/>
          <a:p>
            <a:pPr fontAlgn="base"/>
            <a:r>
              <a:rPr lang="en-US" b="0" i="0" dirty="0" smtClean="0">
                <a:solidFill>
                  <a:srgbClr val="303030"/>
                </a:solidFill>
                <a:effectLst/>
                <a:latin typeface="Arimo"/>
              </a:rPr>
              <a:t>Here,</a:t>
            </a:r>
          </a:p>
          <a:p>
            <a:pPr fontAlgn="base">
              <a:buFont typeface="+mj-lt"/>
              <a:buAutoNum type="arabicPeriod"/>
            </a:pPr>
            <a:r>
              <a:rPr lang="en-US" b="0" i="0" dirty="0" smtClean="0">
                <a:solidFill>
                  <a:srgbClr val="303030"/>
                </a:solidFill>
                <a:effectLst/>
                <a:latin typeface="Arimo"/>
              </a:rPr>
              <a:t>T1 reads X.</a:t>
            </a:r>
          </a:p>
          <a:p>
            <a:pPr fontAlgn="base">
              <a:buFont typeface="+mj-lt"/>
              <a:buAutoNum type="arabicPeriod"/>
            </a:pPr>
            <a:r>
              <a:rPr lang="en-US" b="0" i="0" dirty="0" smtClean="0">
                <a:solidFill>
                  <a:srgbClr val="303030"/>
                </a:solidFill>
                <a:effectLst/>
                <a:latin typeface="Arimo"/>
              </a:rPr>
              <a:t>T2 reads X.</a:t>
            </a:r>
          </a:p>
          <a:p>
            <a:pPr fontAlgn="base">
              <a:buFont typeface="+mj-lt"/>
              <a:buAutoNum type="arabicPeriod"/>
            </a:pPr>
            <a:r>
              <a:rPr lang="en-US" b="0" i="0" dirty="0" smtClean="0">
                <a:solidFill>
                  <a:srgbClr val="303030"/>
                </a:solidFill>
                <a:effectLst/>
                <a:latin typeface="Arimo"/>
              </a:rPr>
              <a:t>T1 deletes X.</a:t>
            </a:r>
          </a:p>
          <a:p>
            <a:pPr fontAlgn="base">
              <a:buFont typeface="+mj-lt"/>
              <a:buAutoNum type="arabicPeriod"/>
            </a:pPr>
            <a:r>
              <a:rPr lang="en-US" b="0" i="0" dirty="0" smtClean="0">
                <a:solidFill>
                  <a:srgbClr val="303030"/>
                </a:solidFill>
                <a:effectLst/>
                <a:latin typeface="Arimo"/>
              </a:rPr>
              <a:t>T2 tries reading X but does not find it.</a:t>
            </a:r>
          </a:p>
          <a:p>
            <a:pPr fontAlgn="base"/>
            <a:r>
              <a:rPr lang="en-US" b="0" i="0" dirty="0" smtClean="0">
                <a:solidFill>
                  <a:srgbClr val="303030"/>
                </a:solidFill>
                <a:effectLst/>
                <a:latin typeface="Arimo"/>
              </a:rPr>
              <a:t> </a:t>
            </a:r>
          </a:p>
          <a:p>
            <a:pPr fontAlgn="base"/>
            <a:r>
              <a:rPr lang="en-US" b="0" i="0" dirty="0" smtClean="0">
                <a:solidFill>
                  <a:srgbClr val="303030"/>
                </a:solidFill>
                <a:effectLst/>
                <a:latin typeface="Arimo"/>
              </a:rPr>
              <a:t>In this example,</a:t>
            </a:r>
          </a:p>
          <a:p>
            <a:pPr fontAlgn="base">
              <a:buFont typeface="Arial" panose="020B0604020202020204" pitchFamily="34" charset="0"/>
              <a:buChar char="•"/>
            </a:pPr>
            <a:r>
              <a:rPr lang="en-US" b="0" i="0" dirty="0" smtClean="0">
                <a:solidFill>
                  <a:srgbClr val="303030"/>
                </a:solidFill>
                <a:effectLst/>
                <a:latin typeface="Arimo"/>
              </a:rPr>
              <a:t>T2 finds that there does not exist any variable X when it tries reading X again.</a:t>
            </a:r>
          </a:p>
          <a:p>
            <a:pPr fontAlgn="base">
              <a:buFont typeface="Arial" panose="020B0604020202020204" pitchFamily="34" charset="0"/>
              <a:buChar char="•"/>
            </a:pPr>
            <a:r>
              <a:rPr lang="en-US" b="0" i="0" dirty="0" smtClean="0">
                <a:solidFill>
                  <a:srgbClr val="303030"/>
                </a:solidFill>
                <a:effectLst/>
                <a:latin typeface="Arimo"/>
              </a:rPr>
              <a:t>T2 wonders who deleted the variable X because according to it, it is running in isolation.</a:t>
            </a:r>
            <a:endParaRPr lang="en-US" b="0" i="0" dirty="0">
              <a:solidFill>
                <a:srgbClr val="303030"/>
              </a:solidFill>
              <a:effectLst/>
              <a:latin typeface="Arimo"/>
            </a:endParaRPr>
          </a:p>
        </p:txBody>
      </p:sp>
    </p:spTree>
    <p:extLst>
      <p:ext uri="{BB962C8B-B14F-4D97-AF65-F5344CB8AC3E}">
        <p14:creationId xmlns:p14="http://schemas.microsoft.com/office/powerpoint/2010/main" val="12497313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Thus, in order to maintain consistency in the database and avoid such problems that take place in concurrent execution, management is needed, and that is where the concept of Concurrency Control comes into role.</a:t>
            </a:r>
          </a:p>
          <a:p>
            <a:pPr marL="0" indent="0">
              <a:buNone/>
            </a:pPr>
            <a:endParaRPr lang="en-US" dirty="0"/>
          </a:p>
        </p:txBody>
      </p:sp>
    </p:spTree>
    <p:extLst>
      <p:ext uri="{BB962C8B-B14F-4D97-AF65-F5344CB8AC3E}">
        <p14:creationId xmlns:p14="http://schemas.microsoft.com/office/powerpoint/2010/main" val="21714788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US" altLang="en-US" sz="3600" dirty="0" smtClean="0"/>
              <a:t>Why </a:t>
            </a:r>
            <a:r>
              <a:rPr lang="en-US" altLang="en-US" sz="3600" b="1" dirty="0" smtClean="0"/>
              <a:t>recovery</a:t>
            </a:r>
            <a:r>
              <a:rPr lang="en-US" altLang="en-US" sz="3600" dirty="0" smtClean="0"/>
              <a:t> is needed: </a:t>
            </a:r>
          </a:p>
          <a:p>
            <a:pPr marL="0" indent="0" algn="ctr">
              <a:buNone/>
            </a:pPr>
            <a:endParaRPr lang="en-US" sz="3600" dirty="0"/>
          </a:p>
        </p:txBody>
      </p:sp>
    </p:spTree>
    <p:extLst>
      <p:ext uri="{BB962C8B-B14F-4D97-AF65-F5344CB8AC3E}">
        <p14:creationId xmlns:p14="http://schemas.microsoft.com/office/powerpoint/2010/main" val="20348573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2484B692-3C09-4084-BEC7-C8984094724F}" type="slidenum">
              <a:rPr lang="en-US" altLang="en-US" sz="1400">
                <a:solidFill>
                  <a:srgbClr val="990033"/>
                </a:solidFill>
              </a:rPr>
              <a:pPr>
                <a:spcBef>
                  <a:spcPct val="0"/>
                </a:spcBef>
                <a:buClrTx/>
                <a:buSzTx/>
                <a:buFontTx/>
                <a:buNone/>
              </a:pPr>
              <a:t>29</a:t>
            </a:fld>
            <a:endParaRPr lang="en-CA" altLang="en-US" sz="1400">
              <a:solidFill>
                <a:srgbClr val="990033"/>
              </a:solidFill>
            </a:endParaRPr>
          </a:p>
        </p:txBody>
      </p:sp>
      <p:sp>
        <p:nvSpPr>
          <p:cNvPr id="45059" name="Rectangle 4"/>
          <p:cNvSpPr>
            <a:spLocks noGrp="1" noChangeArrowheads="1"/>
          </p:cNvSpPr>
          <p:nvPr>
            <p:ph type="title"/>
          </p:nvPr>
        </p:nvSpPr>
        <p:spPr>
          <a:xfrm>
            <a:off x="1752600" y="303214"/>
            <a:ext cx="8305800" cy="992187"/>
          </a:xfrm>
        </p:spPr>
        <p:txBody>
          <a:bodyPr>
            <a:normAutofit fontScale="90000"/>
          </a:bodyPr>
          <a:lstStyle/>
          <a:p>
            <a:pPr eaLnBrk="1" hangingPunct="1"/>
            <a:r>
              <a:rPr lang="en-US" altLang="en-US" smtClean="0"/>
              <a:t>Introduction to Transaction Processing</a:t>
            </a:r>
          </a:p>
        </p:txBody>
      </p:sp>
      <p:sp>
        <p:nvSpPr>
          <p:cNvPr id="45060" name="Rectangle 5"/>
          <p:cNvSpPr>
            <a:spLocks noGrp="1" noChangeArrowheads="1"/>
          </p:cNvSpPr>
          <p:nvPr>
            <p:ph type="body" idx="1"/>
          </p:nvPr>
        </p:nvSpPr>
        <p:spPr>
          <a:xfrm>
            <a:off x="838200" y="1361985"/>
            <a:ext cx="10515600" cy="4351338"/>
          </a:xfrm>
        </p:spPr>
        <p:txBody>
          <a:bodyPr>
            <a:normAutofit/>
          </a:bodyPr>
          <a:lstStyle/>
          <a:p>
            <a:pPr marL="533400" indent="-533400">
              <a:lnSpc>
                <a:spcPct val="80000"/>
              </a:lnSpc>
              <a:buNone/>
            </a:pPr>
            <a:r>
              <a:rPr lang="en-US" altLang="en-US" dirty="0"/>
              <a:t>Why </a:t>
            </a:r>
            <a:r>
              <a:rPr lang="en-US" altLang="en-US" b="1" dirty="0"/>
              <a:t>recovery</a:t>
            </a:r>
            <a:r>
              <a:rPr lang="en-US" altLang="en-US" dirty="0"/>
              <a:t> is needed: </a:t>
            </a:r>
          </a:p>
          <a:p>
            <a:pPr marL="533400" indent="-533400">
              <a:lnSpc>
                <a:spcPct val="80000"/>
              </a:lnSpc>
              <a:buNone/>
            </a:pPr>
            <a:r>
              <a:rPr lang="en-US" altLang="en-US" dirty="0"/>
              <a:t>(What causes a Transaction to fail)</a:t>
            </a:r>
          </a:p>
          <a:p>
            <a:pPr marL="952500" lvl="1" indent="-495300">
              <a:lnSpc>
                <a:spcPct val="80000"/>
              </a:lnSpc>
              <a:buNone/>
            </a:pPr>
            <a:r>
              <a:rPr lang="en-US" altLang="en-US" dirty="0"/>
              <a:t>1. A computer failure (system crash):</a:t>
            </a:r>
          </a:p>
          <a:p>
            <a:pPr marL="1371600" lvl="2" indent="-457200">
              <a:lnSpc>
                <a:spcPct val="80000"/>
              </a:lnSpc>
              <a:buNone/>
            </a:pPr>
            <a:r>
              <a:rPr lang="en-US" altLang="en-US" sz="2400" dirty="0"/>
              <a:t>A hardware or software error occurs in the computer system during transaction execution. If the hardware crashes, the contents of the computer’s internal memory may be lost.</a:t>
            </a:r>
          </a:p>
          <a:p>
            <a:pPr marL="952500" lvl="1" indent="-495300">
              <a:lnSpc>
                <a:spcPct val="80000"/>
              </a:lnSpc>
              <a:buNone/>
            </a:pPr>
            <a:r>
              <a:rPr lang="en-US" altLang="en-US" dirty="0"/>
              <a:t>2. A transaction or system error:</a:t>
            </a:r>
          </a:p>
          <a:p>
            <a:pPr marL="1371600" lvl="2" indent="-457200">
              <a:lnSpc>
                <a:spcPct val="80000"/>
              </a:lnSpc>
              <a:buNone/>
            </a:pPr>
            <a:r>
              <a:rPr lang="en-US" altLang="en-US" sz="2400" dirty="0"/>
              <a:t>Some operation in the transaction may cause it to fail, such as integer overflow or division by zero. Transaction failure may also occur because of erroneous parameter values or because of a logical programming error. In addition, the user may interrupt the transaction during its execution.</a:t>
            </a:r>
          </a:p>
        </p:txBody>
      </p:sp>
    </p:spTree>
    <p:extLst>
      <p:ext uri="{BB962C8B-B14F-4D97-AF65-F5344CB8AC3E}">
        <p14:creationId xmlns:p14="http://schemas.microsoft.com/office/powerpoint/2010/main" val="31921879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F767812F-1DAB-4D2E-8B77-D4DA06149D5F}" type="slidenum">
              <a:rPr lang="en-US" altLang="en-US" sz="1400">
                <a:solidFill>
                  <a:srgbClr val="990033"/>
                </a:solidFill>
              </a:rPr>
              <a:pPr>
                <a:spcBef>
                  <a:spcPct val="0"/>
                </a:spcBef>
                <a:buClrTx/>
                <a:buSzTx/>
                <a:buFontTx/>
                <a:buNone/>
              </a:pPr>
              <a:t>30</a:t>
            </a:fld>
            <a:endParaRPr lang="en-CA" altLang="en-US" sz="1400">
              <a:solidFill>
                <a:srgbClr val="990033"/>
              </a:solidFill>
            </a:endParaRPr>
          </a:p>
        </p:txBody>
      </p:sp>
      <p:sp>
        <p:nvSpPr>
          <p:cNvPr id="47107" name="Rectangle 2"/>
          <p:cNvSpPr>
            <a:spLocks noGrp="1" noChangeArrowheads="1"/>
          </p:cNvSpPr>
          <p:nvPr>
            <p:ph type="title"/>
          </p:nvPr>
        </p:nvSpPr>
        <p:spPr>
          <a:xfrm>
            <a:off x="1752600" y="303214"/>
            <a:ext cx="8001000" cy="992187"/>
          </a:xfrm>
        </p:spPr>
        <p:txBody>
          <a:bodyPr>
            <a:normAutofit fontScale="90000"/>
          </a:bodyPr>
          <a:lstStyle/>
          <a:p>
            <a:pPr eaLnBrk="1" hangingPunct="1"/>
            <a:r>
              <a:rPr lang="en-US" altLang="en-US" smtClean="0"/>
              <a:t>Introduction to Transaction Processing</a:t>
            </a:r>
          </a:p>
        </p:txBody>
      </p:sp>
      <p:sp>
        <p:nvSpPr>
          <p:cNvPr id="47108" name="Rectangle 3"/>
          <p:cNvSpPr>
            <a:spLocks noGrp="1" noChangeArrowheads="1"/>
          </p:cNvSpPr>
          <p:nvPr>
            <p:ph type="body" idx="1"/>
          </p:nvPr>
        </p:nvSpPr>
        <p:spPr>
          <a:xfrm>
            <a:off x="838200" y="1287887"/>
            <a:ext cx="10515600" cy="4889076"/>
          </a:xfrm>
        </p:spPr>
        <p:txBody>
          <a:bodyPr/>
          <a:lstStyle/>
          <a:p>
            <a:pPr marL="533400" indent="-533400">
              <a:lnSpc>
                <a:spcPct val="80000"/>
              </a:lnSpc>
              <a:buNone/>
            </a:pPr>
            <a:r>
              <a:rPr lang="en-US" altLang="en-US" sz="2400" dirty="0"/>
              <a:t>Why </a:t>
            </a:r>
            <a:r>
              <a:rPr lang="en-US" altLang="en-US" sz="2400" b="1" dirty="0"/>
              <a:t>recovery</a:t>
            </a:r>
            <a:r>
              <a:rPr lang="en-US" altLang="en-US" sz="2400" dirty="0"/>
              <a:t> is needed (Contd.): </a:t>
            </a:r>
          </a:p>
          <a:p>
            <a:pPr marL="533400" indent="-533400">
              <a:lnSpc>
                <a:spcPct val="80000"/>
              </a:lnSpc>
              <a:buNone/>
            </a:pPr>
            <a:r>
              <a:rPr lang="en-US" altLang="en-US" sz="2400" dirty="0"/>
              <a:t>(What causes a Transaction to fail)</a:t>
            </a:r>
          </a:p>
          <a:p>
            <a:pPr marL="952500" lvl="1" indent="-495300">
              <a:lnSpc>
                <a:spcPct val="80000"/>
              </a:lnSpc>
              <a:buNone/>
            </a:pPr>
            <a:r>
              <a:rPr lang="en-US" altLang="en-US" sz="2300" dirty="0"/>
              <a:t>3. Local errors or exception conditions detected by the transaction:</a:t>
            </a:r>
          </a:p>
          <a:p>
            <a:pPr marL="1371600" lvl="2" indent="-457200">
              <a:lnSpc>
                <a:spcPct val="80000"/>
              </a:lnSpc>
              <a:buNone/>
            </a:pPr>
            <a:r>
              <a:rPr lang="en-US" altLang="en-US" dirty="0"/>
              <a:t>Certain conditions necessitate cancellation of the transaction. For example, data for the transaction may not be found. A condition, such as insufficient account balance in a banking database, may cause a transaction, such as a fund withdrawal from that account, to be canceled. </a:t>
            </a:r>
          </a:p>
          <a:p>
            <a:pPr marL="1371600" lvl="2" indent="-457200">
              <a:lnSpc>
                <a:spcPct val="80000"/>
              </a:lnSpc>
              <a:buNone/>
            </a:pPr>
            <a:r>
              <a:rPr lang="en-US" altLang="en-US" dirty="0"/>
              <a:t>A programmed abort in the transaction causes it to fail.</a:t>
            </a:r>
          </a:p>
          <a:p>
            <a:pPr marL="952500" lvl="1" indent="-495300">
              <a:lnSpc>
                <a:spcPct val="80000"/>
              </a:lnSpc>
              <a:buNone/>
            </a:pPr>
            <a:r>
              <a:rPr lang="en-US" altLang="en-US" sz="2300" dirty="0"/>
              <a:t>4. Concurrency control enforcement:</a:t>
            </a:r>
          </a:p>
          <a:p>
            <a:pPr marL="1371600" lvl="2" indent="-457200">
              <a:lnSpc>
                <a:spcPct val="80000"/>
              </a:lnSpc>
              <a:buNone/>
            </a:pPr>
            <a:r>
              <a:rPr lang="en-US" altLang="en-US" dirty="0"/>
              <a:t>The concurrency control method may decide to abort the transaction, to be restarted later, because it violates serializability or because several transactions are in a state of deadlock (see </a:t>
            </a:r>
            <a:r>
              <a:rPr lang="en-US" altLang="en-US" dirty="0" smtClean="0"/>
              <a:t>later).</a:t>
            </a:r>
            <a:endParaRPr lang="en-US" altLang="en-US" dirty="0"/>
          </a:p>
        </p:txBody>
      </p:sp>
    </p:spTree>
    <p:extLst>
      <p:ext uri="{BB962C8B-B14F-4D97-AF65-F5344CB8AC3E}">
        <p14:creationId xmlns:p14="http://schemas.microsoft.com/office/powerpoint/2010/main" val="5050920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084C8FC9-0A09-4408-8672-F98FD5F9D973}" type="slidenum">
              <a:rPr lang="en-US" altLang="en-US" sz="1400">
                <a:solidFill>
                  <a:srgbClr val="990033"/>
                </a:solidFill>
              </a:rPr>
              <a:pPr>
                <a:spcBef>
                  <a:spcPct val="0"/>
                </a:spcBef>
                <a:buClrTx/>
                <a:buSzTx/>
                <a:buFontTx/>
                <a:buNone/>
              </a:pPr>
              <a:t>31</a:t>
            </a:fld>
            <a:endParaRPr lang="en-CA" altLang="en-US" sz="1400">
              <a:solidFill>
                <a:srgbClr val="990033"/>
              </a:solidFill>
            </a:endParaRPr>
          </a:p>
        </p:txBody>
      </p:sp>
      <p:sp>
        <p:nvSpPr>
          <p:cNvPr id="49155" name="Rectangle 2"/>
          <p:cNvSpPr>
            <a:spLocks noGrp="1" noChangeArrowheads="1"/>
          </p:cNvSpPr>
          <p:nvPr>
            <p:ph type="title"/>
          </p:nvPr>
        </p:nvSpPr>
        <p:spPr>
          <a:xfrm>
            <a:off x="1752600" y="303214"/>
            <a:ext cx="8077200" cy="992187"/>
          </a:xfrm>
        </p:spPr>
        <p:txBody>
          <a:bodyPr>
            <a:normAutofit fontScale="90000"/>
          </a:bodyPr>
          <a:lstStyle/>
          <a:p>
            <a:pPr eaLnBrk="1" hangingPunct="1"/>
            <a:r>
              <a:rPr lang="en-US" altLang="en-US" smtClean="0"/>
              <a:t>Introduction to Transaction Processing</a:t>
            </a:r>
          </a:p>
        </p:txBody>
      </p:sp>
      <p:sp>
        <p:nvSpPr>
          <p:cNvPr id="49156" name="Rectangle 3"/>
          <p:cNvSpPr>
            <a:spLocks noGrp="1" noChangeArrowheads="1"/>
          </p:cNvSpPr>
          <p:nvPr>
            <p:ph type="body" idx="1"/>
          </p:nvPr>
        </p:nvSpPr>
        <p:spPr>
          <a:xfrm>
            <a:off x="838200" y="1352282"/>
            <a:ext cx="10515600" cy="4824681"/>
          </a:xfrm>
        </p:spPr>
        <p:txBody>
          <a:bodyPr>
            <a:normAutofit/>
          </a:bodyPr>
          <a:lstStyle/>
          <a:p>
            <a:pPr marL="533400" indent="-533400">
              <a:lnSpc>
                <a:spcPct val="80000"/>
              </a:lnSpc>
              <a:buNone/>
            </a:pPr>
            <a:r>
              <a:rPr lang="en-US" altLang="en-US" sz="3200" dirty="0" smtClean="0"/>
              <a:t>Why </a:t>
            </a:r>
            <a:r>
              <a:rPr lang="en-US" altLang="en-US" sz="3200" b="1" dirty="0" smtClean="0"/>
              <a:t>recovery</a:t>
            </a:r>
            <a:r>
              <a:rPr lang="en-US" altLang="en-US" sz="3200" dirty="0" smtClean="0"/>
              <a:t> is needed (contd.): </a:t>
            </a:r>
          </a:p>
          <a:p>
            <a:pPr marL="533400" indent="-533400">
              <a:lnSpc>
                <a:spcPct val="80000"/>
              </a:lnSpc>
              <a:buNone/>
            </a:pPr>
            <a:r>
              <a:rPr lang="en-US" altLang="en-US" sz="3200" dirty="0" smtClean="0"/>
              <a:t>(What causes a Transaction to fail)</a:t>
            </a:r>
          </a:p>
          <a:p>
            <a:pPr marL="952500" lvl="1" indent="-495300">
              <a:lnSpc>
                <a:spcPct val="80000"/>
              </a:lnSpc>
              <a:buNone/>
            </a:pPr>
            <a:r>
              <a:rPr lang="en-US" altLang="en-US" sz="2800" dirty="0"/>
              <a:t>5. Disk failure:</a:t>
            </a:r>
          </a:p>
          <a:p>
            <a:pPr marL="1371600" lvl="2" indent="-457200">
              <a:lnSpc>
                <a:spcPct val="80000"/>
              </a:lnSpc>
              <a:buNone/>
            </a:pPr>
            <a:r>
              <a:rPr lang="en-US" altLang="en-US" sz="2400" dirty="0" smtClean="0"/>
              <a:t>Some disk blocks may lose their data because of a read or write malfunction or because of a disk read/write head crash. This may happen during a read or a write operation of the transaction.</a:t>
            </a:r>
          </a:p>
          <a:p>
            <a:pPr marL="952500" lvl="1" indent="-495300">
              <a:lnSpc>
                <a:spcPct val="80000"/>
              </a:lnSpc>
              <a:buNone/>
            </a:pPr>
            <a:r>
              <a:rPr lang="en-US" altLang="en-US" sz="2800" dirty="0"/>
              <a:t>6. Physical problems and catastrophes:</a:t>
            </a:r>
          </a:p>
          <a:p>
            <a:pPr marL="1371600" lvl="2" indent="-457200">
              <a:lnSpc>
                <a:spcPct val="80000"/>
              </a:lnSpc>
              <a:buNone/>
            </a:pPr>
            <a:r>
              <a:rPr lang="en-US" altLang="en-US" sz="2400" dirty="0" smtClean="0"/>
              <a:t>This refers to an endless list of problems that includes power or air-conditioning failure, fire, theft, sabotage, overwriting disks or tapes by mistake, and mounting of a wrong tape by the operator. </a:t>
            </a:r>
          </a:p>
        </p:txBody>
      </p:sp>
    </p:spTree>
    <p:extLst>
      <p:ext uri="{BB962C8B-B14F-4D97-AF65-F5344CB8AC3E}">
        <p14:creationId xmlns:p14="http://schemas.microsoft.com/office/powerpoint/2010/main" val="21067327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43B351C8-8E01-4ECA-AD56-463EDDE2A960}" type="slidenum">
              <a:rPr lang="en-US" altLang="en-US" sz="1400">
                <a:solidFill>
                  <a:srgbClr val="990033"/>
                </a:solidFill>
              </a:rPr>
              <a:pPr>
                <a:spcBef>
                  <a:spcPct val="0"/>
                </a:spcBef>
                <a:buClrTx/>
                <a:buSzTx/>
                <a:buFontTx/>
                <a:buNone/>
              </a:pPr>
              <a:t>32</a:t>
            </a:fld>
            <a:endParaRPr lang="en-CA" altLang="en-US" sz="1400">
              <a:solidFill>
                <a:srgbClr val="990033"/>
              </a:solidFill>
            </a:endParaRPr>
          </a:p>
        </p:txBody>
      </p:sp>
      <p:sp>
        <p:nvSpPr>
          <p:cNvPr id="51203" name="Rectangle 4"/>
          <p:cNvSpPr>
            <a:spLocks noGrp="1" noChangeArrowheads="1"/>
          </p:cNvSpPr>
          <p:nvPr>
            <p:ph type="title"/>
          </p:nvPr>
        </p:nvSpPr>
        <p:spPr/>
        <p:txBody>
          <a:bodyPr/>
          <a:lstStyle/>
          <a:p>
            <a:pPr eaLnBrk="1" hangingPunct="1"/>
            <a:r>
              <a:rPr lang="en-US" altLang="en-US" sz="3200"/>
              <a:t>Transaction and System Concepts</a:t>
            </a:r>
          </a:p>
        </p:txBody>
      </p:sp>
      <p:sp>
        <p:nvSpPr>
          <p:cNvPr id="51204" name="Rectangle 5"/>
          <p:cNvSpPr>
            <a:spLocks noGrp="1" noChangeArrowheads="1"/>
          </p:cNvSpPr>
          <p:nvPr>
            <p:ph type="body" idx="1"/>
          </p:nvPr>
        </p:nvSpPr>
        <p:spPr>
          <a:xfrm>
            <a:off x="786685" y="1323349"/>
            <a:ext cx="10515600" cy="4351338"/>
          </a:xfrm>
        </p:spPr>
        <p:txBody>
          <a:bodyPr>
            <a:normAutofit/>
          </a:bodyPr>
          <a:lstStyle/>
          <a:p>
            <a:pPr eaLnBrk="1" hangingPunct="1"/>
            <a:r>
              <a:rPr lang="en-US" altLang="en-US" sz="3200" dirty="0" smtClean="0"/>
              <a:t>The System Log</a:t>
            </a:r>
          </a:p>
          <a:p>
            <a:pPr lvl="1" eaLnBrk="1" hangingPunct="1"/>
            <a:r>
              <a:rPr lang="en-US" altLang="en-US" sz="2800" b="1" dirty="0" smtClean="0"/>
              <a:t>Log</a:t>
            </a:r>
            <a:r>
              <a:rPr lang="en-US" altLang="en-US" sz="2800" dirty="0" smtClean="0"/>
              <a:t> or </a:t>
            </a:r>
            <a:r>
              <a:rPr lang="en-US" altLang="en-US" sz="2800" b="1" dirty="0" smtClean="0"/>
              <a:t>Journal</a:t>
            </a:r>
            <a:r>
              <a:rPr lang="en-US" altLang="en-US" sz="2800" dirty="0" smtClean="0"/>
              <a:t>: The log keeps track of all transaction operations that affect the values of database items.</a:t>
            </a:r>
          </a:p>
          <a:p>
            <a:pPr lvl="2" eaLnBrk="1" hangingPunct="1"/>
            <a:r>
              <a:rPr lang="en-US" altLang="en-US" sz="2400" dirty="0" smtClean="0"/>
              <a:t>This information may be needed to permit recovery from transaction failures.</a:t>
            </a:r>
          </a:p>
          <a:p>
            <a:pPr lvl="2" eaLnBrk="1" hangingPunct="1"/>
            <a:r>
              <a:rPr lang="en-US" altLang="en-US" sz="2400" dirty="0" smtClean="0"/>
              <a:t>The log is kept on disk, so it is not affected by any type of failure except for disk or catastrophic failure.</a:t>
            </a:r>
          </a:p>
          <a:p>
            <a:pPr lvl="2" eaLnBrk="1" hangingPunct="1"/>
            <a:r>
              <a:rPr lang="en-US" altLang="en-US" sz="2400" dirty="0" smtClean="0"/>
              <a:t>In addition, the log is periodically backed up to archival storage (tape) to guard against such catastrophic failures.  </a:t>
            </a:r>
          </a:p>
        </p:txBody>
      </p:sp>
    </p:spTree>
    <p:extLst>
      <p:ext uri="{BB962C8B-B14F-4D97-AF65-F5344CB8AC3E}">
        <p14:creationId xmlns:p14="http://schemas.microsoft.com/office/powerpoint/2010/main" val="26984372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459C7354-A890-46E0-90BC-3151E618405F}" type="slidenum">
              <a:rPr lang="en-US" altLang="en-US" sz="1400">
                <a:solidFill>
                  <a:srgbClr val="990033"/>
                </a:solidFill>
              </a:rPr>
              <a:pPr>
                <a:spcBef>
                  <a:spcPct val="0"/>
                </a:spcBef>
                <a:buClrTx/>
                <a:buSzTx/>
                <a:buFontTx/>
                <a:buNone/>
              </a:pPr>
              <a:t>33</a:t>
            </a:fld>
            <a:endParaRPr lang="en-CA" altLang="en-US" sz="1400">
              <a:solidFill>
                <a:srgbClr val="990033"/>
              </a:solidFill>
            </a:endParaRPr>
          </a:p>
        </p:txBody>
      </p:sp>
      <p:sp>
        <p:nvSpPr>
          <p:cNvPr id="53252" name="Rectangle 5"/>
          <p:cNvSpPr>
            <a:spLocks noGrp="1" noChangeArrowheads="1"/>
          </p:cNvSpPr>
          <p:nvPr>
            <p:ph type="body" idx="1"/>
          </p:nvPr>
        </p:nvSpPr>
        <p:spPr>
          <a:xfrm>
            <a:off x="838200" y="679405"/>
            <a:ext cx="10515600" cy="4858510"/>
          </a:xfrm>
        </p:spPr>
        <p:txBody>
          <a:bodyPr>
            <a:noAutofit/>
          </a:bodyPr>
          <a:lstStyle/>
          <a:p>
            <a:pPr eaLnBrk="1" hangingPunct="1">
              <a:lnSpc>
                <a:spcPct val="80000"/>
              </a:lnSpc>
            </a:pPr>
            <a:r>
              <a:rPr lang="en-US" altLang="en-US" dirty="0"/>
              <a:t>The System Log (</a:t>
            </a:r>
            <a:r>
              <a:rPr lang="en-US" altLang="en-US" dirty="0" err="1"/>
              <a:t>cont</a:t>
            </a:r>
            <a:r>
              <a:rPr lang="en-US" altLang="en-US" dirty="0"/>
              <a:t>):</a:t>
            </a:r>
          </a:p>
          <a:p>
            <a:pPr lvl="1" eaLnBrk="1" hangingPunct="1">
              <a:lnSpc>
                <a:spcPct val="80000"/>
              </a:lnSpc>
            </a:pPr>
            <a:r>
              <a:rPr lang="en-US" altLang="en-US" dirty="0"/>
              <a:t>T in the following discussion refers to a unique </a:t>
            </a:r>
            <a:r>
              <a:rPr lang="en-US" altLang="en-US" b="1" dirty="0"/>
              <a:t>transaction-id</a:t>
            </a:r>
            <a:r>
              <a:rPr lang="en-US" altLang="en-US" dirty="0"/>
              <a:t> that is generated automatically by the system and is used to identify each transaction: </a:t>
            </a:r>
          </a:p>
          <a:p>
            <a:pPr lvl="1" eaLnBrk="1" hangingPunct="1">
              <a:lnSpc>
                <a:spcPct val="80000"/>
              </a:lnSpc>
            </a:pPr>
            <a:r>
              <a:rPr lang="en-US" altLang="en-US" dirty="0"/>
              <a:t>Types of log record: </a:t>
            </a:r>
          </a:p>
          <a:p>
            <a:pPr lvl="2" eaLnBrk="1" hangingPunct="1">
              <a:lnSpc>
                <a:spcPct val="80000"/>
              </a:lnSpc>
            </a:pPr>
            <a:r>
              <a:rPr lang="en-US" altLang="en-US" sz="2400" dirty="0"/>
              <a:t>[start_transaction,T]: Records that transaction T has started execution.</a:t>
            </a:r>
          </a:p>
          <a:p>
            <a:pPr lvl="2" eaLnBrk="1" hangingPunct="1">
              <a:lnSpc>
                <a:spcPct val="80000"/>
              </a:lnSpc>
            </a:pPr>
            <a:r>
              <a:rPr lang="en-US" altLang="en-US" sz="2400" dirty="0"/>
              <a:t>[</a:t>
            </a:r>
            <a:r>
              <a:rPr lang="en-US" altLang="en-US" sz="2400" dirty="0" err="1"/>
              <a:t>write_item,T,X,old_value,new_value</a:t>
            </a:r>
            <a:r>
              <a:rPr lang="en-US" altLang="en-US" sz="2400" dirty="0"/>
              <a:t>]: Records that transaction T has changed the value of database item X from </a:t>
            </a:r>
            <a:r>
              <a:rPr lang="en-US" altLang="en-US" sz="2400" dirty="0" err="1"/>
              <a:t>old_value</a:t>
            </a:r>
            <a:r>
              <a:rPr lang="en-US" altLang="en-US" sz="2400" dirty="0"/>
              <a:t> to </a:t>
            </a:r>
            <a:r>
              <a:rPr lang="en-US" altLang="en-US" sz="2400" dirty="0" err="1"/>
              <a:t>new_value</a:t>
            </a:r>
            <a:r>
              <a:rPr lang="en-US" altLang="en-US" sz="2400" dirty="0"/>
              <a:t>.</a:t>
            </a:r>
          </a:p>
          <a:p>
            <a:pPr lvl="2" eaLnBrk="1" hangingPunct="1">
              <a:lnSpc>
                <a:spcPct val="80000"/>
              </a:lnSpc>
            </a:pPr>
            <a:r>
              <a:rPr lang="en-US" altLang="en-US" sz="2400" dirty="0"/>
              <a:t>[</a:t>
            </a:r>
            <a:r>
              <a:rPr lang="en-US" altLang="en-US" sz="2400" dirty="0" err="1"/>
              <a:t>read_item,T,X</a:t>
            </a:r>
            <a:r>
              <a:rPr lang="en-US" altLang="en-US" sz="2400" dirty="0"/>
              <a:t>]: Records that transaction T  has read the value of database item X.</a:t>
            </a:r>
          </a:p>
          <a:p>
            <a:pPr lvl="2" eaLnBrk="1" hangingPunct="1">
              <a:lnSpc>
                <a:spcPct val="80000"/>
              </a:lnSpc>
            </a:pPr>
            <a:r>
              <a:rPr lang="en-US" altLang="en-US" sz="2400" dirty="0"/>
              <a:t>[</a:t>
            </a:r>
            <a:r>
              <a:rPr lang="en-US" altLang="en-US" sz="2400" dirty="0" err="1"/>
              <a:t>commit,T</a:t>
            </a:r>
            <a:r>
              <a:rPr lang="en-US" altLang="en-US" sz="2400" dirty="0"/>
              <a:t>]: Records that transaction T has completed successfully, and affirms that its effect can be committed (recorded permanently) to the database.</a:t>
            </a:r>
          </a:p>
          <a:p>
            <a:pPr lvl="2" eaLnBrk="1" hangingPunct="1">
              <a:lnSpc>
                <a:spcPct val="80000"/>
              </a:lnSpc>
            </a:pPr>
            <a:r>
              <a:rPr lang="en-US" altLang="en-US" sz="2400" dirty="0"/>
              <a:t>[</a:t>
            </a:r>
            <a:r>
              <a:rPr lang="en-US" altLang="en-US" sz="2400" dirty="0" err="1"/>
              <a:t>abort,T</a:t>
            </a:r>
            <a:r>
              <a:rPr lang="en-US" altLang="en-US" sz="2400" dirty="0"/>
              <a:t>]: Records that transaction T has been aborted. </a:t>
            </a:r>
          </a:p>
        </p:txBody>
      </p:sp>
    </p:spTree>
    <p:extLst>
      <p:ext uri="{BB962C8B-B14F-4D97-AF65-F5344CB8AC3E}">
        <p14:creationId xmlns:p14="http://schemas.microsoft.com/office/powerpoint/2010/main" val="30804942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1CD9AA59-5EDA-4531-9263-BC0DF87D6E1F}" type="slidenum">
              <a:rPr lang="en-US" altLang="en-US" sz="1400">
                <a:solidFill>
                  <a:srgbClr val="990033"/>
                </a:solidFill>
              </a:rPr>
              <a:pPr>
                <a:spcBef>
                  <a:spcPct val="0"/>
                </a:spcBef>
                <a:buClrTx/>
                <a:buSzTx/>
                <a:buFontTx/>
                <a:buNone/>
              </a:pPr>
              <a:t>34</a:t>
            </a:fld>
            <a:endParaRPr lang="en-CA" altLang="en-US" sz="1400">
              <a:solidFill>
                <a:srgbClr val="990033"/>
              </a:solidFill>
            </a:endParaRPr>
          </a:p>
        </p:txBody>
      </p:sp>
      <p:sp>
        <p:nvSpPr>
          <p:cNvPr id="55300" name="Rectangle 5"/>
          <p:cNvSpPr>
            <a:spLocks noGrp="1" noChangeArrowheads="1"/>
          </p:cNvSpPr>
          <p:nvPr>
            <p:ph type="body" idx="1"/>
          </p:nvPr>
        </p:nvSpPr>
        <p:spPr>
          <a:xfrm>
            <a:off x="838200" y="1365161"/>
            <a:ext cx="10515600" cy="4811802"/>
          </a:xfrm>
        </p:spPr>
        <p:txBody>
          <a:bodyPr>
            <a:normAutofit/>
          </a:bodyPr>
          <a:lstStyle/>
          <a:p>
            <a:pPr algn="just" eaLnBrk="1" hangingPunct="1">
              <a:lnSpc>
                <a:spcPct val="80000"/>
              </a:lnSpc>
              <a:buFont typeface="Wingdings" panose="05000000000000000000" pitchFamily="2" charset="2"/>
              <a:buNone/>
            </a:pPr>
            <a:r>
              <a:rPr lang="en-US" altLang="en-US" dirty="0"/>
              <a:t>Commit Point of a Transaction:</a:t>
            </a:r>
          </a:p>
          <a:p>
            <a:pPr algn="just" eaLnBrk="1" hangingPunct="1">
              <a:lnSpc>
                <a:spcPct val="80000"/>
              </a:lnSpc>
            </a:pPr>
            <a:r>
              <a:rPr lang="en-US" altLang="en-US" b="1" dirty="0"/>
              <a:t>Definition a Commit Point: </a:t>
            </a:r>
          </a:p>
          <a:p>
            <a:pPr lvl="1" algn="just" eaLnBrk="1" hangingPunct="1">
              <a:lnSpc>
                <a:spcPct val="80000"/>
              </a:lnSpc>
            </a:pPr>
            <a:r>
              <a:rPr lang="en-US" altLang="en-US" dirty="0"/>
              <a:t>A transaction T reaches its </a:t>
            </a:r>
            <a:r>
              <a:rPr lang="en-US" altLang="en-US" b="1" dirty="0"/>
              <a:t>commit point</a:t>
            </a:r>
            <a:r>
              <a:rPr lang="en-US" altLang="en-US" dirty="0"/>
              <a:t> when all its operations that access the database have been executed successfully </a:t>
            </a:r>
            <a:r>
              <a:rPr lang="en-US" altLang="en-US" i="1" dirty="0"/>
              <a:t>and</a:t>
            </a:r>
            <a:r>
              <a:rPr lang="en-US" altLang="en-US" dirty="0"/>
              <a:t> the effect of all the transaction operations on the database has been recorded in the log.</a:t>
            </a:r>
          </a:p>
          <a:p>
            <a:pPr lvl="1" algn="just" eaLnBrk="1" hangingPunct="1">
              <a:lnSpc>
                <a:spcPct val="80000"/>
              </a:lnSpc>
            </a:pPr>
            <a:r>
              <a:rPr lang="en-US" altLang="en-US" dirty="0"/>
              <a:t>Beyond the commit point, the transaction is said to be committed, and its effect is assumed to be permanently recorded in the database.</a:t>
            </a:r>
          </a:p>
          <a:p>
            <a:pPr lvl="1" algn="just" eaLnBrk="1" hangingPunct="1">
              <a:lnSpc>
                <a:spcPct val="80000"/>
              </a:lnSpc>
            </a:pPr>
            <a:r>
              <a:rPr lang="en-US" altLang="en-US" dirty="0"/>
              <a:t>The transaction then writes an entry [commit</a:t>
            </a:r>
            <a:r>
              <a:rPr lang="en-US" altLang="en-US" dirty="0" smtClean="0"/>
              <a:t>, T</a:t>
            </a:r>
            <a:r>
              <a:rPr lang="en-US" altLang="en-US" dirty="0"/>
              <a:t>] into the log. </a:t>
            </a:r>
          </a:p>
          <a:p>
            <a:pPr algn="just" eaLnBrk="1" hangingPunct="1">
              <a:lnSpc>
                <a:spcPct val="80000"/>
              </a:lnSpc>
            </a:pPr>
            <a:r>
              <a:rPr lang="en-US" altLang="en-US" b="1" dirty="0"/>
              <a:t>Roll Back of transactions:</a:t>
            </a:r>
          </a:p>
          <a:p>
            <a:pPr lvl="1" algn="just" eaLnBrk="1" hangingPunct="1">
              <a:lnSpc>
                <a:spcPct val="80000"/>
              </a:lnSpc>
            </a:pPr>
            <a:r>
              <a:rPr lang="en-US" altLang="en-US" dirty="0"/>
              <a:t>Needed for transactions that have a [start_transaction,T] entry into the log but no commit entry </a:t>
            </a:r>
            <a:r>
              <a:rPr lang="en-US" altLang="en-US" dirty="0" smtClean="0"/>
              <a:t>[commit, T] </a:t>
            </a:r>
            <a:r>
              <a:rPr lang="en-US" altLang="en-US" dirty="0"/>
              <a:t>into the log. </a:t>
            </a:r>
          </a:p>
        </p:txBody>
      </p:sp>
    </p:spTree>
    <p:extLst>
      <p:ext uri="{BB962C8B-B14F-4D97-AF65-F5344CB8AC3E}">
        <p14:creationId xmlns:p14="http://schemas.microsoft.com/office/powerpoint/2010/main" val="20813493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B7110DEF-9F60-421B-B136-4A70127DF939}" type="slidenum">
              <a:rPr lang="en-US" altLang="en-US" sz="1400">
                <a:solidFill>
                  <a:srgbClr val="990033"/>
                </a:solidFill>
              </a:rPr>
              <a:pPr>
                <a:spcBef>
                  <a:spcPct val="0"/>
                </a:spcBef>
                <a:buClrTx/>
                <a:buSzTx/>
                <a:buFontTx/>
                <a:buNone/>
              </a:pPr>
              <a:t>35</a:t>
            </a:fld>
            <a:endParaRPr lang="en-CA" altLang="en-US" sz="1400">
              <a:solidFill>
                <a:srgbClr val="990033"/>
              </a:solidFill>
            </a:endParaRPr>
          </a:p>
        </p:txBody>
      </p:sp>
      <p:sp>
        <p:nvSpPr>
          <p:cNvPr id="57348" name="Rectangle 5"/>
          <p:cNvSpPr>
            <a:spLocks noGrp="1" noChangeArrowheads="1"/>
          </p:cNvSpPr>
          <p:nvPr>
            <p:ph type="body" idx="1"/>
          </p:nvPr>
        </p:nvSpPr>
        <p:spPr>
          <a:xfrm>
            <a:off x="696533" y="911224"/>
            <a:ext cx="10515600" cy="4755479"/>
          </a:xfrm>
        </p:spPr>
        <p:txBody>
          <a:bodyPr>
            <a:noAutofit/>
          </a:bodyPr>
          <a:lstStyle/>
          <a:p>
            <a:pPr eaLnBrk="1" hangingPunct="1">
              <a:lnSpc>
                <a:spcPct val="80000"/>
              </a:lnSpc>
              <a:buFont typeface="Wingdings" panose="05000000000000000000" pitchFamily="2" charset="2"/>
              <a:buNone/>
            </a:pPr>
            <a:r>
              <a:rPr lang="en-US" altLang="en-US" sz="2400" dirty="0"/>
              <a:t>Commit Point of a Transaction (</a:t>
            </a:r>
            <a:r>
              <a:rPr lang="en-US" altLang="en-US" sz="2400" dirty="0" err="1"/>
              <a:t>cont</a:t>
            </a:r>
            <a:r>
              <a:rPr lang="en-US" altLang="en-US" sz="2400" dirty="0"/>
              <a:t>):</a:t>
            </a:r>
          </a:p>
          <a:p>
            <a:pPr eaLnBrk="1" hangingPunct="1">
              <a:lnSpc>
                <a:spcPct val="80000"/>
              </a:lnSpc>
            </a:pPr>
            <a:r>
              <a:rPr lang="en-US" altLang="en-US" sz="2400" b="1" dirty="0"/>
              <a:t>Redoing transactions:</a:t>
            </a:r>
          </a:p>
          <a:p>
            <a:pPr lvl="1" eaLnBrk="1" hangingPunct="1">
              <a:lnSpc>
                <a:spcPct val="80000"/>
              </a:lnSpc>
            </a:pPr>
            <a:r>
              <a:rPr lang="en-US" altLang="en-US" dirty="0"/>
              <a:t>Transactions that have written their commit entry in the log must also have recorded all their write operations in the log; otherwise they would not be committed, so their effect on the database can be redone from the log entries. (Notice that the log file must be kept on disk.</a:t>
            </a:r>
          </a:p>
          <a:p>
            <a:pPr lvl="1" eaLnBrk="1" hangingPunct="1">
              <a:lnSpc>
                <a:spcPct val="80000"/>
              </a:lnSpc>
            </a:pPr>
            <a:r>
              <a:rPr lang="en-US" altLang="en-US" dirty="0"/>
              <a:t>At the time of a system crash, only the log entries that have been written back to disk are considered in the recovery process because the contents of main memory may be lost.)</a:t>
            </a:r>
          </a:p>
          <a:p>
            <a:pPr eaLnBrk="1" hangingPunct="1">
              <a:lnSpc>
                <a:spcPct val="80000"/>
              </a:lnSpc>
            </a:pPr>
            <a:r>
              <a:rPr lang="en-US" altLang="en-US" sz="2400" b="1" dirty="0"/>
              <a:t>Force writing a log:</a:t>
            </a:r>
          </a:p>
          <a:p>
            <a:pPr lvl="1" eaLnBrk="1" hangingPunct="1">
              <a:lnSpc>
                <a:spcPct val="80000"/>
              </a:lnSpc>
            </a:pPr>
            <a:r>
              <a:rPr lang="en-US" altLang="en-US" dirty="0"/>
              <a:t>Before a transaction reaches its commit point, any portion of the log that has not been written to the disk yet must now be written to the disk. </a:t>
            </a:r>
          </a:p>
          <a:p>
            <a:pPr lvl="1" eaLnBrk="1" hangingPunct="1">
              <a:lnSpc>
                <a:spcPct val="80000"/>
              </a:lnSpc>
            </a:pPr>
            <a:r>
              <a:rPr lang="en-US" altLang="en-US" dirty="0"/>
              <a:t>This process is called force-writing the log file before committing a transaction. </a:t>
            </a:r>
          </a:p>
        </p:txBody>
      </p:sp>
    </p:spTree>
    <p:extLst>
      <p:ext uri="{BB962C8B-B14F-4D97-AF65-F5344CB8AC3E}">
        <p14:creationId xmlns:p14="http://schemas.microsoft.com/office/powerpoint/2010/main" val="36404609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FD9DC5A6-D8C0-4F4A-99DE-6D1F013421EE}" type="slidenum">
              <a:rPr lang="en-US" altLang="en-US" sz="1400">
                <a:solidFill>
                  <a:srgbClr val="990033"/>
                </a:solidFill>
              </a:rPr>
              <a:pPr>
                <a:spcBef>
                  <a:spcPct val="0"/>
                </a:spcBef>
                <a:buClrTx/>
                <a:buSzTx/>
                <a:buFontTx/>
                <a:buNone/>
              </a:pPr>
              <a:t>36</a:t>
            </a:fld>
            <a:endParaRPr lang="en-CA" altLang="en-US" sz="1400">
              <a:solidFill>
                <a:srgbClr val="990033"/>
              </a:solidFill>
            </a:endParaRPr>
          </a:p>
        </p:txBody>
      </p:sp>
      <p:sp>
        <p:nvSpPr>
          <p:cNvPr id="59395" name="Rectangle 4"/>
          <p:cNvSpPr>
            <a:spLocks noGrp="1" noChangeArrowheads="1"/>
          </p:cNvSpPr>
          <p:nvPr>
            <p:ph type="title"/>
          </p:nvPr>
        </p:nvSpPr>
        <p:spPr>
          <a:xfrm>
            <a:off x="838200" y="365126"/>
            <a:ext cx="10515600" cy="626548"/>
          </a:xfrm>
        </p:spPr>
        <p:txBody>
          <a:bodyPr>
            <a:normAutofit fontScale="90000"/>
          </a:bodyPr>
          <a:lstStyle/>
          <a:p>
            <a:pPr eaLnBrk="1" hangingPunct="1"/>
            <a:r>
              <a:rPr lang="en-US" altLang="en-US" smtClean="0"/>
              <a:t>Schedules</a:t>
            </a:r>
          </a:p>
        </p:txBody>
      </p:sp>
      <p:sp>
        <p:nvSpPr>
          <p:cNvPr id="59396" name="Rectangle 5"/>
          <p:cNvSpPr>
            <a:spLocks noGrp="1" noChangeArrowheads="1"/>
          </p:cNvSpPr>
          <p:nvPr>
            <p:ph type="body" idx="1"/>
          </p:nvPr>
        </p:nvSpPr>
        <p:spPr>
          <a:xfrm>
            <a:off x="838200" y="991673"/>
            <a:ext cx="10515600" cy="5185290"/>
          </a:xfrm>
        </p:spPr>
        <p:txBody>
          <a:bodyPr>
            <a:normAutofit/>
          </a:bodyPr>
          <a:lstStyle/>
          <a:p>
            <a:pPr eaLnBrk="1" hangingPunct="1">
              <a:lnSpc>
                <a:spcPct val="80000"/>
              </a:lnSpc>
            </a:pPr>
            <a:r>
              <a:rPr lang="en-US" altLang="en-US" b="1" dirty="0"/>
              <a:t>Transaction schedule or history</a:t>
            </a:r>
            <a:r>
              <a:rPr lang="en-US" altLang="en-US" dirty="0"/>
              <a:t>:</a:t>
            </a:r>
          </a:p>
          <a:p>
            <a:pPr lvl="1" eaLnBrk="1" hangingPunct="1">
              <a:lnSpc>
                <a:spcPct val="80000"/>
              </a:lnSpc>
            </a:pPr>
            <a:r>
              <a:rPr lang="en-US" altLang="en-US" dirty="0"/>
              <a:t>When transactions are executing concurrently in an interleaved fashion, the order of execution of operations from the various transactions forms what is known as a transaction schedule (or history). </a:t>
            </a:r>
          </a:p>
          <a:p>
            <a:pPr eaLnBrk="1" hangingPunct="1">
              <a:lnSpc>
                <a:spcPct val="80000"/>
              </a:lnSpc>
            </a:pPr>
            <a:r>
              <a:rPr lang="en-US" altLang="en-US" dirty="0"/>
              <a:t>A </a:t>
            </a:r>
            <a:r>
              <a:rPr lang="en-US" altLang="en-US" b="1" dirty="0"/>
              <a:t>schedule</a:t>
            </a:r>
            <a:r>
              <a:rPr lang="en-US" altLang="en-US" dirty="0"/>
              <a:t> (or </a:t>
            </a:r>
            <a:r>
              <a:rPr lang="en-US" altLang="en-US" b="1" dirty="0"/>
              <a:t>history</a:t>
            </a:r>
            <a:r>
              <a:rPr lang="en-US" altLang="en-US" dirty="0"/>
              <a:t>) S of n transactions T1, T2, …, </a:t>
            </a:r>
            <a:r>
              <a:rPr lang="en-US" altLang="en-US" dirty="0" err="1"/>
              <a:t>Tn</a:t>
            </a:r>
            <a:r>
              <a:rPr lang="en-US" altLang="en-US" dirty="0"/>
              <a:t>:</a:t>
            </a:r>
          </a:p>
          <a:p>
            <a:pPr lvl="1" eaLnBrk="1" hangingPunct="1">
              <a:lnSpc>
                <a:spcPct val="80000"/>
              </a:lnSpc>
            </a:pPr>
            <a:r>
              <a:rPr lang="en-US" altLang="en-US" dirty="0"/>
              <a:t>It is an ordering of the operations of the transactions subject to the constraint that, for each transaction Ti that participates in S, the operations of T1 in S must appear in the same order in which they occur in T1.</a:t>
            </a:r>
          </a:p>
          <a:p>
            <a:pPr lvl="1" eaLnBrk="1" hangingPunct="1">
              <a:lnSpc>
                <a:spcPct val="80000"/>
              </a:lnSpc>
            </a:pPr>
            <a:r>
              <a:rPr lang="en-US" altLang="en-US" dirty="0"/>
              <a:t>Note, however, that operations from other transactions Tj can be interleaved with the operations of Ti in S. </a:t>
            </a:r>
          </a:p>
        </p:txBody>
      </p:sp>
    </p:spTree>
    <p:extLst>
      <p:ext uri="{BB962C8B-B14F-4D97-AF65-F5344CB8AC3E}">
        <p14:creationId xmlns:p14="http://schemas.microsoft.com/office/powerpoint/2010/main" val="33182972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47075" y="634888"/>
            <a:ext cx="7223438" cy="5495455"/>
          </a:xfrm>
          <a:prstGeom prst="rect">
            <a:avLst/>
          </a:prstGeom>
        </p:spPr>
      </p:pic>
    </p:spTree>
    <p:extLst>
      <p:ext uri="{BB962C8B-B14F-4D97-AF65-F5344CB8AC3E}">
        <p14:creationId xmlns:p14="http://schemas.microsoft.com/office/powerpoint/2010/main" val="367844444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23493" y="714375"/>
            <a:ext cx="8281115" cy="5429250"/>
          </a:xfrm>
          <a:prstGeom prst="rect">
            <a:avLst/>
          </a:prstGeom>
        </p:spPr>
      </p:pic>
    </p:spTree>
    <p:extLst>
      <p:ext uri="{BB962C8B-B14F-4D97-AF65-F5344CB8AC3E}">
        <p14:creationId xmlns:p14="http://schemas.microsoft.com/office/powerpoint/2010/main" val="6586654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6700"/>
          </a:xfrm>
        </p:spPr>
        <p:txBody>
          <a:bodyPr>
            <a:normAutofit fontScale="90000"/>
          </a:bodyPr>
          <a:lstStyle/>
          <a:p>
            <a:r>
              <a:rPr lang="en-US" b="1" u="sng" dirty="0"/>
              <a:t>Non-Serial Schedules-</a:t>
            </a:r>
            <a:r>
              <a:rPr lang="en-US" b="1" dirty="0"/>
              <a:t/>
            </a:r>
            <a:br>
              <a:rPr lang="en-US" b="1" dirty="0"/>
            </a:br>
            <a:endParaRPr lang="en-US" dirty="0"/>
          </a:p>
        </p:txBody>
      </p:sp>
      <p:sp>
        <p:nvSpPr>
          <p:cNvPr id="3" name="Content Placeholder 2"/>
          <p:cNvSpPr>
            <a:spLocks noGrp="1"/>
          </p:cNvSpPr>
          <p:nvPr>
            <p:ph idx="1"/>
          </p:nvPr>
        </p:nvSpPr>
        <p:spPr>
          <a:xfrm>
            <a:off x="838200" y="798490"/>
            <a:ext cx="10515600" cy="5378473"/>
          </a:xfrm>
        </p:spPr>
        <p:txBody>
          <a:bodyPr/>
          <a:lstStyle/>
          <a:p>
            <a:pPr marL="0" indent="0" fontAlgn="base">
              <a:buNone/>
            </a:pPr>
            <a:r>
              <a:rPr lang="en-US" sz="2000" dirty="0"/>
              <a:t>In non-serial schedules,</a:t>
            </a:r>
          </a:p>
          <a:p>
            <a:pPr fontAlgn="base"/>
            <a:r>
              <a:rPr lang="en-US" sz="2000" dirty="0"/>
              <a:t>Multiple transactions execute concurrently.</a:t>
            </a:r>
          </a:p>
          <a:p>
            <a:pPr fontAlgn="base"/>
            <a:r>
              <a:rPr lang="en-US" sz="2000" dirty="0"/>
              <a:t>Operations of all the transactions are inter leaved or mixed with each other.</a:t>
            </a:r>
          </a:p>
          <a:p>
            <a:endParaRPr lang="en-US" dirty="0"/>
          </a:p>
        </p:txBody>
      </p:sp>
      <p:pic>
        <p:nvPicPr>
          <p:cNvPr id="4" name="Picture 3"/>
          <p:cNvPicPr>
            <a:picLocks noChangeAspect="1"/>
          </p:cNvPicPr>
          <p:nvPr/>
        </p:nvPicPr>
        <p:blipFill>
          <a:blip r:embed="rId2"/>
          <a:stretch>
            <a:fillRect/>
          </a:stretch>
        </p:blipFill>
        <p:spPr>
          <a:xfrm>
            <a:off x="2575776" y="1996226"/>
            <a:ext cx="5937159" cy="4559120"/>
          </a:xfrm>
          <a:prstGeom prst="rect">
            <a:avLst/>
          </a:prstGeom>
        </p:spPr>
      </p:pic>
    </p:spTree>
    <p:extLst>
      <p:ext uri="{BB962C8B-B14F-4D97-AF65-F5344CB8AC3E}">
        <p14:creationId xmlns:p14="http://schemas.microsoft.com/office/powerpoint/2010/main" val="4891687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7577"/>
            <a:ext cx="10515600" cy="5919386"/>
          </a:xfrm>
        </p:spPr>
        <p:txBody>
          <a:bodyPr/>
          <a:lstStyle/>
          <a:p>
            <a:r>
              <a:rPr lang="en-US" b="1" u="sng" dirty="0"/>
              <a:t>Finding Number Of </a:t>
            </a:r>
            <a:r>
              <a:rPr lang="en-US" b="1" u="sng" dirty="0" smtClean="0"/>
              <a:t>Schedules-</a:t>
            </a:r>
          </a:p>
          <a:p>
            <a:r>
              <a:rPr lang="en-US" sz="2400" dirty="0"/>
              <a:t>Consider there are n number of transactions T1, T2, T3 …. , </a:t>
            </a:r>
            <a:r>
              <a:rPr lang="en-US" sz="2400" dirty="0" err="1"/>
              <a:t>Tn</a:t>
            </a:r>
            <a:r>
              <a:rPr lang="en-US" sz="2400" dirty="0"/>
              <a:t> with N1, N2, N3 …. , </a:t>
            </a:r>
            <a:r>
              <a:rPr lang="en-US" sz="2400" dirty="0" err="1"/>
              <a:t>Nn</a:t>
            </a:r>
            <a:r>
              <a:rPr lang="en-US" sz="2400" dirty="0"/>
              <a:t> number of operations respectively.</a:t>
            </a:r>
            <a:endParaRPr lang="en-US" sz="2400" b="1" dirty="0"/>
          </a:p>
          <a:p>
            <a:pPr fontAlgn="base"/>
            <a:r>
              <a:rPr lang="en-US" b="1" u="sng" dirty="0"/>
              <a:t>Total Number of Schedules-</a:t>
            </a:r>
            <a:endParaRPr lang="en-US" b="1" dirty="0"/>
          </a:p>
          <a:p>
            <a:pPr fontAlgn="base"/>
            <a:r>
              <a:rPr lang="en-US" dirty="0" smtClean="0"/>
              <a:t>Total </a:t>
            </a:r>
            <a:r>
              <a:rPr lang="en-US" dirty="0"/>
              <a:t>number of possible schedules (serial + non-serial) is given </a:t>
            </a:r>
            <a:r>
              <a:rPr lang="en-US" dirty="0" smtClean="0"/>
              <a:t>by-</a:t>
            </a:r>
          </a:p>
          <a:p>
            <a:pPr marL="0" indent="0" fontAlgn="base">
              <a:buNone/>
            </a:pPr>
            <a:endParaRPr lang="en-US" dirty="0"/>
          </a:p>
          <a:p>
            <a:endParaRPr lang="en-US" dirty="0"/>
          </a:p>
        </p:txBody>
      </p:sp>
      <p:pic>
        <p:nvPicPr>
          <p:cNvPr id="6" name="Picture 5"/>
          <p:cNvPicPr>
            <a:picLocks noChangeAspect="1"/>
          </p:cNvPicPr>
          <p:nvPr/>
        </p:nvPicPr>
        <p:blipFill>
          <a:blip r:embed="rId2"/>
          <a:stretch>
            <a:fillRect/>
          </a:stretch>
        </p:blipFill>
        <p:spPr>
          <a:xfrm>
            <a:off x="4421544" y="2503935"/>
            <a:ext cx="3400425" cy="1000125"/>
          </a:xfrm>
          <a:prstGeom prst="rect">
            <a:avLst/>
          </a:prstGeom>
        </p:spPr>
      </p:pic>
      <p:sp>
        <p:nvSpPr>
          <p:cNvPr id="7" name="Rectangle 6"/>
          <p:cNvSpPr/>
          <p:nvPr/>
        </p:nvSpPr>
        <p:spPr>
          <a:xfrm>
            <a:off x="922986" y="5140494"/>
            <a:ext cx="6096000" cy="1200329"/>
          </a:xfrm>
          <a:prstGeom prst="rect">
            <a:avLst/>
          </a:prstGeom>
        </p:spPr>
        <p:txBody>
          <a:bodyPr>
            <a:spAutoFit/>
          </a:bodyPr>
          <a:lstStyle/>
          <a:p>
            <a:pPr fontAlgn="base"/>
            <a:r>
              <a:rPr lang="en-US" b="1" u="sng" dirty="0"/>
              <a:t>Total Number of Non-Serial Schedules-</a:t>
            </a:r>
            <a:endParaRPr lang="en-US" b="1" dirty="0"/>
          </a:p>
          <a:p>
            <a:pPr fontAlgn="base"/>
            <a:r>
              <a:rPr lang="en-US" dirty="0"/>
              <a:t> </a:t>
            </a:r>
          </a:p>
          <a:p>
            <a:pPr fontAlgn="base"/>
            <a:r>
              <a:rPr lang="en-US" dirty="0"/>
              <a:t>Total number of non-serial schedules</a:t>
            </a:r>
          </a:p>
          <a:p>
            <a:pPr fontAlgn="base"/>
            <a:r>
              <a:rPr lang="en-US" dirty="0"/>
              <a:t>= Total number of schedules – Total number of serial schedules</a:t>
            </a:r>
          </a:p>
        </p:txBody>
      </p:sp>
      <p:sp>
        <p:nvSpPr>
          <p:cNvPr id="8" name="Rectangle 7"/>
          <p:cNvSpPr/>
          <p:nvPr/>
        </p:nvSpPr>
        <p:spPr>
          <a:xfrm>
            <a:off x="1030309" y="3501707"/>
            <a:ext cx="6709893" cy="1477328"/>
          </a:xfrm>
          <a:prstGeom prst="rect">
            <a:avLst/>
          </a:prstGeom>
        </p:spPr>
        <p:txBody>
          <a:bodyPr wrap="square">
            <a:spAutoFit/>
          </a:bodyPr>
          <a:lstStyle/>
          <a:p>
            <a:pPr fontAlgn="base"/>
            <a:r>
              <a:rPr lang="en-US" b="1" i="0" u="sng" dirty="0" smtClean="0">
                <a:solidFill>
                  <a:srgbClr val="303030"/>
                </a:solidFill>
                <a:effectLst/>
                <a:latin typeface="roboto condensed"/>
              </a:rPr>
              <a:t>Total Number of Serial Schedules-</a:t>
            </a:r>
            <a:endParaRPr lang="en-US" b="1" i="0" dirty="0" smtClean="0">
              <a:solidFill>
                <a:srgbClr val="303030"/>
              </a:solidFill>
              <a:effectLst/>
              <a:latin typeface="roboto condensed"/>
            </a:endParaRPr>
          </a:p>
          <a:p>
            <a:pPr fontAlgn="base"/>
            <a:r>
              <a:rPr lang="en-US" b="0" i="0" dirty="0" smtClean="0">
                <a:solidFill>
                  <a:srgbClr val="303030"/>
                </a:solidFill>
                <a:effectLst/>
                <a:latin typeface="Arimo"/>
              </a:rPr>
              <a:t> </a:t>
            </a:r>
          </a:p>
          <a:p>
            <a:pPr fontAlgn="base"/>
            <a:r>
              <a:rPr lang="en-US" b="0" i="0" dirty="0" smtClean="0">
                <a:solidFill>
                  <a:srgbClr val="303030"/>
                </a:solidFill>
                <a:effectLst/>
                <a:latin typeface="Arimo"/>
              </a:rPr>
              <a:t>Total number of serial schedules</a:t>
            </a:r>
          </a:p>
          <a:p>
            <a:pPr fontAlgn="base"/>
            <a:r>
              <a:rPr lang="en-US" b="0" i="0" dirty="0" smtClean="0">
                <a:solidFill>
                  <a:srgbClr val="303030"/>
                </a:solidFill>
                <a:effectLst/>
                <a:latin typeface="Arimo"/>
              </a:rPr>
              <a:t>= Number of different ways of arranging n transactions</a:t>
            </a:r>
          </a:p>
          <a:p>
            <a:pPr fontAlgn="base"/>
            <a:r>
              <a:rPr lang="en-US" b="0" i="0" dirty="0" smtClean="0">
                <a:solidFill>
                  <a:srgbClr val="303030"/>
                </a:solidFill>
                <a:effectLst/>
                <a:latin typeface="Arimo"/>
              </a:rPr>
              <a:t>= n!</a:t>
            </a:r>
            <a:endParaRPr lang="en-US" b="0" i="0" dirty="0">
              <a:solidFill>
                <a:srgbClr val="303030"/>
              </a:solidFill>
              <a:effectLst/>
              <a:latin typeface="Arimo"/>
            </a:endParaRPr>
          </a:p>
        </p:txBody>
      </p:sp>
    </p:spTree>
    <p:extLst>
      <p:ext uri="{BB962C8B-B14F-4D97-AF65-F5344CB8AC3E}">
        <p14:creationId xmlns:p14="http://schemas.microsoft.com/office/powerpoint/2010/main" val="255803020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5611"/>
            <a:ext cx="10515600" cy="5391352"/>
          </a:xfrm>
        </p:spPr>
        <p:txBody>
          <a:bodyPr/>
          <a:lstStyle/>
          <a:p>
            <a:pPr fontAlgn="base"/>
            <a:r>
              <a:rPr lang="en-US" dirty="0"/>
              <a:t>Consider there are three transactions with 2, 3, 4 operations respectively, find-</a:t>
            </a:r>
          </a:p>
          <a:p>
            <a:pPr fontAlgn="base"/>
            <a:r>
              <a:rPr lang="en-US" dirty="0"/>
              <a:t>How many total number of schedules are possible</a:t>
            </a:r>
            <a:r>
              <a:rPr lang="en-US" dirty="0" smtClean="0"/>
              <a:t>? </a:t>
            </a:r>
          </a:p>
          <a:p>
            <a:pPr fontAlgn="base"/>
            <a:r>
              <a:rPr lang="en-US" dirty="0" smtClean="0"/>
              <a:t> (2+3+4)!/2! X 3! X 4!  =  1260</a:t>
            </a:r>
            <a:endParaRPr lang="en-US" dirty="0"/>
          </a:p>
          <a:p>
            <a:pPr fontAlgn="base"/>
            <a:r>
              <a:rPr lang="en-US" dirty="0"/>
              <a:t>How many total number of serial schedules are possible</a:t>
            </a:r>
            <a:r>
              <a:rPr lang="en-US" dirty="0" smtClean="0"/>
              <a:t>?   -3!  =6</a:t>
            </a:r>
            <a:endParaRPr lang="en-US" dirty="0"/>
          </a:p>
          <a:p>
            <a:pPr fontAlgn="base"/>
            <a:r>
              <a:rPr lang="en-US" dirty="0"/>
              <a:t>How many total number of non-serial schedules are possible</a:t>
            </a:r>
            <a:r>
              <a:rPr lang="en-US" dirty="0" smtClean="0"/>
              <a:t>?  -1254</a:t>
            </a:r>
            <a:endParaRPr lang="en-US" dirty="0"/>
          </a:p>
          <a:p>
            <a:pPr marL="0" indent="0">
              <a:buNone/>
            </a:pPr>
            <a:endParaRPr lang="en-US" dirty="0"/>
          </a:p>
        </p:txBody>
      </p:sp>
    </p:spTree>
    <p:extLst>
      <p:ext uri="{BB962C8B-B14F-4D97-AF65-F5344CB8AC3E}">
        <p14:creationId xmlns:p14="http://schemas.microsoft.com/office/powerpoint/2010/main" val="54421236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5915"/>
            <a:ext cx="10515600" cy="5211048"/>
          </a:xfrm>
        </p:spPr>
        <p:txBody>
          <a:bodyPr/>
          <a:lstStyle/>
          <a:p>
            <a:pPr fontAlgn="base"/>
            <a:r>
              <a:rPr lang="en-US" dirty="0"/>
              <a:t>We have discussed-</a:t>
            </a:r>
          </a:p>
          <a:p>
            <a:pPr fontAlgn="base"/>
            <a:r>
              <a:rPr lang="en-US" dirty="0"/>
              <a:t>A schedule is the order in which the operations of multiple transactions appear for execution.</a:t>
            </a:r>
          </a:p>
          <a:p>
            <a:pPr fontAlgn="base"/>
            <a:r>
              <a:rPr lang="en-US" dirty="0"/>
              <a:t>Serial schedules are always consistent.</a:t>
            </a:r>
          </a:p>
          <a:p>
            <a:pPr fontAlgn="base"/>
            <a:r>
              <a:rPr lang="en-US" dirty="0"/>
              <a:t>Non-serial schedules are not always consistent.</a:t>
            </a:r>
          </a:p>
          <a:p>
            <a:endParaRPr lang="en-US" dirty="0"/>
          </a:p>
        </p:txBody>
      </p:sp>
    </p:spTree>
    <p:extLst>
      <p:ext uri="{BB962C8B-B14F-4D97-AF65-F5344CB8AC3E}">
        <p14:creationId xmlns:p14="http://schemas.microsoft.com/office/powerpoint/2010/main" val="18607858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6852"/>
          </a:xfrm>
        </p:spPr>
        <p:txBody>
          <a:bodyPr>
            <a:normAutofit fontScale="90000"/>
          </a:bodyPr>
          <a:lstStyle/>
          <a:p>
            <a:r>
              <a:rPr lang="en-US" b="1" u="sng" dirty="0"/>
              <a:t>Serializability in DBMS-</a:t>
            </a:r>
            <a:r>
              <a:rPr lang="en-US" b="1" dirty="0"/>
              <a:t/>
            </a:r>
            <a:br>
              <a:rPr lang="en-US" b="1" dirty="0"/>
            </a:br>
            <a:endParaRPr lang="en-US" dirty="0"/>
          </a:p>
        </p:txBody>
      </p:sp>
      <p:sp>
        <p:nvSpPr>
          <p:cNvPr id="3" name="Content Placeholder 2"/>
          <p:cNvSpPr>
            <a:spLocks noGrp="1"/>
          </p:cNvSpPr>
          <p:nvPr>
            <p:ph idx="1"/>
          </p:nvPr>
        </p:nvSpPr>
        <p:spPr>
          <a:xfrm>
            <a:off x="838200" y="1155924"/>
            <a:ext cx="10515600" cy="4351338"/>
          </a:xfrm>
        </p:spPr>
        <p:txBody>
          <a:bodyPr/>
          <a:lstStyle/>
          <a:p>
            <a:pPr fontAlgn="base"/>
            <a:r>
              <a:rPr lang="en-US" dirty="0"/>
              <a:t>Some non-serial schedules may lead to inconsistency of the database.</a:t>
            </a:r>
          </a:p>
          <a:p>
            <a:pPr fontAlgn="base"/>
            <a:r>
              <a:rPr lang="en-US" dirty="0"/>
              <a:t>Serializability is a concept that helps to identify which non-serial schedules are correct and will maintain the consistency of the database.</a:t>
            </a:r>
          </a:p>
          <a:p>
            <a:pPr fontAlgn="base"/>
            <a:r>
              <a:rPr lang="en-US" b="1" u="sng" dirty="0"/>
              <a:t>Serializable Schedules-</a:t>
            </a:r>
            <a:endParaRPr lang="en-US" b="1" dirty="0"/>
          </a:p>
          <a:p>
            <a:pPr fontAlgn="base"/>
            <a:r>
              <a:rPr lang="en-US" dirty="0" smtClean="0"/>
              <a:t>If </a:t>
            </a:r>
            <a:r>
              <a:rPr lang="en-US" dirty="0"/>
              <a:t>a given non-serial schedule of ‘n’ transactions is equivalent to some serial schedule of ‘n’ transactions, then it is called as a </a:t>
            </a:r>
            <a:r>
              <a:rPr lang="en-US" b="1" dirty="0"/>
              <a:t>serializable schedule</a:t>
            </a:r>
            <a:r>
              <a:rPr lang="en-US" dirty="0"/>
              <a:t>.</a:t>
            </a:r>
          </a:p>
          <a:p>
            <a:endParaRPr lang="en-US" dirty="0"/>
          </a:p>
        </p:txBody>
      </p:sp>
    </p:spTree>
    <p:extLst>
      <p:ext uri="{BB962C8B-B14F-4D97-AF65-F5344CB8AC3E}">
        <p14:creationId xmlns:p14="http://schemas.microsoft.com/office/powerpoint/2010/main" val="35600562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326524" y="437882"/>
            <a:ext cx="8577330" cy="5203063"/>
          </a:xfrm>
          <a:prstGeom prst="rect">
            <a:avLst/>
          </a:prstGeom>
        </p:spPr>
      </p:pic>
    </p:spTree>
    <p:extLst>
      <p:ext uri="{BB962C8B-B14F-4D97-AF65-F5344CB8AC3E}">
        <p14:creationId xmlns:p14="http://schemas.microsoft.com/office/powerpoint/2010/main" val="59354101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30310" y="474754"/>
            <a:ext cx="9800822" cy="5632311"/>
          </a:xfrm>
          <a:prstGeom prst="rect">
            <a:avLst/>
          </a:prstGeom>
        </p:spPr>
        <p:txBody>
          <a:bodyPr wrap="square">
            <a:spAutoFit/>
          </a:bodyPr>
          <a:lstStyle/>
          <a:p>
            <a:pPr fontAlgn="base"/>
            <a:r>
              <a:rPr lang="en-US" sz="2400" b="1" i="0" u="sng" dirty="0" smtClean="0">
                <a:solidFill>
                  <a:srgbClr val="303030"/>
                </a:solidFill>
                <a:effectLst/>
                <a:latin typeface="roboto condensed"/>
              </a:rPr>
              <a:t>Conflict </a:t>
            </a:r>
            <a:r>
              <a:rPr lang="en-US" sz="2400" b="1" i="0" u="sng" dirty="0" err="1" smtClean="0">
                <a:solidFill>
                  <a:srgbClr val="303030"/>
                </a:solidFill>
                <a:effectLst/>
                <a:latin typeface="roboto condensed"/>
              </a:rPr>
              <a:t>Serializability</a:t>
            </a:r>
            <a:r>
              <a:rPr lang="en-US" sz="2400" b="1" i="0" u="sng" dirty="0" smtClean="0">
                <a:solidFill>
                  <a:srgbClr val="303030"/>
                </a:solidFill>
                <a:effectLst/>
                <a:latin typeface="roboto condensed"/>
              </a:rPr>
              <a:t>-</a:t>
            </a:r>
            <a:endParaRPr lang="en-US" sz="2400" b="1" i="0" dirty="0" smtClean="0">
              <a:solidFill>
                <a:srgbClr val="303030"/>
              </a:solidFill>
              <a:effectLst/>
              <a:latin typeface="roboto condensed"/>
            </a:endParaRPr>
          </a:p>
          <a:p>
            <a:pPr fontAlgn="base"/>
            <a:r>
              <a:rPr lang="en-US" sz="2400" b="0" i="0" dirty="0" smtClean="0">
                <a:solidFill>
                  <a:srgbClr val="303030"/>
                </a:solidFill>
                <a:effectLst/>
                <a:latin typeface="Arimo"/>
              </a:rPr>
              <a:t> </a:t>
            </a:r>
            <a:r>
              <a:rPr lang="en-US" sz="2000" b="0" i="0" dirty="0" smtClean="0">
                <a:solidFill>
                  <a:srgbClr val="303030"/>
                </a:solidFill>
                <a:effectLst/>
                <a:latin typeface="Arimo"/>
              </a:rPr>
              <a:t>If a given non-serial schedule can be converted into a serial schedule by swapping its non-conflicting operations, then it is called as a </a:t>
            </a:r>
            <a:r>
              <a:rPr lang="en-US" sz="2000" b="1" i="0" dirty="0" smtClean="0">
                <a:solidFill>
                  <a:srgbClr val="303030"/>
                </a:solidFill>
                <a:effectLst/>
                <a:latin typeface="Arimo"/>
              </a:rPr>
              <a:t>conflict serializable schedule</a:t>
            </a:r>
            <a:r>
              <a:rPr lang="en-US" sz="2000" b="0" i="0" dirty="0" smtClean="0">
                <a:solidFill>
                  <a:srgbClr val="303030"/>
                </a:solidFill>
                <a:effectLst/>
                <a:latin typeface="Arimo"/>
              </a:rPr>
              <a:t>.</a:t>
            </a:r>
          </a:p>
          <a:p>
            <a:pPr fontAlgn="base"/>
            <a:r>
              <a:rPr lang="en-US" sz="2400" b="0" i="0" dirty="0" smtClean="0">
                <a:solidFill>
                  <a:srgbClr val="303030"/>
                </a:solidFill>
                <a:effectLst/>
                <a:latin typeface="Arimo"/>
              </a:rPr>
              <a:t> </a:t>
            </a:r>
          </a:p>
          <a:p>
            <a:pPr fontAlgn="base"/>
            <a:r>
              <a:rPr lang="en-US" sz="2400" b="1" i="0" u="sng" dirty="0" smtClean="0">
                <a:solidFill>
                  <a:srgbClr val="303030"/>
                </a:solidFill>
                <a:effectLst/>
                <a:latin typeface="roboto condensed"/>
              </a:rPr>
              <a:t>Conflicting Operations-</a:t>
            </a:r>
            <a:endParaRPr lang="en-US" sz="2400" b="1" i="0" dirty="0" smtClean="0">
              <a:solidFill>
                <a:srgbClr val="303030"/>
              </a:solidFill>
              <a:effectLst/>
              <a:latin typeface="roboto condensed"/>
            </a:endParaRPr>
          </a:p>
          <a:p>
            <a:pPr fontAlgn="base"/>
            <a:r>
              <a:rPr lang="en-US" sz="2400" b="0" i="0" dirty="0" smtClean="0">
                <a:solidFill>
                  <a:srgbClr val="303030"/>
                </a:solidFill>
                <a:effectLst/>
                <a:latin typeface="Arimo"/>
              </a:rPr>
              <a:t> </a:t>
            </a:r>
            <a:r>
              <a:rPr lang="en-US" sz="2000" b="0" i="0" dirty="0" smtClean="0">
                <a:solidFill>
                  <a:srgbClr val="303030"/>
                </a:solidFill>
                <a:effectLst/>
                <a:latin typeface="Arimo"/>
              </a:rPr>
              <a:t>Two operations are called as </a:t>
            </a:r>
            <a:r>
              <a:rPr lang="en-US" sz="2000" b="1" i="0" dirty="0" smtClean="0">
                <a:solidFill>
                  <a:srgbClr val="303030"/>
                </a:solidFill>
                <a:effectLst/>
                <a:latin typeface="Arimo"/>
              </a:rPr>
              <a:t>conflicting operations</a:t>
            </a:r>
            <a:r>
              <a:rPr lang="en-US" sz="2000" b="0" i="0" dirty="0" smtClean="0">
                <a:solidFill>
                  <a:srgbClr val="303030"/>
                </a:solidFill>
                <a:effectLst/>
                <a:latin typeface="Arimo"/>
              </a:rPr>
              <a:t> if all the following conditions hold true for them-</a:t>
            </a:r>
          </a:p>
          <a:p>
            <a:pPr fontAlgn="base">
              <a:buFont typeface="Arial" panose="020B0604020202020204" pitchFamily="34" charset="0"/>
              <a:buChar char="•"/>
            </a:pPr>
            <a:r>
              <a:rPr lang="en-US" sz="2000" b="0" i="0" dirty="0" smtClean="0">
                <a:solidFill>
                  <a:srgbClr val="303030"/>
                </a:solidFill>
                <a:effectLst/>
                <a:latin typeface="Arimo"/>
              </a:rPr>
              <a:t>Both the operations belong to different transactions</a:t>
            </a:r>
          </a:p>
          <a:p>
            <a:pPr fontAlgn="base">
              <a:buFont typeface="Arial" panose="020B0604020202020204" pitchFamily="34" charset="0"/>
              <a:buChar char="•"/>
            </a:pPr>
            <a:r>
              <a:rPr lang="en-US" sz="2000" b="0" i="0" dirty="0" smtClean="0">
                <a:solidFill>
                  <a:srgbClr val="303030"/>
                </a:solidFill>
                <a:effectLst/>
                <a:latin typeface="Arimo"/>
              </a:rPr>
              <a:t>Both the operations are on the same data item</a:t>
            </a:r>
          </a:p>
          <a:p>
            <a:pPr fontAlgn="base">
              <a:buFont typeface="Arial" panose="020B0604020202020204" pitchFamily="34" charset="0"/>
              <a:buChar char="•"/>
            </a:pPr>
            <a:r>
              <a:rPr lang="en-US" sz="2000" b="0" i="0" dirty="0" smtClean="0">
                <a:solidFill>
                  <a:srgbClr val="303030"/>
                </a:solidFill>
                <a:effectLst/>
                <a:latin typeface="Arimo"/>
              </a:rPr>
              <a:t>At least one of the two operations is a write operation</a:t>
            </a:r>
          </a:p>
          <a:p>
            <a:pPr fontAlgn="base"/>
            <a:endParaRPr lang="en-US" sz="2000" b="0" i="0" dirty="0" smtClean="0">
              <a:solidFill>
                <a:srgbClr val="303030"/>
              </a:solidFill>
              <a:effectLst/>
              <a:latin typeface="Arimo"/>
            </a:endParaRPr>
          </a:p>
          <a:p>
            <a:r>
              <a:rPr lang="en-US" altLang="en-US" sz="2400" dirty="0"/>
              <a:t>3 kinds of conflicts</a:t>
            </a:r>
          </a:p>
          <a:p>
            <a:pPr lvl="1"/>
            <a:r>
              <a:rPr lang="en-US" altLang="en-US" sz="2400" dirty="0"/>
              <a:t>RW (Read – Write) Conflict</a:t>
            </a:r>
          </a:p>
          <a:p>
            <a:pPr lvl="1"/>
            <a:r>
              <a:rPr lang="en-US" altLang="en-US" sz="2400" dirty="0"/>
              <a:t>WR (Write – Read) Conflict</a:t>
            </a:r>
          </a:p>
          <a:p>
            <a:pPr lvl="1"/>
            <a:r>
              <a:rPr lang="en-US" altLang="en-US" sz="2400" dirty="0"/>
              <a:t>WW (Write – Write) Conflict</a:t>
            </a:r>
          </a:p>
          <a:p>
            <a:pPr fontAlgn="base">
              <a:buFont typeface="Arial" panose="020B0604020202020204" pitchFamily="34" charset="0"/>
              <a:buChar char="•"/>
            </a:pPr>
            <a:endParaRPr lang="en-US" sz="2400" b="0" i="0" dirty="0">
              <a:solidFill>
                <a:srgbClr val="303030"/>
              </a:solidFill>
              <a:effectLst/>
              <a:latin typeface="Arimo"/>
            </a:endParaRPr>
          </a:p>
        </p:txBody>
      </p:sp>
    </p:spTree>
    <p:extLst>
      <p:ext uri="{BB962C8B-B14F-4D97-AF65-F5344CB8AC3E}">
        <p14:creationId xmlns:p14="http://schemas.microsoft.com/office/powerpoint/2010/main" val="27121795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71277" y="605307"/>
            <a:ext cx="7003022" cy="3670479"/>
          </a:xfrm>
          <a:prstGeom prst="rect">
            <a:avLst/>
          </a:prstGeom>
        </p:spPr>
      </p:pic>
      <p:sp>
        <p:nvSpPr>
          <p:cNvPr id="5" name="Rectangle 4"/>
          <p:cNvSpPr/>
          <p:nvPr/>
        </p:nvSpPr>
        <p:spPr>
          <a:xfrm>
            <a:off x="1644204" y="4490210"/>
            <a:ext cx="6096000" cy="1200329"/>
          </a:xfrm>
          <a:prstGeom prst="rect">
            <a:avLst/>
          </a:prstGeom>
        </p:spPr>
        <p:txBody>
          <a:bodyPr>
            <a:spAutoFit/>
          </a:bodyPr>
          <a:lstStyle/>
          <a:p>
            <a:pPr fontAlgn="base"/>
            <a:r>
              <a:rPr lang="en-US" b="0" i="0" dirty="0" smtClean="0">
                <a:solidFill>
                  <a:srgbClr val="303030"/>
                </a:solidFill>
                <a:effectLst/>
                <a:latin typeface="Arimo"/>
              </a:rPr>
              <a:t>In this schedule,</a:t>
            </a:r>
          </a:p>
          <a:p>
            <a:pPr fontAlgn="base">
              <a:buFont typeface="Arial" panose="020B0604020202020204" pitchFamily="34" charset="0"/>
              <a:buChar char="•"/>
            </a:pPr>
            <a:r>
              <a:rPr lang="en-US" b="0" i="0" dirty="0" smtClean="0">
                <a:solidFill>
                  <a:srgbClr val="303030"/>
                </a:solidFill>
                <a:effectLst/>
                <a:latin typeface="Arimo"/>
              </a:rPr>
              <a:t>W1 (A) and R2 (A) are called as conflicting operations.</a:t>
            </a:r>
          </a:p>
          <a:p>
            <a:pPr fontAlgn="base">
              <a:buFont typeface="Arial" panose="020B0604020202020204" pitchFamily="34" charset="0"/>
              <a:buChar char="•"/>
            </a:pPr>
            <a:r>
              <a:rPr lang="en-US" b="0" i="0" dirty="0" smtClean="0">
                <a:solidFill>
                  <a:srgbClr val="303030"/>
                </a:solidFill>
                <a:effectLst/>
                <a:latin typeface="Arimo"/>
              </a:rPr>
              <a:t>This is because all the above conditions hold true for them.</a:t>
            </a:r>
            <a:endParaRPr lang="en-US" b="0" i="0" dirty="0">
              <a:solidFill>
                <a:srgbClr val="303030"/>
              </a:solidFill>
              <a:effectLst/>
              <a:latin typeface="Arimo"/>
            </a:endParaRPr>
          </a:p>
        </p:txBody>
      </p:sp>
    </p:spTree>
    <p:extLst>
      <p:ext uri="{BB962C8B-B14F-4D97-AF65-F5344CB8AC3E}">
        <p14:creationId xmlns:p14="http://schemas.microsoft.com/office/powerpoint/2010/main" val="30748297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474EA16D-0B92-4AAE-A28D-BEF99AAA75EB}" type="slidenum">
              <a:rPr lang="en-US" altLang="en-US" sz="1400">
                <a:solidFill>
                  <a:srgbClr val="990033"/>
                </a:solidFill>
              </a:rPr>
              <a:pPr>
                <a:spcBef>
                  <a:spcPct val="0"/>
                </a:spcBef>
                <a:buClrTx/>
                <a:buSzTx/>
                <a:buFontTx/>
                <a:buNone/>
              </a:pPr>
              <a:t>47</a:t>
            </a:fld>
            <a:endParaRPr lang="en-CA" altLang="en-US" sz="1400">
              <a:solidFill>
                <a:srgbClr val="990033"/>
              </a:solidFill>
            </a:endParaRPr>
          </a:p>
        </p:txBody>
      </p:sp>
      <p:sp>
        <p:nvSpPr>
          <p:cNvPr id="71683" name="Rectangle 4"/>
          <p:cNvSpPr>
            <a:spLocks noGrp="1" noChangeArrowheads="1"/>
          </p:cNvSpPr>
          <p:nvPr>
            <p:ph type="title"/>
          </p:nvPr>
        </p:nvSpPr>
        <p:spPr/>
        <p:txBody>
          <a:bodyPr/>
          <a:lstStyle/>
          <a:p>
            <a:pPr eaLnBrk="1" hangingPunct="1"/>
            <a:r>
              <a:rPr lang="en-US" altLang="en-US" dirty="0" smtClean="0"/>
              <a:t>Testing Conflict Serializability</a:t>
            </a:r>
          </a:p>
        </p:txBody>
      </p:sp>
      <p:sp>
        <p:nvSpPr>
          <p:cNvPr id="71684" name="Rectangle 5"/>
          <p:cNvSpPr>
            <a:spLocks noGrp="1" noChangeArrowheads="1"/>
          </p:cNvSpPr>
          <p:nvPr>
            <p:ph type="body" idx="1"/>
          </p:nvPr>
        </p:nvSpPr>
        <p:spPr/>
        <p:txBody>
          <a:bodyPr/>
          <a:lstStyle/>
          <a:p>
            <a:pPr eaLnBrk="1" hangingPunct="1">
              <a:buFont typeface="Wingdings" panose="05000000000000000000" pitchFamily="2" charset="2"/>
              <a:buNone/>
            </a:pPr>
            <a:r>
              <a:rPr lang="en-US" altLang="en-US" b="1" dirty="0" smtClean="0"/>
              <a:t>Using Precedence Graph</a:t>
            </a:r>
          </a:p>
          <a:p>
            <a:pPr lvl="1" eaLnBrk="1" hangingPunct="1"/>
            <a:r>
              <a:rPr lang="en-US" altLang="en-US" dirty="0" smtClean="0"/>
              <a:t>It is not always possible to test whether a given schedule is conflict serializable by manual methods because there may be thousands of transactions executing concurrently.</a:t>
            </a:r>
          </a:p>
          <a:p>
            <a:pPr lvl="1" eaLnBrk="1" hangingPunct="1"/>
            <a:r>
              <a:rPr lang="en-US" altLang="en-US" dirty="0" smtClean="0"/>
              <a:t>Therefore, method which can test a given schedule for its conflict serializability is introduced using precedence graph.</a:t>
            </a:r>
          </a:p>
        </p:txBody>
      </p:sp>
    </p:spTree>
    <p:extLst>
      <p:ext uri="{BB962C8B-B14F-4D97-AF65-F5344CB8AC3E}">
        <p14:creationId xmlns:p14="http://schemas.microsoft.com/office/powerpoint/2010/main" val="22359853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6D2F10AC-B980-4219-A854-80447891C686}" type="slidenum">
              <a:rPr lang="en-US" altLang="en-US" sz="1400">
                <a:solidFill>
                  <a:srgbClr val="990033"/>
                </a:solidFill>
              </a:rPr>
              <a:pPr>
                <a:spcBef>
                  <a:spcPct val="0"/>
                </a:spcBef>
                <a:buClrTx/>
                <a:buSzTx/>
                <a:buFontTx/>
                <a:buNone/>
              </a:pPr>
              <a:t>48</a:t>
            </a:fld>
            <a:endParaRPr lang="en-CA" altLang="en-US" sz="1400">
              <a:solidFill>
                <a:srgbClr val="990033"/>
              </a:solidFill>
            </a:endParaRPr>
          </a:p>
        </p:txBody>
      </p:sp>
      <p:sp>
        <p:nvSpPr>
          <p:cNvPr id="73731" name="Rectangle 4"/>
          <p:cNvSpPr>
            <a:spLocks noGrp="1" noChangeArrowheads="1"/>
          </p:cNvSpPr>
          <p:nvPr>
            <p:ph type="title"/>
          </p:nvPr>
        </p:nvSpPr>
        <p:spPr/>
        <p:txBody>
          <a:bodyPr/>
          <a:lstStyle/>
          <a:p>
            <a:pPr eaLnBrk="1" hangingPunct="1"/>
            <a:r>
              <a:rPr lang="en-US" altLang="en-US" dirty="0" smtClean="0"/>
              <a:t>Testing Conflict Serializability</a:t>
            </a:r>
          </a:p>
        </p:txBody>
      </p:sp>
      <p:sp>
        <p:nvSpPr>
          <p:cNvPr id="73732" name="Rectangle 5"/>
          <p:cNvSpPr>
            <a:spLocks noGrp="1" noChangeArrowheads="1"/>
          </p:cNvSpPr>
          <p:nvPr>
            <p:ph type="body" idx="1"/>
          </p:nvPr>
        </p:nvSpPr>
        <p:spPr/>
        <p:txBody>
          <a:bodyPr/>
          <a:lstStyle/>
          <a:p>
            <a:pPr eaLnBrk="1" hangingPunct="1">
              <a:buFont typeface="Wingdings" panose="05000000000000000000" pitchFamily="2" charset="2"/>
              <a:buNone/>
            </a:pPr>
            <a:r>
              <a:rPr lang="en-US" altLang="en-US" b="1" dirty="0" smtClean="0"/>
              <a:t>Using Precedence Graph</a:t>
            </a:r>
          </a:p>
          <a:p>
            <a:pPr lvl="1" eaLnBrk="1" hangingPunct="1"/>
            <a:r>
              <a:rPr lang="en-US" altLang="en-US" dirty="0" smtClean="0"/>
              <a:t>Looks at only </a:t>
            </a:r>
            <a:r>
              <a:rPr lang="en-US" altLang="en-US" dirty="0" err="1" smtClean="0"/>
              <a:t>read_Item</a:t>
            </a:r>
            <a:r>
              <a:rPr lang="en-US" altLang="en-US" dirty="0" smtClean="0"/>
              <a:t> (X) and </a:t>
            </a:r>
            <a:r>
              <a:rPr lang="en-US" altLang="en-US" dirty="0" err="1" smtClean="0"/>
              <a:t>write_Item</a:t>
            </a:r>
            <a:r>
              <a:rPr lang="en-US" altLang="en-US" dirty="0" smtClean="0"/>
              <a:t> (X) operations</a:t>
            </a:r>
          </a:p>
          <a:p>
            <a:pPr lvl="1" eaLnBrk="1" hangingPunct="1"/>
            <a:r>
              <a:rPr lang="en-US" altLang="en-US" dirty="0" smtClean="0"/>
              <a:t>Constructs a precedence graph (serialization graph) - a graph with directed edges </a:t>
            </a:r>
          </a:p>
          <a:p>
            <a:pPr lvl="1" eaLnBrk="1" hangingPunct="1"/>
            <a:r>
              <a:rPr lang="en-US" altLang="en-US" dirty="0" smtClean="0"/>
              <a:t>An edge is created from Ti  to  Tj if one of the operations in  Ti  appears before a conflicting operation in Tj</a:t>
            </a:r>
          </a:p>
          <a:p>
            <a:pPr lvl="1" eaLnBrk="1" hangingPunct="1"/>
            <a:r>
              <a:rPr lang="en-US" altLang="en-US" dirty="0" smtClean="0"/>
              <a:t>The schedule is serializable if and only if the precedence graph has no cycles. </a:t>
            </a:r>
          </a:p>
        </p:txBody>
      </p:sp>
    </p:spTree>
    <p:extLst>
      <p:ext uri="{BB962C8B-B14F-4D97-AF65-F5344CB8AC3E}">
        <p14:creationId xmlns:p14="http://schemas.microsoft.com/office/powerpoint/2010/main" val="128109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701"/>
            <a:ext cx="10515600" cy="5507262"/>
          </a:xfrm>
        </p:spPr>
        <p:txBody>
          <a:bodyPr/>
          <a:lstStyle/>
          <a:p>
            <a:pPr fontAlgn="base"/>
            <a:r>
              <a:rPr lang="en-US" dirty="0" smtClean="0"/>
              <a:t>1] Check </a:t>
            </a:r>
            <a:r>
              <a:rPr lang="en-US" dirty="0"/>
              <a:t>whether the given schedule S is conflict serializable or not-</a:t>
            </a:r>
          </a:p>
          <a:p>
            <a:pPr fontAlgn="base"/>
            <a:r>
              <a:rPr lang="en-US" b="1" dirty="0"/>
              <a:t>S : R</a:t>
            </a:r>
            <a:r>
              <a:rPr lang="en-US" b="1" baseline="-25000" dirty="0"/>
              <a:t>1</a:t>
            </a:r>
            <a:r>
              <a:rPr lang="en-US" b="1" dirty="0"/>
              <a:t>(A) , R</a:t>
            </a:r>
            <a:r>
              <a:rPr lang="en-US" b="1" baseline="-25000" dirty="0"/>
              <a:t>2</a:t>
            </a:r>
            <a:r>
              <a:rPr lang="en-US" b="1" dirty="0"/>
              <a:t>(A) , R</a:t>
            </a:r>
            <a:r>
              <a:rPr lang="en-US" b="1" baseline="-25000" dirty="0"/>
              <a:t>1</a:t>
            </a:r>
            <a:r>
              <a:rPr lang="en-US" b="1" dirty="0"/>
              <a:t>(B) , R</a:t>
            </a:r>
            <a:r>
              <a:rPr lang="en-US" b="1" baseline="-25000" dirty="0"/>
              <a:t>2</a:t>
            </a:r>
            <a:r>
              <a:rPr lang="en-US" b="1" dirty="0"/>
              <a:t>(B) , R</a:t>
            </a:r>
            <a:r>
              <a:rPr lang="en-US" b="1" baseline="-25000" dirty="0"/>
              <a:t>3</a:t>
            </a:r>
            <a:r>
              <a:rPr lang="en-US" b="1" dirty="0"/>
              <a:t>(B) , W</a:t>
            </a:r>
            <a:r>
              <a:rPr lang="en-US" b="1" baseline="-25000" dirty="0"/>
              <a:t>1</a:t>
            </a:r>
            <a:r>
              <a:rPr lang="en-US" b="1" dirty="0"/>
              <a:t>(A) , W</a:t>
            </a:r>
            <a:r>
              <a:rPr lang="en-US" b="1" baseline="-25000" dirty="0"/>
              <a:t>2</a:t>
            </a:r>
            <a:r>
              <a:rPr lang="en-US" b="1" dirty="0"/>
              <a:t>(B)</a:t>
            </a:r>
            <a:endParaRPr lang="en-US" dirty="0"/>
          </a:p>
          <a:p>
            <a:pPr fontAlgn="base"/>
            <a:r>
              <a:rPr lang="en-US" dirty="0" smtClean="0">
                <a:solidFill>
                  <a:srgbClr val="FF0000"/>
                </a:solidFill>
              </a:rPr>
              <a:t>STEP 1:</a:t>
            </a:r>
          </a:p>
          <a:p>
            <a:pPr marL="0" indent="0" fontAlgn="base">
              <a:buNone/>
            </a:pPr>
            <a:r>
              <a:rPr lang="en-US" dirty="0" smtClean="0"/>
              <a:t>List </a:t>
            </a:r>
            <a:r>
              <a:rPr lang="en-US" dirty="0"/>
              <a:t>all the conflicting operations and determine the dependency between the transactions-</a:t>
            </a:r>
          </a:p>
          <a:p>
            <a:pPr fontAlgn="base"/>
            <a:r>
              <a:rPr lang="en-US" dirty="0"/>
              <a:t>R</a:t>
            </a:r>
            <a:r>
              <a:rPr lang="en-US" baseline="-25000" dirty="0"/>
              <a:t>2</a:t>
            </a:r>
            <a:r>
              <a:rPr lang="en-US" dirty="0"/>
              <a:t>(A) , W</a:t>
            </a:r>
            <a:r>
              <a:rPr lang="en-US" baseline="-25000" dirty="0"/>
              <a:t>1</a:t>
            </a:r>
            <a:r>
              <a:rPr lang="en-US" dirty="0"/>
              <a:t>(A) (T</a:t>
            </a:r>
            <a:r>
              <a:rPr lang="en-US" baseline="-25000" dirty="0"/>
              <a:t>2</a:t>
            </a:r>
            <a:r>
              <a:rPr lang="en-US" dirty="0"/>
              <a:t> → T</a:t>
            </a:r>
            <a:r>
              <a:rPr lang="en-US" baseline="-25000" dirty="0"/>
              <a:t>1</a:t>
            </a:r>
            <a:r>
              <a:rPr lang="en-US" dirty="0"/>
              <a:t>)</a:t>
            </a:r>
          </a:p>
          <a:p>
            <a:pPr fontAlgn="base"/>
            <a:r>
              <a:rPr lang="en-US" dirty="0"/>
              <a:t>R</a:t>
            </a:r>
            <a:r>
              <a:rPr lang="en-US" baseline="-25000" dirty="0"/>
              <a:t>1</a:t>
            </a:r>
            <a:r>
              <a:rPr lang="en-US" dirty="0"/>
              <a:t>(B) , W</a:t>
            </a:r>
            <a:r>
              <a:rPr lang="en-US" baseline="-25000" dirty="0"/>
              <a:t>2</a:t>
            </a:r>
            <a:r>
              <a:rPr lang="en-US" dirty="0"/>
              <a:t>(B) (T</a:t>
            </a:r>
            <a:r>
              <a:rPr lang="en-US" baseline="-25000" dirty="0"/>
              <a:t>1</a:t>
            </a:r>
            <a:r>
              <a:rPr lang="en-US" dirty="0"/>
              <a:t> → T</a:t>
            </a:r>
            <a:r>
              <a:rPr lang="en-US" baseline="-25000" dirty="0"/>
              <a:t>2</a:t>
            </a:r>
            <a:r>
              <a:rPr lang="en-US" dirty="0"/>
              <a:t>)</a:t>
            </a:r>
          </a:p>
          <a:p>
            <a:pPr fontAlgn="base"/>
            <a:r>
              <a:rPr lang="en-US" dirty="0"/>
              <a:t>R</a:t>
            </a:r>
            <a:r>
              <a:rPr lang="en-US" baseline="-25000" dirty="0"/>
              <a:t>3</a:t>
            </a:r>
            <a:r>
              <a:rPr lang="en-US" dirty="0"/>
              <a:t>(B) , W</a:t>
            </a:r>
            <a:r>
              <a:rPr lang="en-US" baseline="-25000" dirty="0"/>
              <a:t>2</a:t>
            </a:r>
            <a:r>
              <a:rPr lang="en-US" dirty="0"/>
              <a:t>(B) (T</a:t>
            </a:r>
            <a:r>
              <a:rPr lang="en-US" baseline="-25000" dirty="0"/>
              <a:t>3</a:t>
            </a:r>
            <a:r>
              <a:rPr lang="en-US" dirty="0"/>
              <a:t> → T</a:t>
            </a:r>
            <a:r>
              <a:rPr lang="en-US" baseline="-25000" dirty="0"/>
              <a:t>2</a:t>
            </a:r>
            <a:r>
              <a:rPr lang="en-US" dirty="0"/>
              <a:t>)</a:t>
            </a:r>
          </a:p>
          <a:p>
            <a:pPr marL="0" indent="0" fontAlgn="base">
              <a:buNone/>
            </a:pPr>
            <a:r>
              <a:rPr lang="en-US" dirty="0"/>
              <a:t> </a:t>
            </a:r>
          </a:p>
          <a:p>
            <a:endParaRPr lang="en-US" dirty="0"/>
          </a:p>
        </p:txBody>
      </p:sp>
    </p:spTree>
    <p:extLst>
      <p:ext uri="{BB962C8B-B14F-4D97-AF65-F5344CB8AC3E}">
        <p14:creationId xmlns:p14="http://schemas.microsoft.com/office/powerpoint/2010/main" val="2216115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24248" y="360609"/>
            <a:ext cx="8358389" cy="5182942"/>
          </a:xfrm>
          <a:prstGeom prst="rect">
            <a:avLst/>
          </a:prstGeom>
        </p:spPr>
      </p:pic>
    </p:spTree>
    <p:extLst>
      <p:ext uri="{BB962C8B-B14F-4D97-AF65-F5344CB8AC3E}">
        <p14:creationId xmlns:p14="http://schemas.microsoft.com/office/powerpoint/2010/main" val="29340997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81070" y="489397"/>
            <a:ext cx="8873544" cy="5495657"/>
          </a:xfrm>
          <a:prstGeom prst="rect">
            <a:avLst/>
          </a:prstGeom>
        </p:spPr>
      </p:pic>
    </p:spTree>
    <p:extLst>
      <p:ext uri="{BB962C8B-B14F-4D97-AF65-F5344CB8AC3E}">
        <p14:creationId xmlns:p14="http://schemas.microsoft.com/office/powerpoint/2010/main" val="3219703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7882"/>
            <a:ext cx="10515600" cy="5739081"/>
          </a:xfrm>
        </p:spPr>
        <p:txBody>
          <a:bodyPr/>
          <a:lstStyle/>
          <a:p>
            <a:r>
              <a:rPr lang="en-US" dirty="0"/>
              <a:t>List all the conflicting operations and determine the dependency between the </a:t>
            </a:r>
            <a:r>
              <a:rPr lang="en-US" dirty="0" smtClean="0"/>
              <a:t>transactions-</a:t>
            </a:r>
          </a:p>
          <a:p>
            <a:pPr fontAlgn="base"/>
            <a:r>
              <a:rPr lang="fr-FR" dirty="0"/>
              <a:t>R</a:t>
            </a:r>
            <a:r>
              <a:rPr lang="fr-FR" baseline="-25000" dirty="0"/>
              <a:t>2</a:t>
            </a:r>
            <a:r>
              <a:rPr lang="fr-FR" dirty="0"/>
              <a:t>(X) , W</a:t>
            </a:r>
            <a:r>
              <a:rPr lang="fr-FR" baseline="-25000" dirty="0"/>
              <a:t>3</a:t>
            </a:r>
            <a:r>
              <a:rPr lang="fr-FR" dirty="0"/>
              <a:t>(X) (T</a:t>
            </a:r>
            <a:r>
              <a:rPr lang="fr-FR" baseline="-25000" dirty="0"/>
              <a:t>2</a:t>
            </a:r>
            <a:r>
              <a:rPr lang="fr-FR" dirty="0"/>
              <a:t> → T</a:t>
            </a:r>
            <a:r>
              <a:rPr lang="fr-FR" baseline="-25000" dirty="0"/>
              <a:t>3</a:t>
            </a:r>
            <a:r>
              <a:rPr lang="fr-FR" dirty="0"/>
              <a:t>)</a:t>
            </a:r>
          </a:p>
          <a:p>
            <a:pPr fontAlgn="base"/>
            <a:r>
              <a:rPr lang="fr-FR" dirty="0"/>
              <a:t>R</a:t>
            </a:r>
            <a:r>
              <a:rPr lang="fr-FR" baseline="-25000" dirty="0"/>
              <a:t>2</a:t>
            </a:r>
            <a:r>
              <a:rPr lang="fr-FR" dirty="0"/>
              <a:t>(X) , W</a:t>
            </a:r>
            <a:r>
              <a:rPr lang="fr-FR" baseline="-25000" dirty="0"/>
              <a:t>1</a:t>
            </a:r>
            <a:r>
              <a:rPr lang="fr-FR" dirty="0"/>
              <a:t>(X) (T</a:t>
            </a:r>
            <a:r>
              <a:rPr lang="fr-FR" baseline="-25000" dirty="0"/>
              <a:t>2</a:t>
            </a:r>
            <a:r>
              <a:rPr lang="fr-FR" dirty="0"/>
              <a:t> → T</a:t>
            </a:r>
            <a:r>
              <a:rPr lang="fr-FR" baseline="-25000" dirty="0"/>
              <a:t>1</a:t>
            </a:r>
            <a:r>
              <a:rPr lang="fr-FR" dirty="0"/>
              <a:t>)</a:t>
            </a:r>
          </a:p>
          <a:p>
            <a:pPr fontAlgn="base"/>
            <a:r>
              <a:rPr lang="fr-FR" dirty="0"/>
              <a:t>W</a:t>
            </a:r>
            <a:r>
              <a:rPr lang="fr-FR" baseline="-25000" dirty="0"/>
              <a:t>3</a:t>
            </a:r>
            <a:r>
              <a:rPr lang="fr-FR" dirty="0"/>
              <a:t>(X) , W</a:t>
            </a:r>
            <a:r>
              <a:rPr lang="fr-FR" baseline="-25000" dirty="0"/>
              <a:t>1</a:t>
            </a:r>
            <a:r>
              <a:rPr lang="fr-FR" dirty="0"/>
              <a:t>(X) (T</a:t>
            </a:r>
            <a:r>
              <a:rPr lang="fr-FR" baseline="-25000" dirty="0"/>
              <a:t>3</a:t>
            </a:r>
            <a:r>
              <a:rPr lang="fr-FR" dirty="0"/>
              <a:t> → T</a:t>
            </a:r>
            <a:r>
              <a:rPr lang="fr-FR" baseline="-25000" dirty="0"/>
              <a:t>1</a:t>
            </a:r>
            <a:r>
              <a:rPr lang="fr-FR" dirty="0"/>
              <a:t>)</a:t>
            </a:r>
          </a:p>
          <a:p>
            <a:pPr fontAlgn="base"/>
            <a:r>
              <a:rPr lang="fr-FR" dirty="0"/>
              <a:t>W</a:t>
            </a:r>
            <a:r>
              <a:rPr lang="fr-FR" baseline="-25000" dirty="0"/>
              <a:t>3</a:t>
            </a:r>
            <a:r>
              <a:rPr lang="fr-FR" dirty="0"/>
              <a:t>(X) , R</a:t>
            </a:r>
            <a:r>
              <a:rPr lang="fr-FR" baseline="-25000" dirty="0"/>
              <a:t>4</a:t>
            </a:r>
            <a:r>
              <a:rPr lang="fr-FR" dirty="0"/>
              <a:t>(X) (T</a:t>
            </a:r>
            <a:r>
              <a:rPr lang="fr-FR" baseline="-25000" dirty="0"/>
              <a:t>3</a:t>
            </a:r>
            <a:r>
              <a:rPr lang="fr-FR" dirty="0"/>
              <a:t> → T</a:t>
            </a:r>
            <a:r>
              <a:rPr lang="fr-FR" baseline="-25000" dirty="0"/>
              <a:t>4</a:t>
            </a:r>
            <a:r>
              <a:rPr lang="fr-FR" dirty="0"/>
              <a:t>)</a:t>
            </a:r>
          </a:p>
          <a:p>
            <a:pPr fontAlgn="base"/>
            <a:r>
              <a:rPr lang="fr-FR" dirty="0"/>
              <a:t>W</a:t>
            </a:r>
            <a:r>
              <a:rPr lang="fr-FR" baseline="-25000" dirty="0"/>
              <a:t>1</a:t>
            </a:r>
            <a:r>
              <a:rPr lang="fr-FR" dirty="0"/>
              <a:t>(X) , R</a:t>
            </a:r>
            <a:r>
              <a:rPr lang="fr-FR" baseline="-25000" dirty="0"/>
              <a:t>4</a:t>
            </a:r>
            <a:r>
              <a:rPr lang="fr-FR" dirty="0"/>
              <a:t>(X) (T</a:t>
            </a:r>
            <a:r>
              <a:rPr lang="fr-FR" baseline="-25000" dirty="0"/>
              <a:t>1</a:t>
            </a:r>
            <a:r>
              <a:rPr lang="fr-FR" dirty="0"/>
              <a:t> → T</a:t>
            </a:r>
            <a:r>
              <a:rPr lang="fr-FR" baseline="-25000" dirty="0"/>
              <a:t>4</a:t>
            </a:r>
            <a:r>
              <a:rPr lang="fr-FR" dirty="0"/>
              <a:t>)</a:t>
            </a:r>
          </a:p>
          <a:p>
            <a:pPr fontAlgn="base"/>
            <a:r>
              <a:rPr lang="fr-FR" dirty="0"/>
              <a:t>W</a:t>
            </a:r>
            <a:r>
              <a:rPr lang="fr-FR" baseline="-25000" dirty="0"/>
              <a:t>2</a:t>
            </a:r>
            <a:r>
              <a:rPr lang="fr-FR" dirty="0"/>
              <a:t>(Y) , R</a:t>
            </a:r>
            <a:r>
              <a:rPr lang="fr-FR" baseline="-25000" dirty="0"/>
              <a:t>4</a:t>
            </a:r>
            <a:r>
              <a:rPr lang="fr-FR" dirty="0"/>
              <a:t>(Y) (T</a:t>
            </a:r>
            <a:r>
              <a:rPr lang="fr-FR" baseline="-25000" dirty="0"/>
              <a:t>2</a:t>
            </a:r>
            <a:r>
              <a:rPr lang="fr-FR" dirty="0"/>
              <a:t> → T</a:t>
            </a:r>
            <a:r>
              <a:rPr lang="fr-FR" baseline="-25000" dirty="0"/>
              <a:t>4</a:t>
            </a:r>
            <a:r>
              <a:rPr lang="fr-FR" dirty="0"/>
              <a:t>)</a:t>
            </a:r>
          </a:p>
          <a:p>
            <a:endParaRPr lang="en-US" dirty="0"/>
          </a:p>
        </p:txBody>
      </p:sp>
    </p:spTree>
    <p:extLst>
      <p:ext uri="{BB962C8B-B14F-4D97-AF65-F5344CB8AC3E}">
        <p14:creationId xmlns:p14="http://schemas.microsoft.com/office/powerpoint/2010/main" val="1851772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54559" y="553792"/>
            <a:ext cx="7141804" cy="4991346"/>
          </a:xfrm>
          <a:prstGeom prst="rect">
            <a:avLst/>
          </a:prstGeom>
        </p:spPr>
      </p:pic>
    </p:spTree>
    <p:extLst>
      <p:ext uri="{BB962C8B-B14F-4D97-AF65-F5344CB8AC3E}">
        <p14:creationId xmlns:p14="http://schemas.microsoft.com/office/powerpoint/2010/main" val="23407913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944710" y="515155"/>
            <a:ext cx="6856390" cy="5352245"/>
          </a:xfrm>
          <a:prstGeom prst="rect">
            <a:avLst/>
          </a:prstGeom>
        </p:spPr>
      </p:pic>
    </p:spTree>
    <p:extLst>
      <p:ext uri="{BB962C8B-B14F-4D97-AF65-F5344CB8AC3E}">
        <p14:creationId xmlns:p14="http://schemas.microsoft.com/office/powerpoint/2010/main" val="29205000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00010" y="502275"/>
            <a:ext cx="8834907" cy="5705341"/>
          </a:xfrm>
          <a:prstGeom prst="rect">
            <a:avLst/>
          </a:prstGeom>
        </p:spPr>
      </p:pic>
    </p:spTree>
    <p:extLst>
      <p:ext uri="{BB962C8B-B14F-4D97-AF65-F5344CB8AC3E}">
        <p14:creationId xmlns:p14="http://schemas.microsoft.com/office/powerpoint/2010/main" val="18393900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2124"/>
            <a:ext cx="10515600" cy="5764839"/>
          </a:xfrm>
        </p:spPr>
        <p:txBody>
          <a:bodyPr>
            <a:normAutofit/>
          </a:bodyPr>
          <a:lstStyle/>
          <a:p>
            <a:pPr marL="0" indent="0" fontAlgn="base">
              <a:buNone/>
            </a:pPr>
            <a:r>
              <a:rPr lang="en-US" b="1" u="sng" dirty="0" smtClean="0"/>
              <a:t> Checking </a:t>
            </a:r>
            <a:r>
              <a:rPr lang="en-US" b="1" u="sng" dirty="0"/>
              <a:t>Whether S is Conflict Serializable Or Not-</a:t>
            </a:r>
            <a:endParaRPr lang="en-US" b="1" dirty="0"/>
          </a:p>
          <a:p>
            <a:pPr fontAlgn="base"/>
            <a:r>
              <a:rPr lang="en-US" b="1" u="sng" dirty="0" smtClean="0"/>
              <a:t>Step-01</a:t>
            </a:r>
            <a:r>
              <a:rPr lang="en-US" b="1" u="sng" dirty="0"/>
              <a:t>:</a:t>
            </a:r>
            <a:endParaRPr lang="en-US" b="1" dirty="0"/>
          </a:p>
          <a:p>
            <a:pPr marL="0" indent="0" fontAlgn="base">
              <a:buNone/>
            </a:pPr>
            <a:r>
              <a:rPr lang="en-US" dirty="0" smtClean="0"/>
              <a:t>List </a:t>
            </a:r>
            <a:r>
              <a:rPr lang="en-US" dirty="0"/>
              <a:t>all the conflicting operations and determine the dependency between the transactions-</a:t>
            </a:r>
          </a:p>
          <a:p>
            <a:pPr fontAlgn="base"/>
            <a:r>
              <a:rPr lang="en-US" dirty="0"/>
              <a:t>R</a:t>
            </a:r>
            <a:r>
              <a:rPr lang="en-US" baseline="-25000" dirty="0"/>
              <a:t>1</a:t>
            </a:r>
            <a:r>
              <a:rPr lang="en-US" dirty="0"/>
              <a:t>(A) , W</a:t>
            </a:r>
            <a:r>
              <a:rPr lang="en-US" baseline="-25000" dirty="0"/>
              <a:t>2</a:t>
            </a:r>
            <a:r>
              <a:rPr lang="en-US" dirty="0"/>
              <a:t>(A) (T</a:t>
            </a:r>
            <a:r>
              <a:rPr lang="en-US" baseline="-25000" dirty="0"/>
              <a:t>1</a:t>
            </a:r>
            <a:r>
              <a:rPr lang="en-US" dirty="0"/>
              <a:t> → T</a:t>
            </a:r>
            <a:r>
              <a:rPr lang="en-US" baseline="-25000" dirty="0"/>
              <a:t>2</a:t>
            </a:r>
            <a:r>
              <a:rPr lang="en-US" dirty="0"/>
              <a:t>)</a:t>
            </a:r>
          </a:p>
          <a:p>
            <a:pPr fontAlgn="base"/>
            <a:r>
              <a:rPr lang="en-US" dirty="0"/>
              <a:t>R</a:t>
            </a:r>
            <a:r>
              <a:rPr lang="en-US" baseline="-25000" dirty="0"/>
              <a:t>2</a:t>
            </a:r>
            <a:r>
              <a:rPr lang="en-US" dirty="0"/>
              <a:t>(A) , W</a:t>
            </a:r>
            <a:r>
              <a:rPr lang="en-US" baseline="-25000" dirty="0"/>
              <a:t>1</a:t>
            </a:r>
            <a:r>
              <a:rPr lang="en-US" dirty="0"/>
              <a:t>(A) (T</a:t>
            </a:r>
            <a:r>
              <a:rPr lang="en-US" baseline="-25000" dirty="0"/>
              <a:t>2</a:t>
            </a:r>
            <a:r>
              <a:rPr lang="en-US" dirty="0"/>
              <a:t> → T</a:t>
            </a:r>
            <a:r>
              <a:rPr lang="en-US" baseline="-25000" dirty="0"/>
              <a:t>1</a:t>
            </a:r>
            <a:r>
              <a:rPr lang="en-US" dirty="0"/>
              <a:t>)</a:t>
            </a:r>
          </a:p>
          <a:p>
            <a:pPr fontAlgn="base"/>
            <a:r>
              <a:rPr lang="en-US" dirty="0"/>
              <a:t>W</a:t>
            </a:r>
            <a:r>
              <a:rPr lang="en-US" baseline="-25000" dirty="0"/>
              <a:t>2</a:t>
            </a:r>
            <a:r>
              <a:rPr lang="en-US" dirty="0"/>
              <a:t>(A) , W</a:t>
            </a:r>
            <a:r>
              <a:rPr lang="en-US" baseline="-25000" dirty="0"/>
              <a:t>1</a:t>
            </a:r>
            <a:r>
              <a:rPr lang="en-US" dirty="0"/>
              <a:t>(A) (T</a:t>
            </a:r>
            <a:r>
              <a:rPr lang="en-US" baseline="-25000" dirty="0"/>
              <a:t>2</a:t>
            </a:r>
            <a:r>
              <a:rPr lang="en-US" dirty="0"/>
              <a:t> → T</a:t>
            </a:r>
            <a:r>
              <a:rPr lang="en-US" baseline="-25000" dirty="0"/>
              <a:t>1</a:t>
            </a:r>
            <a:r>
              <a:rPr lang="en-US" dirty="0"/>
              <a:t>)</a:t>
            </a:r>
          </a:p>
          <a:p>
            <a:pPr fontAlgn="base"/>
            <a:r>
              <a:rPr lang="en-US" dirty="0"/>
              <a:t>R</a:t>
            </a:r>
            <a:r>
              <a:rPr lang="en-US" baseline="-25000" dirty="0"/>
              <a:t>2</a:t>
            </a:r>
            <a:r>
              <a:rPr lang="en-US" dirty="0"/>
              <a:t>(B) , W</a:t>
            </a:r>
            <a:r>
              <a:rPr lang="en-US" baseline="-25000" dirty="0"/>
              <a:t>1</a:t>
            </a:r>
            <a:r>
              <a:rPr lang="en-US" dirty="0"/>
              <a:t>(B) (T</a:t>
            </a:r>
            <a:r>
              <a:rPr lang="en-US" baseline="-25000" dirty="0"/>
              <a:t>2</a:t>
            </a:r>
            <a:r>
              <a:rPr lang="en-US" dirty="0"/>
              <a:t> → T</a:t>
            </a:r>
            <a:r>
              <a:rPr lang="en-US" baseline="-25000" dirty="0"/>
              <a:t>1</a:t>
            </a:r>
            <a:r>
              <a:rPr lang="en-US" dirty="0"/>
              <a:t>)</a:t>
            </a:r>
          </a:p>
          <a:p>
            <a:pPr fontAlgn="base"/>
            <a:r>
              <a:rPr lang="en-US" dirty="0"/>
              <a:t>R</a:t>
            </a:r>
            <a:r>
              <a:rPr lang="en-US" baseline="-25000" dirty="0"/>
              <a:t>1</a:t>
            </a:r>
            <a:r>
              <a:rPr lang="en-US" dirty="0"/>
              <a:t>(B) , W</a:t>
            </a:r>
            <a:r>
              <a:rPr lang="en-US" baseline="-25000" dirty="0"/>
              <a:t>2</a:t>
            </a:r>
            <a:r>
              <a:rPr lang="en-US" dirty="0"/>
              <a:t>(B) (T</a:t>
            </a:r>
            <a:r>
              <a:rPr lang="en-US" baseline="-25000" dirty="0"/>
              <a:t>1</a:t>
            </a:r>
            <a:r>
              <a:rPr lang="en-US" dirty="0"/>
              <a:t> → T</a:t>
            </a:r>
            <a:r>
              <a:rPr lang="en-US" baseline="-25000" dirty="0"/>
              <a:t>2</a:t>
            </a:r>
            <a:r>
              <a:rPr lang="en-US" dirty="0"/>
              <a:t>)</a:t>
            </a:r>
          </a:p>
          <a:p>
            <a:pPr fontAlgn="base"/>
            <a:r>
              <a:rPr lang="en-US" dirty="0"/>
              <a:t>W</a:t>
            </a:r>
            <a:r>
              <a:rPr lang="en-US" baseline="-25000" dirty="0"/>
              <a:t>1</a:t>
            </a:r>
            <a:r>
              <a:rPr lang="en-US" dirty="0"/>
              <a:t>(B) , W</a:t>
            </a:r>
            <a:r>
              <a:rPr lang="en-US" baseline="-25000" dirty="0"/>
              <a:t>2</a:t>
            </a:r>
            <a:r>
              <a:rPr lang="en-US" dirty="0"/>
              <a:t>(B) (T</a:t>
            </a:r>
            <a:r>
              <a:rPr lang="en-US" baseline="-25000" dirty="0"/>
              <a:t>1</a:t>
            </a:r>
            <a:r>
              <a:rPr lang="en-US" dirty="0"/>
              <a:t> → T</a:t>
            </a:r>
            <a:r>
              <a:rPr lang="en-US" baseline="-25000" dirty="0"/>
              <a:t>2</a:t>
            </a:r>
            <a:r>
              <a:rPr lang="en-US" dirty="0"/>
              <a:t>)</a:t>
            </a:r>
          </a:p>
          <a:p>
            <a:endParaRPr lang="en-US" dirty="0"/>
          </a:p>
        </p:txBody>
      </p:sp>
    </p:spTree>
    <p:extLst>
      <p:ext uri="{BB962C8B-B14F-4D97-AF65-F5344CB8AC3E}">
        <p14:creationId xmlns:p14="http://schemas.microsoft.com/office/powerpoint/2010/main" val="15846193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93949" y="425003"/>
            <a:ext cx="8075054" cy="5576552"/>
          </a:xfrm>
          <a:prstGeom prst="rect">
            <a:avLst/>
          </a:prstGeom>
        </p:spPr>
      </p:pic>
    </p:spTree>
    <p:extLst>
      <p:ext uri="{BB962C8B-B14F-4D97-AF65-F5344CB8AC3E}">
        <p14:creationId xmlns:p14="http://schemas.microsoft.com/office/powerpoint/2010/main" val="10690394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033"/>
          </a:xfrm>
        </p:spPr>
        <p:txBody>
          <a:bodyPr>
            <a:noAutofit/>
          </a:bodyPr>
          <a:lstStyle/>
          <a:p>
            <a:pPr fontAlgn="base"/>
            <a:r>
              <a:rPr lang="en-US" sz="3200" b="1" u="sng" dirty="0"/>
              <a:t>View </a:t>
            </a:r>
            <a:r>
              <a:rPr lang="en-US" sz="3200" b="1" u="sng" dirty="0" err="1"/>
              <a:t>Serializability</a:t>
            </a:r>
            <a:r>
              <a:rPr lang="en-US" sz="3200" b="1" u="sng" dirty="0"/>
              <a:t>-</a:t>
            </a:r>
            <a:endParaRPr lang="en-US" sz="3200" b="1" dirty="0"/>
          </a:p>
        </p:txBody>
      </p:sp>
      <p:sp>
        <p:nvSpPr>
          <p:cNvPr id="3" name="Content Placeholder 2"/>
          <p:cNvSpPr>
            <a:spLocks noGrp="1"/>
          </p:cNvSpPr>
          <p:nvPr>
            <p:ph idx="1"/>
          </p:nvPr>
        </p:nvSpPr>
        <p:spPr>
          <a:xfrm>
            <a:off x="838200" y="927280"/>
            <a:ext cx="10515600" cy="5249684"/>
          </a:xfrm>
        </p:spPr>
        <p:txBody>
          <a:bodyPr>
            <a:normAutofit lnSpcReduction="10000"/>
          </a:bodyPr>
          <a:lstStyle/>
          <a:p>
            <a:r>
              <a:rPr lang="en-US" dirty="0"/>
              <a:t>If a given schedule is found to be view equivalent to some serial schedule, then it is called as a view </a:t>
            </a:r>
            <a:r>
              <a:rPr lang="en-US" dirty="0" smtClean="0"/>
              <a:t>serializable </a:t>
            </a:r>
            <a:r>
              <a:rPr lang="en-US" dirty="0"/>
              <a:t>schedule</a:t>
            </a:r>
            <a:r>
              <a:rPr lang="en-US" dirty="0" smtClean="0"/>
              <a:t>.</a:t>
            </a:r>
          </a:p>
          <a:p>
            <a:pPr fontAlgn="base"/>
            <a:r>
              <a:rPr lang="en-US" b="1" u="sng" dirty="0"/>
              <a:t>View Equivalent Schedules-</a:t>
            </a:r>
            <a:endParaRPr lang="en-US" b="1" dirty="0"/>
          </a:p>
          <a:p>
            <a:pPr marL="0" indent="0" fontAlgn="base">
              <a:buNone/>
            </a:pPr>
            <a:r>
              <a:rPr lang="en-US" dirty="0" smtClean="0"/>
              <a:t>Consider </a:t>
            </a:r>
            <a:r>
              <a:rPr lang="en-US" dirty="0"/>
              <a:t>two schedules S1 and S2 each consisting of two transactions T1 and T2.</a:t>
            </a:r>
          </a:p>
          <a:p>
            <a:pPr fontAlgn="base"/>
            <a:r>
              <a:rPr lang="en-US" dirty="0"/>
              <a:t>Schedules S1 and S2 are called </a:t>
            </a:r>
            <a:r>
              <a:rPr lang="en-US" dirty="0">
                <a:solidFill>
                  <a:srgbClr val="FF0000"/>
                </a:solidFill>
              </a:rPr>
              <a:t>view equivalent </a:t>
            </a:r>
            <a:r>
              <a:rPr lang="en-US" dirty="0"/>
              <a:t>if the following three conditions hold true for </a:t>
            </a:r>
            <a:r>
              <a:rPr lang="en-US" dirty="0" smtClean="0"/>
              <a:t>them-</a:t>
            </a:r>
          </a:p>
          <a:p>
            <a:pPr fontAlgn="base"/>
            <a:r>
              <a:rPr lang="en-US" dirty="0" smtClean="0"/>
              <a:t>1.</a:t>
            </a:r>
            <a:r>
              <a:rPr lang="en-US" dirty="0"/>
              <a:t> For each data item X, if transaction T</a:t>
            </a:r>
            <a:r>
              <a:rPr lang="en-US" baseline="-25000" dirty="0"/>
              <a:t>i</a:t>
            </a:r>
            <a:r>
              <a:rPr lang="en-US" dirty="0"/>
              <a:t> reads X from the database initially in schedule S1, then in schedule S2 also, T</a:t>
            </a:r>
            <a:r>
              <a:rPr lang="en-US" baseline="-25000" dirty="0"/>
              <a:t>i </a:t>
            </a:r>
            <a:r>
              <a:rPr lang="en-US" dirty="0"/>
              <a:t>must perform the initial read of X from the database</a:t>
            </a:r>
            <a:r>
              <a:rPr lang="en-US" dirty="0" smtClean="0"/>
              <a:t>.</a:t>
            </a:r>
          </a:p>
          <a:p>
            <a:pPr marL="0" indent="0" algn="ctr" fontAlgn="base">
              <a:buNone/>
            </a:pPr>
            <a:r>
              <a:rPr lang="en-US" b="1" u="sng" dirty="0">
                <a:solidFill>
                  <a:srgbClr val="00B050"/>
                </a:solidFill>
              </a:rPr>
              <a:t>Thumb Rule</a:t>
            </a:r>
            <a:endParaRPr lang="en-US" b="1" dirty="0">
              <a:solidFill>
                <a:srgbClr val="00B050"/>
              </a:solidFill>
            </a:endParaRPr>
          </a:p>
          <a:p>
            <a:pPr marL="0" indent="0" fontAlgn="base">
              <a:buNone/>
            </a:pPr>
            <a:r>
              <a:rPr lang="en-US" dirty="0">
                <a:solidFill>
                  <a:srgbClr val="00B050"/>
                </a:solidFill>
              </a:rPr>
              <a:t>	</a:t>
            </a:r>
            <a:r>
              <a:rPr lang="en-US" dirty="0" smtClean="0">
                <a:solidFill>
                  <a:srgbClr val="00B050"/>
                </a:solidFill>
              </a:rPr>
              <a:t>    “</a:t>
            </a:r>
            <a:r>
              <a:rPr lang="en-US" dirty="0">
                <a:solidFill>
                  <a:srgbClr val="00B050"/>
                </a:solidFill>
              </a:rPr>
              <a:t>Initial readers must be same for all the data items”.</a:t>
            </a:r>
          </a:p>
          <a:p>
            <a:pPr lvl="2" fontAlgn="base"/>
            <a:endParaRPr lang="en-US" dirty="0" smtClean="0"/>
          </a:p>
        </p:txBody>
      </p:sp>
    </p:spTree>
    <p:extLst>
      <p:ext uri="{BB962C8B-B14F-4D97-AF65-F5344CB8AC3E}">
        <p14:creationId xmlns:p14="http://schemas.microsoft.com/office/powerpoint/2010/main" val="3460049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8789"/>
            <a:ext cx="10515600" cy="6048175"/>
          </a:xfrm>
        </p:spPr>
        <p:txBody>
          <a:bodyPr>
            <a:normAutofit/>
          </a:bodyPr>
          <a:lstStyle/>
          <a:p>
            <a:pPr fontAlgn="base"/>
            <a:r>
              <a:rPr lang="en-US" dirty="0" smtClean="0"/>
              <a:t>Schedules </a:t>
            </a:r>
            <a:r>
              <a:rPr lang="en-US" dirty="0"/>
              <a:t>S1 and S2 are called </a:t>
            </a:r>
            <a:r>
              <a:rPr lang="en-US" dirty="0">
                <a:solidFill>
                  <a:srgbClr val="FF0000"/>
                </a:solidFill>
              </a:rPr>
              <a:t>view equivalent </a:t>
            </a:r>
            <a:r>
              <a:rPr lang="en-US" dirty="0"/>
              <a:t>if the following three conditions hold true for </a:t>
            </a:r>
            <a:r>
              <a:rPr lang="en-US" dirty="0" smtClean="0"/>
              <a:t>them-</a:t>
            </a:r>
          </a:p>
          <a:p>
            <a:pPr fontAlgn="base"/>
            <a:r>
              <a:rPr lang="en-US" dirty="0" smtClean="0"/>
              <a:t>1.</a:t>
            </a:r>
            <a:r>
              <a:rPr lang="en-US" dirty="0"/>
              <a:t> For each data item X, if transaction T</a:t>
            </a:r>
            <a:r>
              <a:rPr lang="en-US" baseline="-25000" dirty="0"/>
              <a:t>i</a:t>
            </a:r>
            <a:r>
              <a:rPr lang="en-US" dirty="0"/>
              <a:t> reads X from the database initially in schedule S1, then in schedule S2 also, T</a:t>
            </a:r>
            <a:r>
              <a:rPr lang="en-US" baseline="-25000" dirty="0"/>
              <a:t>i </a:t>
            </a:r>
            <a:r>
              <a:rPr lang="en-US" dirty="0"/>
              <a:t>must perform the initial read of X from the database</a:t>
            </a:r>
            <a:r>
              <a:rPr lang="en-US" dirty="0" smtClean="0"/>
              <a:t>.</a:t>
            </a:r>
          </a:p>
          <a:p>
            <a:pPr marL="0" indent="0" algn="ctr" fontAlgn="base">
              <a:buNone/>
            </a:pPr>
            <a:r>
              <a:rPr lang="en-US" b="1" u="sng" dirty="0">
                <a:solidFill>
                  <a:srgbClr val="00B050"/>
                </a:solidFill>
              </a:rPr>
              <a:t>Thumb Rule</a:t>
            </a:r>
            <a:endParaRPr lang="en-US" b="1" dirty="0">
              <a:solidFill>
                <a:srgbClr val="00B050"/>
              </a:solidFill>
            </a:endParaRPr>
          </a:p>
          <a:p>
            <a:pPr marL="0" indent="0" fontAlgn="base">
              <a:buNone/>
            </a:pPr>
            <a:r>
              <a:rPr lang="en-US" dirty="0">
                <a:solidFill>
                  <a:srgbClr val="00B050"/>
                </a:solidFill>
              </a:rPr>
              <a:t>	</a:t>
            </a:r>
            <a:r>
              <a:rPr lang="en-US" dirty="0" smtClean="0">
                <a:solidFill>
                  <a:srgbClr val="00B050"/>
                </a:solidFill>
              </a:rPr>
              <a:t>    “</a:t>
            </a:r>
            <a:r>
              <a:rPr lang="en-US" dirty="0">
                <a:solidFill>
                  <a:srgbClr val="00B050"/>
                </a:solidFill>
              </a:rPr>
              <a:t>Initial readers must be same for all the data items”.</a:t>
            </a:r>
          </a:p>
          <a:p>
            <a:pPr lvl="2" fontAlgn="base"/>
            <a:endParaRPr lang="en-US" dirty="0" smtClean="0"/>
          </a:p>
        </p:txBody>
      </p:sp>
      <p:pic>
        <p:nvPicPr>
          <p:cNvPr id="5" name="Picture 4"/>
          <p:cNvPicPr>
            <a:picLocks noChangeAspect="1"/>
          </p:cNvPicPr>
          <p:nvPr/>
        </p:nvPicPr>
        <p:blipFill>
          <a:blip r:embed="rId2"/>
          <a:stretch>
            <a:fillRect/>
          </a:stretch>
        </p:blipFill>
        <p:spPr>
          <a:xfrm>
            <a:off x="1841679" y="3438659"/>
            <a:ext cx="7817476" cy="2369042"/>
          </a:xfrm>
          <a:prstGeom prst="rect">
            <a:avLst/>
          </a:prstGeom>
        </p:spPr>
      </p:pic>
    </p:spTree>
    <p:extLst>
      <p:ext uri="{BB962C8B-B14F-4D97-AF65-F5344CB8AC3E}">
        <p14:creationId xmlns:p14="http://schemas.microsoft.com/office/powerpoint/2010/main" val="11955598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7280"/>
            <a:ext cx="10515600" cy="5249684"/>
          </a:xfrm>
        </p:spPr>
        <p:txBody>
          <a:bodyPr>
            <a:normAutofit/>
          </a:bodyPr>
          <a:lstStyle/>
          <a:p>
            <a:pPr fontAlgn="base"/>
            <a:r>
              <a:rPr lang="en-US" dirty="0" smtClean="0"/>
              <a:t>2.</a:t>
            </a:r>
            <a:r>
              <a:rPr lang="en-US" dirty="0"/>
              <a:t> If transaction T</a:t>
            </a:r>
            <a:r>
              <a:rPr lang="en-US" baseline="-25000" dirty="0"/>
              <a:t>i</a:t>
            </a:r>
            <a:r>
              <a:rPr lang="en-US" dirty="0"/>
              <a:t> reads a data item that has been updated by the transaction </a:t>
            </a:r>
            <a:r>
              <a:rPr lang="en-US" dirty="0" smtClean="0"/>
              <a:t>T</a:t>
            </a:r>
            <a:r>
              <a:rPr lang="en-US" baseline="-25000" dirty="0" smtClean="0"/>
              <a:t>j</a:t>
            </a:r>
            <a:r>
              <a:rPr lang="en-US" dirty="0"/>
              <a:t> in schedule S1, then in schedule S2 also, transaction </a:t>
            </a:r>
            <a:r>
              <a:rPr lang="en-US" dirty="0" smtClean="0"/>
              <a:t>T</a:t>
            </a:r>
            <a:r>
              <a:rPr lang="en-US" baseline="-25000" dirty="0" smtClean="0"/>
              <a:t>i</a:t>
            </a:r>
            <a:r>
              <a:rPr lang="en-US" dirty="0"/>
              <a:t> must read the same data item that has been updated by the transaction </a:t>
            </a:r>
            <a:r>
              <a:rPr lang="en-US" dirty="0" smtClean="0"/>
              <a:t>T</a:t>
            </a:r>
            <a:r>
              <a:rPr lang="en-US" baseline="-25000" dirty="0" smtClean="0"/>
              <a:t>j.</a:t>
            </a:r>
          </a:p>
          <a:p>
            <a:pPr marL="0" indent="0" algn="ctr" fontAlgn="base">
              <a:buNone/>
            </a:pPr>
            <a:r>
              <a:rPr lang="en-US" b="1" u="sng" dirty="0">
                <a:solidFill>
                  <a:srgbClr val="00B050"/>
                </a:solidFill>
              </a:rPr>
              <a:t>Thumb Rule</a:t>
            </a:r>
            <a:endParaRPr lang="en-US" b="1" dirty="0">
              <a:solidFill>
                <a:srgbClr val="00B050"/>
              </a:solidFill>
            </a:endParaRPr>
          </a:p>
          <a:p>
            <a:pPr marL="0" indent="0" fontAlgn="base">
              <a:buNone/>
            </a:pPr>
            <a:r>
              <a:rPr lang="en-US" dirty="0">
                <a:solidFill>
                  <a:srgbClr val="00B050"/>
                </a:solidFill>
              </a:rPr>
              <a:t>	</a:t>
            </a:r>
            <a:r>
              <a:rPr lang="en-US" dirty="0" smtClean="0">
                <a:solidFill>
                  <a:srgbClr val="00B050"/>
                </a:solidFill>
              </a:rPr>
              <a:t>                     “</a:t>
            </a:r>
            <a:r>
              <a:rPr lang="en-US" dirty="0">
                <a:solidFill>
                  <a:srgbClr val="00B050"/>
                </a:solidFill>
              </a:rPr>
              <a:t>Write-read sequence must be same</a:t>
            </a:r>
            <a:r>
              <a:rPr lang="en-US" dirty="0" smtClean="0">
                <a:solidFill>
                  <a:srgbClr val="00B050"/>
                </a:solidFill>
              </a:rPr>
              <a:t>.”.</a:t>
            </a:r>
            <a:endParaRPr lang="en-US" dirty="0">
              <a:solidFill>
                <a:srgbClr val="00B050"/>
              </a:solidFill>
            </a:endParaRPr>
          </a:p>
        </p:txBody>
      </p:sp>
      <p:pic>
        <p:nvPicPr>
          <p:cNvPr id="2" name="Picture 1"/>
          <p:cNvPicPr>
            <a:picLocks noChangeAspect="1"/>
          </p:cNvPicPr>
          <p:nvPr/>
        </p:nvPicPr>
        <p:blipFill>
          <a:blip r:embed="rId2"/>
          <a:stretch>
            <a:fillRect/>
          </a:stretch>
        </p:blipFill>
        <p:spPr>
          <a:xfrm>
            <a:off x="1004552" y="3760631"/>
            <a:ext cx="8693239" cy="2395470"/>
          </a:xfrm>
          <a:prstGeom prst="rect">
            <a:avLst/>
          </a:prstGeom>
        </p:spPr>
      </p:pic>
    </p:spTree>
    <p:extLst>
      <p:ext uri="{BB962C8B-B14F-4D97-AF65-F5344CB8AC3E}">
        <p14:creationId xmlns:p14="http://schemas.microsoft.com/office/powerpoint/2010/main" val="19945665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7280"/>
            <a:ext cx="10515600" cy="5249684"/>
          </a:xfrm>
        </p:spPr>
        <p:txBody>
          <a:bodyPr>
            <a:normAutofit/>
          </a:bodyPr>
          <a:lstStyle/>
          <a:p>
            <a:pPr fontAlgn="base"/>
            <a:r>
              <a:rPr lang="en-US" dirty="0" smtClean="0"/>
              <a:t>3. For </a:t>
            </a:r>
            <a:r>
              <a:rPr lang="en-US" dirty="0"/>
              <a:t>each data item X, if X has been updated at last by transaction T</a:t>
            </a:r>
            <a:r>
              <a:rPr lang="en-US" baseline="-25000" dirty="0"/>
              <a:t>i</a:t>
            </a:r>
            <a:r>
              <a:rPr lang="en-US" dirty="0"/>
              <a:t> in schedule S1, then in schedule S2 also, X must be updated at last by transaction T</a:t>
            </a:r>
            <a:r>
              <a:rPr lang="en-US" baseline="-25000" dirty="0"/>
              <a:t>i</a:t>
            </a:r>
            <a:r>
              <a:rPr lang="en-US" dirty="0"/>
              <a:t>.</a:t>
            </a:r>
          </a:p>
          <a:p>
            <a:pPr marL="0" indent="0" algn="ctr" fontAlgn="base">
              <a:buNone/>
            </a:pPr>
            <a:r>
              <a:rPr lang="en-US" b="1" u="sng" dirty="0">
                <a:solidFill>
                  <a:srgbClr val="00B050"/>
                </a:solidFill>
              </a:rPr>
              <a:t>Thumb Rule</a:t>
            </a:r>
            <a:endParaRPr lang="en-US" b="1" dirty="0">
              <a:solidFill>
                <a:srgbClr val="00B050"/>
              </a:solidFill>
            </a:endParaRPr>
          </a:p>
          <a:p>
            <a:pPr marL="0" indent="0" fontAlgn="base">
              <a:buNone/>
            </a:pPr>
            <a:r>
              <a:rPr lang="en-US" dirty="0" smtClean="0">
                <a:solidFill>
                  <a:srgbClr val="00B050"/>
                </a:solidFill>
              </a:rPr>
              <a:t>                         “</a:t>
            </a:r>
            <a:r>
              <a:rPr lang="en-US" dirty="0">
                <a:solidFill>
                  <a:srgbClr val="00B050"/>
                </a:solidFill>
              </a:rPr>
              <a:t>Final writers must be same for all the data items”.</a:t>
            </a:r>
          </a:p>
          <a:p>
            <a:endParaRPr lang="en-US" dirty="0"/>
          </a:p>
        </p:txBody>
      </p:sp>
      <p:pic>
        <p:nvPicPr>
          <p:cNvPr id="2" name="Picture 1"/>
          <p:cNvPicPr>
            <a:picLocks noChangeAspect="1"/>
          </p:cNvPicPr>
          <p:nvPr/>
        </p:nvPicPr>
        <p:blipFill>
          <a:blip r:embed="rId2"/>
          <a:stretch>
            <a:fillRect/>
          </a:stretch>
        </p:blipFill>
        <p:spPr>
          <a:xfrm>
            <a:off x="1828799" y="3672491"/>
            <a:ext cx="8139448" cy="2573762"/>
          </a:xfrm>
          <a:prstGeom prst="rect">
            <a:avLst/>
          </a:prstGeom>
        </p:spPr>
      </p:pic>
    </p:spTree>
    <p:extLst>
      <p:ext uri="{BB962C8B-B14F-4D97-AF65-F5344CB8AC3E}">
        <p14:creationId xmlns:p14="http://schemas.microsoft.com/office/powerpoint/2010/main" val="16373329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dirty="0"/>
              <a:t>A schedule is view serializable, if it is view equivalent to its serial schedule.</a:t>
            </a:r>
          </a:p>
          <a:p>
            <a:pPr marL="0" indent="0">
              <a:buNone/>
            </a:pPr>
            <a:endParaRPr lang="en-US" dirty="0"/>
          </a:p>
        </p:txBody>
      </p:sp>
    </p:spTree>
    <p:extLst>
      <p:ext uri="{BB962C8B-B14F-4D97-AF65-F5344CB8AC3E}">
        <p14:creationId xmlns:p14="http://schemas.microsoft.com/office/powerpoint/2010/main" val="10448299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5459"/>
            <a:ext cx="10515600" cy="5481504"/>
          </a:xfrm>
        </p:spPr>
        <p:txBody>
          <a:bodyPr/>
          <a:lstStyle/>
          <a:p>
            <a:pPr fontAlgn="base"/>
            <a:r>
              <a:rPr lang="en-US" b="1" u="sng" dirty="0"/>
              <a:t>Checking Whether a Schedule is View Serializable Or Not-</a:t>
            </a:r>
            <a:endParaRPr lang="en-US" b="1" dirty="0"/>
          </a:p>
          <a:p>
            <a:pPr marL="0" indent="0" fontAlgn="base">
              <a:buNone/>
            </a:pPr>
            <a:r>
              <a:rPr lang="en-US" b="1" u="sng" dirty="0"/>
              <a:t>Method-01:</a:t>
            </a:r>
            <a:endParaRPr lang="en-US" b="1" dirty="0"/>
          </a:p>
          <a:p>
            <a:pPr fontAlgn="base"/>
            <a:r>
              <a:rPr lang="en-US" dirty="0" smtClean="0"/>
              <a:t>Check </a:t>
            </a:r>
            <a:r>
              <a:rPr lang="en-US" dirty="0"/>
              <a:t>whether the given schedule is conflict serializable or not.</a:t>
            </a:r>
          </a:p>
          <a:p>
            <a:pPr fontAlgn="base"/>
            <a:r>
              <a:rPr lang="en-US" dirty="0"/>
              <a:t>If the given schedule is conflict serializable, then it is surely view serializable. Stop and report your answer.</a:t>
            </a:r>
          </a:p>
          <a:p>
            <a:pPr fontAlgn="base"/>
            <a:r>
              <a:rPr lang="en-US" dirty="0"/>
              <a:t>If the given schedule is not conflict serializable, then it may or may not be view serializable. Go and check using other methods.</a:t>
            </a:r>
          </a:p>
          <a:p>
            <a:pPr marL="0" indent="0" fontAlgn="base">
              <a:buNone/>
            </a:pPr>
            <a:r>
              <a:rPr lang="en-US" dirty="0"/>
              <a:t> </a:t>
            </a:r>
          </a:p>
          <a:p>
            <a:pPr marL="0" indent="0">
              <a:buNone/>
            </a:pPr>
            <a:endParaRPr lang="en-US" dirty="0"/>
          </a:p>
        </p:txBody>
      </p:sp>
      <p:pic>
        <p:nvPicPr>
          <p:cNvPr id="4" name="Picture 3"/>
          <p:cNvPicPr>
            <a:picLocks noChangeAspect="1"/>
          </p:cNvPicPr>
          <p:nvPr/>
        </p:nvPicPr>
        <p:blipFill>
          <a:blip r:embed="rId2"/>
          <a:stretch>
            <a:fillRect/>
          </a:stretch>
        </p:blipFill>
        <p:spPr>
          <a:xfrm>
            <a:off x="2112135" y="4375796"/>
            <a:ext cx="8887169" cy="1892482"/>
          </a:xfrm>
          <a:prstGeom prst="rect">
            <a:avLst/>
          </a:prstGeom>
        </p:spPr>
      </p:pic>
    </p:spTree>
    <p:extLst>
      <p:ext uri="{BB962C8B-B14F-4D97-AF65-F5344CB8AC3E}">
        <p14:creationId xmlns:p14="http://schemas.microsoft.com/office/powerpoint/2010/main" val="11831979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2404"/>
            <a:ext cx="10515600" cy="5636050"/>
          </a:xfrm>
        </p:spPr>
        <p:txBody>
          <a:bodyPr/>
          <a:lstStyle/>
          <a:p>
            <a:r>
              <a:rPr lang="en-US" b="1" u="sng" dirty="0"/>
              <a:t>Method-02:</a:t>
            </a:r>
            <a:endParaRPr lang="en-US" b="1" dirty="0"/>
          </a:p>
          <a:p>
            <a:pPr fontAlgn="base"/>
            <a:r>
              <a:rPr lang="en-US" dirty="0"/>
              <a:t>Check if there exists any blind write operation.</a:t>
            </a:r>
          </a:p>
          <a:p>
            <a:pPr fontAlgn="base"/>
            <a:r>
              <a:rPr lang="en-US" dirty="0"/>
              <a:t>(Writing without reading is called as a blind write).</a:t>
            </a:r>
          </a:p>
          <a:p>
            <a:pPr fontAlgn="base"/>
            <a:r>
              <a:rPr lang="en-US" dirty="0"/>
              <a:t>If there does not exist any blind write, then the schedule is surely not view serializable. Stop and report your answer.</a:t>
            </a:r>
          </a:p>
          <a:p>
            <a:pPr fontAlgn="base"/>
            <a:r>
              <a:rPr lang="en-US" dirty="0"/>
              <a:t>If there exists any blind write, then the schedule may or may not be view serializable. Go and check using other methods.</a:t>
            </a:r>
          </a:p>
          <a:p>
            <a:endParaRPr lang="en-US" dirty="0"/>
          </a:p>
        </p:txBody>
      </p:sp>
      <p:pic>
        <p:nvPicPr>
          <p:cNvPr id="5" name="Picture 4"/>
          <p:cNvPicPr>
            <a:picLocks noChangeAspect="1"/>
          </p:cNvPicPr>
          <p:nvPr/>
        </p:nvPicPr>
        <p:blipFill>
          <a:blip r:embed="rId2"/>
          <a:stretch>
            <a:fillRect/>
          </a:stretch>
        </p:blipFill>
        <p:spPr>
          <a:xfrm>
            <a:off x="1506828" y="3835660"/>
            <a:ext cx="9556124" cy="1896746"/>
          </a:xfrm>
          <a:prstGeom prst="rect">
            <a:avLst/>
          </a:prstGeom>
        </p:spPr>
      </p:pic>
    </p:spTree>
    <p:extLst>
      <p:ext uri="{BB962C8B-B14F-4D97-AF65-F5344CB8AC3E}">
        <p14:creationId xmlns:p14="http://schemas.microsoft.com/office/powerpoint/2010/main" val="74896148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1065"/>
            <a:ext cx="10515600" cy="5545898"/>
          </a:xfrm>
        </p:spPr>
        <p:txBody>
          <a:bodyPr/>
          <a:lstStyle/>
          <a:p>
            <a:pPr fontAlgn="base"/>
            <a:r>
              <a:rPr lang="en-US" b="1" u="sng" dirty="0"/>
              <a:t>Method-03:</a:t>
            </a:r>
            <a:endParaRPr lang="en-US" b="1" dirty="0"/>
          </a:p>
          <a:p>
            <a:pPr marL="0" indent="0" fontAlgn="base">
              <a:buNone/>
            </a:pPr>
            <a:endParaRPr lang="en-US" dirty="0"/>
          </a:p>
          <a:p>
            <a:pPr fontAlgn="base"/>
            <a:r>
              <a:rPr lang="en-US" dirty="0"/>
              <a:t>In this method, try finding a view equivalent serial schedule.</a:t>
            </a:r>
          </a:p>
          <a:p>
            <a:pPr fontAlgn="base"/>
            <a:r>
              <a:rPr lang="en-US" dirty="0"/>
              <a:t>By using the above three conditions, write all the dependencies.</a:t>
            </a:r>
          </a:p>
          <a:p>
            <a:pPr fontAlgn="base"/>
            <a:r>
              <a:rPr lang="en-US" dirty="0"/>
              <a:t>Then, draw a graph using those dependencies.</a:t>
            </a:r>
          </a:p>
          <a:p>
            <a:pPr fontAlgn="base"/>
            <a:r>
              <a:rPr lang="en-US" dirty="0"/>
              <a:t>If there exists no cycle in the graph, then the schedule is view serializable otherwise not.</a:t>
            </a:r>
          </a:p>
          <a:p>
            <a:endParaRPr lang="en-US" dirty="0"/>
          </a:p>
        </p:txBody>
      </p:sp>
    </p:spTree>
    <p:extLst>
      <p:ext uri="{BB962C8B-B14F-4D97-AF65-F5344CB8AC3E}">
        <p14:creationId xmlns:p14="http://schemas.microsoft.com/office/powerpoint/2010/main" val="9589847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0913"/>
            <a:ext cx="10515600" cy="5636050"/>
          </a:xfrm>
        </p:spPr>
        <p:txBody>
          <a:bodyPr/>
          <a:lstStyle/>
          <a:p>
            <a:r>
              <a:rPr lang="en-US" dirty="0" smtClean="0"/>
              <a:t>1]Check </a:t>
            </a:r>
            <a:r>
              <a:rPr lang="en-US" dirty="0"/>
              <a:t>whether the given schedule S is view serializable or not-</a:t>
            </a:r>
          </a:p>
        </p:txBody>
      </p:sp>
      <p:pic>
        <p:nvPicPr>
          <p:cNvPr id="4" name="Picture 3"/>
          <p:cNvPicPr>
            <a:picLocks noChangeAspect="1"/>
          </p:cNvPicPr>
          <p:nvPr/>
        </p:nvPicPr>
        <p:blipFill>
          <a:blip r:embed="rId2"/>
          <a:stretch>
            <a:fillRect/>
          </a:stretch>
        </p:blipFill>
        <p:spPr>
          <a:xfrm>
            <a:off x="2971800" y="1409700"/>
            <a:ext cx="6248400" cy="4038600"/>
          </a:xfrm>
          <a:prstGeom prst="rect">
            <a:avLst/>
          </a:prstGeom>
        </p:spPr>
      </p:pic>
    </p:spTree>
    <p:extLst>
      <p:ext uri="{BB962C8B-B14F-4D97-AF65-F5344CB8AC3E}">
        <p14:creationId xmlns:p14="http://schemas.microsoft.com/office/powerpoint/2010/main" val="18098582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33365"/>
          </a:xfrm>
        </p:spPr>
        <p:txBody>
          <a:bodyPr>
            <a:normAutofit fontScale="90000"/>
          </a:bodyPr>
          <a:lstStyle/>
          <a:p>
            <a:pPr fontAlgn="base"/>
            <a:r>
              <a:rPr lang="en-US" b="1" u="sng"/>
              <a:t>Solution-</a:t>
            </a:r>
            <a:endParaRPr lang="en-US" b="1"/>
          </a:p>
        </p:txBody>
      </p:sp>
      <p:sp>
        <p:nvSpPr>
          <p:cNvPr id="3" name="Content Placeholder 2"/>
          <p:cNvSpPr>
            <a:spLocks noGrp="1"/>
          </p:cNvSpPr>
          <p:nvPr>
            <p:ph idx="1"/>
          </p:nvPr>
        </p:nvSpPr>
        <p:spPr>
          <a:xfrm>
            <a:off x="838200" y="1004552"/>
            <a:ext cx="10515600" cy="5172411"/>
          </a:xfrm>
        </p:spPr>
        <p:txBody>
          <a:bodyPr>
            <a:normAutofit fontScale="92500" lnSpcReduction="10000"/>
          </a:bodyPr>
          <a:lstStyle/>
          <a:p>
            <a:pPr fontAlgn="base"/>
            <a:r>
              <a:rPr lang="en-US" dirty="0"/>
              <a:t>We know, if a schedule is conflict serializable, then it is surely view serializable.</a:t>
            </a:r>
          </a:p>
          <a:p>
            <a:pPr fontAlgn="base"/>
            <a:r>
              <a:rPr lang="en-US" dirty="0"/>
              <a:t>So, let us check whether the given schedule is conflict serializable or not.</a:t>
            </a:r>
          </a:p>
          <a:p>
            <a:pPr fontAlgn="base"/>
            <a:r>
              <a:rPr lang="en-US" dirty="0" smtClean="0"/>
              <a:t>STEP 1:</a:t>
            </a:r>
          </a:p>
          <a:p>
            <a:pPr marL="0" indent="0" fontAlgn="base">
              <a:buNone/>
            </a:pPr>
            <a:r>
              <a:rPr lang="en-US" dirty="0" smtClean="0"/>
              <a:t>List </a:t>
            </a:r>
            <a:r>
              <a:rPr lang="en-US" dirty="0"/>
              <a:t>all the conflicting operations and determine the dependency between the transactions-</a:t>
            </a:r>
          </a:p>
          <a:p>
            <a:pPr fontAlgn="base"/>
            <a:r>
              <a:rPr lang="en-US" dirty="0"/>
              <a:t>W</a:t>
            </a:r>
            <a:r>
              <a:rPr lang="en-US" baseline="-25000" dirty="0"/>
              <a:t>1</a:t>
            </a:r>
            <a:r>
              <a:rPr lang="en-US" dirty="0"/>
              <a:t>(B) , W</a:t>
            </a:r>
            <a:r>
              <a:rPr lang="en-US" baseline="-25000" dirty="0"/>
              <a:t>2</a:t>
            </a:r>
            <a:r>
              <a:rPr lang="en-US" dirty="0"/>
              <a:t>(B) (T</a:t>
            </a:r>
            <a:r>
              <a:rPr lang="en-US" baseline="-25000" dirty="0"/>
              <a:t>1</a:t>
            </a:r>
            <a:r>
              <a:rPr lang="en-US" dirty="0"/>
              <a:t> → T</a:t>
            </a:r>
            <a:r>
              <a:rPr lang="en-US" baseline="-25000" dirty="0"/>
              <a:t>2</a:t>
            </a:r>
            <a:r>
              <a:rPr lang="en-US" dirty="0"/>
              <a:t>)</a:t>
            </a:r>
          </a:p>
          <a:p>
            <a:pPr fontAlgn="base"/>
            <a:r>
              <a:rPr lang="en-US" dirty="0"/>
              <a:t>W</a:t>
            </a:r>
            <a:r>
              <a:rPr lang="en-US" baseline="-25000" dirty="0"/>
              <a:t>1</a:t>
            </a:r>
            <a:r>
              <a:rPr lang="en-US" dirty="0"/>
              <a:t>(B) , W</a:t>
            </a:r>
            <a:r>
              <a:rPr lang="en-US" baseline="-25000" dirty="0"/>
              <a:t>3</a:t>
            </a:r>
            <a:r>
              <a:rPr lang="en-US" dirty="0"/>
              <a:t>(B) (T</a:t>
            </a:r>
            <a:r>
              <a:rPr lang="en-US" baseline="-25000" dirty="0"/>
              <a:t>1</a:t>
            </a:r>
            <a:r>
              <a:rPr lang="en-US" dirty="0"/>
              <a:t> → T</a:t>
            </a:r>
            <a:r>
              <a:rPr lang="en-US" baseline="-25000" dirty="0"/>
              <a:t>3</a:t>
            </a:r>
            <a:r>
              <a:rPr lang="en-US" dirty="0"/>
              <a:t>)</a:t>
            </a:r>
          </a:p>
          <a:p>
            <a:pPr fontAlgn="base"/>
            <a:r>
              <a:rPr lang="en-US" dirty="0"/>
              <a:t>W</a:t>
            </a:r>
            <a:r>
              <a:rPr lang="en-US" baseline="-25000" dirty="0"/>
              <a:t>1</a:t>
            </a:r>
            <a:r>
              <a:rPr lang="en-US" dirty="0"/>
              <a:t>(B) , W</a:t>
            </a:r>
            <a:r>
              <a:rPr lang="en-US" baseline="-25000" dirty="0"/>
              <a:t>4</a:t>
            </a:r>
            <a:r>
              <a:rPr lang="en-US" dirty="0"/>
              <a:t>(B) (T</a:t>
            </a:r>
            <a:r>
              <a:rPr lang="en-US" baseline="-25000" dirty="0"/>
              <a:t>1</a:t>
            </a:r>
            <a:r>
              <a:rPr lang="en-US" dirty="0"/>
              <a:t> → T</a:t>
            </a:r>
            <a:r>
              <a:rPr lang="en-US" baseline="-25000" dirty="0"/>
              <a:t>4</a:t>
            </a:r>
            <a:r>
              <a:rPr lang="en-US" dirty="0"/>
              <a:t>)</a:t>
            </a:r>
          </a:p>
          <a:p>
            <a:pPr fontAlgn="base"/>
            <a:r>
              <a:rPr lang="en-US" dirty="0"/>
              <a:t>W</a:t>
            </a:r>
            <a:r>
              <a:rPr lang="en-US" baseline="-25000" dirty="0"/>
              <a:t>2</a:t>
            </a:r>
            <a:r>
              <a:rPr lang="en-US" dirty="0"/>
              <a:t>(B) , W</a:t>
            </a:r>
            <a:r>
              <a:rPr lang="en-US" baseline="-25000" dirty="0"/>
              <a:t>3</a:t>
            </a:r>
            <a:r>
              <a:rPr lang="en-US" dirty="0"/>
              <a:t>(B) (T</a:t>
            </a:r>
            <a:r>
              <a:rPr lang="en-US" baseline="-25000" dirty="0"/>
              <a:t>2</a:t>
            </a:r>
            <a:r>
              <a:rPr lang="en-US" dirty="0"/>
              <a:t> → T</a:t>
            </a:r>
            <a:r>
              <a:rPr lang="en-US" baseline="-25000" dirty="0"/>
              <a:t>3</a:t>
            </a:r>
            <a:r>
              <a:rPr lang="en-US" dirty="0"/>
              <a:t>)</a:t>
            </a:r>
          </a:p>
          <a:p>
            <a:pPr fontAlgn="base"/>
            <a:r>
              <a:rPr lang="en-US" dirty="0"/>
              <a:t>W</a:t>
            </a:r>
            <a:r>
              <a:rPr lang="en-US" baseline="-25000" dirty="0"/>
              <a:t>2</a:t>
            </a:r>
            <a:r>
              <a:rPr lang="en-US" dirty="0"/>
              <a:t>(B) , W</a:t>
            </a:r>
            <a:r>
              <a:rPr lang="en-US" baseline="-25000" dirty="0"/>
              <a:t>4</a:t>
            </a:r>
            <a:r>
              <a:rPr lang="en-US" dirty="0"/>
              <a:t>(B) (T</a:t>
            </a:r>
            <a:r>
              <a:rPr lang="en-US" baseline="-25000" dirty="0"/>
              <a:t>2</a:t>
            </a:r>
            <a:r>
              <a:rPr lang="en-US" dirty="0"/>
              <a:t> → T</a:t>
            </a:r>
            <a:r>
              <a:rPr lang="en-US" baseline="-25000" dirty="0"/>
              <a:t>4</a:t>
            </a:r>
            <a:r>
              <a:rPr lang="en-US" dirty="0"/>
              <a:t>)</a:t>
            </a:r>
          </a:p>
          <a:p>
            <a:pPr fontAlgn="base"/>
            <a:r>
              <a:rPr lang="en-US" dirty="0"/>
              <a:t>W</a:t>
            </a:r>
            <a:r>
              <a:rPr lang="en-US" baseline="-25000" dirty="0"/>
              <a:t>3</a:t>
            </a:r>
            <a:r>
              <a:rPr lang="en-US" dirty="0"/>
              <a:t>(B) , W</a:t>
            </a:r>
            <a:r>
              <a:rPr lang="en-US" baseline="-25000" dirty="0"/>
              <a:t>4</a:t>
            </a:r>
            <a:r>
              <a:rPr lang="en-US" dirty="0"/>
              <a:t>(B) (T</a:t>
            </a:r>
            <a:r>
              <a:rPr lang="en-US" baseline="-25000" dirty="0"/>
              <a:t>3</a:t>
            </a:r>
            <a:r>
              <a:rPr lang="en-US" dirty="0"/>
              <a:t> → T</a:t>
            </a:r>
            <a:r>
              <a:rPr lang="en-US" baseline="-25000" dirty="0"/>
              <a:t>4</a:t>
            </a:r>
            <a:r>
              <a:rPr lang="en-US" dirty="0"/>
              <a:t>)</a:t>
            </a:r>
          </a:p>
          <a:p>
            <a:endParaRPr lang="en-US" dirty="0"/>
          </a:p>
        </p:txBody>
      </p:sp>
    </p:spTree>
    <p:extLst>
      <p:ext uri="{BB962C8B-B14F-4D97-AF65-F5344CB8AC3E}">
        <p14:creationId xmlns:p14="http://schemas.microsoft.com/office/powerpoint/2010/main" val="15043135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8034"/>
            <a:ext cx="10515600" cy="5648929"/>
          </a:xfrm>
        </p:spPr>
        <p:txBody>
          <a:bodyPr/>
          <a:lstStyle/>
          <a:p>
            <a:pPr fontAlgn="base"/>
            <a:r>
              <a:rPr lang="en-US" b="1" u="sng" dirty="0"/>
              <a:t>Step-02:</a:t>
            </a:r>
            <a:endParaRPr lang="en-US" b="1" dirty="0"/>
          </a:p>
          <a:p>
            <a:pPr fontAlgn="base"/>
            <a:r>
              <a:rPr lang="en-US" dirty="0" smtClean="0"/>
              <a:t>Draw </a:t>
            </a:r>
            <a:r>
              <a:rPr lang="en-US" dirty="0"/>
              <a:t>the precedence graph-</a:t>
            </a:r>
          </a:p>
          <a:p>
            <a:endParaRPr lang="en-US" dirty="0"/>
          </a:p>
        </p:txBody>
      </p:sp>
      <p:pic>
        <p:nvPicPr>
          <p:cNvPr id="5" name="Picture 4"/>
          <p:cNvPicPr>
            <a:picLocks noChangeAspect="1"/>
          </p:cNvPicPr>
          <p:nvPr/>
        </p:nvPicPr>
        <p:blipFill>
          <a:blip r:embed="rId2"/>
          <a:stretch>
            <a:fillRect/>
          </a:stretch>
        </p:blipFill>
        <p:spPr>
          <a:xfrm>
            <a:off x="1429555" y="1829001"/>
            <a:ext cx="8306873" cy="4288464"/>
          </a:xfrm>
          <a:prstGeom prst="rect">
            <a:avLst/>
          </a:prstGeom>
        </p:spPr>
      </p:pic>
    </p:spTree>
    <p:extLst>
      <p:ext uri="{BB962C8B-B14F-4D97-AF65-F5344CB8AC3E}">
        <p14:creationId xmlns:p14="http://schemas.microsoft.com/office/powerpoint/2010/main" val="19939596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1668"/>
            <a:ext cx="10515600" cy="6035295"/>
          </a:xfrm>
        </p:spPr>
        <p:txBody>
          <a:bodyPr>
            <a:normAutofit lnSpcReduction="10000"/>
          </a:bodyPr>
          <a:lstStyle/>
          <a:p>
            <a:pPr fontAlgn="base"/>
            <a:endParaRPr lang="en-US" dirty="0" smtClean="0"/>
          </a:p>
          <a:p>
            <a:pPr fontAlgn="base"/>
            <a:r>
              <a:rPr lang="en-US" dirty="0" smtClean="0"/>
              <a:t>2]Check </a:t>
            </a:r>
            <a:r>
              <a:rPr lang="en-US" dirty="0"/>
              <a:t>whether the given schedule S is view serializable or not-</a:t>
            </a:r>
            <a:endParaRPr lang="en-US" dirty="0" smtClean="0"/>
          </a:p>
          <a:p>
            <a:pPr fontAlgn="base"/>
            <a:endParaRPr lang="en-US" dirty="0"/>
          </a:p>
          <a:p>
            <a:pPr fontAlgn="base"/>
            <a:endParaRPr lang="en-US" dirty="0" smtClean="0"/>
          </a:p>
          <a:p>
            <a:pPr fontAlgn="base"/>
            <a:endParaRPr lang="en-US" dirty="0"/>
          </a:p>
          <a:p>
            <a:pPr fontAlgn="base"/>
            <a:endParaRPr lang="en-US" dirty="0" smtClean="0"/>
          </a:p>
          <a:p>
            <a:pPr fontAlgn="base"/>
            <a:endParaRPr lang="en-US" dirty="0"/>
          </a:p>
          <a:p>
            <a:pPr fontAlgn="base"/>
            <a:endParaRPr lang="en-US" dirty="0" smtClean="0"/>
          </a:p>
          <a:p>
            <a:pPr fontAlgn="base"/>
            <a:endParaRPr lang="en-US" dirty="0"/>
          </a:p>
          <a:p>
            <a:pPr fontAlgn="base"/>
            <a:r>
              <a:rPr lang="en-US" dirty="0" smtClean="0"/>
              <a:t>We </a:t>
            </a:r>
            <a:r>
              <a:rPr lang="en-US" dirty="0"/>
              <a:t>know, if a schedule is conflict serializable, then it is surely view serializable.</a:t>
            </a:r>
          </a:p>
          <a:p>
            <a:pPr fontAlgn="base"/>
            <a:r>
              <a:rPr lang="en-US" dirty="0" smtClean="0"/>
              <a:t>So,  </a:t>
            </a:r>
            <a:r>
              <a:rPr lang="en-US" dirty="0"/>
              <a:t>let us check whether the given schedule is conflict serializable or not.</a:t>
            </a:r>
          </a:p>
        </p:txBody>
      </p:sp>
      <p:pic>
        <p:nvPicPr>
          <p:cNvPr id="4" name="Picture 3"/>
          <p:cNvPicPr>
            <a:picLocks noChangeAspect="1"/>
          </p:cNvPicPr>
          <p:nvPr/>
        </p:nvPicPr>
        <p:blipFill>
          <a:blip r:embed="rId2"/>
          <a:stretch>
            <a:fillRect/>
          </a:stretch>
        </p:blipFill>
        <p:spPr>
          <a:xfrm>
            <a:off x="2829462" y="1120464"/>
            <a:ext cx="4781550" cy="2942889"/>
          </a:xfrm>
          <a:prstGeom prst="rect">
            <a:avLst/>
          </a:prstGeom>
        </p:spPr>
      </p:pic>
    </p:spTree>
    <p:extLst>
      <p:ext uri="{BB962C8B-B14F-4D97-AF65-F5344CB8AC3E}">
        <p14:creationId xmlns:p14="http://schemas.microsoft.com/office/powerpoint/2010/main" val="35171238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1065"/>
            <a:ext cx="10515600" cy="5545898"/>
          </a:xfrm>
        </p:spPr>
        <p:txBody>
          <a:bodyPr/>
          <a:lstStyle/>
          <a:p>
            <a:r>
              <a:rPr lang="en-US" dirty="0"/>
              <a:t>List all the conflicting operations and determine the dependency between the </a:t>
            </a:r>
            <a:r>
              <a:rPr lang="en-US" dirty="0" smtClean="0"/>
              <a:t>transactions-</a:t>
            </a:r>
          </a:p>
          <a:p>
            <a:pPr fontAlgn="base"/>
            <a:r>
              <a:rPr lang="en-US" dirty="0"/>
              <a:t>R</a:t>
            </a:r>
            <a:r>
              <a:rPr lang="en-US" baseline="-25000" dirty="0"/>
              <a:t>1</a:t>
            </a:r>
            <a:r>
              <a:rPr lang="en-US" dirty="0"/>
              <a:t>(A) , W</a:t>
            </a:r>
            <a:r>
              <a:rPr lang="en-US" baseline="-25000" dirty="0"/>
              <a:t>3</a:t>
            </a:r>
            <a:r>
              <a:rPr lang="en-US" dirty="0"/>
              <a:t>(A) (T</a:t>
            </a:r>
            <a:r>
              <a:rPr lang="en-US" baseline="-25000" dirty="0"/>
              <a:t>1</a:t>
            </a:r>
            <a:r>
              <a:rPr lang="en-US" dirty="0"/>
              <a:t> → T</a:t>
            </a:r>
            <a:r>
              <a:rPr lang="en-US" baseline="-25000" dirty="0"/>
              <a:t>3</a:t>
            </a:r>
            <a:r>
              <a:rPr lang="en-US" dirty="0"/>
              <a:t>)</a:t>
            </a:r>
          </a:p>
          <a:p>
            <a:pPr fontAlgn="base"/>
            <a:r>
              <a:rPr lang="en-US" dirty="0"/>
              <a:t>R</a:t>
            </a:r>
            <a:r>
              <a:rPr lang="en-US" baseline="-25000" dirty="0"/>
              <a:t>2</a:t>
            </a:r>
            <a:r>
              <a:rPr lang="en-US" dirty="0"/>
              <a:t>(A) , W</a:t>
            </a:r>
            <a:r>
              <a:rPr lang="en-US" baseline="-25000" dirty="0"/>
              <a:t>3</a:t>
            </a:r>
            <a:r>
              <a:rPr lang="en-US" dirty="0"/>
              <a:t>(A) (T</a:t>
            </a:r>
            <a:r>
              <a:rPr lang="en-US" baseline="-25000" dirty="0"/>
              <a:t>2</a:t>
            </a:r>
            <a:r>
              <a:rPr lang="en-US" dirty="0"/>
              <a:t> → T</a:t>
            </a:r>
            <a:r>
              <a:rPr lang="en-US" baseline="-25000" dirty="0"/>
              <a:t>3</a:t>
            </a:r>
            <a:r>
              <a:rPr lang="en-US" dirty="0"/>
              <a:t>)</a:t>
            </a:r>
          </a:p>
          <a:p>
            <a:pPr fontAlgn="base"/>
            <a:r>
              <a:rPr lang="en-US" dirty="0"/>
              <a:t>R</a:t>
            </a:r>
            <a:r>
              <a:rPr lang="en-US" baseline="-25000" dirty="0"/>
              <a:t>2</a:t>
            </a:r>
            <a:r>
              <a:rPr lang="en-US" dirty="0"/>
              <a:t>(A) , W</a:t>
            </a:r>
            <a:r>
              <a:rPr lang="en-US" baseline="-25000" dirty="0"/>
              <a:t>1</a:t>
            </a:r>
            <a:r>
              <a:rPr lang="en-US" dirty="0"/>
              <a:t>(A) (T</a:t>
            </a:r>
            <a:r>
              <a:rPr lang="en-US" baseline="-25000" dirty="0"/>
              <a:t>2</a:t>
            </a:r>
            <a:r>
              <a:rPr lang="en-US" dirty="0"/>
              <a:t> → T</a:t>
            </a:r>
            <a:r>
              <a:rPr lang="en-US" baseline="-25000" dirty="0"/>
              <a:t>1</a:t>
            </a:r>
            <a:r>
              <a:rPr lang="en-US" dirty="0"/>
              <a:t>)</a:t>
            </a:r>
          </a:p>
          <a:p>
            <a:pPr fontAlgn="base"/>
            <a:r>
              <a:rPr lang="en-US" dirty="0"/>
              <a:t>W</a:t>
            </a:r>
            <a:r>
              <a:rPr lang="en-US" baseline="-25000" dirty="0"/>
              <a:t>3</a:t>
            </a:r>
            <a:r>
              <a:rPr lang="en-US" dirty="0"/>
              <a:t>(A) , W</a:t>
            </a:r>
            <a:r>
              <a:rPr lang="en-US" baseline="-25000" dirty="0"/>
              <a:t>1</a:t>
            </a:r>
            <a:r>
              <a:rPr lang="en-US" dirty="0"/>
              <a:t>(A) (T</a:t>
            </a:r>
            <a:r>
              <a:rPr lang="en-US" baseline="-25000" dirty="0"/>
              <a:t>3</a:t>
            </a:r>
            <a:r>
              <a:rPr lang="en-US" dirty="0"/>
              <a:t> → T</a:t>
            </a:r>
            <a:r>
              <a:rPr lang="en-US" baseline="-25000" dirty="0"/>
              <a:t>1</a:t>
            </a:r>
            <a:r>
              <a:rPr lang="en-US" dirty="0"/>
              <a:t>)</a:t>
            </a:r>
          </a:p>
          <a:p>
            <a:pPr marL="0" indent="0" fontAlgn="base">
              <a:buNone/>
            </a:pPr>
            <a:r>
              <a:rPr lang="en-US" dirty="0"/>
              <a:t> </a:t>
            </a:r>
          </a:p>
          <a:p>
            <a:pPr marL="0" indent="0">
              <a:buNone/>
            </a:pPr>
            <a:endParaRPr lang="en-US" dirty="0"/>
          </a:p>
        </p:txBody>
      </p:sp>
      <p:pic>
        <p:nvPicPr>
          <p:cNvPr id="4" name="Picture 3"/>
          <p:cNvPicPr>
            <a:picLocks noChangeAspect="1"/>
          </p:cNvPicPr>
          <p:nvPr/>
        </p:nvPicPr>
        <p:blipFill>
          <a:blip r:embed="rId2"/>
          <a:stretch>
            <a:fillRect/>
          </a:stretch>
        </p:blipFill>
        <p:spPr>
          <a:xfrm>
            <a:off x="4893972" y="1707792"/>
            <a:ext cx="6697013" cy="4345278"/>
          </a:xfrm>
          <a:prstGeom prst="rect">
            <a:avLst/>
          </a:prstGeom>
        </p:spPr>
      </p:pic>
    </p:spTree>
    <p:extLst>
      <p:ext uri="{BB962C8B-B14F-4D97-AF65-F5344CB8AC3E}">
        <p14:creationId xmlns:p14="http://schemas.microsoft.com/office/powerpoint/2010/main" val="3428325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5155"/>
            <a:ext cx="10515600" cy="5661808"/>
          </a:xfrm>
        </p:spPr>
        <p:txBody>
          <a:bodyPr>
            <a:normAutofit/>
          </a:bodyPr>
          <a:lstStyle/>
          <a:p>
            <a:pPr fontAlgn="base"/>
            <a:r>
              <a:rPr lang="en-US" dirty="0" smtClean="0"/>
              <a:t>Now, Since</a:t>
            </a:r>
            <a:r>
              <a:rPr lang="en-US" dirty="0"/>
              <a:t>, the given schedule S is not conflict serializable, so, it may or may not be view serializable.</a:t>
            </a:r>
          </a:p>
          <a:p>
            <a:pPr fontAlgn="base"/>
            <a:r>
              <a:rPr lang="en-US" dirty="0"/>
              <a:t>To check whether S is view serializable or not, let us use another method.</a:t>
            </a:r>
          </a:p>
          <a:p>
            <a:pPr marL="0" indent="0" fontAlgn="base">
              <a:buNone/>
            </a:pPr>
            <a:r>
              <a:rPr lang="en-US" dirty="0"/>
              <a:t>Let us check for blind writes.</a:t>
            </a:r>
          </a:p>
          <a:p>
            <a:pPr fontAlgn="base"/>
            <a:r>
              <a:rPr lang="en-US" b="1" u="sng" dirty="0" smtClean="0"/>
              <a:t>Checking </a:t>
            </a:r>
            <a:r>
              <a:rPr lang="en-US" b="1" u="sng" dirty="0"/>
              <a:t>for Blind Writes-</a:t>
            </a:r>
            <a:endParaRPr lang="en-US" b="1" dirty="0"/>
          </a:p>
          <a:p>
            <a:pPr fontAlgn="base"/>
            <a:r>
              <a:rPr lang="en-US" dirty="0" smtClean="0"/>
              <a:t>There </a:t>
            </a:r>
            <a:r>
              <a:rPr lang="en-US" dirty="0"/>
              <a:t>exists a blind write W</a:t>
            </a:r>
            <a:r>
              <a:rPr lang="en-US" baseline="-25000" dirty="0"/>
              <a:t>3 </a:t>
            </a:r>
            <a:r>
              <a:rPr lang="en-US" dirty="0"/>
              <a:t>(A) in the given schedule S.</a:t>
            </a:r>
          </a:p>
          <a:p>
            <a:pPr fontAlgn="base"/>
            <a:r>
              <a:rPr lang="en-US" dirty="0"/>
              <a:t>Therefore, the given schedule S may or may not be view serializable.</a:t>
            </a:r>
          </a:p>
          <a:p>
            <a:pPr marL="0" indent="0" fontAlgn="base">
              <a:buNone/>
            </a:pPr>
            <a:r>
              <a:rPr lang="en-US" dirty="0" smtClean="0"/>
              <a:t>Now, To </a:t>
            </a:r>
            <a:r>
              <a:rPr lang="en-US" dirty="0"/>
              <a:t>check whether S is view serializable or not, let us use another method.</a:t>
            </a:r>
          </a:p>
          <a:p>
            <a:pPr fontAlgn="base"/>
            <a:r>
              <a:rPr lang="en-US" dirty="0"/>
              <a:t>Let us derive the dependencies and then draw a dependency graph.</a:t>
            </a:r>
          </a:p>
          <a:p>
            <a:endParaRPr lang="en-US" dirty="0"/>
          </a:p>
        </p:txBody>
      </p:sp>
    </p:spTree>
    <p:extLst>
      <p:ext uri="{BB962C8B-B14F-4D97-AF65-F5344CB8AC3E}">
        <p14:creationId xmlns:p14="http://schemas.microsoft.com/office/powerpoint/2010/main" val="28571738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8338"/>
            <a:ext cx="10515600" cy="5468625"/>
          </a:xfrm>
        </p:spPr>
        <p:txBody>
          <a:bodyPr>
            <a:normAutofit lnSpcReduction="10000"/>
          </a:bodyPr>
          <a:lstStyle/>
          <a:p>
            <a:pPr fontAlgn="base"/>
            <a:r>
              <a:rPr lang="en-US" b="1" u="sng" dirty="0"/>
              <a:t>Drawing a Dependency Graph-</a:t>
            </a:r>
            <a:endParaRPr lang="en-US" b="1" dirty="0"/>
          </a:p>
          <a:p>
            <a:pPr marL="0" indent="0" fontAlgn="base">
              <a:buNone/>
            </a:pPr>
            <a:endParaRPr lang="en-US" dirty="0"/>
          </a:p>
          <a:p>
            <a:pPr fontAlgn="base"/>
            <a:r>
              <a:rPr lang="en-US" dirty="0"/>
              <a:t>T1 firstly reads A and T3 firstly updates A.</a:t>
            </a:r>
          </a:p>
          <a:p>
            <a:pPr fontAlgn="base"/>
            <a:r>
              <a:rPr lang="en-US" dirty="0"/>
              <a:t>So, T1 must execute before T3.</a:t>
            </a:r>
          </a:p>
          <a:p>
            <a:pPr fontAlgn="base"/>
            <a:r>
              <a:rPr lang="en-US" dirty="0"/>
              <a:t>Thus, we get the dependency </a:t>
            </a:r>
            <a:r>
              <a:rPr lang="en-US" b="1" dirty="0"/>
              <a:t>T1 → T3</a:t>
            </a:r>
            <a:r>
              <a:rPr lang="en-US" dirty="0"/>
              <a:t>.</a:t>
            </a:r>
          </a:p>
          <a:p>
            <a:pPr fontAlgn="base"/>
            <a:r>
              <a:rPr lang="en-US" dirty="0"/>
              <a:t>Final </a:t>
            </a:r>
            <a:r>
              <a:rPr lang="en-US" dirty="0" err="1"/>
              <a:t>updation</a:t>
            </a:r>
            <a:r>
              <a:rPr lang="en-US" dirty="0"/>
              <a:t> on A is made by the transaction T1.</a:t>
            </a:r>
          </a:p>
          <a:p>
            <a:pPr fontAlgn="base"/>
            <a:r>
              <a:rPr lang="en-US" dirty="0"/>
              <a:t>So, T1 must execute after all other transactions.</a:t>
            </a:r>
          </a:p>
          <a:p>
            <a:pPr fontAlgn="base"/>
            <a:r>
              <a:rPr lang="en-US" dirty="0"/>
              <a:t>Thus, we get the dependency </a:t>
            </a:r>
            <a:r>
              <a:rPr lang="en-US" b="1" dirty="0"/>
              <a:t>(T2, T3) → T1</a:t>
            </a:r>
            <a:r>
              <a:rPr lang="en-US" dirty="0"/>
              <a:t>.</a:t>
            </a:r>
          </a:p>
          <a:p>
            <a:pPr fontAlgn="base"/>
            <a:r>
              <a:rPr lang="en-US" dirty="0"/>
              <a:t>There exists no write-read sequence.</a:t>
            </a:r>
          </a:p>
          <a:p>
            <a:pPr marL="0" indent="0" fontAlgn="base">
              <a:buNone/>
            </a:pPr>
            <a:endParaRPr lang="en-US" dirty="0"/>
          </a:p>
          <a:p>
            <a:pPr fontAlgn="base"/>
            <a:r>
              <a:rPr lang="en-US" dirty="0"/>
              <a:t>Now, let us draw a dependency graph using these dependencies-</a:t>
            </a:r>
          </a:p>
          <a:p>
            <a:endParaRPr lang="en-US" dirty="0"/>
          </a:p>
        </p:txBody>
      </p:sp>
      <p:pic>
        <p:nvPicPr>
          <p:cNvPr id="4" name="Picture 3"/>
          <p:cNvPicPr>
            <a:picLocks noChangeAspect="1"/>
          </p:cNvPicPr>
          <p:nvPr/>
        </p:nvPicPr>
        <p:blipFill>
          <a:blip r:embed="rId2"/>
          <a:stretch>
            <a:fillRect/>
          </a:stretch>
        </p:blipFill>
        <p:spPr>
          <a:xfrm>
            <a:off x="8255358" y="180307"/>
            <a:ext cx="3399620" cy="2942889"/>
          </a:xfrm>
          <a:prstGeom prst="rect">
            <a:avLst/>
          </a:prstGeom>
        </p:spPr>
      </p:pic>
    </p:spTree>
    <p:extLst>
      <p:ext uri="{BB962C8B-B14F-4D97-AF65-F5344CB8AC3E}">
        <p14:creationId xmlns:p14="http://schemas.microsoft.com/office/powerpoint/2010/main" val="35407561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74254" y="953037"/>
            <a:ext cx="7972022" cy="4448432"/>
          </a:xfrm>
          <a:prstGeom prst="rect">
            <a:avLst/>
          </a:prstGeom>
        </p:spPr>
      </p:pic>
      <p:sp>
        <p:nvSpPr>
          <p:cNvPr id="2" name="Rectangle 1"/>
          <p:cNvSpPr/>
          <p:nvPr/>
        </p:nvSpPr>
        <p:spPr>
          <a:xfrm>
            <a:off x="2315653" y="1080683"/>
            <a:ext cx="1018227" cy="369332"/>
          </a:xfrm>
          <a:prstGeom prst="rect">
            <a:avLst/>
          </a:prstGeom>
        </p:spPr>
        <p:txBody>
          <a:bodyPr wrap="none">
            <a:spAutoFit/>
          </a:bodyPr>
          <a:lstStyle/>
          <a:p>
            <a:pPr fontAlgn="base"/>
            <a:r>
              <a:rPr lang="en-US" b="1" dirty="0"/>
              <a:t>T1 → T3</a:t>
            </a:r>
            <a:r>
              <a:rPr lang="en-US" dirty="0"/>
              <a:t>.</a:t>
            </a:r>
          </a:p>
        </p:txBody>
      </p:sp>
      <p:sp>
        <p:nvSpPr>
          <p:cNvPr id="3" name="Rectangle 2"/>
          <p:cNvSpPr/>
          <p:nvPr/>
        </p:nvSpPr>
        <p:spPr>
          <a:xfrm>
            <a:off x="2087971" y="1853415"/>
            <a:ext cx="1447832" cy="369332"/>
          </a:xfrm>
          <a:prstGeom prst="rect">
            <a:avLst/>
          </a:prstGeom>
        </p:spPr>
        <p:txBody>
          <a:bodyPr wrap="none">
            <a:spAutoFit/>
          </a:bodyPr>
          <a:lstStyle/>
          <a:p>
            <a:r>
              <a:rPr lang="en-US" b="1" dirty="0"/>
              <a:t>(T2, T3) → T1</a:t>
            </a:r>
            <a:endParaRPr lang="en-US" dirty="0"/>
          </a:p>
        </p:txBody>
      </p:sp>
    </p:spTree>
    <p:extLst>
      <p:ext uri="{BB962C8B-B14F-4D97-AF65-F5344CB8AC3E}">
        <p14:creationId xmlns:p14="http://schemas.microsoft.com/office/powerpoint/2010/main" val="8668926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226366" y="918643"/>
            <a:ext cx="5788922" cy="5133975"/>
          </a:xfrm>
          <a:prstGeom prst="rect">
            <a:avLst/>
          </a:prstGeom>
        </p:spPr>
      </p:pic>
      <p:sp>
        <p:nvSpPr>
          <p:cNvPr id="5" name="Rectangle 4"/>
          <p:cNvSpPr/>
          <p:nvPr/>
        </p:nvSpPr>
        <p:spPr>
          <a:xfrm>
            <a:off x="965915" y="375514"/>
            <a:ext cx="9702085" cy="461665"/>
          </a:xfrm>
          <a:prstGeom prst="rect">
            <a:avLst/>
          </a:prstGeom>
        </p:spPr>
        <p:txBody>
          <a:bodyPr wrap="square">
            <a:spAutoFit/>
          </a:bodyPr>
          <a:lstStyle/>
          <a:p>
            <a:r>
              <a:rPr lang="en-US" sz="2400" dirty="0" smtClean="0">
                <a:solidFill>
                  <a:srgbClr val="303030"/>
                </a:solidFill>
                <a:latin typeface="Arimo"/>
              </a:rPr>
              <a:t>3] Check </a:t>
            </a:r>
            <a:r>
              <a:rPr lang="en-US" sz="2400" dirty="0">
                <a:solidFill>
                  <a:srgbClr val="303030"/>
                </a:solidFill>
                <a:latin typeface="Arimo"/>
              </a:rPr>
              <a:t>whether the given schedule S is view serializable or not-</a:t>
            </a:r>
            <a:endParaRPr lang="en-US" sz="2400" dirty="0"/>
          </a:p>
        </p:txBody>
      </p:sp>
    </p:spTree>
    <p:extLst>
      <p:ext uri="{BB962C8B-B14F-4D97-AF65-F5344CB8AC3E}">
        <p14:creationId xmlns:p14="http://schemas.microsoft.com/office/powerpoint/2010/main" val="36419789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9245"/>
            <a:ext cx="10515600" cy="5777718"/>
          </a:xfrm>
        </p:spPr>
        <p:txBody>
          <a:bodyPr>
            <a:normAutofit fontScale="92500" lnSpcReduction="10000"/>
          </a:bodyPr>
          <a:lstStyle/>
          <a:p>
            <a:pPr fontAlgn="base"/>
            <a:r>
              <a:rPr lang="en-US" dirty="0"/>
              <a:t>We know, if a schedule is conflict serializable, then it is surely view serializable.</a:t>
            </a:r>
          </a:p>
          <a:p>
            <a:pPr fontAlgn="base"/>
            <a:r>
              <a:rPr lang="en-US" dirty="0"/>
              <a:t>So, let us check whether the given schedule is conflict serializable or not.</a:t>
            </a:r>
          </a:p>
          <a:p>
            <a:pPr fontAlgn="base"/>
            <a:r>
              <a:rPr lang="en-US" b="1" u="sng" dirty="0" smtClean="0"/>
              <a:t>Checking </a:t>
            </a:r>
            <a:r>
              <a:rPr lang="en-US" b="1" u="sng" dirty="0"/>
              <a:t>Whether S is Conflict Serializable Or Not-</a:t>
            </a:r>
            <a:endParaRPr lang="en-US" b="1" dirty="0"/>
          </a:p>
          <a:p>
            <a:pPr fontAlgn="base"/>
            <a:r>
              <a:rPr lang="en-US" b="1" u="sng" dirty="0" smtClean="0"/>
              <a:t>Step-01</a:t>
            </a:r>
            <a:r>
              <a:rPr lang="en-US" b="1" u="sng" dirty="0"/>
              <a:t>:</a:t>
            </a:r>
            <a:endParaRPr lang="en-US" b="1" dirty="0"/>
          </a:p>
          <a:p>
            <a:pPr marL="0" indent="0" fontAlgn="base">
              <a:buNone/>
            </a:pPr>
            <a:r>
              <a:rPr lang="en-US" dirty="0"/>
              <a:t> </a:t>
            </a:r>
          </a:p>
          <a:p>
            <a:pPr marL="0" indent="0" fontAlgn="base">
              <a:buNone/>
            </a:pPr>
            <a:r>
              <a:rPr lang="en-US" dirty="0"/>
              <a:t>List all the conflicting operations and determine the dependency between the transactions-</a:t>
            </a:r>
          </a:p>
          <a:p>
            <a:pPr fontAlgn="base"/>
            <a:r>
              <a:rPr lang="en-US" dirty="0"/>
              <a:t>R</a:t>
            </a:r>
            <a:r>
              <a:rPr lang="en-US" baseline="-25000" dirty="0"/>
              <a:t>1</a:t>
            </a:r>
            <a:r>
              <a:rPr lang="en-US" dirty="0"/>
              <a:t>(A) , W</a:t>
            </a:r>
            <a:r>
              <a:rPr lang="en-US" baseline="-25000" dirty="0"/>
              <a:t>2</a:t>
            </a:r>
            <a:r>
              <a:rPr lang="en-US" dirty="0"/>
              <a:t>(A) (T</a:t>
            </a:r>
            <a:r>
              <a:rPr lang="en-US" baseline="-25000" dirty="0"/>
              <a:t>1</a:t>
            </a:r>
            <a:r>
              <a:rPr lang="en-US" dirty="0"/>
              <a:t> → T</a:t>
            </a:r>
            <a:r>
              <a:rPr lang="en-US" baseline="-25000" dirty="0"/>
              <a:t>2</a:t>
            </a:r>
            <a:r>
              <a:rPr lang="en-US" dirty="0"/>
              <a:t>)</a:t>
            </a:r>
          </a:p>
          <a:p>
            <a:pPr fontAlgn="base"/>
            <a:r>
              <a:rPr lang="en-US" dirty="0"/>
              <a:t>R</a:t>
            </a:r>
            <a:r>
              <a:rPr lang="en-US" baseline="-25000" dirty="0"/>
              <a:t>2</a:t>
            </a:r>
            <a:r>
              <a:rPr lang="en-US" dirty="0"/>
              <a:t>(A) , W</a:t>
            </a:r>
            <a:r>
              <a:rPr lang="en-US" baseline="-25000" dirty="0"/>
              <a:t>1</a:t>
            </a:r>
            <a:r>
              <a:rPr lang="en-US" dirty="0"/>
              <a:t>(A) (T</a:t>
            </a:r>
            <a:r>
              <a:rPr lang="en-US" baseline="-25000" dirty="0"/>
              <a:t>2</a:t>
            </a:r>
            <a:r>
              <a:rPr lang="en-US" dirty="0"/>
              <a:t> → T</a:t>
            </a:r>
            <a:r>
              <a:rPr lang="en-US" baseline="-25000" dirty="0"/>
              <a:t>1</a:t>
            </a:r>
            <a:r>
              <a:rPr lang="en-US" dirty="0"/>
              <a:t>)</a:t>
            </a:r>
          </a:p>
          <a:p>
            <a:pPr fontAlgn="base"/>
            <a:r>
              <a:rPr lang="en-US" dirty="0"/>
              <a:t>W</a:t>
            </a:r>
            <a:r>
              <a:rPr lang="en-US" baseline="-25000" dirty="0"/>
              <a:t>1</a:t>
            </a:r>
            <a:r>
              <a:rPr lang="en-US" dirty="0"/>
              <a:t>(A) , W</a:t>
            </a:r>
            <a:r>
              <a:rPr lang="en-US" baseline="-25000" dirty="0"/>
              <a:t>2</a:t>
            </a:r>
            <a:r>
              <a:rPr lang="en-US" dirty="0"/>
              <a:t>(A) (T</a:t>
            </a:r>
            <a:r>
              <a:rPr lang="en-US" baseline="-25000" dirty="0"/>
              <a:t>1</a:t>
            </a:r>
            <a:r>
              <a:rPr lang="en-US" dirty="0"/>
              <a:t> → T</a:t>
            </a:r>
            <a:r>
              <a:rPr lang="en-US" baseline="-25000" dirty="0"/>
              <a:t>2</a:t>
            </a:r>
            <a:r>
              <a:rPr lang="en-US" dirty="0"/>
              <a:t>)</a:t>
            </a:r>
          </a:p>
          <a:p>
            <a:pPr fontAlgn="base"/>
            <a:r>
              <a:rPr lang="en-US" dirty="0"/>
              <a:t>R</a:t>
            </a:r>
            <a:r>
              <a:rPr lang="en-US" baseline="-25000" dirty="0"/>
              <a:t>1</a:t>
            </a:r>
            <a:r>
              <a:rPr lang="en-US" dirty="0"/>
              <a:t>(B) , W</a:t>
            </a:r>
            <a:r>
              <a:rPr lang="en-US" baseline="-25000" dirty="0"/>
              <a:t>2</a:t>
            </a:r>
            <a:r>
              <a:rPr lang="en-US" dirty="0"/>
              <a:t>(B) (T</a:t>
            </a:r>
            <a:r>
              <a:rPr lang="en-US" baseline="-25000" dirty="0"/>
              <a:t>1</a:t>
            </a:r>
            <a:r>
              <a:rPr lang="en-US" dirty="0"/>
              <a:t> → T</a:t>
            </a:r>
            <a:r>
              <a:rPr lang="en-US" baseline="-25000" dirty="0"/>
              <a:t>2</a:t>
            </a:r>
            <a:r>
              <a:rPr lang="en-US" dirty="0"/>
              <a:t>)</a:t>
            </a:r>
          </a:p>
          <a:p>
            <a:pPr fontAlgn="base"/>
            <a:r>
              <a:rPr lang="en-US" dirty="0"/>
              <a:t>R</a:t>
            </a:r>
            <a:r>
              <a:rPr lang="en-US" baseline="-25000" dirty="0"/>
              <a:t>2</a:t>
            </a:r>
            <a:r>
              <a:rPr lang="en-US" dirty="0"/>
              <a:t>(B) , W</a:t>
            </a:r>
            <a:r>
              <a:rPr lang="en-US" baseline="-25000" dirty="0"/>
              <a:t>1</a:t>
            </a:r>
            <a:r>
              <a:rPr lang="en-US" dirty="0"/>
              <a:t>(B) (T</a:t>
            </a:r>
            <a:r>
              <a:rPr lang="en-US" baseline="-25000" dirty="0"/>
              <a:t>2</a:t>
            </a:r>
            <a:r>
              <a:rPr lang="en-US" dirty="0"/>
              <a:t> → T</a:t>
            </a:r>
            <a:r>
              <a:rPr lang="en-US" baseline="-25000" dirty="0"/>
              <a:t>1</a:t>
            </a:r>
            <a:r>
              <a:rPr lang="en-US" dirty="0"/>
              <a:t>)</a:t>
            </a:r>
          </a:p>
          <a:p>
            <a:pPr marL="0" indent="0" fontAlgn="base">
              <a:buNone/>
            </a:pPr>
            <a:endParaRPr lang="en-US" dirty="0"/>
          </a:p>
          <a:p>
            <a:endParaRPr lang="en-US" dirty="0"/>
          </a:p>
        </p:txBody>
      </p:sp>
    </p:spTree>
    <p:extLst>
      <p:ext uri="{BB962C8B-B14F-4D97-AF65-F5344CB8AC3E}">
        <p14:creationId xmlns:p14="http://schemas.microsoft.com/office/powerpoint/2010/main" val="37263364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64406" y="386366"/>
            <a:ext cx="8770512" cy="5834130"/>
          </a:xfrm>
          <a:prstGeom prst="rect">
            <a:avLst/>
          </a:prstGeom>
        </p:spPr>
      </p:pic>
    </p:spTree>
    <p:extLst>
      <p:ext uri="{BB962C8B-B14F-4D97-AF65-F5344CB8AC3E}">
        <p14:creationId xmlns:p14="http://schemas.microsoft.com/office/powerpoint/2010/main" val="10768384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9549"/>
            <a:ext cx="10515600" cy="5584535"/>
          </a:xfrm>
        </p:spPr>
        <p:txBody>
          <a:bodyPr/>
          <a:lstStyle/>
          <a:p>
            <a:pPr fontAlgn="base"/>
            <a:r>
              <a:rPr lang="en-US" b="1" u="sng" dirty="0"/>
              <a:t>Checking for Blind Writes-</a:t>
            </a:r>
            <a:endParaRPr lang="en-US" b="1" dirty="0"/>
          </a:p>
          <a:p>
            <a:pPr marL="0" indent="0" fontAlgn="base">
              <a:buNone/>
            </a:pPr>
            <a:endParaRPr lang="en-US" dirty="0"/>
          </a:p>
          <a:p>
            <a:pPr fontAlgn="base"/>
            <a:r>
              <a:rPr lang="en-US" dirty="0"/>
              <a:t>There exists no blind write in the given schedule S.</a:t>
            </a:r>
          </a:p>
          <a:p>
            <a:pPr fontAlgn="base"/>
            <a:r>
              <a:rPr lang="en-US" dirty="0"/>
              <a:t>Therefore, it is surely not view serializable.</a:t>
            </a:r>
          </a:p>
          <a:p>
            <a:pPr marL="0" indent="0" fontAlgn="base">
              <a:buNone/>
            </a:pPr>
            <a:endParaRPr lang="en-US" dirty="0"/>
          </a:p>
          <a:p>
            <a:pPr fontAlgn="base"/>
            <a:r>
              <a:rPr lang="en-US" b="1" dirty="0"/>
              <a:t>Alternatively</a:t>
            </a:r>
            <a:r>
              <a:rPr lang="en-US" dirty="0"/>
              <a:t>,</a:t>
            </a:r>
          </a:p>
          <a:p>
            <a:pPr fontAlgn="base"/>
            <a:r>
              <a:rPr lang="en-US" dirty="0"/>
              <a:t>You could directly declare that the given schedule S is not view serializable.</a:t>
            </a:r>
          </a:p>
          <a:p>
            <a:pPr fontAlgn="base"/>
            <a:r>
              <a:rPr lang="en-US" dirty="0"/>
              <a:t>This is because there exists no blind write in the schedule.</a:t>
            </a:r>
          </a:p>
          <a:p>
            <a:pPr fontAlgn="base"/>
            <a:r>
              <a:rPr lang="en-US" dirty="0"/>
              <a:t>You need not check for conflict serializability.</a:t>
            </a:r>
          </a:p>
          <a:p>
            <a:pPr marL="0" indent="0" fontAlgn="base">
              <a:buNone/>
            </a:pPr>
            <a:endParaRPr lang="en-US" dirty="0"/>
          </a:p>
          <a:p>
            <a:endParaRPr lang="en-US" dirty="0"/>
          </a:p>
        </p:txBody>
      </p:sp>
    </p:spTree>
    <p:extLst>
      <p:ext uri="{BB962C8B-B14F-4D97-AF65-F5344CB8AC3E}">
        <p14:creationId xmlns:p14="http://schemas.microsoft.com/office/powerpoint/2010/main" val="22561554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033"/>
          </a:xfrm>
        </p:spPr>
        <p:txBody>
          <a:bodyPr>
            <a:normAutofit fontScale="90000"/>
          </a:bodyPr>
          <a:lstStyle/>
          <a:p>
            <a:r>
              <a:rPr lang="en-US" b="1" u="sng" dirty="0"/>
              <a:t>Non-Serializable Schedules</a:t>
            </a:r>
            <a:endParaRPr lang="en-US" dirty="0"/>
          </a:p>
        </p:txBody>
      </p:sp>
      <p:sp>
        <p:nvSpPr>
          <p:cNvPr id="3" name="Content Placeholder 2"/>
          <p:cNvSpPr>
            <a:spLocks noGrp="1"/>
          </p:cNvSpPr>
          <p:nvPr>
            <p:ph idx="1"/>
          </p:nvPr>
        </p:nvSpPr>
        <p:spPr>
          <a:xfrm>
            <a:off x="838200" y="965915"/>
            <a:ext cx="10515600" cy="5211048"/>
          </a:xfrm>
        </p:spPr>
        <p:txBody>
          <a:bodyPr>
            <a:normAutofit fontScale="92500" lnSpcReduction="20000"/>
          </a:bodyPr>
          <a:lstStyle/>
          <a:p>
            <a:pPr lvl="0" fontAlgn="base"/>
            <a:r>
              <a:rPr lang="en-US" dirty="0"/>
              <a:t>A non-serial schedule which is not serializable is called as a non-serializable schedule.</a:t>
            </a:r>
          </a:p>
          <a:p>
            <a:pPr lvl="0" fontAlgn="base"/>
            <a:r>
              <a:rPr lang="en-US" dirty="0"/>
              <a:t>A non-serializable schedule is not guaranteed to produce the </a:t>
            </a:r>
            <a:r>
              <a:rPr lang="en-US" dirty="0" err="1"/>
              <a:t>the</a:t>
            </a:r>
            <a:r>
              <a:rPr lang="en-US" dirty="0"/>
              <a:t> same effect as produced by some serial schedule on any consistent database.</a:t>
            </a:r>
          </a:p>
          <a:p>
            <a:pPr fontAlgn="base"/>
            <a:r>
              <a:rPr lang="en-US" b="1" u="sng" dirty="0" smtClean="0"/>
              <a:t>Characteristics-</a:t>
            </a:r>
            <a:endParaRPr lang="en-US" dirty="0"/>
          </a:p>
          <a:p>
            <a:pPr marL="0" indent="0" fontAlgn="base">
              <a:buNone/>
            </a:pPr>
            <a:r>
              <a:rPr lang="en-US" dirty="0"/>
              <a:t> </a:t>
            </a:r>
            <a:r>
              <a:rPr lang="en-US" dirty="0" smtClean="0"/>
              <a:t>Non-serializable </a:t>
            </a:r>
            <a:r>
              <a:rPr lang="en-US" dirty="0"/>
              <a:t>schedules-</a:t>
            </a:r>
          </a:p>
          <a:p>
            <a:pPr lvl="0" fontAlgn="base"/>
            <a:r>
              <a:rPr lang="en-US" dirty="0"/>
              <a:t>may or may not be consistent</a:t>
            </a:r>
          </a:p>
          <a:p>
            <a:pPr lvl="0" fontAlgn="base"/>
            <a:r>
              <a:rPr lang="en-US" dirty="0"/>
              <a:t>may or may not be recoverable</a:t>
            </a:r>
          </a:p>
          <a:p>
            <a:pPr marL="0" indent="0" fontAlgn="base">
              <a:buNone/>
            </a:pPr>
            <a:r>
              <a:rPr lang="en-US" dirty="0"/>
              <a:t> </a:t>
            </a:r>
            <a:r>
              <a:rPr lang="en-US" b="1" u="sng" dirty="0" smtClean="0"/>
              <a:t>Irrecoverable </a:t>
            </a:r>
            <a:r>
              <a:rPr lang="en-US" b="1" u="sng" dirty="0"/>
              <a:t>Schedules-</a:t>
            </a:r>
            <a:endParaRPr lang="en-US" dirty="0"/>
          </a:p>
          <a:p>
            <a:pPr marL="0" indent="0" fontAlgn="base">
              <a:buNone/>
            </a:pPr>
            <a:r>
              <a:rPr lang="en-US" dirty="0"/>
              <a:t> </a:t>
            </a:r>
            <a:r>
              <a:rPr lang="en-US" dirty="0" smtClean="0"/>
              <a:t>If </a:t>
            </a:r>
            <a:r>
              <a:rPr lang="en-US" dirty="0"/>
              <a:t>in a schedule,</a:t>
            </a:r>
          </a:p>
          <a:p>
            <a:pPr lvl="0" fontAlgn="base"/>
            <a:r>
              <a:rPr lang="en-US" dirty="0"/>
              <a:t>A transaction performs a dirty read operation from an uncommitted transaction</a:t>
            </a:r>
          </a:p>
          <a:p>
            <a:pPr lvl="0" fontAlgn="base"/>
            <a:r>
              <a:rPr lang="en-US" dirty="0"/>
              <a:t>And commits before the transaction from which it has read the </a:t>
            </a:r>
            <a:r>
              <a:rPr lang="en-US" dirty="0" smtClean="0"/>
              <a:t>value then </a:t>
            </a:r>
            <a:r>
              <a:rPr lang="en-US" dirty="0"/>
              <a:t>such a schedule is known as an </a:t>
            </a:r>
            <a:r>
              <a:rPr lang="en-US" b="1" dirty="0"/>
              <a:t>Irrecoverable Schedule</a:t>
            </a:r>
            <a:r>
              <a:rPr lang="en-US" dirty="0"/>
              <a:t>.</a:t>
            </a:r>
          </a:p>
          <a:p>
            <a:endParaRPr lang="en-US" dirty="0"/>
          </a:p>
        </p:txBody>
      </p:sp>
    </p:spTree>
    <p:extLst>
      <p:ext uri="{BB962C8B-B14F-4D97-AF65-F5344CB8AC3E}">
        <p14:creationId xmlns:p14="http://schemas.microsoft.com/office/powerpoint/2010/main" val="270303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18952" y="360609"/>
            <a:ext cx="7637171" cy="6078828"/>
          </a:xfrm>
          <a:prstGeom prst="rect">
            <a:avLst/>
          </a:prstGeom>
        </p:spPr>
      </p:pic>
    </p:spTree>
    <p:extLst>
      <p:ext uri="{BB962C8B-B14F-4D97-AF65-F5344CB8AC3E}">
        <p14:creationId xmlns:p14="http://schemas.microsoft.com/office/powerpoint/2010/main" val="28155065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46244"/>
          </a:xfrm>
        </p:spPr>
        <p:txBody>
          <a:bodyPr>
            <a:normAutofit fontScale="90000"/>
          </a:bodyPr>
          <a:lstStyle/>
          <a:p>
            <a:r>
              <a:rPr lang="en-US" b="1" u="sng" dirty="0"/>
              <a:t>Recoverable Schedules-</a:t>
            </a:r>
            <a:r>
              <a:rPr lang="en-US" dirty="0"/>
              <a:t/>
            </a:r>
            <a:br>
              <a:rPr lang="en-US" dirty="0"/>
            </a:br>
            <a:endParaRPr lang="en-US" dirty="0"/>
          </a:p>
        </p:txBody>
      </p:sp>
      <p:sp>
        <p:nvSpPr>
          <p:cNvPr id="3" name="Content Placeholder 2"/>
          <p:cNvSpPr>
            <a:spLocks noGrp="1"/>
          </p:cNvSpPr>
          <p:nvPr>
            <p:ph idx="1"/>
          </p:nvPr>
        </p:nvSpPr>
        <p:spPr>
          <a:xfrm>
            <a:off x="838200" y="708338"/>
            <a:ext cx="10515600" cy="5468625"/>
          </a:xfrm>
        </p:spPr>
        <p:txBody>
          <a:bodyPr>
            <a:normAutofit/>
          </a:bodyPr>
          <a:lstStyle/>
          <a:p>
            <a:pPr marL="0" indent="0" fontAlgn="base">
              <a:buNone/>
            </a:pPr>
            <a:r>
              <a:rPr lang="en-US" dirty="0"/>
              <a:t>If in a schedule,</a:t>
            </a:r>
          </a:p>
          <a:p>
            <a:pPr lvl="0" fontAlgn="base"/>
            <a:r>
              <a:rPr lang="en-US" dirty="0"/>
              <a:t>A transaction performs a dirty read operation from an uncommitted transaction</a:t>
            </a:r>
          </a:p>
          <a:p>
            <a:pPr lvl="0" fontAlgn="base"/>
            <a:r>
              <a:rPr lang="en-US" dirty="0"/>
              <a:t>And its commit operation is delayed till the uncommitted transaction either commits or roll </a:t>
            </a:r>
            <a:r>
              <a:rPr lang="en-US" dirty="0" smtClean="0"/>
              <a:t>backs then </a:t>
            </a:r>
            <a:r>
              <a:rPr lang="en-US" dirty="0"/>
              <a:t>such a schedule is known as a </a:t>
            </a:r>
            <a:r>
              <a:rPr lang="en-US" b="1" dirty="0"/>
              <a:t>Recoverable Schedule</a:t>
            </a:r>
            <a:r>
              <a:rPr lang="en-US" dirty="0"/>
              <a:t>.</a:t>
            </a:r>
          </a:p>
          <a:p>
            <a:pPr marL="0" indent="0" fontAlgn="base">
              <a:buNone/>
            </a:pPr>
            <a:r>
              <a:rPr lang="en-US" dirty="0" smtClean="0"/>
              <a:t>Here</a:t>
            </a:r>
            <a:r>
              <a:rPr lang="en-US" dirty="0"/>
              <a:t>,</a:t>
            </a:r>
          </a:p>
          <a:p>
            <a:pPr lvl="0" fontAlgn="base"/>
            <a:r>
              <a:rPr lang="en-US" dirty="0"/>
              <a:t>The commit operation of the transaction that performs the dirty read is delayed.</a:t>
            </a:r>
          </a:p>
          <a:p>
            <a:pPr lvl="0" fontAlgn="base"/>
            <a:r>
              <a:rPr lang="en-US" dirty="0"/>
              <a:t>This ensures that it still has a chance to recover if the uncommitted transaction fails later.</a:t>
            </a:r>
          </a:p>
          <a:p>
            <a:endParaRPr lang="en-US" dirty="0"/>
          </a:p>
        </p:txBody>
      </p:sp>
    </p:spTree>
    <p:extLst>
      <p:ext uri="{BB962C8B-B14F-4D97-AF65-F5344CB8AC3E}">
        <p14:creationId xmlns:p14="http://schemas.microsoft.com/office/powerpoint/2010/main" val="25723306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12890" y="309093"/>
            <a:ext cx="7250806" cy="6065949"/>
          </a:xfrm>
          <a:prstGeom prst="rect">
            <a:avLst/>
          </a:prstGeom>
        </p:spPr>
      </p:pic>
    </p:spTree>
    <p:extLst>
      <p:ext uri="{BB962C8B-B14F-4D97-AF65-F5344CB8AC3E}">
        <p14:creationId xmlns:p14="http://schemas.microsoft.com/office/powerpoint/2010/main" val="8511386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641"/>
          </a:xfrm>
        </p:spPr>
        <p:txBody>
          <a:bodyPr>
            <a:noAutofit/>
          </a:bodyPr>
          <a:lstStyle/>
          <a:p>
            <a:pPr fontAlgn="base"/>
            <a:r>
              <a:rPr lang="en-US" sz="3200" b="1" u="sng"/>
              <a:t>Checking Whether a Schedule is Recoverable or Irrecoverable-</a:t>
            </a:r>
            <a:endParaRPr lang="en-US" sz="3200"/>
          </a:p>
        </p:txBody>
      </p:sp>
      <p:sp>
        <p:nvSpPr>
          <p:cNvPr id="3" name="Content Placeholder 2"/>
          <p:cNvSpPr>
            <a:spLocks noGrp="1"/>
          </p:cNvSpPr>
          <p:nvPr>
            <p:ph idx="1"/>
          </p:nvPr>
        </p:nvSpPr>
        <p:spPr>
          <a:xfrm>
            <a:off x="838200" y="1249251"/>
            <a:ext cx="10515600" cy="4927712"/>
          </a:xfrm>
        </p:spPr>
        <p:txBody>
          <a:bodyPr/>
          <a:lstStyle/>
          <a:p>
            <a:pPr fontAlgn="base"/>
            <a:r>
              <a:rPr lang="en-US" dirty="0" smtClean="0"/>
              <a:t>METHOD 1</a:t>
            </a:r>
          </a:p>
          <a:p>
            <a:pPr fontAlgn="base"/>
            <a:r>
              <a:rPr lang="en-US" dirty="0" smtClean="0"/>
              <a:t>Check </a:t>
            </a:r>
            <a:r>
              <a:rPr lang="en-US" dirty="0"/>
              <a:t>whether the given schedule is conflict serializable or not.</a:t>
            </a:r>
          </a:p>
          <a:p>
            <a:pPr lvl="0" fontAlgn="base"/>
            <a:r>
              <a:rPr lang="en-US" dirty="0"/>
              <a:t>If the given schedule is conflict serializable, then it is surely recoverable. Stop and report your answer.</a:t>
            </a:r>
          </a:p>
          <a:p>
            <a:pPr lvl="0" fontAlgn="base"/>
            <a:r>
              <a:rPr lang="en-US" dirty="0"/>
              <a:t>If the given schedule is not conflict serializable, then it may or may not be recoverable. Go and check using other methods.</a:t>
            </a:r>
          </a:p>
          <a:p>
            <a:pPr fontAlgn="base"/>
            <a:r>
              <a:rPr lang="en-US" dirty="0"/>
              <a:t> </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808264673"/>
              </p:ext>
            </p:extLst>
          </p:nvPr>
        </p:nvGraphicFramePr>
        <p:xfrm>
          <a:off x="2406874" y="4378817"/>
          <a:ext cx="6646974" cy="1473327"/>
        </p:xfrm>
        <a:graphic>
          <a:graphicData uri="http://schemas.openxmlformats.org/drawingml/2006/table">
            <a:tbl>
              <a:tblPr firstRow="1" firstCol="1" bandRow="1">
                <a:tableStyleId>{5C22544A-7EE6-4342-B048-85BDC9FD1C3A}</a:tableStyleId>
              </a:tblPr>
              <a:tblGrid>
                <a:gridCol w="6646974">
                  <a:extLst>
                    <a:ext uri="{9D8B030D-6E8A-4147-A177-3AD203B41FA5}">
                      <a16:colId xmlns:a16="http://schemas.microsoft.com/office/drawing/2014/main" val="20000"/>
                    </a:ext>
                  </a:extLst>
                </a:gridCol>
              </a:tblGrid>
              <a:tr h="1345868">
                <a:tc>
                  <a:txBody>
                    <a:bodyPr/>
                    <a:lstStyle/>
                    <a:p>
                      <a:pPr marL="0" marR="0" algn="ctr" fontAlgn="base">
                        <a:lnSpc>
                          <a:spcPct val="107000"/>
                        </a:lnSpc>
                        <a:spcBef>
                          <a:spcPts val="0"/>
                        </a:spcBef>
                        <a:spcAft>
                          <a:spcPts val="0"/>
                        </a:spcAft>
                      </a:pPr>
                      <a:r>
                        <a:rPr lang="en-US" sz="2000" u="sng" dirty="0">
                          <a:effectLst/>
                        </a:rPr>
                        <a:t>Thumb Rules</a:t>
                      </a:r>
                      <a:endParaRPr lang="en-US" sz="1800" dirty="0">
                        <a:effectLst/>
                      </a:endParaRPr>
                    </a:p>
                    <a:p>
                      <a:pPr marL="342900" marR="0" lvl="0" indent="-342900" fontAlgn="base">
                        <a:lnSpc>
                          <a:spcPct val="107000"/>
                        </a:lnSpc>
                        <a:spcBef>
                          <a:spcPts val="300"/>
                        </a:spcBef>
                        <a:spcAft>
                          <a:spcPts val="300"/>
                        </a:spcAft>
                        <a:buSzPts val="1000"/>
                        <a:buFont typeface="Symbol" panose="05050102010706020507" pitchFamily="18" charset="2"/>
                        <a:buChar char=""/>
                        <a:tabLst>
                          <a:tab pos="457200" algn="l"/>
                        </a:tabLst>
                      </a:pPr>
                      <a:r>
                        <a:rPr lang="en-US" sz="1800" dirty="0">
                          <a:effectLst/>
                        </a:rPr>
                        <a:t>All conflict serializable schedules are recoverable.</a:t>
                      </a:r>
                    </a:p>
                    <a:p>
                      <a:pPr marL="342900" marR="0" lvl="0" indent="-342900" fontAlgn="base">
                        <a:lnSpc>
                          <a:spcPct val="107000"/>
                        </a:lnSpc>
                        <a:spcBef>
                          <a:spcPts val="300"/>
                        </a:spcBef>
                        <a:spcAft>
                          <a:spcPts val="300"/>
                        </a:spcAft>
                        <a:buSzPts val="1000"/>
                        <a:buFont typeface="Symbol" panose="05050102010706020507" pitchFamily="18" charset="2"/>
                        <a:buChar char=""/>
                        <a:tabLst>
                          <a:tab pos="457200" algn="l"/>
                        </a:tabLst>
                      </a:pPr>
                      <a:r>
                        <a:rPr lang="en-US" sz="1800" dirty="0">
                          <a:effectLst/>
                        </a:rPr>
                        <a:t>All recoverable schedules may or may not be conflict serializable.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76200" marB="7620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314881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0761"/>
            <a:ext cx="10515600" cy="5726202"/>
          </a:xfrm>
        </p:spPr>
        <p:txBody>
          <a:bodyPr>
            <a:normAutofit fontScale="92500" lnSpcReduction="20000"/>
          </a:bodyPr>
          <a:lstStyle/>
          <a:p>
            <a:pPr fontAlgn="base"/>
            <a:r>
              <a:rPr lang="en-US" b="1" u="sng" dirty="0"/>
              <a:t>Method-02:</a:t>
            </a:r>
            <a:endParaRPr lang="en-US" dirty="0"/>
          </a:p>
          <a:p>
            <a:pPr fontAlgn="base"/>
            <a:r>
              <a:rPr lang="en-US" dirty="0"/>
              <a:t> Check if there exists any dirty read operation.</a:t>
            </a:r>
          </a:p>
          <a:p>
            <a:pPr fontAlgn="base"/>
            <a:r>
              <a:rPr lang="en-US" dirty="0"/>
              <a:t>(Reading from an uncommitted transaction is called as a dirty read)</a:t>
            </a:r>
          </a:p>
          <a:p>
            <a:pPr lvl="0" fontAlgn="base"/>
            <a:r>
              <a:rPr lang="en-US" dirty="0"/>
              <a:t>If there does not exist any dirty read operation, then the schedule is surely recoverable. Stop and report your answer.</a:t>
            </a:r>
          </a:p>
          <a:p>
            <a:pPr lvl="0" fontAlgn="base"/>
            <a:r>
              <a:rPr lang="en-US" dirty="0"/>
              <a:t>If there exists any dirty read operation, then the schedule may or may not be recoverable.</a:t>
            </a:r>
          </a:p>
          <a:p>
            <a:pPr fontAlgn="base"/>
            <a:r>
              <a:rPr lang="en-US" dirty="0"/>
              <a:t> If there exists a dirty read operation, then follow the following cases-</a:t>
            </a:r>
          </a:p>
          <a:p>
            <a:pPr fontAlgn="base"/>
            <a:r>
              <a:rPr lang="en-US" dirty="0"/>
              <a:t> </a:t>
            </a:r>
            <a:r>
              <a:rPr lang="en-US" b="1" u="sng" dirty="0"/>
              <a:t>Case-01:</a:t>
            </a:r>
            <a:endParaRPr lang="en-US" dirty="0"/>
          </a:p>
          <a:p>
            <a:pPr fontAlgn="base"/>
            <a:r>
              <a:rPr lang="en-US" dirty="0"/>
              <a:t> If the commit operation of the transaction performing the dirty read occurs before the commit or abort operation of the transaction which updated the value, then the schedule is irrecoverable.</a:t>
            </a:r>
          </a:p>
          <a:p>
            <a:pPr fontAlgn="base"/>
            <a:r>
              <a:rPr lang="en-US" dirty="0"/>
              <a:t> </a:t>
            </a:r>
            <a:r>
              <a:rPr lang="en-US" b="1" u="sng" dirty="0"/>
              <a:t>Case-02:</a:t>
            </a:r>
            <a:endParaRPr lang="en-US" dirty="0"/>
          </a:p>
          <a:p>
            <a:pPr fontAlgn="base"/>
            <a:r>
              <a:rPr lang="en-US" dirty="0"/>
              <a:t> If the commit operation of the transaction performing the dirty read is delayed till the commit or abort operation of the transaction which updated the value, then the schedule is recoverable.</a:t>
            </a:r>
          </a:p>
          <a:p>
            <a:endParaRPr lang="en-US" dirty="0"/>
          </a:p>
        </p:txBody>
      </p:sp>
    </p:spTree>
    <p:extLst>
      <p:ext uri="{BB962C8B-B14F-4D97-AF65-F5344CB8AC3E}">
        <p14:creationId xmlns:p14="http://schemas.microsoft.com/office/powerpoint/2010/main" val="28817131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3335"/>
            <a:ext cx="10515600" cy="5893628"/>
          </a:xfrm>
        </p:spPr>
        <p:txBody>
          <a:bodyPr/>
          <a:lstStyle/>
          <a:p>
            <a:pPr fontAlgn="base"/>
            <a:r>
              <a:rPr lang="en-US" b="1" u="sng" dirty="0"/>
              <a:t>Recoverable Schedules-</a:t>
            </a:r>
            <a:endParaRPr lang="en-US" dirty="0"/>
          </a:p>
          <a:p>
            <a:pPr fontAlgn="base"/>
            <a:r>
              <a:rPr lang="en-US" dirty="0" smtClean="0"/>
              <a:t>If </a:t>
            </a:r>
            <a:r>
              <a:rPr lang="en-US" dirty="0"/>
              <a:t>in a schedule,</a:t>
            </a:r>
          </a:p>
          <a:p>
            <a:pPr lvl="0" fontAlgn="base"/>
            <a:r>
              <a:rPr lang="en-US" dirty="0"/>
              <a:t>A transaction performs a dirty read operation from an uncommitted transaction</a:t>
            </a:r>
          </a:p>
          <a:p>
            <a:pPr lvl="0" fontAlgn="base"/>
            <a:r>
              <a:rPr lang="en-US" dirty="0"/>
              <a:t>And its commit operation is delayed till the uncommitted transaction either commits or roll </a:t>
            </a:r>
            <a:r>
              <a:rPr lang="en-US" dirty="0" smtClean="0"/>
              <a:t>backs then </a:t>
            </a:r>
            <a:r>
              <a:rPr lang="en-US" dirty="0"/>
              <a:t>such a schedule is called as a </a:t>
            </a:r>
            <a:r>
              <a:rPr lang="en-US" b="1" dirty="0"/>
              <a:t>Recoverable Schedule</a:t>
            </a:r>
            <a:r>
              <a:rPr lang="en-US" dirty="0"/>
              <a:t>.</a:t>
            </a:r>
          </a:p>
          <a:p>
            <a:pPr fontAlgn="base"/>
            <a:r>
              <a:rPr lang="en-US" b="1" u="sng" dirty="0" smtClean="0"/>
              <a:t>Types </a:t>
            </a:r>
            <a:r>
              <a:rPr lang="en-US" b="1" u="sng" dirty="0"/>
              <a:t>of Recoverable Schedules-</a:t>
            </a:r>
            <a:endParaRPr lang="en-US" dirty="0"/>
          </a:p>
          <a:p>
            <a:pPr fontAlgn="base"/>
            <a:r>
              <a:rPr lang="en-US" dirty="0" smtClean="0"/>
              <a:t>A </a:t>
            </a:r>
            <a:r>
              <a:rPr lang="en-US" dirty="0"/>
              <a:t>recoverable schedule may be any one of these kinds-</a:t>
            </a:r>
          </a:p>
          <a:p>
            <a:endParaRPr lang="en-US" dirty="0"/>
          </a:p>
        </p:txBody>
      </p:sp>
      <p:pic>
        <p:nvPicPr>
          <p:cNvPr id="6" name="Picture 5"/>
          <p:cNvPicPr>
            <a:picLocks noChangeAspect="1"/>
          </p:cNvPicPr>
          <p:nvPr/>
        </p:nvPicPr>
        <p:blipFill>
          <a:blip r:embed="rId2"/>
          <a:stretch>
            <a:fillRect/>
          </a:stretch>
        </p:blipFill>
        <p:spPr>
          <a:xfrm>
            <a:off x="2279562" y="4634650"/>
            <a:ext cx="6568224" cy="1581150"/>
          </a:xfrm>
          <a:prstGeom prst="rect">
            <a:avLst/>
          </a:prstGeom>
        </p:spPr>
      </p:pic>
    </p:spTree>
    <p:extLst>
      <p:ext uri="{BB962C8B-B14F-4D97-AF65-F5344CB8AC3E}">
        <p14:creationId xmlns:p14="http://schemas.microsoft.com/office/powerpoint/2010/main" val="16340000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9093"/>
            <a:ext cx="10515600" cy="5867870"/>
          </a:xfrm>
        </p:spPr>
        <p:txBody>
          <a:bodyPr/>
          <a:lstStyle/>
          <a:p>
            <a:pPr fontAlgn="base"/>
            <a:r>
              <a:rPr lang="en-US" b="1" u="sng" dirty="0"/>
              <a:t>Cascading Schedule-</a:t>
            </a:r>
            <a:endParaRPr lang="en-US" dirty="0"/>
          </a:p>
          <a:p>
            <a:pPr lvl="0" fontAlgn="base"/>
            <a:r>
              <a:rPr lang="en-US" dirty="0" smtClean="0"/>
              <a:t>If </a:t>
            </a:r>
            <a:r>
              <a:rPr lang="en-US" dirty="0"/>
              <a:t>in a schedule, failure of one transaction causes several other dependent transactions to rollback or abort, then such a schedule is called as a </a:t>
            </a:r>
            <a:r>
              <a:rPr lang="en-US" b="1" dirty="0"/>
              <a:t>Cascading Schedule</a:t>
            </a:r>
            <a:r>
              <a:rPr lang="en-US" dirty="0"/>
              <a:t> or </a:t>
            </a:r>
            <a:r>
              <a:rPr lang="en-US" b="1" dirty="0"/>
              <a:t>Cascading Rollback</a:t>
            </a:r>
            <a:r>
              <a:rPr lang="en-US" dirty="0"/>
              <a:t> or </a:t>
            </a:r>
            <a:r>
              <a:rPr lang="en-US" b="1" dirty="0"/>
              <a:t>Cascading Abort</a:t>
            </a:r>
            <a:r>
              <a:rPr lang="en-US" dirty="0"/>
              <a:t>.</a:t>
            </a:r>
          </a:p>
          <a:p>
            <a:pPr lvl="0" fontAlgn="base"/>
            <a:r>
              <a:rPr lang="en-US" dirty="0"/>
              <a:t>It simply leads to the wastage of CPU time.</a:t>
            </a:r>
          </a:p>
          <a:p>
            <a:endParaRPr lang="en-US" dirty="0"/>
          </a:p>
        </p:txBody>
      </p:sp>
    </p:spTree>
    <p:extLst>
      <p:ext uri="{BB962C8B-B14F-4D97-AF65-F5344CB8AC3E}">
        <p14:creationId xmlns:p14="http://schemas.microsoft.com/office/powerpoint/2010/main" val="41230744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1895" y="519337"/>
            <a:ext cx="5505450" cy="4095750"/>
          </a:xfrm>
          <a:prstGeom prst="rect">
            <a:avLst/>
          </a:prstGeom>
        </p:spPr>
      </p:pic>
      <p:pic>
        <p:nvPicPr>
          <p:cNvPr id="5" name="Picture 4"/>
          <p:cNvPicPr>
            <a:picLocks noChangeAspect="1"/>
          </p:cNvPicPr>
          <p:nvPr/>
        </p:nvPicPr>
        <p:blipFill>
          <a:blip r:embed="rId3"/>
          <a:stretch>
            <a:fillRect/>
          </a:stretch>
        </p:blipFill>
        <p:spPr>
          <a:xfrm>
            <a:off x="6162674" y="592428"/>
            <a:ext cx="6029325" cy="4778061"/>
          </a:xfrm>
          <a:prstGeom prst="rect">
            <a:avLst/>
          </a:prstGeom>
        </p:spPr>
      </p:pic>
    </p:spTree>
    <p:extLst>
      <p:ext uri="{BB962C8B-B14F-4D97-AF65-F5344CB8AC3E}">
        <p14:creationId xmlns:p14="http://schemas.microsoft.com/office/powerpoint/2010/main" val="36319130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2124"/>
            <a:ext cx="10515600" cy="5764839"/>
          </a:xfrm>
        </p:spPr>
        <p:txBody>
          <a:bodyPr/>
          <a:lstStyle/>
          <a:p>
            <a:pPr fontAlgn="base"/>
            <a:r>
              <a:rPr lang="en-US" b="1" u="sng" dirty="0" err="1"/>
              <a:t>Cascadeless</a:t>
            </a:r>
            <a:r>
              <a:rPr lang="en-US" b="1" u="sng" dirty="0"/>
              <a:t> Schedule-</a:t>
            </a:r>
            <a:endParaRPr lang="en-US" dirty="0"/>
          </a:p>
          <a:p>
            <a:pPr marL="0" indent="0" fontAlgn="base">
              <a:buNone/>
            </a:pPr>
            <a:endParaRPr lang="en-US" dirty="0"/>
          </a:p>
          <a:p>
            <a:pPr fontAlgn="base"/>
            <a:r>
              <a:rPr lang="en-US" dirty="0"/>
              <a:t>If in a schedule, a transaction is not allowed to read a data item until the last transaction that has written it is committed or aborted, then such a schedule is called as a </a:t>
            </a:r>
            <a:r>
              <a:rPr lang="en-US" b="1" dirty="0" err="1"/>
              <a:t>Cascadeless</a:t>
            </a:r>
            <a:r>
              <a:rPr lang="en-US" b="1" dirty="0"/>
              <a:t> Schedule</a:t>
            </a:r>
            <a:r>
              <a:rPr lang="en-US" dirty="0"/>
              <a:t>.</a:t>
            </a:r>
          </a:p>
          <a:p>
            <a:pPr fontAlgn="base"/>
            <a:r>
              <a:rPr lang="en-US" dirty="0"/>
              <a:t>In other words,</a:t>
            </a:r>
          </a:p>
          <a:p>
            <a:pPr lvl="0" fontAlgn="base"/>
            <a:r>
              <a:rPr lang="en-US" dirty="0" err="1"/>
              <a:t>Cascadeless</a:t>
            </a:r>
            <a:r>
              <a:rPr lang="en-US" dirty="0"/>
              <a:t> schedule allows only committed read operations.</a:t>
            </a:r>
          </a:p>
          <a:p>
            <a:pPr lvl="0" fontAlgn="base"/>
            <a:r>
              <a:rPr lang="en-US" dirty="0"/>
              <a:t>Therefore, it avoids cascading roll back and thus saves CPU time.</a:t>
            </a:r>
          </a:p>
          <a:p>
            <a:endParaRPr lang="en-US" dirty="0"/>
          </a:p>
        </p:txBody>
      </p:sp>
    </p:spTree>
    <p:extLst>
      <p:ext uri="{BB962C8B-B14F-4D97-AF65-F5344CB8AC3E}">
        <p14:creationId xmlns:p14="http://schemas.microsoft.com/office/powerpoint/2010/main" val="39934043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77494" y="548167"/>
            <a:ext cx="4867275" cy="4152900"/>
          </a:xfrm>
          <a:prstGeom prst="rect">
            <a:avLst/>
          </a:prstGeom>
        </p:spPr>
      </p:pic>
      <p:pic>
        <p:nvPicPr>
          <p:cNvPr id="5" name="Picture 4"/>
          <p:cNvPicPr>
            <a:picLocks noChangeAspect="1"/>
          </p:cNvPicPr>
          <p:nvPr/>
        </p:nvPicPr>
        <p:blipFill>
          <a:blip r:embed="rId3"/>
          <a:stretch>
            <a:fillRect/>
          </a:stretch>
        </p:blipFill>
        <p:spPr>
          <a:xfrm>
            <a:off x="5386185" y="386366"/>
            <a:ext cx="5831313" cy="5267459"/>
          </a:xfrm>
          <a:prstGeom prst="rect">
            <a:avLst/>
          </a:prstGeom>
        </p:spPr>
      </p:pic>
    </p:spTree>
    <p:extLst>
      <p:ext uri="{BB962C8B-B14F-4D97-AF65-F5344CB8AC3E}">
        <p14:creationId xmlns:p14="http://schemas.microsoft.com/office/powerpoint/2010/main" val="3304500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2276"/>
            <a:ext cx="10515600" cy="5674687"/>
          </a:xfrm>
        </p:spPr>
        <p:txBody>
          <a:bodyPr/>
          <a:lstStyle/>
          <a:p>
            <a:pPr fontAlgn="base"/>
            <a:r>
              <a:rPr lang="en-US" b="1" u="sng" dirty="0"/>
              <a:t>Strict Schedule-</a:t>
            </a:r>
            <a:endParaRPr lang="en-US" dirty="0"/>
          </a:p>
          <a:p>
            <a:pPr marL="0" indent="0" fontAlgn="base">
              <a:buNone/>
            </a:pPr>
            <a:endParaRPr lang="en-US" dirty="0"/>
          </a:p>
          <a:p>
            <a:pPr fontAlgn="base"/>
            <a:r>
              <a:rPr lang="en-US" dirty="0"/>
              <a:t>If in a schedule, a transaction is neither allowed to read nor write a data item until the last transaction that has written it is committed or aborted, then such a schedule is called as a </a:t>
            </a:r>
            <a:r>
              <a:rPr lang="en-US" b="1" dirty="0"/>
              <a:t>Strict Schedule</a:t>
            </a:r>
            <a:r>
              <a:rPr lang="en-US" dirty="0"/>
              <a:t>.</a:t>
            </a:r>
          </a:p>
          <a:p>
            <a:pPr fontAlgn="base"/>
            <a:r>
              <a:rPr lang="en-US" dirty="0"/>
              <a:t>In other words,</a:t>
            </a:r>
          </a:p>
          <a:p>
            <a:pPr lvl="0" fontAlgn="base"/>
            <a:r>
              <a:rPr lang="en-US" dirty="0"/>
              <a:t>Strict schedule allows only committed read and write operations.</a:t>
            </a:r>
          </a:p>
          <a:p>
            <a:pPr lvl="0" fontAlgn="base"/>
            <a:r>
              <a:rPr lang="en-US" dirty="0"/>
              <a:t>Clearly, strict schedule implements more restrictions than </a:t>
            </a:r>
            <a:r>
              <a:rPr lang="en-US" dirty="0" err="1"/>
              <a:t>cascadeless</a:t>
            </a:r>
            <a:r>
              <a:rPr lang="en-US" dirty="0"/>
              <a:t> schedule.</a:t>
            </a:r>
          </a:p>
          <a:p>
            <a:endParaRPr lang="en-US" dirty="0"/>
          </a:p>
        </p:txBody>
      </p:sp>
    </p:spTree>
    <p:extLst>
      <p:ext uri="{BB962C8B-B14F-4D97-AF65-F5344CB8AC3E}">
        <p14:creationId xmlns:p14="http://schemas.microsoft.com/office/powerpoint/2010/main" val="38336658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31748" y="464556"/>
            <a:ext cx="5012229" cy="4674114"/>
          </a:xfrm>
          <a:prstGeom prst="rect">
            <a:avLst/>
          </a:prstGeom>
        </p:spPr>
      </p:pic>
      <p:pic>
        <p:nvPicPr>
          <p:cNvPr id="5" name="Picture 4"/>
          <p:cNvPicPr>
            <a:picLocks noChangeAspect="1"/>
          </p:cNvPicPr>
          <p:nvPr/>
        </p:nvPicPr>
        <p:blipFill>
          <a:blip r:embed="rId3"/>
          <a:stretch>
            <a:fillRect/>
          </a:stretch>
        </p:blipFill>
        <p:spPr>
          <a:xfrm>
            <a:off x="5884036" y="682580"/>
            <a:ext cx="4648200" cy="4468969"/>
          </a:xfrm>
          <a:prstGeom prst="rect">
            <a:avLst/>
          </a:prstGeom>
        </p:spPr>
      </p:pic>
    </p:spTree>
    <p:extLst>
      <p:ext uri="{BB962C8B-B14F-4D97-AF65-F5344CB8AC3E}">
        <p14:creationId xmlns:p14="http://schemas.microsoft.com/office/powerpoint/2010/main" val="29628244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8338"/>
            <a:ext cx="10515600" cy="5468625"/>
          </a:xfrm>
        </p:spPr>
        <p:txBody>
          <a:bodyPr/>
          <a:lstStyle/>
          <a:p>
            <a:pPr fontAlgn="base"/>
            <a:r>
              <a:rPr lang="en-US" b="1" u="sng" dirty="0"/>
              <a:t>Equivalence of Schedules-</a:t>
            </a:r>
            <a:endParaRPr lang="en-US" dirty="0"/>
          </a:p>
          <a:p>
            <a:pPr marL="0" indent="0" fontAlgn="base">
              <a:buNone/>
            </a:pPr>
            <a:endParaRPr lang="en-US" dirty="0"/>
          </a:p>
          <a:p>
            <a:pPr fontAlgn="base"/>
            <a:r>
              <a:rPr lang="en-US" dirty="0"/>
              <a:t>In DBMS, schedules may have the following three different kinds of equivalence relations among them-</a:t>
            </a:r>
          </a:p>
          <a:p>
            <a:pPr fontAlgn="base"/>
            <a:r>
              <a:rPr lang="en-US" dirty="0"/>
              <a:t> </a:t>
            </a:r>
          </a:p>
          <a:p>
            <a:endParaRPr lang="en-US" dirty="0"/>
          </a:p>
        </p:txBody>
      </p:sp>
      <p:pic>
        <p:nvPicPr>
          <p:cNvPr id="6" name="Picture 5"/>
          <p:cNvPicPr>
            <a:picLocks noChangeAspect="1"/>
          </p:cNvPicPr>
          <p:nvPr/>
        </p:nvPicPr>
        <p:blipFill>
          <a:blip r:embed="rId2"/>
          <a:stretch>
            <a:fillRect/>
          </a:stretch>
        </p:blipFill>
        <p:spPr>
          <a:xfrm>
            <a:off x="2968781" y="3340592"/>
            <a:ext cx="6123704" cy="2326112"/>
          </a:xfrm>
          <a:prstGeom prst="rect">
            <a:avLst/>
          </a:prstGeom>
        </p:spPr>
      </p:pic>
    </p:spTree>
    <p:extLst>
      <p:ext uri="{BB962C8B-B14F-4D97-AF65-F5344CB8AC3E}">
        <p14:creationId xmlns:p14="http://schemas.microsoft.com/office/powerpoint/2010/main" val="297087481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7577"/>
            <a:ext cx="10515600" cy="5919386"/>
          </a:xfrm>
        </p:spPr>
        <p:txBody>
          <a:bodyPr>
            <a:normAutofit fontScale="92500" lnSpcReduction="20000"/>
          </a:bodyPr>
          <a:lstStyle/>
          <a:p>
            <a:pPr marL="0" indent="0" fontAlgn="base">
              <a:buNone/>
            </a:pPr>
            <a:r>
              <a:rPr lang="en-US" b="1" u="sng" dirty="0" smtClean="0"/>
              <a:t>1</a:t>
            </a:r>
            <a:r>
              <a:rPr lang="en-US" b="1" u="sng" dirty="0"/>
              <a:t>. Result Equivalent Schedules-</a:t>
            </a:r>
            <a:endParaRPr lang="en-US" dirty="0"/>
          </a:p>
          <a:p>
            <a:pPr marL="0" indent="0" fontAlgn="base">
              <a:buNone/>
            </a:pPr>
            <a:endParaRPr lang="en-US" dirty="0"/>
          </a:p>
          <a:p>
            <a:pPr lvl="0" fontAlgn="base"/>
            <a:r>
              <a:rPr lang="en-US" dirty="0"/>
              <a:t>If any two schedules generate the same result after their execution, then they are called as result equivalent schedules.</a:t>
            </a:r>
          </a:p>
          <a:p>
            <a:pPr lvl="0" fontAlgn="base"/>
            <a:r>
              <a:rPr lang="en-US" dirty="0"/>
              <a:t>This equivalence relation is considered of least significance.</a:t>
            </a:r>
          </a:p>
          <a:p>
            <a:pPr lvl="0" fontAlgn="base"/>
            <a:r>
              <a:rPr lang="en-US" dirty="0"/>
              <a:t>This is because some schedules might produce same results for some set of values and different results for some other set of values.</a:t>
            </a:r>
          </a:p>
          <a:p>
            <a:pPr marL="0" indent="0" fontAlgn="base">
              <a:buNone/>
            </a:pPr>
            <a:r>
              <a:rPr lang="en-US" b="1" u="sng" dirty="0" smtClean="0"/>
              <a:t>2</a:t>
            </a:r>
            <a:r>
              <a:rPr lang="en-US" b="1" u="sng" dirty="0"/>
              <a:t>. Conflict Equivalent Schedules-</a:t>
            </a:r>
            <a:endParaRPr lang="en-US" dirty="0"/>
          </a:p>
          <a:p>
            <a:pPr marL="0" indent="0" fontAlgn="base">
              <a:buNone/>
            </a:pPr>
            <a:endParaRPr lang="en-US" dirty="0"/>
          </a:p>
          <a:p>
            <a:pPr fontAlgn="base"/>
            <a:r>
              <a:rPr lang="en-US" dirty="0"/>
              <a:t>If any two schedules satisfy the following two conditions, then they are called as conflict equivalent schedules-</a:t>
            </a:r>
          </a:p>
          <a:p>
            <a:pPr lvl="0" fontAlgn="base"/>
            <a:r>
              <a:rPr lang="en-US" dirty="0"/>
              <a:t>The set of transactions present in both the schedules is same.</a:t>
            </a:r>
          </a:p>
          <a:p>
            <a:pPr lvl="0" fontAlgn="base"/>
            <a:r>
              <a:rPr lang="en-US" dirty="0"/>
              <a:t>The order of pairs of conflicting operations of both the schedules is </a:t>
            </a:r>
            <a:r>
              <a:rPr lang="en-US" dirty="0" smtClean="0"/>
              <a:t>same.</a:t>
            </a:r>
          </a:p>
          <a:p>
            <a:pPr marL="0" indent="0" fontAlgn="base">
              <a:buNone/>
            </a:pPr>
            <a:r>
              <a:rPr lang="en-US" b="1" u="sng" dirty="0" smtClean="0"/>
              <a:t>3. View Equivalent Schedules-</a:t>
            </a:r>
            <a:endParaRPr lang="en-US" dirty="0" smtClean="0"/>
          </a:p>
          <a:p>
            <a:pPr marL="0" indent="0">
              <a:buNone/>
            </a:pPr>
            <a:r>
              <a:rPr lang="en-US" dirty="0" smtClean="0"/>
              <a:t>We </a:t>
            </a:r>
            <a:r>
              <a:rPr lang="en-US" dirty="0"/>
              <a:t>have already discussed about </a:t>
            </a:r>
            <a:r>
              <a:rPr lang="en-US" b="1" u="sng" dirty="0">
                <a:hlinkClick r:id="rId2"/>
              </a:rPr>
              <a:t>View Equivalent Schedules</a:t>
            </a:r>
            <a:endParaRPr lang="en-US" dirty="0"/>
          </a:p>
        </p:txBody>
      </p:sp>
    </p:spTree>
    <p:extLst>
      <p:ext uri="{BB962C8B-B14F-4D97-AF65-F5344CB8AC3E}">
        <p14:creationId xmlns:p14="http://schemas.microsoft.com/office/powerpoint/2010/main" val="216492016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1820"/>
            <a:ext cx="10515600" cy="5945143"/>
          </a:xfrm>
        </p:spPr>
        <p:txBody>
          <a:bodyPr/>
          <a:lstStyle/>
          <a:p>
            <a:r>
              <a:rPr lang="en-US" dirty="0"/>
              <a:t>Are the following three schedules result equivalent?</a:t>
            </a:r>
          </a:p>
          <a:p>
            <a:endParaRPr lang="en-US" dirty="0"/>
          </a:p>
        </p:txBody>
      </p:sp>
      <p:pic>
        <p:nvPicPr>
          <p:cNvPr id="4" name="Picture 3" descr="https://www.gatevidyalay.com/wp-content/uploads/2018/06/Equivalence-of-Schedules-Problem-01.png"/>
          <p:cNvPicPr/>
          <p:nvPr/>
        </p:nvPicPr>
        <p:blipFill>
          <a:blip r:embed="rId2">
            <a:extLst>
              <a:ext uri="{28A0092B-C50C-407E-A947-70E740481C1C}">
                <a14:useLocalDpi xmlns:a14="http://schemas.microsoft.com/office/drawing/2010/main" val="0"/>
              </a:ext>
            </a:extLst>
          </a:blip>
          <a:srcRect/>
          <a:stretch>
            <a:fillRect/>
          </a:stretch>
        </p:blipFill>
        <p:spPr bwMode="auto">
          <a:xfrm>
            <a:off x="1363484" y="920370"/>
            <a:ext cx="5781675" cy="4733925"/>
          </a:xfrm>
          <a:prstGeom prst="rect">
            <a:avLst/>
          </a:prstGeom>
          <a:noFill/>
          <a:ln>
            <a:noFill/>
          </a:ln>
        </p:spPr>
      </p:pic>
    </p:spTree>
    <p:extLst>
      <p:ext uri="{BB962C8B-B14F-4D97-AF65-F5344CB8AC3E}">
        <p14:creationId xmlns:p14="http://schemas.microsoft.com/office/powerpoint/2010/main" val="10415059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6518"/>
            <a:ext cx="10515600" cy="5700445"/>
          </a:xfrm>
        </p:spPr>
        <p:txBody>
          <a:bodyPr>
            <a:normAutofit fontScale="92500" lnSpcReduction="10000"/>
          </a:bodyPr>
          <a:lstStyle/>
          <a:p>
            <a:pPr fontAlgn="base"/>
            <a:r>
              <a:rPr lang="en-US" dirty="0"/>
              <a:t>To check whether the given schedules are result equivalent or not,</a:t>
            </a:r>
          </a:p>
          <a:p>
            <a:pPr lvl="0" fontAlgn="base"/>
            <a:r>
              <a:rPr lang="en-US" dirty="0"/>
              <a:t>We will consider some arbitrary values of X and Y.</a:t>
            </a:r>
          </a:p>
          <a:p>
            <a:pPr lvl="0" fontAlgn="base"/>
            <a:r>
              <a:rPr lang="en-US" dirty="0"/>
              <a:t>Then, we will compare the results produced by each schedule.</a:t>
            </a:r>
          </a:p>
          <a:p>
            <a:pPr lvl="0" fontAlgn="base"/>
            <a:r>
              <a:rPr lang="en-US" dirty="0"/>
              <a:t>Those schedules which produce the same results will be result equivalent.</a:t>
            </a:r>
          </a:p>
          <a:p>
            <a:pPr fontAlgn="base"/>
            <a:r>
              <a:rPr lang="en-US" dirty="0" smtClean="0"/>
              <a:t>Let </a:t>
            </a:r>
            <a:r>
              <a:rPr lang="en-US" dirty="0"/>
              <a:t>X = 2 and Y = 5.</a:t>
            </a:r>
          </a:p>
          <a:p>
            <a:pPr fontAlgn="base"/>
            <a:r>
              <a:rPr lang="en-US" dirty="0"/>
              <a:t>On substituting these values, the results produced by each schedule are-</a:t>
            </a:r>
          </a:p>
          <a:p>
            <a:pPr fontAlgn="base"/>
            <a:r>
              <a:rPr lang="en-US" b="1" dirty="0" smtClean="0"/>
              <a:t>Results </a:t>
            </a:r>
            <a:r>
              <a:rPr lang="en-US" b="1" dirty="0"/>
              <a:t>by Schedule S1-</a:t>
            </a:r>
            <a:r>
              <a:rPr lang="en-US" dirty="0"/>
              <a:t> X = 21 and Y = 10</a:t>
            </a:r>
          </a:p>
          <a:p>
            <a:pPr fontAlgn="base"/>
            <a:r>
              <a:rPr lang="en-US" b="1" dirty="0"/>
              <a:t>Results by Schedule S2-</a:t>
            </a:r>
            <a:r>
              <a:rPr lang="en-US" dirty="0"/>
              <a:t> X = 21 and Y = 10</a:t>
            </a:r>
          </a:p>
          <a:p>
            <a:pPr fontAlgn="base"/>
            <a:r>
              <a:rPr lang="en-US" b="1" dirty="0"/>
              <a:t>Results by Schedule S3-</a:t>
            </a:r>
            <a:r>
              <a:rPr lang="en-US" dirty="0"/>
              <a:t> X = 11 and Y = 10</a:t>
            </a:r>
          </a:p>
          <a:p>
            <a:pPr marL="0" indent="0" fontAlgn="base">
              <a:buNone/>
            </a:pPr>
            <a:endParaRPr lang="en-US" dirty="0"/>
          </a:p>
          <a:p>
            <a:pPr lvl="0" fontAlgn="base"/>
            <a:r>
              <a:rPr lang="en-US" dirty="0"/>
              <a:t>Clearly, the results produced by schedules S1 and S2 are same.</a:t>
            </a:r>
          </a:p>
          <a:p>
            <a:pPr lvl="0" fontAlgn="base"/>
            <a:r>
              <a:rPr lang="en-US" dirty="0"/>
              <a:t>Thus, we conclude that S1 and S2 are result equivalent schedules.</a:t>
            </a:r>
          </a:p>
          <a:p>
            <a:endParaRPr lang="en-US" dirty="0"/>
          </a:p>
        </p:txBody>
      </p:sp>
    </p:spTree>
    <p:extLst>
      <p:ext uri="{BB962C8B-B14F-4D97-AF65-F5344CB8AC3E}">
        <p14:creationId xmlns:p14="http://schemas.microsoft.com/office/powerpoint/2010/main" val="6068235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4699"/>
            <a:ext cx="10515600" cy="5932264"/>
          </a:xfrm>
        </p:spPr>
        <p:txBody>
          <a:bodyPr/>
          <a:lstStyle/>
          <a:p>
            <a:r>
              <a:rPr lang="en-US" dirty="0"/>
              <a:t>Are the following two schedules conflict equivalent?</a:t>
            </a:r>
          </a:p>
          <a:p>
            <a:pPr marL="0" indent="0">
              <a:buNone/>
            </a:pPr>
            <a:endParaRPr lang="en-US" dirty="0"/>
          </a:p>
        </p:txBody>
      </p:sp>
      <p:pic>
        <p:nvPicPr>
          <p:cNvPr id="4" name="Picture 3" descr="https://www.gatevidyalay.com/wp-content/uploads/2018/06/Equivalence-of-Schedules-Problem-02.png"/>
          <p:cNvPicPr/>
          <p:nvPr/>
        </p:nvPicPr>
        <p:blipFill>
          <a:blip r:embed="rId2">
            <a:extLst>
              <a:ext uri="{28A0092B-C50C-407E-A947-70E740481C1C}">
                <a14:useLocalDpi xmlns:a14="http://schemas.microsoft.com/office/drawing/2010/main" val="0"/>
              </a:ext>
            </a:extLst>
          </a:blip>
          <a:srcRect/>
          <a:stretch>
            <a:fillRect/>
          </a:stretch>
        </p:blipFill>
        <p:spPr bwMode="auto">
          <a:xfrm>
            <a:off x="2060621" y="978794"/>
            <a:ext cx="6555346" cy="4159876"/>
          </a:xfrm>
          <a:prstGeom prst="rect">
            <a:avLst/>
          </a:prstGeom>
          <a:noFill/>
          <a:ln>
            <a:noFill/>
          </a:ln>
        </p:spPr>
      </p:pic>
    </p:spTree>
    <p:extLst>
      <p:ext uri="{BB962C8B-B14F-4D97-AF65-F5344CB8AC3E}">
        <p14:creationId xmlns:p14="http://schemas.microsoft.com/office/powerpoint/2010/main" val="406935384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1065"/>
            <a:ext cx="10515600" cy="5545898"/>
          </a:xfrm>
        </p:spPr>
        <p:txBody>
          <a:bodyPr>
            <a:normAutofit fontScale="70000" lnSpcReduction="20000"/>
          </a:bodyPr>
          <a:lstStyle/>
          <a:p>
            <a:pPr fontAlgn="base"/>
            <a:r>
              <a:rPr lang="en-US" dirty="0"/>
              <a:t>To check whether the given schedules are conflict equivalent or not,</a:t>
            </a:r>
          </a:p>
          <a:p>
            <a:pPr lvl="0" fontAlgn="base"/>
            <a:r>
              <a:rPr lang="en-US" dirty="0"/>
              <a:t>We will write their order of pairs of conflicting operations.</a:t>
            </a:r>
          </a:p>
          <a:p>
            <a:pPr lvl="0" fontAlgn="base"/>
            <a:r>
              <a:rPr lang="en-US" dirty="0"/>
              <a:t>Then, we will compare the order of both the schedules.</a:t>
            </a:r>
          </a:p>
          <a:p>
            <a:pPr lvl="0" fontAlgn="base"/>
            <a:r>
              <a:rPr lang="en-US" dirty="0"/>
              <a:t>If both the schedules are found to have the same order, then they will be conflict equivalent</a:t>
            </a:r>
            <a:r>
              <a:rPr lang="en-US" dirty="0" smtClean="0"/>
              <a:t>.</a:t>
            </a:r>
            <a:endParaRPr lang="en-US" dirty="0"/>
          </a:p>
          <a:p>
            <a:pPr fontAlgn="base"/>
            <a:r>
              <a:rPr lang="en-US" b="1" u="sng" dirty="0"/>
              <a:t>For schedule S1-</a:t>
            </a:r>
            <a:endParaRPr lang="en-US" dirty="0"/>
          </a:p>
          <a:p>
            <a:pPr fontAlgn="base"/>
            <a:r>
              <a:rPr lang="en-US" dirty="0" smtClean="0"/>
              <a:t>The </a:t>
            </a:r>
            <a:r>
              <a:rPr lang="en-US" dirty="0"/>
              <a:t>required order is-</a:t>
            </a:r>
          </a:p>
          <a:p>
            <a:pPr lvl="0" fontAlgn="base"/>
            <a:r>
              <a:rPr lang="en-US" dirty="0"/>
              <a:t>R</a:t>
            </a:r>
            <a:r>
              <a:rPr lang="en-US" baseline="-25000" dirty="0"/>
              <a:t>1</a:t>
            </a:r>
            <a:r>
              <a:rPr lang="en-US" dirty="0"/>
              <a:t>(A) , W</a:t>
            </a:r>
            <a:r>
              <a:rPr lang="en-US" baseline="-25000" dirty="0"/>
              <a:t>2</a:t>
            </a:r>
            <a:r>
              <a:rPr lang="en-US" dirty="0"/>
              <a:t>(A)</a:t>
            </a:r>
          </a:p>
          <a:p>
            <a:pPr lvl="0" fontAlgn="base"/>
            <a:r>
              <a:rPr lang="en-US" dirty="0"/>
              <a:t>W</a:t>
            </a:r>
            <a:r>
              <a:rPr lang="en-US" baseline="-25000" dirty="0"/>
              <a:t>1</a:t>
            </a:r>
            <a:r>
              <a:rPr lang="en-US" dirty="0"/>
              <a:t>(A) , R</a:t>
            </a:r>
            <a:r>
              <a:rPr lang="en-US" baseline="-25000" dirty="0"/>
              <a:t>2</a:t>
            </a:r>
            <a:r>
              <a:rPr lang="en-US" dirty="0"/>
              <a:t>(A)</a:t>
            </a:r>
          </a:p>
          <a:p>
            <a:pPr lvl="0" fontAlgn="base"/>
            <a:r>
              <a:rPr lang="en-US" dirty="0"/>
              <a:t>W</a:t>
            </a:r>
            <a:r>
              <a:rPr lang="en-US" baseline="-25000" dirty="0"/>
              <a:t>1</a:t>
            </a:r>
            <a:r>
              <a:rPr lang="en-US" dirty="0"/>
              <a:t>(A) , W</a:t>
            </a:r>
            <a:r>
              <a:rPr lang="en-US" baseline="-25000" dirty="0"/>
              <a:t>2</a:t>
            </a:r>
            <a:r>
              <a:rPr lang="en-US" dirty="0"/>
              <a:t>(A)</a:t>
            </a:r>
          </a:p>
          <a:p>
            <a:pPr fontAlgn="base"/>
            <a:r>
              <a:rPr lang="en-US" b="1" u="sng" dirty="0" smtClean="0"/>
              <a:t>For </a:t>
            </a:r>
            <a:r>
              <a:rPr lang="en-US" b="1" u="sng" dirty="0"/>
              <a:t>schedule S2-</a:t>
            </a:r>
            <a:endParaRPr lang="en-US" dirty="0"/>
          </a:p>
          <a:p>
            <a:pPr fontAlgn="base"/>
            <a:r>
              <a:rPr lang="en-US" dirty="0" smtClean="0"/>
              <a:t>The </a:t>
            </a:r>
            <a:r>
              <a:rPr lang="en-US" dirty="0"/>
              <a:t>required order is-</a:t>
            </a:r>
          </a:p>
          <a:p>
            <a:pPr lvl="0" fontAlgn="base"/>
            <a:r>
              <a:rPr lang="en-US" dirty="0"/>
              <a:t>R</a:t>
            </a:r>
            <a:r>
              <a:rPr lang="en-US" baseline="-25000" dirty="0"/>
              <a:t>1</a:t>
            </a:r>
            <a:r>
              <a:rPr lang="en-US" dirty="0"/>
              <a:t>(A) , W</a:t>
            </a:r>
            <a:r>
              <a:rPr lang="en-US" baseline="-25000" dirty="0"/>
              <a:t>2</a:t>
            </a:r>
            <a:r>
              <a:rPr lang="en-US" dirty="0"/>
              <a:t>(A)</a:t>
            </a:r>
          </a:p>
          <a:p>
            <a:pPr lvl="0" fontAlgn="base"/>
            <a:r>
              <a:rPr lang="en-US" dirty="0"/>
              <a:t>W</a:t>
            </a:r>
            <a:r>
              <a:rPr lang="en-US" baseline="-25000" dirty="0"/>
              <a:t>1</a:t>
            </a:r>
            <a:r>
              <a:rPr lang="en-US" dirty="0"/>
              <a:t>(A) , R</a:t>
            </a:r>
            <a:r>
              <a:rPr lang="en-US" baseline="-25000" dirty="0"/>
              <a:t>2</a:t>
            </a:r>
            <a:r>
              <a:rPr lang="en-US" dirty="0"/>
              <a:t>(A)</a:t>
            </a:r>
          </a:p>
          <a:p>
            <a:pPr lvl="0" fontAlgn="base"/>
            <a:r>
              <a:rPr lang="en-US" dirty="0"/>
              <a:t>W</a:t>
            </a:r>
            <a:r>
              <a:rPr lang="en-US" baseline="-25000" dirty="0"/>
              <a:t>1</a:t>
            </a:r>
            <a:r>
              <a:rPr lang="en-US" dirty="0"/>
              <a:t>(A) , W</a:t>
            </a:r>
            <a:r>
              <a:rPr lang="en-US" baseline="-25000" dirty="0"/>
              <a:t>2</a:t>
            </a:r>
            <a:r>
              <a:rPr lang="en-US" dirty="0"/>
              <a:t>(A)</a:t>
            </a:r>
          </a:p>
          <a:p>
            <a:pPr lvl="0" fontAlgn="base"/>
            <a:r>
              <a:rPr lang="en-US" dirty="0" smtClean="0"/>
              <a:t>Clearly</a:t>
            </a:r>
            <a:r>
              <a:rPr lang="en-US" dirty="0"/>
              <a:t>, both the given schedules have the same order.</a:t>
            </a:r>
          </a:p>
          <a:p>
            <a:pPr lvl="0" fontAlgn="base"/>
            <a:r>
              <a:rPr lang="en-US" dirty="0"/>
              <a:t>Thus, we conclude that S1 and S2 are conflict equivalent schedules.</a:t>
            </a:r>
          </a:p>
          <a:p>
            <a:endParaRPr lang="en-US" dirty="0"/>
          </a:p>
        </p:txBody>
      </p:sp>
    </p:spTree>
    <p:extLst>
      <p:ext uri="{BB962C8B-B14F-4D97-AF65-F5344CB8AC3E}">
        <p14:creationId xmlns:p14="http://schemas.microsoft.com/office/powerpoint/2010/main" val="30368480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r>
              <a:rPr lang="en-US" altLang="en-US" smtClean="0"/>
              <a:t>Concurrency Control</a:t>
            </a:r>
          </a:p>
        </p:txBody>
      </p:sp>
      <p:sp>
        <p:nvSpPr>
          <p:cNvPr id="86019" name="Content Placeholder 2"/>
          <p:cNvSpPr>
            <a:spLocks noGrp="1"/>
          </p:cNvSpPr>
          <p:nvPr>
            <p:ph idx="1"/>
          </p:nvPr>
        </p:nvSpPr>
        <p:spPr/>
        <p:txBody>
          <a:bodyPr/>
          <a:lstStyle/>
          <a:p>
            <a:pPr algn="just"/>
            <a:r>
              <a:rPr lang="en-US" altLang="en-US" dirty="0" smtClean="0"/>
              <a:t>Concurrent Execution of transactions is unavoidable as it gives better throughput.</a:t>
            </a:r>
          </a:p>
          <a:p>
            <a:r>
              <a:rPr lang="en-US" altLang="en-US" dirty="0" smtClean="0"/>
              <a:t>Control of concurrent transactions must be taken care by the system through concurrency control scheme.</a:t>
            </a:r>
          </a:p>
          <a:p>
            <a:r>
              <a:rPr lang="en-US" altLang="en-US" dirty="0" smtClean="0"/>
              <a:t>There are set of protocols that will ensure serializability of schedules.</a:t>
            </a:r>
          </a:p>
          <a:p>
            <a:r>
              <a:rPr lang="en-US" altLang="en-US" dirty="0" smtClean="0"/>
              <a:t>The most popular and simple one is locking technique.</a:t>
            </a:r>
          </a:p>
        </p:txBody>
      </p:sp>
      <p:sp>
        <p:nvSpPr>
          <p:cNvPr id="8602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E0E3D6D6-697A-448F-970A-FC03E50A1855}" type="slidenum">
              <a:rPr lang="en-US" altLang="en-US" sz="1400">
                <a:solidFill>
                  <a:srgbClr val="990033"/>
                </a:solidFill>
              </a:rPr>
              <a:pPr>
                <a:spcBef>
                  <a:spcPct val="0"/>
                </a:spcBef>
                <a:buClrTx/>
                <a:buSzTx/>
                <a:buFontTx/>
                <a:buNone/>
              </a:pPr>
              <a:t>97</a:t>
            </a:fld>
            <a:endParaRPr lang="en-CA" altLang="en-US" sz="1400">
              <a:solidFill>
                <a:srgbClr val="990033"/>
              </a:solidFill>
            </a:endParaRPr>
          </a:p>
        </p:txBody>
      </p:sp>
    </p:spTree>
    <p:extLst>
      <p:ext uri="{BB962C8B-B14F-4D97-AF65-F5344CB8AC3E}">
        <p14:creationId xmlns:p14="http://schemas.microsoft.com/office/powerpoint/2010/main" val="35726463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94729"/>
          </a:xfrm>
        </p:spPr>
        <p:txBody>
          <a:bodyPr>
            <a:normAutofit fontScale="90000"/>
          </a:bodyPr>
          <a:lstStyle/>
          <a:p>
            <a:r>
              <a:rPr lang="en-US" dirty="0"/>
              <a:t>Lock-Based Protocol</a:t>
            </a:r>
            <a:br>
              <a:rPr lang="en-US" dirty="0"/>
            </a:br>
            <a:endParaRPr lang="en-US" dirty="0"/>
          </a:p>
        </p:txBody>
      </p:sp>
      <p:sp>
        <p:nvSpPr>
          <p:cNvPr id="3" name="Content Placeholder 2"/>
          <p:cNvSpPr>
            <a:spLocks noGrp="1"/>
          </p:cNvSpPr>
          <p:nvPr>
            <p:ph idx="1"/>
          </p:nvPr>
        </p:nvSpPr>
        <p:spPr>
          <a:xfrm>
            <a:off x="838200" y="566670"/>
            <a:ext cx="10515600" cy="5610293"/>
          </a:xfrm>
        </p:spPr>
        <p:txBody>
          <a:bodyPr>
            <a:normAutofit lnSpcReduction="10000"/>
          </a:bodyPr>
          <a:lstStyle/>
          <a:p>
            <a:r>
              <a:rPr lang="en-US" dirty="0"/>
              <a:t>In this type of protocol, any transaction cannot read or write data until it acquires an appropriate lock on it. There are two types of lock:</a:t>
            </a:r>
          </a:p>
          <a:p>
            <a:r>
              <a:rPr lang="en-US" b="1" dirty="0"/>
              <a:t>1. Shared lock:</a:t>
            </a:r>
            <a:endParaRPr lang="en-US" dirty="0"/>
          </a:p>
          <a:p>
            <a:r>
              <a:rPr lang="en-US" dirty="0"/>
              <a:t>It is also known as a Read-only lock. In a shared lock, the data item can only read by the transaction.</a:t>
            </a:r>
          </a:p>
          <a:p>
            <a:r>
              <a:rPr lang="en-US" dirty="0"/>
              <a:t>It can be shared between the transactions because when the transaction holds a lock, then it can't update the data on the data item.</a:t>
            </a:r>
          </a:p>
          <a:p>
            <a:r>
              <a:rPr lang="en-US" b="1" dirty="0"/>
              <a:t>2. Exclusive lock:</a:t>
            </a:r>
            <a:endParaRPr lang="en-US" dirty="0"/>
          </a:p>
          <a:p>
            <a:r>
              <a:rPr lang="en-US" dirty="0"/>
              <a:t>In the exclusive lock, the data item can be both reads as well as written by the transaction.</a:t>
            </a:r>
          </a:p>
          <a:p>
            <a:r>
              <a:rPr lang="en-US" dirty="0"/>
              <a:t>This lock is exclusive, and in this lock, multiple transactions do not modify the same data simultaneously.</a:t>
            </a:r>
          </a:p>
          <a:p>
            <a:endParaRPr lang="en-US" dirty="0"/>
          </a:p>
        </p:txBody>
      </p:sp>
    </p:spTree>
    <p:extLst>
      <p:ext uri="{BB962C8B-B14F-4D97-AF65-F5344CB8AC3E}">
        <p14:creationId xmlns:p14="http://schemas.microsoft.com/office/powerpoint/2010/main" val="19761185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a:xfrm>
            <a:off x="838200" y="365126"/>
            <a:ext cx="10515600" cy="536396"/>
          </a:xfrm>
        </p:spPr>
        <p:txBody>
          <a:bodyPr>
            <a:noAutofit/>
          </a:bodyPr>
          <a:lstStyle/>
          <a:p>
            <a:r>
              <a:rPr lang="en-US" altLang="en-US" sz="3600" dirty="0" smtClean="0"/>
              <a:t>Lock based Concurrency Control</a:t>
            </a:r>
          </a:p>
        </p:txBody>
      </p:sp>
      <p:sp>
        <p:nvSpPr>
          <p:cNvPr id="87043" name="Content Placeholder 2"/>
          <p:cNvSpPr>
            <a:spLocks noGrp="1"/>
          </p:cNvSpPr>
          <p:nvPr>
            <p:ph idx="1"/>
          </p:nvPr>
        </p:nvSpPr>
        <p:spPr>
          <a:xfrm>
            <a:off x="838200" y="953036"/>
            <a:ext cx="10515600" cy="5422005"/>
          </a:xfrm>
        </p:spPr>
        <p:txBody>
          <a:bodyPr>
            <a:normAutofit fontScale="62500" lnSpcReduction="20000"/>
          </a:bodyPr>
          <a:lstStyle/>
          <a:p>
            <a:pPr algn="just"/>
            <a:r>
              <a:rPr lang="en-US" altLang="en-US" dirty="0" smtClean="0"/>
              <a:t>2 types are there.</a:t>
            </a:r>
          </a:p>
          <a:p>
            <a:pPr lvl="1" algn="just"/>
            <a:r>
              <a:rPr lang="en-US" altLang="en-US" dirty="0" smtClean="0"/>
              <a:t>Binary</a:t>
            </a:r>
          </a:p>
          <a:p>
            <a:pPr lvl="1" algn="just"/>
            <a:r>
              <a:rPr lang="en-US" altLang="en-US" dirty="0" smtClean="0"/>
              <a:t>Shared &amp; Exclusive</a:t>
            </a:r>
          </a:p>
          <a:p>
            <a:r>
              <a:rPr lang="en-US" b="1" dirty="0"/>
              <a:t>Binary Locks: </a:t>
            </a:r>
            <a:r>
              <a:rPr lang="en-US" dirty="0"/>
              <a:t>A Binary lock on a data item can either locked or unlocked states.</a:t>
            </a:r>
            <a:endParaRPr lang="en-US" sz="2000" dirty="0"/>
          </a:p>
          <a:p>
            <a:r>
              <a:rPr lang="en-US" b="1" dirty="0"/>
              <a:t>Shared/exclusive:</a:t>
            </a:r>
            <a:r>
              <a:rPr lang="en-US" dirty="0"/>
              <a:t> This type of locking mechanism separates the locks in DBMS based on their uses. If a lock is acquired on a data item to perform a write operation, it is called an exclusive lock.</a:t>
            </a:r>
            <a:endParaRPr lang="en-US" sz="2400" dirty="0"/>
          </a:p>
          <a:p>
            <a:r>
              <a:rPr lang="en-US" b="1" dirty="0"/>
              <a:t>1. Shared Lock (S):</a:t>
            </a:r>
            <a:endParaRPr lang="en-US" sz="2400" dirty="0"/>
          </a:p>
          <a:p>
            <a:r>
              <a:rPr lang="en-US" dirty="0"/>
              <a:t>A shared lock is also called a Read-only lock. With the shared lock, the data item can be shared between transactions. This is because you will never have permission to update data on the data item.</a:t>
            </a:r>
            <a:endParaRPr lang="en-US" sz="2400" dirty="0"/>
          </a:p>
          <a:p>
            <a:r>
              <a:rPr lang="en-US" dirty="0"/>
              <a:t>For example, consider a case where two transactions are reading the account balance of a person. The database will let them read by placing a shared lock. However, if another transaction wants to update that account’s balance, shared lock prevent it until the reading process is over.</a:t>
            </a:r>
            <a:endParaRPr lang="en-US" sz="2400" dirty="0"/>
          </a:p>
          <a:p>
            <a:r>
              <a:rPr lang="en-US" b="1" dirty="0"/>
              <a:t>2. Exclusive Lock (X):</a:t>
            </a:r>
            <a:endParaRPr lang="en-US" sz="2400" dirty="0"/>
          </a:p>
          <a:p>
            <a:r>
              <a:rPr lang="en-US" dirty="0"/>
              <a:t>With the Exclusive Lock, a data item can be read as well as written. This is exclusive and can’t be held concurrently on the same data item. X-lock is requested using lock-x instruction. Transactions may unlock the data item after finishing the ‘write’ operation.</a:t>
            </a:r>
            <a:endParaRPr lang="en-US" sz="2400" dirty="0"/>
          </a:p>
          <a:p>
            <a:r>
              <a:rPr lang="en-US" dirty="0"/>
              <a:t>For example, when a transaction needs to update the account balance of a person. You can allows this transaction by placing X lock on it. Therefore, when the second transaction wants to read or write, exclusive lock prevent this operation.</a:t>
            </a:r>
            <a:endParaRPr lang="en-US" sz="2400" dirty="0"/>
          </a:p>
          <a:p>
            <a:pPr lvl="1" algn="just"/>
            <a:endParaRPr lang="en-US" altLang="en-US" dirty="0" smtClean="0"/>
          </a:p>
        </p:txBody>
      </p:sp>
      <p:sp>
        <p:nvSpPr>
          <p:cNvPr id="8704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85433C99-981F-49E4-97C3-071D0A85C539}" type="slidenum">
              <a:rPr lang="en-US" altLang="en-US" sz="1400">
                <a:solidFill>
                  <a:srgbClr val="990033"/>
                </a:solidFill>
              </a:rPr>
              <a:pPr>
                <a:spcBef>
                  <a:spcPct val="0"/>
                </a:spcBef>
                <a:buClrTx/>
                <a:buSzTx/>
                <a:buFontTx/>
                <a:buNone/>
              </a:pPr>
              <a:t>99</a:t>
            </a:fld>
            <a:endParaRPr lang="en-CA" altLang="en-US" sz="1400">
              <a:solidFill>
                <a:srgbClr val="990033"/>
              </a:solidFill>
            </a:endParaRPr>
          </a:p>
        </p:txBody>
      </p:sp>
    </p:spTree>
    <p:extLst>
      <p:ext uri="{BB962C8B-B14F-4D97-AF65-F5344CB8AC3E}">
        <p14:creationId xmlns:p14="http://schemas.microsoft.com/office/powerpoint/2010/main" val="25560967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r>
              <a:rPr lang="en-US" altLang="en-US" smtClean="0"/>
              <a:t>Binary Lock</a:t>
            </a:r>
          </a:p>
        </p:txBody>
      </p:sp>
      <p:sp>
        <p:nvSpPr>
          <p:cNvPr id="88067" name="Content Placeholder 2"/>
          <p:cNvSpPr>
            <a:spLocks noGrp="1"/>
          </p:cNvSpPr>
          <p:nvPr>
            <p:ph idx="1"/>
          </p:nvPr>
        </p:nvSpPr>
        <p:spPr/>
        <p:txBody>
          <a:bodyPr>
            <a:normAutofit fontScale="92500" lnSpcReduction="10000"/>
          </a:bodyPr>
          <a:lstStyle/>
          <a:p>
            <a:pPr lvl="1" algn="just"/>
            <a:r>
              <a:rPr lang="en-US" altLang="en-US" smtClean="0"/>
              <a:t>LOCK(X) – lock on object X =&gt; L(X) = 1</a:t>
            </a:r>
          </a:p>
          <a:p>
            <a:pPr lvl="1" algn="just"/>
            <a:r>
              <a:rPr lang="en-US" altLang="en-US" smtClean="0"/>
              <a:t>UNLOCK(X) – Unlock on object X =&gt; L(X) = 0</a:t>
            </a:r>
          </a:p>
          <a:p>
            <a:pPr marL="0" indent="0" algn="just">
              <a:buNone/>
            </a:pPr>
            <a:r>
              <a:rPr lang="en-US" altLang="en-US" smtClean="0"/>
              <a:t>Algorithm:</a:t>
            </a:r>
          </a:p>
          <a:p>
            <a:pPr marL="0" indent="0" algn="just">
              <a:buNone/>
            </a:pPr>
            <a:r>
              <a:rPr lang="en-US" altLang="en-US" sz="2400">
                <a:solidFill>
                  <a:srgbClr val="FF0000"/>
                </a:solidFill>
              </a:rPr>
              <a:t>LOCK(X)</a:t>
            </a:r>
          </a:p>
          <a:p>
            <a:pPr marL="0" indent="0" algn="just">
              <a:buNone/>
            </a:pPr>
            <a:r>
              <a:rPr lang="en-US" altLang="en-US" sz="2400">
                <a:solidFill>
                  <a:srgbClr val="FF0000"/>
                </a:solidFill>
              </a:rPr>
              <a:t>{ </a:t>
            </a:r>
          </a:p>
          <a:p>
            <a:pPr marL="0" indent="0" algn="just">
              <a:buNone/>
            </a:pPr>
            <a:r>
              <a:rPr lang="en-US" altLang="en-US" sz="2400">
                <a:solidFill>
                  <a:srgbClr val="FF0000"/>
                </a:solidFill>
              </a:rPr>
              <a:t>	if L(X)=0</a:t>
            </a:r>
          </a:p>
          <a:p>
            <a:pPr marL="0" indent="0" algn="just">
              <a:buNone/>
            </a:pPr>
            <a:r>
              <a:rPr lang="en-US" altLang="en-US" sz="2400">
                <a:solidFill>
                  <a:srgbClr val="FF0000"/>
                </a:solidFill>
              </a:rPr>
              <a:t>             then L(X)=1</a:t>
            </a:r>
          </a:p>
          <a:p>
            <a:pPr marL="0" indent="0" algn="just">
              <a:buNone/>
            </a:pPr>
            <a:r>
              <a:rPr lang="en-US" altLang="en-US" sz="2400">
                <a:solidFill>
                  <a:srgbClr val="FF0000"/>
                </a:solidFill>
              </a:rPr>
              <a:t>         else</a:t>
            </a:r>
          </a:p>
          <a:p>
            <a:pPr marL="0" indent="0" algn="just">
              <a:buNone/>
            </a:pPr>
            <a:r>
              <a:rPr lang="en-US" altLang="en-US" sz="2400">
                <a:solidFill>
                  <a:srgbClr val="FF0000"/>
                </a:solidFill>
              </a:rPr>
              <a:t>             wait until L(x)=0</a:t>
            </a:r>
          </a:p>
          <a:p>
            <a:pPr marL="0" indent="0" algn="just">
              <a:buNone/>
            </a:pPr>
            <a:r>
              <a:rPr lang="en-US" altLang="en-US" sz="2400">
                <a:solidFill>
                  <a:srgbClr val="FF0000"/>
                </a:solidFill>
              </a:rPr>
              <a:t>             wake up T</a:t>
            </a:r>
          </a:p>
          <a:p>
            <a:pPr marL="0" indent="0" algn="just">
              <a:buNone/>
            </a:pPr>
            <a:r>
              <a:rPr lang="en-US" altLang="en-US" sz="2400">
                <a:solidFill>
                  <a:srgbClr val="FF0000"/>
                </a:solidFill>
              </a:rPr>
              <a:t>}</a:t>
            </a:r>
          </a:p>
        </p:txBody>
      </p:sp>
      <p:sp>
        <p:nvSpPr>
          <p:cNvPr id="8806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F9738EE9-0442-432F-A2EF-06D2311CAE65}" type="slidenum">
              <a:rPr lang="en-US" altLang="en-US" sz="1400">
                <a:solidFill>
                  <a:srgbClr val="990033"/>
                </a:solidFill>
              </a:rPr>
              <a:pPr>
                <a:spcBef>
                  <a:spcPct val="0"/>
                </a:spcBef>
                <a:buClrTx/>
                <a:buSzTx/>
                <a:buFontTx/>
                <a:buNone/>
              </a:pPr>
              <a:t>100</a:t>
            </a:fld>
            <a:endParaRPr lang="en-CA" altLang="en-US" sz="1400">
              <a:solidFill>
                <a:srgbClr val="990033"/>
              </a:solidFill>
            </a:endParaRPr>
          </a:p>
        </p:txBody>
      </p:sp>
    </p:spTree>
    <p:extLst>
      <p:ext uri="{BB962C8B-B14F-4D97-AF65-F5344CB8AC3E}">
        <p14:creationId xmlns:p14="http://schemas.microsoft.com/office/powerpoint/2010/main" val="1019773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ltLang="en-US" smtClean="0"/>
              <a:t>Binary Lock</a:t>
            </a:r>
          </a:p>
        </p:txBody>
      </p:sp>
      <p:sp>
        <p:nvSpPr>
          <p:cNvPr id="89091" name="Content Placeholder 2"/>
          <p:cNvSpPr>
            <a:spLocks noGrp="1"/>
          </p:cNvSpPr>
          <p:nvPr>
            <p:ph idx="1"/>
          </p:nvPr>
        </p:nvSpPr>
        <p:spPr/>
        <p:txBody>
          <a:bodyPr/>
          <a:lstStyle/>
          <a:p>
            <a:pPr marL="0" indent="0" algn="just">
              <a:buNone/>
            </a:pPr>
            <a:r>
              <a:rPr lang="en-US" altLang="en-US" smtClean="0"/>
              <a:t>Algorithm:</a:t>
            </a:r>
          </a:p>
          <a:p>
            <a:pPr marL="0" indent="0" algn="just">
              <a:buNone/>
            </a:pPr>
            <a:r>
              <a:rPr lang="en-US" altLang="en-US" sz="2400">
                <a:solidFill>
                  <a:srgbClr val="FF0000"/>
                </a:solidFill>
              </a:rPr>
              <a:t>UNLOCK(X)</a:t>
            </a:r>
          </a:p>
          <a:p>
            <a:pPr marL="0" indent="0" algn="just">
              <a:buNone/>
            </a:pPr>
            <a:r>
              <a:rPr lang="en-US" altLang="en-US" sz="2400">
                <a:solidFill>
                  <a:srgbClr val="FF0000"/>
                </a:solidFill>
              </a:rPr>
              <a:t>{ </a:t>
            </a:r>
          </a:p>
          <a:p>
            <a:pPr marL="0" indent="0" algn="just">
              <a:buNone/>
            </a:pPr>
            <a:r>
              <a:rPr lang="en-US" altLang="en-US" sz="2400">
                <a:solidFill>
                  <a:srgbClr val="FF0000"/>
                </a:solidFill>
              </a:rPr>
              <a:t>	L(X)=0</a:t>
            </a:r>
          </a:p>
          <a:p>
            <a:pPr marL="0" indent="0" algn="just">
              <a:buNone/>
            </a:pPr>
            <a:r>
              <a:rPr lang="en-US" altLang="en-US" sz="2400">
                <a:solidFill>
                  <a:srgbClr val="FF0000"/>
                </a:solidFill>
              </a:rPr>
              <a:t>           if any T is waiting in the queue</a:t>
            </a:r>
          </a:p>
          <a:p>
            <a:pPr marL="0" indent="0" algn="just">
              <a:buNone/>
            </a:pPr>
            <a:r>
              <a:rPr lang="en-US" altLang="en-US" sz="2400">
                <a:solidFill>
                  <a:srgbClr val="FF0000"/>
                </a:solidFill>
              </a:rPr>
              <a:t>               then</a:t>
            </a:r>
          </a:p>
          <a:p>
            <a:pPr marL="0" indent="0" algn="just">
              <a:buNone/>
            </a:pPr>
            <a:r>
              <a:rPr lang="en-US" altLang="en-US" sz="2400">
                <a:solidFill>
                  <a:srgbClr val="FF0000"/>
                </a:solidFill>
              </a:rPr>
              <a:t>                     wake up T</a:t>
            </a:r>
          </a:p>
          <a:p>
            <a:pPr marL="0" indent="0" algn="just">
              <a:buNone/>
            </a:pPr>
            <a:r>
              <a:rPr lang="en-US" altLang="en-US" sz="2400">
                <a:solidFill>
                  <a:srgbClr val="FF0000"/>
                </a:solidFill>
              </a:rPr>
              <a:t>}</a:t>
            </a:r>
          </a:p>
        </p:txBody>
      </p:sp>
      <p:sp>
        <p:nvSpPr>
          <p:cNvPr id="8909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05B487A0-2559-49A2-98CF-FE366DAA39E0}" type="slidenum">
              <a:rPr lang="en-US" altLang="en-US" sz="1400">
                <a:solidFill>
                  <a:srgbClr val="990033"/>
                </a:solidFill>
              </a:rPr>
              <a:pPr>
                <a:spcBef>
                  <a:spcPct val="0"/>
                </a:spcBef>
                <a:buClrTx/>
                <a:buSzTx/>
                <a:buFontTx/>
                <a:buNone/>
              </a:pPr>
              <a:t>101</a:t>
            </a:fld>
            <a:endParaRPr lang="en-CA" altLang="en-US" sz="1400">
              <a:solidFill>
                <a:srgbClr val="990033"/>
              </a:solidFill>
            </a:endParaRPr>
          </a:p>
        </p:txBody>
      </p:sp>
    </p:spTree>
    <p:extLst>
      <p:ext uri="{BB962C8B-B14F-4D97-AF65-F5344CB8AC3E}">
        <p14:creationId xmlns:p14="http://schemas.microsoft.com/office/powerpoint/2010/main" val="2307210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altLang="en-US" smtClean="0"/>
              <a:t>Shared &amp; Exclusive Lock</a:t>
            </a:r>
          </a:p>
        </p:txBody>
      </p:sp>
      <p:sp>
        <p:nvSpPr>
          <p:cNvPr id="90115" name="Content Placeholder 2"/>
          <p:cNvSpPr>
            <a:spLocks noGrp="1"/>
          </p:cNvSpPr>
          <p:nvPr>
            <p:ph idx="1"/>
          </p:nvPr>
        </p:nvSpPr>
        <p:spPr/>
        <p:txBody>
          <a:bodyPr/>
          <a:lstStyle/>
          <a:p>
            <a:pPr algn="just"/>
            <a:r>
              <a:rPr lang="en-US" altLang="en-US" smtClean="0"/>
              <a:t>In case of binary lock, even if the read-read operation occurs, there is a lock getting applied.</a:t>
            </a:r>
          </a:p>
          <a:p>
            <a:pPr algn="just"/>
            <a:r>
              <a:rPr lang="en-US" altLang="en-US" smtClean="0"/>
              <a:t>But R-R is not a conflict.</a:t>
            </a:r>
          </a:p>
          <a:p>
            <a:pPr algn="just"/>
            <a:r>
              <a:rPr lang="en-US" altLang="en-US" smtClean="0"/>
              <a:t>Hence we use the concept of shared lock &amp; exclusive lock.</a:t>
            </a:r>
          </a:p>
        </p:txBody>
      </p:sp>
      <p:sp>
        <p:nvSpPr>
          <p:cNvPr id="9011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3C871777-9CA7-40A4-82BE-4723B98E7110}" type="slidenum">
              <a:rPr lang="en-US" altLang="en-US" sz="1400">
                <a:solidFill>
                  <a:srgbClr val="990033"/>
                </a:solidFill>
              </a:rPr>
              <a:pPr>
                <a:spcBef>
                  <a:spcPct val="0"/>
                </a:spcBef>
                <a:buClrTx/>
                <a:buSzTx/>
                <a:buFontTx/>
                <a:buNone/>
              </a:pPr>
              <a:t>102</a:t>
            </a:fld>
            <a:endParaRPr lang="en-CA" altLang="en-US" sz="1400">
              <a:solidFill>
                <a:srgbClr val="990033"/>
              </a:solidFill>
            </a:endParaRPr>
          </a:p>
        </p:txBody>
      </p:sp>
    </p:spTree>
    <p:extLst>
      <p:ext uri="{BB962C8B-B14F-4D97-AF65-F5344CB8AC3E}">
        <p14:creationId xmlns:p14="http://schemas.microsoft.com/office/powerpoint/2010/main" val="1716952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r>
              <a:rPr lang="en-US" altLang="en-US" smtClean="0"/>
              <a:t>Shared Lock</a:t>
            </a:r>
          </a:p>
        </p:txBody>
      </p:sp>
      <p:sp>
        <p:nvSpPr>
          <p:cNvPr id="91139" name="Content Placeholder 2"/>
          <p:cNvSpPr>
            <a:spLocks noGrp="1"/>
          </p:cNvSpPr>
          <p:nvPr>
            <p:ph idx="1"/>
          </p:nvPr>
        </p:nvSpPr>
        <p:spPr/>
        <p:txBody>
          <a:bodyPr/>
          <a:lstStyle/>
          <a:p>
            <a:pPr algn="just"/>
            <a:r>
              <a:rPr lang="en-US" altLang="en-US" smtClean="0"/>
              <a:t>If a shared lock is requested by T, the lock manager grants it provided there is no exclusive lock on the object A. ie L(A) = s</a:t>
            </a:r>
          </a:p>
          <a:p>
            <a:pPr algn="just"/>
            <a:r>
              <a:rPr lang="en-US" altLang="en-US" smtClean="0"/>
              <a:t>Lock manager the increments the count of number of read locks on A by 1.</a:t>
            </a:r>
          </a:p>
        </p:txBody>
      </p:sp>
      <p:sp>
        <p:nvSpPr>
          <p:cNvPr id="9114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C6DFE570-9764-4272-95E3-4EC8B045D29F}" type="slidenum">
              <a:rPr lang="en-US" altLang="en-US" sz="1400">
                <a:solidFill>
                  <a:srgbClr val="990033"/>
                </a:solidFill>
              </a:rPr>
              <a:pPr>
                <a:spcBef>
                  <a:spcPct val="0"/>
                </a:spcBef>
                <a:buClrTx/>
                <a:buSzTx/>
                <a:buFontTx/>
                <a:buNone/>
              </a:pPr>
              <a:t>103</a:t>
            </a:fld>
            <a:endParaRPr lang="en-CA" altLang="en-US" sz="1400">
              <a:solidFill>
                <a:srgbClr val="990033"/>
              </a:solidFill>
            </a:endParaRPr>
          </a:p>
        </p:txBody>
      </p:sp>
    </p:spTree>
    <p:extLst>
      <p:ext uri="{BB962C8B-B14F-4D97-AF65-F5344CB8AC3E}">
        <p14:creationId xmlns:p14="http://schemas.microsoft.com/office/powerpoint/2010/main" val="12551852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p:txBody>
          <a:bodyPr/>
          <a:lstStyle/>
          <a:p>
            <a:r>
              <a:rPr lang="en-US" altLang="en-US" smtClean="0"/>
              <a:t>Exclusive Lock</a:t>
            </a:r>
          </a:p>
        </p:txBody>
      </p:sp>
      <p:sp>
        <p:nvSpPr>
          <p:cNvPr id="92163" name="Content Placeholder 2"/>
          <p:cNvSpPr>
            <a:spLocks noGrp="1"/>
          </p:cNvSpPr>
          <p:nvPr>
            <p:ph idx="1"/>
          </p:nvPr>
        </p:nvSpPr>
        <p:spPr/>
        <p:txBody>
          <a:bodyPr/>
          <a:lstStyle/>
          <a:p>
            <a:pPr algn="just"/>
            <a:r>
              <a:rPr lang="en-US" altLang="en-US" smtClean="0"/>
              <a:t>If an exclusive lock is requested by T, the lock manager grants it provided no other transactions hold the lock on A. </a:t>
            </a:r>
          </a:p>
          <a:p>
            <a:pPr algn="just"/>
            <a:r>
              <a:rPr lang="en-US" altLang="en-US" smtClean="0"/>
              <a:t>If the request raised by T cannot be granted, then T is inserted into the waiting queue.</a:t>
            </a:r>
          </a:p>
        </p:txBody>
      </p:sp>
      <p:sp>
        <p:nvSpPr>
          <p:cNvPr id="9216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A087C477-BB4A-40FE-996F-936B63D2365E}" type="slidenum">
              <a:rPr lang="en-US" altLang="en-US" sz="1400">
                <a:solidFill>
                  <a:srgbClr val="990033"/>
                </a:solidFill>
              </a:rPr>
              <a:pPr>
                <a:spcBef>
                  <a:spcPct val="0"/>
                </a:spcBef>
                <a:buClrTx/>
                <a:buSzTx/>
                <a:buFontTx/>
                <a:buNone/>
              </a:pPr>
              <a:t>104</a:t>
            </a:fld>
            <a:endParaRPr lang="en-CA" altLang="en-US" sz="1400">
              <a:solidFill>
                <a:srgbClr val="990033"/>
              </a:solidFill>
            </a:endParaRPr>
          </a:p>
        </p:txBody>
      </p:sp>
    </p:spTree>
    <p:extLst>
      <p:ext uri="{BB962C8B-B14F-4D97-AF65-F5344CB8AC3E}">
        <p14:creationId xmlns:p14="http://schemas.microsoft.com/office/powerpoint/2010/main" val="1987323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r>
              <a:rPr lang="en-US" altLang="en-US" smtClean="0"/>
              <a:t>Shared Lock Algorithm</a:t>
            </a:r>
          </a:p>
        </p:txBody>
      </p:sp>
      <p:sp>
        <p:nvSpPr>
          <p:cNvPr id="93187" name="Content Placeholder 2"/>
          <p:cNvSpPr>
            <a:spLocks noGrp="1"/>
          </p:cNvSpPr>
          <p:nvPr>
            <p:ph idx="1"/>
          </p:nvPr>
        </p:nvSpPr>
        <p:spPr>
          <a:xfrm>
            <a:off x="1763714" y="1600200"/>
            <a:ext cx="8294687" cy="4800600"/>
          </a:xfrm>
        </p:spPr>
        <p:txBody>
          <a:bodyPr>
            <a:normAutofit fontScale="92500" lnSpcReduction="20000"/>
          </a:bodyPr>
          <a:lstStyle/>
          <a:p>
            <a:pPr marL="0" indent="0" algn="just">
              <a:buNone/>
            </a:pPr>
            <a:r>
              <a:rPr lang="en-US" altLang="en-US" sz="2000"/>
              <a:t>S(A)</a:t>
            </a:r>
          </a:p>
          <a:p>
            <a:pPr marL="0" indent="0" algn="just">
              <a:buNone/>
            </a:pPr>
            <a:r>
              <a:rPr lang="en-US" altLang="en-US" sz="2000"/>
              <a:t>{</a:t>
            </a:r>
          </a:p>
          <a:p>
            <a:pPr marL="0" indent="0" algn="just">
              <a:buNone/>
            </a:pPr>
            <a:r>
              <a:rPr lang="en-US" altLang="en-US" sz="2000"/>
              <a:t>	if L(A) =0       //no lock on A</a:t>
            </a:r>
          </a:p>
          <a:p>
            <a:pPr marL="0" indent="0" algn="just">
              <a:buNone/>
            </a:pPr>
            <a:r>
              <a:rPr lang="en-US" altLang="en-US" sz="2000"/>
              <a:t>             then {</a:t>
            </a:r>
          </a:p>
          <a:p>
            <a:pPr marL="0" indent="0" algn="just">
              <a:buNone/>
            </a:pPr>
            <a:r>
              <a:rPr lang="en-US" altLang="en-US" sz="2000"/>
              <a:t>                L(A) = S  // set initial shared lock</a:t>
            </a:r>
          </a:p>
          <a:p>
            <a:pPr marL="0" indent="0" algn="just">
              <a:buNone/>
            </a:pPr>
            <a:r>
              <a:rPr lang="en-US" altLang="en-US" sz="2000"/>
              <a:t>                N(A) = 1  // s lock counter</a:t>
            </a:r>
          </a:p>
          <a:p>
            <a:pPr marL="0" indent="0" algn="just">
              <a:buNone/>
            </a:pPr>
            <a:r>
              <a:rPr lang="en-US" altLang="en-US" sz="2000"/>
              <a:t>                update lock table  }</a:t>
            </a:r>
          </a:p>
          <a:p>
            <a:pPr marL="0" indent="0" algn="just">
              <a:buNone/>
            </a:pPr>
            <a:r>
              <a:rPr lang="en-US" altLang="en-US" sz="2000"/>
              <a:t>         else</a:t>
            </a:r>
          </a:p>
          <a:p>
            <a:pPr marL="0" indent="0" algn="just">
              <a:buNone/>
            </a:pPr>
            <a:r>
              <a:rPr lang="en-US" altLang="en-US" sz="2000"/>
              <a:t>              if L(A) = S  //Already shared</a:t>
            </a:r>
          </a:p>
          <a:p>
            <a:pPr marL="0" indent="0" algn="just">
              <a:buNone/>
            </a:pPr>
            <a:r>
              <a:rPr lang="en-US" altLang="en-US" sz="2000"/>
              <a:t>              then {</a:t>
            </a:r>
          </a:p>
          <a:p>
            <a:pPr marL="0" indent="0" algn="just">
              <a:buNone/>
            </a:pPr>
            <a:r>
              <a:rPr lang="en-US" altLang="en-US" sz="2000"/>
              <a:t>                  N(A) = N(A) + 1 </a:t>
            </a:r>
          </a:p>
          <a:p>
            <a:pPr marL="0" indent="0" algn="just">
              <a:buNone/>
            </a:pPr>
            <a:r>
              <a:rPr lang="en-US" altLang="en-US" sz="2000"/>
              <a:t>                  update lock table  }</a:t>
            </a:r>
          </a:p>
          <a:p>
            <a:pPr marL="0" indent="0" algn="just">
              <a:buNone/>
            </a:pPr>
            <a:r>
              <a:rPr lang="en-US" altLang="en-US" sz="2000"/>
              <a:t>              else insert T into queue &amp; suspend T //A has an exclusive lock</a:t>
            </a:r>
          </a:p>
          <a:p>
            <a:pPr marL="0" indent="0" algn="just">
              <a:buNone/>
            </a:pPr>
            <a:r>
              <a:rPr lang="en-US" altLang="en-US" sz="2000"/>
              <a:t>} </a:t>
            </a:r>
          </a:p>
        </p:txBody>
      </p:sp>
      <p:sp>
        <p:nvSpPr>
          <p:cNvPr id="9318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5D457FE9-DD9A-44B3-A822-5B330E9E5DCD}" type="slidenum">
              <a:rPr lang="en-US" altLang="en-US" sz="1400">
                <a:solidFill>
                  <a:srgbClr val="990033"/>
                </a:solidFill>
              </a:rPr>
              <a:pPr>
                <a:spcBef>
                  <a:spcPct val="0"/>
                </a:spcBef>
                <a:buClrTx/>
                <a:buSzTx/>
                <a:buFontTx/>
                <a:buNone/>
              </a:pPr>
              <a:t>105</a:t>
            </a:fld>
            <a:endParaRPr lang="en-CA" altLang="en-US" sz="1400">
              <a:solidFill>
                <a:srgbClr val="990033"/>
              </a:solidFill>
            </a:endParaRPr>
          </a:p>
        </p:txBody>
      </p:sp>
    </p:spTree>
    <p:extLst>
      <p:ext uri="{BB962C8B-B14F-4D97-AF65-F5344CB8AC3E}">
        <p14:creationId xmlns:p14="http://schemas.microsoft.com/office/powerpoint/2010/main" val="23283568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altLang="en-US" smtClean="0"/>
              <a:t>Shared Lock Algorithm unlocking</a:t>
            </a:r>
          </a:p>
        </p:txBody>
      </p:sp>
      <p:sp>
        <p:nvSpPr>
          <p:cNvPr id="94211" name="Content Placeholder 2"/>
          <p:cNvSpPr>
            <a:spLocks noGrp="1"/>
          </p:cNvSpPr>
          <p:nvPr>
            <p:ph idx="1"/>
          </p:nvPr>
        </p:nvSpPr>
        <p:spPr>
          <a:xfrm>
            <a:off x="1763714" y="1600200"/>
            <a:ext cx="8294687" cy="4800600"/>
          </a:xfrm>
        </p:spPr>
        <p:txBody>
          <a:bodyPr>
            <a:normAutofit lnSpcReduction="10000"/>
          </a:bodyPr>
          <a:lstStyle/>
          <a:p>
            <a:pPr marL="0" indent="0" algn="just">
              <a:buNone/>
            </a:pPr>
            <a:r>
              <a:rPr lang="en-US" altLang="en-US" sz="2000"/>
              <a:t>U(A)</a:t>
            </a:r>
          </a:p>
          <a:p>
            <a:pPr marL="0" indent="0" algn="just">
              <a:buNone/>
            </a:pPr>
            <a:r>
              <a:rPr lang="en-US" altLang="en-US" sz="2000"/>
              <a:t>{</a:t>
            </a:r>
          </a:p>
          <a:p>
            <a:pPr marL="0" indent="0" algn="just">
              <a:buNone/>
            </a:pPr>
            <a:r>
              <a:rPr lang="en-US" altLang="en-US" sz="2000"/>
              <a:t>	if L(A) = ‘X’       </a:t>
            </a:r>
          </a:p>
          <a:p>
            <a:pPr marL="0" indent="0" algn="just">
              <a:buNone/>
            </a:pPr>
            <a:r>
              <a:rPr lang="en-US" altLang="en-US" sz="2000"/>
              <a:t>             then {</a:t>
            </a:r>
          </a:p>
          <a:p>
            <a:pPr marL="0" indent="0" algn="just">
              <a:buNone/>
            </a:pPr>
            <a:r>
              <a:rPr lang="en-US" altLang="en-US" sz="2000"/>
              <a:t>                L(A) = 0  // release the lock</a:t>
            </a:r>
          </a:p>
          <a:p>
            <a:pPr marL="0" indent="0" algn="just">
              <a:buNone/>
            </a:pPr>
            <a:r>
              <a:rPr lang="en-US" altLang="en-US" sz="2000"/>
              <a:t>                Activate a T from queue }</a:t>
            </a:r>
          </a:p>
          <a:p>
            <a:pPr marL="0" indent="0" algn="just">
              <a:buNone/>
            </a:pPr>
            <a:r>
              <a:rPr lang="en-US" altLang="en-US" sz="2000"/>
              <a:t>         else if L(A) = ‘S’  </a:t>
            </a:r>
          </a:p>
          <a:p>
            <a:pPr marL="0" indent="0" algn="just">
              <a:buNone/>
            </a:pPr>
            <a:r>
              <a:rPr lang="en-US" altLang="en-US" sz="2000"/>
              <a:t>              then {</a:t>
            </a:r>
          </a:p>
          <a:p>
            <a:pPr marL="0" indent="0" algn="just">
              <a:buNone/>
            </a:pPr>
            <a:r>
              <a:rPr lang="en-US" altLang="en-US" sz="2000"/>
              <a:t>                  N(A) = N(A) - 1 </a:t>
            </a:r>
          </a:p>
          <a:p>
            <a:pPr marL="0" indent="0" algn="just">
              <a:buNone/>
            </a:pPr>
            <a:r>
              <a:rPr lang="en-US" altLang="en-US" sz="2000"/>
              <a:t>                  if N(A) = 0</a:t>
            </a:r>
          </a:p>
          <a:p>
            <a:pPr marL="0" indent="0" algn="just">
              <a:buNone/>
            </a:pPr>
            <a:r>
              <a:rPr lang="en-US" altLang="en-US" sz="2000"/>
              <a:t>                    then L(A) = 0</a:t>
            </a:r>
          </a:p>
          <a:p>
            <a:pPr marL="0" indent="0" algn="just">
              <a:buNone/>
            </a:pPr>
            <a:r>
              <a:rPr lang="en-US" altLang="en-US" sz="2000"/>
              <a:t>                       activate a T from queue}</a:t>
            </a:r>
          </a:p>
          <a:p>
            <a:pPr marL="0" indent="0" algn="just">
              <a:buNone/>
            </a:pPr>
            <a:r>
              <a:rPr lang="en-US" altLang="en-US" sz="2000"/>
              <a:t>} </a:t>
            </a:r>
          </a:p>
        </p:txBody>
      </p:sp>
      <p:sp>
        <p:nvSpPr>
          <p:cNvPr id="9421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0919D101-3D86-4FA3-A4B7-8BDB064E7664}" type="slidenum">
              <a:rPr lang="en-US" altLang="en-US" sz="1400">
                <a:solidFill>
                  <a:srgbClr val="990033"/>
                </a:solidFill>
              </a:rPr>
              <a:pPr>
                <a:spcBef>
                  <a:spcPct val="0"/>
                </a:spcBef>
                <a:buClrTx/>
                <a:buSzTx/>
                <a:buFontTx/>
                <a:buNone/>
              </a:pPr>
              <a:t>106</a:t>
            </a:fld>
            <a:endParaRPr lang="en-CA" altLang="en-US" sz="1400">
              <a:solidFill>
                <a:srgbClr val="990033"/>
              </a:solidFill>
            </a:endParaRPr>
          </a:p>
        </p:txBody>
      </p:sp>
    </p:spTree>
    <p:extLst>
      <p:ext uri="{BB962C8B-B14F-4D97-AF65-F5344CB8AC3E}">
        <p14:creationId xmlns:p14="http://schemas.microsoft.com/office/powerpoint/2010/main" val="36086192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altLang="en-US" smtClean="0"/>
              <a:t>Exclusive Lock Algorithm</a:t>
            </a:r>
          </a:p>
        </p:txBody>
      </p:sp>
      <p:sp>
        <p:nvSpPr>
          <p:cNvPr id="95235" name="Content Placeholder 2"/>
          <p:cNvSpPr>
            <a:spLocks noGrp="1"/>
          </p:cNvSpPr>
          <p:nvPr>
            <p:ph idx="1"/>
          </p:nvPr>
        </p:nvSpPr>
        <p:spPr>
          <a:xfrm>
            <a:off x="1763714" y="1600200"/>
            <a:ext cx="8294687" cy="4800600"/>
          </a:xfrm>
        </p:spPr>
        <p:txBody>
          <a:bodyPr/>
          <a:lstStyle/>
          <a:p>
            <a:pPr marL="0" indent="0" algn="just">
              <a:buNone/>
            </a:pPr>
            <a:r>
              <a:rPr lang="en-US" altLang="en-US" sz="2000"/>
              <a:t>X(A)</a:t>
            </a:r>
          </a:p>
          <a:p>
            <a:pPr marL="0" indent="0" algn="just">
              <a:buNone/>
            </a:pPr>
            <a:r>
              <a:rPr lang="en-US" altLang="en-US" sz="2000"/>
              <a:t>{</a:t>
            </a:r>
          </a:p>
          <a:p>
            <a:pPr marL="0" indent="0" algn="just">
              <a:buNone/>
            </a:pPr>
            <a:r>
              <a:rPr lang="en-US" altLang="en-US" sz="2000"/>
              <a:t>	if L(A) =0       </a:t>
            </a:r>
          </a:p>
          <a:p>
            <a:pPr marL="0" indent="0" algn="just">
              <a:buNone/>
            </a:pPr>
            <a:r>
              <a:rPr lang="en-US" altLang="en-US" sz="2000"/>
              <a:t>             then {</a:t>
            </a:r>
          </a:p>
          <a:p>
            <a:pPr marL="0" indent="0" algn="just">
              <a:buNone/>
            </a:pPr>
            <a:r>
              <a:rPr lang="en-US" altLang="en-US" sz="2000"/>
              <a:t>                L(A) = ‘X’  //set exclusive lock</a:t>
            </a:r>
          </a:p>
          <a:p>
            <a:pPr marL="0" indent="0" algn="just">
              <a:buNone/>
            </a:pPr>
            <a:r>
              <a:rPr lang="en-US" altLang="en-US" sz="2000"/>
              <a:t>                update lock table  }</a:t>
            </a:r>
          </a:p>
          <a:p>
            <a:pPr marL="0" indent="0" algn="just">
              <a:buNone/>
            </a:pPr>
            <a:r>
              <a:rPr lang="en-US" altLang="en-US" sz="2000"/>
              <a:t>         else     //already locked</a:t>
            </a:r>
          </a:p>
          <a:p>
            <a:pPr marL="0" indent="0" algn="just">
              <a:buNone/>
            </a:pPr>
            <a:r>
              <a:rPr lang="en-US" altLang="en-US" sz="2000"/>
              <a:t>                Insert T into queue </a:t>
            </a:r>
          </a:p>
          <a:p>
            <a:pPr marL="0" indent="0" algn="just">
              <a:buNone/>
            </a:pPr>
            <a:r>
              <a:rPr lang="en-US" altLang="en-US" sz="2000"/>
              <a:t>} </a:t>
            </a:r>
          </a:p>
        </p:txBody>
      </p:sp>
      <p:sp>
        <p:nvSpPr>
          <p:cNvPr id="9523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4881FC7B-70AE-4376-86C6-E1EAED1DDEFC}" type="slidenum">
              <a:rPr lang="en-US" altLang="en-US" sz="1400">
                <a:solidFill>
                  <a:srgbClr val="990033"/>
                </a:solidFill>
              </a:rPr>
              <a:pPr>
                <a:spcBef>
                  <a:spcPct val="0"/>
                </a:spcBef>
                <a:buClrTx/>
                <a:buSzTx/>
                <a:buFontTx/>
                <a:buNone/>
              </a:pPr>
              <a:t>107</a:t>
            </a:fld>
            <a:endParaRPr lang="en-CA" altLang="en-US" sz="1400">
              <a:solidFill>
                <a:srgbClr val="990033"/>
              </a:solidFill>
            </a:endParaRPr>
          </a:p>
        </p:txBody>
      </p:sp>
    </p:spTree>
    <p:extLst>
      <p:ext uri="{BB962C8B-B14F-4D97-AF65-F5344CB8AC3E}">
        <p14:creationId xmlns:p14="http://schemas.microsoft.com/office/powerpoint/2010/main" val="16312833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p:txBody>
          <a:bodyPr/>
          <a:lstStyle/>
          <a:p>
            <a:endParaRPr lang="en-US" altLang="en-US" smtClean="0"/>
          </a:p>
        </p:txBody>
      </p:sp>
      <p:sp>
        <p:nvSpPr>
          <p:cNvPr id="96259" name="Content Placeholder 2"/>
          <p:cNvSpPr>
            <a:spLocks noGrp="1"/>
          </p:cNvSpPr>
          <p:nvPr>
            <p:ph idx="1"/>
          </p:nvPr>
        </p:nvSpPr>
        <p:spPr/>
        <p:txBody>
          <a:bodyPr/>
          <a:lstStyle/>
          <a:p>
            <a:pPr algn="just"/>
            <a:r>
              <a:rPr lang="en-US" altLang="en-US" smtClean="0"/>
              <a:t>A transaction obtaining a shared mode lock on a data item can only read the data item. It cannot write or update.</a:t>
            </a:r>
          </a:p>
          <a:p>
            <a:pPr algn="just"/>
            <a:r>
              <a:rPr lang="en-US" altLang="en-US" smtClean="0"/>
              <a:t>A transaction obtaining exclusive mode lock can both read and write the data item.</a:t>
            </a:r>
          </a:p>
          <a:p>
            <a:pPr algn="just"/>
            <a:r>
              <a:rPr lang="en-US" altLang="en-US" smtClean="0"/>
              <a:t>Several shared mode locks can be held simultaneously on a data item by different transactions.</a:t>
            </a:r>
          </a:p>
        </p:txBody>
      </p:sp>
      <p:sp>
        <p:nvSpPr>
          <p:cNvPr id="9626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37F2A31F-5CF9-4CFC-8E97-966D4337CA08}" type="slidenum">
              <a:rPr lang="en-US" altLang="en-US" sz="1400">
                <a:solidFill>
                  <a:srgbClr val="990033"/>
                </a:solidFill>
              </a:rPr>
              <a:pPr>
                <a:spcBef>
                  <a:spcPct val="0"/>
                </a:spcBef>
                <a:buClrTx/>
                <a:buSzTx/>
                <a:buFontTx/>
                <a:buNone/>
              </a:pPr>
              <a:t>108</a:t>
            </a:fld>
            <a:endParaRPr lang="en-CA" altLang="en-US" sz="1400">
              <a:solidFill>
                <a:srgbClr val="990033"/>
              </a:solidFill>
            </a:endParaRPr>
          </a:p>
        </p:txBody>
      </p:sp>
    </p:spTree>
    <p:extLst>
      <p:ext uri="{BB962C8B-B14F-4D97-AF65-F5344CB8AC3E}">
        <p14:creationId xmlns:p14="http://schemas.microsoft.com/office/powerpoint/2010/main" val="31255278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r>
              <a:rPr lang="en-US" altLang="en-US" smtClean="0"/>
              <a:t>Lock compatibility matrix</a:t>
            </a:r>
          </a:p>
        </p:txBody>
      </p:sp>
      <p:graphicFrame>
        <p:nvGraphicFramePr>
          <p:cNvPr id="5" name="Content Placeholder 4"/>
          <p:cNvGraphicFramePr>
            <a:graphicFrameLocks noGrp="1"/>
          </p:cNvGraphicFramePr>
          <p:nvPr>
            <p:ph idx="1"/>
          </p:nvPr>
        </p:nvGraphicFramePr>
        <p:xfrm>
          <a:off x="3962400" y="2362200"/>
          <a:ext cx="4191000" cy="1981200"/>
        </p:xfrm>
        <a:graphic>
          <a:graphicData uri="http://schemas.openxmlformats.org/drawingml/2006/table">
            <a:tbl>
              <a:tblPr firstRow="1" bandRow="1">
                <a:tableStyleId>{5C22544A-7EE6-4342-B048-85BDC9FD1C3A}</a:tableStyleId>
              </a:tblPr>
              <a:tblGrid>
                <a:gridCol w="1047750">
                  <a:extLst>
                    <a:ext uri="{9D8B030D-6E8A-4147-A177-3AD203B41FA5}">
                      <a16:colId xmlns:a16="http://schemas.microsoft.com/office/drawing/2014/main" val="2360174508"/>
                    </a:ext>
                  </a:extLst>
                </a:gridCol>
                <a:gridCol w="1047750">
                  <a:extLst>
                    <a:ext uri="{9D8B030D-6E8A-4147-A177-3AD203B41FA5}">
                      <a16:colId xmlns:a16="http://schemas.microsoft.com/office/drawing/2014/main" val="1409982759"/>
                    </a:ext>
                  </a:extLst>
                </a:gridCol>
                <a:gridCol w="1047750">
                  <a:extLst>
                    <a:ext uri="{9D8B030D-6E8A-4147-A177-3AD203B41FA5}">
                      <a16:colId xmlns:a16="http://schemas.microsoft.com/office/drawing/2014/main" val="3749040585"/>
                    </a:ext>
                  </a:extLst>
                </a:gridCol>
                <a:gridCol w="1047750">
                  <a:extLst>
                    <a:ext uri="{9D8B030D-6E8A-4147-A177-3AD203B41FA5}">
                      <a16:colId xmlns:a16="http://schemas.microsoft.com/office/drawing/2014/main" val="3244003223"/>
                    </a:ext>
                  </a:extLst>
                </a:gridCol>
              </a:tblGrid>
              <a:tr h="495300">
                <a:tc>
                  <a:txBody>
                    <a:bodyPr/>
                    <a:lstStyle/>
                    <a:p>
                      <a:pPr algn="ctr"/>
                      <a:endParaRPr lang="en-US" dirty="0"/>
                    </a:p>
                  </a:txBody>
                  <a:tcPr/>
                </a:tc>
                <a:tc>
                  <a:txBody>
                    <a:bodyPr/>
                    <a:lstStyle/>
                    <a:p>
                      <a:pPr algn="ctr"/>
                      <a:r>
                        <a:rPr lang="en-US" dirty="0" smtClean="0"/>
                        <a:t>U</a:t>
                      </a:r>
                      <a:endParaRPr lang="en-US" dirty="0"/>
                    </a:p>
                  </a:txBody>
                  <a:tcPr/>
                </a:tc>
                <a:tc>
                  <a:txBody>
                    <a:bodyPr/>
                    <a:lstStyle/>
                    <a:p>
                      <a:pPr algn="ctr"/>
                      <a:r>
                        <a:rPr lang="en-US" dirty="0" smtClean="0"/>
                        <a:t>S</a:t>
                      </a:r>
                      <a:endParaRPr lang="en-US" dirty="0"/>
                    </a:p>
                  </a:txBody>
                  <a:tcPr/>
                </a:tc>
                <a:tc>
                  <a:txBody>
                    <a:bodyPr/>
                    <a:lstStyle/>
                    <a:p>
                      <a:pPr algn="ctr"/>
                      <a:r>
                        <a:rPr lang="en-US" dirty="0" smtClean="0"/>
                        <a:t>X</a:t>
                      </a:r>
                      <a:endParaRPr lang="en-US" dirty="0"/>
                    </a:p>
                  </a:txBody>
                  <a:tcPr/>
                </a:tc>
                <a:extLst>
                  <a:ext uri="{0D108BD9-81ED-4DB2-BD59-A6C34878D82A}">
                    <a16:rowId xmlns:a16="http://schemas.microsoft.com/office/drawing/2014/main" val="1016056063"/>
                  </a:ext>
                </a:extLst>
              </a:tr>
              <a:tr h="495300">
                <a:tc>
                  <a:txBody>
                    <a:bodyPr/>
                    <a:lstStyle/>
                    <a:p>
                      <a:pPr algn="ctr"/>
                      <a:r>
                        <a:rPr lang="en-US" dirty="0" smtClean="0"/>
                        <a:t>U</a:t>
                      </a:r>
                      <a:endParaRPr lang="en-US" dirty="0"/>
                    </a:p>
                  </a:txBody>
                  <a:tcPr/>
                </a:tc>
                <a:tc>
                  <a:txBody>
                    <a:bodyPr/>
                    <a:lstStyle/>
                    <a:p>
                      <a:pPr algn="ctr"/>
                      <a:r>
                        <a:rPr lang="en-US" dirty="0" smtClean="0"/>
                        <a:t>-</a:t>
                      </a:r>
                      <a:endParaRPr lang="en-US" dirty="0"/>
                    </a:p>
                  </a:txBody>
                  <a:tcPr/>
                </a:tc>
                <a:tc>
                  <a:txBody>
                    <a:bodyPr/>
                    <a:lstStyle/>
                    <a:p>
                      <a:pPr algn="ctr"/>
                      <a:r>
                        <a:rPr lang="en-US" dirty="0" smtClean="0"/>
                        <a:t>√</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t>
                      </a:r>
                    </a:p>
                  </a:txBody>
                  <a:tcPr/>
                </a:tc>
                <a:extLst>
                  <a:ext uri="{0D108BD9-81ED-4DB2-BD59-A6C34878D82A}">
                    <a16:rowId xmlns:a16="http://schemas.microsoft.com/office/drawing/2014/main" val="3147887572"/>
                  </a:ext>
                </a:extLst>
              </a:tr>
              <a:tr h="495300">
                <a:tc>
                  <a:txBody>
                    <a:bodyPr/>
                    <a:lstStyle/>
                    <a:p>
                      <a:pPr algn="ctr"/>
                      <a:r>
                        <a:rPr lang="en-US" dirty="0" smtClean="0"/>
                        <a:t>S</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srgbClr val="000000"/>
                          </a:solidFill>
                          <a:effectLst/>
                          <a:uLnTx/>
                          <a:uFillTx/>
                          <a:latin typeface="Arial"/>
                          <a:ea typeface="+mn-ea"/>
                          <a:cs typeface="+mn-cs"/>
                        </a:rPr>
                        <a:t>√</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srgbClr val="000000"/>
                          </a:solidFill>
                          <a:effectLst/>
                          <a:uLnTx/>
                          <a:uFillTx/>
                          <a:latin typeface="Arial"/>
                          <a:ea typeface="+mn-ea"/>
                          <a:cs typeface="+mn-cs"/>
                        </a:rPr>
                        <a:t>√</a:t>
                      </a: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a:txBody>
                  <a:tcPr/>
                </a:tc>
                <a:tc>
                  <a:txBody>
                    <a:bodyPr/>
                    <a:lstStyle/>
                    <a:p>
                      <a:pPr algn="ctr"/>
                      <a:endParaRPr lang="en-US" dirty="0"/>
                    </a:p>
                  </a:txBody>
                  <a:tcPr/>
                </a:tc>
                <a:extLst>
                  <a:ext uri="{0D108BD9-81ED-4DB2-BD59-A6C34878D82A}">
                    <a16:rowId xmlns:a16="http://schemas.microsoft.com/office/drawing/2014/main" val="2833960073"/>
                  </a:ext>
                </a:extLst>
              </a:tr>
              <a:tr h="495300">
                <a:tc>
                  <a:txBody>
                    <a:bodyPr/>
                    <a:lstStyle/>
                    <a:p>
                      <a:pPr algn="ctr"/>
                      <a:r>
                        <a:rPr lang="en-US" dirty="0" smtClean="0"/>
                        <a:t>X</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t>
                      </a:r>
                    </a:p>
                  </a:txBody>
                  <a:tcPr/>
                </a:tc>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339234712"/>
                  </a:ext>
                </a:extLst>
              </a:tr>
            </a:tbl>
          </a:graphicData>
        </a:graphic>
      </p:graphicFrame>
      <p:sp>
        <p:nvSpPr>
          <p:cNvPr id="9731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E9AA4DAF-4E9F-4630-B593-3EDB28C0A4E0}" type="slidenum">
              <a:rPr lang="en-US" altLang="en-US" sz="1400">
                <a:solidFill>
                  <a:srgbClr val="990033"/>
                </a:solidFill>
              </a:rPr>
              <a:pPr>
                <a:spcBef>
                  <a:spcPct val="0"/>
                </a:spcBef>
                <a:buClrTx/>
                <a:buSzTx/>
                <a:buFontTx/>
                <a:buNone/>
              </a:pPr>
              <a:t>109</a:t>
            </a:fld>
            <a:endParaRPr lang="en-CA" altLang="en-US" sz="1400">
              <a:solidFill>
                <a:srgbClr val="990033"/>
              </a:solidFill>
            </a:endParaRPr>
          </a:p>
        </p:txBody>
      </p:sp>
    </p:spTree>
    <p:extLst>
      <p:ext uri="{BB962C8B-B14F-4D97-AF65-F5344CB8AC3E}">
        <p14:creationId xmlns:p14="http://schemas.microsoft.com/office/powerpoint/2010/main" val="5407758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smtClean="0">
                <a:latin typeface="Arial" panose="020B0604020202020204" pitchFamily="34" charset="0"/>
                <a:cs typeface="Arial" panose="020B0604020202020204" pitchFamily="34" charset="0"/>
              </a:rPr>
              <a:t>Two-  Phase Locking</a:t>
            </a:r>
          </a:p>
        </p:txBody>
      </p:sp>
      <p:sp>
        <p:nvSpPr>
          <p:cNvPr id="4" name="object 4"/>
          <p:cNvSpPr>
            <a:spLocks noGrp="1"/>
          </p:cNvSpPr>
          <p:nvPr>
            <p:ph type="sldNum" sz="quarter" idx="12"/>
          </p:nvPr>
        </p:nvSpPr>
        <p:spPr/>
        <p:txBody>
          <a:bodyPr vert="horz" rtlCol="0"/>
          <a:lstStyle/>
          <a:p>
            <a:pPr>
              <a:defRPr/>
            </a:pPr>
            <a:r>
              <a:rPr dirty="0"/>
              <a:t>Slide </a:t>
            </a:r>
            <a:r>
              <a:rPr spc="10" dirty="0"/>
              <a:t>21-</a:t>
            </a:r>
            <a:r>
              <a:rPr spc="-200" dirty="0"/>
              <a:t> </a:t>
            </a:r>
            <a:fld id="{15C7F9B3-2B40-426D-B57F-2F5E6702C04F}" type="slidenum">
              <a:rPr/>
              <a:pPr>
                <a:defRPr/>
              </a:pPr>
              <a:t>110</a:t>
            </a:fld>
            <a:endParaRPr dirty="0"/>
          </a:p>
        </p:txBody>
      </p:sp>
      <p:sp>
        <p:nvSpPr>
          <p:cNvPr id="98308" name="object 3"/>
          <p:cNvSpPr txBox="1">
            <a:spLocks noChangeArrowheads="1"/>
          </p:cNvSpPr>
          <p:nvPr/>
        </p:nvSpPr>
        <p:spPr bwMode="auto">
          <a:xfrm>
            <a:off x="1843089" y="1533526"/>
            <a:ext cx="8193087" cy="422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0330" rIns="0" bIns="0">
            <a:spAutoFit/>
          </a:bodyPr>
          <a:lstStyle>
            <a:lvl1pPr marL="355600" indent="-342900">
              <a:tabLst>
                <a:tab pos="354013" algn="l"/>
                <a:tab pos="355600" algn="l"/>
              </a:tabLst>
              <a:defRPr sz="2400">
                <a:solidFill>
                  <a:schemeClr val="tx1"/>
                </a:solidFill>
                <a:latin typeface="Arial" panose="020B0604020202020204" pitchFamily="34" charset="0"/>
              </a:defRPr>
            </a:lvl1pPr>
            <a:lvl2pPr marL="762000" indent="-292100">
              <a:tabLst>
                <a:tab pos="354013" algn="l"/>
                <a:tab pos="355600" algn="l"/>
              </a:tabLst>
              <a:defRPr sz="2400">
                <a:solidFill>
                  <a:schemeClr val="tx1"/>
                </a:solidFill>
                <a:latin typeface="Arial" panose="020B0604020202020204" pitchFamily="34" charset="0"/>
              </a:defRPr>
            </a:lvl2pPr>
            <a:lvl3pPr marL="1155700" indent="-228600">
              <a:tabLst>
                <a:tab pos="354013" algn="l"/>
                <a:tab pos="355600" algn="l"/>
              </a:tabLst>
              <a:defRPr sz="2400">
                <a:solidFill>
                  <a:schemeClr val="tx1"/>
                </a:solidFill>
                <a:latin typeface="Arial" panose="020B0604020202020204" pitchFamily="34" charset="0"/>
              </a:defRPr>
            </a:lvl3pPr>
            <a:lvl4pPr marL="1612900" indent="-228600">
              <a:tabLst>
                <a:tab pos="354013" algn="l"/>
                <a:tab pos="355600" algn="l"/>
              </a:tabLst>
              <a:defRPr sz="2400">
                <a:solidFill>
                  <a:schemeClr val="tx1"/>
                </a:solidFill>
                <a:latin typeface="Arial" panose="020B0604020202020204" pitchFamily="34" charset="0"/>
              </a:defRPr>
            </a:lvl4pPr>
            <a:lvl5pPr marL="2057400" indent="-228600">
              <a:tabLst>
                <a:tab pos="354013" algn="l"/>
                <a:tab pos="355600" algn="l"/>
              </a:tabLst>
              <a:defRPr sz="2400">
                <a:solidFill>
                  <a:schemeClr val="tx1"/>
                </a:solidFill>
                <a:latin typeface="Arial" panose="020B0604020202020204" pitchFamily="34" charset="0"/>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9pPr>
          </a:lstStyle>
          <a:p>
            <a:pPr>
              <a:spcBef>
                <a:spcPts val="788"/>
              </a:spcBef>
              <a:buClr>
                <a:srgbClr val="990033"/>
              </a:buClr>
              <a:buSzPct val="61000"/>
              <a:buFont typeface="Wingdings" panose="05000000000000000000" pitchFamily="2" charset="2"/>
              <a:buChar char=""/>
            </a:pPr>
            <a:r>
              <a:rPr lang="en-US" altLang="en-US" sz="2800">
                <a:solidFill>
                  <a:srgbClr val="333399"/>
                </a:solidFill>
                <a:cs typeface="Arial" panose="020B0604020202020204" pitchFamily="34" charset="0"/>
              </a:rPr>
              <a:t>Two-phase locking protocol</a:t>
            </a:r>
            <a:endParaRPr lang="en-US" altLang="en-US" sz="2800">
              <a:solidFill>
                <a:srgbClr val="000000"/>
              </a:solidFill>
              <a:cs typeface="Arial" panose="020B0604020202020204" pitchFamily="34" charset="0"/>
            </a:endParaRPr>
          </a:p>
          <a:p>
            <a:pPr lvl="1">
              <a:lnSpc>
                <a:spcPts val="3100"/>
              </a:lnSpc>
              <a:spcBef>
                <a:spcPts val="763"/>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All locking operations precede the first unlock  operation in the transaction</a:t>
            </a:r>
            <a:endParaRPr lang="en-US" altLang="en-US" sz="2600">
              <a:solidFill>
                <a:srgbClr val="000000"/>
              </a:solidFill>
              <a:cs typeface="Arial" panose="020B0604020202020204" pitchFamily="34" charset="0"/>
            </a:endParaRPr>
          </a:p>
          <a:p>
            <a:pPr lvl="1">
              <a:spcBef>
                <a:spcPts val="575"/>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Phases</a:t>
            </a:r>
            <a:endParaRPr lang="en-US" altLang="en-US" sz="2600">
              <a:solidFill>
                <a:srgbClr val="000000"/>
              </a:solidFill>
              <a:cs typeface="Arial" panose="020B0604020202020204" pitchFamily="34" charset="0"/>
            </a:endParaRPr>
          </a:p>
          <a:p>
            <a:pPr lvl="2">
              <a:spcBef>
                <a:spcPts val="575"/>
              </a:spcBef>
              <a:buClr>
                <a:srgbClr val="990033"/>
              </a:buClr>
              <a:buSzPct val="50000"/>
              <a:buFont typeface="Wingdings" panose="05000000000000000000" pitchFamily="2" charset="2"/>
              <a:buChar char=""/>
            </a:pPr>
            <a:r>
              <a:rPr lang="en-US" altLang="en-US">
                <a:solidFill>
                  <a:srgbClr val="333399"/>
                </a:solidFill>
                <a:cs typeface="Arial" panose="020B0604020202020204" pitchFamily="34" charset="0"/>
              </a:rPr>
              <a:t>Expanding (growing) phase</a:t>
            </a:r>
            <a:endParaRPr lang="en-US" altLang="en-US">
              <a:solidFill>
                <a:srgbClr val="000000"/>
              </a:solidFill>
              <a:cs typeface="Arial" panose="020B0604020202020204" pitchFamily="34" charset="0"/>
            </a:endParaRPr>
          </a:p>
          <a:p>
            <a:pPr lvl="3">
              <a:spcBef>
                <a:spcPts val="425"/>
              </a:spcBef>
              <a:buClr>
                <a:srgbClr val="333399"/>
              </a:buClr>
              <a:buSzPct val="55000"/>
              <a:buFont typeface="Wingdings" panose="05000000000000000000" pitchFamily="2" charset="2"/>
              <a:buChar char=""/>
            </a:pPr>
            <a:r>
              <a:rPr lang="en-US" altLang="en-US" sz="2000">
                <a:solidFill>
                  <a:srgbClr val="800000"/>
                </a:solidFill>
                <a:cs typeface="Arial" panose="020B0604020202020204" pitchFamily="34" charset="0"/>
              </a:rPr>
              <a:t>New locks can be acquired but none can be released</a:t>
            </a:r>
            <a:endParaRPr lang="en-US" altLang="en-US" sz="2000">
              <a:solidFill>
                <a:srgbClr val="000000"/>
              </a:solidFill>
              <a:cs typeface="Arial" panose="020B0604020202020204" pitchFamily="34" charset="0"/>
            </a:endParaRPr>
          </a:p>
          <a:p>
            <a:pPr lvl="3">
              <a:spcBef>
                <a:spcPts val="500"/>
              </a:spcBef>
              <a:buClr>
                <a:srgbClr val="333399"/>
              </a:buClr>
              <a:buSzPct val="55000"/>
              <a:buFont typeface="Wingdings" panose="05000000000000000000" pitchFamily="2" charset="2"/>
              <a:buChar char=""/>
            </a:pPr>
            <a:r>
              <a:rPr lang="en-US" altLang="en-US" sz="2000">
                <a:solidFill>
                  <a:srgbClr val="800000"/>
                </a:solidFill>
                <a:cs typeface="Arial" panose="020B0604020202020204" pitchFamily="34" charset="0"/>
              </a:rPr>
              <a:t>Lock conversion upgrades must be done during this phase</a:t>
            </a:r>
            <a:endParaRPr lang="en-US" altLang="en-US" sz="2000">
              <a:solidFill>
                <a:srgbClr val="000000"/>
              </a:solidFill>
              <a:cs typeface="Arial" panose="020B0604020202020204" pitchFamily="34" charset="0"/>
            </a:endParaRPr>
          </a:p>
          <a:p>
            <a:pPr lvl="2">
              <a:spcBef>
                <a:spcPts val="600"/>
              </a:spcBef>
              <a:buClr>
                <a:srgbClr val="990033"/>
              </a:buClr>
              <a:buSzPct val="50000"/>
              <a:buFont typeface="Wingdings" panose="05000000000000000000" pitchFamily="2" charset="2"/>
              <a:buChar char=""/>
            </a:pPr>
            <a:r>
              <a:rPr lang="en-US" altLang="en-US">
                <a:solidFill>
                  <a:srgbClr val="333399"/>
                </a:solidFill>
                <a:cs typeface="Arial" panose="020B0604020202020204" pitchFamily="34" charset="0"/>
              </a:rPr>
              <a:t>Shrinking phase</a:t>
            </a:r>
            <a:endParaRPr lang="en-US" altLang="en-US">
              <a:solidFill>
                <a:srgbClr val="000000"/>
              </a:solidFill>
              <a:cs typeface="Arial" panose="020B0604020202020204" pitchFamily="34" charset="0"/>
            </a:endParaRPr>
          </a:p>
          <a:p>
            <a:pPr lvl="3">
              <a:spcBef>
                <a:spcPts val="525"/>
              </a:spcBef>
              <a:buClr>
                <a:srgbClr val="333399"/>
              </a:buClr>
              <a:buSzPct val="55000"/>
              <a:buFont typeface="Wingdings" panose="05000000000000000000" pitchFamily="2" charset="2"/>
              <a:buChar char=""/>
            </a:pPr>
            <a:r>
              <a:rPr lang="en-US" altLang="en-US" sz="2000">
                <a:solidFill>
                  <a:srgbClr val="800000"/>
                </a:solidFill>
                <a:cs typeface="Arial" panose="020B0604020202020204" pitchFamily="34" charset="0"/>
              </a:rPr>
              <a:t>Existing locks can be released but none can be acquired</a:t>
            </a:r>
            <a:endParaRPr lang="en-US" altLang="en-US" sz="2000">
              <a:solidFill>
                <a:srgbClr val="000000"/>
              </a:solidFill>
              <a:cs typeface="Arial" panose="020B0604020202020204" pitchFamily="34" charset="0"/>
            </a:endParaRPr>
          </a:p>
          <a:p>
            <a:pPr lvl="3">
              <a:spcBef>
                <a:spcPts val="400"/>
              </a:spcBef>
              <a:buClr>
                <a:srgbClr val="333399"/>
              </a:buClr>
              <a:buSzPct val="55000"/>
              <a:buFont typeface="Wingdings" panose="05000000000000000000" pitchFamily="2" charset="2"/>
              <a:buChar char=""/>
            </a:pPr>
            <a:r>
              <a:rPr lang="en-US" altLang="en-US" sz="2000">
                <a:solidFill>
                  <a:srgbClr val="800000"/>
                </a:solidFill>
                <a:cs typeface="Arial" panose="020B0604020202020204" pitchFamily="34" charset="0"/>
              </a:rPr>
              <a:t>Downgrades must be done during this phase</a:t>
            </a:r>
            <a:endParaRPr lang="en-US" altLang="en-US" sz="2000">
              <a:solidFill>
                <a:srgbClr val="000000"/>
              </a:solidFill>
              <a:cs typeface="Arial" panose="020B0604020202020204" pitchFamily="34" charset="0"/>
            </a:endParaRPr>
          </a:p>
        </p:txBody>
      </p:sp>
    </p:spTree>
    <p:extLst>
      <p:ext uri="{BB962C8B-B14F-4D97-AF65-F5344CB8AC3E}">
        <p14:creationId xmlns:p14="http://schemas.microsoft.com/office/powerpoint/2010/main" val="400785545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s://www.guru99.com/images/1/100518_0439_DBMSConcurr1.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15921" y="551299"/>
            <a:ext cx="5330647" cy="4007823"/>
          </a:xfrm>
          <a:prstGeom prst="rect">
            <a:avLst/>
          </a:prstGeom>
          <a:noFill/>
          <a:ln>
            <a:noFill/>
          </a:ln>
        </p:spPr>
      </p:pic>
      <p:sp>
        <p:nvSpPr>
          <p:cNvPr id="5" name="Rectangle 4"/>
          <p:cNvSpPr/>
          <p:nvPr/>
        </p:nvSpPr>
        <p:spPr>
          <a:xfrm>
            <a:off x="1390918" y="4770377"/>
            <a:ext cx="9079606" cy="646331"/>
          </a:xfrm>
          <a:prstGeom prst="rect">
            <a:avLst/>
          </a:prstGeom>
        </p:spPr>
        <p:txBody>
          <a:bodyPr wrap="square">
            <a:spAutoFit/>
          </a:bodyPr>
          <a:lstStyle/>
          <a:p>
            <a:r>
              <a:rPr lang="en-US" dirty="0">
                <a:solidFill>
                  <a:srgbClr val="222222"/>
                </a:solidFill>
                <a:latin typeface="Arial" panose="020B0604020202020204" pitchFamily="34" charset="0"/>
                <a:ea typeface="Times New Roman" panose="02020603050405020304" pitchFamily="18" charset="0"/>
              </a:rPr>
              <a:t>It is true that the 2PL protocol offers serializability. However, it does not ensure that deadlocks do not happen.</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4554055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1975" y="676275"/>
            <a:ext cx="6705600" cy="573088"/>
          </a:xfrm>
        </p:spPr>
        <p:txBody>
          <a:bodyPr vert="horz" lIns="91440" tIns="12700" rIns="91440" bIns="45720" rtlCol="0" anchor="ctr">
            <a:normAutofit fontScale="90000"/>
          </a:bodyPr>
          <a:lstStyle/>
          <a:p>
            <a:pPr marL="12700">
              <a:spcBef>
                <a:spcPts val="100"/>
              </a:spcBef>
              <a:defRPr/>
            </a:pPr>
            <a:r>
              <a:rPr spc="-5" dirty="0"/>
              <a:t>Variations of Two-Phase</a:t>
            </a:r>
            <a:r>
              <a:rPr spc="-35" dirty="0"/>
              <a:t> </a:t>
            </a:r>
            <a:r>
              <a:rPr spc="-5" dirty="0"/>
              <a:t>Locking</a:t>
            </a:r>
          </a:p>
        </p:txBody>
      </p:sp>
      <p:sp>
        <p:nvSpPr>
          <p:cNvPr id="4" name="object 4"/>
          <p:cNvSpPr>
            <a:spLocks noGrp="1"/>
          </p:cNvSpPr>
          <p:nvPr>
            <p:ph type="sldNum" sz="quarter" idx="12"/>
          </p:nvPr>
        </p:nvSpPr>
        <p:spPr/>
        <p:txBody>
          <a:bodyPr vert="horz" rtlCol="0"/>
          <a:lstStyle/>
          <a:p>
            <a:pPr eaLnBrk="0" fontAlgn="base" hangingPunct="0">
              <a:spcBef>
                <a:spcPct val="0"/>
              </a:spcBef>
              <a:spcAft>
                <a:spcPct val="0"/>
              </a:spcAft>
              <a:defRPr/>
            </a:pPr>
            <a:r>
              <a:t>Slide </a:t>
            </a:r>
            <a:r>
              <a:rPr spc="10"/>
              <a:t>21-</a:t>
            </a:r>
            <a:r>
              <a:rPr spc="-200"/>
              <a:t> </a:t>
            </a:r>
            <a:fld id="{7A2F936E-31FA-47A0-99F9-DFBEB96EF4EF}" type="slidenum">
              <a:rPr/>
              <a:pPr eaLnBrk="0" fontAlgn="base" hangingPunct="0">
                <a:spcBef>
                  <a:spcPct val="0"/>
                </a:spcBef>
                <a:spcAft>
                  <a:spcPct val="0"/>
                </a:spcAft>
                <a:defRPr/>
              </a:pPr>
              <a:t>112</a:t>
            </a:fld>
            <a:endParaRPr/>
          </a:p>
        </p:txBody>
      </p:sp>
      <p:sp>
        <p:nvSpPr>
          <p:cNvPr id="99332" name="object 3"/>
          <p:cNvSpPr txBox="1">
            <a:spLocks noChangeArrowheads="1"/>
          </p:cNvSpPr>
          <p:nvPr/>
        </p:nvSpPr>
        <p:spPr bwMode="auto">
          <a:xfrm>
            <a:off x="1843089" y="1533526"/>
            <a:ext cx="8023225" cy="375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0330" rIns="0" bIns="0">
            <a:spAutoFit/>
          </a:bodyPr>
          <a:lstStyle>
            <a:lvl1pPr marL="355600" indent="-342900">
              <a:tabLst>
                <a:tab pos="354013" algn="l"/>
                <a:tab pos="355600" algn="l"/>
              </a:tabLst>
              <a:defRPr sz="2400">
                <a:solidFill>
                  <a:schemeClr val="tx1"/>
                </a:solidFill>
                <a:latin typeface="Arial" panose="020B0604020202020204" pitchFamily="34" charset="0"/>
              </a:defRPr>
            </a:lvl1pPr>
            <a:lvl2pPr marL="762000" indent="-292100">
              <a:tabLst>
                <a:tab pos="354013" algn="l"/>
                <a:tab pos="355600" algn="l"/>
              </a:tabLst>
              <a:defRPr sz="2400">
                <a:solidFill>
                  <a:schemeClr val="tx1"/>
                </a:solidFill>
                <a:latin typeface="Arial" panose="020B0604020202020204" pitchFamily="34" charset="0"/>
              </a:defRPr>
            </a:lvl2pPr>
            <a:lvl3pPr marL="1155700" indent="-228600">
              <a:tabLst>
                <a:tab pos="354013" algn="l"/>
                <a:tab pos="355600" algn="l"/>
              </a:tabLst>
              <a:defRPr sz="2400">
                <a:solidFill>
                  <a:schemeClr val="tx1"/>
                </a:solidFill>
                <a:latin typeface="Arial" panose="020B0604020202020204" pitchFamily="34" charset="0"/>
              </a:defRPr>
            </a:lvl3pPr>
            <a:lvl4pPr marL="1600200" indent="-228600">
              <a:tabLst>
                <a:tab pos="354013" algn="l"/>
                <a:tab pos="355600" algn="l"/>
              </a:tabLst>
              <a:defRPr sz="2400">
                <a:solidFill>
                  <a:schemeClr val="tx1"/>
                </a:solidFill>
                <a:latin typeface="Arial" panose="020B0604020202020204" pitchFamily="34" charset="0"/>
              </a:defRPr>
            </a:lvl4pPr>
            <a:lvl5pPr marL="2057400" indent="-228600">
              <a:tabLst>
                <a:tab pos="354013" algn="l"/>
                <a:tab pos="355600" algn="l"/>
              </a:tabLst>
              <a:defRPr sz="2400">
                <a:solidFill>
                  <a:schemeClr val="tx1"/>
                </a:solidFill>
                <a:latin typeface="Arial" panose="020B0604020202020204" pitchFamily="34" charset="0"/>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9pPr>
          </a:lstStyle>
          <a:p>
            <a:pPr>
              <a:spcBef>
                <a:spcPts val="675"/>
              </a:spcBef>
              <a:buClr>
                <a:srgbClr val="990033"/>
              </a:buClr>
              <a:buSzPct val="61000"/>
              <a:buFont typeface="Wingdings" panose="05000000000000000000" pitchFamily="2" charset="2"/>
              <a:buChar char=""/>
            </a:pPr>
            <a:r>
              <a:rPr lang="en-US" altLang="en-US" sz="2800">
                <a:solidFill>
                  <a:srgbClr val="333399"/>
                </a:solidFill>
                <a:cs typeface="Arial" panose="020B0604020202020204" pitchFamily="34" charset="0"/>
              </a:rPr>
              <a:t>Strict 2PL</a:t>
            </a:r>
            <a:endParaRPr lang="en-US" altLang="en-US" sz="2800">
              <a:cs typeface="Arial" panose="020B0604020202020204" pitchFamily="34" charset="0"/>
            </a:endParaRPr>
          </a:p>
          <a:p>
            <a:pPr lvl="1">
              <a:lnSpc>
                <a:spcPts val="3100"/>
              </a:lnSpc>
              <a:spcBef>
                <a:spcPts val="763"/>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Transaction does not release exclusive locks until  after it commits or aborts</a:t>
            </a:r>
          </a:p>
          <a:p>
            <a:pPr>
              <a:spcBef>
                <a:spcPts val="675"/>
              </a:spcBef>
              <a:buClr>
                <a:srgbClr val="990033"/>
              </a:buClr>
              <a:buSzPct val="61000"/>
              <a:buFont typeface="Wingdings" panose="05000000000000000000" pitchFamily="2" charset="2"/>
              <a:buChar char=""/>
            </a:pPr>
            <a:r>
              <a:rPr lang="en-US" altLang="en-US" sz="2800">
                <a:solidFill>
                  <a:srgbClr val="333399"/>
                </a:solidFill>
                <a:cs typeface="Arial" panose="020B0604020202020204" pitchFamily="34" charset="0"/>
              </a:rPr>
              <a:t>Conservative (static) 2PL</a:t>
            </a:r>
            <a:endParaRPr lang="en-US" altLang="en-US" sz="2800">
              <a:cs typeface="Arial" panose="020B0604020202020204" pitchFamily="34" charset="0"/>
            </a:endParaRPr>
          </a:p>
          <a:p>
            <a:pPr lvl="1">
              <a:lnSpc>
                <a:spcPts val="3100"/>
              </a:lnSpc>
              <a:spcBef>
                <a:spcPts val="763"/>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Requires a transaction to lock all the items it  accesses before the transaction begins</a:t>
            </a:r>
            <a:endParaRPr lang="en-US" altLang="en-US" sz="2600">
              <a:cs typeface="Arial" panose="020B0604020202020204" pitchFamily="34" charset="0"/>
            </a:endParaRPr>
          </a:p>
          <a:p>
            <a:pPr lvl="2">
              <a:spcBef>
                <a:spcPts val="475"/>
              </a:spcBef>
              <a:buClr>
                <a:srgbClr val="990033"/>
              </a:buClr>
              <a:buSzPct val="50000"/>
              <a:buFont typeface="Wingdings" panose="05000000000000000000" pitchFamily="2" charset="2"/>
              <a:buChar char=""/>
            </a:pPr>
            <a:r>
              <a:rPr lang="en-US" altLang="en-US">
                <a:solidFill>
                  <a:srgbClr val="333399"/>
                </a:solidFill>
                <a:cs typeface="Arial" panose="020B0604020202020204" pitchFamily="34" charset="0"/>
              </a:rPr>
              <a:t>Predeclare read-set and write-set</a:t>
            </a:r>
            <a:endParaRPr lang="en-US" altLang="en-US">
              <a:cs typeface="Arial" panose="020B0604020202020204" pitchFamily="34" charset="0"/>
            </a:endParaRPr>
          </a:p>
          <a:p>
            <a:pPr lvl="1">
              <a:spcBef>
                <a:spcPts val="625"/>
              </a:spcBef>
              <a:buClr>
                <a:srgbClr val="333399"/>
              </a:buClr>
              <a:buSzPct val="54000"/>
              <a:buFont typeface="Wingdings" panose="05000000000000000000" pitchFamily="2" charset="2"/>
              <a:buChar char=""/>
            </a:pPr>
            <a:r>
              <a:rPr lang="en-US" altLang="en-US" sz="2600">
                <a:solidFill>
                  <a:srgbClr val="800000"/>
                </a:solidFill>
                <a:cs typeface="Arial" panose="020B0604020202020204" pitchFamily="34" charset="0"/>
              </a:rPr>
              <a:t>Deadlock-free protocol</a:t>
            </a:r>
            <a:endParaRPr lang="en-US" altLang="en-US" sz="2600">
              <a:cs typeface="Arial" panose="020B0604020202020204" pitchFamily="34" charset="0"/>
            </a:endParaRPr>
          </a:p>
        </p:txBody>
      </p:sp>
    </p:spTree>
    <p:extLst>
      <p:ext uri="{BB962C8B-B14F-4D97-AF65-F5344CB8AC3E}">
        <p14:creationId xmlns:p14="http://schemas.microsoft.com/office/powerpoint/2010/main" val="4992513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smtClean="0">
                <a:latin typeface="Arial" panose="020B0604020202020204" pitchFamily="34" charset="0"/>
                <a:cs typeface="Arial" panose="020B0604020202020204" pitchFamily="34" charset="0"/>
              </a:rPr>
              <a:t>Deadlocks</a:t>
            </a:r>
          </a:p>
        </p:txBody>
      </p:sp>
      <p:sp>
        <p:nvSpPr>
          <p:cNvPr id="7" name="Slide Number Placeholder 6"/>
          <p:cNvSpPr>
            <a:spLocks noGrp="1"/>
          </p:cNvSpPr>
          <p:nvPr>
            <p:ph type="sldNum" sz="quarter" idx="12"/>
          </p:nvPr>
        </p:nvSpPr>
        <p:spPr/>
        <p:txBody>
          <a:bodyPr/>
          <a:lstStyle/>
          <a:p>
            <a:pPr>
              <a:defRPr/>
            </a:pPr>
            <a:r>
              <a:rPr lang="en-US" smtClean="0"/>
              <a:t>Slide </a:t>
            </a:r>
            <a:r>
              <a:rPr lang="en-US" spc="10"/>
              <a:t>21-</a:t>
            </a:r>
            <a:r>
              <a:rPr lang="en-US" spc="-200"/>
              <a:t> </a:t>
            </a:r>
            <a:fld id="{E6DE5C8B-6F36-4720-8200-2BE495D48D3A}" type="slidenum">
              <a:rPr/>
              <a:pPr>
                <a:defRPr/>
              </a:pPr>
              <a:t>113</a:t>
            </a:fld>
            <a:endParaRPr/>
          </a:p>
        </p:txBody>
      </p:sp>
      <p:sp>
        <p:nvSpPr>
          <p:cNvPr id="2" name="Rectangle 1"/>
          <p:cNvSpPr/>
          <p:nvPr/>
        </p:nvSpPr>
        <p:spPr>
          <a:xfrm>
            <a:off x="1249250" y="1372907"/>
            <a:ext cx="9994005" cy="4893647"/>
          </a:xfrm>
          <a:prstGeom prst="rect">
            <a:avLst/>
          </a:prstGeom>
        </p:spPr>
        <p:txBody>
          <a:bodyPr wrap="square">
            <a:spAutoFit/>
          </a:bodyPr>
          <a:lstStyle/>
          <a:p>
            <a:pPr algn="just"/>
            <a:r>
              <a:rPr lang="en-US" sz="2400" dirty="0">
                <a:solidFill>
                  <a:srgbClr val="333333"/>
                </a:solidFill>
                <a:latin typeface="Segoe UI" panose="020B0502040204020203" pitchFamily="34" charset="0"/>
                <a:ea typeface="Times New Roman" panose="02020603050405020304" pitchFamily="18" charset="0"/>
              </a:rPr>
              <a:t>A deadlock is a condition where two or more transactions are waiting indefinitely for one another to give up locks. Deadlock is said to be one of the most feared complications in DBMS as no task ever gets finished and is in waiting state forever.</a:t>
            </a:r>
            <a:endParaRPr lang="en-US" sz="2400" dirty="0">
              <a:latin typeface="Times New Roman" panose="02020603050405020304" pitchFamily="18" charset="0"/>
              <a:ea typeface="Times New Roman" panose="02020603050405020304" pitchFamily="18" charset="0"/>
            </a:endParaRPr>
          </a:p>
          <a:p>
            <a:pPr algn="just"/>
            <a:r>
              <a:rPr lang="en-US" sz="2400" b="1" dirty="0">
                <a:solidFill>
                  <a:srgbClr val="333333"/>
                </a:solidFill>
                <a:latin typeface="Segoe UI" panose="020B0502040204020203" pitchFamily="34" charset="0"/>
                <a:ea typeface="Times New Roman" panose="02020603050405020304" pitchFamily="18" charset="0"/>
              </a:rPr>
              <a:t>For example:</a:t>
            </a:r>
            <a:r>
              <a:rPr lang="en-US" sz="2400" dirty="0">
                <a:solidFill>
                  <a:srgbClr val="333333"/>
                </a:solidFill>
                <a:latin typeface="Segoe UI" panose="020B0502040204020203" pitchFamily="34" charset="0"/>
                <a:ea typeface="Times New Roman" panose="02020603050405020304" pitchFamily="18" charset="0"/>
              </a:rPr>
              <a:t> In the student table, transaction T1 holds a lock on some rows and needs to update some rows in the grade table. Simultaneously, transaction T2 holds locks on some rows in the grade table and needs to update the rows in the Student table held by Transaction T1.</a:t>
            </a:r>
            <a:endParaRPr lang="en-US" sz="2400" dirty="0">
              <a:latin typeface="Times New Roman" panose="02020603050405020304" pitchFamily="18" charset="0"/>
              <a:ea typeface="Times New Roman" panose="02020603050405020304" pitchFamily="18" charset="0"/>
            </a:endParaRPr>
          </a:p>
          <a:p>
            <a:pPr algn="just"/>
            <a:r>
              <a:rPr lang="en-US" sz="2400" dirty="0">
                <a:solidFill>
                  <a:srgbClr val="333333"/>
                </a:solidFill>
                <a:latin typeface="Segoe UI" panose="020B0502040204020203" pitchFamily="34" charset="0"/>
                <a:ea typeface="Times New Roman" panose="02020603050405020304" pitchFamily="18" charset="0"/>
              </a:rPr>
              <a:t>Now, the main problem arises. Now Transaction T1 is waiting for T2 to release its lock and similarly, transaction T2 is waiting for T1 to release its lock. All activities come to a halt state and remain at a standstill. It will remain in a standstill until the DBMS detects the deadlock and aborts one of the transactions.</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7875177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smtClean="0">
                <a:latin typeface="Arial" panose="020B0604020202020204" pitchFamily="34" charset="0"/>
                <a:cs typeface="Arial" panose="020B0604020202020204" pitchFamily="34" charset="0"/>
              </a:rPr>
              <a:t>Deadlocks</a:t>
            </a:r>
          </a:p>
        </p:txBody>
      </p:sp>
      <p:sp>
        <p:nvSpPr>
          <p:cNvPr id="7" name="Slide Number Placeholder 6"/>
          <p:cNvSpPr>
            <a:spLocks noGrp="1"/>
          </p:cNvSpPr>
          <p:nvPr>
            <p:ph type="sldNum" sz="quarter" idx="12"/>
          </p:nvPr>
        </p:nvSpPr>
        <p:spPr/>
        <p:txBody>
          <a:bodyPr/>
          <a:lstStyle/>
          <a:p>
            <a:pPr>
              <a:defRPr/>
            </a:pPr>
            <a:r>
              <a:rPr lang="en-US" smtClean="0"/>
              <a:t>Slide </a:t>
            </a:r>
            <a:r>
              <a:rPr lang="en-US" spc="10"/>
              <a:t>21-</a:t>
            </a:r>
            <a:r>
              <a:rPr lang="en-US" spc="-200"/>
              <a:t> </a:t>
            </a:r>
            <a:fld id="{E6DE5C8B-6F36-4720-8200-2BE495D48D3A}" type="slidenum">
              <a:rPr/>
              <a:pPr>
                <a:defRPr/>
              </a:pPr>
              <a:t>114</a:t>
            </a:fld>
            <a:endParaRPr/>
          </a:p>
        </p:txBody>
      </p:sp>
      <p:pic>
        <p:nvPicPr>
          <p:cNvPr id="6" name="Picture 5" descr="Deadlock in DBMS"/>
          <p:cNvPicPr/>
          <p:nvPr/>
        </p:nvPicPr>
        <p:blipFill>
          <a:blip r:embed="rId2">
            <a:extLst>
              <a:ext uri="{28A0092B-C50C-407E-A947-70E740481C1C}">
                <a14:useLocalDpi xmlns:a14="http://schemas.microsoft.com/office/drawing/2010/main" val="0"/>
              </a:ext>
            </a:extLst>
          </a:blip>
          <a:srcRect/>
          <a:stretch>
            <a:fillRect/>
          </a:stretch>
        </p:blipFill>
        <p:spPr bwMode="auto">
          <a:xfrm>
            <a:off x="2282512" y="1615292"/>
            <a:ext cx="4381500" cy="2828925"/>
          </a:xfrm>
          <a:prstGeom prst="rect">
            <a:avLst/>
          </a:prstGeom>
          <a:noFill/>
          <a:ln>
            <a:noFill/>
          </a:ln>
        </p:spPr>
      </p:pic>
    </p:spTree>
    <p:extLst>
      <p:ext uri="{BB962C8B-B14F-4D97-AF65-F5344CB8AC3E}">
        <p14:creationId xmlns:p14="http://schemas.microsoft.com/office/powerpoint/2010/main" val="278120540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smtClean="0">
                <a:latin typeface="Arial" panose="020B0604020202020204" pitchFamily="34" charset="0"/>
                <a:cs typeface="Arial" panose="020B0604020202020204" pitchFamily="34" charset="0"/>
              </a:rPr>
              <a:t>Deadlocks</a:t>
            </a:r>
          </a:p>
        </p:txBody>
      </p:sp>
      <p:graphicFrame>
        <p:nvGraphicFramePr>
          <p:cNvPr id="5" name="Table 4"/>
          <p:cNvGraphicFramePr>
            <a:graphicFrameLocks noGrp="1"/>
          </p:cNvGraphicFramePr>
          <p:nvPr/>
        </p:nvGraphicFramePr>
        <p:xfrm>
          <a:off x="1831975" y="1768475"/>
          <a:ext cx="2667000" cy="2651716"/>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3834424893"/>
                    </a:ext>
                  </a:extLst>
                </a:gridCol>
                <a:gridCol w="1333500">
                  <a:extLst>
                    <a:ext uri="{9D8B030D-6E8A-4147-A177-3AD203B41FA5}">
                      <a16:colId xmlns:a16="http://schemas.microsoft.com/office/drawing/2014/main" val="1352192729"/>
                    </a:ext>
                  </a:extLst>
                </a:gridCol>
              </a:tblGrid>
              <a:tr h="365672">
                <a:tc>
                  <a:txBody>
                    <a:bodyPr/>
                    <a:lstStyle/>
                    <a:p>
                      <a:pPr algn="ctr"/>
                      <a:r>
                        <a:rPr lang="en-US" sz="1800" dirty="0" smtClean="0"/>
                        <a:t>T1</a:t>
                      </a:r>
                      <a:endParaRPr lang="en-US" sz="1800" dirty="0"/>
                    </a:p>
                  </a:txBody>
                  <a:tcPr marL="91432" marR="91432" marT="45709" marB="45709"/>
                </a:tc>
                <a:tc>
                  <a:txBody>
                    <a:bodyPr/>
                    <a:lstStyle/>
                    <a:p>
                      <a:pPr algn="ctr"/>
                      <a:r>
                        <a:rPr lang="en-US" sz="1800" dirty="0" smtClean="0"/>
                        <a:t>T2</a:t>
                      </a:r>
                      <a:endParaRPr lang="en-US" sz="1800" dirty="0"/>
                    </a:p>
                  </a:txBody>
                  <a:tcPr marL="91432" marR="91432" marT="45709" marB="45709"/>
                </a:tc>
                <a:extLst>
                  <a:ext uri="{0D108BD9-81ED-4DB2-BD59-A6C34878D82A}">
                    <a16:rowId xmlns:a16="http://schemas.microsoft.com/office/drawing/2014/main" val="830211065"/>
                  </a:ext>
                </a:extLst>
              </a:tr>
              <a:tr h="2285453">
                <a:tc>
                  <a:txBody>
                    <a:bodyPr/>
                    <a:lstStyle/>
                    <a:p>
                      <a:pPr algn="ctr"/>
                      <a:r>
                        <a:rPr lang="en-US" sz="1800" dirty="0" smtClean="0"/>
                        <a:t>X(A)</a:t>
                      </a:r>
                    </a:p>
                    <a:p>
                      <a:pPr algn="ctr"/>
                      <a:r>
                        <a:rPr lang="en-US" sz="1800" dirty="0" smtClean="0"/>
                        <a:t>W(A)</a:t>
                      </a:r>
                    </a:p>
                    <a:p>
                      <a:pPr algn="ctr"/>
                      <a:endParaRPr lang="en-US" sz="1800" dirty="0" smtClean="0"/>
                    </a:p>
                    <a:p>
                      <a:pPr algn="ctr"/>
                      <a:endParaRPr lang="en-US" sz="1800" dirty="0" smtClean="0"/>
                    </a:p>
                    <a:p>
                      <a:pPr algn="ctr"/>
                      <a:endParaRPr lang="en-US" sz="1800" dirty="0" smtClean="0"/>
                    </a:p>
                    <a:p>
                      <a:pPr algn="ctr"/>
                      <a:endParaRPr lang="en-US" sz="1800" dirty="0" smtClean="0"/>
                    </a:p>
                    <a:p>
                      <a:pPr algn="ctr"/>
                      <a:r>
                        <a:rPr lang="en-US" sz="1800" dirty="0" smtClean="0"/>
                        <a:t>X(B)</a:t>
                      </a:r>
                    </a:p>
                    <a:p>
                      <a:pPr algn="ctr"/>
                      <a:r>
                        <a:rPr lang="en-US" sz="1800" dirty="0" smtClean="0"/>
                        <a:t>W(B)</a:t>
                      </a:r>
                      <a:endParaRPr lang="en-US" sz="1800" dirty="0"/>
                    </a:p>
                  </a:txBody>
                  <a:tcPr marL="91432" marR="91432" marT="45709" marB="45709"/>
                </a:tc>
                <a:tc>
                  <a:txBody>
                    <a:bodyPr/>
                    <a:lstStyle/>
                    <a:p>
                      <a:pPr algn="ctr"/>
                      <a:endParaRPr lang="en-US" sz="1800" dirty="0" smtClean="0"/>
                    </a:p>
                    <a:p>
                      <a:pPr algn="ctr"/>
                      <a:endParaRPr lang="en-US" sz="1800" dirty="0" smtClean="0"/>
                    </a:p>
                    <a:p>
                      <a:pPr algn="ctr"/>
                      <a:r>
                        <a:rPr lang="en-US" sz="1800" dirty="0" smtClean="0"/>
                        <a:t>X(B)</a:t>
                      </a:r>
                    </a:p>
                    <a:p>
                      <a:pPr algn="ctr"/>
                      <a:r>
                        <a:rPr lang="en-US" sz="1800" dirty="0" smtClean="0"/>
                        <a:t>W(B)</a:t>
                      </a:r>
                    </a:p>
                    <a:p>
                      <a:pPr algn="ctr"/>
                      <a:r>
                        <a:rPr lang="en-US" sz="1800" dirty="0" smtClean="0"/>
                        <a:t>X(A)</a:t>
                      </a:r>
                      <a:br>
                        <a:rPr lang="en-US" sz="1800" dirty="0" smtClean="0"/>
                      </a:br>
                      <a:r>
                        <a:rPr lang="en-US" sz="1800" dirty="0" smtClean="0"/>
                        <a:t>W(A)</a:t>
                      </a:r>
                      <a:endParaRPr lang="en-US" sz="1800" dirty="0"/>
                    </a:p>
                  </a:txBody>
                  <a:tcPr marL="91432" marR="91432" marT="45709" marB="45709"/>
                </a:tc>
                <a:extLst>
                  <a:ext uri="{0D108BD9-81ED-4DB2-BD59-A6C34878D82A}">
                    <a16:rowId xmlns:a16="http://schemas.microsoft.com/office/drawing/2014/main" val="552087260"/>
                  </a:ext>
                </a:extLst>
              </a:tr>
            </a:tbl>
          </a:graphicData>
        </a:graphic>
      </p:graphicFrame>
      <p:sp>
        <p:nvSpPr>
          <p:cNvPr id="100366" name="TextBox 5"/>
          <p:cNvSpPr txBox="1">
            <a:spLocks noChangeArrowheads="1"/>
          </p:cNvSpPr>
          <p:nvPr/>
        </p:nvSpPr>
        <p:spPr bwMode="auto">
          <a:xfrm>
            <a:off x="4876801" y="1768476"/>
            <a:ext cx="548322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just">
              <a:buFont typeface="Arial" panose="020B0604020202020204" pitchFamily="34" charset="0"/>
              <a:buChar char="•"/>
            </a:pPr>
            <a:r>
              <a:rPr lang="en-US" altLang="en-US"/>
              <a:t>Here, using strict 2PL, a lock is performed on A since there is a W(A).</a:t>
            </a:r>
          </a:p>
          <a:p>
            <a:pPr algn="just">
              <a:buFont typeface="Arial" panose="020B0604020202020204" pitchFamily="34" charset="0"/>
              <a:buChar char="•"/>
            </a:pPr>
            <a:r>
              <a:rPr lang="en-US" altLang="en-US"/>
              <a:t>Now in T2, we again try to write on A, ie, W(A) but we have already locked A under T1. </a:t>
            </a:r>
          </a:p>
          <a:p>
            <a:pPr algn="just">
              <a:buFont typeface="Arial" panose="020B0604020202020204" pitchFamily="34" charset="0"/>
              <a:buChar char="•"/>
            </a:pPr>
            <a:r>
              <a:rPr lang="en-US" altLang="en-US"/>
              <a:t>Hence there is a deadlock</a:t>
            </a:r>
          </a:p>
        </p:txBody>
      </p:sp>
      <p:sp>
        <p:nvSpPr>
          <p:cNvPr id="7" name="Slide Number Placeholder 6"/>
          <p:cNvSpPr>
            <a:spLocks noGrp="1"/>
          </p:cNvSpPr>
          <p:nvPr>
            <p:ph type="sldNum" sz="quarter" idx="12"/>
          </p:nvPr>
        </p:nvSpPr>
        <p:spPr/>
        <p:txBody>
          <a:bodyPr/>
          <a:lstStyle/>
          <a:p>
            <a:pPr>
              <a:defRPr/>
            </a:pPr>
            <a:r>
              <a:rPr lang="en-US" smtClean="0"/>
              <a:t>Slide </a:t>
            </a:r>
            <a:r>
              <a:rPr lang="en-US" spc="10"/>
              <a:t>21-</a:t>
            </a:r>
            <a:r>
              <a:rPr lang="en-US" spc="-200"/>
              <a:t> </a:t>
            </a:r>
            <a:fld id="{E6DE5C8B-6F36-4720-8200-2BE495D48D3A}" type="slidenum">
              <a:rPr/>
              <a:pPr>
                <a:defRPr/>
              </a:pPr>
              <a:t>115</a:t>
            </a:fld>
            <a:endParaRPr/>
          </a:p>
        </p:txBody>
      </p:sp>
    </p:spTree>
    <p:extLst>
      <p:ext uri="{BB962C8B-B14F-4D97-AF65-F5344CB8AC3E}">
        <p14:creationId xmlns:p14="http://schemas.microsoft.com/office/powerpoint/2010/main" val="418384550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46220"/>
            <a:ext cx="10515600" cy="5030743"/>
          </a:xfrm>
        </p:spPr>
        <p:txBody>
          <a:bodyPr/>
          <a:lstStyle/>
          <a:p>
            <a:r>
              <a:rPr lang="en-US" b="1" dirty="0"/>
              <a:t>Deadlock Avoidance</a:t>
            </a:r>
          </a:p>
          <a:p>
            <a:pPr lvl="0"/>
            <a:r>
              <a:rPr lang="en-US" dirty="0"/>
              <a:t>When a database is stuck in a deadlock state, then it is better to avoid the database rather than aborting or restating the database. This is a waste of time and resource.</a:t>
            </a:r>
          </a:p>
          <a:p>
            <a:pPr lvl="0"/>
            <a:r>
              <a:rPr lang="en-US" dirty="0"/>
              <a:t>Deadlock avoidance mechanism is used to detect any deadlock situation in advance. A method like "wait for graph" is used for detecting the deadlock situation but this method is suitable only for the smaller database. For the larger database, deadlock prevention method can be used.</a:t>
            </a:r>
          </a:p>
          <a:p>
            <a:endParaRPr lang="en-US" dirty="0"/>
          </a:p>
        </p:txBody>
      </p:sp>
    </p:spTree>
    <p:extLst>
      <p:ext uri="{BB962C8B-B14F-4D97-AF65-F5344CB8AC3E}">
        <p14:creationId xmlns:p14="http://schemas.microsoft.com/office/powerpoint/2010/main" val="340288658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8034"/>
            <a:ext cx="10515600" cy="5648929"/>
          </a:xfrm>
        </p:spPr>
        <p:txBody>
          <a:bodyPr/>
          <a:lstStyle/>
          <a:p>
            <a:pPr algn="just"/>
            <a:r>
              <a:rPr lang="en-US" b="1" dirty="0"/>
              <a:t>Deadlock Detection</a:t>
            </a:r>
          </a:p>
          <a:p>
            <a:pPr algn="just"/>
            <a:r>
              <a:rPr lang="en-US" dirty="0"/>
              <a:t>In a database, when a transaction waits indefinitely to obtain a lock, then the DBMS should detect whether the transaction is involved in a deadlock or not. The lock manager maintains a Wait for the graph to detect the deadlock cycle in the database</a:t>
            </a:r>
          </a:p>
          <a:p>
            <a:pPr marL="0" indent="0" algn="just">
              <a:buNone/>
            </a:pPr>
            <a:r>
              <a:rPr lang="en-US" b="1" dirty="0"/>
              <a:t>Wait for Graph</a:t>
            </a:r>
          </a:p>
          <a:p>
            <a:pPr lvl="0" algn="just"/>
            <a:r>
              <a:rPr lang="en-US" dirty="0"/>
              <a:t>This is the suitable method for deadlock detection. In this method, a graph is created based on the transaction and their lock. If the created graph has a cycle or closed loop, then there is a deadlock.</a:t>
            </a:r>
          </a:p>
          <a:p>
            <a:pPr lvl="0" algn="just"/>
            <a:r>
              <a:rPr lang="en-US" dirty="0"/>
              <a:t>The wait for the graph is maintained by the system for every transaction which is waiting for some data held by the others. The system keeps checking the graph if there is any cycle in the graph.</a:t>
            </a:r>
          </a:p>
          <a:p>
            <a:pPr algn="just"/>
            <a:endParaRPr lang="en-US" dirty="0"/>
          </a:p>
        </p:txBody>
      </p:sp>
    </p:spTree>
    <p:extLst>
      <p:ext uri="{BB962C8B-B14F-4D97-AF65-F5344CB8AC3E}">
        <p14:creationId xmlns:p14="http://schemas.microsoft.com/office/powerpoint/2010/main" val="52388160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smtClean="0">
                <a:latin typeface="Arial" panose="020B0604020202020204" pitchFamily="34" charset="0"/>
                <a:cs typeface="Arial" panose="020B0604020202020204" pitchFamily="34" charset="0"/>
              </a:rPr>
              <a:t>Deadlock Detection using wait for graph</a:t>
            </a:r>
          </a:p>
        </p:txBody>
      </p:sp>
      <p:sp>
        <p:nvSpPr>
          <p:cNvPr id="6" name="TextBox 5"/>
          <p:cNvSpPr txBox="1"/>
          <p:nvPr/>
        </p:nvSpPr>
        <p:spPr>
          <a:xfrm>
            <a:off x="2057401" y="1768475"/>
            <a:ext cx="8302625" cy="2677656"/>
          </a:xfrm>
          <a:prstGeom prst="rect">
            <a:avLst/>
          </a:prstGeom>
          <a:noFill/>
        </p:spPr>
        <p:txBody>
          <a:bodyPr>
            <a:spAutoFit/>
          </a:bodyPr>
          <a:lstStyle/>
          <a:p>
            <a:pPr marL="1309688" indent="-1309688" algn="just">
              <a:defRPr/>
            </a:pPr>
            <a:r>
              <a:rPr lang="en-US" sz="2800" dirty="0"/>
              <a:t>Step 1: Draw one vertex for each transaction in the schedule.</a:t>
            </a:r>
          </a:p>
          <a:p>
            <a:pPr marL="1201738" indent="-1201738" algn="just">
              <a:defRPr/>
            </a:pPr>
            <a:r>
              <a:rPr lang="en-US" sz="2800" dirty="0"/>
              <a:t>Step 2:  An edge (Ti -&gt; Tj) is added to the graph if and only if Ti is waiting for Tj.</a:t>
            </a:r>
          </a:p>
          <a:p>
            <a:pPr marL="1201738" indent="-1201738" algn="just">
              <a:defRPr/>
            </a:pPr>
            <a:r>
              <a:rPr lang="en-US" sz="2800" dirty="0"/>
              <a:t>Step 3: If the graph at any point of time has cycle, it implies deadlock.</a:t>
            </a:r>
          </a:p>
        </p:txBody>
      </p:sp>
      <p:sp>
        <p:nvSpPr>
          <p:cNvPr id="2" name="Slide Number Placeholder 1"/>
          <p:cNvSpPr>
            <a:spLocks noGrp="1"/>
          </p:cNvSpPr>
          <p:nvPr>
            <p:ph type="sldNum" sz="quarter" idx="12"/>
          </p:nvPr>
        </p:nvSpPr>
        <p:spPr/>
        <p:txBody>
          <a:bodyPr/>
          <a:lstStyle/>
          <a:p>
            <a:pPr>
              <a:defRPr/>
            </a:pPr>
            <a:r>
              <a:rPr lang="en-US" smtClean="0"/>
              <a:t>Slide </a:t>
            </a:r>
            <a:r>
              <a:rPr lang="en-US" spc="10"/>
              <a:t>21-</a:t>
            </a:r>
            <a:r>
              <a:rPr lang="en-US" spc="-200"/>
              <a:t> </a:t>
            </a:r>
            <a:fld id="{7C34B80A-554F-48D3-A62B-564560B5CAD8}" type="slidenum">
              <a:rPr/>
              <a:pPr>
                <a:defRPr/>
              </a:pPr>
              <a:t>118</a:t>
            </a:fld>
            <a:endParaRPr/>
          </a:p>
        </p:txBody>
      </p:sp>
    </p:spTree>
    <p:extLst>
      <p:ext uri="{BB962C8B-B14F-4D97-AF65-F5344CB8AC3E}">
        <p14:creationId xmlns:p14="http://schemas.microsoft.com/office/powerpoint/2010/main" val="114480932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smtClean="0">
                <a:latin typeface="Arial" panose="020B0604020202020204" pitchFamily="34" charset="0"/>
                <a:cs typeface="Arial" panose="020B0604020202020204" pitchFamily="34" charset="0"/>
              </a:rPr>
              <a:t>Deadlock Detection using wait for graph</a:t>
            </a:r>
          </a:p>
        </p:txBody>
      </p:sp>
      <p:graphicFrame>
        <p:nvGraphicFramePr>
          <p:cNvPr id="7" name="Table 6"/>
          <p:cNvGraphicFramePr>
            <a:graphicFrameLocks noGrp="1"/>
          </p:cNvGraphicFramePr>
          <p:nvPr/>
        </p:nvGraphicFramePr>
        <p:xfrm>
          <a:off x="1831975" y="1768475"/>
          <a:ext cx="4492624" cy="1828800"/>
        </p:xfrm>
        <a:graphic>
          <a:graphicData uri="http://schemas.openxmlformats.org/drawingml/2006/table">
            <a:tbl>
              <a:tblPr firstRow="1" bandRow="1">
                <a:tableStyleId>{5C22544A-7EE6-4342-B048-85BDC9FD1C3A}</a:tableStyleId>
              </a:tblPr>
              <a:tblGrid>
                <a:gridCol w="1139826">
                  <a:extLst>
                    <a:ext uri="{9D8B030D-6E8A-4147-A177-3AD203B41FA5}">
                      <a16:colId xmlns:a16="http://schemas.microsoft.com/office/drawing/2014/main" val="3834424893"/>
                    </a:ext>
                  </a:extLst>
                </a:gridCol>
                <a:gridCol w="1066800">
                  <a:extLst>
                    <a:ext uri="{9D8B030D-6E8A-4147-A177-3AD203B41FA5}">
                      <a16:colId xmlns:a16="http://schemas.microsoft.com/office/drawing/2014/main" val="1352192729"/>
                    </a:ext>
                  </a:extLst>
                </a:gridCol>
                <a:gridCol w="1142999">
                  <a:extLst>
                    <a:ext uri="{9D8B030D-6E8A-4147-A177-3AD203B41FA5}">
                      <a16:colId xmlns:a16="http://schemas.microsoft.com/office/drawing/2014/main" val="2207456619"/>
                    </a:ext>
                  </a:extLst>
                </a:gridCol>
                <a:gridCol w="1142999">
                  <a:extLst>
                    <a:ext uri="{9D8B030D-6E8A-4147-A177-3AD203B41FA5}">
                      <a16:colId xmlns:a16="http://schemas.microsoft.com/office/drawing/2014/main" val="2073479687"/>
                    </a:ext>
                  </a:extLst>
                </a:gridCol>
              </a:tblGrid>
              <a:tr h="323907">
                <a:tc>
                  <a:txBody>
                    <a:bodyPr/>
                    <a:lstStyle/>
                    <a:p>
                      <a:pPr algn="ctr"/>
                      <a:r>
                        <a:rPr lang="en-US" dirty="0" smtClean="0"/>
                        <a:t>T1</a:t>
                      </a:r>
                      <a:endParaRPr lang="en-US" dirty="0"/>
                    </a:p>
                  </a:txBody>
                  <a:tcPr/>
                </a:tc>
                <a:tc>
                  <a:txBody>
                    <a:bodyPr/>
                    <a:lstStyle/>
                    <a:p>
                      <a:pPr algn="ctr"/>
                      <a:r>
                        <a:rPr lang="en-US" dirty="0" smtClean="0"/>
                        <a:t>T2</a:t>
                      </a:r>
                      <a:endParaRPr lang="en-US" dirty="0"/>
                    </a:p>
                  </a:txBody>
                  <a:tcPr/>
                </a:tc>
                <a:tc>
                  <a:txBody>
                    <a:bodyPr/>
                    <a:lstStyle/>
                    <a:p>
                      <a:pPr algn="ctr"/>
                      <a:r>
                        <a:rPr lang="en-US" dirty="0" smtClean="0"/>
                        <a:t>T3</a:t>
                      </a:r>
                      <a:endParaRPr lang="en-US" dirty="0"/>
                    </a:p>
                  </a:txBody>
                  <a:tcPr/>
                </a:tc>
                <a:tc>
                  <a:txBody>
                    <a:bodyPr/>
                    <a:lstStyle/>
                    <a:p>
                      <a:pPr algn="ctr"/>
                      <a:r>
                        <a:rPr lang="en-US" dirty="0" smtClean="0"/>
                        <a:t>T4</a:t>
                      </a:r>
                      <a:endParaRPr lang="en-US" dirty="0"/>
                    </a:p>
                  </a:txBody>
                  <a:tcPr/>
                </a:tc>
                <a:extLst>
                  <a:ext uri="{0D108BD9-81ED-4DB2-BD59-A6C34878D82A}">
                    <a16:rowId xmlns:a16="http://schemas.microsoft.com/office/drawing/2014/main" val="830211065"/>
                  </a:ext>
                </a:extLst>
              </a:tr>
              <a:tr h="323907">
                <a:tc>
                  <a:txBody>
                    <a:bodyPr/>
                    <a:lstStyle/>
                    <a:p>
                      <a:pPr algn="ctr"/>
                      <a:endParaRPr lang="en-US" dirty="0" smtClean="0"/>
                    </a:p>
                    <a:p>
                      <a:pPr algn="ctr"/>
                      <a:endParaRPr lang="en-US" dirty="0" smtClean="0"/>
                    </a:p>
                    <a:p>
                      <a:pPr algn="ctr"/>
                      <a:r>
                        <a:rPr lang="en-US" dirty="0" smtClean="0"/>
                        <a:t>X(A)</a:t>
                      </a:r>
                      <a:endParaRPr lang="en-US" dirty="0"/>
                    </a:p>
                  </a:txBody>
                  <a:tcPr/>
                </a:tc>
                <a:tc>
                  <a:txBody>
                    <a:bodyPr/>
                    <a:lstStyle/>
                    <a:p>
                      <a:pPr algn="ctr"/>
                      <a:endParaRPr lang="en-US" dirty="0" smtClean="0"/>
                    </a:p>
                    <a:p>
                      <a:pPr algn="ctr"/>
                      <a:r>
                        <a:rPr lang="en-US" dirty="0" smtClean="0"/>
                        <a:t>X(A)</a:t>
                      </a:r>
                    </a:p>
                    <a:p>
                      <a:pPr algn="ctr"/>
                      <a:endParaRPr lang="en-US" dirty="0" smtClean="0"/>
                    </a:p>
                    <a:p>
                      <a:pPr algn="ctr"/>
                      <a:endParaRPr lang="en-US" dirty="0" smtClean="0"/>
                    </a:p>
                    <a:p>
                      <a:pPr algn="ctr"/>
                      <a:r>
                        <a:rPr lang="en-US" dirty="0" smtClean="0"/>
                        <a:t>X(B)</a:t>
                      </a:r>
                    </a:p>
                  </a:txBody>
                  <a:tcPr/>
                </a:tc>
                <a:tc>
                  <a:txBody>
                    <a:bodyPr/>
                    <a:lstStyle/>
                    <a:p>
                      <a:pPr algn="ctr"/>
                      <a:r>
                        <a:rPr lang="en-US" dirty="0" smtClean="0"/>
                        <a:t>X(A)</a:t>
                      </a:r>
                    </a:p>
                  </a:txBody>
                  <a:tcPr/>
                </a:tc>
                <a:tc>
                  <a:txBody>
                    <a:bodyPr/>
                    <a:lstStyle/>
                    <a:p>
                      <a:pPr algn="ctr"/>
                      <a:endParaRPr lang="en-US" dirty="0" smtClean="0"/>
                    </a:p>
                    <a:p>
                      <a:pPr algn="ctr"/>
                      <a:endParaRPr lang="en-US" dirty="0" smtClean="0"/>
                    </a:p>
                    <a:p>
                      <a:pPr algn="ctr"/>
                      <a:endParaRPr lang="en-US" dirty="0" smtClean="0"/>
                    </a:p>
                    <a:p>
                      <a:pPr algn="ctr"/>
                      <a:r>
                        <a:rPr lang="en-US" dirty="0" smtClean="0"/>
                        <a:t>X(B)</a:t>
                      </a:r>
                    </a:p>
                  </a:txBody>
                  <a:tcPr/>
                </a:tc>
                <a:extLst>
                  <a:ext uri="{0D108BD9-81ED-4DB2-BD59-A6C34878D82A}">
                    <a16:rowId xmlns:a16="http://schemas.microsoft.com/office/drawing/2014/main" val="552087260"/>
                  </a:ext>
                </a:extLst>
              </a:tr>
            </a:tbl>
          </a:graphicData>
        </a:graphic>
      </p:graphicFrame>
      <p:sp>
        <p:nvSpPr>
          <p:cNvPr id="5" name="Oval 4"/>
          <p:cNvSpPr/>
          <p:nvPr/>
        </p:nvSpPr>
        <p:spPr>
          <a:xfrm>
            <a:off x="6807200" y="176847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T1</a:t>
            </a:r>
          </a:p>
        </p:txBody>
      </p:sp>
      <p:sp>
        <p:nvSpPr>
          <p:cNvPr id="10" name="Oval 9"/>
          <p:cNvSpPr/>
          <p:nvPr/>
        </p:nvSpPr>
        <p:spPr>
          <a:xfrm>
            <a:off x="9296400" y="176847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T2</a:t>
            </a:r>
          </a:p>
        </p:txBody>
      </p:sp>
      <p:sp>
        <p:nvSpPr>
          <p:cNvPr id="15" name="Oval 14"/>
          <p:cNvSpPr/>
          <p:nvPr/>
        </p:nvSpPr>
        <p:spPr>
          <a:xfrm>
            <a:off x="6807200" y="34290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T3</a:t>
            </a:r>
          </a:p>
        </p:txBody>
      </p:sp>
      <p:sp>
        <p:nvSpPr>
          <p:cNvPr id="13" name="Oval 12"/>
          <p:cNvSpPr/>
          <p:nvPr/>
        </p:nvSpPr>
        <p:spPr>
          <a:xfrm>
            <a:off x="9296400" y="34290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T4</a:t>
            </a:r>
          </a:p>
        </p:txBody>
      </p:sp>
      <p:cxnSp>
        <p:nvCxnSpPr>
          <p:cNvPr id="3" name="Straight Arrow Connector 2"/>
          <p:cNvCxnSpPr>
            <a:stCxn id="5" idx="6"/>
            <a:endCxn id="10" idx="2"/>
          </p:cNvCxnSpPr>
          <p:nvPr/>
        </p:nvCxnSpPr>
        <p:spPr>
          <a:xfrm>
            <a:off x="7569200" y="2111375"/>
            <a:ext cx="172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10" idx="4"/>
            <a:endCxn id="13" idx="0"/>
          </p:cNvCxnSpPr>
          <p:nvPr/>
        </p:nvCxnSpPr>
        <p:spPr>
          <a:xfrm>
            <a:off x="9677400" y="2454276"/>
            <a:ext cx="0" cy="974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0" idx="3"/>
            <a:endCxn id="15" idx="7"/>
          </p:cNvCxnSpPr>
          <p:nvPr/>
        </p:nvCxnSpPr>
        <p:spPr>
          <a:xfrm flipH="1">
            <a:off x="7456489" y="2352675"/>
            <a:ext cx="1951037" cy="1176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Slide Number Placeholder 21"/>
          <p:cNvSpPr>
            <a:spLocks noGrp="1"/>
          </p:cNvSpPr>
          <p:nvPr>
            <p:ph type="sldNum" sz="quarter" idx="12"/>
          </p:nvPr>
        </p:nvSpPr>
        <p:spPr/>
        <p:txBody>
          <a:bodyPr/>
          <a:lstStyle/>
          <a:p>
            <a:pPr>
              <a:defRPr/>
            </a:pPr>
            <a:r>
              <a:rPr lang="en-US" smtClean="0"/>
              <a:t>Slide </a:t>
            </a:r>
            <a:r>
              <a:rPr lang="en-US" spc="10"/>
              <a:t>21-</a:t>
            </a:r>
            <a:r>
              <a:rPr lang="en-US" spc="-200"/>
              <a:t> </a:t>
            </a:r>
            <a:fld id="{AFA36F9E-EDEB-4CDA-B150-AB86387B208B}" type="slidenum">
              <a:rPr/>
              <a:pPr>
                <a:defRPr/>
              </a:pPr>
              <a:t>119</a:t>
            </a:fld>
            <a:endParaRPr/>
          </a:p>
        </p:txBody>
      </p:sp>
    </p:spTree>
    <p:extLst>
      <p:ext uri="{BB962C8B-B14F-4D97-AF65-F5344CB8AC3E}">
        <p14:creationId xmlns:p14="http://schemas.microsoft.com/office/powerpoint/2010/main" val="367708051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object 2"/>
          <p:cNvSpPr>
            <a:spLocks noGrp="1"/>
          </p:cNvSpPr>
          <p:nvPr>
            <p:ph type="title"/>
          </p:nvPr>
        </p:nvSpPr>
        <p:spPr>
          <a:xfrm>
            <a:off x="1831975" y="679450"/>
            <a:ext cx="8528050" cy="584200"/>
          </a:xfrm>
        </p:spPr>
        <p:txBody>
          <a:bodyPr vert="horz" lIns="91440" tIns="33020" rIns="91440" bIns="45720" rtlCol="0" anchor="ctr">
            <a:normAutofit fontScale="90000"/>
          </a:bodyPr>
          <a:lstStyle/>
          <a:p>
            <a:pPr marL="12700">
              <a:lnSpc>
                <a:spcPts val="4300"/>
              </a:lnSpc>
              <a:spcBef>
                <a:spcPts val="263"/>
              </a:spcBef>
            </a:pPr>
            <a:r>
              <a:rPr lang="en-US" altLang="en-US" smtClean="0">
                <a:latin typeface="Arial" panose="020B0604020202020204" pitchFamily="34" charset="0"/>
                <a:cs typeface="Arial" panose="020B0604020202020204" pitchFamily="34" charset="0"/>
              </a:rPr>
              <a:t>Deadlock Detection using wait for graph</a:t>
            </a:r>
          </a:p>
        </p:txBody>
      </p:sp>
      <p:graphicFrame>
        <p:nvGraphicFramePr>
          <p:cNvPr id="9" name="Table 8"/>
          <p:cNvGraphicFramePr>
            <a:graphicFrameLocks noGrp="1"/>
          </p:cNvGraphicFramePr>
          <p:nvPr/>
        </p:nvGraphicFramePr>
        <p:xfrm>
          <a:off x="6705600" y="1762125"/>
          <a:ext cx="2667000" cy="2651716"/>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3834424893"/>
                    </a:ext>
                  </a:extLst>
                </a:gridCol>
                <a:gridCol w="1333500">
                  <a:extLst>
                    <a:ext uri="{9D8B030D-6E8A-4147-A177-3AD203B41FA5}">
                      <a16:colId xmlns:a16="http://schemas.microsoft.com/office/drawing/2014/main" val="1352192729"/>
                    </a:ext>
                  </a:extLst>
                </a:gridCol>
              </a:tblGrid>
              <a:tr h="365672">
                <a:tc>
                  <a:txBody>
                    <a:bodyPr/>
                    <a:lstStyle/>
                    <a:p>
                      <a:pPr algn="ctr"/>
                      <a:r>
                        <a:rPr lang="en-US" sz="1800" dirty="0" smtClean="0"/>
                        <a:t>T1</a:t>
                      </a:r>
                      <a:endParaRPr lang="en-US" sz="1800" dirty="0"/>
                    </a:p>
                  </a:txBody>
                  <a:tcPr marL="91432" marR="91432" marT="45709" marB="45709"/>
                </a:tc>
                <a:tc>
                  <a:txBody>
                    <a:bodyPr/>
                    <a:lstStyle/>
                    <a:p>
                      <a:pPr algn="ctr"/>
                      <a:r>
                        <a:rPr lang="en-US" sz="1800" dirty="0" smtClean="0"/>
                        <a:t>T2</a:t>
                      </a:r>
                      <a:endParaRPr lang="en-US" sz="1800" dirty="0"/>
                    </a:p>
                  </a:txBody>
                  <a:tcPr marL="91432" marR="91432" marT="45709" marB="45709"/>
                </a:tc>
                <a:extLst>
                  <a:ext uri="{0D108BD9-81ED-4DB2-BD59-A6C34878D82A}">
                    <a16:rowId xmlns:a16="http://schemas.microsoft.com/office/drawing/2014/main" val="830211065"/>
                  </a:ext>
                </a:extLst>
              </a:tr>
              <a:tr h="2285453">
                <a:tc>
                  <a:txBody>
                    <a:bodyPr/>
                    <a:lstStyle/>
                    <a:p>
                      <a:pPr algn="ctr"/>
                      <a:r>
                        <a:rPr lang="en-US" sz="1800" dirty="0" smtClean="0"/>
                        <a:t>X(A)</a:t>
                      </a:r>
                    </a:p>
                    <a:p>
                      <a:pPr algn="ctr"/>
                      <a:r>
                        <a:rPr lang="en-US" sz="1800" dirty="0" smtClean="0"/>
                        <a:t>W(A)</a:t>
                      </a:r>
                    </a:p>
                    <a:p>
                      <a:pPr algn="ctr"/>
                      <a:endParaRPr lang="en-US" sz="1800" dirty="0" smtClean="0"/>
                    </a:p>
                    <a:p>
                      <a:pPr algn="ctr"/>
                      <a:endParaRPr lang="en-US" sz="1800" dirty="0" smtClean="0"/>
                    </a:p>
                    <a:p>
                      <a:pPr algn="ctr"/>
                      <a:endParaRPr lang="en-US" sz="1800" dirty="0" smtClean="0"/>
                    </a:p>
                    <a:p>
                      <a:pPr algn="ctr"/>
                      <a:endParaRPr lang="en-US" sz="1800" dirty="0" smtClean="0"/>
                    </a:p>
                    <a:p>
                      <a:pPr algn="ctr"/>
                      <a:r>
                        <a:rPr lang="en-US" sz="1800" dirty="0" smtClean="0"/>
                        <a:t>X(B)</a:t>
                      </a:r>
                    </a:p>
                    <a:p>
                      <a:pPr algn="ctr"/>
                      <a:r>
                        <a:rPr lang="en-US" sz="1800" dirty="0" smtClean="0"/>
                        <a:t>W(B)</a:t>
                      </a:r>
                      <a:endParaRPr lang="en-US" sz="1800" dirty="0"/>
                    </a:p>
                  </a:txBody>
                  <a:tcPr marL="91432" marR="91432" marT="45709" marB="45709"/>
                </a:tc>
                <a:tc>
                  <a:txBody>
                    <a:bodyPr/>
                    <a:lstStyle/>
                    <a:p>
                      <a:pPr algn="ctr"/>
                      <a:endParaRPr lang="en-US" sz="1800" dirty="0" smtClean="0"/>
                    </a:p>
                    <a:p>
                      <a:pPr algn="ctr"/>
                      <a:endParaRPr lang="en-US" sz="1800" dirty="0" smtClean="0"/>
                    </a:p>
                    <a:p>
                      <a:pPr algn="ctr"/>
                      <a:r>
                        <a:rPr lang="en-US" sz="1800" dirty="0" smtClean="0"/>
                        <a:t>X(B)</a:t>
                      </a:r>
                    </a:p>
                    <a:p>
                      <a:pPr algn="ctr"/>
                      <a:r>
                        <a:rPr lang="en-US" sz="1800" dirty="0" smtClean="0"/>
                        <a:t>W(B)</a:t>
                      </a:r>
                    </a:p>
                    <a:p>
                      <a:pPr algn="ctr"/>
                      <a:r>
                        <a:rPr lang="en-US" sz="1800" dirty="0" smtClean="0"/>
                        <a:t>X(A)</a:t>
                      </a:r>
                      <a:br>
                        <a:rPr lang="en-US" sz="1800" dirty="0" smtClean="0"/>
                      </a:br>
                      <a:r>
                        <a:rPr lang="en-US" sz="1800" dirty="0" smtClean="0"/>
                        <a:t>W(A)</a:t>
                      </a:r>
                      <a:endParaRPr lang="en-US" sz="1800" dirty="0"/>
                    </a:p>
                  </a:txBody>
                  <a:tcPr marL="91432" marR="91432" marT="45709" marB="45709"/>
                </a:tc>
                <a:extLst>
                  <a:ext uri="{0D108BD9-81ED-4DB2-BD59-A6C34878D82A}">
                    <a16:rowId xmlns:a16="http://schemas.microsoft.com/office/drawing/2014/main" val="552087260"/>
                  </a:ext>
                </a:extLst>
              </a:tr>
            </a:tbl>
          </a:graphicData>
        </a:graphic>
      </p:graphicFrame>
      <p:sp>
        <p:nvSpPr>
          <p:cNvPr id="15" name="Oval 14"/>
          <p:cNvSpPr/>
          <p:nvPr/>
        </p:nvSpPr>
        <p:spPr>
          <a:xfrm>
            <a:off x="6718300" y="5324475"/>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T1</a:t>
            </a:r>
          </a:p>
        </p:txBody>
      </p:sp>
      <p:sp>
        <p:nvSpPr>
          <p:cNvPr id="16" name="Oval 15"/>
          <p:cNvSpPr/>
          <p:nvPr/>
        </p:nvSpPr>
        <p:spPr>
          <a:xfrm>
            <a:off x="8470900" y="5334000"/>
            <a:ext cx="7620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T2</a:t>
            </a:r>
          </a:p>
        </p:txBody>
      </p:sp>
      <p:cxnSp>
        <p:nvCxnSpPr>
          <p:cNvPr id="17" name="Curved Connector 16"/>
          <p:cNvCxnSpPr/>
          <p:nvPr/>
        </p:nvCxnSpPr>
        <p:spPr>
          <a:xfrm rot="16200000" flipH="1">
            <a:off x="7971632" y="4444207"/>
            <a:ext cx="7937" cy="1752600"/>
          </a:xfrm>
          <a:prstGeom prst="curvedConnector3">
            <a:avLst>
              <a:gd name="adj1" fmla="val -25123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urved Connector 17"/>
          <p:cNvCxnSpPr/>
          <p:nvPr/>
        </p:nvCxnSpPr>
        <p:spPr>
          <a:xfrm rot="5400000" flipH="1">
            <a:off x="7971631" y="5156994"/>
            <a:ext cx="7938" cy="1752600"/>
          </a:xfrm>
          <a:prstGeom prst="curvedConnector3">
            <a:avLst>
              <a:gd name="adj1" fmla="val -2512364"/>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Slide Number Placeholder 18"/>
          <p:cNvSpPr>
            <a:spLocks noGrp="1"/>
          </p:cNvSpPr>
          <p:nvPr>
            <p:ph type="sldNum" sz="quarter" idx="12"/>
          </p:nvPr>
        </p:nvSpPr>
        <p:spPr/>
        <p:txBody>
          <a:bodyPr/>
          <a:lstStyle/>
          <a:p>
            <a:pPr>
              <a:defRPr/>
            </a:pPr>
            <a:r>
              <a:rPr lang="en-US" smtClean="0"/>
              <a:t>Slide </a:t>
            </a:r>
            <a:r>
              <a:rPr lang="en-US" spc="10"/>
              <a:t>21-</a:t>
            </a:r>
            <a:r>
              <a:rPr lang="en-US" spc="-200"/>
              <a:t> </a:t>
            </a:r>
            <a:fld id="{ED1CB266-37F0-400C-8462-757ACB328DE4}" type="slidenum">
              <a:rPr/>
              <a:pPr>
                <a:defRPr/>
              </a:pPr>
              <a:t>120</a:t>
            </a:fld>
            <a:endParaRPr/>
          </a:p>
        </p:txBody>
      </p:sp>
      <p:pic>
        <p:nvPicPr>
          <p:cNvPr id="20" name="Picture 19" descr="Deadlock in DBMS"/>
          <p:cNvPicPr/>
          <p:nvPr/>
        </p:nvPicPr>
        <p:blipFill>
          <a:blip r:embed="rId2">
            <a:extLst>
              <a:ext uri="{28A0092B-C50C-407E-A947-70E740481C1C}">
                <a14:useLocalDpi xmlns:a14="http://schemas.microsoft.com/office/drawing/2010/main" val="0"/>
              </a:ext>
            </a:extLst>
          </a:blip>
          <a:srcRect/>
          <a:stretch>
            <a:fillRect/>
          </a:stretch>
        </p:blipFill>
        <p:spPr bwMode="auto">
          <a:xfrm>
            <a:off x="1793584" y="1732275"/>
            <a:ext cx="3762375" cy="2981325"/>
          </a:xfrm>
          <a:prstGeom prst="rect">
            <a:avLst/>
          </a:prstGeom>
          <a:noFill/>
          <a:ln>
            <a:noFill/>
          </a:ln>
        </p:spPr>
      </p:pic>
    </p:spTree>
    <p:extLst>
      <p:ext uri="{BB962C8B-B14F-4D97-AF65-F5344CB8AC3E}">
        <p14:creationId xmlns:p14="http://schemas.microsoft.com/office/powerpoint/2010/main" val="251896232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65125"/>
            <a:ext cx="10515600" cy="575033"/>
          </a:xfrm>
        </p:spPr>
        <p:txBody>
          <a:bodyPr vert="horz" lIns="91440" tIns="33020" rIns="91440" bIns="45720" rtlCol="0" anchor="ctr">
            <a:noAutofit/>
          </a:bodyPr>
          <a:lstStyle/>
          <a:p>
            <a:pPr marL="12700">
              <a:lnSpc>
                <a:spcPts val="4300"/>
              </a:lnSpc>
              <a:spcBef>
                <a:spcPts val="263"/>
              </a:spcBef>
            </a:pPr>
            <a:r>
              <a:rPr lang="en-US" altLang="en-US" sz="3600" dirty="0" smtClean="0">
                <a:latin typeface="Arial" panose="020B0604020202020204" pitchFamily="34" charset="0"/>
                <a:cs typeface="Arial" panose="020B0604020202020204" pitchFamily="34" charset="0"/>
              </a:rPr>
              <a:t>Dealing with Deadlock and Starvation</a:t>
            </a:r>
          </a:p>
        </p:txBody>
      </p:sp>
      <p:sp>
        <p:nvSpPr>
          <p:cNvPr id="3" name="object 3"/>
          <p:cNvSpPr txBox="1"/>
          <p:nvPr/>
        </p:nvSpPr>
        <p:spPr>
          <a:xfrm>
            <a:off x="540913" y="1533525"/>
            <a:ext cx="9353975" cy="4330673"/>
          </a:xfrm>
          <a:prstGeom prst="rect">
            <a:avLst/>
          </a:prstGeom>
        </p:spPr>
        <p:txBody>
          <a:bodyPr wrap="square" lIns="0" tIns="100330" rIns="0" bIns="0">
            <a:spAutoFit/>
          </a:bodyPr>
          <a:lstStyle>
            <a:lvl1pPr marL="355600" indent="-342900">
              <a:tabLst>
                <a:tab pos="354013" algn="l"/>
                <a:tab pos="355600" algn="l"/>
              </a:tabLst>
              <a:defRPr sz="2400">
                <a:solidFill>
                  <a:schemeClr val="tx1"/>
                </a:solidFill>
                <a:latin typeface="Arial" panose="020B0604020202020204" pitchFamily="34" charset="0"/>
              </a:defRPr>
            </a:lvl1pPr>
            <a:lvl2pPr marL="762000" indent="-292100">
              <a:tabLst>
                <a:tab pos="354013" algn="l"/>
                <a:tab pos="355600" algn="l"/>
              </a:tabLst>
              <a:defRPr sz="2400">
                <a:solidFill>
                  <a:schemeClr val="tx1"/>
                </a:solidFill>
                <a:latin typeface="Arial" panose="020B0604020202020204" pitchFamily="34" charset="0"/>
              </a:defRPr>
            </a:lvl2pPr>
            <a:lvl3pPr marL="1154113" indent="-228600">
              <a:tabLst>
                <a:tab pos="354013" algn="l"/>
                <a:tab pos="355600" algn="l"/>
              </a:tabLst>
              <a:defRPr sz="2400">
                <a:solidFill>
                  <a:schemeClr val="tx1"/>
                </a:solidFill>
                <a:latin typeface="Arial" panose="020B0604020202020204" pitchFamily="34" charset="0"/>
              </a:defRPr>
            </a:lvl3pPr>
            <a:lvl4pPr marL="1600200" indent="-228600">
              <a:tabLst>
                <a:tab pos="354013" algn="l"/>
                <a:tab pos="355600" algn="l"/>
              </a:tabLst>
              <a:defRPr sz="2400">
                <a:solidFill>
                  <a:schemeClr val="tx1"/>
                </a:solidFill>
                <a:latin typeface="Arial" panose="020B0604020202020204" pitchFamily="34" charset="0"/>
              </a:defRPr>
            </a:lvl4pPr>
            <a:lvl5pPr marL="2057400" indent="-228600">
              <a:tabLst>
                <a:tab pos="354013" algn="l"/>
                <a:tab pos="355600" algn="l"/>
              </a:tabLst>
              <a:defRPr sz="2400">
                <a:solidFill>
                  <a:schemeClr val="tx1"/>
                </a:solidFill>
                <a:latin typeface="Arial" panose="020B0604020202020204" pitchFamily="34" charset="0"/>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defRPr>
            </a:lvl9pPr>
          </a:lstStyle>
          <a:p>
            <a:pPr algn="just"/>
            <a:r>
              <a:rPr lang="en-US" b="1" dirty="0"/>
              <a:t>Deadlock Prevention</a:t>
            </a:r>
          </a:p>
          <a:p>
            <a:pPr lvl="0" algn="just"/>
            <a:r>
              <a:rPr lang="en-US" dirty="0"/>
              <a:t>Deadlock prevention method is suitable for a large database. If the resources are allocated in such a way that deadlock never occurs, then the deadlock can be prevented.</a:t>
            </a:r>
          </a:p>
          <a:p>
            <a:pPr algn="just"/>
            <a:r>
              <a:rPr lang="en-US" dirty="0"/>
              <a:t>The Database management system analyzes the operations of the transaction whether they can create a deadlock situation or not. If they do, then the DBMS never allowed that transaction to be executed </a:t>
            </a:r>
            <a:r>
              <a:rPr lang="en-US" dirty="0" smtClean="0"/>
              <a:t>.</a:t>
            </a:r>
          </a:p>
          <a:p>
            <a:pPr algn="just"/>
            <a:r>
              <a:rPr lang="en-US" altLang="en-US" dirty="0" smtClean="0">
                <a:solidFill>
                  <a:srgbClr val="333399"/>
                </a:solidFill>
                <a:cs typeface="Arial" panose="020B0604020202020204" pitchFamily="34" charset="0"/>
              </a:rPr>
              <a:t>Protocols </a:t>
            </a:r>
            <a:r>
              <a:rPr lang="en-US" altLang="en-US" dirty="0">
                <a:solidFill>
                  <a:srgbClr val="333399"/>
                </a:solidFill>
                <a:cs typeface="Arial" panose="020B0604020202020204" pitchFamily="34" charset="0"/>
              </a:rPr>
              <a:t>based on a timestamp</a:t>
            </a:r>
            <a:endParaRPr lang="en-US" altLang="en-US" dirty="0">
              <a:solidFill>
                <a:srgbClr val="000000"/>
              </a:solidFill>
              <a:cs typeface="Arial" panose="020B0604020202020204" pitchFamily="34" charset="0"/>
            </a:endParaRPr>
          </a:p>
          <a:p>
            <a:pPr lvl="1" algn="just">
              <a:spcBef>
                <a:spcPts val="638"/>
              </a:spcBef>
              <a:buClr>
                <a:srgbClr val="333399"/>
              </a:buClr>
              <a:buSzPct val="54000"/>
              <a:buFont typeface="Wingdings" panose="05000000000000000000" pitchFamily="2" charset="2"/>
              <a:buChar char=""/>
            </a:pPr>
            <a:r>
              <a:rPr lang="en-US" altLang="en-US" dirty="0">
                <a:solidFill>
                  <a:srgbClr val="800000"/>
                </a:solidFill>
                <a:cs typeface="Arial" panose="020B0604020202020204" pitchFamily="34" charset="0"/>
              </a:rPr>
              <a:t>Wait-die</a:t>
            </a:r>
            <a:endParaRPr lang="en-US" altLang="en-US" dirty="0">
              <a:solidFill>
                <a:srgbClr val="000000"/>
              </a:solidFill>
              <a:cs typeface="Arial" panose="020B0604020202020204" pitchFamily="34" charset="0"/>
            </a:endParaRPr>
          </a:p>
          <a:p>
            <a:pPr lvl="1" algn="just">
              <a:spcBef>
                <a:spcPts val="675"/>
              </a:spcBef>
              <a:buClr>
                <a:srgbClr val="333399"/>
              </a:buClr>
              <a:buSzPct val="54000"/>
              <a:buFont typeface="Wingdings" panose="05000000000000000000" pitchFamily="2" charset="2"/>
              <a:buChar char=""/>
            </a:pPr>
            <a:r>
              <a:rPr lang="en-US" altLang="en-US" dirty="0">
                <a:solidFill>
                  <a:srgbClr val="800000"/>
                </a:solidFill>
                <a:cs typeface="Arial" panose="020B0604020202020204" pitchFamily="34" charset="0"/>
              </a:rPr>
              <a:t>Wound-wait</a:t>
            </a:r>
            <a:endParaRPr lang="en-US" altLang="en-US" dirty="0">
              <a:solidFill>
                <a:srgbClr val="000000"/>
              </a:solidFill>
              <a:cs typeface="Arial" panose="020B0604020202020204" pitchFamily="34" charset="0"/>
            </a:endParaRPr>
          </a:p>
        </p:txBody>
      </p:sp>
      <p:sp>
        <p:nvSpPr>
          <p:cNvPr id="6" name="Slide Number Placeholder 5"/>
          <p:cNvSpPr>
            <a:spLocks noGrp="1"/>
          </p:cNvSpPr>
          <p:nvPr>
            <p:ph type="sldNum" sz="quarter" idx="12"/>
          </p:nvPr>
        </p:nvSpPr>
        <p:spPr/>
        <p:txBody>
          <a:bodyPr/>
          <a:lstStyle/>
          <a:p>
            <a:pPr>
              <a:defRPr/>
            </a:pPr>
            <a:r>
              <a:rPr lang="en-US" smtClean="0"/>
              <a:t>Slide </a:t>
            </a:r>
            <a:r>
              <a:rPr lang="en-US" spc="10"/>
              <a:t>21-</a:t>
            </a:r>
            <a:r>
              <a:rPr lang="en-US" spc="-200"/>
              <a:t> </a:t>
            </a:r>
            <a:fld id="{A88890A4-CE00-4183-8C77-53E66FC912BF}" type="slidenum">
              <a:rPr/>
              <a:pPr>
                <a:defRPr/>
              </a:pPr>
              <a:t>121</a:t>
            </a:fld>
            <a:endParaRPr/>
          </a:p>
        </p:txBody>
      </p:sp>
    </p:spTree>
    <p:extLst>
      <p:ext uri="{BB962C8B-B14F-4D97-AF65-F5344CB8AC3E}">
        <p14:creationId xmlns:p14="http://schemas.microsoft.com/office/powerpoint/2010/main" val="419192647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399246"/>
            <a:ext cx="10855818" cy="5777718"/>
          </a:xfrm>
        </p:spPr>
        <p:txBody>
          <a:bodyPr>
            <a:normAutofit fontScale="92500" lnSpcReduction="20000"/>
          </a:bodyPr>
          <a:lstStyle/>
          <a:p>
            <a:r>
              <a:rPr lang="en-US" dirty="0" smtClean="0">
                <a:solidFill>
                  <a:srgbClr val="FF0000"/>
                </a:solidFill>
              </a:rPr>
              <a:t>Wait-die :</a:t>
            </a:r>
          </a:p>
          <a:p>
            <a:r>
              <a:rPr lang="en-US" dirty="0"/>
              <a:t>In this scheme, if a transaction requests for a resource which is already held with a conflicting lock by another transaction then the DBMS simply checks the timestamp of both transactions. It allows </a:t>
            </a:r>
            <a:r>
              <a:rPr lang="en-US" b="1" dirty="0"/>
              <a:t>the older transaction to wait until the resource is available for execution.</a:t>
            </a:r>
          </a:p>
          <a:p>
            <a:r>
              <a:rPr lang="en-US" dirty="0"/>
              <a:t>Let's assume there are two transactions Ti and Tj and let TS(T) is a timestamp of any transaction T. If T2 holds a lock by some other transaction and T1 is requesting for resources held by T2 then the following actions are performed by DBMS:</a:t>
            </a:r>
          </a:p>
          <a:p>
            <a:pPr lvl="0"/>
            <a:r>
              <a:rPr lang="en-US" dirty="0"/>
              <a:t>Check if TS(Ti) &lt; TS (Tj) - If Ti is the older transaction and Tj has held some resource, then Ti is allowed to wait until the data-item is available for execution. That means if the older transaction is waiting for a resource which is locked by the younger transaction, then the older transaction is allowed to wait for resource until it is available.</a:t>
            </a:r>
          </a:p>
          <a:p>
            <a:pPr lvl="0"/>
            <a:r>
              <a:rPr lang="en-US" dirty="0"/>
              <a:t>Check if TS(T</a:t>
            </a:r>
            <a:r>
              <a:rPr lang="en-US" baseline="-25000" dirty="0"/>
              <a:t>i</a:t>
            </a:r>
            <a:r>
              <a:rPr lang="en-US" dirty="0"/>
              <a:t>) &lt; TS(Tj) - If Ti is older transaction and has held some resource and if Tj is waiting for it, then Tj is killed and restarted later with the random delay but with the same timestamp.</a:t>
            </a:r>
          </a:p>
          <a:p>
            <a:endParaRPr lang="en-US" dirty="0"/>
          </a:p>
        </p:txBody>
      </p:sp>
    </p:spTree>
    <p:extLst>
      <p:ext uri="{BB962C8B-B14F-4D97-AF65-F5344CB8AC3E}">
        <p14:creationId xmlns:p14="http://schemas.microsoft.com/office/powerpoint/2010/main" val="6262406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78039"/>
            <a:ext cx="10515600" cy="4224270"/>
          </a:xfrm>
        </p:spPr>
        <p:txBody>
          <a:bodyPr/>
          <a:lstStyle/>
          <a:p>
            <a:pPr algn="just"/>
            <a:r>
              <a:rPr lang="en-US" dirty="0"/>
              <a:t>Wound wait scheme</a:t>
            </a:r>
            <a:endParaRPr lang="en-US" b="1" dirty="0"/>
          </a:p>
          <a:p>
            <a:pPr lvl="0" algn="just"/>
            <a:r>
              <a:rPr lang="en-US" dirty="0"/>
              <a:t>In wound wait scheme, if the older transaction requests for a resource which is held by the younger transaction, then older transaction forces younger one to kill the transaction and release the resource. After the minute delay, the younger transaction is restarted but with the same timestamp.</a:t>
            </a:r>
          </a:p>
          <a:p>
            <a:pPr lvl="0" algn="just"/>
            <a:r>
              <a:rPr lang="en-US" dirty="0"/>
              <a:t>If the older transaction has held a resource which is requested by the Younger transaction, then the younger transaction is asked to wait until older releases it.</a:t>
            </a:r>
          </a:p>
          <a:p>
            <a:pPr algn="just"/>
            <a:endParaRPr lang="en-US" dirty="0"/>
          </a:p>
        </p:txBody>
      </p:sp>
    </p:spTree>
    <p:extLst>
      <p:ext uri="{BB962C8B-B14F-4D97-AF65-F5344CB8AC3E}">
        <p14:creationId xmlns:p14="http://schemas.microsoft.com/office/powerpoint/2010/main" val="192863987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618186"/>
            <a:ext cx="10714149" cy="5558777"/>
          </a:xfrm>
        </p:spPr>
        <p:txBody>
          <a:bodyPr/>
          <a:lstStyle/>
          <a:p>
            <a:r>
              <a:rPr lang="en-US" dirty="0">
                <a:solidFill>
                  <a:srgbClr val="FF0000"/>
                </a:solidFill>
              </a:rPr>
              <a:t>wait-die </a:t>
            </a:r>
            <a:r>
              <a:rPr lang="en-US" dirty="0" smtClean="0">
                <a:solidFill>
                  <a:srgbClr val="FF0000"/>
                </a:solidFill>
              </a:rPr>
              <a:t>:</a:t>
            </a:r>
          </a:p>
          <a:p>
            <a:r>
              <a:rPr lang="en-US" dirty="0" smtClean="0"/>
              <a:t>When </a:t>
            </a:r>
            <a:r>
              <a:rPr lang="en-US" dirty="0"/>
              <a:t>transaction Ti requests a data item currently held by Tj  Ti is allowed to wait only if it has a timestamp smaller than that of Tj (that is, Ti is older than Tj ). Otherwise, Ti is rolled back (dies). This is </a:t>
            </a:r>
            <a:r>
              <a:rPr lang="en-US" dirty="0" smtClean="0">
                <a:solidFill>
                  <a:srgbClr val="FF0000"/>
                </a:solidFill>
              </a:rPr>
              <a:t>wait-die</a:t>
            </a:r>
            <a:r>
              <a:rPr lang="en-US" dirty="0" smtClean="0"/>
              <a:t>.</a:t>
            </a:r>
          </a:p>
          <a:p>
            <a:r>
              <a:rPr lang="en-US" dirty="0" smtClean="0">
                <a:solidFill>
                  <a:srgbClr val="FF0000"/>
                </a:solidFill>
              </a:rPr>
              <a:t>wound-wait:</a:t>
            </a:r>
            <a:endParaRPr lang="en-US" dirty="0">
              <a:solidFill>
                <a:srgbClr val="FF0000"/>
              </a:solidFill>
            </a:endParaRPr>
          </a:p>
          <a:p>
            <a:pPr lvl="0"/>
            <a:r>
              <a:rPr lang="en-US" dirty="0" smtClean="0"/>
              <a:t>When </a:t>
            </a:r>
            <a:r>
              <a:rPr lang="en-US" dirty="0"/>
              <a:t>transaction Ti requests a data item currently held by Tj , Ti is allowed to wait only if it has a timestamp larger than that of Tj (that is, Ti is younger than Tj ). Otherwise, Tj is rolled back (Tj is wounded by Ti ). This is  </a:t>
            </a:r>
            <a:r>
              <a:rPr lang="en-US" dirty="0" smtClean="0">
                <a:solidFill>
                  <a:srgbClr val="FF0000"/>
                </a:solidFill>
              </a:rPr>
              <a:t>wound-wait.</a:t>
            </a:r>
            <a:endParaRPr lang="en-US" dirty="0">
              <a:solidFill>
                <a:srgbClr val="FF0000"/>
              </a:solidFill>
            </a:endParaRPr>
          </a:p>
          <a:p>
            <a:endParaRPr lang="en-US" dirty="0"/>
          </a:p>
        </p:txBody>
      </p:sp>
    </p:spTree>
    <p:extLst>
      <p:ext uri="{BB962C8B-B14F-4D97-AF65-F5344CB8AC3E}">
        <p14:creationId xmlns:p14="http://schemas.microsoft.com/office/powerpoint/2010/main" val="31619941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1057</TotalTime>
  <Words>5928</Words>
  <Application>Microsoft Office PowerPoint</Application>
  <PresentationFormat>Widescreen</PresentationFormat>
  <Paragraphs>784</Paragraphs>
  <Slides>124</Slides>
  <Notes>23</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124</vt:i4>
      </vt:variant>
    </vt:vector>
  </HeadingPairs>
  <TitlesOfParts>
    <vt:vector size="136" baseType="lpstr">
      <vt:lpstr>MS PGothic</vt:lpstr>
      <vt:lpstr>Arial</vt:lpstr>
      <vt:lpstr>Arimo</vt:lpstr>
      <vt:lpstr>Calibri</vt:lpstr>
      <vt:lpstr>Calibri Light</vt:lpstr>
      <vt:lpstr>roboto condensed</vt:lpstr>
      <vt:lpstr>Segoe UI</vt:lpstr>
      <vt:lpstr>Symbol</vt:lpstr>
      <vt:lpstr>Tahoma</vt:lpstr>
      <vt:lpstr>Times New Roman</vt:lpstr>
      <vt:lpstr>Wingdings</vt:lpstr>
      <vt:lpstr>Office Theme</vt:lpstr>
      <vt:lpstr> Transaction Processing &amp; Concurrency Control </vt:lpstr>
      <vt:lpstr> Introduction to Transaction Processing</vt:lpstr>
      <vt:lpstr>Introduction to Transaction Processing :</vt:lpstr>
      <vt:lpstr>Introduction to Transaction Processing:</vt:lpstr>
      <vt:lpstr>PowerPoint Presentation</vt:lpstr>
      <vt:lpstr>PowerPoint Presentation</vt:lpstr>
      <vt:lpstr>Two sample transactions</vt:lpstr>
      <vt:lpstr>2 Transaction and System Concepts (1)</vt:lpstr>
      <vt:lpstr>PowerPoint Presentation</vt:lpstr>
      <vt:lpstr>PowerPoint Presentation</vt:lpstr>
      <vt:lpstr>Transaction and System Concepts (4)</vt:lpstr>
      <vt:lpstr>State transition diagram illustrating the states for transaction execution</vt:lpstr>
      <vt:lpstr>Properties of Transactions</vt:lpstr>
      <vt:lpstr>3 Desirable Properties of Transactions (1)</vt:lpstr>
      <vt:lpstr>PowerPoint Presentation</vt:lpstr>
      <vt:lpstr>Concurrent Executions</vt:lpstr>
      <vt:lpstr>PowerPoint Presentation</vt:lpstr>
      <vt:lpstr>Problems with Concurrent Execution </vt:lpstr>
      <vt:lpstr>Lost Update Problems (W - W Conflict) </vt:lpstr>
      <vt:lpstr>PowerPoint Presentation</vt:lpstr>
      <vt:lpstr>Dirty Read Problems (W-R Conflict) </vt:lpstr>
      <vt:lpstr>PowerPoint Presentation</vt:lpstr>
      <vt:lpstr>Unrepeatable Read Problem (W-R Conflict)</vt:lpstr>
      <vt:lpstr>PowerPoint Presentation</vt:lpstr>
      <vt:lpstr>The Blind Write Problem </vt:lpstr>
      <vt:lpstr>Phantom Read Problem- </vt:lpstr>
      <vt:lpstr>PowerPoint Presentation</vt:lpstr>
      <vt:lpstr>PowerPoint Presentation</vt:lpstr>
      <vt:lpstr>Introduction to Transaction Processing</vt:lpstr>
      <vt:lpstr>Introduction to Transaction Processing</vt:lpstr>
      <vt:lpstr>Introduction to Transaction Processing</vt:lpstr>
      <vt:lpstr>Transaction and System Concepts</vt:lpstr>
      <vt:lpstr>PowerPoint Presentation</vt:lpstr>
      <vt:lpstr>PowerPoint Presentation</vt:lpstr>
      <vt:lpstr>PowerPoint Presentation</vt:lpstr>
      <vt:lpstr>Schedules</vt:lpstr>
      <vt:lpstr>PowerPoint Presentation</vt:lpstr>
      <vt:lpstr>PowerPoint Presentation</vt:lpstr>
      <vt:lpstr>Non-Serial Schedules- </vt:lpstr>
      <vt:lpstr>PowerPoint Presentation</vt:lpstr>
      <vt:lpstr>PowerPoint Presentation</vt:lpstr>
      <vt:lpstr>PowerPoint Presentation</vt:lpstr>
      <vt:lpstr>Serializability in DBMS- </vt:lpstr>
      <vt:lpstr>PowerPoint Presentation</vt:lpstr>
      <vt:lpstr>PowerPoint Presentation</vt:lpstr>
      <vt:lpstr>PowerPoint Presentation</vt:lpstr>
      <vt:lpstr>Testing Conflict Serializability</vt:lpstr>
      <vt:lpstr>Testing Conflict Serializability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View Serializability-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Non-Serializable Schedules</vt:lpstr>
      <vt:lpstr>PowerPoint Presentation</vt:lpstr>
      <vt:lpstr>Recoverable Schedules- </vt:lpstr>
      <vt:lpstr>PowerPoint Presentation</vt:lpstr>
      <vt:lpstr>Checking Whether a Schedule is Recoverable or Irrecoverable-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Concurrency Control</vt:lpstr>
      <vt:lpstr>Lock-Based Protocol </vt:lpstr>
      <vt:lpstr>Lock based Concurrency Control</vt:lpstr>
      <vt:lpstr>Binary Lock</vt:lpstr>
      <vt:lpstr>Binary Lock</vt:lpstr>
      <vt:lpstr>Shared &amp; Exclusive Lock</vt:lpstr>
      <vt:lpstr>Shared Lock</vt:lpstr>
      <vt:lpstr>Exclusive Lock</vt:lpstr>
      <vt:lpstr>Shared Lock Algorithm</vt:lpstr>
      <vt:lpstr>Shared Lock Algorithm unlocking</vt:lpstr>
      <vt:lpstr>Exclusive Lock Algorithm</vt:lpstr>
      <vt:lpstr>PowerPoint Presentation</vt:lpstr>
      <vt:lpstr>Lock compatibility matrix</vt:lpstr>
      <vt:lpstr>Two-  Phase Locking</vt:lpstr>
      <vt:lpstr>PowerPoint Presentation</vt:lpstr>
      <vt:lpstr>Variations of Two-Phase Locking</vt:lpstr>
      <vt:lpstr>Deadlocks</vt:lpstr>
      <vt:lpstr>Deadlocks</vt:lpstr>
      <vt:lpstr>Deadlocks</vt:lpstr>
      <vt:lpstr>PowerPoint Presentation</vt:lpstr>
      <vt:lpstr>PowerPoint Presentation</vt:lpstr>
      <vt:lpstr>Deadlock Detection using wait for graph</vt:lpstr>
      <vt:lpstr>Deadlock Detection using wait for graph</vt:lpstr>
      <vt:lpstr>Deadlock Detection using wait for graph</vt:lpstr>
      <vt:lpstr>Dealing with Deadlock and Starvation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Concurrent Execution in DBMS</dc:title>
  <dc:creator>Mahendran</dc:creator>
  <cp:lastModifiedBy>Sreevidya</cp:lastModifiedBy>
  <cp:revision>85</cp:revision>
  <dcterms:created xsi:type="dcterms:W3CDTF">2022-12-13T06:05:21Z</dcterms:created>
  <dcterms:modified xsi:type="dcterms:W3CDTF">2023-11-15T08:35:48Z</dcterms:modified>
</cp:coreProperties>
</file>