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30"/>
  </p:notesMasterIdLst>
  <p:sldIdLst>
    <p:sldId id="256" r:id="rId3"/>
    <p:sldId id="273" r:id="rId4"/>
    <p:sldId id="257" r:id="rId5"/>
    <p:sldId id="258" r:id="rId6"/>
    <p:sldId id="260" r:id="rId7"/>
    <p:sldId id="274" r:id="rId8"/>
    <p:sldId id="275" r:id="rId9"/>
    <p:sldId id="276" r:id="rId10"/>
    <p:sldId id="261" r:id="rId11"/>
    <p:sldId id="268" r:id="rId12"/>
    <p:sldId id="269" r:id="rId13"/>
    <p:sldId id="271" r:id="rId14"/>
    <p:sldId id="270" r:id="rId15"/>
    <p:sldId id="278" r:id="rId16"/>
    <p:sldId id="264" r:id="rId17"/>
    <p:sldId id="265" r:id="rId18"/>
    <p:sldId id="266" r:id="rId19"/>
    <p:sldId id="286" r:id="rId20"/>
    <p:sldId id="279" r:id="rId21"/>
    <p:sldId id="262" r:id="rId22"/>
    <p:sldId id="277" r:id="rId23"/>
    <p:sldId id="263" r:id="rId24"/>
    <p:sldId id="283" r:id="rId25"/>
    <p:sldId id="284" r:id="rId26"/>
    <p:sldId id="285" r:id="rId27"/>
    <p:sldId id="282" r:id="rId28"/>
    <p:sldId id="28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057ED9-B609-6B98-C227-B08CBAAD10F2}" v="1" dt="2025-11-13T16:56:34.539"/>
    <p1510:client id="{8BA63358-F899-D168-CAAA-CB243C467330}" v="6" dt="2025-11-12T18:59:36.3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ebbbcd62-c0a9-46ff-a92c-5f2300087164::" providerId="AD" clId="Web-{E6010BA3-704C-90A9-1FA0-2D17F986BC3D}"/>
    <pc:docChg chg="modSld">
      <pc:chgData name="Guest User" userId="S::urn:spo:tenantanon#ebbbcd62-c0a9-46ff-a92c-5f2300087164::" providerId="AD" clId="Web-{E6010BA3-704C-90A9-1FA0-2D17F986BC3D}" dt="2025-10-31T06:06:28.239" v="0"/>
      <pc:docMkLst>
        <pc:docMk/>
      </pc:docMkLst>
      <pc:sldChg chg="delSp">
        <pc:chgData name="Guest User" userId="S::urn:spo:tenantanon#ebbbcd62-c0a9-46ff-a92c-5f2300087164::" providerId="AD" clId="Web-{E6010BA3-704C-90A9-1FA0-2D17F986BC3D}" dt="2025-10-31T06:06:28.239" v="0"/>
        <pc:sldMkLst>
          <pc:docMk/>
          <pc:sldMk cId="1515364753" sldId="282"/>
        </pc:sldMkLst>
      </pc:sldChg>
    </pc:docChg>
  </pc:docChgLst>
  <pc:docChgLst>
    <pc:chgData name="S RUHIKA SAI-[BL.SC.U4CSE24157]" userId="S::bl.sc.u4cse24157@bl.students.amrita.edu::b82f4d49-434b-4c06-ae21-61c835f8af3d" providerId="AD" clId="Web-{8BA63358-F899-D168-CAAA-CB243C467330}"/>
    <pc:docChg chg="addSld delSld">
      <pc:chgData name="S RUHIKA SAI-[BL.SC.U4CSE24157]" userId="S::bl.sc.u4cse24157@bl.students.amrita.edu::b82f4d49-434b-4c06-ae21-61c835f8af3d" providerId="AD" clId="Web-{8BA63358-F899-D168-CAAA-CB243C467330}" dt="2025-11-12T18:59:36.302" v="5"/>
      <pc:docMkLst>
        <pc:docMk/>
      </pc:docMkLst>
      <pc:sldChg chg="new del">
        <pc:chgData name="S RUHIKA SAI-[BL.SC.U4CSE24157]" userId="S::bl.sc.u4cse24157@bl.students.amrita.edu::b82f4d49-434b-4c06-ae21-61c835f8af3d" providerId="AD" clId="Web-{8BA63358-F899-D168-CAAA-CB243C467330}" dt="2025-11-12T18:59:36.302" v="5"/>
        <pc:sldMkLst>
          <pc:docMk/>
          <pc:sldMk cId="2390779048" sldId="287"/>
        </pc:sldMkLst>
      </pc:sldChg>
      <pc:sldChg chg="new del">
        <pc:chgData name="S RUHIKA SAI-[BL.SC.U4CSE24157]" userId="S::bl.sc.u4cse24157@bl.students.amrita.edu::b82f4d49-434b-4c06-ae21-61c835f8af3d" providerId="AD" clId="Web-{8BA63358-F899-D168-CAAA-CB243C467330}" dt="2025-11-12T18:59:32.146" v="4"/>
        <pc:sldMkLst>
          <pc:docMk/>
          <pc:sldMk cId="2009354145" sldId="288"/>
        </pc:sldMkLst>
      </pc:sldChg>
      <pc:sldChg chg="new del">
        <pc:chgData name="S RUHIKA SAI-[BL.SC.U4CSE24157]" userId="S::bl.sc.u4cse24157@bl.students.amrita.edu::b82f4d49-434b-4c06-ae21-61c835f8af3d" providerId="AD" clId="Web-{8BA63358-F899-D168-CAAA-CB243C467330}" dt="2025-11-12T18:59:32.130" v="3"/>
        <pc:sldMkLst>
          <pc:docMk/>
          <pc:sldMk cId="4187550543" sldId="289"/>
        </pc:sldMkLst>
      </pc:sldChg>
    </pc:docChg>
  </pc:docChgLst>
  <pc:docChgLst>
    <pc:chgData name="Guest User" userId="S::urn:spo:tenantanon#ebbbcd62-c0a9-46ff-a92c-5f2300087164::" providerId="AD" clId="Web-{41057ED9-B609-6B98-C227-B08CBAAD10F2}"/>
    <pc:docChg chg="modSld">
      <pc:chgData name="Guest User" userId="S::urn:spo:tenantanon#ebbbcd62-c0a9-46ff-a92c-5f2300087164::" providerId="AD" clId="Web-{41057ED9-B609-6B98-C227-B08CBAAD10F2}" dt="2025-11-13T16:56:34.539" v="0" actId="1076"/>
      <pc:docMkLst>
        <pc:docMk/>
      </pc:docMkLst>
      <pc:sldChg chg="modSp">
        <pc:chgData name="Guest User" userId="S::urn:spo:tenantanon#ebbbcd62-c0a9-46ff-a92c-5f2300087164::" providerId="AD" clId="Web-{41057ED9-B609-6B98-C227-B08CBAAD10F2}" dt="2025-11-13T16:56:34.539" v="0" actId="1076"/>
        <pc:sldMkLst>
          <pc:docMk/>
          <pc:sldMk cId="1368968723" sldId="256"/>
        </pc:sldMkLst>
        <pc:spChg chg="mod">
          <ac:chgData name="Guest User" userId="S::urn:spo:tenantanon#ebbbcd62-c0a9-46ff-a92c-5f2300087164::" providerId="AD" clId="Web-{41057ED9-B609-6B98-C227-B08CBAAD10F2}" dt="2025-11-13T16:56:34.539" v="0" actId="1076"/>
          <ac:spMkLst>
            <pc:docMk/>
            <pc:sldMk cId="1368968723"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3A6A6-94DB-4E69-A51D-AC6BAED101D1}"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2563FF-343A-44BD-9B8C-89792099181F}" type="slidenum">
              <a:rPr lang="en-US" smtClean="0"/>
              <a:t>‹#›</a:t>
            </a:fld>
            <a:endParaRPr lang="en-US"/>
          </a:p>
        </p:txBody>
      </p:sp>
    </p:spTree>
    <p:extLst>
      <p:ext uri="{BB962C8B-B14F-4D97-AF65-F5344CB8AC3E}">
        <p14:creationId xmlns:p14="http://schemas.microsoft.com/office/powerpoint/2010/main" val="2442637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CBD4EF-3056-4B97-9556-2B5E2B0ECB07}"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pic>
        <p:nvPicPr>
          <p:cNvPr id="7" name="Picture 6" descr="G:\School\AVV logo\Amrita-colr.jpg"/>
          <p:cNvPicPr>
            <a:picLocks noChangeAspect="1" noChangeArrowheads="1"/>
          </p:cNvPicPr>
          <p:nvPr userDrawn="1"/>
        </p:nvPicPr>
        <p:blipFill>
          <a:blip r:embed="rId2" cstate="print"/>
          <a:srcRect/>
          <a:stretch>
            <a:fillRect/>
          </a:stretch>
        </p:blipFill>
        <p:spPr bwMode="auto">
          <a:xfrm>
            <a:off x="9735213" y="175475"/>
            <a:ext cx="2303462" cy="685800"/>
          </a:xfrm>
          <a:prstGeom prst="rect">
            <a:avLst/>
          </a:prstGeom>
          <a:noFill/>
          <a:ln w="9525">
            <a:noFill/>
            <a:miter lim="800000"/>
            <a:headEnd/>
            <a:tailEnd/>
          </a:ln>
        </p:spPr>
      </p:pic>
    </p:spTree>
    <p:extLst>
      <p:ext uri="{BB962C8B-B14F-4D97-AF65-F5344CB8AC3E}">
        <p14:creationId xmlns:p14="http://schemas.microsoft.com/office/powerpoint/2010/main" val="4224720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9E79CC-A6B8-4C49-AF34-96484E9A19DF}" type="datetime1">
              <a:rPr lang="en-US" smtClean="0"/>
              <a:t>11/13/2025</a:t>
            </a:fld>
            <a:endParaRPr lang="en-US"/>
          </a:p>
        </p:txBody>
      </p:sp>
      <p:sp>
        <p:nvSpPr>
          <p:cNvPr id="8" name="Footer Placeholder 7"/>
          <p:cNvSpPr>
            <a:spLocks noGrp="1"/>
          </p:cNvSpPr>
          <p:nvPr>
            <p:ph type="ftr" sz="quarter" idx="11"/>
          </p:nvPr>
        </p:nvSpPr>
        <p:spPr/>
        <p:txBody>
          <a:bodyPr/>
          <a:lstStyle/>
          <a:p>
            <a:r>
              <a:rPr lang="en-US"/>
              <a:t>19ECE204/Digital Electronics &amp; Systems, III Semester, B. Tech. (ECE and CSE)</a:t>
            </a:r>
          </a:p>
        </p:txBody>
      </p:sp>
      <p:sp>
        <p:nvSpPr>
          <p:cNvPr id="9" name="Slide Number Placeholder 8"/>
          <p:cNvSpPr>
            <a:spLocks noGrp="1"/>
          </p:cNvSpPr>
          <p:nvPr>
            <p:ph type="sldNum" sz="quarter" idx="12"/>
          </p:nvPr>
        </p:nvSpPr>
        <p:spPr/>
        <p:txBody>
          <a:bodyPr/>
          <a:lstStyle/>
          <a:p>
            <a:fld id="{84075514-8565-4B1F-808F-4A3F55E508C2}" type="slidenum">
              <a:rPr lang="en-US" smtClean="0"/>
              <a:t>‹#›</a:t>
            </a:fld>
            <a:endParaRPr lang="en-US"/>
          </a:p>
        </p:txBody>
      </p:sp>
      <p:pic>
        <p:nvPicPr>
          <p:cNvPr id="11" name="Picture 10" descr="G:\School\AVV logo\Amrita-colr.jpg"/>
          <p:cNvPicPr>
            <a:picLocks noChangeAspect="1" noChangeArrowheads="1"/>
          </p:cNvPicPr>
          <p:nvPr userDrawn="1"/>
        </p:nvPicPr>
        <p:blipFill>
          <a:blip r:embed="rId2" cstate="print"/>
          <a:srcRect/>
          <a:stretch>
            <a:fillRect/>
          </a:stretch>
        </p:blipFill>
        <p:spPr bwMode="auto">
          <a:xfrm>
            <a:off x="9735213" y="175475"/>
            <a:ext cx="2303462" cy="685800"/>
          </a:xfrm>
          <a:prstGeom prst="rect">
            <a:avLst/>
          </a:prstGeom>
          <a:noFill/>
          <a:ln w="9525">
            <a:noFill/>
            <a:miter lim="800000"/>
            <a:headEnd/>
            <a:tailEnd/>
          </a:ln>
        </p:spPr>
      </p:pic>
    </p:spTree>
    <p:extLst>
      <p:ext uri="{BB962C8B-B14F-4D97-AF65-F5344CB8AC3E}">
        <p14:creationId xmlns:p14="http://schemas.microsoft.com/office/powerpoint/2010/main" val="2347408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D642D4-807D-420D-80A1-F35452B67CB3}"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3438387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08250D6-8969-4F90-B501-B02EAEAED0F4}" type="datetime1">
              <a:rPr lang="en-US" smtClean="0"/>
              <a:t>11/13/2025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60784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D281B8-BBF3-434A-93B1-CF08EA714994}" type="datetime1">
              <a:rPr lang="en-US" smtClean="0"/>
              <a:t>11/13/2025</a:t>
            </a:fld>
            <a:endParaRPr lang="en-US"/>
          </a:p>
        </p:txBody>
      </p:sp>
      <p:sp>
        <p:nvSpPr>
          <p:cNvPr id="8" name="Footer Placeholder 7"/>
          <p:cNvSpPr>
            <a:spLocks noGrp="1"/>
          </p:cNvSpPr>
          <p:nvPr>
            <p:ph type="ftr" sz="quarter" idx="11"/>
          </p:nvPr>
        </p:nvSpPr>
        <p:spPr/>
        <p:txBody>
          <a:bodyPr/>
          <a:lstStyle/>
          <a:p>
            <a:r>
              <a:rPr lang="en-US"/>
              <a:t>19ECE204/Digital Electronics &amp; Systems, III Semester, B. Tech. (ECE and CSE)</a:t>
            </a:r>
          </a:p>
        </p:txBody>
      </p:sp>
      <p:sp>
        <p:nvSpPr>
          <p:cNvPr id="9" name="Slide Number Placeholder 8"/>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3507722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330E48-BE2D-4AA2-A0EB-9EA694F21726}" type="datetime1">
              <a:rPr lang="en-US" smtClean="0"/>
              <a:t>11/13/2025</a:t>
            </a:fld>
            <a:endParaRPr lang="en-US"/>
          </a:p>
        </p:txBody>
      </p:sp>
      <p:sp>
        <p:nvSpPr>
          <p:cNvPr id="4" name="Footer Placeholder 3"/>
          <p:cNvSpPr>
            <a:spLocks noGrp="1"/>
          </p:cNvSpPr>
          <p:nvPr>
            <p:ph type="ftr" sz="quarter" idx="11"/>
          </p:nvPr>
        </p:nvSpPr>
        <p:spPr/>
        <p:txBody>
          <a:bodyPr/>
          <a:lstStyle/>
          <a:p>
            <a:r>
              <a:rPr lang="en-US"/>
              <a:t>19ECE204/Digital Electronics &amp; Systems, III Semester, B. Tech. (ECE and CSE)</a:t>
            </a:r>
          </a:p>
        </p:txBody>
      </p:sp>
      <p:sp>
        <p:nvSpPr>
          <p:cNvPr id="5" name="Slide Number Placeholder 4"/>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1498872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AFC3D-4387-49FD-A45B-F652CB747E05}" type="datetime1">
              <a:rPr lang="en-US" smtClean="0"/>
              <a:t>11/13/2025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2014275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E528F30-94FE-4D3B-B1BE-8F01BBC3B0D5}" type="datetime1">
              <a:rPr lang="en-US" smtClean="0"/>
              <a:t>11/13/2025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2762560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83D5117-E551-4A2E-9BBE-E73A17A8D695}" type="datetime1">
              <a:rPr lang="en-US" smtClean="0"/>
              <a:t>11/13/2025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3050265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8979C2-1AA3-431E-BDAF-BD3D286FD147}"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1195168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7B5EEE-2FDC-495F-9583-E05CE03C685D}"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a:t>
            </a:fld>
            <a:endParaRPr lang="en-US"/>
          </a:p>
        </p:txBody>
      </p:sp>
    </p:spTree>
    <p:extLst>
      <p:ext uri="{BB962C8B-B14F-4D97-AF65-F5344CB8AC3E}">
        <p14:creationId xmlns:p14="http://schemas.microsoft.com/office/powerpoint/2010/main" val="123188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1C4116F-E6DB-45FA-8550-946574418C50}"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3560667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9CAAD-A33B-4E51-A45C-933544C1C87A}"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0478401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9A620A9-077A-43BA-B166-40E9CA25818D}"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109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91FE07F-ED13-4319-B417-C7202829986A}" type="datetime1">
              <a:rPr lang="en-US" smtClean="0"/>
              <a:t>11/13/2025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1129111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B8FF0C-C765-443E-9334-3170E3AFC63E}" type="datetime1">
              <a:rPr lang="en-US" smtClean="0"/>
              <a:t>11/13/2025</a:t>
            </a:fld>
            <a:endParaRPr lang="en-US"/>
          </a:p>
        </p:txBody>
      </p:sp>
      <p:sp>
        <p:nvSpPr>
          <p:cNvPr id="8" name="Footer Placeholder 7"/>
          <p:cNvSpPr>
            <a:spLocks noGrp="1"/>
          </p:cNvSpPr>
          <p:nvPr>
            <p:ph type="ftr" sz="quarter" idx="11"/>
          </p:nvPr>
        </p:nvSpPr>
        <p:spPr/>
        <p:txBody>
          <a:bodyPr/>
          <a:lstStyle/>
          <a:p>
            <a:r>
              <a:rPr lang="en-US"/>
              <a:t>19ECE204/Digital Electronics &amp; Systems, III Semester, B. Tech. (ECE and CSE)</a:t>
            </a:r>
          </a:p>
        </p:txBody>
      </p:sp>
      <p:sp>
        <p:nvSpPr>
          <p:cNvPr id="9" name="Slide Number Placeholder 8"/>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635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9597AC9-1F9E-4900-AADC-FC5AFB2FEEDF}" type="datetime1">
              <a:rPr lang="en-US" smtClean="0"/>
              <a:t>11/13/2025</a:t>
            </a:fld>
            <a:endParaRPr lang="en-US"/>
          </a:p>
        </p:txBody>
      </p:sp>
      <p:sp>
        <p:nvSpPr>
          <p:cNvPr id="4" name="Footer Placeholder 3"/>
          <p:cNvSpPr>
            <a:spLocks noGrp="1"/>
          </p:cNvSpPr>
          <p:nvPr>
            <p:ph type="ftr" sz="quarter" idx="11"/>
          </p:nvPr>
        </p:nvSpPr>
        <p:spPr/>
        <p:txBody>
          <a:bodyPr/>
          <a:lstStyle/>
          <a:p>
            <a:r>
              <a:rPr lang="en-US"/>
              <a:t>19ECE204/Digital Electronics &amp; Systems, III Semester, B. Tech. (ECE and CSE)</a:t>
            </a:r>
          </a:p>
        </p:txBody>
      </p:sp>
      <p:sp>
        <p:nvSpPr>
          <p:cNvPr id="5" name="Slide Number Placeholder 4"/>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14304955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E8E0F-664B-47D0-919C-32EC9C78FCD1}" type="datetime1">
              <a:rPr lang="en-US" smtClean="0"/>
              <a:t>11/13/2025</a:t>
            </a:fld>
            <a:endParaRPr lang="en-US"/>
          </a:p>
        </p:txBody>
      </p:sp>
      <p:sp>
        <p:nvSpPr>
          <p:cNvPr id="3" name="Footer Placeholder 2"/>
          <p:cNvSpPr>
            <a:spLocks noGrp="1"/>
          </p:cNvSpPr>
          <p:nvPr>
            <p:ph type="ftr" sz="quarter" idx="11"/>
          </p:nvPr>
        </p:nvSpPr>
        <p:spPr/>
        <p:txBody>
          <a:bodyPr/>
          <a:lstStyle/>
          <a:p>
            <a:r>
              <a:rPr lang="en-US"/>
              <a:t>19ECE204/Digital Electronics &amp; Systems, III Semester, B. Tech. (ECE and CSE)</a:t>
            </a:r>
          </a:p>
        </p:txBody>
      </p:sp>
      <p:sp>
        <p:nvSpPr>
          <p:cNvPr id="4" name="Slide Number Placeholder 3"/>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7758743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1BAE3EE-ECF8-4108-B490-C0B7EB305B59}" type="datetime1">
              <a:rPr lang="en-US" smtClean="0"/>
              <a:t>11/13/2025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4566409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5DC9BC-885C-4B56-B552-275307930026}" type="datetime1">
              <a:rPr lang="en-US" smtClean="0"/>
              <a:t>11/13/2025</a:t>
            </a:fld>
            <a:endParaRPr lang="en-US"/>
          </a:p>
        </p:txBody>
      </p:sp>
      <p:sp>
        <p:nvSpPr>
          <p:cNvPr id="6" name="Footer Placeholder 5"/>
          <p:cNvSpPr>
            <a:spLocks noGrp="1"/>
          </p:cNvSpPr>
          <p:nvPr>
            <p:ph type="ftr" sz="quarter" idx="11"/>
          </p:nvPr>
        </p:nvSpPr>
        <p:spPr/>
        <p:txBody>
          <a:bodyPr/>
          <a:lstStyle/>
          <a:p>
            <a:r>
              <a:rPr lang="en-US"/>
              <a:t>19ECE204/Digital Electronics &amp; Systems, III Semester, B. Tech. (ECE and CSE)</a:t>
            </a:r>
          </a:p>
        </p:txBody>
      </p:sp>
      <p:sp>
        <p:nvSpPr>
          <p:cNvPr id="7" name="Slide Number Placeholder 6"/>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4060958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004F65-FBD5-4097-9DE2-B18DD8E779F9}"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2165253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E39265-B67A-4D8D-8B1B-E501B4F16AF9}"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238CEE4-497A-46F1-9B46-31574AD5C85A}" type="slidenum">
              <a:rPr lang="en-US" smtClean="0"/>
              <a:t>‹#›</a:t>
            </a:fld>
            <a:endParaRPr lang="en-US"/>
          </a:p>
        </p:txBody>
      </p:sp>
    </p:spTree>
    <p:extLst>
      <p:ext uri="{BB962C8B-B14F-4D97-AF65-F5344CB8AC3E}">
        <p14:creationId xmlns:p14="http://schemas.microsoft.com/office/powerpoint/2010/main" val="2446709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B591D-6F37-4428-BD72-AF1D3F11460E}" type="datetime1">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19ECE204/Digital Electronics &amp; Systems, III Semester, B. Tech. (ECE and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75514-8565-4B1F-808F-4A3F55E508C2}" type="slidenum">
              <a:rPr lang="en-US" smtClean="0"/>
              <a:t>‹#›</a:t>
            </a:fld>
            <a:endParaRPr lang="en-US"/>
          </a:p>
        </p:txBody>
      </p:sp>
    </p:spTree>
    <p:extLst>
      <p:ext uri="{BB962C8B-B14F-4D97-AF65-F5344CB8AC3E}">
        <p14:creationId xmlns:p14="http://schemas.microsoft.com/office/powerpoint/2010/main" val="2410501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28E6B-F33D-4C00-B33E-77918AB848A2}" type="datetime1">
              <a:rPr lang="en-US" smtClean="0"/>
              <a:t>11/13/2025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19ECE204/Digital Electronics &amp; Systems, III Semester, B. Tech. (ECE and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38CEE4-497A-46F1-9B46-31574AD5C85A}" type="slidenum">
              <a:rPr lang="en-US" smtClean="0"/>
              <a:t>‹#›</a:t>
            </a:fld>
            <a:endParaRPr lang="en-US"/>
          </a:p>
        </p:txBody>
      </p:sp>
    </p:spTree>
    <p:extLst>
      <p:ext uri="{BB962C8B-B14F-4D97-AF65-F5344CB8AC3E}">
        <p14:creationId xmlns:p14="http://schemas.microsoft.com/office/powerpoint/2010/main" val="37022287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7578" y="4167219"/>
            <a:ext cx="9144000" cy="2387600"/>
          </a:xfrm>
        </p:spPr>
        <p:txBody>
          <a:bodyPr>
            <a:normAutofit fontScale="90000"/>
          </a:bodyPr>
          <a:lstStyle/>
          <a:p>
            <a:br>
              <a:rPr lang="en-US"/>
            </a:br>
            <a:r>
              <a:rPr lang="en-US"/>
              <a:t> </a:t>
            </a:r>
            <a:r>
              <a:rPr lang="en-US">
                <a:latin typeface="Times New Roman" panose="02020603050405020304" pitchFamily="18" charset="0"/>
                <a:cs typeface="Times New Roman" panose="02020603050405020304" pitchFamily="18" charset="0"/>
              </a:rPr>
              <a:t>23ECE205</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Digital Electronics and Systems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III Semester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B. Tech. ( CSE)</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Amrita School of Engineering, Bengaluru</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Lecture</a:t>
            </a:r>
          </a:p>
        </p:txBody>
      </p:sp>
      <p:sp>
        <p:nvSpPr>
          <p:cNvPr id="3" name="Subtitle 2"/>
          <p:cNvSpPr>
            <a:spLocks noGrp="1"/>
          </p:cNvSpPr>
          <p:nvPr>
            <p:ph type="subTitle" idx="1"/>
          </p:nvPr>
        </p:nvSpPr>
        <p:spPr>
          <a:xfrm>
            <a:off x="1524000" y="4895260"/>
            <a:ext cx="9144000" cy="1655762"/>
          </a:xfrm>
        </p:spPr>
        <p:txBody>
          <a:bodyPr/>
          <a:lstStyle/>
          <a:p>
            <a:endParaRPr lang="en-US"/>
          </a:p>
          <a:p>
            <a:r>
              <a:rPr lang="en-US"/>
              <a:t> </a:t>
            </a: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896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Combinational Circuit and Sequential Circuit</a:t>
            </a:r>
            <a:endParaRPr lang="en-US"/>
          </a:p>
        </p:txBody>
      </p:sp>
      <p:pic>
        <p:nvPicPr>
          <p:cNvPr id="7" name="Content Placeholder 6"/>
          <p:cNvPicPr>
            <a:picLocks noGrp="1" noChangeAspect="1"/>
          </p:cNvPicPr>
          <p:nvPr>
            <p:ph idx="1"/>
          </p:nvPr>
        </p:nvPicPr>
        <p:blipFill>
          <a:blip r:embed="rId2"/>
          <a:stretch>
            <a:fillRect/>
          </a:stretch>
        </p:blipFill>
        <p:spPr>
          <a:xfrm>
            <a:off x="1640509" y="1867989"/>
            <a:ext cx="8479903" cy="3236952"/>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a:t>
            </a:fld>
            <a:endParaRPr lang="en-US"/>
          </a:p>
        </p:txBody>
      </p:sp>
      <p:sp>
        <p:nvSpPr>
          <p:cNvPr id="8" name="Rectangle 7"/>
          <p:cNvSpPr/>
          <p:nvPr/>
        </p:nvSpPr>
        <p:spPr>
          <a:xfrm>
            <a:off x="1166947" y="5407480"/>
            <a:ext cx="9427029" cy="646331"/>
          </a:xfrm>
          <a:prstGeom prst="rect">
            <a:avLst/>
          </a:prstGeom>
        </p:spPr>
        <p:txBody>
          <a:bodyPr wrap="square">
            <a:spAutoFit/>
          </a:bodyPr>
          <a:lstStyle/>
          <a:p>
            <a:r>
              <a:rPr lang="en-US">
                <a:latin typeface="Times New Roman" panose="02020603050405020304" pitchFamily="18" charset="0"/>
                <a:cs typeface="Times New Roman" panose="02020603050405020304" pitchFamily="18" charset="0"/>
              </a:rPr>
              <a:t>Sequential circuits include storage elements that store the values of the previous state of the system. The contents of the storage elements are said to represent the </a:t>
            </a:r>
            <a:r>
              <a:rPr lang="en-US" i="1">
                <a:latin typeface="Times New Roman" panose="02020603050405020304" pitchFamily="18" charset="0"/>
                <a:cs typeface="Times New Roman" panose="02020603050405020304" pitchFamily="18" charset="0"/>
              </a:rPr>
              <a:t>state </a:t>
            </a:r>
            <a:r>
              <a:rPr lang="en-US">
                <a:latin typeface="Times New Roman" panose="02020603050405020304" pitchFamily="18" charset="0"/>
                <a:cs typeface="Times New Roman" panose="02020603050405020304" pitchFamily="18" charset="0"/>
              </a:rPr>
              <a:t>of the circuit.</a:t>
            </a:r>
            <a:endParaRPr lang="en-US"/>
          </a:p>
        </p:txBody>
      </p:sp>
    </p:spTree>
    <p:extLst>
      <p:ext uri="{BB962C8B-B14F-4D97-AF65-F5344CB8AC3E}">
        <p14:creationId xmlns:p14="http://schemas.microsoft.com/office/powerpoint/2010/main" val="4111688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pitchFamily="18" charset="0"/>
              </a:rPr>
              <a:t>Control of an Alarm System</a:t>
            </a:r>
            <a:endParaRPr lang="en-US"/>
          </a:p>
        </p:txBody>
      </p:sp>
      <p:pic>
        <p:nvPicPr>
          <p:cNvPr id="7" name="Content Placeholder 6"/>
          <p:cNvPicPr>
            <a:picLocks noGrp="1" noChangeAspect="1"/>
          </p:cNvPicPr>
          <p:nvPr>
            <p:ph idx="1"/>
          </p:nvPr>
        </p:nvPicPr>
        <p:blipFill>
          <a:blip r:embed="rId2"/>
          <a:stretch>
            <a:fillRect/>
          </a:stretch>
        </p:blipFill>
        <p:spPr>
          <a:xfrm>
            <a:off x="643577" y="2647423"/>
            <a:ext cx="6518951" cy="1410222"/>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3</a:t>
            </a:fld>
            <a:endParaRPr lang="en-US"/>
          </a:p>
        </p:txBody>
      </p:sp>
      <p:sp>
        <p:nvSpPr>
          <p:cNvPr id="3" name="Rectangle 2"/>
          <p:cNvSpPr/>
          <p:nvPr/>
        </p:nvSpPr>
        <p:spPr>
          <a:xfrm>
            <a:off x="7728856" y="1027906"/>
            <a:ext cx="3853544" cy="3970318"/>
          </a:xfrm>
          <a:prstGeom prst="rect">
            <a:avLst/>
          </a:prstGeom>
        </p:spPr>
        <p:txBody>
          <a:bodyPr wrap="square">
            <a:spAutoFit/>
          </a:bodyPr>
          <a:lstStyle/>
          <a:p>
            <a:pPr algn="just"/>
            <a:r>
              <a:rPr lang="en-US">
                <a:latin typeface="Times New Roman" panose="02020603050405020304" pitchFamily="18" charset="0"/>
                <a:cs typeface="Times New Roman" panose="02020603050405020304" pitchFamily="18" charset="0"/>
              </a:rPr>
              <a:t>The alarm mechanism responds to the control input </a:t>
            </a:r>
            <a:r>
              <a:rPr lang="en-US" i="1">
                <a:latin typeface="Times New Roman" panose="02020603050405020304" pitchFamily="18" charset="0"/>
                <a:cs typeface="Times New Roman" panose="02020603050405020304" pitchFamily="18" charset="0"/>
              </a:rPr>
              <a:t>On/Off’ </a:t>
            </a:r>
            <a:r>
              <a:rPr lang="en-US">
                <a:latin typeface="Times New Roman" panose="02020603050405020304" pitchFamily="18" charset="0"/>
                <a:cs typeface="Times New Roman" panose="02020603050405020304" pitchFamily="18" charset="0"/>
              </a:rPr>
              <a:t>. It is turned on when </a:t>
            </a:r>
            <a:r>
              <a:rPr lang="en-US" i="1">
                <a:latin typeface="Times New Roman" panose="02020603050405020304" pitchFamily="18" charset="0"/>
                <a:cs typeface="Times New Roman" panose="02020603050405020304" pitchFamily="18" charset="0"/>
              </a:rPr>
              <a:t>On/Off’ </a:t>
            </a:r>
            <a:r>
              <a:rPr lang="en-US">
                <a:latin typeface="Times New Roman" panose="02020603050405020304" pitchFamily="18" charset="0"/>
                <a:cs typeface="Times New Roman" panose="02020603050405020304" pitchFamily="18" charset="0"/>
              </a:rPr>
              <a:t>= 1, and it is off when </a:t>
            </a:r>
            <a:r>
              <a:rPr lang="en-US" i="1">
                <a:latin typeface="Times New Roman" panose="02020603050405020304" pitchFamily="18" charset="0"/>
                <a:cs typeface="Times New Roman" panose="02020603050405020304" pitchFamily="18" charset="0"/>
              </a:rPr>
              <a:t>On/Off’ </a:t>
            </a:r>
            <a:r>
              <a:rPr lang="en-US">
                <a:latin typeface="Times New Roman" panose="02020603050405020304" pitchFamily="18" charset="0"/>
                <a:cs typeface="Times New Roman" panose="02020603050405020304" pitchFamily="18" charset="0"/>
              </a:rPr>
              <a:t>= 0. The desired operation is that the alarm turns on when the sensor generates a positive voltage signal, </a:t>
            </a:r>
            <a:r>
              <a:rPr lang="en-US" i="1">
                <a:latin typeface="Times New Roman" panose="02020603050405020304" pitchFamily="18" charset="0"/>
                <a:cs typeface="Times New Roman" panose="02020603050405020304" pitchFamily="18" charset="0"/>
              </a:rPr>
              <a:t>Set</a:t>
            </a:r>
            <a:r>
              <a:rPr lang="en-US">
                <a:latin typeface="Times New Roman" panose="02020603050405020304" pitchFamily="18" charset="0"/>
                <a:cs typeface="Times New Roman" panose="02020603050405020304" pitchFamily="18" charset="0"/>
              </a:rPr>
              <a:t>, in response to some undesirable event. Once the alarm is triggered, it must remain active even if the sensor output goes back to zero. The alarm is turned off manually by means of a </a:t>
            </a:r>
            <a:r>
              <a:rPr lang="en-US" i="1">
                <a:latin typeface="Times New Roman" panose="02020603050405020304" pitchFamily="18" charset="0"/>
                <a:cs typeface="Times New Roman" panose="02020603050405020304" pitchFamily="18" charset="0"/>
              </a:rPr>
              <a:t>Reset </a:t>
            </a:r>
            <a:r>
              <a:rPr lang="en-US">
                <a:latin typeface="Times New Roman" panose="02020603050405020304" pitchFamily="18" charset="0"/>
                <a:cs typeface="Times New Roman" panose="02020603050405020304" pitchFamily="18" charset="0"/>
              </a:rPr>
              <a:t>input. The circuit requires a memory element to remember that the alarm has to be active until the </a:t>
            </a:r>
            <a:r>
              <a:rPr lang="en-US" i="1">
                <a:latin typeface="Times New Roman" panose="02020603050405020304" pitchFamily="18" charset="0"/>
                <a:cs typeface="Times New Roman" panose="02020603050405020304" pitchFamily="18" charset="0"/>
              </a:rPr>
              <a:t>Reset </a:t>
            </a:r>
            <a:r>
              <a:rPr lang="en-US">
                <a:latin typeface="Times New Roman" panose="02020603050405020304" pitchFamily="18" charset="0"/>
                <a:cs typeface="Times New Roman" panose="02020603050405020304" pitchFamily="18" charset="0"/>
              </a:rPr>
              <a:t>signal arrives.</a:t>
            </a:r>
          </a:p>
        </p:txBody>
      </p:sp>
    </p:spTree>
    <p:extLst>
      <p:ext uri="{BB962C8B-B14F-4D97-AF65-F5344CB8AC3E}">
        <p14:creationId xmlns:p14="http://schemas.microsoft.com/office/powerpoint/2010/main" val="1824076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pitchFamily="18" charset="0"/>
              </a:rPr>
              <a:t>A Simple Memory Element</a:t>
            </a:r>
            <a:br>
              <a:rPr lang="en-US" altLang="en-US">
                <a:latin typeface="Times New Roman" panose="02020603050405020304" pitchFamily="18" charset="0"/>
              </a:rPr>
            </a:br>
            <a:endParaRPr lang="en-US"/>
          </a:p>
        </p:txBody>
      </p:sp>
      <p:pic>
        <p:nvPicPr>
          <p:cNvPr id="7" name="Content Placeholder 6"/>
          <p:cNvPicPr>
            <a:picLocks noGrp="1" noChangeAspect="1"/>
          </p:cNvPicPr>
          <p:nvPr>
            <p:ph idx="1"/>
          </p:nvPr>
        </p:nvPicPr>
        <p:blipFill>
          <a:blip r:embed="rId2"/>
          <a:stretch>
            <a:fillRect/>
          </a:stretch>
        </p:blipFill>
        <p:spPr>
          <a:xfrm>
            <a:off x="730605" y="1980635"/>
            <a:ext cx="3975697" cy="1575276"/>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4</a:t>
            </a:fld>
            <a:endParaRPr lang="en-US"/>
          </a:p>
        </p:txBody>
      </p:sp>
      <p:sp>
        <p:nvSpPr>
          <p:cNvPr id="3" name="Rectangle 2"/>
          <p:cNvSpPr/>
          <p:nvPr/>
        </p:nvSpPr>
        <p:spPr>
          <a:xfrm>
            <a:off x="6962503" y="1690688"/>
            <a:ext cx="4286794" cy="2308324"/>
          </a:xfrm>
          <a:prstGeom prst="rect">
            <a:avLst/>
          </a:prstGeom>
        </p:spPr>
        <p:txBody>
          <a:bodyPr wrap="square">
            <a:spAutoFit/>
          </a:bodyPr>
          <a:lstStyle/>
          <a:p>
            <a:pPr algn="just"/>
            <a:r>
              <a:rPr lang="en-US">
                <a:latin typeface="Times New Roman" panose="02020603050405020304" pitchFamily="18" charset="0"/>
                <a:cs typeface="Times New Roman" panose="02020603050405020304" pitchFamily="18" charset="0"/>
              </a:rPr>
              <a:t>If we assume that </a:t>
            </a:r>
            <a:r>
              <a:rPr lang="en-US" i="1">
                <a:latin typeface="Times New Roman" panose="02020603050405020304" pitchFamily="18" charset="0"/>
                <a:cs typeface="Times New Roman" panose="02020603050405020304" pitchFamily="18" charset="0"/>
              </a:rPr>
              <a:t>A </a:t>
            </a:r>
            <a:r>
              <a:rPr lang="en-US">
                <a:latin typeface="Times New Roman" panose="02020603050405020304" pitchFamily="18" charset="0"/>
                <a:cs typeface="Times New Roman" panose="02020603050405020304" pitchFamily="18" charset="0"/>
              </a:rPr>
              <a:t>= 0, then </a:t>
            </a:r>
            <a:r>
              <a:rPr lang="en-US" i="1">
                <a:latin typeface="Times New Roman" panose="02020603050405020304" pitchFamily="18" charset="0"/>
                <a:cs typeface="Times New Roman" panose="02020603050405020304" pitchFamily="18" charset="0"/>
              </a:rPr>
              <a:t>B </a:t>
            </a:r>
            <a:r>
              <a:rPr lang="en-US">
                <a:latin typeface="Times New Roman" panose="02020603050405020304" pitchFamily="18" charset="0"/>
                <a:cs typeface="Times New Roman" panose="02020603050405020304" pitchFamily="18" charset="0"/>
              </a:rPr>
              <a:t>= 1. The circuit will maintain these values indefinitely. If we assume that </a:t>
            </a:r>
            <a:r>
              <a:rPr lang="en-US" i="1">
                <a:latin typeface="Times New Roman" panose="02020603050405020304" pitchFamily="18" charset="0"/>
                <a:cs typeface="Times New Roman" panose="02020603050405020304" pitchFamily="18" charset="0"/>
              </a:rPr>
              <a:t>A </a:t>
            </a:r>
            <a:r>
              <a:rPr lang="en-US">
                <a:latin typeface="Times New Roman" panose="02020603050405020304" pitchFamily="18" charset="0"/>
                <a:cs typeface="Times New Roman" panose="02020603050405020304" pitchFamily="18" charset="0"/>
              </a:rPr>
              <a:t>= 1, then </a:t>
            </a:r>
            <a:r>
              <a:rPr lang="en-US" i="1">
                <a:latin typeface="Times New Roman" panose="02020603050405020304" pitchFamily="18" charset="0"/>
                <a:cs typeface="Times New Roman" panose="02020603050405020304" pitchFamily="18" charset="0"/>
              </a:rPr>
              <a:t>B </a:t>
            </a:r>
            <a:r>
              <a:rPr lang="en-US">
                <a:latin typeface="Times New Roman" panose="02020603050405020304" pitchFamily="18" charset="0"/>
                <a:cs typeface="Times New Roman" panose="02020603050405020304" pitchFamily="18" charset="0"/>
              </a:rPr>
              <a:t>= 0, and the circuit will remain in this second state indefinitely. Thus, the circuit has two possible states. This circuit is not useful, because it lacks some practical means for changing its state.</a:t>
            </a:r>
          </a:p>
        </p:txBody>
      </p:sp>
    </p:spTree>
    <p:extLst>
      <p:ext uri="{BB962C8B-B14F-4D97-AF65-F5344CB8AC3E}">
        <p14:creationId xmlns:p14="http://schemas.microsoft.com/office/powerpoint/2010/main" val="1048137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pitchFamily="18" charset="0"/>
              </a:rPr>
              <a:t>A Memory Element with NOR gates</a:t>
            </a:r>
            <a:br>
              <a:rPr lang="en-US" altLang="en-US">
                <a:latin typeface="Times New Roman" panose="02020603050405020304" pitchFamily="18" charset="0"/>
              </a:rPr>
            </a:br>
            <a:endParaRPr lang="en-US"/>
          </a:p>
        </p:txBody>
      </p:sp>
      <p:pic>
        <p:nvPicPr>
          <p:cNvPr id="7" name="Content Placeholder 6"/>
          <p:cNvPicPr>
            <a:picLocks noGrp="1" noChangeAspect="1"/>
          </p:cNvPicPr>
          <p:nvPr>
            <p:ph idx="1"/>
          </p:nvPr>
        </p:nvPicPr>
        <p:blipFill>
          <a:blip r:embed="rId2"/>
          <a:stretch>
            <a:fillRect/>
          </a:stretch>
        </p:blipFill>
        <p:spPr>
          <a:xfrm>
            <a:off x="838200" y="2110560"/>
            <a:ext cx="4786872" cy="1734752"/>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5</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2054587718"/>
              </p:ext>
            </p:extLst>
          </p:nvPr>
        </p:nvGraphicFramePr>
        <p:xfrm>
          <a:off x="6479177" y="1988209"/>
          <a:ext cx="4702628" cy="2667000"/>
        </p:xfrm>
        <a:graphic>
          <a:graphicData uri="http://schemas.openxmlformats.org/drawingml/2006/table">
            <a:tbl>
              <a:tblPr firstRow="1" bandRow="1">
                <a:tableStyleId>{5C22544A-7EE6-4342-B048-85BDC9FD1C3A}</a:tableStyleId>
              </a:tblPr>
              <a:tblGrid>
                <a:gridCol w="757647">
                  <a:extLst>
                    <a:ext uri="{9D8B030D-6E8A-4147-A177-3AD203B41FA5}">
                      <a16:colId xmlns:a16="http://schemas.microsoft.com/office/drawing/2014/main" val="1979883312"/>
                    </a:ext>
                  </a:extLst>
                </a:gridCol>
                <a:gridCol w="1005840">
                  <a:extLst>
                    <a:ext uri="{9D8B030D-6E8A-4147-A177-3AD203B41FA5}">
                      <a16:colId xmlns:a16="http://schemas.microsoft.com/office/drawing/2014/main" val="3688705098"/>
                    </a:ext>
                  </a:extLst>
                </a:gridCol>
                <a:gridCol w="770708">
                  <a:extLst>
                    <a:ext uri="{9D8B030D-6E8A-4147-A177-3AD203B41FA5}">
                      <a16:colId xmlns:a16="http://schemas.microsoft.com/office/drawing/2014/main" val="2490541970"/>
                    </a:ext>
                  </a:extLst>
                </a:gridCol>
                <a:gridCol w="2168433">
                  <a:extLst>
                    <a:ext uri="{9D8B030D-6E8A-4147-A177-3AD203B41FA5}">
                      <a16:colId xmlns:a16="http://schemas.microsoft.com/office/drawing/2014/main" val="2289832632"/>
                    </a:ext>
                  </a:extLst>
                </a:gridCol>
              </a:tblGrid>
              <a:tr h="370840">
                <a:tc>
                  <a:txBody>
                    <a:bodyPr/>
                    <a:lstStyle/>
                    <a:p>
                      <a:r>
                        <a:rPr lang="en-US">
                          <a:latin typeface="Times New Roman" panose="02020603050405020304" pitchFamily="18" charset="0"/>
                          <a:cs typeface="Times New Roman" panose="02020603050405020304" pitchFamily="18" charset="0"/>
                        </a:rPr>
                        <a:t>Set (S)</a:t>
                      </a:r>
                    </a:p>
                  </a:txBody>
                  <a:tcPr/>
                </a:tc>
                <a:tc>
                  <a:txBody>
                    <a:bodyPr/>
                    <a:lstStyle/>
                    <a:p>
                      <a:r>
                        <a:rPr lang="en-US">
                          <a:latin typeface="Times New Roman" panose="02020603050405020304" pitchFamily="18" charset="0"/>
                          <a:cs typeface="Times New Roman" panose="02020603050405020304" pitchFamily="18" charset="0"/>
                        </a:rPr>
                        <a:t>Reset (R)</a:t>
                      </a:r>
                    </a:p>
                  </a:txBody>
                  <a:tcPr/>
                </a:tc>
                <a:tc>
                  <a:txBody>
                    <a:bodyPr/>
                    <a:lstStyle/>
                    <a:p>
                      <a:r>
                        <a:rPr lang="en-US">
                          <a:latin typeface="Times New Roman" panose="02020603050405020304" pitchFamily="18" charset="0"/>
                          <a:cs typeface="Times New Roman" panose="02020603050405020304" pitchFamily="18" charset="0"/>
                        </a:rPr>
                        <a:t>Q </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3151996819"/>
                  </a:ext>
                </a:extLst>
              </a:tr>
              <a:tr h="370840">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Previous State</a:t>
                      </a:r>
                    </a:p>
                  </a:txBody>
                  <a:tcPr/>
                </a:tc>
                <a:extLst>
                  <a:ext uri="{0D108BD9-81ED-4DB2-BD59-A6C34878D82A}">
                    <a16:rowId xmlns:a16="http://schemas.microsoft.com/office/drawing/2014/main" val="1983670828"/>
                  </a:ext>
                </a:extLst>
              </a:tr>
              <a:tr h="370840">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Reset State</a:t>
                      </a:r>
                    </a:p>
                  </a:txBody>
                  <a:tcPr/>
                </a:tc>
                <a:extLst>
                  <a:ext uri="{0D108BD9-81ED-4DB2-BD59-A6C34878D82A}">
                    <a16:rowId xmlns:a16="http://schemas.microsoft.com/office/drawing/2014/main" val="294515305"/>
                  </a:ext>
                </a:extLst>
              </a:tr>
              <a:tr h="370840">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Set State</a:t>
                      </a:r>
                    </a:p>
                  </a:txBody>
                  <a:tcPr/>
                </a:tc>
                <a:extLst>
                  <a:ext uri="{0D108BD9-81ED-4DB2-BD59-A6C34878D82A}">
                    <a16:rowId xmlns:a16="http://schemas.microsoft.com/office/drawing/2014/main" val="2654618748"/>
                  </a:ext>
                </a:extLst>
              </a:tr>
              <a:tr h="370840">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But this is invalid</a:t>
                      </a:r>
                      <a:r>
                        <a:rPr lang="en-US" baseline="0">
                          <a:latin typeface="Times New Roman" panose="02020603050405020304" pitchFamily="18" charset="0"/>
                          <a:cs typeface="Times New Roman" panose="02020603050405020304" pitchFamily="18" charset="0"/>
                        </a:rPr>
                        <a:t> state which will be discussed soon</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45378841"/>
                  </a:ext>
                </a:extLst>
              </a:tr>
            </a:tbl>
          </a:graphicData>
        </a:graphic>
      </p:graphicFrame>
    </p:spTree>
    <p:extLst>
      <p:ext uri="{BB962C8B-B14F-4D97-AF65-F5344CB8AC3E}">
        <p14:creationId xmlns:p14="http://schemas.microsoft.com/office/powerpoint/2010/main" val="2999040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pitchFamily="18" charset="0"/>
              </a:rPr>
              <a:t>A Latch built with NOR gates</a:t>
            </a:r>
            <a:endParaRPr lang="en-US"/>
          </a:p>
        </p:txBody>
      </p:sp>
      <p:pic>
        <p:nvPicPr>
          <p:cNvPr id="7" name="Content Placeholder 6"/>
          <p:cNvPicPr>
            <a:picLocks noGrp="1" noChangeAspect="1"/>
          </p:cNvPicPr>
          <p:nvPr>
            <p:ph idx="1"/>
          </p:nvPr>
        </p:nvPicPr>
        <p:blipFill>
          <a:blip r:embed="rId2"/>
          <a:stretch>
            <a:fillRect/>
          </a:stretch>
        </p:blipFill>
        <p:spPr>
          <a:xfrm>
            <a:off x="742527" y="2272938"/>
            <a:ext cx="8230023" cy="2657044"/>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6</a:t>
            </a:fld>
            <a:endParaRPr lang="en-US"/>
          </a:p>
        </p:txBody>
      </p:sp>
      <p:sp>
        <p:nvSpPr>
          <p:cNvPr id="3" name="TextBox 2"/>
          <p:cNvSpPr txBox="1"/>
          <p:nvPr/>
        </p:nvSpPr>
        <p:spPr>
          <a:xfrm>
            <a:off x="6609806" y="1903606"/>
            <a:ext cx="5114221"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Required: </a:t>
            </a:r>
            <a:r>
              <a:rPr lang="en-US" err="1">
                <a:latin typeface="Times New Roman" panose="02020603050405020304" pitchFamily="18" charset="0"/>
                <a:cs typeface="Times New Roman" panose="02020603050405020304" pitchFamily="18" charset="0"/>
              </a:rPr>
              <a:t>Qa</a:t>
            </a:r>
            <a:r>
              <a:rPr lang="en-US">
                <a:latin typeface="Times New Roman" panose="02020603050405020304" pitchFamily="18" charset="0"/>
                <a:cs typeface="Times New Roman" panose="02020603050405020304" pitchFamily="18" charset="0"/>
              </a:rPr>
              <a:t> and </a:t>
            </a:r>
            <a:r>
              <a:rPr lang="en-US" err="1">
                <a:latin typeface="Times New Roman" panose="02020603050405020304" pitchFamily="18" charset="0"/>
                <a:cs typeface="Times New Roman" panose="02020603050405020304" pitchFamily="18" charset="0"/>
              </a:rPr>
              <a:t>Qb</a:t>
            </a:r>
            <a:r>
              <a:rPr lang="en-US">
                <a:latin typeface="Times New Roman" panose="02020603050405020304" pitchFamily="18" charset="0"/>
                <a:cs typeface="Times New Roman" panose="02020603050405020304" pitchFamily="18" charset="0"/>
              </a:rPr>
              <a:t> are complement of each other </a:t>
            </a:r>
          </a:p>
        </p:txBody>
      </p:sp>
    </p:spTree>
    <p:extLst>
      <p:ext uri="{BB962C8B-B14F-4D97-AF65-F5344CB8AC3E}">
        <p14:creationId xmlns:p14="http://schemas.microsoft.com/office/powerpoint/2010/main" val="227240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378" y="239715"/>
            <a:ext cx="10515600" cy="384683"/>
          </a:xfrm>
        </p:spPr>
        <p:txBody>
          <a:bodyPr>
            <a:normAutofit fontScale="90000"/>
          </a:bodyPr>
          <a:lstStyle/>
          <a:p>
            <a:r>
              <a:rPr lang="en-US" altLang="en-US">
                <a:latin typeface="Times New Roman" panose="02020603050405020304" pitchFamily="18" charset="0"/>
              </a:rPr>
              <a:t>A Latch built with NAND gates</a:t>
            </a:r>
            <a:endParaRPr lang="en-US"/>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7</a:t>
            </a:fld>
            <a:endParaRPr lang="en-US"/>
          </a:p>
        </p:txBody>
      </p:sp>
      <p:pic>
        <p:nvPicPr>
          <p:cNvPr id="10" name="Content Placeholder 9"/>
          <p:cNvPicPr>
            <a:picLocks noGrp="1" noChangeAspect="1"/>
          </p:cNvPicPr>
          <p:nvPr>
            <p:ph idx="1"/>
          </p:nvPr>
        </p:nvPicPr>
        <p:blipFill>
          <a:blip r:embed="rId2"/>
          <a:stretch>
            <a:fillRect/>
          </a:stretch>
        </p:blipFill>
        <p:spPr>
          <a:xfrm>
            <a:off x="248378" y="1618153"/>
            <a:ext cx="3922844" cy="2265600"/>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4006974669"/>
              </p:ext>
            </p:extLst>
          </p:nvPr>
        </p:nvGraphicFramePr>
        <p:xfrm>
          <a:off x="4038600" y="1465853"/>
          <a:ext cx="7996520" cy="3886200"/>
        </p:xfrm>
        <a:graphic>
          <a:graphicData uri="http://schemas.openxmlformats.org/drawingml/2006/table">
            <a:tbl>
              <a:tblPr firstRow="1" bandRow="1">
                <a:tableStyleId>{5C22544A-7EE6-4342-B048-85BDC9FD1C3A}</a:tableStyleId>
              </a:tblPr>
              <a:tblGrid>
                <a:gridCol w="1142360">
                  <a:extLst>
                    <a:ext uri="{9D8B030D-6E8A-4147-A177-3AD203B41FA5}">
                      <a16:colId xmlns:a16="http://schemas.microsoft.com/office/drawing/2014/main" val="2883046675"/>
                    </a:ext>
                  </a:extLst>
                </a:gridCol>
                <a:gridCol w="1142360">
                  <a:extLst>
                    <a:ext uri="{9D8B030D-6E8A-4147-A177-3AD203B41FA5}">
                      <a16:colId xmlns:a16="http://schemas.microsoft.com/office/drawing/2014/main" val="151015376"/>
                    </a:ext>
                  </a:extLst>
                </a:gridCol>
                <a:gridCol w="1142360">
                  <a:extLst>
                    <a:ext uri="{9D8B030D-6E8A-4147-A177-3AD203B41FA5}">
                      <a16:colId xmlns:a16="http://schemas.microsoft.com/office/drawing/2014/main" val="2428369894"/>
                    </a:ext>
                  </a:extLst>
                </a:gridCol>
                <a:gridCol w="1142360">
                  <a:extLst>
                    <a:ext uri="{9D8B030D-6E8A-4147-A177-3AD203B41FA5}">
                      <a16:colId xmlns:a16="http://schemas.microsoft.com/office/drawing/2014/main" val="986374742"/>
                    </a:ext>
                  </a:extLst>
                </a:gridCol>
                <a:gridCol w="1142360">
                  <a:extLst>
                    <a:ext uri="{9D8B030D-6E8A-4147-A177-3AD203B41FA5}">
                      <a16:colId xmlns:a16="http://schemas.microsoft.com/office/drawing/2014/main" val="2011694674"/>
                    </a:ext>
                  </a:extLst>
                </a:gridCol>
                <a:gridCol w="1142360">
                  <a:extLst>
                    <a:ext uri="{9D8B030D-6E8A-4147-A177-3AD203B41FA5}">
                      <a16:colId xmlns:a16="http://schemas.microsoft.com/office/drawing/2014/main" val="3582283628"/>
                    </a:ext>
                  </a:extLst>
                </a:gridCol>
                <a:gridCol w="1142360">
                  <a:extLst>
                    <a:ext uri="{9D8B030D-6E8A-4147-A177-3AD203B41FA5}">
                      <a16:colId xmlns:a16="http://schemas.microsoft.com/office/drawing/2014/main" val="2986466204"/>
                    </a:ext>
                  </a:extLst>
                </a:gridCol>
              </a:tblGrid>
              <a:tr h="1204936">
                <a:tc>
                  <a:txBody>
                    <a:bodyPr/>
                    <a:lstStyle/>
                    <a:p>
                      <a:r>
                        <a:rPr lang="en-US">
                          <a:latin typeface="Times New Roman" panose="02020603050405020304" pitchFamily="18" charset="0"/>
                          <a:cs typeface="Times New Roman" panose="02020603050405020304" pitchFamily="18" charset="0"/>
                        </a:rPr>
                        <a:t>S </a:t>
                      </a:r>
                    </a:p>
                  </a:txBody>
                  <a:tcPr/>
                </a:tc>
                <a:tc>
                  <a:txBody>
                    <a:bodyPr/>
                    <a:lstStyle/>
                    <a:p>
                      <a:r>
                        <a:rPr lang="en-US">
                          <a:latin typeface="Times New Roman" panose="02020603050405020304" pitchFamily="18" charset="0"/>
                          <a:cs typeface="Times New Roman" panose="02020603050405020304" pitchFamily="18" charset="0"/>
                        </a:rPr>
                        <a:t>R</a:t>
                      </a:r>
                    </a:p>
                  </a:txBody>
                  <a:tcPr/>
                </a:tc>
                <a:tc>
                  <a:txBody>
                    <a:bodyPr/>
                    <a:lstStyle/>
                    <a:p>
                      <a:r>
                        <a:rPr lang="en-US">
                          <a:latin typeface="Times New Roman" panose="02020603050405020304" pitchFamily="18" charset="0"/>
                          <a:cs typeface="Times New Roman" panose="02020603050405020304" pitchFamily="18" charset="0"/>
                        </a:rPr>
                        <a:t>S’</a:t>
                      </a:r>
                    </a:p>
                  </a:txBody>
                  <a:tcPr/>
                </a:tc>
                <a:tc>
                  <a:txBody>
                    <a:bodyPr/>
                    <a:lstStyle/>
                    <a:p>
                      <a:r>
                        <a:rPr lang="en-US">
                          <a:latin typeface="Times New Roman" panose="02020603050405020304" pitchFamily="18" charset="0"/>
                          <a:cs typeface="Times New Roman" panose="02020603050405020304" pitchFamily="18" charset="0"/>
                        </a:rPr>
                        <a:t>R’</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426031942"/>
                  </a:ext>
                </a:extLst>
              </a:tr>
              <a:tr h="957594">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Same</a:t>
                      </a:r>
                      <a:r>
                        <a:rPr lang="en-US" baseline="0">
                          <a:latin typeface="Times New Roman" panose="02020603050405020304" pitchFamily="18" charset="0"/>
                          <a:cs typeface="Times New Roman" panose="02020603050405020304" pitchFamily="18" charset="0"/>
                        </a:rPr>
                        <a:t> Previous value</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7733745"/>
                  </a:ext>
                </a:extLst>
              </a:tr>
              <a:tr h="670316">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Reset State</a:t>
                      </a:r>
                    </a:p>
                  </a:txBody>
                  <a:tcPr/>
                </a:tc>
                <a:extLst>
                  <a:ext uri="{0D108BD9-81ED-4DB2-BD59-A6C34878D82A}">
                    <a16:rowId xmlns:a16="http://schemas.microsoft.com/office/drawing/2014/main" val="3684666150"/>
                  </a:ext>
                </a:extLst>
              </a:tr>
              <a:tr h="383038">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Set State</a:t>
                      </a:r>
                    </a:p>
                  </a:txBody>
                  <a:tcPr/>
                </a:tc>
                <a:extLst>
                  <a:ext uri="{0D108BD9-81ED-4DB2-BD59-A6C34878D82A}">
                    <a16:rowId xmlns:a16="http://schemas.microsoft.com/office/drawing/2014/main" val="2748756374"/>
                  </a:ext>
                </a:extLst>
              </a:tr>
              <a:tr h="670316">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Not Allowed</a:t>
                      </a:r>
                    </a:p>
                  </a:txBody>
                  <a:tcPr/>
                </a:tc>
                <a:extLst>
                  <a:ext uri="{0D108BD9-81ED-4DB2-BD59-A6C34878D82A}">
                    <a16:rowId xmlns:a16="http://schemas.microsoft.com/office/drawing/2014/main" val="208998085"/>
                  </a:ext>
                </a:extLst>
              </a:tr>
            </a:tbl>
          </a:graphicData>
        </a:graphic>
      </p:graphicFrame>
      <p:pic>
        <p:nvPicPr>
          <p:cNvPr id="3" name="Picture 2"/>
          <p:cNvPicPr>
            <a:picLocks noChangeAspect="1"/>
          </p:cNvPicPr>
          <p:nvPr/>
        </p:nvPicPr>
        <p:blipFill>
          <a:blip r:embed="rId3"/>
          <a:stretch>
            <a:fillRect/>
          </a:stretch>
        </p:blipFill>
        <p:spPr>
          <a:xfrm>
            <a:off x="431710" y="4421150"/>
            <a:ext cx="3444100" cy="1747477"/>
          </a:xfrm>
          <a:prstGeom prst="rect">
            <a:avLst/>
          </a:prstGeom>
        </p:spPr>
      </p:pic>
      <p:sp>
        <p:nvSpPr>
          <p:cNvPr id="7" name="Rectangle 6"/>
          <p:cNvSpPr/>
          <p:nvPr/>
        </p:nvSpPr>
        <p:spPr>
          <a:xfrm>
            <a:off x="9022976" y="5432612"/>
            <a:ext cx="1062318" cy="11026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9022976" y="5525149"/>
            <a:ext cx="290464" cy="369332"/>
          </a:xfrm>
          <a:prstGeom prst="rect">
            <a:avLst/>
          </a:prstGeom>
          <a:noFill/>
        </p:spPr>
        <p:txBody>
          <a:bodyPr wrap="none" rtlCol="0">
            <a:spAutoFit/>
          </a:bodyPr>
          <a:lstStyle/>
          <a:p>
            <a:r>
              <a:rPr lang="en-US"/>
              <a:t>S</a:t>
            </a:r>
          </a:p>
        </p:txBody>
      </p:sp>
      <p:sp>
        <p:nvSpPr>
          <p:cNvPr id="12" name="TextBox 11"/>
          <p:cNvSpPr txBox="1"/>
          <p:nvPr/>
        </p:nvSpPr>
        <p:spPr>
          <a:xfrm>
            <a:off x="9003740" y="6068618"/>
            <a:ext cx="309700" cy="369332"/>
          </a:xfrm>
          <a:prstGeom prst="rect">
            <a:avLst/>
          </a:prstGeom>
          <a:noFill/>
        </p:spPr>
        <p:txBody>
          <a:bodyPr wrap="none" rtlCol="0">
            <a:spAutoFit/>
          </a:bodyPr>
          <a:lstStyle/>
          <a:p>
            <a:r>
              <a:rPr lang="en-US"/>
              <a:t>R</a:t>
            </a:r>
          </a:p>
        </p:txBody>
      </p:sp>
      <p:sp>
        <p:nvSpPr>
          <p:cNvPr id="13" name="TextBox 12"/>
          <p:cNvSpPr txBox="1"/>
          <p:nvPr/>
        </p:nvSpPr>
        <p:spPr>
          <a:xfrm>
            <a:off x="9745136" y="5563708"/>
            <a:ext cx="340158" cy="369332"/>
          </a:xfrm>
          <a:prstGeom prst="rect">
            <a:avLst/>
          </a:prstGeom>
          <a:noFill/>
        </p:spPr>
        <p:txBody>
          <a:bodyPr wrap="none" rtlCol="0">
            <a:spAutoFit/>
          </a:bodyPr>
          <a:lstStyle/>
          <a:p>
            <a:r>
              <a:rPr lang="en-US"/>
              <a:t>Q</a:t>
            </a:r>
          </a:p>
        </p:txBody>
      </p:sp>
      <p:sp>
        <p:nvSpPr>
          <p:cNvPr id="14" name="TextBox 13"/>
          <p:cNvSpPr txBox="1"/>
          <p:nvPr/>
        </p:nvSpPr>
        <p:spPr>
          <a:xfrm>
            <a:off x="9745136" y="6041667"/>
            <a:ext cx="398764" cy="369332"/>
          </a:xfrm>
          <a:prstGeom prst="rect">
            <a:avLst/>
          </a:prstGeom>
          <a:noFill/>
        </p:spPr>
        <p:txBody>
          <a:bodyPr wrap="none" rtlCol="0">
            <a:spAutoFit/>
          </a:bodyPr>
          <a:lstStyle/>
          <a:p>
            <a:r>
              <a:rPr lang="en-US"/>
              <a:t>Q’</a:t>
            </a:r>
          </a:p>
        </p:txBody>
      </p:sp>
      <p:cxnSp>
        <p:nvCxnSpPr>
          <p:cNvPr id="16" name="Straight Arrow Connector 15"/>
          <p:cNvCxnSpPr>
            <a:endCxn id="9" idx="1"/>
          </p:cNvCxnSpPr>
          <p:nvPr/>
        </p:nvCxnSpPr>
        <p:spPr>
          <a:xfrm>
            <a:off x="8610600" y="5709815"/>
            <a:ext cx="4123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2" idx="1"/>
          </p:cNvCxnSpPr>
          <p:nvPr/>
        </p:nvCxnSpPr>
        <p:spPr>
          <a:xfrm>
            <a:off x="8610600" y="6253284"/>
            <a:ext cx="393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0085294" y="5748374"/>
            <a:ext cx="3496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14" idx="3"/>
          </p:cNvCxnSpPr>
          <p:nvPr/>
        </p:nvCxnSpPr>
        <p:spPr>
          <a:xfrm>
            <a:off x="10143900" y="6226333"/>
            <a:ext cx="2910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296484" y="5787972"/>
            <a:ext cx="2076209"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Symbol of SR Latch</a:t>
            </a:r>
          </a:p>
        </p:txBody>
      </p:sp>
      <p:sp>
        <p:nvSpPr>
          <p:cNvPr id="29" name="TextBox 28"/>
          <p:cNvSpPr txBox="1"/>
          <p:nvPr/>
        </p:nvSpPr>
        <p:spPr>
          <a:xfrm>
            <a:off x="431075" y="781944"/>
            <a:ext cx="10724606" cy="646331"/>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The next state Q can be written as either Q(n+1) or Q(t+1) or Q+          different authors follow different notations</a:t>
            </a:r>
          </a:p>
          <a:p>
            <a:r>
              <a:rPr lang="en-US">
                <a:latin typeface="Times New Roman" panose="02020603050405020304" pitchFamily="18" charset="0"/>
                <a:cs typeface="Times New Roman" panose="02020603050405020304" pitchFamily="18" charset="0"/>
              </a:rPr>
              <a:t>The next state Q’ can be written as either Q’(n+1) or Q’(t+1) or Q’+ </a:t>
            </a:r>
          </a:p>
        </p:txBody>
      </p:sp>
      <p:sp>
        <p:nvSpPr>
          <p:cNvPr id="30" name="Right Brace 29"/>
          <p:cNvSpPr/>
          <p:nvPr/>
        </p:nvSpPr>
        <p:spPr>
          <a:xfrm>
            <a:off x="6792687" y="823445"/>
            <a:ext cx="352696" cy="56185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4494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251" y="109764"/>
            <a:ext cx="10515600" cy="691950"/>
          </a:xfrm>
        </p:spPr>
        <p:txBody>
          <a:bodyPr>
            <a:normAutofit fontScale="90000"/>
          </a:bodyPr>
          <a:lstStyle/>
          <a:p>
            <a:r>
              <a:rPr lang="en-US">
                <a:latin typeface="Times New Roman" panose="02020603050405020304" pitchFamily="18" charset="0"/>
                <a:cs typeface="Times New Roman" panose="02020603050405020304" pitchFamily="18" charset="0"/>
              </a:rPr>
              <a:t>Clock</a:t>
            </a:r>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8</a:t>
            </a:fld>
            <a:endParaRPr lang="en-US"/>
          </a:p>
        </p:txBody>
      </p:sp>
      <p:sp>
        <p:nvSpPr>
          <p:cNvPr id="12" name="Content Placeholder 11"/>
          <p:cNvSpPr>
            <a:spLocks noGrp="1"/>
          </p:cNvSpPr>
          <p:nvPr>
            <p:ph idx="1"/>
          </p:nvPr>
        </p:nvSpPr>
        <p:spPr>
          <a:xfrm>
            <a:off x="204651" y="801714"/>
            <a:ext cx="4103915" cy="5554636"/>
          </a:xfrm>
        </p:spPr>
        <p:txBody>
          <a:bodyPr>
            <a:normAutofit fontScale="70000" lnSpcReduction="20000"/>
          </a:bodyPr>
          <a:lstStyle/>
          <a:p>
            <a:pPr algn="just"/>
            <a:r>
              <a:rPr lang="en-US">
                <a:latin typeface="Times New Roman" panose="02020603050405020304" pitchFamily="18" charset="0"/>
                <a:cs typeface="Times New Roman" panose="02020603050405020304" pitchFamily="18" charset="0"/>
              </a:rPr>
              <a:t>A clock is that which continuously alternates between 0 and 1. i.e. it is continuous train of pulses</a:t>
            </a:r>
          </a:p>
          <a:p>
            <a:pPr algn="just"/>
            <a:r>
              <a:rPr lang="en-US">
                <a:latin typeface="Times New Roman" panose="02020603050405020304" pitchFamily="18" charset="0"/>
                <a:cs typeface="Times New Roman" panose="02020603050405020304" pitchFamily="18" charset="0"/>
              </a:rPr>
              <a:t>The time it takes the clock to change from 1 to 0 and back to 1 (or vice versa) is called the clock period or clock cycle time. </a:t>
            </a:r>
          </a:p>
          <a:p>
            <a:pPr algn="just"/>
            <a:r>
              <a:rPr lang="en-US">
                <a:latin typeface="Times New Roman" panose="02020603050405020304" pitchFamily="18" charset="0"/>
                <a:cs typeface="Times New Roman" panose="02020603050405020304" pitchFamily="18" charset="0"/>
              </a:rPr>
              <a:t>i.e. Cycle time of a clock is the sum of its high duration and its low duration. The length of the time the clock is high before changing states is it high duration and the length of the time the clock is low before changing states is it low duration </a:t>
            </a:r>
          </a:p>
          <a:p>
            <a:pPr algn="just"/>
            <a:r>
              <a:rPr lang="en-US">
                <a:latin typeface="Times New Roman" panose="02020603050405020304" pitchFamily="18" charset="0"/>
                <a:cs typeface="Times New Roman" panose="02020603050405020304" pitchFamily="18" charset="0"/>
              </a:rPr>
              <a:t>The clock frequency is the inverse of the clock period. The unit of measurement for frequency is the Hertz</a:t>
            </a:r>
          </a:p>
          <a:p>
            <a:pPr algn="just"/>
            <a:r>
              <a:rPr lang="en-US">
                <a:latin typeface="Times New Roman" panose="02020603050405020304" pitchFamily="18" charset="0"/>
                <a:cs typeface="Times New Roman" panose="02020603050405020304" pitchFamily="18" charset="0"/>
              </a:rPr>
              <a:t>Clocks are often used to synchronize circuits</a:t>
            </a:r>
          </a:p>
          <a:p>
            <a:endParaRPr lang="en-US"/>
          </a:p>
        </p:txBody>
      </p:sp>
      <p:pic>
        <p:nvPicPr>
          <p:cNvPr id="13" name="Picture 12"/>
          <p:cNvPicPr>
            <a:picLocks noChangeAspect="1"/>
          </p:cNvPicPr>
          <p:nvPr/>
        </p:nvPicPr>
        <p:blipFill>
          <a:blip r:embed="rId2"/>
          <a:stretch>
            <a:fillRect/>
          </a:stretch>
        </p:blipFill>
        <p:spPr>
          <a:xfrm>
            <a:off x="4308566" y="1493664"/>
            <a:ext cx="7883434" cy="3467953"/>
          </a:xfrm>
          <a:prstGeom prst="rect">
            <a:avLst/>
          </a:prstGeom>
        </p:spPr>
      </p:pic>
    </p:spTree>
    <p:extLst>
      <p:ext uri="{BB962C8B-B14F-4D97-AF65-F5344CB8AC3E}">
        <p14:creationId xmlns:p14="http://schemas.microsoft.com/office/powerpoint/2010/main" val="3683447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19025"/>
            <a:ext cx="10515600" cy="1042205"/>
          </a:xfrm>
        </p:spPr>
        <p:txBody>
          <a:bodyPr/>
          <a:lstStyle/>
          <a:p>
            <a:r>
              <a:rPr lang="en-US" altLang="en-US">
                <a:latin typeface="Times New Roman" panose="02020603050405020304" pitchFamily="18" charset="0"/>
              </a:rPr>
              <a:t>Gated SR Latch with NAND gates</a:t>
            </a:r>
            <a:endParaRPr lang="en-US"/>
          </a:p>
        </p:txBody>
      </p:sp>
      <p:pic>
        <p:nvPicPr>
          <p:cNvPr id="7" name="Content Placeholder 6"/>
          <p:cNvPicPr>
            <a:picLocks noGrp="1" noChangeAspect="1"/>
          </p:cNvPicPr>
          <p:nvPr>
            <p:ph idx="1"/>
          </p:nvPr>
        </p:nvPicPr>
        <p:blipFill>
          <a:blip r:embed="rId2"/>
          <a:stretch>
            <a:fillRect/>
          </a:stretch>
        </p:blipFill>
        <p:spPr>
          <a:xfrm>
            <a:off x="330926" y="1544588"/>
            <a:ext cx="4548187" cy="2621433"/>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9</a:t>
            </a:fld>
            <a:endParaRPr lang="en-US"/>
          </a:p>
        </p:txBody>
      </p:sp>
      <p:pic>
        <p:nvPicPr>
          <p:cNvPr id="10" name="Picture 9"/>
          <p:cNvPicPr>
            <a:picLocks noChangeAspect="1"/>
          </p:cNvPicPr>
          <p:nvPr/>
        </p:nvPicPr>
        <p:blipFill>
          <a:blip r:embed="rId3"/>
          <a:stretch>
            <a:fillRect/>
          </a:stretch>
        </p:blipFill>
        <p:spPr>
          <a:xfrm>
            <a:off x="9648825" y="4374225"/>
            <a:ext cx="1977118" cy="1881835"/>
          </a:xfrm>
          <a:prstGeom prst="rect">
            <a:avLst/>
          </a:prstGeom>
        </p:spPr>
      </p:pic>
      <p:pic>
        <p:nvPicPr>
          <p:cNvPr id="11" name="Picture 10"/>
          <p:cNvPicPr>
            <a:picLocks noChangeAspect="1"/>
          </p:cNvPicPr>
          <p:nvPr/>
        </p:nvPicPr>
        <p:blipFill>
          <a:blip r:embed="rId4"/>
          <a:stretch>
            <a:fillRect/>
          </a:stretch>
        </p:blipFill>
        <p:spPr>
          <a:xfrm>
            <a:off x="137300" y="4533718"/>
            <a:ext cx="3444100" cy="1747477"/>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6106808"/>
              </p:ext>
            </p:extLst>
          </p:nvPr>
        </p:nvGraphicFramePr>
        <p:xfrm>
          <a:off x="5373256" y="1336385"/>
          <a:ext cx="6474687" cy="3037840"/>
        </p:xfrm>
        <a:graphic>
          <a:graphicData uri="http://schemas.openxmlformats.org/drawingml/2006/table">
            <a:tbl>
              <a:tblPr firstRow="1" bandRow="1">
                <a:tableStyleId>{5C22544A-7EE6-4342-B048-85BDC9FD1C3A}</a:tableStyleId>
              </a:tblPr>
              <a:tblGrid>
                <a:gridCol w="596402">
                  <a:extLst>
                    <a:ext uri="{9D8B030D-6E8A-4147-A177-3AD203B41FA5}">
                      <a16:colId xmlns:a16="http://schemas.microsoft.com/office/drawing/2014/main" val="2254116184"/>
                    </a:ext>
                  </a:extLst>
                </a:gridCol>
                <a:gridCol w="476254">
                  <a:extLst>
                    <a:ext uri="{9D8B030D-6E8A-4147-A177-3AD203B41FA5}">
                      <a16:colId xmlns:a16="http://schemas.microsoft.com/office/drawing/2014/main" val="1376049936"/>
                    </a:ext>
                  </a:extLst>
                </a:gridCol>
                <a:gridCol w="503460">
                  <a:extLst>
                    <a:ext uri="{9D8B030D-6E8A-4147-A177-3AD203B41FA5}">
                      <a16:colId xmlns:a16="http://schemas.microsoft.com/office/drawing/2014/main" val="671640843"/>
                    </a:ext>
                  </a:extLst>
                </a:gridCol>
                <a:gridCol w="953588">
                  <a:extLst>
                    <a:ext uri="{9D8B030D-6E8A-4147-A177-3AD203B41FA5}">
                      <a16:colId xmlns:a16="http://schemas.microsoft.com/office/drawing/2014/main" val="2621823846"/>
                    </a:ext>
                  </a:extLst>
                </a:gridCol>
                <a:gridCol w="1031966">
                  <a:extLst>
                    <a:ext uri="{9D8B030D-6E8A-4147-A177-3AD203B41FA5}">
                      <a16:colId xmlns:a16="http://schemas.microsoft.com/office/drawing/2014/main" val="2453709567"/>
                    </a:ext>
                  </a:extLst>
                </a:gridCol>
                <a:gridCol w="2913017">
                  <a:extLst>
                    <a:ext uri="{9D8B030D-6E8A-4147-A177-3AD203B41FA5}">
                      <a16:colId xmlns:a16="http://schemas.microsoft.com/office/drawing/2014/main" val="1121983564"/>
                    </a:ext>
                  </a:extLst>
                </a:gridCol>
              </a:tblGrid>
              <a:tr h="370840">
                <a:tc>
                  <a:txBody>
                    <a:bodyPr/>
                    <a:lstStyle/>
                    <a:p>
                      <a:r>
                        <a:rPr lang="en-US" err="1">
                          <a:latin typeface="Times New Roman" panose="02020603050405020304" pitchFamily="18" charset="0"/>
                          <a:cs typeface="Times New Roman" panose="02020603050405020304" pitchFamily="18" charset="0"/>
                        </a:rPr>
                        <a:t>Clk</a:t>
                      </a:r>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S</a:t>
                      </a:r>
                    </a:p>
                  </a:txBody>
                  <a:tcPr/>
                </a:tc>
                <a:tc>
                  <a:txBody>
                    <a:bodyPr/>
                    <a:lstStyle/>
                    <a:p>
                      <a:r>
                        <a:rPr lang="en-US">
                          <a:latin typeface="Times New Roman" panose="02020603050405020304" pitchFamily="18" charset="0"/>
                          <a:cs typeface="Times New Roman" panose="02020603050405020304" pitchFamily="18" charset="0"/>
                        </a:rPr>
                        <a:t>R</a:t>
                      </a:r>
                    </a:p>
                  </a:txBody>
                  <a:tcPr/>
                </a:tc>
                <a:tc>
                  <a:txBody>
                    <a:bodyPr/>
                    <a:lstStyle/>
                    <a:p>
                      <a:r>
                        <a:rPr lang="en-US">
                          <a:latin typeface="Times New Roman" panose="02020603050405020304" pitchFamily="18" charset="0"/>
                          <a:cs typeface="Times New Roman" panose="02020603050405020304" pitchFamily="18" charset="0"/>
                        </a:rPr>
                        <a:t>Q(t+1)</a:t>
                      </a:r>
                    </a:p>
                  </a:txBody>
                  <a:tcPr/>
                </a:tc>
                <a:tc>
                  <a:txBody>
                    <a:bodyPr/>
                    <a:lstStyle/>
                    <a:p>
                      <a:r>
                        <a:rPr lang="en-US">
                          <a:latin typeface="Times New Roman" panose="02020603050405020304" pitchFamily="18" charset="0"/>
                          <a:cs typeface="Times New Roman" panose="02020603050405020304" pitchFamily="18" charset="0"/>
                        </a:rPr>
                        <a:t>Q’(t+1)</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3219617578"/>
                  </a:ext>
                </a:extLst>
              </a:tr>
              <a:tr h="370840">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Q(t)</a:t>
                      </a:r>
                    </a:p>
                  </a:txBody>
                  <a:tcPr/>
                </a:tc>
                <a:tc>
                  <a:txBody>
                    <a:bodyPr/>
                    <a:lstStyle/>
                    <a:p>
                      <a:r>
                        <a:rPr lang="en-US">
                          <a:latin typeface="Times New Roman" panose="02020603050405020304" pitchFamily="18" charset="0"/>
                          <a:cs typeface="Times New Roman" panose="02020603050405020304" pitchFamily="18" charset="0"/>
                        </a:rPr>
                        <a:t>Q’(t)</a:t>
                      </a:r>
                    </a:p>
                  </a:txBody>
                  <a:tcPr/>
                </a:tc>
                <a:tc>
                  <a:txBody>
                    <a:bodyPr/>
                    <a:lstStyle/>
                    <a:p>
                      <a:r>
                        <a:rPr lang="en-US">
                          <a:latin typeface="Times New Roman" panose="02020603050405020304" pitchFamily="18" charset="0"/>
                          <a:cs typeface="Times New Roman" panose="02020603050405020304" pitchFamily="18" charset="0"/>
                        </a:rPr>
                        <a:t>No change.</a:t>
                      </a:r>
                      <a:r>
                        <a:rPr lang="en-US" baseline="0">
                          <a:latin typeface="Times New Roman" panose="02020603050405020304" pitchFamily="18" charset="0"/>
                          <a:cs typeface="Times New Roman" panose="02020603050405020304" pitchFamily="18" charset="0"/>
                        </a:rPr>
                        <a:t> Same as that of the previous state</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739359"/>
                  </a:ext>
                </a:extLst>
              </a:tr>
              <a:tr h="370840">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Q(t)</a:t>
                      </a:r>
                    </a:p>
                  </a:txBody>
                  <a:tcPr/>
                </a:tc>
                <a:tc>
                  <a:txBody>
                    <a:bodyPr/>
                    <a:lstStyle/>
                    <a:p>
                      <a:r>
                        <a:rPr lang="en-US">
                          <a:latin typeface="Times New Roman" panose="02020603050405020304" pitchFamily="18" charset="0"/>
                          <a:cs typeface="Times New Roman" panose="02020603050405020304" pitchFamily="18" charset="0"/>
                        </a:rPr>
                        <a:t>Q’(t)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No change.</a:t>
                      </a:r>
                      <a:r>
                        <a:rPr lang="en-US" baseline="0">
                          <a:latin typeface="Times New Roman" panose="02020603050405020304" pitchFamily="18" charset="0"/>
                          <a:cs typeface="Times New Roman" panose="02020603050405020304" pitchFamily="18" charset="0"/>
                        </a:rPr>
                        <a:t> Same as that of the previous state</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9174872"/>
                  </a:ext>
                </a:extLst>
              </a:tr>
              <a:tr h="370840">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Reset state</a:t>
                      </a:r>
                    </a:p>
                  </a:txBody>
                  <a:tcPr/>
                </a:tc>
                <a:extLst>
                  <a:ext uri="{0D108BD9-81ED-4DB2-BD59-A6C34878D82A}">
                    <a16:rowId xmlns:a16="http://schemas.microsoft.com/office/drawing/2014/main" val="1624807963"/>
                  </a:ext>
                </a:extLst>
              </a:tr>
              <a:tr h="370840">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Set state</a:t>
                      </a:r>
                    </a:p>
                  </a:txBody>
                  <a:tcPr/>
                </a:tc>
                <a:extLst>
                  <a:ext uri="{0D108BD9-81ED-4DB2-BD59-A6C34878D82A}">
                    <a16:rowId xmlns:a16="http://schemas.microsoft.com/office/drawing/2014/main" val="1175557949"/>
                  </a:ext>
                </a:extLst>
              </a:tr>
              <a:tr h="370840">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Invalid</a:t>
                      </a:r>
                    </a:p>
                  </a:txBody>
                  <a:tcPr/>
                </a:tc>
                <a:extLst>
                  <a:ext uri="{0D108BD9-81ED-4DB2-BD59-A6C34878D82A}">
                    <a16:rowId xmlns:a16="http://schemas.microsoft.com/office/drawing/2014/main" val="3070856010"/>
                  </a:ext>
                </a:extLst>
              </a:tr>
            </a:tbl>
          </a:graphicData>
        </a:graphic>
      </p:graphicFrame>
    </p:spTree>
    <p:extLst>
      <p:ext uri="{BB962C8B-B14F-4D97-AF65-F5344CB8AC3E}">
        <p14:creationId xmlns:p14="http://schemas.microsoft.com/office/powerpoint/2010/main" val="246542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Gated D (Data) Latch</a:t>
            </a:r>
          </a:p>
        </p:txBody>
      </p:sp>
      <p:pic>
        <p:nvPicPr>
          <p:cNvPr id="7" name="Content Placeholder 6"/>
          <p:cNvPicPr>
            <a:picLocks noGrp="1" noChangeAspect="1"/>
          </p:cNvPicPr>
          <p:nvPr>
            <p:ph idx="1"/>
          </p:nvPr>
        </p:nvPicPr>
        <p:blipFill>
          <a:blip r:embed="rId2"/>
          <a:stretch>
            <a:fillRect/>
          </a:stretch>
        </p:blipFill>
        <p:spPr>
          <a:xfrm>
            <a:off x="339635" y="1451154"/>
            <a:ext cx="5917473" cy="4885770"/>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10</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84378491"/>
              </p:ext>
            </p:extLst>
          </p:nvPr>
        </p:nvGraphicFramePr>
        <p:xfrm>
          <a:off x="6426925" y="1082385"/>
          <a:ext cx="4999489" cy="2800448"/>
        </p:xfrm>
        <a:graphic>
          <a:graphicData uri="http://schemas.openxmlformats.org/drawingml/2006/table">
            <a:tbl>
              <a:tblPr firstRow="1" bandRow="1">
                <a:tableStyleId>{5C22544A-7EE6-4342-B048-85BDC9FD1C3A}</a:tableStyleId>
              </a:tblPr>
              <a:tblGrid>
                <a:gridCol w="731521">
                  <a:extLst>
                    <a:ext uri="{9D8B030D-6E8A-4147-A177-3AD203B41FA5}">
                      <a16:colId xmlns:a16="http://schemas.microsoft.com/office/drawing/2014/main" val="2254116184"/>
                    </a:ext>
                  </a:extLst>
                </a:gridCol>
                <a:gridCol w="548640">
                  <a:extLst>
                    <a:ext uri="{9D8B030D-6E8A-4147-A177-3AD203B41FA5}">
                      <a16:colId xmlns:a16="http://schemas.microsoft.com/office/drawing/2014/main" val="1376049936"/>
                    </a:ext>
                  </a:extLst>
                </a:gridCol>
                <a:gridCol w="574765">
                  <a:extLst>
                    <a:ext uri="{9D8B030D-6E8A-4147-A177-3AD203B41FA5}">
                      <a16:colId xmlns:a16="http://schemas.microsoft.com/office/drawing/2014/main" val="2621823846"/>
                    </a:ext>
                  </a:extLst>
                </a:gridCol>
                <a:gridCol w="705601">
                  <a:extLst>
                    <a:ext uri="{9D8B030D-6E8A-4147-A177-3AD203B41FA5}">
                      <a16:colId xmlns:a16="http://schemas.microsoft.com/office/drawing/2014/main" val="2453709567"/>
                    </a:ext>
                  </a:extLst>
                </a:gridCol>
                <a:gridCol w="2438962">
                  <a:extLst>
                    <a:ext uri="{9D8B030D-6E8A-4147-A177-3AD203B41FA5}">
                      <a16:colId xmlns:a16="http://schemas.microsoft.com/office/drawing/2014/main" val="1121983564"/>
                    </a:ext>
                  </a:extLst>
                </a:gridCol>
              </a:tblGrid>
              <a:tr h="356973">
                <a:tc>
                  <a:txBody>
                    <a:bodyPr/>
                    <a:lstStyle/>
                    <a:p>
                      <a:r>
                        <a:rPr lang="en-US" err="1">
                          <a:latin typeface="Times New Roman" panose="02020603050405020304" pitchFamily="18" charset="0"/>
                          <a:cs typeface="Times New Roman" panose="02020603050405020304" pitchFamily="18" charset="0"/>
                        </a:rPr>
                        <a:t>Clk</a:t>
                      </a:r>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D</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3219617578"/>
                  </a:ext>
                </a:extLst>
              </a:tr>
              <a:tr h="616146">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No change.</a:t>
                      </a:r>
                      <a:r>
                        <a:rPr lang="en-US" baseline="0">
                          <a:latin typeface="Times New Roman" panose="02020603050405020304" pitchFamily="18" charset="0"/>
                          <a:cs typeface="Times New Roman" panose="02020603050405020304" pitchFamily="18" charset="0"/>
                        </a:rPr>
                        <a:t> Same as that of the previous state</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739359"/>
                  </a:ext>
                </a:extLst>
              </a:tr>
              <a:tr h="880208">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Q will be same as that of D input</a:t>
                      </a:r>
                    </a:p>
                  </a:txBody>
                  <a:tcPr/>
                </a:tc>
                <a:extLst>
                  <a:ext uri="{0D108BD9-81ED-4DB2-BD59-A6C34878D82A}">
                    <a16:rowId xmlns:a16="http://schemas.microsoft.com/office/drawing/2014/main" val="3759174872"/>
                  </a:ext>
                </a:extLst>
              </a:tr>
              <a:tr h="356973">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Q will be same as that of D input</a:t>
                      </a:r>
                    </a:p>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24807963"/>
                  </a:ext>
                </a:extLst>
              </a:tr>
            </a:tbl>
          </a:graphicData>
        </a:graphic>
      </p:graphicFrame>
    </p:spTree>
    <p:extLst>
      <p:ext uri="{BB962C8B-B14F-4D97-AF65-F5344CB8AC3E}">
        <p14:creationId xmlns:p14="http://schemas.microsoft.com/office/powerpoint/2010/main" val="3573616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691" y="104504"/>
            <a:ext cx="11210109" cy="482696"/>
          </a:xfrm>
        </p:spPr>
        <p:txBody>
          <a:bodyPr>
            <a:noAutofit/>
          </a:bodyPr>
          <a:lstStyle/>
          <a:p>
            <a:r>
              <a:rPr lang="en-US" sz="2800">
                <a:latin typeface="Times New Roman" panose="02020603050405020304" pitchFamily="18" charset="0"/>
                <a:cs typeface="Times New Roman" panose="02020603050405020304" pitchFamily="18" charset="0"/>
              </a:rPr>
              <a:t>Master Slave D Flip Flop (Negative Edge Triggered D Flip Flop)</a:t>
            </a:r>
          </a:p>
        </p:txBody>
      </p:sp>
      <p:pic>
        <p:nvPicPr>
          <p:cNvPr id="7" name="Content Placeholder 6"/>
          <p:cNvPicPr>
            <a:picLocks noGrp="1" noChangeAspect="1"/>
          </p:cNvPicPr>
          <p:nvPr>
            <p:ph idx="1"/>
          </p:nvPr>
        </p:nvPicPr>
        <p:blipFill>
          <a:blip r:embed="rId2"/>
          <a:stretch>
            <a:fillRect/>
          </a:stretch>
        </p:blipFill>
        <p:spPr>
          <a:xfrm>
            <a:off x="27709" y="1211659"/>
            <a:ext cx="5548994" cy="2742235"/>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11</a:t>
            </a:fld>
            <a:endParaRPr lang="en-US"/>
          </a:p>
        </p:txBody>
      </p:sp>
      <p:pic>
        <p:nvPicPr>
          <p:cNvPr id="8" name="Picture 7"/>
          <p:cNvPicPr>
            <a:picLocks noChangeAspect="1"/>
          </p:cNvPicPr>
          <p:nvPr/>
        </p:nvPicPr>
        <p:blipFill>
          <a:blip r:embed="rId3"/>
          <a:stretch>
            <a:fillRect/>
          </a:stretch>
        </p:blipFill>
        <p:spPr>
          <a:xfrm>
            <a:off x="30843" y="3719372"/>
            <a:ext cx="1614714" cy="1376086"/>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207582860"/>
              </p:ext>
            </p:extLst>
          </p:nvPr>
        </p:nvGraphicFramePr>
        <p:xfrm>
          <a:off x="5742532" y="817358"/>
          <a:ext cx="6324056" cy="5452208"/>
        </p:xfrm>
        <a:graphic>
          <a:graphicData uri="http://schemas.openxmlformats.org/drawingml/2006/table">
            <a:tbl>
              <a:tblPr firstRow="1" bandRow="1">
                <a:tableStyleId>{5C22544A-7EE6-4342-B048-85BDC9FD1C3A}</a:tableStyleId>
              </a:tblPr>
              <a:tblGrid>
                <a:gridCol w="545284">
                  <a:extLst>
                    <a:ext uri="{9D8B030D-6E8A-4147-A177-3AD203B41FA5}">
                      <a16:colId xmlns:a16="http://schemas.microsoft.com/office/drawing/2014/main" val="2254116184"/>
                    </a:ext>
                  </a:extLst>
                </a:gridCol>
                <a:gridCol w="913912">
                  <a:extLst>
                    <a:ext uri="{9D8B030D-6E8A-4147-A177-3AD203B41FA5}">
                      <a16:colId xmlns:a16="http://schemas.microsoft.com/office/drawing/2014/main" val="1259384771"/>
                    </a:ext>
                  </a:extLst>
                </a:gridCol>
                <a:gridCol w="625369">
                  <a:extLst>
                    <a:ext uri="{9D8B030D-6E8A-4147-A177-3AD203B41FA5}">
                      <a16:colId xmlns:a16="http://schemas.microsoft.com/office/drawing/2014/main" val="1376049936"/>
                    </a:ext>
                  </a:extLst>
                </a:gridCol>
                <a:gridCol w="655148">
                  <a:extLst>
                    <a:ext uri="{9D8B030D-6E8A-4147-A177-3AD203B41FA5}">
                      <a16:colId xmlns:a16="http://schemas.microsoft.com/office/drawing/2014/main" val="2621823846"/>
                    </a:ext>
                  </a:extLst>
                </a:gridCol>
                <a:gridCol w="1206071">
                  <a:extLst>
                    <a:ext uri="{9D8B030D-6E8A-4147-A177-3AD203B41FA5}">
                      <a16:colId xmlns:a16="http://schemas.microsoft.com/office/drawing/2014/main" val="2453709567"/>
                    </a:ext>
                  </a:extLst>
                </a:gridCol>
                <a:gridCol w="2378272">
                  <a:extLst>
                    <a:ext uri="{9D8B030D-6E8A-4147-A177-3AD203B41FA5}">
                      <a16:colId xmlns:a16="http://schemas.microsoft.com/office/drawing/2014/main" val="1121983564"/>
                    </a:ext>
                  </a:extLst>
                </a:gridCol>
              </a:tblGrid>
              <a:tr h="356973">
                <a:tc gridSpan="6">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Truth Table in a descriptive manner</a:t>
                      </a:r>
                    </a:p>
                    <a:p>
                      <a:pPr algn="just"/>
                      <a:endParaRPr lang="en-US">
                        <a:latin typeface="Times New Roman" panose="02020603050405020304" pitchFamily="18" charset="0"/>
                        <a:cs typeface="Times New Roman" panose="02020603050405020304" pitchFamily="18" charset="0"/>
                      </a:endParaRPr>
                    </a:p>
                  </a:txBody>
                  <a:tcPr/>
                </a:tc>
                <a:tc hMerge="1">
                  <a:txBody>
                    <a:bodyPr/>
                    <a:lstStyle/>
                    <a:p>
                      <a:endParaRPr lang="en-US"/>
                    </a:p>
                  </a:txBody>
                  <a:tcPr/>
                </a:tc>
                <a:tc hMerge="1">
                  <a:txBody>
                    <a:bodyPr/>
                    <a:lstStyle/>
                    <a:p>
                      <a:pPr algn="just"/>
                      <a:endParaRPr lang="en-US">
                        <a:latin typeface="Times New Roman" panose="02020603050405020304" pitchFamily="18" charset="0"/>
                        <a:cs typeface="Times New Roman" panose="02020603050405020304" pitchFamily="18" charset="0"/>
                      </a:endParaRPr>
                    </a:p>
                  </a:txBody>
                  <a:tcPr/>
                </a:tc>
                <a:tc hMerge="1">
                  <a:txBody>
                    <a:bodyPr/>
                    <a:lstStyle/>
                    <a:p>
                      <a:pPr algn="just"/>
                      <a:endParaRPr lang="en-US">
                        <a:latin typeface="Times New Roman" panose="02020603050405020304" pitchFamily="18" charset="0"/>
                        <a:cs typeface="Times New Roman" panose="02020603050405020304" pitchFamily="18" charset="0"/>
                      </a:endParaRPr>
                    </a:p>
                  </a:txBody>
                  <a:tcPr/>
                </a:tc>
                <a:tc hMerge="1">
                  <a:txBody>
                    <a:bodyPr/>
                    <a:lstStyle/>
                    <a:p>
                      <a:pPr algn="just"/>
                      <a:endParaRPr lang="en-US">
                        <a:latin typeface="Times New Roman" panose="02020603050405020304" pitchFamily="18" charset="0"/>
                        <a:cs typeface="Times New Roman" panose="02020603050405020304" pitchFamily="18" charset="0"/>
                      </a:endParaRPr>
                    </a:p>
                  </a:txBody>
                  <a:tcPr/>
                </a:tc>
                <a:tc hMerge="1">
                  <a:txBody>
                    <a:bodyPr/>
                    <a:lstStyle/>
                    <a:p>
                      <a:pPr algn="just"/>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78169174"/>
                  </a:ext>
                </a:extLst>
              </a:tr>
              <a:tr h="356973">
                <a:tc gridSpan="2">
                  <a:txBody>
                    <a:bodyPr/>
                    <a:lstStyle/>
                    <a:p>
                      <a:pPr algn="just"/>
                      <a:r>
                        <a:rPr lang="en-US" err="1">
                          <a:latin typeface="Times New Roman" panose="02020603050405020304" pitchFamily="18" charset="0"/>
                          <a:cs typeface="Times New Roman" panose="02020603050405020304" pitchFamily="18" charset="0"/>
                        </a:rPr>
                        <a:t>Clk</a:t>
                      </a:r>
                      <a:endParaRPr lang="en-US">
                        <a:latin typeface="Times New Roman" panose="02020603050405020304" pitchFamily="18" charset="0"/>
                        <a:cs typeface="Times New Roman" panose="02020603050405020304" pitchFamily="18" charset="0"/>
                      </a:endParaRPr>
                    </a:p>
                  </a:txBody>
                  <a:tcPr/>
                </a:tc>
                <a:tc hMerge="1">
                  <a:txBody>
                    <a:bodyPr/>
                    <a:lstStyle/>
                    <a:p>
                      <a:endParaRPr lang="en-US">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D</a:t>
                      </a:r>
                    </a:p>
                  </a:txBody>
                  <a:tcPr/>
                </a:tc>
                <a:tc>
                  <a:txBody>
                    <a:bodyPr/>
                    <a:lstStyle/>
                    <a:p>
                      <a:pPr algn="just"/>
                      <a:r>
                        <a:rPr lang="en-US" err="1">
                          <a:latin typeface="Times New Roman" panose="02020603050405020304" pitchFamily="18" charset="0"/>
                          <a:cs typeface="Times New Roman" panose="02020603050405020304" pitchFamily="18" charset="0"/>
                        </a:rPr>
                        <a:t>Qm</a:t>
                      </a:r>
                      <a:endParaRPr lang="en-US">
                        <a:latin typeface="Times New Roman" panose="02020603050405020304" pitchFamily="18" charset="0"/>
                        <a:cs typeface="Times New Roman" panose="02020603050405020304" pitchFamily="18" charset="0"/>
                      </a:endParaRPr>
                    </a:p>
                  </a:txBody>
                  <a:tcPr/>
                </a:tc>
                <a:tc>
                  <a:txBody>
                    <a:bodyPr/>
                    <a:lstStyle/>
                    <a:p>
                      <a:pPr algn="just"/>
                      <a:r>
                        <a:rPr lang="en-US">
                          <a:latin typeface="Times New Roman" panose="02020603050405020304" pitchFamily="18" charset="0"/>
                          <a:cs typeface="Times New Roman" panose="02020603050405020304" pitchFamily="18" charset="0"/>
                        </a:rPr>
                        <a:t>Qs = Q</a:t>
                      </a:r>
                    </a:p>
                  </a:txBody>
                  <a:tcPr/>
                </a:tc>
                <a:tc>
                  <a:txBody>
                    <a:bodyPr/>
                    <a:lstStyle/>
                    <a:p>
                      <a:pPr algn="just"/>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3219617578"/>
                  </a:ext>
                </a:extLst>
              </a:tr>
              <a:tr h="616146">
                <a:tc>
                  <a:txBody>
                    <a:bodyPr/>
                    <a:lstStyle/>
                    <a:p>
                      <a:pPr algn="ctr"/>
                      <a:r>
                        <a:rPr lang="en-US">
                          <a:latin typeface="Times New Roman" panose="02020603050405020304" pitchFamily="18" charset="0"/>
                          <a:cs typeface="Times New Roman" panose="02020603050405020304" pitchFamily="18" charset="0"/>
                        </a:rPr>
                        <a:t>1</a:t>
                      </a:r>
                    </a:p>
                  </a:txBody>
                  <a:tcPr/>
                </a:tc>
                <a:tc rowSpan="2">
                  <a:txBody>
                    <a:bodyPr/>
                    <a:lstStyle/>
                    <a:p>
                      <a:pPr algn="ctr"/>
                      <a:r>
                        <a:rPr lang="en-US">
                          <a:latin typeface="Times New Roman" panose="02020603050405020304" pitchFamily="18" charset="0"/>
                          <a:cs typeface="Times New Roman" panose="02020603050405020304" pitchFamily="18" charset="0"/>
                        </a:rPr>
                        <a:t>-</a:t>
                      </a:r>
                      <a:r>
                        <a:rPr lang="en-US" err="1">
                          <a:latin typeface="Times New Roman" panose="02020603050405020304" pitchFamily="18" charset="0"/>
                          <a:cs typeface="Times New Roman" panose="02020603050405020304" pitchFamily="18" charset="0"/>
                        </a:rPr>
                        <a:t>ve</a:t>
                      </a:r>
                      <a:r>
                        <a:rPr lang="en-US">
                          <a:latin typeface="Times New Roman" panose="02020603050405020304" pitchFamily="18" charset="0"/>
                          <a:cs typeface="Times New Roman" panose="02020603050405020304" pitchFamily="18" charset="0"/>
                        </a:rPr>
                        <a:t> edge on </a:t>
                      </a:r>
                      <a:r>
                        <a:rPr lang="en-US" err="1">
                          <a:latin typeface="Times New Roman" panose="02020603050405020304" pitchFamily="18" charset="0"/>
                          <a:cs typeface="Times New Roman" panose="02020603050405020304" pitchFamily="18" charset="0"/>
                        </a:rPr>
                        <a:t>Clk</a:t>
                      </a:r>
                      <a:r>
                        <a:rPr lang="en-US">
                          <a:latin typeface="Times New Roman" panose="02020603050405020304" pitchFamily="18" charset="0"/>
                          <a:cs typeface="Times New Roman" panose="02020603050405020304" pitchFamily="18" charset="0"/>
                        </a:rPr>
                        <a:t> </a:t>
                      </a:r>
                    </a:p>
                  </a:txBody>
                  <a:tcPr/>
                </a:tc>
                <a:tc>
                  <a:txBody>
                    <a:bodyPr/>
                    <a:lstStyle/>
                    <a:p>
                      <a:pPr algn="ctr"/>
                      <a:r>
                        <a:rPr lang="en-US">
                          <a:latin typeface="Times New Roman" panose="02020603050405020304" pitchFamily="18" charset="0"/>
                          <a:cs typeface="Times New Roman" panose="02020603050405020304" pitchFamily="18" charset="0"/>
                        </a:rPr>
                        <a:t>1 </a:t>
                      </a:r>
                    </a:p>
                  </a:txBody>
                  <a:tcPr/>
                </a:tc>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pPr algn="ctr"/>
                      <a:r>
                        <a:rPr lang="en-US">
                          <a:latin typeface="Times New Roman" panose="02020603050405020304" pitchFamily="18" charset="0"/>
                          <a:cs typeface="Times New Roman" panose="02020603050405020304" pitchFamily="18" charset="0"/>
                        </a:rPr>
                        <a:t>Previous</a:t>
                      </a:r>
                      <a:r>
                        <a:rPr lang="en-US" baseline="0">
                          <a:latin typeface="Times New Roman" panose="02020603050405020304" pitchFamily="18" charset="0"/>
                          <a:cs typeface="Times New Roman" panose="02020603050405020304" pitchFamily="18" charset="0"/>
                        </a:rPr>
                        <a:t> output = Q</a:t>
                      </a:r>
                      <a:endParaRPr lang="en-US">
                        <a:latin typeface="Times New Roman" panose="02020603050405020304" pitchFamily="18" charset="0"/>
                        <a:cs typeface="Times New Roman" panose="02020603050405020304" pitchFamily="18" charset="0"/>
                      </a:endParaRPr>
                    </a:p>
                  </a:txBody>
                  <a:tcPr/>
                </a:tc>
                <a:tc rowSpan="2">
                  <a:txBody>
                    <a:bodyPr/>
                    <a:lstStyle/>
                    <a:p>
                      <a:pPr algn="just"/>
                      <a:r>
                        <a:rPr lang="en-US">
                          <a:latin typeface="Times New Roman" panose="02020603050405020304" pitchFamily="18" charset="0"/>
                          <a:cs typeface="Times New Roman" panose="02020603050405020304" pitchFamily="18" charset="0"/>
                        </a:rPr>
                        <a:t>At negative edge,</a:t>
                      </a:r>
                      <a:r>
                        <a:rPr lang="en-US" baseline="0">
                          <a:latin typeface="Times New Roman" panose="02020603050405020304" pitchFamily="18" charset="0"/>
                          <a:cs typeface="Times New Roman" panose="02020603050405020304" pitchFamily="18" charset="0"/>
                        </a:rPr>
                        <a:t> whatever is value of D data input the same value will appear on </a:t>
                      </a:r>
                      <a:r>
                        <a:rPr lang="en-US">
                          <a:latin typeface="Times New Roman" panose="02020603050405020304" pitchFamily="18" charset="0"/>
                          <a:cs typeface="Times New Roman" panose="02020603050405020304" pitchFamily="18" charset="0"/>
                        </a:rPr>
                        <a:t>Q </a:t>
                      </a:r>
                    </a:p>
                  </a:txBody>
                  <a:tcPr/>
                </a:tc>
                <a:extLst>
                  <a:ext uri="{0D108BD9-81ED-4DB2-BD59-A6C34878D82A}">
                    <a16:rowId xmlns:a16="http://schemas.microsoft.com/office/drawing/2014/main" val="147739359"/>
                  </a:ext>
                </a:extLst>
              </a:tr>
              <a:tr h="880208">
                <a:tc>
                  <a:txBody>
                    <a:bodyPr/>
                    <a:lstStyle/>
                    <a:p>
                      <a:pPr algn="ctr"/>
                      <a:r>
                        <a:rPr lang="en-US">
                          <a:latin typeface="Times New Roman" panose="02020603050405020304" pitchFamily="18" charset="0"/>
                          <a:cs typeface="Times New Roman" panose="02020603050405020304" pitchFamily="18" charset="0"/>
                        </a:rPr>
                        <a:t>0 </a:t>
                      </a:r>
                    </a:p>
                  </a:txBody>
                  <a:tcPr/>
                </a:tc>
                <a:tc vMerge="1">
                  <a:txBody>
                    <a:bodyPr/>
                    <a:lstStyle/>
                    <a:p>
                      <a:endParaRPr lang="en-US">
                        <a:latin typeface="Times New Roman" panose="02020603050405020304" pitchFamily="18" charset="0"/>
                        <a:cs typeface="Times New Roman" panose="02020603050405020304" pitchFamily="18" charset="0"/>
                      </a:endParaRPr>
                    </a:p>
                  </a:txBody>
                  <a:tcPr/>
                </a:tc>
                <a:tc>
                  <a:txBody>
                    <a:bodyPr/>
                    <a:lstStyle/>
                    <a:p>
                      <a:pPr algn="ctr"/>
                      <a:r>
                        <a:rPr lang="en-US">
                          <a:latin typeface="Times New Roman" panose="02020603050405020304" pitchFamily="18" charset="0"/>
                          <a:cs typeface="Times New Roman" panose="02020603050405020304" pitchFamily="18" charset="0"/>
                        </a:rPr>
                        <a:t>x</a:t>
                      </a:r>
                    </a:p>
                  </a:txBody>
                  <a:tcPr/>
                </a:tc>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pPr algn="ctr"/>
                      <a:r>
                        <a:rPr lang="en-US">
                          <a:latin typeface="Times New Roman" panose="02020603050405020304" pitchFamily="18" charset="0"/>
                          <a:cs typeface="Times New Roman" panose="02020603050405020304" pitchFamily="18" charset="0"/>
                        </a:rPr>
                        <a:t>1</a:t>
                      </a:r>
                    </a:p>
                  </a:txBody>
                  <a:tcPr/>
                </a:tc>
                <a:tc vMerge="1">
                  <a:txBody>
                    <a:bodyPr/>
                    <a:lstStyle/>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59174872"/>
                  </a:ext>
                </a:extLst>
              </a:tr>
              <a:tr h="356973">
                <a:tc>
                  <a:txBody>
                    <a:bodyPr/>
                    <a:lstStyle/>
                    <a:p>
                      <a:pPr algn="ctr"/>
                      <a:r>
                        <a:rPr lang="en-US">
                          <a:latin typeface="Times New Roman" panose="02020603050405020304" pitchFamily="18" charset="0"/>
                          <a:cs typeface="Times New Roman" panose="02020603050405020304" pitchFamily="18" charset="0"/>
                        </a:rPr>
                        <a:t>1</a:t>
                      </a:r>
                    </a:p>
                  </a:txBody>
                  <a:tcPr/>
                </a:tc>
                <a:tc rowSpan="2">
                  <a:txBody>
                    <a:bodyPr/>
                    <a:lstStyle/>
                    <a:p>
                      <a:pPr algn="ctr"/>
                      <a:r>
                        <a:rPr lang="en-US">
                          <a:latin typeface="Times New Roman" panose="02020603050405020304" pitchFamily="18" charset="0"/>
                          <a:cs typeface="Times New Roman" panose="02020603050405020304" pitchFamily="18" charset="0"/>
                        </a:rPr>
                        <a:t>-</a:t>
                      </a:r>
                      <a:r>
                        <a:rPr lang="en-US" err="1">
                          <a:latin typeface="Times New Roman" panose="02020603050405020304" pitchFamily="18" charset="0"/>
                          <a:cs typeface="Times New Roman" panose="02020603050405020304" pitchFamily="18" charset="0"/>
                        </a:rPr>
                        <a:t>ve</a:t>
                      </a:r>
                      <a:r>
                        <a:rPr lang="en-US">
                          <a:latin typeface="Times New Roman" panose="02020603050405020304" pitchFamily="18" charset="0"/>
                          <a:cs typeface="Times New Roman" panose="02020603050405020304" pitchFamily="18" charset="0"/>
                        </a:rPr>
                        <a:t> edge on </a:t>
                      </a:r>
                      <a:r>
                        <a:rPr lang="en-US" err="1">
                          <a:latin typeface="Times New Roman" panose="02020603050405020304" pitchFamily="18" charset="0"/>
                          <a:cs typeface="Times New Roman" panose="02020603050405020304" pitchFamily="18" charset="0"/>
                        </a:rPr>
                        <a:t>Clk</a:t>
                      </a:r>
                      <a:r>
                        <a:rPr lang="en-US">
                          <a:latin typeface="Times New Roman" panose="02020603050405020304" pitchFamily="18" charset="0"/>
                          <a:cs typeface="Times New Roman" panose="02020603050405020304" pitchFamily="18" charset="0"/>
                        </a:rPr>
                        <a:t> </a:t>
                      </a: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pPr algn="ctr"/>
                      <a:r>
                        <a:rPr lang="en-US">
                          <a:latin typeface="Times New Roman" panose="02020603050405020304" pitchFamily="18" charset="0"/>
                          <a:cs typeface="Times New Roman" panose="02020603050405020304" pitchFamily="18" charset="0"/>
                        </a:rPr>
                        <a:t>Previous</a:t>
                      </a:r>
                      <a:r>
                        <a:rPr lang="en-US" baseline="0">
                          <a:latin typeface="Times New Roman" panose="02020603050405020304" pitchFamily="18" charset="0"/>
                          <a:cs typeface="Times New Roman" panose="02020603050405020304" pitchFamily="18" charset="0"/>
                        </a:rPr>
                        <a:t> output = Q</a:t>
                      </a:r>
                      <a:endParaRPr lang="en-US">
                        <a:latin typeface="Times New Roman" panose="02020603050405020304" pitchFamily="18" charset="0"/>
                        <a:cs typeface="Times New Roman" panose="02020603050405020304" pitchFamily="18" charset="0"/>
                      </a:endParaRPr>
                    </a:p>
                  </a:txBody>
                  <a:tcPr/>
                </a:tc>
                <a:tc row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negative edge, whatever is value of D data input the same value will appear on Q </a:t>
                      </a:r>
                    </a:p>
                  </a:txBody>
                  <a:tcPr/>
                </a:tc>
                <a:extLst>
                  <a:ext uri="{0D108BD9-81ED-4DB2-BD59-A6C34878D82A}">
                    <a16:rowId xmlns:a16="http://schemas.microsoft.com/office/drawing/2014/main" val="1624807963"/>
                  </a:ext>
                </a:extLst>
              </a:tr>
              <a:tr h="356973">
                <a:tc>
                  <a:txBody>
                    <a:bodyPr/>
                    <a:lstStyle/>
                    <a:p>
                      <a:pPr algn="ctr"/>
                      <a:r>
                        <a:rPr lang="en-US">
                          <a:latin typeface="Times New Roman" panose="02020603050405020304" pitchFamily="18" charset="0"/>
                          <a:cs typeface="Times New Roman" panose="02020603050405020304" pitchFamily="18" charset="0"/>
                        </a:rPr>
                        <a:t>0 </a:t>
                      </a:r>
                    </a:p>
                  </a:txBody>
                  <a:tcPr/>
                </a:tc>
                <a:tc vMerge="1">
                  <a:txBody>
                    <a:bodyPr/>
                    <a:lstStyle/>
                    <a:p>
                      <a:endParaRPr lang="en-US">
                        <a:latin typeface="Times New Roman" panose="02020603050405020304" pitchFamily="18" charset="0"/>
                        <a:cs typeface="Times New Roman" panose="02020603050405020304" pitchFamily="18" charset="0"/>
                      </a:endParaRPr>
                    </a:p>
                  </a:txBody>
                  <a:tcPr/>
                </a:tc>
                <a:tc>
                  <a:txBody>
                    <a:bodyPr/>
                    <a:lstStyle/>
                    <a:p>
                      <a:pPr algn="ctr"/>
                      <a:r>
                        <a:rPr lang="en-US">
                          <a:latin typeface="Times New Roman" panose="02020603050405020304" pitchFamily="18" charset="0"/>
                          <a:cs typeface="Times New Roman" panose="02020603050405020304" pitchFamily="18" charset="0"/>
                        </a:rPr>
                        <a:t>x</a:t>
                      </a: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788148912"/>
                  </a:ext>
                </a:extLst>
              </a:tr>
              <a:tr h="356973">
                <a:tc gridSpan="2">
                  <a:txBody>
                    <a:bodyPr/>
                    <a:lstStyle/>
                    <a:p>
                      <a:pPr algn="ctr"/>
                      <a:endParaRPr lang="en-US">
                        <a:latin typeface="Times New Roman" panose="02020603050405020304" pitchFamily="18" charset="0"/>
                        <a:cs typeface="Times New Roman" panose="02020603050405020304" pitchFamily="18" charset="0"/>
                      </a:endParaRPr>
                    </a:p>
                    <a:p>
                      <a:pPr algn="ctr"/>
                      <a:endParaRPr lang="en-US">
                        <a:latin typeface="Times New Roman" panose="02020603050405020304" pitchFamily="18" charset="0"/>
                        <a:cs typeface="Times New Roman" panose="02020603050405020304" pitchFamily="18" charset="0"/>
                      </a:endParaRPr>
                    </a:p>
                    <a:p>
                      <a:pPr algn="ctr"/>
                      <a:r>
                        <a:rPr lang="en-US">
                          <a:latin typeface="Times New Roman" panose="02020603050405020304" pitchFamily="18" charset="0"/>
                          <a:cs typeface="Times New Roman" panose="02020603050405020304" pitchFamily="18" charset="0"/>
                        </a:rPr>
                        <a:t>x</a:t>
                      </a:r>
                    </a:p>
                  </a:txBody>
                  <a:tcPr/>
                </a:tc>
                <a:tc hMerge="1">
                  <a:txBody>
                    <a:bodyPr/>
                    <a:lstStyle/>
                    <a:p>
                      <a:pPr algn="ctr"/>
                      <a:endParaRPr lang="en-US">
                        <a:latin typeface="Times New Roman" panose="02020603050405020304" pitchFamily="18" charset="0"/>
                        <a:cs typeface="Times New Roman" panose="02020603050405020304" pitchFamily="18" charset="0"/>
                      </a:endParaRPr>
                    </a:p>
                  </a:txBody>
                  <a:tcPr/>
                </a:tc>
                <a:tc>
                  <a:txBody>
                    <a:bodyPr/>
                    <a:lstStyle/>
                    <a:p>
                      <a:pPr algn="ctr"/>
                      <a:r>
                        <a:rPr lang="en-US">
                          <a:latin typeface="Times New Roman" panose="02020603050405020304" pitchFamily="18" charset="0"/>
                          <a:cs typeface="Times New Roman" panose="02020603050405020304" pitchFamily="18" charset="0"/>
                        </a:rPr>
                        <a:t>x</a:t>
                      </a:r>
                    </a:p>
                  </a:txBody>
                  <a:tcPr/>
                </a:tc>
                <a:tc>
                  <a:txBody>
                    <a:bodyPr/>
                    <a:lstStyle/>
                    <a:p>
                      <a:pPr algn="ctr"/>
                      <a:r>
                        <a:rPr lang="en-US" err="1">
                          <a:latin typeface="Times New Roman" panose="02020603050405020304" pitchFamily="18" charset="0"/>
                          <a:cs typeface="Times New Roman" panose="02020603050405020304" pitchFamily="18" charset="0"/>
                        </a:rPr>
                        <a:t>Qm</a:t>
                      </a:r>
                      <a:endParaRPr lang="en-US">
                        <a:latin typeface="Times New Roman" panose="02020603050405020304" pitchFamily="18" charset="0"/>
                        <a:cs typeface="Times New Roman" panose="02020603050405020304" pitchFamily="18" charset="0"/>
                      </a:endParaRPr>
                    </a:p>
                  </a:txBody>
                  <a:tcPr/>
                </a:tc>
                <a:tc>
                  <a:txBody>
                    <a:bodyPr/>
                    <a:lstStyle/>
                    <a:p>
                      <a:pPr algn="ctr"/>
                      <a:r>
                        <a:rPr lang="en-US">
                          <a:latin typeface="Times New Roman" panose="02020603050405020304" pitchFamily="18" charset="0"/>
                          <a:cs typeface="Times New Roman" panose="02020603050405020304" pitchFamily="18" charset="0"/>
                        </a:rPr>
                        <a:t>Q</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 any other value other than negative edge trigger on the clock, the same previous value of Q will continue on Q</a:t>
                      </a:r>
                    </a:p>
                  </a:txBody>
                  <a:tcPr/>
                </a:tc>
                <a:extLst>
                  <a:ext uri="{0D108BD9-81ED-4DB2-BD59-A6C34878D82A}">
                    <a16:rowId xmlns:a16="http://schemas.microsoft.com/office/drawing/2014/main" val="308941007"/>
                  </a:ext>
                </a:extLst>
              </a:tr>
            </a:tbl>
          </a:graphicData>
        </a:graphic>
      </p:graphicFrame>
      <p:pic>
        <p:nvPicPr>
          <p:cNvPr id="18" name="Picture 17"/>
          <p:cNvPicPr>
            <a:picLocks noChangeAspect="1"/>
          </p:cNvPicPr>
          <p:nvPr/>
        </p:nvPicPr>
        <p:blipFill>
          <a:blip r:embed="rId4"/>
          <a:stretch>
            <a:fillRect/>
          </a:stretch>
        </p:blipFill>
        <p:spPr>
          <a:xfrm>
            <a:off x="2460949" y="3349498"/>
            <a:ext cx="3637030" cy="2804611"/>
          </a:xfrm>
          <a:prstGeom prst="rect">
            <a:avLst/>
          </a:prstGeom>
        </p:spPr>
      </p:pic>
      <p:sp>
        <p:nvSpPr>
          <p:cNvPr id="3" name="TextBox 2"/>
          <p:cNvSpPr txBox="1"/>
          <p:nvPr/>
        </p:nvSpPr>
        <p:spPr>
          <a:xfrm>
            <a:off x="143691" y="4407415"/>
            <a:ext cx="465192" cy="369332"/>
          </a:xfrm>
          <a:prstGeom prst="rect">
            <a:avLst/>
          </a:prstGeom>
          <a:noFill/>
        </p:spPr>
        <p:txBody>
          <a:bodyPr wrap="none" rtlCol="0">
            <a:spAutoFit/>
          </a:bodyPr>
          <a:lstStyle/>
          <a:p>
            <a:r>
              <a:rPr lang="en-US" err="1"/>
              <a:t>Clk</a:t>
            </a:r>
            <a:endParaRPr lang="en-US"/>
          </a:p>
        </p:txBody>
      </p:sp>
    </p:spTree>
    <p:extLst>
      <p:ext uri="{BB962C8B-B14F-4D97-AF65-F5344CB8AC3E}">
        <p14:creationId xmlns:p14="http://schemas.microsoft.com/office/powerpoint/2010/main" val="1582596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02" y="61257"/>
            <a:ext cx="10515600" cy="1325563"/>
          </a:xfrm>
        </p:spPr>
        <p:txBody>
          <a:bodyPr/>
          <a:lstStyle/>
          <a:p>
            <a:r>
              <a:rPr lang="en-US">
                <a:latin typeface="Times New Roman" panose="02020603050405020304" pitchFamily="18" charset="0"/>
                <a:cs typeface="Times New Roman" panose="02020603050405020304" pitchFamily="18" charset="0"/>
              </a:rPr>
              <a:t>Set Up Time and Hold Time</a:t>
            </a:r>
          </a:p>
        </p:txBody>
      </p:sp>
      <p:pic>
        <p:nvPicPr>
          <p:cNvPr id="7" name="Content Placeholder 6"/>
          <p:cNvPicPr>
            <a:picLocks noGrp="1" noChangeAspect="1"/>
          </p:cNvPicPr>
          <p:nvPr>
            <p:ph idx="1"/>
          </p:nvPr>
        </p:nvPicPr>
        <p:blipFill>
          <a:blip r:embed="rId2"/>
          <a:stretch>
            <a:fillRect/>
          </a:stretch>
        </p:blipFill>
        <p:spPr>
          <a:xfrm>
            <a:off x="189202" y="1178005"/>
            <a:ext cx="6779936" cy="2362189"/>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12</a:t>
            </a:fld>
            <a:endParaRPr lang="en-US"/>
          </a:p>
        </p:txBody>
      </p:sp>
      <p:sp>
        <p:nvSpPr>
          <p:cNvPr id="8" name="Rectangle 7"/>
          <p:cNvSpPr/>
          <p:nvPr/>
        </p:nvSpPr>
        <p:spPr>
          <a:xfrm>
            <a:off x="7591488" y="724039"/>
            <a:ext cx="3840480" cy="5632311"/>
          </a:xfrm>
          <a:prstGeom prst="rect">
            <a:avLst/>
          </a:prstGeom>
        </p:spPr>
        <p:txBody>
          <a:bodyPr wrap="square">
            <a:spAutoFit/>
          </a:bodyPr>
          <a:lstStyle/>
          <a:p>
            <a:pPr algn="just"/>
            <a:r>
              <a:rPr lang="en-US">
                <a:latin typeface="Times New Roman" panose="02020603050405020304" pitchFamily="18" charset="0"/>
                <a:cs typeface="Times New Roman" panose="02020603050405020304" pitchFamily="18" charset="0"/>
              </a:rPr>
              <a:t>Set Up Time (</a:t>
            </a:r>
            <a:r>
              <a:rPr lang="en-US" i="1" err="1">
                <a:latin typeface="Times New Roman" panose="02020603050405020304" pitchFamily="18" charset="0"/>
                <a:cs typeface="Times New Roman" panose="02020603050405020304" pitchFamily="18" charset="0"/>
              </a:rPr>
              <a:t>tsu</a:t>
            </a:r>
            <a:r>
              <a:rPr lang="en-US">
                <a:latin typeface="Times New Roman" panose="02020603050405020304" pitchFamily="18" charset="0"/>
                <a:cs typeface="Times New Roman" panose="02020603050405020304" pitchFamily="18" charset="0"/>
              </a:rPr>
              <a:t>): The minimum time that the </a:t>
            </a:r>
            <a:r>
              <a:rPr lang="en-US" i="1">
                <a:latin typeface="Times New Roman" panose="02020603050405020304" pitchFamily="18" charset="0"/>
                <a:cs typeface="Times New Roman" panose="02020603050405020304" pitchFamily="18" charset="0"/>
              </a:rPr>
              <a:t>D </a:t>
            </a:r>
            <a:r>
              <a:rPr lang="en-US">
                <a:latin typeface="Times New Roman" panose="02020603050405020304" pitchFamily="18" charset="0"/>
                <a:cs typeface="Times New Roman" panose="02020603050405020304" pitchFamily="18" charset="0"/>
              </a:rPr>
              <a:t>signal must be stable prior to the negative edge (or positive edge based on what type of </a:t>
            </a:r>
            <a:r>
              <a:rPr lang="en-US" err="1">
                <a:latin typeface="Times New Roman" panose="02020603050405020304" pitchFamily="18" charset="0"/>
                <a:cs typeface="Times New Roman" panose="02020603050405020304" pitchFamily="18" charset="0"/>
              </a:rPr>
              <a:t>flipflop</a:t>
            </a:r>
            <a:r>
              <a:rPr lang="en-US">
                <a:latin typeface="Times New Roman" panose="02020603050405020304" pitchFamily="18" charset="0"/>
                <a:cs typeface="Times New Roman" panose="02020603050405020304" pitchFamily="18" charset="0"/>
              </a:rPr>
              <a:t>) of the </a:t>
            </a:r>
            <a:r>
              <a:rPr lang="en-US" i="1" err="1">
                <a:latin typeface="Times New Roman" panose="02020603050405020304" pitchFamily="18" charset="0"/>
                <a:cs typeface="Times New Roman" panose="02020603050405020304" pitchFamily="18" charset="0"/>
              </a:rPr>
              <a:t>Clk</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signal is called the </a:t>
            </a:r>
            <a:r>
              <a:rPr lang="en-US" i="1">
                <a:latin typeface="Times New Roman" panose="02020603050405020304" pitchFamily="18" charset="0"/>
                <a:cs typeface="Times New Roman" panose="02020603050405020304" pitchFamily="18" charset="0"/>
              </a:rPr>
              <a:t>setup time</a:t>
            </a:r>
            <a:r>
              <a:rPr lang="en-US">
                <a:latin typeface="Times New Roman" panose="02020603050405020304" pitchFamily="18" charset="0"/>
                <a:cs typeface="Times New Roman" panose="02020603050405020304" pitchFamily="18" charset="0"/>
              </a:rPr>
              <a:t>, </a:t>
            </a:r>
            <a:r>
              <a:rPr lang="en-US" i="1" err="1">
                <a:latin typeface="Times New Roman" panose="02020603050405020304" pitchFamily="18" charset="0"/>
                <a:cs typeface="Times New Roman" panose="02020603050405020304" pitchFamily="18" charset="0"/>
              </a:rPr>
              <a:t>tsu</a:t>
            </a:r>
            <a:r>
              <a:rPr lang="en-US">
                <a:latin typeface="Times New Roman" panose="02020603050405020304" pitchFamily="18" charset="0"/>
                <a:cs typeface="Times New Roman" panose="02020603050405020304" pitchFamily="18" charset="0"/>
              </a:rPr>
              <a:t>, of the latch.</a:t>
            </a: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Hold Time (</a:t>
            </a:r>
            <a:r>
              <a:rPr lang="en-US" i="1" err="1">
                <a:latin typeface="Times New Roman" panose="02020603050405020304" pitchFamily="18" charset="0"/>
                <a:cs typeface="Times New Roman" panose="02020603050405020304" pitchFamily="18" charset="0"/>
              </a:rPr>
              <a:t>th</a:t>
            </a:r>
            <a:r>
              <a:rPr lang="en-US">
                <a:latin typeface="Times New Roman" panose="02020603050405020304" pitchFamily="18" charset="0"/>
                <a:cs typeface="Times New Roman" panose="02020603050405020304" pitchFamily="18" charset="0"/>
              </a:rPr>
              <a:t>): The minimum time that the </a:t>
            </a:r>
            <a:r>
              <a:rPr lang="en-US" i="1">
                <a:latin typeface="Times New Roman" panose="02020603050405020304" pitchFamily="18" charset="0"/>
                <a:cs typeface="Times New Roman" panose="02020603050405020304" pitchFamily="18" charset="0"/>
              </a:rPr>
              <a:t>D </a:t>
            </a:r>
            <a:r>
              <a:rPr lang="en-US">
                <a:latin typeface="Times New Roman" panose="02020603050405020304" pitchFamily="18" charset="0"/>
                <a:cs typeface="Times New Roman" panose="02020603050405020304" pitchFamily="18" charset="0"/>
              </a:rPr>
              <a:t>signal must remain stable after the negative edge (or positive edge based on what type of </a:t>
            </a:r>
            <a:r>
              <a:rPr lang="en-US" err="1">
                <a:latin typeface="Times New Roman" panose="02020603050405020304" pitchFamily="18" charset="0"/>
                <a:cs typeface="Times New Roman" panose="02020603050405020304" pitchFamily="18" charset="0"/>
              </a:rPr>
              <a:t>flipflop</a:t>
            </a:r>
            <a:r>
              <a:rPr lang="en-US">
                <a:latin typeface="Times New Roman" panose="02020603050405020304" pitchFamily="18" charset="0"/>
                <a:cs typeface="Times New Roman" panose="02020603050405020304" pitchFamily="18" charset="0"/>
              </a:rPr>
              <a:t>) of the </a:t>
            </a:r>
            <a:r>
              <a:rPr lang="en-US" i="1" err="1">
                <a:latin typeface="Times New Roman" panose="02020603050405020304" pitchFamily="18" charset="0"/>
                <a:cs typeface="Times New Roman" panose="02020603050405020304" pitchFamily="18" charset="0"/>
              </a:rPr>
              <a:t>Clk</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signal is called the </a:t>
            </a:r>
            <a:r>
              <a:rPr lang="en-US" i="1">
                <a:latin typeface="Times New Roman" panose="02020603050405020304" pitchFamily="18" charset="0"/>
                <a:cs typeface="Times New Roman" panose="02020603050405020304" pitchFamily="18" charset="0"/>
              </a:rPr>
              <a:t>hold time</a:t>
            </a:r>
            <a:r>
              <a:rPr lang="en-US">
                <a:latin typeface="Times New Roman" panose="02020603050405020304" pitchFamily="18" charset="0"/>
                <a:cs typeface="Times New Roman" panose="02020603050405020304" pitchFamily="18" charset="0"/>
              </a:rPr>
              <a:t>, </a:t>
            </a:r>
            <a:r>
              <a:rPr lang="en-US" i="1" err="1">
                <a:latin typeface="Times New Roman" panose="02020603050405020304" pitchFamily="18" charset="0"/>
                <a:cs typeface="Times New Roman" panose="02020603050405020304" pitchFamily="18" charset="0"/>
              </a:rPr>
              <a:t>th</a:t>
            </a:r>
            <a:r>
              <a:rPr lang="en-US">
                <a:latin typeface="Times New Roman" panose="02020603050405020304" pitchFamily="18" charset="0"/>
                <a:cs typeface="Times New Roman" panose="02020603050405020304" pitchFamily="18" charset="0"/>
              </a:rPr>
              <a:t>, of the latch.</a:t>
            </a: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Typical values for </a:t>
            </a:r>
            <a:r>
              <a:rPr lang="en-US" i="1" err="1">
                <a:latin typeface="Times New Roman" panose="02020603050405020304" pitchFamily="18" charset="0"/>
                <a:cs typeface="Times New Roman" panose="02020603050405020304" pitchFamily="18" charset="0"/>
              </a:rPr>
              <a:t>tsu</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 3 ns and </a:t>
            </a:r>
            <a:r>
              <a:rPr lang="en-US" i="1" err="1">
                <a:latin typeface="Times New Roman" panose="02020603050405020304" pitchFamily="18" charset="0"/>
                <a:cs typeface="Times New Roman" panose="02020603050405020304" pitchFamily="18" charset="0"/>
              </a:rPr>
              <a:t>th</a:t>
            </a:r>
            <a:r>
              <a:rPr lang="en-US" i="1">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 2 ns.</a:t>
            </a:r>
          </a:p>
          <a:p>
            <a:pPr algn="just"/>
            <a:endParaRPr lang="en-US">
              <a:latin typeface="Times New Roman" panose="02020603050405020304" pitchFamily="18" charset="0"/>
              <a:cs typeface="Times New Roman" panose="02020603050405020304" pitchFamily="18" charset="0"/>
            </a:endParaRPr>
          </a:p>
          <a:p>
            <a:pPr algn="just"/>
            <a:r>
              <a:rPr lang="en-US">
                <a:latin typeface="Times New Roman" panose="02020603050405020304" pitchFamily="18" charset="0"/>
                <a:cs typeface="Times New Roman" panose="02020603050405020304" pitchFamily="18" charset="0"/>
              </a:rPr>
              <a:t>If Set up time and Hold time are not adhered then the circuit will enter in Metastable state.</a:t>
            </a:r>
          </a:p>
        </p:txBody>
      </p:sp>
    </p:spTree>
    <p:extLst>
      <p:ext uri="{BB962C8B-B14F-4D97-AF65-F5344CB8AC3E}">
        <p14:creationId xmlns:p14="http://schemas.microsoft.com/office/powerpoint/2010/main" val="1726006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Timing Diagram Showing Difference between D Latch and D Flip Flop Working</a:t>
            </a:r>
          </a:p>
        </p:txBody>
      </p:sp>
      <p:pic>
        <p:nvPicPr>
          <p:cNvPr id="7" name="Content Placeholder 6"/>
          <p:cNvPicPr>
            <a:picLocks noGrp="1" noChangeAspect="1"/>
          </p:cNvPicPr>
          <p:nvPr>
            <p:ph idx="1"/>
          </p:nvPr>
        </p:nvPicPr>
        <p:blipFill>
          <a:blip r:embed="rId2"/>
          <a:stretch>
            <a:fillRect/>
          </a:stretch>
        </p:blipFill>
        <p:spPr>
          <a:xfrm>
            <a:off x="1040471" y="2406333"/>
            <a:ext cx="10206649" cy="3199292"/>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13</a:t>
            </a:fld>
            <a:endParaRPr lang="en-US"/>
          </a:p>
        </p:txBody>
      </p:sp>
    </p:spTree>
    <p:extLst>
      <p:ext uri="{BB962C8B-B14F-4D97-AF65-F5344CB8AC3E}">
        <p14:creationId xmlns:p14="http://schemas.microsoft.com/office/powerpoint/2010/main" val="579421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Analyze this Waveform: Exercise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1418" y="1961928"/>
            <a:ext cx="7485016" cy="3351499"/>
          </a:xfr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14</a:t>
            </a:fld>
            <a:endParaRPr lang="en-US"/>
          </a:p>
        </p:txBody>
      </p:sp>
    </p:spTree>
    <p:extLst>
      <p:ext uri="{BB962C8B-B14F-4D97-AF65-F5344CB8AC3E}">
        <p14:creationId xmlns:p14="http://schemas.microsoft.com/office/powerpoint/2010/main" val="2409854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latin typeface="Times New Roman" panose="02020603050405020304" pitchFamily="18" charset="0"/>
              </a:rPr>
              <a:t>A Positive-Edge-Triggered D flip-flop.</a:t>
            </a:r>
            <a:endParaRPr lang="en-US"/>
          </a:p>
        </p:txBody>
      </p:sp>
      <p:pic>
        <p:nvPicPr>
          <p:cNvPr id="7" name="Content Placeholder 6"/>
          <p:cNvPicPr>
            <a:picLocks noGrp="1" noChangeAspect="1"/>
          </p:cNvPicPr>
          <p:nvPr>
            <p:ph idx="1"/>
          </p:nvPr>
        </p:nvPicPr>
        <p:blipFill>
          <a:blip r:embed="rId2"/>
          <a:stretch>
            <a:fillRect/>
          </a:stretch>
        </p:blipFill>
        <p:spPr>
          <a:xfrm>
            <a:off x="3527925" y="2331594"/>
            <a:ext cx="2518001" cy="2169355"/>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15</a:t>
            </a:fld>
            <a:endParaRPr lang="en-US"/>
          </a:p>
        </p:txBody>
      </p:sp>
    </p:spTree>
    <p:extLst>
      <p:ext uri="{BB962C8B-B14F-4D97-AF65-F5344CB8AC3E}">
        <p14:creationId xmlns:p14="http://schemas.microsoft.com/office/powerpoint/2010/main" val="1949461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372" y="288493"/>
            <a:ext cx="10515600" cy="625907"/>
          </a:xfrm>
        </p:spPr>
        <p:txBody>
          <a:bodyPr>
            <a:normAutofit fontScale="90000"/>
          </a:bodyPr>
          <a:lstStyle/>
          <a:p>
            <a:r>
              <a:rPr lang="en-US" altLang="en-US">
                <a:latin typeface="Times New Roman" panose="02020603050405020304" pitchFamily="18" charset="0"/>
              </a:rPr>
              <a:t>Master-Slave D flip-flop with Clear and Preset</a:t>
            </a:r>
            <a:endParaRPr lang="en-US"/>
          </a:p>
        </p:txBody>
      </p:sp>
      <p:pic>
        <p:nvPicPr>
          <p:cNvPr id="7" name="Content Placeholder 6"/>
          <p:cNvPicPr>
            <a:picLocks noGrp="1" noChangeAspect="1"/>
          </p:cNvPicPr>
          <p:nvPr>
            <p:ph idx="1"/>
          </p:nvPr>
        </p:nvPicPr>
        <p:blipFill>
          <a:blip r:embed="rId2"/>
          <a:stretch>
            <a:fillRect/>
          </a:stretch>
        </p:blipFill>
        <p:spPr>
          <a:xfrm>
            <a:off x="7813540" y="3792594"/>
            <a:ext cx="2952205" cy="2820263"/>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16</a:t>
            </a:fld>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434452369"/>
              </p:ext>
            </p:extLst>
          </p:nvPr>
        </p:nvGraphicFramePr>
        <p:xfrm>
          <a:off x="388981" y="947441"/>
          <a:ext cx="9055465" cy="2392680"/>
        </p:xfrm>
        <a:graphic>
          <a:graphicData uri="http://schemas.openxmlformats.org/drawingml/2006/table">
            <a:tbl>
              <a:tblPr firstRow="1" bandRow="1">
                <a:tableStyleId>{5C22544A-7EE6-4342-B048-85BDC9FD1C3A}</a:tableStyleId>
              </a:tblPr>
              <a:tblGrid>
                <a:gridCol w="799739">
                  <a:extLst>
                    <a:ext uri="{9D8B030D-6E8A-4147-A177-3AD203B41FA5}">
                      <a16:colId xmlns:a16="http://schemas.microsoft.com/office/drawing/2014/main" val="1382923165"/>
                    </a:ext>
                  </a:extLst>
                </a:gridCol>
                <a:gridCol w="808056">
                  <a:extLst>
                    <a:ext uri="{9D8B030D-6E8A-4147-A177-3AD203B41FA5}">
                      <a16:colId xmlns:a16="http://schemas.microsoft.com/office/drawing/2014/main" val="3474884017"/>
                    </a:ext>
                  </a:extLst>
                </a:gridCol>
                <a:gridCol w="2263105">
                  <a:extLst>
                    <a:ext uri="{9D8B030D-6E8A-4147-A177-3AD203B41FA5}">
                      <a16:colId xmlns:a16="http://schemas.microsoft.com/office/drawing/2014/main" val="388286471"/>
                    </a:ext>
                  </a:extLst>
                </a:gridCol>
                <a:gridCol w="1933925">
                  <a:extLst>
                    <a:ext uri="{9D8B030D-6E8A-4147-A177-3AD203B41FA5}">
                      <a16:colId xmlns:a16="http://schemas.microsoft.com/office/drawing/2014/main" val="3730243312"/>
                    </a:ext>
                  </a:extLst>
                </a:gridCol>
                <a:gridCol w="3250640">
                  <a:extLst>
                    <a:ext uri="{9D8B030D-6E8A-4147-A177-3AD203B41FA5}">
                      <a16:colId xmlns:a16="http://schemas.microsoft.com/office/drawing/2014/main" val="3652778010"/>
                    </a:ext>
                  </a:extLst>
                </a:gridCol>
              </a:tblGrid>
              <a:tr h="370840">
                <a:tc>
                  <a:txBody>
                    <a:bodyPr/>
                    <a:lstStyle/>
                    <a:p>
                      <a:r>
                        <a:rPr lang="en-US">
                          <a:latin typeface="Times New Roman" panose="02020603050405020304" pitchFamily="18" charset="0"/>
                          <a:cs typeface="Times New Roman" panose="02020603050405020304" pitchFamily="18" charset="0"/>
                        </a:rPr>
                        <a:t>Preset</a:t>
                      </a:r>
                    </a:p>
                  </a:txBody>
                  <a:tcPr/>
                </a:tc>
                <a:tc>
                  <a:txBody>
                    <a:bodyPr/>
                    <a:lstStyle/>
                    <a:p>
                      <a:r>
                        <a:rPr lang="en-US">
                          <a:latin typeface="Times New Roman" panose="02020603050405020304" pitchFamily="18" charset="0"/>
                          <a:cs typeface="Times New Roman" panose="02020603050405020304" pitchFamily="18" charset="0"/>
                        </a:rPr>
                        <a:t>Clear</a:t>
                      </a:r>
                    </a:p>
                  </a:txBody>
                  <a:tcPr/>
                </a:tc>
                <a:tc>
                  <a:txBody>
                    <a:bodyPr/>
                    <a:lstStyle/>
                    <a:p>
                      <a:r>
                        <a:rPr lang="en-US">
                          <a:latin typeface="Times New Roman" panose="02020603050405020304" pitchFamily="18" charset="0"/>
                          <a:cs typeface="Times New Roman" panose="02020603050405020304" pitchFamily="18" charset="0"/>
                        </a:rPr>
                        <a:t>D Input</a:t>
                      </a:r>
                    </a:p>
                  </a:txBody>
                  <a:tcPr/>
                </a:tc>
                <a:tc>
                  <a:txBody>
                    <a:bodyPr/>
                    <a:lstStyle/>
                    <a:p>
                      <a:r>
                        <a:rPr lang="en-US">
                          <a:latin typeface="Times New Roman" panose="02020603050405020304" pitchFamily="18" charset="0"/>
                          <a:cs typeface="Times New Roman" panose="02020603050405020304" pitchFamily="18" charset="0"/>
                        </a:rPr>
                        <a:t>Q Output</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866913211"/>
                  </a:ext>
                </a:extLst>
              </a:tr>
              <a:tr h="370840">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Don’t Care</a:t>
                      </a:r>
                    </a:p>
                  </a:txBody>
                  <a:tcPr/>
                </a:tc>
                <a:tc>
                  <a:txBody>
                    <a:bodyPr/>
                    <a:lstStyle/>
                    <a:p>
                      <a:r>
                        <a:rPr lang="en-US">
                          <a:latin typeface="Times New Roman" panose="02020603050405020304" pitchFamily="18" charset="0"/>
                          <a:cs typeface="Times New Roman" panose="02020603050405020304" pitchFamily="18" charset="0"/>
                        </a:rPr>
                        <a:t>Don’t Care</a:t>
                      </a:r>
                    </a:p>
                  </a:txBody>
                  <a:tcPr/>
                </a:tc>
                <a:tc>
                  <a:txBody>
                    <a:bodyPr/>
                    <a:lstStyle/>
                    <a:p>
                      <a:r>
                        <a:rPr lang="en-US">
                          <a:latin typeface="Times New Roman" panose="02020603050405020304" pitchFamily="18" charset="0"/>
                          <a:cs typeface="Times New Roman" panose="02020603050405020304" pitchFamily="18" charset="0"/>
                        </a:rPr>
                        <a:t>Invalid</a:t>
                      </a:r>
                    </a:p>
                  </a:txBody>
                  <a:tcPr/>
                </a:tc>
                <a:extLst>
                  <a:ext uri="{0D108BD9-81ED-4DB2-BD59-A6C34878D82A}">
                    <a16:rowId xmlns:a16="http://schemas.microsoft.com/office/drawing/2014/main" val="130802682"/>
                  </a:ext>
                </a:extLst>
              </a:tr>
              <a:tr h="370840">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Don’t Care</a:t>
                      </a:r>
                    </a:p>
                  </a:txBody>
                  <a:tcPr/>
                </a:tc>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Preset Condition</a:t>
                      </a:r>
                    </a:p>
                  </a:txBody>
                  <a:tcPr/>
                </a:tc>
                <a:extLst>
                  <a:ext uri="{0D108BD9-81ED-4DB2-BD59-A6C34878D82A}">
                    <a16:rowId xmlns:a16="http://schemas.microsoft.com/office/drawing/2014/main" val="2351808824"/>
                  </a:ext>
                </a:extLst>
              </a:tr>
              <a:tr h="370840">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Don’t Care</a:t>
                      </a:r>
                    </a:p>
                    <a:p>
                      <a:endParaRPr lang="en-US">
                        <a:latin typeface="Times New Roman" panose="02020603050405020304" pitchFamily="18" charset="0"/>
                        <a:cs typeface="Times New Roman" panose="02020603050405020304" pitchFamily="18" charset="0"/>
                      </a:endParaRPr>
                    </a:p>
                  </a:txBody>
                  <a:tcPr/>
                </a:tc>
                <a:tc>
                  <a:txBody>
                    <a:bodyPr/>
                    <a:lstStyle/>
                    <a:p>
                      <a:pPr algn="ctr"/>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Clear or Reset</a:t>
                      </a:r>
                      <a:r>
                        <a:rPr lang="en-US" baseline="0">
                          <a:latin typeface="Times New Roman" panose="02020603050405020304" pitchFamily="18" charset="0"/>
                          <a:cs typeface="Times New Roman" panose="02020603050405020304" pitchFamily="18" charset="0"/>
                        </a:rPr>
                        <a:t> Condition</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3304526"/>
                  </a:ext>
                </a:extLst>
              </a:tr>
              <a:tr h="370840">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pPr algn="ctr"/>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Whatever</a:t>
                      </a:r>
                      <a:r>
                        <a:rPr lang="en-US" baseline="0">
                          <a:latin typeface="Times New Roman" panose="02020603050405020304" pitchFamily="18" charset="0"/>
                          <a:cs typeface="Times New Roman" panose="02020603050405020304" pitchFamily="18" charset="0"/>
                        </a:rPr>
                        <a:t> Valid value on D Input</a:t>
                      </a:r>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Q = D</a:t>
                      </a:r>
                    </a:p>
                    <a:p>
                      <a:r>
                        <a:rPr lang="en-US">
                          <a:latin typeface="Times New Roman" panose="02020603050405020304" pitchFamily="18" charset="0"/>
                          <a:cs typeface="Times New Roman" panose="02020603050405020304" pitchFamily="18" charset="0"/>
                        </a:rPr>
                        <a:t>Valid Output on Q</a:t>
                      </a:r>
                    </a:p>
                  </a:txBody>
                  <a:tcPr/>
                </a:tc>
                <a:tc>
                  <a:txBody>
                    <a:bodyPr/>
                    <a:lstStyle/>
                    <a:p>
                      <a:r>
                        <a:rPr lang="en-US">
                          <a:latin typeface="Times New Roman" panose="02020603050405020304" pitchFamily="18" charset="0"/>
                          <a:cs typeface="Times New Roman" panose="02020603050405020304" pitchFamily="18" charset="0"/>
                        </a:rPr>
                        <a:t>Regular or</a:t>
                      </a:r>
                      <a:r>
                        <a:rPr lang="en-US" baseline="0">
                          <a:latin typeface="Times New Roman" panose="02020603050405020304" pitchFamily="18" charset="0"/>
                          <a:cs typeface="Times New Roman" panose="02020603050405020304" pitchFamily="18" charset="0"/>
                        </a:rPr>
                        <a:t> Normal Functionality of D Flip flop begins</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93047554"/>
                  </a:ext>
                </a:extLst>
              </a:tr>
            </a:tbl>
          </a:graphicData>
        </a:graphic>
      </p:graphicFrame>
      <p:sp>
        <p:nvSpPr>
          <p:cNvPr id="11" name="TextBox 10"/>
          <p:cNvSpPr txBox="1"/>
          <p:nvPr/>
        </p:nvSpPr>
        <p:spPr>
          <a:xfrm>
            <a:off x="3674419" y="3794648"/>
            <a:ext cx="2870072" cy="1754326"/>
          </a:xfrm>
          <a:prstGeom prst="rect">
            <a:avLst/>
          </a:prstGeom>
          <a:noFill/>
        </p:spPr>
        <p:txBody>
          <a:bodyPr wrap="square" lIns="91440" tIns="45720" rIns="91440" bIns="45720" rtlCol="0" anchor="t">
            <a:spAutoFit/>
          </a:bodyPr>
          <a:lstStyle/>
          <a:p>
            <a:pPr algn="just"/>
            <a:r>
              <a:rPr lang="en-US">
                <a:latin typeface="Times New Roman"/>
                <a:cs typeface="Times New Roman"/>
              </a:rPr>
              <a:t>We have assumed Low Level Active Preset and Clear here.</a:t>
            </a:r>
          </a:p>
          <a:p>
            <a:pPr algn="just"/>
            <a:r>
              <a:rPr lang="en-US">
                <a:latin typeface="Times New Roman"/>
                <a:cs typeface="Times New Roman"/>
              </a:rPr>
              <a:t>* Practically, these may be Low </a:t>
            </a:r>
            <a:r>
              <a:rPr lang="en-US">
                <a:solidFill>
                  <a:srgbClr val="FF0000"/>
                </a:solidFill>
                <a:latin typeface="Times New Roman"/>
                <a:cs typeface="Times New Roman"/>
              </a:rPr>
              <a:t>level </a:t>
            </a:r>
            <a:r>
              <a:rPr lang="en-US">
                <a:latin typeface="Times New Roman"/>
                <a:cs typeface="Times New Roman"/>
              </a:rPr>
              <a:t>or High level active</a:t>
            </a:r>
          </a:p>
        </p:txBody>
      </p:sp>
    </p:spTree>
    <p:extLst>
      <p:ext uri="{BB962C8B-B14F-4D97-AF65-F5344CB8AC3E}">
        <p14:creationId xmlns:p14="http://schemas.microsoft.com/office/powerpoint/2010/main" val="943253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Asynchronous Clear</a:t>
            </a:r>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17</a:t>
            </a:fld>
            <a:endParaRPr lang="en-US"/>
          </a:p>
        </p:txBody>
      </p:sp>
      <p:sp>
        <p:nvSpPr>
          <p:cNvPr id="3" name="Content Placeholder 2"/>
          <p:cNvSpPr>
            <a:spLocks noGrp="1"/>
          </p:cNvSpPr>
          <p:nvPr>
            <p:ph idx="1"/>
          </p:nvPr>
        </p:nvSpPr>
        <p:spPr>
          <a:xfrm>
            <a:off x="5812971" y="1237796"/>
            <a:ext cx="5540829" cy="4351338"/>
          </a:xfrm>
        </p:spPr>
        <p:txBody>
          <a:bodyPr>
            <a:normAutofit fontScale="85000" lnSpcReduction="20000"/>
          </a:bodyPr>
          <a:lstStyle/>
          <a:p>
            <a:pPr algn="just"/>
            <a:r>
              <a:rPr lang="en-US">
                <a:latin typeface="Times New Roman" panose="02020603050405020304" pitchFamily="18" charset="0"/>
                <a:cs typeface="Times New Roman" panose="02020603050405020304" pitchFamily="18" charset="0"/>
              </a:rPr>
              <a:t>If the Clear Signal is considered to be Asynchronous signal, then that means the Clear signal will not wait for clock (positive edge as per the diagram here), and Q will made zero (0) immediately without waiting for the clock’s required edge.  That is Clear signal is not synchronized with Clock signal.</a:t>
            </a:r>
          </a:p>
          <a:p>
            <a:pPr algn="just"/>
            <a:r>
              <a:rPr lang="en-US">
                <a:latin typeface="Times New Roman" panose="02020603050405020304" pitchFamily="18" charset="0"/>
                <a:cs typeface="Times New Roman" panose="02020603050405020304" pitchFamily="18" charset="0"/>
              </a:rPr>
              <a:t>If the Clear Signal is considered to be Synchronous signal, then that means the Clear signal will wait clock till immediate positive edge (positive edge as per the diagram here) occurs on the clock and then Q will be made zero (0). That is Clear signal is synchronized with Clock signal.</a:t>
            </a:r>
          </a:p>
          <a:p>
            <a:endParaRPr lang="en-US"/>
          </a:p>
          <a:p>
            <a:endParaRPr lang="en-US"/>
          </a:p>
        </p:txBody>
      </p:sp>
      <p:pic>
        <p:nvPicPr>
          <p:cNvPr id="8" name="Picture 7"/>
          <p:cNvPicPr>
            <a:picLocks noChangeAspect="1"/>
          </p:cNvPicPr>
          <p:nvPr/>
        </p:nvPicPr>
        <p:blipFill>
          <a:blip r:embed="rId2"/>
          <a:stretch>
            <a:fillRect/>
          </a:stretch>
        </p:blipFill>
        <p:spPr>
          <a:xfrm>
            <a:off x="838200" y="1848644"/>
            <a:ext cx="3714750" cy="2152650"/>
          </a:xfrm>
          <a:prstGeom prst="rect">
            <a:avLst/>
          </a:prstGeom>
        </p:spPr>
      </p:pic>
    </p:spTree>
    <p:extLst>
      <p:ext uri="{BB962C8B-B14F-4D97-AF65-F5344CB8AC3E}">
        <p14:creationId xmlns:p14="http://schemas.microsoft.com/office/powerpoint/2010/main" val="1312060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FBA3F-3683-0952-E936-6986DC617AD9}"/>
              </a:ext>
            </a:extLst>
          </p:cNvPr>
          <p:cNvSpPr>
            <a:spLocks noGrp="1"/>
          </p:cNvSpPr>
          <p:nvPr>
            <p:ph type="title"/>
          </p:nvPr>
        </p:nvSpPr>
        <p:spPr/>
        <p:txBody>
          <a:bodyPr/>
          <a:lstStyle/>
          <a:p>
            <a:endParaRPr lang="en-US"/>
          </a:p>
        </p:txBody>
      </p:sp>
      <p:pic>
        <p:nvPicPr>
          <p:cNvPr id="7" name="Content Placeholder 6" descr="Master Slave Flip-Flop Explained - ALL ABOUT ELECTRONICS">
            <a:extLst>
              <a:ext uri="{FF2B5EF4-FFF2-40B4-BE49-F238E27FC236}">
                <a16:creationId xmlns:a16="http://schemas.microsoft.com/office/drawing/2014/main" id="{9B0823B8-2C04-60AB-D968-B22D6E8BE828}"/>
              </a:ext>
            </a:extLst>
          </p:cNvPr>
          <p:cNvPicPr>
            <a:picLocks noGrp="1" noChangeAspect="1"/>
          </p:cNvPicPr>
          <p:nvPr>
            <p:ph idx="1"/>
          </p:nvPr>
        </p:nvPicPr>
        <p:blipFill>
          <a:blip r:embed="rId2"/>
          <a:stretch>
            <a:fillRect/>
          </a:stretch>
        </p:blipFill>
        <p:spPr>
          <a:xfrm>
            <a:off x="459103" y="1445603"/>
            <a:ext cx="10526171" cy="4766324"/>
          </a:xfrm>
          <a:prstGeom prst="rect">
            <a:avLst/>
          </a:prstGeom>
        </p:spPr>
      </p:pic>
      <p:sp>
        <p:nvSpPr>
          <p:cNvPr id="4" name="Date Placeholder 3">
            <a:extLst>
              <a:ext uri="{FF2B5EF4-FFF2-40B4-BE49-F238E27FC236}">
                <a16:creationId xmlns:a16="http://schemas.microsoft.com/office/drawing/2014/main" id="{FD5B97F2-9AD5-044B-B608-85711AC91937}"/>
              </a:ext>
            </a:extLst>
          </p:cNvPr>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a:extLst>
              <a:ext uri="{FF2B5EF4-FFF2-40B4-BE49-F238E27FC236}">
                <a16:creationId xmlns:a16="http://schemas.microsoft.com/office/drawing/2014/main" id="{C7196BE3-B2D5-595E-5AF9-A6B28247BA8A}"/>
              </a:ext>
            </a:extLst>
          </p:cNvPr>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a:extLst>
              <a:ext uri="{FF2B5EF4-FFF2-40B4-BE49-F238E27FC236}">
                <a16:creationId xmlns:a16="http://schemas.microsoft.com/office/drawing/2014/main" id="{76BBD53F-AAEA-8632-22C6-B06573CD3B0F}"/>
              </a:ext>
            </a:extLst>
          </p:cNvPr>
          <p:cNvSpPr>
            <a:spLocks noGrp="1"/>
          </p:cNvSpPr>
          <p:nvPr>
            <p:ph type="sldNum" sz="quarter" idx="12"/>
          </p:nvPr>
        </p:nvSpPr>
        <p:spPr/>
        <p:txBody>
          <a:bodyPr/>
          <a:lstStyle/>
          <a:p>
            <a:fld id="{84075514-8565-4B1F-808F-4A3F55E508C2}" type="slidenum">
              <a:rPr lang="en-US" smtClean="0"/>
              <a:t>18</a:t>
            </a:fld>
            <a:endParaRPr lang="en-US"/>
          </a:p>
        </p:txBody>
      </p:sp>
    </p:spTree>
    <p:extLst>
      <p:ext uri="{BB962C8B-B14F-4D97-AF65-F5344CB8AC3E}">
        <p14:creationId xmlns:p14="http://schemas.microsoft.com/office/powerpoint/2010/main" val="41910389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932" y="178306"/>
            <a:ext cx="10515600" cy="587741"/>
          </a:xfrm>
        </p:spPr>
        <p:txBody>
          <a:bodyPr>
            <a:normAutofit fontScale="90000"/>
          </a:bodyPr>
          <a:lstStyle/>
          <a:p>
            <a:r>
              <a:rPr lang="en-US">
                <a:latin typeface="Times New Roman" panose="02020603050405020304" pitchFamily="18" charset="0"/>
                <a:cs typeface="Times New Roman" panose="02020603050405020304" pitchFamily="18" charset="0"/>
              </a:rPr>
              <a:t>Master Slave SR Flip Flop </a:t>
            </a:r>
          </a:p>
        </p:txBody>
      </p:sp>
      <p:pic>
        <p:nvPicPr>
          <p:cNvPr id="7" name="Content Placeholder 6"/>
          <p:cNvPicPr>
            <a:picLocks noGrp="1" noChangeAspect="1"/>
          </p:cNvPicPr>
          <p:nvPr>
            <p:ph idx="1"/>
          </p:nvPr>
        </p:nvPicPr>
        <p:blipFill>
          <a:blip r:embed="rId2"/>
          <a:stretch>
            <a:fillRect/>
          </a:stretch>
        </p:blipFill>
        <p:spPr>
          <a:xfrm>
            <a:off x="708314" y="850852"/>
            <a:ext cx="4647457" cy="2268633"/>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19</a:t>
            </a:fld>
            <a:endParaRPr lang="en-US"/>
          </a:p>
        </p:txBody>
      </p:sp>
      <p:sp>
        <p:nvSpPr>
          <p:cNvPr id="8" name="TextBox 7"/>
          <p:cNvSpPr txBox="1"/>
          <p:nvPr/>
        </p:nvSpPr>
        <p:spPr>
          <a:xfrm>
            <a:off x="7123683" y="766047"/>
            <a:ext cx="1531188" cy="369332"/>
          </a:xfrm>
          <a:prstGeom prst="rect">
            <a:avLst/>
          </a:prstGeom>
          <a:noFill/>
        </p:spPr>
        <p:txBody>
          <a:bodyPr wrap="none" rtlCol="0">
            <a:spAutoFit/>
          </a:bodyPr>
          <a:lstStyle/>
          <a:p>
            <a:r>
              <a:rPr lang="en-US"/>
              <a:t>C = Clock = </a:t>
            </a:r>
            <a:r>
              <a:rPr lang="en-US" err="1"/>
              <a:t>Clk</a:t>
            </a:r>
            <a:endParaRPr lang="en-US"/>
          </a:p>
        </p:txBody>
      </p:sp>
      <p:graphicFrame>
        <p:nvGraphicFramePr>
          <p:cNvPr id="9" name="Table 8"/>
          <p:cNvGraphicFramePr>
            <a:graphicFrameLocks noGrp="1"/>
          </p:cNvGraphicFramePr>
          <p:nvPr>
            <p:extLst>
              <p:ext uri="{D42A27DB-BD31-4B8C-83A1-F6EECF244321}">
                <p14:modId xmlns:p14="http://schemas.microsoft.com/office/powerpoint/2010/main" val="1497145934"/>
              </p:ext>
            </p:extLst>
          </p:nvPr>
        </p:nvGraphicFramePr>
        <p:xfrm>
          <a:off x="538494" y="3204290"/>
          <a:ext cx="11233317" cy="3514921"/>
        </p:xfrm>
        <a:graphic>
          <a:graphicData uri="http://schemas.openxmlformats.org/drawingml/2006/table">
            <a:tbl>
              <a:tblPr firstRow="1" bandRow="1">
                <a:tableStyleId>{5C22544A-7EE6-4342-B048-85BDC9FD1C3A}</a:tableStyleId>
              </a:tblPr>
              <a:tblGrid>
                <a:gridCol w="3027666">
                  <a:extLst>
                    <a:ext uri="{9D8B030D-6E8A-4147-A177-3AD203B41FA5}">
                      <a16:colId xmlns:a16="http://schemas.microsoft.com/office/drawing/2014/main" val="3910006820"/>
                    </a:ext>
                  </a:extLst>
                </a:gridCol>
                <a:gridCol w="849086">
                  <a:extLst>
                    <a:ext uri="{9D8B030D-6E8A-4147-A177-3AD203B41FA5}">
                      <a16:colId xmlns:a16="http://schemas.microsoft.com/office/drawing/2014/main" val="2657517821"/>
                    </a:ext>
                  </a:extLst>
                </a:gridCol>
                <a:gridCol w="822960">
                  <a:extLst>
                    <a:ext uri="{9D8B030D-6E8A-4147-A177-3AD203B41FA5}">
                      <a16:colId xmlns:a16="http://schemas.microsoft.com/office/drawing/2014/main" val="2260564930"/>
                    </a:ext>
                  </a:extLst>
                </a:gridCol>
                <a:gridCol w="836023">
                  <a:extLst>
                    <a:ext uri="{9D8B030D-6E8A-4147-A177-3AD203B41FA5}">
                      <a16:colId xmlns:a16="http://schemas.microsoft.com/office/drawing/2014/main" val="696852008"/>
                    </a:ext>
                  </a:extLst>
                </a:gridCol>
                <a:gridCol w="788015">
                  <a:extLst>
                    <a:ext uri="{9D8B030D-6E8A-4147-A177-3AD203B41FA5}">
                      <a16:colId xmlns:a16="http://schemas.microsoft.com/office/drawing/2014/main" val="1158505447"/>
                    </a:ext>
                  </a:extLst>
                </a:gridCol>
                <a:gridCol w="4909567">
                  <a:extLst>
                    <a:ext uri="{9D8B030D-6E8A-4147-A177-3AD203B41FA5}">
                      <a16:colId xmlns:a16="http://schemas.microsoft.com/office/drawing/2014/main" val="286078293"/>
                    </a:ext>
                  </a:extLst>
                </a:gridCol>
              </a:tblGrid>
              <a:tr h="345264">
                <a:tc>
                  <a:txBody>
                    <a:bodyPr/>
                    <a:lstStyle/>
                    <a:p>
                      <a:r>
                        <a:rPr lang="en-US">
                          <a:latin typeface="Times New Roman" panose="02020603050405020304" pitchFamily="18" charset="0"/>
                          <a:cs typeface="Times New Roman" panose="02020603050405020304" pitchFamily="18" charset="0"/>
                        </a:rPr>
                        <a:t>C = </a:t>
                      </a:r>
                      <a:r>
                        <a:rPr lang="en-US" err="1">
                          <a:latin typeface="Times New Roman" panose="02020603050405020304" pitchFamily="18" charset="0"/>
                          <a:cs typeface="Times New Roman" panose="02020603050405020304" pitchFamily="18" charset="0"/>
                        </a:rPr>
                        <a:t>Clk</a:t>
                      </a:r>
                      <a:r>
                        <a:rPr lang="en-US">
                          <a:latin typeface="Times New Roman" panose="02020603050405020304" pitchFamily="18" charset="0"/>
                          <a:cs typeface="Times New Roman" panose="02020603050405020304" pitchFamily="18" charset="0"/>
                        </a:rPr>
                        <a:t> = Clock</a:t>
                      </a:r>
                    </a:p>
                  </a:txBody>
                  <a:tcPr/>
                </a:tc>
                <a:tc>
                  <a:txBody>
                    <a:bodyPr/>
                    <a:lstStyle/>
                    <a:p>
                      <a:r>
                        <a:rPr lang="en-US">
                          <a:latin typeface="Times New Roman" panose="02020603050405020304" pitchFamily="18" charset="0"/>
                          <a:cs typeface="Times New Roman" panose="02020603050405020304" pitchFamily="18" charset="0"/>
                        </a:rPr>
                        <a:t>S</a:t>
                      </a:r>
                    </a:p>
                  </a:txBody>
                  <a:tcPr/>
                </a:tc>
                <a:tc>
                  <a:txBody>
                    <a:bodyPr/>
                    <a:lstStyle/>
                    <a:p>
                      <a:r>
                        <a:rPr lang="en-US">
                          <a:latin typeface="Times New Roman" panose="02020603050405020304" pitchFamily="18" charset="0"/>
                          <a:cs typeface="Times New Roman" panose="02020603050405020304" pitchFamily="18" charset="0"/>
                        </a:rPr>
                        <a:t>R</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1126810701"/>
                  </a:ext>
                </a:extLst>
              </a:tr>
              <a:tr h="345264">
                <a:tc>
                  <a:txBody>
                    <a:bodyPr/>
                    <a:lstStyle/>
                    <a:p>
                      <a:r>
                        <a:rPr lang="en-US">
                          <a:latin typeface="Times New Roman" panose="02020603050405020304" pitchFamily="18" charset="0"/>
                          <a:cs typeface="Times New Roman" panose="02020603050405020304" pitchFamily="18" charset="0"/>
                        </a:rPr>
                        <a:t>Negative edge on C</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Same as that of the previous</a:t>
                      </a:r>
                      <a:r>
                        <a:rPr lang="en-US" baseline="0">
                          <a:latin typeface="Times New Roman" panose="02020603050405020304" pitchFamily="18" charset="0"/>
                          <a:cs typeface="Times New Roman" panose="02020603050405020304" pitchFamily="18" charset="0"/>
                        </a:rPr>
                        <a:t> value</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3010669"/>
                  </a:ext>
                </a:extLst>
              </a:tr>
              <a:tr h="6042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Negative edge on C</a:t>
                      </a:r>
                    </a:p>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Reset state</a:t>
                      </a:r>
                    </a:p>
                  </a:txBody>
                  <a:tcPr/>
                </a:tc>
                <a:extLst>
                  <a:ext uri="{0D108BD9-81ED-4DB2-BD59-A6C34878D82A}">
                    <a16:rowId xmlns:a16="http://schemas.microsoft.com/office/drawing/2014/main" val="2964575581"/>
                  </a:ext>
                </a:extLst>
              </a:tr>
              <a:tr h="6042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Negative edge on C</a:t>
                      </a:r>
                    </a:p>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Set state</a:t>
                      </a:r>
                    </a:p>
                  </a:txBody>
                  <a:tcPr/>
                </a:tc>
                <a:extLst>
                  <a:ext uri="{0D108BD9-81ED-4DB2-BD59-A6C34878D82A}">
                    <a16:rowId xmlns:a16="http://schemas.microsoft.com/office/drawing/2014/main" val="839286144"/>
                  </a:ext>
                </a:extLst>
              </a:tr>
              <a:tr h="6042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Negative edge on C</a:t>
                      </a:r>
                    </a:p>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Invalid or Undefined</a:t>
                      </a:r>
                    </a:p>
                  </a:txBody>
                  <a:tcPr/>
                </a:tc>
                <a:extLst>
                  <a:ext uri="{0D108BD9-81ED-4DB2-BD59-A6C34878D82A}">
                    <a16:rowId xmlns:a16="http://schemas.microsoft.com/office/drawing/2014/main" val="1464654479"/>
                  </a:ext>
                </a:extLst>
              </a:tr>
              <a:tr h="863161">
                <a:tc>
                  <a:txBody>
                    <a:bodyPr/>
                    <a:lstStyle/>
                    <a:p>
                      <a:r>
                        <a:rPr lang="en-US">
                          <a:latin typeface="Times New Roman" panose="02020603050405020304" pitchFamily="18" charset="0"/>
                          <a:cs typeface="Times New Roman" panose="02020603050405020304" pitchFamily="18" charset="0"/>
                        </a:rPr>
                        <a:t>Any other value on C other than negative edge on the C</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Same as that of the previous</a:t>
                      </a:r>
                      <a:r>
                        <a:rPr lang="en-US" baseline="0">
                          <a:latin typeface="Times New Roman" panose="02020603050405020304" pitchFamily="18" charset="0"/>
                          <a:cs typeface="Times New Roman" panose="02020603050405020304" pitchFamily="18" charset="0"/>
                        </a:rPr>
                        <a:t> value</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8060077"/>
                  </a:ext>
                </a:extLst>
              </a:tr>
            </a:tbl>
          </a:graphicData>
        </a:graphic>
      </p:graphicFrame>
      <p:pic>
        <p:nvPicPr>
          <p:cNvPr id="10" name="Picture 9"/>
          <p:cNvPicPr>
            <a:picLocks noChangeAspect="1"/>
          </p:cNvPicPr>
          <p:nvPr/>
        </p:nvPicPr>
        <p:blipFill>
          <a:blip r:embed="rId3"/>
          <a:stretch>
            <a:fillRect/>
          </a:stretch>
        </p:blipFill>
        <p:spPr>
          <a:xfrm>
            <a:off x="9181012" y="1431279"/>
            <a:ext cx="2590800" cy="1638300"/>
          </a:xfrm>
          <a:prstGeom prst="rect">
            <a:avLst/>
          </a:prstGeom>
        </p:spPr>
      </p:pic>
      <p:pic>
        <p:nvPicPr>
          <p:cNvPr id="11" name="Picture 10"/>
          <p:cNvPicPr>
            <a:picLocks noChangeAspect="1"/>
          </p:cNvPicPr>
          <p:nvPr/>
        </p:nvPicPr>
        <p:blipFill>
          <a:blip r:embed="rId4"/>
          <a:stretch>
            <a:fillRect/>
          </a:stretch>
        </p:blipFill>
        <p:spPr>
          <a:xfrm>
            <a:off x="5934891" y="1177608"/>
            <a:ext cx="2667000" cy="1657350"/>
          </a:xfrm>
          <a:prstGeom prst="rect">
            <a:avLst/>
          </a:prstGeom>
        </p:spPr>
      </p:pic>
    </p:spTree>
    <p:extLst>
      <p:ext uri="{BB962C8B-B14F-4D97-AF65-F5344CB8AC3E}">
        <p14:creationId xmlns:p14="http://schemas.microsoft.com/office/powerpoint/2010/main" val="1144566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17" y="87223"/>
            <a:ext cx="10515600" cy="575401"/>
          </a:xfrm>
        </p:spPr>
        <p:txBody>
          <a:bodyPr>
            <a:normAutofit fontScale="90000"/>
          </a:bodyPr>
          <a:lstStyle/>
          <a:p>
            <a:r>
              <a:rPr lang="en-US">
                <a:latin typeface="Times New Roman" panose="02020603050405020304" pitchFamily="18" charset="0"/>
              </a:rPr>
              <a:t>J K </a:t>
            </a:r>
            <a:r>
              <a:rPr lang="en-US" err="1">
                <a:latin typeface="Times New Roman" panose="02020603050405020304" pitchFamily="18" charset="0"/>
              </a:rPr>
              <a:t>Flipflop</a:t>
            </a:r>
            <a:r>
              <a:rPr lang="en-US">
                <a:latin typeface="Times New Roman" panose="02020603050405020304" pitchFamily="18" charset="0"/>
              </a:rPr>
              <a:t> (Master Slave)</a:t>
            </a:r>
            <a:endParaRPr lang="en-US"/>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20</a:t>
            </a:fld>
            <a:endParaRPr lang="en-US"/>
          </a:p>
        </p:txBody>
      </p:sp>
      <p:pic>
        <p:nvPicPr>
          <p:cNvPr id="3" name="Picture 2"/>
          <p:cNvPicPr>
            <a:picLocks noChangeAspect="1"/>
          </p:cNvPicPr>
          <p:nvPr/>
        </p:nvPicPr>
        <p:blipFill>
          <a:blip r:embed="rId2"/>
          <a:stretch>
            <a:fillRect/>
          </a:stretch>
        </p:blipFill>
        <p:spPr>
          <a:xfrm>
            <a:off x="1371859" y="573377"/>
            <a:ext cx="7458631" cy="3027760"/>
          </a:xfrm>
          <a:prstGeom prst="rect">
            <a:avLst/>
          </a:prstGeom>
        </p:spPr>
      </p:pic>
      <p:pic>
        <p:nvPicPr>
          <p:cNvPr id="7" name="Picture 6"/>
          <p:cNvPicPr>
            <a:picLocks noChangeAspect="1"/>
          </p:cNvPicPr>
          <p:nvPr/>
        </p:nvPicPr>
        <p:blipFill>
          <a:blip r:embed="rId3"/>
          <a:stretch>
            <a:fillRect/>
          </a:stretch>
        </p:blipFill>
        <p:spPr>
          <a:xfrm>
            <a:off x="213360" y="3645663"/>
            <a:ext cx="8397240" cy="2893249"/>
          </a:xfrm>
          <a:prstGeom prst="rect">
            <a:avLst/>
          </a:prstGeom>
        </p:spPr>
      </p:pic>
      <p:pic>
        <p:nvPicPr>
          <p:cNvPr id="15" name="Content Placeholder 14"/>
          <p:cNvPicPr>
            <a:picLocks noGrp="1" noChangeAspect="1"/>
          </p:cNvPicPr>
          <p:nvPr>
            <p:ph idx="1"/>
          </p:nvPr>
        </p:nvPicPr>
        <p:blipFill>
          <a:blip r:embed="rId4"/>
          <a:stretch>
            <a:fillRect/>
          </a:stretch>
        </p:blipFill>
        <p:spPr>
          <a:xfrm>
            <a:off x="9251904" y="4181857"/>
            <a:ext cx="2714625" cy="1638300"/>
          </a:xfrm>
          <a:prstGeom prst="rect">
            <a:avLst/>
          </a:prstGeom>
        </p:spPr>
      </p:pic>
      <p:sp>
        <p:nvSpPr>
          <p:cNvPr id="13" name="TextBox 12"/>
          <p:cNvSpPr txBox="1"/>
          <p:nvPr/>
        </p:nvSpPr>
        <p:spPr>
          <a:xfrm>
            <a:off x="9640389" y="1280160"/>
            <a:ext cx="1531188" cy="369332"/>
          </a:xfrm>
          <a:prstGeom prst="rect">
            <a:avLst/>
          </a:prstGeom>
          <a:noFill/>
        </p:spPr>
        <p:txBody>
          <a:bodyPr wrap="none" rtlCol="0">
            <a:spAutoFit/>
          </a:bodyPr>
          <a:lstStyle/>
          <a:p>
            <a:r>
              <a:rPr lang="en-US"/>
              <a:t>Clock = C = </a:t>
            </a:r>
            <a:r>
              <a:rPr lang="en-US" err="1"/>
              <a:t>Clk</a:t>
            </a:r>
            <a:endParaRPr lang="en-US"/>
          </a:p>
        </p:txBody>
      </p:sp>
      <p:pic>
        <p:nvPicPr>
          <p:cNvPr id="14" name="Picture 13"/>
          <p:cNvPicPr>
            <a:picLocks noChangeAspect="1"/>
          </p:cNvPicPr>
          <p:nvPr/>
        </p:nvPicPr>
        <p:blipFill>
          <a:blip r:embed="rId5"/>
          <a:stretch>
            <a:fillRect/>
          </a:stretch>
        </p:blipFill>
        <p:spPr>
          <a:xfrm>
            <a:off x="9472205" y="1871187"/>
            <a:ext cx="2590800" cy="1638300"/>
          </a:xfrm>
          <a:prstGeom prst="rect">
            <a:avLst/>
          </a:prstGeom>
        </p:spPr>
      </p:pic>
    </p:spTree>
    <p:extLst>
      <p:ext uri="{BB962C8B-B14F-4D97-AF65-F5344CB8AC3E}">
        <p14:creationId xmlns:p14="http://schemas.microsoft.com/office/powerpoint/2010/main" val="3464820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0537" y="339634"/>
            <a:ext cx="4678680" cy="322990"/>
          </a:xfrm>
        </p:spPr>
        <p:txBody>
          <a:bodyPr>
            <a:normAutofit fontScale="90000"/>
          </a:bodyPr>
          <a:lstStyle/>
          <a:p>
            <a:r>
              <a:rPr lang="en-US">
                <a:latin typeface="Times New Roman" panose="02020603050405020304" pitchFamily="18" charset="0"/>
              </a:rPr>
              <a:t>J K </a:t>
            </a:r>
            <a:r>
              <a:rPr lang="en-US" err="1">
                <a:latin typeface="Times New Roman" panose="02020603050405020304" pitchFamily="18" charset="0"/>
              </a:rPr>
              <a:t>Flipflop</a:t>
            </a:r>
            <a:r>
              <a:rPr lang="en-US">
                <a:latin typeface="Times New Roman" panose="02020603050405020304" pitchFamily="18" charset="0"/>
              </a:rPr>
              <a:t> </a:t>
            </a:r>
            <a:br>
              <a:rPr lang="en-US">
                <a:latin typeface="Times New Roman" panose="02020603050405020304" pitchFamily="18" charset="0"/>
              </a:rPr>
            </a:br>
            <a:r>
              <a:rPr lang="en-US">
                <a:latin typeface="Times New Roman" panose="02020603050405020304" pitchFamily="18" charset="0"/>
              </a:rPr>
              <a:t>(Master Slave)</a:t>
            </a:r>
            <a:endParaRPr lang="en-US"/>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21</a:t>
            </a:fld>
            <a:endParaRPr lang="en-US"/>
          </a:p>
        </p:txBody>
      </p:sp>
      <p:sp>
        <p:nvSpPr>
          <p:cNvPr id="9" name="Content Placeholder 2"/>
          <p:cNvSpPr txBox="1">
            <a:spLocks/>
          </p:cNvSpPr>
          <p:nvPr/>
        </p:nvSpPr>
        <p:spPr>
          <a:xfrm>
            <a:off x="130629" y="144712"/>
            <a:ext cx="5799908" cy="54999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200">
                <a:latin typeface="Times New Roman" panose="02020603050405020304" pitchFamily="18" charset="0"/>
                <a:cs typeface="Times New Roman" panose="02020603050405020304" pitchFamily="18" charset="0"/>
              </a:rPr>
              <a:t>When </a:t>
            </a:r>
            <a:r>
              <a:rPr lang="en-US" sz="1200" err="1">
                <a:latin typeface="Times New Roman" panose="02020603050405020304" pitchFamily="18" charset="0"/>
                <a:cs typeface="Times New Roman" panose="02020603050405020304" pitchFamily="18" charset="0"/>
              </a:rPr>
              <a:t>clk</a:t>
            </a:r>
            <a:r>
              <a:rPr lang="en-US" sz="1200">
                <a:latin typeface="Times New Roman" panose="02020603050405020304" pitchFamily="18" charset="0"/>
                <a:cs typeface="Times New Roman" panose="02020603050405020304" pitchFamily="18" charset="0"/>
              </a:rPr>
              <a:t> = 1 Mater Latch is active and when </a:t>
            </a:r>
            <a:r>
              <a:rPr lang="en-US" sz="1200" err="1">
                <a:latin typeface="Times New Roman" panose="02020603050405020304" pitchFamily="18" charset="0"/>
                <a:cs typeface="Times New Roman" panose="02020603050405020304" pitchFamily="18" charset="0"/>
              </a:rPr>
              <a:t>clk</a:t>
            </a:r>
            <a:r>
              <a:rPr lang="en-US" sz="1200">
                <a:latin typeface="Times New Roman" panose="02020603050405020304" pitchFamily="18" charset="0"/>
                <a:cs typeface="Times New Roman" panose="02020603050405020304" pitchFamily="18" charset="0"/>
              </a:rPr>
              <a:t> = 0 Slave latch is active.</a:t>
            </a:r>
          </a:p>
          <a:p>
            <a:pPr algn="just"/>
            <a:r>
              <a:rPr lang="en-US" sz="1200">
                <a:latin typeface="Times New Roman" panose="02020603050405020304" pitchFamily="18" charset="0"/>
                <a:cs typeface="Times New Roman" panose="02020603050405020304" pitchFamily="18" charset="0"/>
              </a:rPr>
              <a:t>a) </a:t>
            </a:r>
            <a:r>
              <a:rPr lang="en-US" sz="1200" b="1">
                <a:latin typeface="Times New Roman" panose="02020603050405020304" pitchFamily="18" charset="0"/>
                <a:cs typeface="Times New Roman" panose="02020603050405020304" pitchFamily="18" charset="0"/>
              </a:rPr>
              <a:t>When J = 0 and K = 0, </a:t>
            </a:r>
            <a:r>
              <a:rPr lang="en-US" sz="1200">
                <a:latin typeface="Times New Roman" panose="02020603050405020304" pitchFamily="18" charset="0"/>
                <a:cs typeface="Times New Roman" panose="02020603050405020304" pitchFamily="18" charset="0"/>
              </a:rPr>
              <a:t>Master Latch input S = R = 0 therefore QM and QM’ will be same as that of the previous value. Therefore, based on previous value on QM = 0/1 and QM’ = 1/0, the output QS = 0/1 and QS’ = 1/0. </a:t>
            </a:r>
          </a:p>
          <a:p>
            <a:pPr algn="just"/>
            <a:r>
              <a:rPr lang="en-US" sz="1200">
                <a:latin typeface="Times New Roman" panose="02020603050405020304" pitchFamily="18" charset="0"/>
                <a:cs typeface="Times New Roman" panose="02020603050405020304" pitchFamily="18" charset="0"/>
              </a:rPr>
              <a:t>b) </a:t>
            </a:r>
            <a:r>
              <a:rPr lang="en-US" sz="1200" b="1">
                <a:latin typeface="Times New Roman" panose="02020603050405020304" pitchFamily="18" charset="0"/>
                <a:cs typeface="Times New Roman" panose="02020603050405020304" pitchFamily="18" charset="0"/>
              </a:rPr>
              <a:t>When J = 0 and K = 1</a:t>
            </a:r>
            <a:r>
              <a:rPr lang="en-US" sz="1200">
                <a:latin typeface="Times New Roman" panose="02020603050405020304" pitchFamily="18" charset="0"/>
                <a:cs typeface="Times New Roman" panose="02020603050405020304" pitchFamily="18" charset="0"/>
              </a:rPr>
              <a:t>, Master Latch input S = 0 and R can not be defined hence we assume </a:t>
            </a:r>
          </a:p>
          <a:p>
            <a:pPr lvl="1" algn="just"/>
            <a:r>
              <a:rPr lang="en-US" sz="1200">
                <a:latin typeface="Times New Roman" panose="02020603050405020304" pitchFamily="18" charset="0"/>
                <a:cs typeface="Times New Roman" panose="02020603050405020304" pitchFamily="18" charset="0"/>
              </a:rPr>
              <a:t>Case i) If we assume at this time Q = 0 and Q’ = 1, then R = 0 hence QM and QM’ will have the same previous value QM = 0 and QM’ = 1. This causes the QS and QS’ to be 0 and 1 respectively (same as previous).</a:t>
            </a:r>
          </a:p>
          <a:p>
            <a:pPr lvl="1" algn="just"/>
            <a:r>
              <a:rPr lang="en-US" sz="1200">
                <a:latin typeface="Times New Roman" panose="02020603050405020304" pitchFamily="18" charset="0"/>
                <a:cs typeface="Times New Roman" panose="02020603050405020304" pitchFamily="18" charset="0"/>
              </a:rPr>
              <a:t>Case ii) If we assume at this time Q = 1 and Q’ = 0, then R = 1 hence QM and QM’ will have the value as QM = 0 and QM’ = 1. This causes the QS and QS’ to be 0 and 1 respectively.</a:t>
            </a:r>
          </a:p>
          <a:p>
            <a:pPr lvl="1" algn="just"/>
            <a:r>
              <a:rPr lang="en-US" sz="1200">
                <a:latin typeface="Times New Roman" panose="02020603050405020304" pitchFamily="18" charset="0"/>
                <a:cs typeface="Times New Roman" panose="02020603050405020304" pitchFamily="18" charset="0"/>
              </a:rPr>
              <a:t>Hence, we conclude that when J = 0 and K = 1, then Q = 0 and Q’ = 1 </a:t>
            </a:r>
          </a:p>
          <a:p>
            <a:pPr algn="just"/>
            <a:r>
              <a:rPr lang="en-US" sz="1200">
                <a:latin typeface="Times New Roman" panose="02020603050405020304" pitchFamily="18" charset="0"/>
                <a:cs typeface="Times New Roman" panose="02020603050405020304" pitchFamily="18" charset="0"/>
              </a:rPr>
              <a:t>c) </a:t>
            </a:r>
            <a:r>
              <a:rPr lang="en-US" sz="1200" b="1">
                <a:latin typeface="Times New Roman" panose="02020603050405020304" pitchFamily="18" charset="0"/>
                <a:cs typeface="Times New Roman" panose="02020603050405020304" pitchFamily="18" charset="0"/>
              </a:rPr>
              <a:t>When J = 1 and K = 0, </a:t>
            </a:r>
            <a:r>
              <a:rPr lang="en-US" sz="1200">
                <a:latin typeface="Times New Roman" panose="02020603050405020304" pitchFamily="18" charset="0"/>
                <a:cs typeface="Times New Roman" panose="02020603050405020304" pitchFamily="18" charset="0"/>
              </a:rPr>
              <a:t>Master Latch input R = 0 and S can not be defined hence we assume </a:t>
            </a:r>
          </a:p>
          <a:p>
            <a:pPr lvl="1" algn="just"/>
            <a:r>
              <a:rPr lang="en-US" sz="1200">
                <a:latin typeface="Times New Roman" panose="02020603050405020304" pitchFamily="18" charset="0"/>
                <a:cs typeface="Times New Roman" panose="02020603050405020304" pitchFamily="18" charset="0"/>
              </a:rPr>
              <a:t>Case </a:t>
            </a:r>
            <a:r>
              <a:rPr lang="en-US" sz="1200" err="1">
                <a:latin typeface="Times New Roman" panose="02020603050405020304" pitchFamily="18" charset="0"/>
                <a:cs typeface="Times New Roman" panose="02020603050405020304" pitchFamily="18" charset="0"/>
              </a:rPr>
              <a:t>i</a:t>
            </a:r>
            <a:r>
              <a:rPr lang="en-US" sz="1200">
                <a:latin typeface="Times New Roman" panose="02020603050405020304" pitchFamily="18" charset="0"/>
                <a:cs typeface="Times New Roman" panose="02020603050405020304" pitchFamily="18" charset="0"/>
              </a:rPr>
              <a:t>) If we assume at this time Q = 0 and Q’ = 1, then S = 1 hence QM = 1 and QM’ = 0. This causes the QS and QS’ to be 1 and 0 respectively.</a:t>
            </a:r>
          </a:p>
          <a:p>
            <a:pPr lvl="1" algn="just"/>
            <a:r>
              <a:rPr lang="en-US" sz="1200">
                <a:latin typeface="Times New Roman" panose="02020603050405020304" pitchFamily="18" charset="0"/>
                <a:cs typeface="Times New Roman" panose="02020603050405020304" pitchFamily="18" charset="0"/>
              </a:rPr>
              <a:t>Case ii) If we assume at this time Q = 1 and Q’ = 0, then S = 0 hence QM and QM’ will have the same previous value QM = 1 and QM’ = 0. This causes the QS and QS’ to be 1 and 0 respectively (same as previous).</a:t>
            </a:r>
          </a:p>
          <a:p>
            <a:pPr lvl="1" algn="just"/>
            <a:r>
              <a:rPr lang="en-US" sz="1200">
                <a:latin typeface="Times New Roman" panose="02020603050405020304" pitchFamily="18" charset="0"/>
                <a:cs typeface="Times New Roman" panose="02020603050405020304" pitchFamily="18" charset="0"/>
              </a:rPr>
              <a:t>Hence, we conclude that when J = 1 and K =  0, then Q = 1 and Q’ = 0 </a:t>
            </a:r>
          </a:p>
          <a:p>
            <a:pPr marL="457200" lvl="1" indent="0" algn="just">
              <a:buNone/>
            </a:pPr>
            <a:r>
              <a:rPr lang="en-US" sz="1200">
                <a:latin typeface="Times New Roman" panose="02020603050405020304" pitchFamily="18" charset="0"/>
                <a:cs typeface="Times New Roman" panose="02020603050405020304" pitchFamily="18" charset="0"/>
              </a:rPr>
              <a:t>d) </a:t>
            </a:r>
            <a:r>
              <a:rPr lang="en-US" sz="1200" b="1">
                <a:latin typeface="Times New Roman" panose="02020603050405020304" pitchFamily="18" charset="0"/>
                <a:cs typeface="Times New Roman" panose="02020603050405020304" pitchFamily="18" charset="0"/>
              </a:rPr>
              <a:t>When J = 1 and K =  1,</a:t>
            </a:r>
            <a:r>
              <a:rPr lang="en-US" sz="1200">
                <a:latin typeface="Times New Roman" panose="02020603050405020304" pitchFamily="18" charset="0"/>
                <a:cs typeface="Times New Roman" panose="02020603050405020304" pitchFamily="18" charset="0"/>
              </a:rPr>
              <a:t> Master Latch input  S and R inputs  can not be defined hence we assume </a:t>
            </a:r>
          </a:p>
          <a:p>
            <a:pPr lvl="1" algn="just"/>
            <a:r>
              <a:rPr lang="en-US" sz="1200">
                <a:latin typeface="Times New Roman" panose="02020603050405020304" pitchFamily="18" charset="0"/>
                <a:cs typeface="Times New Roman" panose="02020603050405020304" pitchFamily="18" charset="0"/>
              </a:rPr>
              <a:t>Case </a:t>
            </a:r>
            <a:r>
              <a:rPr lang="en-US" sz="1200" err="1">
                <a:latin typeface="Times New Roman" panose="02020603050405020304" pitchFamily="18" charset="0"/>
                <a:cs typeface="Times New Roman" panose="02020603050405020304" pitchFamily="18" charset="0"/>
              </a:rPr>
              <a:t>i</a:t>
            </a:r>
            <a:r>
              <a:rPr lang="en-US" sz="1200">
                <a:latin typeface="Times New Roman" panose="02020603050405020304" pitchFamily="18" charset="0"/>
                <a:cs typeface="Times New Roman" panose="02020603050405020304" pitchFamily="18" charset="0"/>
              </a:rPr>
              <a:t>) If we assume at this time Q = 0 and Q’ = 1, then S = 1  and R = 0, hence QM = 1 and QM’ = 0. This causes the QS and QS’ to be 1 and 0 respectively.</a:t>
            </a:r>
          </a:p>
          <a:p>
            <a:pPr lvl="1" algn="just"/>
            <a:r>
              <a:rPr lang="en-US" sz="1200">
                <a:latin typeface="Times New Roman" panose="02020603050405020304" pitchFamily="18" charset="0"/>
                <a:cs typeface="Times New Roman" panose="02020603050405020304" pitchFamily="18" charset="0"/>
              </a:rPr>
              <a:t>Case ii) If we assume at this time Q = 1 and Q’ = 0, then S = 0 and R = 1,  hence QM  = 0 and QM’ = 1. This causes the QS and QS’ to be 0 and 1 respectively. </a:t>
            </a:r>
          </a:p>
          <a:p>
            <a:pPr lvl="1" algn="just"/>
            <a:r>
              <a:rPr lang="en-US" sz="1200">
                <a:latin typeface="Times New Roman" panose="02020603050405020304" pitchFamily="18" charset="0"/>
                <a:cs typeface="Times New Roman" panose="02020603050405020304" pitchFamily="18" charset="0"/>
              </a:rPr>
              <a:t>Hence, we conclude that when J = 1 and K =  1, then Q and Q’ toggles  with respect to the previous value and hence it is a valid output and removes the drawback of the Master Slave SR </a:t>
            </a:r>
            <a:r>
              <a:rPr lang="en-US" sz="1200" err="1">
                <a:latin typeface="Times New Roman" panose="02020603050405020304" pitchFamily="18" charset="0"/>
                <a:cs typeface="Times New Roman" panose="02020603050405020304" pitchFamily="18" charset="0"/>
              </a:rPr>
              <a:t>flipflop</a:t>
            </a:r>
            <a:r>
              <a:rPr lang="en-US" sz="1200">
                <a:latin typeface="Times New Roman" panose="02020603050405020304" pitchFamily="18" charset="0"/>
                <a:cs typeface="Times New Roman" panose="02020603050405020304" pitchFamily="18" charset="0"/>
              </a:rPr>
              <a:t> where for S=R= 1, the output is invalid as discussed before.  </a:t>
            </a:r>
          </a:p>
          <a:p>
            <a:pPr marL="457200" lvl="1" indent="0">
              <a:buNone/>
            </a:pPr>
            <a:r>
              <a:rPr lang="en-US" sz="1200"/>
              <a:t> </a:t>
            </a:r>
          </a:p>
          <a:p>
            <a:pPr marL="457200" lvl="1" indent="0">
              <a:buNone/>
            </a:pPr>
            <a:r>
              <a:rPr lang="en-US" sz="1200"/>
              <a:t> </a:t>
            </a:r>
          </a:p>
          <a:p>
            <a:pPr marL="457200" lvl="1" indent="0">
              <a:buNone/>
            </a:pPr>
            <a:r>
              <a:rPr lang="en-US" sz="1200"/>
              <a:t> </a:t>
            </a:r>
          </a:p>
        </p:txBody>
      </p:sp>
      <p:pic>
        <p:nvPicPr>
          <p:cNvPr id="12" name="Picture 11"/>
          <p:cNvPicPr>
            <a:picLocks noChangeAspect="1"/>
          </p:cNvPicPr>
          <p:nvPr/>
        </p:nvPicPr>
        <p:blipFill>
          <a:blip r:embed="rId2"/>
          <a:stretch>
            <a:fillRect/>
          </a:stretch>
        </p:blipFill>
        <p:spPr>
          <a:xfrm>
            <a:off x="6096000" y="1028827"/>
            <a:ext cx="6110896" cy="2480660"/>
          </a:xfrm>
          <a:prstGeom prst="rect">
            <a:avLst/>
          </a:prstGeom>
        </p:spPr>
      </p:pic>
      <p:pic>
        <p:nvPicPr>
          <p:cNvPr id="7" name="Picture 6"/>
          <p:cNvPicPr>
            <a:picLocks noChangeAspect="1"/>
          </p:cNvPicPr>
          <p:nvPr/>
        </p:nvPicPr>
        <p:blipFill>
          <a:blip r:embed="rId3"/>
          <a:stretch>
            <a:fillRect/>
          </a:stretch>
        </p:blipFill>
        <p:spPr>
          <a:xfrm>
            <a:off x="7674239" y="4118180"/>
            <a:ext cx="4408516" cy="2238170"/>
          </a:xfrm>
          <a:prstGeom prst="rect">
            <a:avLst/>
          </a:prstGeom>
        </p:spPr>
      </p:pic>
      <p:pic>
        <p:nvPicPr>
          <p:cNvPr id="14" name="Picture 13"/>
          <p:cNvPicPr>
            <a:picLocks noChangeAspect="1"/>
          </p:cNvPicPr>
          <p:nvPr/>
        </p:nvPicPr>
        <p:blipFill>
          <a:blip r:embed="rId4"/>
          <a:stretch>
            <a:fillRect/>
          </a:stretch>
        </p:blipFill>
        <p:spPr>
          <a:xfrm>
            <a:off x="5930537" y="3585377"/>
            <a:ext cx="1741525" cy="1101259"/>
          </a:xfrm>
          <a:prstGeom prst="rect">
            <a:avLst/>
          </a:prstGeom>
        </p:spPr>
      </p:pic>
    </p:spTree>
    <p:extLst>
      <p:ext uri="{BB962C8B-B14F-4D97-AF65-F5344CB8AC3E}">
        <p14:creationId xmlns:p14="http://schemas.microsoft.com/office/powerpoint/2010/main" val="1882038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623" y="143057"/>
            <a:ext cx="10515600" cy="601526"/>
          </a:xfrm>
        </p:spPr>
        <p:txBody>
          <a:bodyPr>
            <a:normAutofit fontScale="90000"/>
          </a:bodyPr>
          <a:lstStyle/>
          <a:p>
            <a:r>
              <a:rPr lang="en-US">
                <a:latin typeface="Times New Roman" panose="02020603050405020304" pitchFamily="18" charset="0"/>
                <a:cs typeface="Times New Roman" panose="02020603050405020304" pitchFamily="18" charset="0"/>
              </a:rPr>
              <a:t>T (Toggle) Flip Flop </a:t>
            </a:r>
          </a:p>
        </p:txBody>
      </p:sp>
      <p:pic>
        <p:nvPicPr>
          <p:cNvPr id="7" name="Content Placeholder 6"/>
          <p:cNvPicPr>
            <a:picLocks noGrp="1" noChangeAspect="1"/>
          </p:cNvPicPr>
          <p:nvPr>
            <p:ph idx="1"/>
          </p:nvPr>
        </p:nvPicPr>
        <p:blipFill>
          <a:blip r:embed="rId2"/>
          <a:stretch>
            <a:fillRect/>
          </a:stretch>
        </p:blipFill>
        <p:spPr>
          <a:xfrm>
            <a:off x="7093132" y="881562"/>
            <a:ext cx="4924425" cy="2419350"/>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22</a:t>
            </a:fld>
            <a:endParaRPr lang="en-US"/>
          </a:p>
        </p:txBody>
      </p:sp>
      <p:pic>
        <p:nvPicPr>
          <p:cNvPr id="8" name="Picture 7"/>
          <p:cNvPicPr>
            <a:picLocks noChangeAspect="1"/>
          </p:cNvPicPr>
          <p:nvPr/>
        </p:nvPicPr>
        <p:blipFill>
          <a:blip r:embed="rId3"/>
          <a:stretch>
            <a:fillRect/>
          </a:stretch>
        </p:blipFill>
        <p:spPr>
          <a:xfrm>
            <a:off x="69667" y="881562"/>
            <a:ext cx="7023465" cy="2954927"/>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806403894"/>
              </p:ext>
            </p:extLst>
          </p:nvPr>
        </p:nvGraphicFramePr>
        <p:xfrm>
          <a:off x="838200" y="3836489"/>
          <a:ext cx="10410357" cy="2234761"/>
        </p:xfrm>
        <a:graphic>
          <a:graphicData uri="http://schemas.openxmlformats.org/drawingml/2006/table">
            <a:tbl>
              <a:tblPr firstRow="1" bandRow="1">
                <a:tableStyleId>{5C22544A-7EE6-4342-B048-85BDC9FD1C3A}</a:tableStyleId>
              </a:tblPr>
              <a:tblGrid>
                <a:gridCol w="3027666">
                  <a:extLst>
                    <a:ext uri="{9D8B030D-6E8A-4147-A177-3AD203B41FA5}">
                      <a16:colId xmlns:a16="http://schemas.microsoft.com/office/drawing/2014/main" val="3910006820"/>
                    </a:ext>
                  </a:extLst>
                </a:gridCol>
                <a:gridCol w="849086">
                  <a:extLst>
                    <a:ext uri="{9D8B030D-6E8A-4147-A177-3AD203B41FA5}">
                      <a16:colId xmlns:a16="http://schemas.microsoft.com/office/drawing/2014/main" val="2657517821"/>
                    </a:ext>
                  </a:extLst>
                </a:gridCol>
                <a:gridCol w="836023">
                  <a:extLst>
                    <a:ext uri="{9D8B030D-6E8A-4147-A177-3AD203B41FA5}">
                      <a16:colId xmlns:a16="http://schemas.microsoft.com/office/drawing/2014/main" val="696852008"/>
                    </a:ext>
                  </a:extLst>
                </a:gridCol>
                <a:gridCol w="788015">
                  <a:extLst>
                    <a:ext uri="{9D8B030D-6E8A-4147-A177-3AD203B41FA5}">
                      <a16:colId xmlns:a16="http://schemas.microsoft.com/office/drawing/2014/main" val="1158505447"/>
                    </a:ext>
                  </a:extLst>
                </a:gridCol>
                <a:gridCol w="4909567">
                  <a:extLst>
                    <a:ext uri="{9D8B030D-6E8A-4147-A177-3AD203B41FA5}">
                      <a16:colId xmlns:a16="http://schemas.microsoft.com/office/drawing/2014/main" val="286078293"/>
                    </a:ext>
                  </a:extLst>
                </a:gridCol>
              </a:tblGrid>
              <a:tr h="345264">
                <a:tc>
                  <a:txBody>
                    <a:bodyPr/>
                    <a:lstStyle/>
                    <a:p>
                      <a:r>
                        <a:rPr lang="en-US">
                          <a:latin typeface="Times New Roman" panose="02020603050405020304" pitchFamily="18" charset="0"/>
                          <a:cs typeface="Times New Roman" panose="02020603050405020304" pitchFamily="18" charset="0"/>
                        </a:rPr>
                        <a:t>C = </a:t>
                      </a:r>
                      <a:r>
                        <a:rPr lang="en-US" err="1">
                          <a:latin typeface="Times New Roman" panose="02020603050405020304" pitchFamily="18" charset="0"/>
                          <a:cs typeface="Times New Roman" panose="02020603050405020304" pitchFamily="18" charset="0"/>
                        </a:rPr>
                        <a:t>Clk</a:t>
                      </a:r>
                      <a:r>
                        <a:rPr lang="en-US">
                          <a:latin typeface="Times New Roman" panose="02020603050405020304" pitchFamily="18" charset="0"/>
                          <a:cs typeface="Times New Roman" panose="02020603050405020304" pitchFamily="18" charset="0"/>
                        </a:rPr>
                        <a:t> = Clock</a:t>
                      </a:r>
                    </a:p>
                  </a:txBody>
                  <a:tcPr/>
                </a:tc>
                <a:tc>
                  <a:txBody>
                    <a:bodyPr/>
                    <a:lstStyle/>
                    <a:p>
                      <a:r>
                        <a:rPr lang="en-US">
                          <a:latin typeface="Times New Roman" panose="02020603050405020304" pitchFamily="18" charset="0"/>
                          <a:cs typeface="Times New Roman" panose="02020603050405020304" pitchFamily="18" charset="0"/>
                        </a:rPr>
                        <a:t>T</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Remarks</a:t>
                      </a:r>
                    </a:p>
                  </a:txBody>
                  <a:tcPr/>
                </a:tc>
                <a:extLst>
                  <a:ext uri="{0D108BD9-81ED-4DB2-BD59-A6C34878D82A}">
                    <a16:rowId xmlns:a16="http://schemas.microsoft.com/office/drawing/2014/main" val="1126810701"/>
                  </a:ext>
                </a:extLst>
              </a:tr>
              <a:tr h="345264">
                <a:tc>
                  <a:txBody>
                    <a:bodyPr/>
                    <a:lstStyle/>
                    <a:p>
                      <a:r>
                        <a:rPr lang="en-US">
                          <a:latin typeface="Times New Roman" panose="02020603050405020304" pitchFamily="18" charset="0"/>
                          <a:cs typeface="Times New Roman" panose="02020603050405020304" pitchFamily="18" charset="0"/>
                        </a:rPr>
                        <a:t>Negative edge on C</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Same as that of the previous</a:t>
                      </a:r>
                      <a:r>
                        <a:rPr lang="en-US" baseline="0">
                          <a:latin typeface="Times New Roman" panose="02020603050405020304" pitchFamily="18" charset="0"/>
                          <a:cs typeface="Times New Roman" panose="02020603050405020304" pitchFamily="18" charset="0"/>
                        </a:rPr>
                        <a:t> value</a:t>
                      </a:r>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3010669"/>
                  </a:ext>
                </a:extLst>
              </a:tr>
              <a:tr h="6042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Negative edge on C</a:t>
                      </a:r>
                    </a:p>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Toggles </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e. Invert of the previous value</a:t>
                      </a:r>
                    </a:p>
                  </a:txBody>
                  <a:tcPr/>
                </a:tc>
                <a:extLst>
                  <a:ext uri="{0D108BD9-81ED-4DB2-BD59-A6C34878D82A}">
                    <a16:rowId xmlns:a16="http://schemas.microsoft.com/office/drawing/2014/main" val="2964575581"/>
                  </a:ext>
                </a:extLst>
              </a:tr>
              <a:tr h="863161">
                <a:tc>
                  <a:txBody>
                    <a:bodyPr/>
                    <a:lstStyle/>
                    <a:p>
                      <a:r>
                        <a:rPr lang="en-US">
                          <a:latin typeface="Times New Roman" panose="02020603050405020304" pitchFamily="18" charset="0"/>
                          <a:cs typeface="Times New Roman" panose="02020603050405020304" pitchFamily="18" charset="0"/>
                        </a:rPr>
                        <a:t>Any other value on C other than negative edge on the C</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r>
                        <a:rPr lang="en-US">
                          <a:latin typeface="Times New Roman" panose="02020603050405020304" pitchFamily="18" charset="0"/>
                          <a:cs typeface="Times New Roman" panose="02020603050405020304" pitchFamily="18" charset="0"/>
                        </a:rPr>
                        <a:t>Q’</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atin typeface="Times New Roman" panose="02020603050405020304" pitchFamily="18" charset="0"/>
                          <a:cs typeface="Times New Roman" panose="02020603050405020304" pitchFamily="18" charset="0"/>
                        </a:rPr>
                        <a:t>Same as that of the previous</a:t>
                      </a:r>
                      <a:r>
                        <a:rPr lang="en-US" baseline="0">
                          <a:latin typeface="Times New Roman" panose="02020603050405020304" pitchFamily="18" charset="0"/>
                          <a:cs typeface="Times New Roman" panose="02020603050405020304" pitchFamily="18" charset="0"/>
                        </a:rPr>
                        <a:t> value</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8060077"/>
                  </a:ext>
                </a:extLst>
              </a:tr>
            </a:tbl>
          </a:graphicData>
        </a:graphic>
      </p:graphicFrame>
    </p:spTree>
    <p:extLst>
      <p:ext uri="{BB962C8B-B14F-4D97-AF65-F5344CB8AC3E}">
        <p14:creationId xmlns:p14="http://schemas.microsoft.com/office/powerpoint/2010/main" val="14801033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atin typeface="Times New Roman" panose="02020603050405020304" pitchFamily="18" charset="0"/>
                <a:cs typeface="Times New Roman" panose="02020603050405020304" pitchFamily="18" charset="0"/>
              </a:rPr>
              <a:t>Summary of Truth Table of SR, JK, D and T </a:t>
            </a:r>
            <a:r>
              <a:rPr lang="en-US" err="1">
                <a:latin typeface="Times New Roman" panose="02020603050405020304" pitchFamily="18" charset="0"/>
                <a:cs typeface="Times New Roman" panose="02020603050405020304" pitchFamily="18" charset="0"/>
              </a:rPr>
              <a:t>flipflops</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Characteristic Table</a:t>
            </a:r>
          </a:p>
          <a:p>
            <a:r>
              <a:rPr lang="en-US">
                <a:latin typeface="Times New Roman" panose="02020603050405020304" pitchFamily="18" charset="0"/>
                <a:cs typeface="Times New Roman" panose="02020603050405020304" pitchFamily="18" charset="0"/>
              </a:rPr>
              <a:t>Characteristic Equation</a:t>
            </a:r>
          </a:p>
          <a:p>
            <a:r>
              <a:rPr lang="en-US">
                <a:latin typeface="Times New Roman" panose="02020603050405020304" pitchFamily="18" charset="0"/>
                <a:cs typeface="Times New Roman" panose="02020603050405020304" pitchFamily="18" charset="0"/>
              </a:rPr>
              <a:t>Excitation Table</a:t>
            </a:r>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23</a:t>
            </a:fld>
            <a:endParaRPr lang="en-US"/>
          </a:p>
        </p:txBody>
      </p:sp>
      <p:sp>
        <p:nvSpPr>
          <p:cNvPr id="7" name="Content Placeholder 7"/>
          <p:cNvSpPr txBox="1">
            <a:spLocks/>
          </p:cNvSpPr>
          <p:nvPr/>
        </p:nvSpPr>
        <p:spPr>
          <a:xfrm>
            <a:off x="8961120" y="2782389"/>
            <a:ext cx="2392680" cy="33945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Times New Roman" panose="02020603050405020304" pitchFamily="18" charset="0"/>
                <a:cs typeface="Times New Roman" panose="02020603050405020304" pitchFamily="18" charset="0"/>
              </a:rPr>
              <a:t>Characteristic Table = State Table Function Table = Truth Table</a:t>
            </a:r>
          </a:p>
        </p:txBody>
      </p:sp>
    </p:spTree>
    <p:extLst>
      <p:ext uri="{BB962C8B-B14F-4D97-AF65-F5344CB8AC3E}">
        <p14:creationId xmlns:p14="http://schemas.microsoft.com/office/powerpoint/2010/main" val="3563362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1554069" y="148557"/>
            <a:ext cx="9077053" cy="5878920"/>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24</a:t>
            </a:fld>
            <a:endParaRPr lang="en-US"/>
          </a:p>
        </p:txBody>
      </p:sp>
    </p:spTree>
    <p:extLst>
      <p:ext uri="{BB962C8B-B14F-4D97-AF65-F5344CB8AC3E}">
        <p14:creationId xmlns:p14="http://schemas.microsoft.com/office/powerpoint/2010/main" val="374986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Content Placeholder 6"/>
          <p:cNvPicPr>
            <a:picLocks noGrp="1" noChangeAspect="1"/>
          </p:cNvPicPr>
          <p:nvPr>
            <p:ph idx="1"/>
          </p:nvPr>
        </p:nvPicPr>
        <p:blipFill>
          <a:blip r:embed="rId2"/>
          <a:stretch>
            <a:fillRect/>
          </a:stretch>
        </p:blipFill>
        <p:spPr>
          <a:xfrm>
            <a:off x="493518" y="365126"/>
            <a:ext cx="9329751" cy="4691736"/>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25</a:t>
            </a:fld>
            <a:endParaRPr lang="en-US"/>
          </a:p>
        </p:txBody>
      </p:sp>
      <p:sp>
        <p:nvSpPr>
          <p:cNvPr id="8" name="Rectangle 7"/>
          <p:cNvSpPr/>
          <p:nvPr/>
        </p:nvSpPr>
        <p:spPr>
          <a:xfrm>
            <a:off x="493518" y="5106441"/>
            <a:ext cx="10048208" cy="923330"/>
          </a:xfrm>
          <a:prstGeom prst="rect">
            <a:avLst/>
          </a:prstGeom>
        </p:spPr>
        <p:txBody>
          <a:bodyPr wrap="square">
            <a:spAutoFit/>
          </a:bodyPr>
          <a:lstStyle/>
          <a:p>
            <a:pPr marL="285750" indent="-285750">
              <a:buFont typeface="Arial" panose="020B0604020202020204" pitchFamily="34" charset="0"/>
              <a:buChar char="•"/>
            </a:pPr>
            <a:r>
              <a:rPr lang="en-US">
                <a:latin typeface="Times New Roman" panose="02020603050405020304" pitchFamily="18" charset="0"/>
                <a:cs typeface="Times New Roman" panose="02020603050405020304" pitchFamily="18" charset="0"/>
              </a:rPr>
              <a:t>As an exercise, derive the state table, K-map, and excitation table for an SR flip-flop from the characteristic table. </a:t>
            </a:r>
            <a:br>
              <a:rPr lang="en-US">
                <a:latin typeface="Times New Roman" panose="02020603050405020304" pitchFamily="18" charset="0"/>
                <a:cs typeface="Times New Roman" panose="02020603050405020304" pitchFamily="18" charset="0"/>
              </a:rPr>
            </a:br>
            <a:r>
              <a:rPr lang="en-US">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26090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718457" y="9844"/>
            <a:ext cx="2299063" cy="6821396"/>
          </a:xfrm>
          <a:prstGeom prst="rect">
            <a:avLst/>
          </a:prstGeom>
        </p:spPr>
      </p:pic>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26</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758476759"/>
              </p:ext>
            </p:extLst>
          </p:nvPr>
        </p:nvGraphicFramePr>
        <p:xfrm>
          <a:off x="4271553" y="118203"/>
          <a:ext cx="4088675" cy="1381760"/>
        </p:xfrm>
        <a:graphic>
          <a:graphicData uri="http://schemas.openxmlformats.org/drawingml/2006/table">
            <a:tbl>
              <a:tblPr firstRow="1" bandRow="1">
                <a:tableStyleId>{5C22544A-7EE6-4342-B048-85BDC9FD1C3A}</a:tableStyleId>
              </a:tblPr>
              <a:tblGrid>
                <a:gridCol w="817735">
                  <a:extLst>
                    <a:ext uri="{9D8B030D-6E8A-4147-A177-3AD203B41FA5}">
                      <a16:colId xmlns:a16="http://schemas.microsoft.com/office/drawing/2014/main" val="319621942"/>
                    </a:ext>
                  </a:extLst>
                </a:gridCol>
                <a:gridCol w="817735">
                  <a:extLst>
                    <a:ext uri="{9D8B030D-6E8A-4147-A177-3AD203B41FA5}">
                      <a16:colId xmlns:a16="http://schemas.microsoft.com/office/drawing/2014/main" val="1653238289"/>
                    </a:ext>
                  </a:extLst>
                </a:gridCol>
                <a:gridCol w="817735">
                  <a:extLst>
                    <a:ext uri="{9D8B030D-6E8A-4147-A177-3AD203B41FA5}">
                      <a16:colId xmlns:a16="http://schemas.microsoft.com/office/drawing/2014/main" val="1448484383"/>
                    </a:ext>
                  </a:extLst>
                </a:gridCol>
                <a:gridCol w="817735">
                  <a:extLst>
                    <a:ext uri="{9D8B030D-6E8A-4147-A177-3AD203B41FA5}">
                      <a16:colId xmlns:a16="http://schemas.microsoft.com/office/drawing/2014/main" val="1491931279"/>
                    </a:ext>
                  </a:extLst>
                </a:gridCol>
                <a:gridCol w="817735">
                  <a:extLst>
                    <a:ext uri="{9D8B030D-6E8A-4147-A177-3AD203B41FA5}">
                      <a16:colId xmlns:a16="http://schemas.microsoft.com/office/drawing/2014/main" val="2569722209"/>
                    </a:ext>
                  </a:extLst>
                </a:gridCol>
              </a:tblGrid>
              <a:tr h="370840">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SR = 00</a:t>
                      </a:r>
                    </a:p>
                  </a:txBody>
                  <a:tcPr/>
                </a:tc>
                <a:tc>
                  <a:txBody>
                    <a:bodyPr/>
                    <a:lstStyle/>
                    <a:p>
                      <a:r>
                        <a:rPr lang="en-US">
                          <a:latin typeface="Times New Roman" panose="02020603050405020304" pitchFamily="18" charset="0"/>
                          <a:cs typeface="Times New Roman" panose="02020603050405020304" pitchFamily="18" charset="0"/>
                        </a:rPr>
                        <a:t>SR = 01</a:t>
                      </a:r>
                    </a:p>
                  </a:txBody>
                  <a:tcPr/>
                </a:tc>
                <a:tc>
                  <a:txBody>
                    <a:bodyPr/>
                    <a:lstStyle/>
                    <a:p>
                      <a:r>
                        <a:rPr lang="en-US">
                          <a:latin typeface="Times New Roman" panose="02020603050405020304" pitchFamily="18" charset="0"/>
                          <a:cs typeface="Times New Roman" panose="02020603050405020304" pitchFamily="18" charset="0"/>
                        </a:rPr>
                        <a:t>SR = 11</a:t>
                      </a:r>
                    </a:p>
                  </a:txBody>
                  <a:tcPr/>
                </a:tc>
                <a:tc>
                  <a:txBody>
                    <a:bodyPr/>
                    <a:lstStyle/>
                    <a:p>
                      <a:r>
                        <a:rPr lang="en-US">
                          <a:latin typeface="Times New Roman" panose="02020603050405020304" pitchFamily="18" charset="0"/>
                          <a:cs typeface="Times New Roman" panose="02020603050405020304" pitchFamily="18" charset="0"/>
                        </a:rPr>
                        <a:t>SR = 10</a:t>
                      </a:r>
                    </a:p>
                  </a:txBody>
                  <a:tcPr/>
                </a:tc>
                <a:extLst>
                  <a:ext uri="{0D108BD9-81ED-4DB2-BD59-A6C34878D82A}">
                    <a16:rowId xmlns:a16="http://schemas.microsoft.com/office/drawing/2014/main" val="2349692628"/>
                  </a:ext>
                </a:extLst>
              </a:tr>
              <a:tr h="370840">
                <a:tc>
                  <a:txBody>
                    <a:bodyPr/>
                    <a:lstStyle/>
                    <a:p>
                      <a:r>
                        <a:rPr lang="en-US">
                          <a:latin typeface="Times New Roman" panose="02020603050405020304" pitchFamily="18" charset="0"/>
                          <a:cs typeface="Times New Roman" panose="02020603050405020304" pitchFamily="18" charset="0"/>
                        </a:rPr>
                        <a:t>Q = 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999847920"/>
                  </a:ext>
                </a:extLst>
              </a:tr>
              <a:tr h="370840">
                <a:tc>
                  <a:txBody>
                    <a:bodyPr/>
                    <a:lstStyle/>
                    <a:p>
                      <a:r>
                        <a:rPr lang="en-US">
                          <a:latin typeface="Times New Roman" panose="02020603050405020304" pitchFamily="18" charset="0"/>
                          <a:cs typeface="Times New Roman" panose="02020603050405020304" pitchFamily="18" charset="0"/>
                        </a:rPr>
                        <a:t>Q = 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x</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3850398331"/>
                  </a:ext>
                </a:extLst>
              </a:tr>
            </a:tbl>
          </a:graphicData>
        </a:graphic>
      </p:graphicFrame>
      <p:sp>
        <p:nvSpPr>
          <p:cNvPr id="9" name="TextBox 8"/>
          <p:cNvSpPr txBox="1"/>
          <p:nvPr/>
        </p:nvSpPr>
        <p:spPr>
          <a:xfrm>
            <a:off x="4038600" y="1682389"/>
            <a:ext cx="5600251" cy="369332"/>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Characteristic Equation for SR </a:t>
            </a:r>
            <a:r>
              <a:rPr lang="en-US" err="1">
                <a:latin typeface="Times New Roman" panose="02020603050405020304" pitchFamily="18" charset="0"/>
                <a:cs typeface="Times New Roman" panose="02020603050405020304" pitchFamily="18" charset="0"/>
              </a:rPr>
              <a:t>ff</a:t>
            </a:r>
            <a:r>
              <a:rPr lang="en-US">
                <a:latin typeface="Times New Roman" panose="02020603050405020304" pitchFamily="18" charset="0"/>
                <a:cs typeface="Times New Roman" panose="02020603050405020304" pitchFamily="18" charset="0"/>
              </a:rPr>
              <a:t> = </a:t>
            </a:r>
            <a:r>
              <a:rPr lang="en-US" err="1">
                <a:latin typeface="Times New Roman" panose="02020603050405020304" pitchFamily="18" charset="0"/>
                <a:cs typeface="Times New Roman" panose="02020603050405020304" pitchFamily="18" charset="0"/>
              </a:rPr>
              <a:t>Qnext</a:t>
            </a:r>
            <a:r>
              <a:rPr lang="en-US">
                <a:latin typeface="Times New Roman" panose="02020603050405020304" pitchFamily="18" charset="0"/>
                <a:cs typeface="Times New Roman" panose="02020603050405020304" pitchFamily="18" charset="0"/>
              </a:rPr>
              <a:t> = Q+ = S + R’Q</a:t>
            </a:r>
          </a:p>
        </p:txBody>
      </p:sp>
      <p:graphicFrame>
        <p:nvGraphicFramePr>
          <p:cNvPr id="10" name="Table 9"/>
          <p:cNvGraphicFramePr>
            <a:graphicFrameLocks noGrp="1"/>
          </p:cNvGraphicFramePr>
          <p:nvPr>
            <p:extLst>
              <p:ext uri="{D42A27DB-BD31-4B8C-83A1-F6EECF244321}">
                <p14:modId xmlns:p14="http://schemas.microsoft.com/office/powerpoint/2010/main" val="2530574403"/>
              </p:ext>
            </p:extLst>
          </p:nvPr>
        </p:nvGraphicFramePr>
        <p:xfrm>
          <a:off x="4064725" y="2110992"/>
          <a:ext cx="4088675" cy="1381760"/>
        </p:xfrm>
        <a:graphic>
          <a:graphicData uri="http://schemas.openxmlformats.org/drawingml/2006/table">
            <a:tbl>
              <a:tblPr firstRow="1" bandRow="1">
                <a:tableStyleId>{5C22544A-7EE6-4342-B048-85BDC9FD1C3A}</a:tableStyleId>
              </a:tblPr>
              <a:tblGrid>
                <a:gridCol w="817735">
                  <a:extLst>
                    <a:ext uri="{9D8B030D-6E8A-4147-A177-3AD203B41FA5}">
                      <a16:colId xmlns:a16="http://schemas.microsoft.com/office/drawing/2014/main" val="319621942"/>
                    </a:ext>
                  </a:extLst>
                </a:gridCol>
                <a:gridCol w="817735">
                  <a:extLst>
                    <a:ext uri="{9D8B030D-6E8A-4147-A177-3AD203B41FA5}">
                      <a16:colId xmlns:a16="http://schemas.microsoft.com/office/drawing/2014/main" val="1653238289"/>
                    </a:ext>
                  </a:extLst>
                </a:gridCol>
                <a:gridCol w="817735">
                  <a:extLst>
                    <a:ext uri="{9D8B030D-6E8A-4147-A177-3AD203B41FA5}">
                      <a16:colId xmlns:a16="http://schemas.microsoft.com/office/drawing/2014/main" val="1448484383"/>
                    </a:ext>
                  </a:extLst>
                </a:gridCol>
                <a:gridCol w="817735">
                  <a:extLst>
                    <a:ext uri="{9D8B030D-6E8A-4147-A177-3AD203B41FA5}">
                      <a16:colId xmlns:a16="http://schemas.microsoft.com/office/drawing/2014/main" val="1491931279"/>
                    </a:ext>
                  </a:extLst>
                </a:gridCol>
                <a:gridCol w="817735">
                  <a:extLst>
                    <a:ext uri="{9D8B030D-6E8A-4147-A177-3AD203B41FA5}">
                      <a16:colId xmlns:a16="http://schemas.microsoft.com/office/drawing/2014/main" val="2569722209"/>
                    </a:ext>
                  </a:extLst>
                </a:gridCol>
              </a:tblGrid>
              <a:tr h="370840">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JK = 00</a:t>
                      </a:r>
                    </a:p>
                  </a:txBody>
                  <a:tcPr/>
                </a:tc>
                <a:tc>
                  <a:txBody>
                    <a:bodyPr/>
                    <a:lstStyle/>
                    <a:p>
                      <a:r>
                        <a:rPr lang="en-US">
                          <a:latin typeface="Times New Roman" panose="02020603050405020304" pitchFamily="18" charset="0"/>
                          <a:cs typeface="Times New Roman" panose="02020603050405020304" pitchFamily="18" charset="0"/>
                        </a:rPr>
                        <a:t>JK = 01</a:t>
                      </a:r>
                    </a:p>
                  </a:txBody>
                  <a:tcPr/>
                </a:tc>
                <a:tc>
                  <a:txBody>
                    <a:bodyPr/>
                    <a:lstStyle/>
                    <a:p>
                      <a:r>
                        <a:rPr lang="en-US">
                          <a:latin typeface="Times New Roman" panose="02020603050405020304" pitchFamily="18" charset="0"/>
                          <a:cs typeface="Times New Roman" panose="02020603050405020304" pitchFamily="18" charset="0"/>
                        </a:rPr>
                        <a:t>JK</a:t>
                      </a:r>
                      <a:r>
                        <a:rPr lang="en-US" baseline="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 11</a:t>
                      </a:r>
                    </a:p>
                  </a:txBody>
                  <a:tcPr/>
                </a:tc>
                <a:tc>
                  <a:txBody>
                    <a:bodyPr/>
                    <a:lstStyle/>
                    <a:p>
                      <a:r>
                        <a:rPr lang="en-US">
                          <a:latin typeface="Times New Roman" panose="02020603050405020304" pitchFamily="18" charset="0"/>
                          <a:cs typeface="Times New Roman" panose="02020603050405020304" pitchFamily="18" charset="0"/>
                        </a:rPr>
                        <a:t>JK = 10</a:t>
                      </a:r>
                    </a:p>
                  </a:txBody>
                  <a:tcPr/>
                </a:tc>
                <a:extLst>
                  <a:ext uri="{0D108BD9-81ED-4DB2-BD59-A6C34878D82A}">
                    <a16:rowId xmlns:a16="http://schemas.microsoft.com/office/drawing/2014/main" val="2349692628"/>
                  </a:ext>
                </a:extLst>
              </a:tr>
              <a:tr h="370840">
                <a:tc>
                  <a:txBody>
                    <a:bodyPr/>
                    <a:lstStyle/>
                    <a:p>
                      <a:r>
                        <a:rPr lang="en-US">
                          <a:latin typeface="Times New Roman" panose="02020603050405020304" pitchFamily="18" charset="0"/>
                          <a:cs typeface="Times New Roman" panose="02020603050405020304" pitchFamily="18" charset="0"/>
                        </a:rPr>
                        <a:t>Q = 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999847920"/>
                  </a:ext>
                </a:extLst>
              </a:tr>
              <a:tr h="370840">
                <a:tc>
                  <a:txBody>
                    <a:bodyPr/>
                    <a:lstStyle/>
                    <a:p>
                      <a:r>
                        <a:rPr lang="en-US">
                          <a:latin typeface="Times New Roman" panose="02020603050405020304" pitchFamily="18" charset="0"/>
                          <a:cs typeface="Times New Roman" panose="02020603050405020304" pitchFamily="18" charset="0"/>
                        </a:rPr>
                        <a:t>Q = 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3850398331"/>
                  </a:ext>
                </a:extLst>
              </a:tr>
            </a:tbl>
          </a:graphicData>
        </a:graphic>
      </p:graphicFrame>
      <p:sp>
        <p:nvSpPr>
          <p:cNvPr id="11" name="Rectangle 10"/>
          <p:cNvSpPr/>
          <p:nvPr/>
        </p:nvSpPr>
        <p:spPr>
          <a:xfrm>
            <a:off x="3890675" y="3591491"/>
            <a:ext cx="5775492" cy="369332"/>
          </a:xfrm>
          <a:prstGeom prst="rect">
            <a:avLst/>
          </a:prstGeom>
        </p:spPr>
        <p:txBody>
          <a:bodyPr wrap="none">
            <a:spAutoFit/>
          </a:bodyPr>
          <a:lstStyle/>
          <a:p>
            <a:r>
              <a:rPr lang="en-US">
                <a:latin typeface="Times New Roman" panose="02020603050405020304" pitchFamily="18" charset="0"/>
                <a:cs typeface="Times New Roman" panose="02020603050405020304" pitchFamily="18" charset="0"/>
              </a:rPr>
              <a:t>Characteristic Equation for JK </a:t>
            </a:r>
            <a:r>
              <a:rPr lang="en-US" err="1">
                <a:latin typeface="Times New Roman" panose="02020603050405020304" pitchFamily="18" charset="0"/>
                <a:cs typeface="Times New Roman" panose="02020603050405020304" pitchFamily="18" charset="0"/>
              </a:rPr>
              <a:t>ff</a:t>
            </a:r>
            <a:r>
              <a:rPr lang="en-US">
                <a:latin typeface="Times New Roman" panose="02020603050405020304" pitchFamily="18" charset="0"/>
                <a:cs typeface="Times New Roman" panose="02020603050405020304" pitchFamily="18" charset="0"/>
              </a:rPr>
              <a:t> = </a:t>
            </a:r>
            <a:r>
              <a:rPr lang="en-US" err="1">
                <a:latin typeface="Times New Roman" panose="02020603050405020304" pitchFamily="18" charset="0"/>
                <a:cs typeface="Times New Roman" panose="02020603050405020304" pitchFamily="18" charset="0"/>
              </a:rPr>
              <a:t>Qnext</a:t>
            </a:r>
            <a:r>
              <a:rPr lang="en-US">
                <a:latin typeface="Times New Roman" panose="02020603050405020304" pitchFamily="18" charset="0"/>
                <a:cs typeface="Times New Roman" panose="02020603050405020304" pitchFamily="18" charset="0"/>
              </a:rPr>
              <a:t> = Q+ = JQ’ + K’Q</a:t>
            </a:r>
          </a:p>
        </p:txBody>
      </p:sp>
      <p:graphicFrame>
        <p:nvGraphicFramePr>
          <p:cNvPr id="12" name="Table 11"/>
          <p:cNvGraphicFramePr>
            <a:graphicFrameLocks noGrp="1"/>
          </p:cNvGraphicFramePr>
          <p:nvPr>
            <p:extLst>
              <p:ext uri="{D42A27DB-BD31-4B8C-83A1-F6EECF244321}">
                <p14:modId xmlns:p14="http://schemas.microsoft.com/office/powerpoint/2010/main" val="1325214462"/>
              </p:ext>
            </p:extLst>
          </p:nvPr>
        </p:nvGraphicFramePr>
        <p:xfrm>
          <a:off x="4023810" y="4086215"/>
          <a:ext cx="2453205" cy="1112520"/>
        </p:xfrm>
        <a:graphic>
          <a:graphicData uri="http://schemas.openxmlformats.org/drawingml/2006/table">
            <a:tbl>
              <a:tblPr firstRow="1" bandRow="1">
                <a:tableStyleId>{5C22544A-7EE6-4342-B048-85BDC9FD1C3A}</a:tableStyleId>
              </a:tblPr>
              <a:tblGrid>
                <a:gridCol w="817735">
                  <a:extLst>
                    <a:ext uri="{9D8B030D-6E8A-4147-A177-3AD203B41FA5}">
                      <a16:colId xmlns:a16="http://schemas.microsoft.com/office/drawing/2014/main" val="319621942"/>
                    </a:ext>
                  </a:extLst>
                </a:gridCol>
                <a:gridCol w="817735">
                  <a:extLst>
                    <a:ext uri="{9D8B030D-6E8A-4147-A177-3AD203B41FA5}">
                      <a16:colId xmlns:a16="http://schemas.microsoft.com/office/drawing/2014/main" val="1653238289"/>
                    </a:ext>
                  </a:extLst>
                </a:gridCol>
                <a:gridCol w="817735">
                  <a:extLst>
                    <a:ext uri="{9D8B030D-6E8A-4147-A177-3AD203B41FA5}">
                      <a16:colId xmlns:a16="http://schemas.microsoft.com/office/drawing/2014/main" val="1448484383"/>
                    </a:ext>
                  </a:extLst>
                </a:gridCol>
              </a:tblGrid>
              <a:tr h="370840">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D = 0</a:t>
                      </a:r>
                    </a:p>
                  </a:txBody>
                  <a:tcPr/>
                </a:tc>
                <a:tc>
                  <a:txBody>
                    <a:bodyPr/>
                    <a:lstStyle/>
                    <a:p>
                      <a:r>
                        <a:rPr lang="en-US">
                          <a:latin typeface="Times New Roman" panose="02020603050405020304" pitchFamily="18" charset="0"/>
                          <a:cs typeface="Times New Roman" panose="02020603050405020304" pitchFamily="18" charset="0"/>
                        </a:rPr>
                        <a:t>D = 1</a:t>
                      </a:r>
                    </a:p>
                  </a:txBody>
                  <a:tcPr/>
                </a:tc>
                <a:extLst>
                  <a:ext uri="{0D108BD9-81ED-4DB2-BD59-A6C34878D82A}">
                    <a16:rowId xmlns:a16="http://schemas.microsoft.com/office/drawing/2014/main" val="2349692628"/>
                  </a:ext>
                </a:extLst>
              </a:tr>
              <a:tr h="370840">
                <a:tc>
                  <a:txBody>
                    <a:bodyPr/>
                    <a:lstStyle/>
                    <a:p>
                      <a:r>
                        <a:rPr lang="en-US">
                          <a:latin typeface="Times New Roman" panose="02020603050405020304" pitchFamily="18" charset="0"/>
                          <a:cs typeface="Times New Roman" panose="02020603050405020304" pitchFamily="18" charset="0"/>
                        </a:rPr>
                        <a:t>Q = 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999847920"/>
                  </a:ext>
                </a:extLst>
              </a:tr>
              <a:tr h="370840">
                <a:tc>
                  <a:txBody>
                    <a:bodyPr/>
                    <a:lstStyle/>
                    <a:p>
                      <a:r>
                        <a:rPr lang="en-US">
                          <a:latin typeface="Times New Roman" panose="02020603050405020304" pitchFamily="18" charset="0"/>
                          <a:cs typeface="Times New Roman" panose="02020603050405020304" pitchFamily="18" charset="0"/>
                        </a:rPr>
                        <a:t>Q = 1</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3850398331"/>
                  </a:ext>
                </a:extLst>
              </a:tr>
            </a:tbl>
          </a:graphicData>
        </a:graphic>
      </p:graphicFrame>
      <p:sp>
        <p:nvSpPr>
          <p:cNvPr id="13" name="Rectangle 12"/>
          <p:cNvSpPr/>
          <p:nvPr/>
        </p:nvSpPr>
        <p:spPr>
          <a:xfrm>
            <a:off x="6497534" y="4296240"/>
            <a:ext cx="4856266" cy="369332"/>
          </a:xfrm>
          <a:prstGeom prst="rect">
            <a:avLst/>
          </a:prstGeom>
        </p:spPr>
        <p:txBody>
          <a:bodyPr wrap="none">
            <a:spAutoFit/>
          </a:bodyPr>
          <a:lstStyle/>
          <a:p>
            <a:r>
              <a:rPr lang="en-US">
                <a:latin typeface="Times New Roman" panose="02020603050405020304" pitchFamily="18" charset="0"/>
                <a:cs typeface="Times New Roman" panose="02020603050405020304" pitchFamily="18" charset="0"/>
              </a:rPr>
              <a:t>Characteristic Equation for D </a:t>
            </a:r>
            <a:r>
              <a:rPr lang="en-US" err="1">
                <a:latin typeface="Times New Roman" panose="02020603050405020304" pitchFamily="18" charset="0"/>
                <a:cs typeface="Times New Roman" panose="02020603050405020304" pitchFamily="18" charset="0"/>
              </a:rPr>
              <a:t>ff</a:t>
            </a:r>
            <a:r>
              <a:rPr lang="en-US">
                <a:latin typeface="Times New Roman" panose="02020603050405020304" pitchFamily="18" charset="0"/>
                <a:cs typeface="Times New Roman" panose="02020603050405020304" pitchFamily="18" charset="0"/>
              </a:rPr>
              <a:t> = </a:t>
            </a:r>
            <a:r>
              <a:rPr lang="en-US" err="1">
                <a:latin typeface="Times New Roman" panose="02020603050405020304" pitchFamily="18" charset="0"/>
                <a:cs typeface="Times New Roman" panose="02020603050405020304" pitchFamily="18" charset="0"/>
              </a:rPr>
              <a:t>Qnext</a:t>
            </a:r>
            <a:r>
              <a:rPr lang="en-US">
                <a:latin typeface="Times New Roman" panose="02020603050405020304" pitchFamily="18" charset="0"/>
                <a:cs typeface="Times New Roman" panose="02020603050405020304" pitchFamily="18" charset="0"/>
              </a:rPr>
              <a:t> = Q+ = D</a:t>
            </a:r>
          </a:p>
        </p:txBody>
      </p:sp>
      <p:graphicFrame>
        <p:nvGraphicFramePr>
          <p:cNvPr id="14" name="Table 13"/>
          <p:cNvGraphicFramePr>
            <a:graphicFrameLocks noGrp="1"/>
          </p:cNvGraphicFramePr>
          <p:nvPr>
            <p:extLst>
              <p:ext uri="{D42A27DB-BD31-4B8C-83A1-F6EECF244321}">
                <p14:modId xmlns:p14="http://schemas.microsoft.com/office/powerpoint/2010/main" val="3308418262"/>
              </p:ext>
            </p:extLst>
          </p:nvPr>
        </p:nvGraphicFramePr>
        <p:xfrm>
          <a:off x="3994472" y="5426392"/>
          <a:ext cx="2453205" cy="1112520"/>
        </p:xfrm>
        <a:graphic>
          <a:graphicData uri="http://schemas.openxmlformats.org/drawingml/2006/table">
            <a:tbl>
              <a:tblPr firstRow="1" bandRow="1">
                <a:tableStyleId>{5C22544A-7EE6-4342-B048-85BDC9FD1C3A}</a:tableStyleId>
              </a:tblPr>
              <a:tblGrid>
                <a:gridCol w="817735">
                  <a:extLst>
                    <a:ext uri="{9D8B030D-6E8A-4147-A177-3AD203B41FA5}">
                      <a16:colId xmlns:a16="http://schemas.microsoft.com/office/drawing/2014/main" val="319621942"/>
                    </a:ext>
                  </a:extLst>
                </a:gridCol>
                <a:gridCol w="817735">
                  <a:extLst>
                    <a:ext uri="{9D8B030D-6E8A-4147-A177-3AD203B41FA5}">
                      <a16:colId xmlns:a16="http://schemas.microsoft.com/office/drawing/2014/main" val="1653238289"/>
                    </a:ext>
                  </a:extLst>
                </a:gridCol>
                <a:gridCol w="817735">
                  <a:extLst>
                    <a:ext uri="{9D8B030D-6E8A-4147-A177-3AD203B41FA5}">
                      <a16:colId xmlns:a16="http://schemas.microsoft.com/office/drawing/2014/main" val="1448484383"/>
                    </a:ext>
                  </a:extLst>
                </a:gridCol>
              </a:tblGrid>
              <a:tr h="370840">
                <a:tc>
                  <a:txBody>
                    <a:bodyPr/>
                    <a:lstStyle/>
                    <a:p>
                      <a:endParaRPr lang="en-US">
                        <a:latin typeface="Times New Roman" panose="02020603050405020304" pitchFamily="18" charset="0"/>
                        <a:cs typeface="Times New Roman" panose="02020603050405020304" pitchFamily="18" charset="0"/>
                      </a:endParaRPr>
                    </a:p>
                  </a:txBody>
                  <a:tcPr/>
                </a:tc>
                <a:tc>
                  <a:txBody>
                    <a:bodyPr/>
                    <a:lstStyle/>
                    <a:p>
                      <a:r>
                        <a:rPr lang="en-US">
                          <a:latin typeface="Times New Roman" panose="02020603050405020304" pitchFamily="18" charset="0"/>
                          <a:cs typeface="Times New Roman" panose="02020603050405020304" pitchFamily="18" charset="0"/>
                        </a:rPr>
                        <a:t>T</a:t>
                      </a:r>
                      <a:r>
                        <a:rPr lang="en-US" baseline="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 0</a:t>
                      </a:r>
                    </a:p>
                  </a:txBody>
                  <a:tcPr/>
                </a:tc>
                <a:tc>
                  <a:txBody>
                    <a:bodyPr/>
                    <a:lstStyle/>
                    <a:p>
                      <a:r>
                        <a:rPr lang="en-US">
                          <a:latin typeface="Times New Roman" panose="02020603050405020304" pitchFamily="18" charset="0"/>
                          <a:cs typeface="Times New Roman" panose="02020603050405020304" pitchFamily="18" charset="0"/>
                        </a:rPr>
                        <a:t>T = 1</a:t>
                      </a:r>
                    </a:p>
                  </a:txBody>
                  <a:tcPr/>
                </a:tc>
                <a:extLst>
                  <a:ext uri="{0D108BD9-81ED-4DB2-BD59-A6C34878D82A}">
                    <a16:rowId xmlns:a16="http://schemas.microsoft.com/office/drawing/2014/main" val="2349692628"/>
                  </a:ext>
                </a:extLst>
              </a:tr>
              <a:tr h="370840">
                <a:tc>
                  <a:txBody>
                    <a:bodyPr/>
                    <a:lstStyle/>
                    <a:p>
                      <a:r>
                        <a:rPr lang="en-US">
                          <a:latin typeface="Times New Roman" panose="02020603050405020304" pitchFamily="18" charset="0"/>
                          <a:cs typeface="Times New Roman" panose="02020603050405020304" pitchFamily="18" charset="0"/>
                        </a:rPr>
                        <a:t>Q = 0</a:t>
                      </a:r>
                    </a:p>
                  </a:txBody>
                  <a:tcPr/>
                </a:tc>
                <a:tc>
                  <a:txBody>
                    <a:bodyPr/>
                    <a:lstStyle/>
                    <a:p>
                      <a:r>
                        <a:rPr lang="en-US">
                          <a:latin typeface="Times New Roman" panose="02020603050405020304" pitchFamily="18" charset="0"/>
                          <a:cs typeface="Times New Roman" panose="02020603050405020304" pitchFamily="18" charset="0"/>
                        </a:rPr>
                        <a:t>0</a:t>
                      </a:r>
                    </a:p>
                  </a:txBody>
                  <a:tcPr/>
                </a:tc>
                <a:tc>
                  <a:txBody>
                    <a:bodyPr/>
                    <a:lstStyle/>
                    <a:p>
                      <a:r>
                        <a:rPr lang="en-US">
                          <a:latin typeface="Times New Roman" panose="02020603050405020304" pitchFamily="18" charset="0"/>
                          <a:cs typeface="Times New Roman" panose="02020603050405020304" pitchFamily="18" charset="0"/>
                        </a:rPr>
                        <a:t>1</a:t>
                      </a:r>
                    </a:p>
                  </a:txBody>
                  <a:tcPr/>
                </a:tc>
                <a:extLst>
                  <a:ext uri="{0D108BD9-81ED-4DB2-BD59-A6C34878D82A}">
                    <a16:rowId xmlns:a16="http://schemas.microsoft.com/office/drawing/2014/main" val="2999847920"/>
                  </a:ext>
                </a:extLst>
              </a:tr>
              <a:tr h="370840">
                <a:tc>
                  <a:txBody>
                    <a:bodyPr/>
                    <a:lstStyle/>
                    <a:p>
                      <a:r>
                        <a:rPr lang="en-US">
                          <a:latin typeface="Times New Roman" panose="02020603050405020304" pitchFamily="18" charset="0"/>
                          <a:cs typeface="Times New Roman" panose="02020603050405020304" pitchFamily="18" charset="0"/>
                        </a:rPr>
                        <a:t>Q = 1</a:t>
                      </a:r>
                    </a:p>
                  </a:txBody>
                  <a:tcPr/>
                </a:tc>
                <a:tc>
                  <a:txBody>
                    <a:bodyPr/>
                    <a:lstStyle/>
                    <a:p>
                      <a:r>
                        <a:rPr lang="en-US">
                          <a:latin typeface="Times New Roman" panose="02020603050405020304" pitchFamily="18" charset="0"/>
                          <a:cs typeface="Times New Roman" panose="02020603050405020304" pitchFamily="18" charset="0"/>
                        </a:rPr>
                        <a:t>1</a:t>
                      </a:r>
                    </a:p>
                  </a:txBody>
                  <a:tcPr/>
                </a:tc>
                <a:tc>
                  <a:txBody>
                    <a:bodyPr/>
                    <a:lstStyle/>
                    <a:p>
                      <a:r>
                        <a:rPr lang="en-US">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3850398331"/>
                  </a:ext>
                </a:extLst>
              </a:tr>
            </a:tbl>
          </a:graphicData>
        </a:graphic>
      </p:graphicFrame>
      <p:sp>
        <p:nvSpPr>
          <p:cNvPr id="15" name="Rectangle 14"/>
          <p:cNvSpPr/>
          <p:nvPr/>
        </p:nvSpPr>
        <p:spPr>
          <a:xfrm>
            <a:off x="6447677" y="5538460"/>
            <a:ext cx="5726761" cy="646331"/>
          </a:xfrm>
          <a:prstGeom prst="rect">
            <a:avLst/>
          </a:prstGeom>
        </p:spPr>
        <p:txBody>
          <a:bodyPr wrap="none">
            <a:spAutoFit/>
          </a:bodyPr>
          <a:lstStyle/>
          <a:p>
            <a:r>
              <a:rPr lang="en-US">
                <a:latin typeface="Times New Roman" panose="02020603050405020304" pitchFamily="18" charset="0"/>
                <a:cs typeface="Times New Roman" panose="02020603050405020304" pitchFamily="18" charset="0"/>
              </a:rPr>
              <a:t>Characteristic Equation for T </a:t>
            </a:r>
            <a:r>
              <a:rPr lang="en-US" err="1">
                <a:latin typeface="Times New Roman" panose="02020603050405020304" pitchFamily="18" charset="0"/>
                <a:cs typeface="Times New Roman" panose="02020603050405020304" pitchFamily="18" charset="0"/>
              </a:rPr>
              <a:t>ff</a:t>
            </a:r>
            <a:r>
              <a:rPr lang="en-US">
                <a:latin typeface="Times New Roman" panose="02020603050405020304" pitchFamily="18" charset="0"/>
                <a:cs typeface="Times New Roman" panose="02020603050405020304" pitchFamily="18" charset="0"/>
              </a:rPr>
              <a:t> = </a:t>
            </a:r>
            <a:r>
              <a:rPr lang="en-US" err="1">
                <a:latin typeface="Times New Roman" panose="02020603050405020304" pitchFamily="18" charset="0"/>
                <a:cs typeface="Times New Roman" panose="02020603050405020304" pitchFamily="18" charset="0"/>
              </a:rPr>
              <a:t>Qnext</a:t>
            </a:r>
            <a:r>
              <a:rPr lang="en-US">
                <a:latin typeface="Times New Roman" panose="02020603050405020304" pitchFamily="18" charset="0"/>
                <a:cs typeface="Times New Roman" panose="02020603050405020304" pitchFamily="18" charset="0"/>
              </a:rPr>
              <a:t> = Q+ = T’Q + TQ’ </a:t>
            </a:r>
          </a:p>
          <a:p>
            <a:r>
              <a:rPr lang="en-US">
                <a:latin typeface="Times New Roman" panose="02020603050405020304" pitchFamily="18" charset="0"/>
                <a:cs typeface="Times New Roman" panose="02020603050405020304" pitchFamily="18" charset="0"/>
              </a:rPr>
              <a:t>                                                                               = T </a:t>
            </a:r>
            <a:r>
              <a:rPr lang="en-US">
                <a:latin typeface="Times New Roman" panose="02020603050405020304" pitchFamily="18" charset="0"/>
                <a:ea typeface="Cambria Math" panose="02040503050406030204" pitchFamily="18" charset="0"/>
                <a:cs typeface="Times New Roman" panose="02020603050405020304" pitchFamily="18" charset="0"/>
              </a:rPr>
              <a:t>⊕ Q</a:t>
            </a:r>
            <a:endParaRPr lang="en-US">
              <a:latin typeface="Times New Roman" panose="02020603050405020304" pitchFamily="18" charset="0"/>
              <a:cs typeface="Times New Roman" panose="02020603050405020304" pitchFamily="18" charset="0"/>
            </a:endParaRPr>
          </a:p>
        </p:txBody>
      </p:sp>
      <p:sp>
        <p:nvSpPr>
          <p:cNvPr id="28" name="Oval 27"/>
          <p:cNvSpPr/>
          <p:nvPr/>
        </p:nvSpPr>
        <p:spPr>
          <a:xfrm>
            <a:off x="5682343" y="5861625"/>
            <a:ext cx="248194" cy="32316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4872446" y="6184791"/>
            <a:ext cx="222068" cy="3541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5703026" y="4513455"/>
            <a:ext cx="271639" cy="65009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6497534" y="2801872"/>
            <a:ext cx="1222615" cy="33321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7589520" y="745897"/>
            <a:ext cx="235131" cy="7205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Left Bracket 33"/>
          <p:cNvSpPr/>
          <p:nvPr/>
        </p:nvSpPr>
        <p:spPr>
          <a:xfrm>
            <a:off x="7589520" y="1106155"/>
            <a:ext cx="235131" cy="393808"/>
          </a:xfrm>
          <a:prstGeom prst="leftBracket">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ight Bracket 34"/>
          <p:cNvSpPr/>
          <p:nvPr/>
        </p:nvSpPr>
        <p:spPr>
          <a:xfrm>
            <a:off x="5094514" y="1195964"/>
            <a:ext cx="261257" cy="30386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Left Bracket 35"/>
          <p:cNvSpPr/>
          <p:nvPr/>
        </p:nvSpPr>
        <p:spPr>
          <a:xfrm>
            <a:off x="7406640" y="3135086"/>
            <a:ext cx="182880" cy="357666"/>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Right Bracket 36"/>
          <p:cNvSpPr/>
          <p:nvPr/>
        </p:nvSpPr>
        <p:spPr>
          <a:xfrm>
            <a:off x="4983480" y="3135086"/>
            <a:ext cx="237594" cy="35766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5153647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ea typeface="Calibri Light"/>
                <a:cs typeface="Calibri Light"/>
              </a:rPr>
              <a:t>hi</a:t>
            </a:r>
            <a:endParaRPr lang="en-US"/>
          </a:p>
        </p:txBody>
      </p:sp>
      <p:sp>
        <p:nvSpPr>
          <p:cNvPr id="4" name="Date Placeholder 3"/>
          <p:cNvSpPr>
            <a:spLocks noGrp="1"/>
          </p:cNvSpPr>
          <p:nvPr>
            <p:ph type="dt" sz="half" idx="10"/>
          </p:nvPr>
        </p:nvSpPr>
        <p:spPr/>
        <p:txBody>
          <a:bodyPr/>
          <a:lstStyle/>
          <a:p>
            <a:fld id="{DF9E79CC-A6B8-4C49-AF34-96484E9A19DF}" type="datetime1">
              <a:rPr lang="en-US" smtClean="0"/>
              <a:t>11/13/2025</a:t>
            </a:fld>
            <a:endParaRPr lang="en-US"/>
          </a:p>
        </p:txBody>
      </p:sp>
      <p:sp>
        <p:nvSpPr>
          <p:cNvPr id="5" name="Footer Placeholder 4"/>
          <p:cNvSpPr>
            <a:spLocks noGrp="1"/>
          </p:cNvSpPr>
          <p:nvPr>
            <p:ph type="ftr" sz="quarter" idx="11"/>
          </p:nvPr>
        </p:nvSpPr>
        <p:spPr/>
        <p:txBody>
          <a:bodyPr/>
          <a:lstStyle/>
          <a:p>
            <a:r>
              <a:rPr lang="en-US"/>
              <a:t>19ECE204/Digital Electronics &amp; Systems, III Semester, B. Tech. (ECE and CSE)</a:t>
            </a:r>
          </a:p>
        </p:txBody>
      </p:sp>
      <p:sp>
        <p:nvSpPr>
          <p:cNvPr id="6" name="Slide Number Placeholder 5"/>
          <p:cNvSpPr>
            <a:spLocks noGrp="1"/>
          </p:cNvSpPr>
          <p:nvPr>
            <p:ph type="sldNum" sz="quarter" idx="12"/>
          </p:nvPr>
        </p:nvSpPr>
        <p:spPr/>
        <p:txBody>
          <a:bodyPr/>
          <a:lstStyle/>
          <a:p>
            <a:fld id="{84075514-8565-4B1F-808F-4A3F55E508C2}" type="slidenum">
              <a:rPr lang="en-US" smtClean="0"/>
              <a:t>27</a:t>
            </a:fld>
            <a:endParaRPr lang="en-US"/>
          </a:p>
        </p:txBody>
      </p:sp>
      <p:sp>
        <p:nvSpPr>
          <p:cNvPr id="8" name="Content Placeholder 7"/>
          <p:cNvSpPr>
            <a:spLocks noGrp="1"/>
          </p:cNvSpPr>
          <p:nvPr>
            <p:ph idx="1"/>
          </p:nvPr>
        </p:nvSpPr>
        <p:spPr>
          <a:xfrm>
            <a:off x="8961120" y="2782389"/>
            <a:ext cx="2392680" cy="3394573"/>
          </a:xfrm>
        </p:spPr>
        <p:txBody>
          <a:bodyPr vert="horz" lIns="91440" tIns="45720" rIns="91440" bIns="45720" rtlCol="0" anchor="t">
            <a:normAutofit/>
          </a:bodyPr>
          <a:lstStyle/>
          <a:p>
            <a:r>
              <a:rPr lang="en-US">
                <a:latin typeface="Times New Roman"/>
                <a:cs typeface="Times New Roman"/>
              </a:rPr>
              <a:t>Characteristic Table = State Table Function Table = Truth Table </a:t>
            </a:r>
            <a:endParaRPr lang="en-US">
              <a:latin typeface="Times New Roman"/>
              <a:ea typeface="Calibri" panose="020F0502020204030204"/>
              <a:cs typeface="Times New Roman"/>
            </a:endParaRPr>
          </a:p>
        </p:txBody>
      </p:sp>
      <p:pic>
        <p:nvPicPr>
          <p:cNvPr id="9" name="Picture 8"/>
          <p:cNvPicPr>
            <a:picLocks noChangeAspect="1"/>
          </p:cNvPicPr>
          <p:nvPr/>
        </p:nvPicPr>
        <p:blipFill>
          <a:blip r:embed="rId2"/>
          <a:stretch>
            <a:fillRect/>
          </a:stretch>
        </p:blipFill>
        <p:spPr>
          <a:xfrm>
            <a:off x="920302" y="406086"/>
            <a:ext cx="6555355" cy="6103938"/>
          </a:xfrm>
          <a:prstGeom prst="rect">
            <a:avLst/>
          </a:prstGeom>
        </p:spPr>
      </p:pic>
    </p:spTree>
    <p:extLst>
      <p:ext uri="{BB962C8B-B14F-4D97-AF65-F5344CB8AC3E}">
        <p14:creationId xmlns:p14="http://schemas.microsoft.com/office/powerpoint/2010/main" val="1197753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0</Notes>
  <HiddenSlides>0</HiddenSlides>
  <ScaleCrop>false</ScaleCrop>
  <HeadingPairs>
    <vt:vector size="4" baseType="variant">
      <vt:variant>
        <vt:lpstr>Theme</vt:lpstr>
      </vt:variant>
      <vt:variant>
        <vt:i4>2</vt:i4>
      </vt:variant>
      <vt:variant>
        <vt:lpstr>Slide Titles</vt:lpstr>
      </vt:variant>
      <vt:variant>
        <vt:i4>27</vt:i4>
      </vt:variant>
    </vt:vector>
  </HeadingPairs>
  <TitlesOfParts>
    <vt:vector size="29" baseType="lpstr">
      <vt:lpstr>Office Theme</vt:lpstr>
      <vt:lpstr>Custom Design</vt:lpstr>
      <vt:lpstr>  23ECE205 Digital Electronics and Systems   III Semester  B. Tech. ( CSE) Amrita School of Engineering, Bengaluru Lecture</vt:lpstr>
      <vt:lpstr>Combinational Circuit and Sequential Circuit</vt:lpstr>
      <vt:lpstr>Control of an Alarm System</vt:lpstr>
      <vt:lpstr>A Simple Memory Element </vt:lpstr>
      <vt:lpstr>A Memory Element with NOR gates </vt:lpstr>
      <vt:lpstr>A Latch built with NOR gates</vt:lpstr>
      <vt:lpstr>A Latch built with NAND gates</vt:lpstr>
      <vt:lpstr>Clock</vt:lpstr>
      <vt:lpstr>Gated SR Latch with NAND gates</vt:lpstr>
      <vt:lpstr>Gated D (Data) Latch</vt:lpstr>
      <vt:lpstr>Master Slave D Flip Flop (Negative Edge Triggered D Flip Flop)</vt:lpstr>
      <vt:lpstr>Set Up Time and Hold Time</vt:lpstr>
      <vt:lpstr>Timing Diagram Showing Difference between D Latch and D Flip Flop Working</vt:lpstr>
      <vt:lpstr>Analyze this Waveform: Exercise</vt:lpstr>
      <vt:lpstr>A Positive-Edge-Triggered D flip-flop.</vt:lpstr>
      <vt:lpstr>Master-Slave D flip-flop with Clear and Preset</vt:lpstr>
      <vt:lpstr>Asynchronous Clear</vt:lpstr>
      <vt:lpstr>PowerPoint Presentation</vt:lpstr>
      <vt:lpstr>Master Slave SR Flip Flop </vt:lpstr>
      <vt:lpstr>J K Flipflop (Master Slave)</vt:lpstr>
      <vt:lpstr>J K Flipflop  (Master Slave)</vt:lpstr>
      <vt:lpstr>T (Toggle) Flip Flop </vt:lpstr>
      <vt:lpstr>PowerPoint Presentation</vt:lpstr>
      <vt:lpstr>PowerPoint Presentation</vt:lpstr>
      <vt:lpstr>PowerPoint Presentation</vt:lpstr>
      <vt:lpstr>PowerPoint Presentation</vt:lpstr>
      <vt:lpstr>hi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15ECE313/VLSI Design VI Semester Department of ECE Amrita School of Engineering, Bengaluru</dc:title>
  <dc:creator>kirti</dc:creator>
  <cp:revision>4</cp:revision>
  <dcterms:created xsi:type="dcterms:W3CDTF">2020-04-22T02:45:14Z</dcterms:created>
  <dcterms:modified xsi:type="dcterms:W3CDTF">2025-11-13T16:56:34Z</dcterms:modified>
</cp:coreProperties>
</file>