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4.xml" ContentType="application/inkml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7" r:id="rId2"/>
    <p:sldId id="312" r:id="rId3"/>
    <p:sldId id="290" r:id="rId4"/>
    <p:sldId id="313" r:id="rId5"/>
    <p:sldId id="286" r:id="rId6"/>
    <p:sldId id="288" r:id="rId7"/>
    <p:sldId id="309" r:id="rId8"/>
    <p:sldId id="308" r:id="rId9"/>
    <p:sldId id="295" r:id="rId10"/>
    <p:sldId id="296" r:id="rId11"/>
    <p:sldId id="297" r:id="rId12"/>
    <p:sldId id="298" r:id="rId13"/>
    <p:sldId id="307" r:id="rId14"/>
    <p:sldId id="299" r:id="rId15"/>
    <p:sldId id="300" r:id="rId16"/>
    <p:sldId id="303" r:id="rId17"/>
    <p:sldId id="279" r:id="rId18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5" autoAdjust="0"/>
    <p:restoredTop sz="89783" autoAdjust="0"/>
  </p:normalViewPr>
  <p:slideViewPr>
    <p:cSldViewPr>
      <p:cViewPr varScale="1">
        <p:scale>
          <a:sx n="63" d="100"/>
          <a:sy n="63" d="100"/>
        </p:scale>
        <p:origin x="11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299F1-8C68-4FEA-BFAB-CAD7D19F4823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9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9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4DFED1-94F6-4F2B-B89A-34E8ED64B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928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181.21851" units="1/cm"/>
          <inkml:channelProperty channel="Y" name="resolution" value="2093.73804" units="1/cm"/>
          <inkml:channelProperty channel="F" name="resolution" value="6.53591E-7" units="1/dev"/>
          <inkml:channelProperty channel="T" name="resolution" value="1" units="1/dev"/>
        </inkml:channelProperties>
      </inkml:inkSource>
      <inkml:timestamp xml:id="ts0" timeString="2021-01-04T04:09:54.6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16760 10767 76 0,'0'0'17'0,"-15"0"1"16,-2 0-9-16,-4 0-10 15,-6 5-10-15,-4-1-6 16,-5 0 9-16,-5 5 3 16,-2-5 2-16,-5 4 0 0,-1 1 2 15,-2-3 1 1,0 3 1-16,3-2-2 16,1 1 1-16,2-2-1 15,5 1 1-15,7-3 0 0,8-4 0 16,5 7 0-16,8-7-9 15,12 0 1-15,0 0 0 16,0 0-11-16,15 0-7 16,11 0 26-16,-3-7 0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181.21851" units="1/cm"/>
          <inkml:channelProperty channel="Y" name="resolution" value="2093.73804" units="1/cm"/>
          <inkml:channelProperty channel="F" name="resolution" value="6.53591E-7" units="1/dev"/>
          <inkml:channelProperty channel="T" name="resolution" value="1" units="1/dev"/>
        </inkml:channelProperties>
      </inkml:inkSource>
      <inkml:timestamp xml:id="ts0" timeString="2021-01-04T04:10:35.6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5380 7300 41 0,'12'3'10'0,"0"-3"1"16,3 0-2-16,2 0-4 16,0 0-1-16,3 0 3 15,2-3 4-15,1-1 1 16,2-4 3-16,2 2-2 0,-1-2 1 15,1-3-2-15,0 1 0 16,2-1-6-16,-3-2-3 16,2 1-2-16,-1-1-3 15,-1 0 0-15,1 1 0 16,-4-1-28-16,3 7-40 16,-8-3-10-16,3 15 80 15,-21-6 0-15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9.56522" units="1/cm"/>
          <inkml:channelProperty channel="Y" name="resolution" value="69.23077" units="1/cm"/>
          <inkml:channelProperty channel="T" name="resolution" value="1" units="1/dev"/>
        </inkml:channelProperties>
      </inkml:inkSource>
      <inkml:timestamp xml:id="ts0" timeString="2020-07-22T08:11:18.202"/>
    </inkml:context>
    <inkml:brush xml:id="br0">
      <inkml:brushProperty name="width" value="0.08333" units="cm"/>
      <inkml:brushProperty name="height" value="0.08333" units="cm"/>
      <inkml:brushProperty name="fitToCurve" value="1"/>
    </inkml:brush>
  </inkml:definitions>
  <inkml:trace contextRef="#ctx0" brushRef="#br0">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181.21851" units="1/cm"/>
          <inkml:channelProperty channel="Y" name="resolution" value="2093.73804" units="1/cm"/>
          <inkml:channelProperty channel="F" name="resolution" value="6.53591E-7" units="1/dev"/>
          <inkml:channelProperty channel="T" name="resolution" value="1" units="1/dev"/>
        </inkml:channelProperties>
      </inkml:inkSource>
      <inkml:timestamp xml:id="ts0" timeString="2020-07-22T05:57:58.3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20843 13558 70 0,'0'0'25'0,"0"0"-43"16,11-6-58-16,-11 6 75 16,-4-16 1-16,-34-24 0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0A63772-66F7-4B5A-A310-990B5252A37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E049F50-C9A4-484D-8E9E-2119E311E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90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024946-4079-460C-BE5B-E0BD8E448542}" type="slidenum">
              <a:rPr lang="en-IN" smtClean="0"/>
              <a:pPr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9778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BB2A717-8304-49B4-BC3B-A0C014C5F0F0}" type="datetime4">
              <a:rPr lang="en-US" altLang="en-US" smtClean="0">
                <a:latin typeface="Times New Roman" panose="02020603050405020304" pitchFamily="18" charset="0"/>
              </a:rPr>
              <a:pPr/>
              <a:t>January 7,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4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1 — Computer Abstractions and Technology</a:t>
            </a:r>
          </a:p>
        </p:txBody>
      </p:sp>
      <p:sp>
        <p:nvSpPr>
          <p:cNvPr id="143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2B433F-1006-4E49-BEAD-7C7DB60DE01E}" type="slidenum">
              <a:rPr lang="en-US" altLang="en-US" smtClean="0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972483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A869510-6F53-45AF-8EB0-05E715E8D103}" type="datetime4">
              <a:rPr lang="en-US" altLang="en-US" smtClean="0">
                <a:latin typeface="Times New Roman" panose="02020603050405020304" pitchFamily="18" charset="0"/>
              </a:rPr>
              <a:pPr/>
              <a:t>January 7,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1 — Computer Abstractions and Technology</a:t>
            </a:r>
          </a:p>
        </p:txBody>
      </p:sp>
      <p:sp>
        <p:nvSpPr>
          <p:cNvPr id="163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B000F04-60CD-45FA-842D-CE58C296DA98}" type="slidenum">
              <a:rPr lang="en-US" altLang="en-US" smtClean="0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310850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73E0A2B-CF65-49E2-AE96-D91121139457}" type="datetime4">
              <a:rPr lang="en-US" altLang="en-US" smtClean="0">
                <a:latin typeface="Times New Roman" panose="02020603050405020304" pitchFamily="18" charset="0"/>
              </a:rPr>
              <a:pPr/>
              <a:t>January 7, 2025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6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1 — Computer Abstractions and Technology</a:t>
            </a:r>
          </a:p>
        </p:txBody>
      </p:sp>
      <p:sp>
        <p:nvSpPr>
          <p:cNvPr id="194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225990-A1AE-4FF3-840F-C3DF60AD30D6}" type="slidenum">
              <a:rPr lang="en-US" altLang="en-US" smtClean="0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563256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31E0EE-0045-48B5-9915-60FD38A9E74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83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24CD-3042-415E-B179-890C92FF19B2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Amrita School of Engineering,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843A0-D5C2-4D72-A6B6-2325E0D421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itchFamily="2" charset="2"/>
              <a:buChar char="q"/>
              <a:defRPr/>
            </a:lvl1pPr>
            <a:lvl2pPr>
              <a:buFont typeface="Wingdings" pitchFamily="2" charset="2"/>
              <a:buChar char="q"/>
              <a:defRPr/>
            </a:lvl2pPr>
            <a:lvl3pPr>
              <a:buFont typeface="Wingdings" pitchFamily="2" charset="2"/>
              <a:buChar char="q"/>
              <a:defRPr/>
            </a:lvl3pPr>
            <a:lvl4pPr>
              <a:buFont typeface="Wingdings" pitchFamily="2" charset="2"/>
              <a:buChar char="q"/>
              <a:defRPr/>
            </a:lvl4pPr>
            <a:lvl5pPr>
              <a:buFont typeface="Wingdings" pitchFamily="2" charset="2"/>
              <a:buChar char="q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95325B9-25C3-4C47-AE59-2A7BFFE38C54}" type="datetime1">
              <a:rPr lang="en-US" smtClean="0"/>
              <a:pPr/>
              <a:t>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School of Engineering,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843A0-D5C2-4D72-A6B6-2325E0D421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6F6EE-F83F-4FEF-B522-FD738B500325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Amrita School of Engineering,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843A0-D5C2-4D72-A6B6-2325E0D421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6799-737C-4130-B94B-FB2F815BD9A7}" type="datetime1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Amrita School of Engineering, Bangalore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843A0-D5C2-4D72-A6B6-2325E0D421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8D6B-E58E-49C7-A1C2-3A7A073C5D59}" type="datetime1">
              <a:rPr lang="en-US" smtClean="0"/>
              <a:t>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Amrita School of Engineering, Bangalore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843A0-D5C2-4D72-A6B6-2325E0D421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2DE-87F5-464A-A554-9D897836BC33}" type="datetime1">
              <a:rPr lang="en-US" smtClean="0"/>
              <a:t>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Amrita School of Engineering,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843A0-D5C2-4D72-A6B6-2325E0D421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D83D4-8F59-4718-B813-AF8B3AC0AC22}" type="datetime1">
              <a:rPr lang="en-US" smtClean="0"/>
              <a:t>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Amrita School of Engineering, Bangalore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843A0-D5C2-4D72-A6B6-2325E0D421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AD15A-747E-4074-9A37-9DC17D5A0EE4}" type="datetime1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Amrita School of Engineering, Bangalore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843A0-D5C2-4D72-A6B6-2325E0D421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DAB2E-604B-41EF-BAE6-B988D19986E1}" type="datetime1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Amrita School of Engineering, Bangalore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843A0-D5C2-4D72-A6B6-2325E0D421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1B00-DD92-4E84-9366-2303C8C4A1A0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Amrita School of Engineering,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843A0-D5C2-4D72-A6B6-2325E0D421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15DEF-7B4E-4E0C-9E0D-E437A9244481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Amrita School of Engineering,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843A0-D5C2-4D72-A6B6-2325E0D421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0A364-E896-4228-8B8C-2A4ECD1E8A25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Amrita School of Engineering,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843A0-D5C2-4D72-A6B6-2325E0D4211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G:\School\AVV logo\Amrita-colr.jp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577199" y="0"/>
            <a:ext cx="2566801" cy="764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12" Type="http://schemas.openxmlformats.org/officeDocument/2006/relationships/image" Target="../media/image17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398" y="1219200"/>
            <a:ext cx="8482604" cy="1466179"/>
          </a:xfrm>
        </p:spPr>
        <p:txBody>
          <a:bodyPr>
            <a:noAutofit/>
          </a:bodyPr>
          <a:lstStyle/>
          <a:p>
            <a:r>
              <a:rPr lang="en-US" sz="4800" dirty="0"/>
              <a:t>Computer Organization and Architecture-23CSE213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398" y="3048000"/>
            <a:ext cx="8546602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ctr"/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Department of Computer Science &amp; Engineering</a:t>
            </a:r>
          </a:p>
          <a:p>
            <a:pPr algn="ctr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Amrita School of Computing, Bengaluru</a:t>
            </a:r>
          </a:p>
          <a:p>
            <a:pPr algn="ctr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Amrita Vishwa Vidyapeetham, India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 dirty="0"/>
              <a:t>Amrita School of Engineering, Bangalore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3E6C63E1-6A2E-4547-AEDF-323B1A9F81DB}" type="datetime1">
              <a:rPr lang="en-US" smtClean="0"/>
              <a:t>1/7/2025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278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This course aims to make students, understand,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analyse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and appreciate the basic principles, design choices, and trade-offs associated in the field of Computer Architecture. </a:t>
            </a:r>
          </a:p>
          <a:p>
            <a:pPr marL="0" indent="0">
              <a:buNone/>
            </a:pPr>
            <a:r>
              <a:rPr lang="en-IN" sz="2000" b="0" i="0" u="none" strike="noStrike" baseline="0" dirty="0">
                <a:solidFill>
                  <a:srgbClr val="000000"/>
                </a:solidFill>
              </a:rPr>
              <a:t> </a:t>
            </a:r>
          </a:p>
          <a:p>
            <a:r>
              <a:rPr lang="en-US" sz="2000" b="0" i="0" u="none" strike="noStrike" baseline="0" dirty="0">
                <a:solidFill>
                  <a:srgbClr val="000000"/>
                </a:solidFill>
              </a:rPr>
              <a:t>It describes overview of ARM architecture in terms of instruction set, data path and pipelining </a:t>
            </a:r>
          </a:p>
          <a:p>
            <a:pPr marL="0" indent="0">
              <a:buNone/>
            </a:pPr>
            <a:endParaRPr lang="en-IN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It introduces pipelining and memory systems in detail along with performance metrics for designing computer systems and what can be done to make it better and faster. </a:t>
            </a:r>
          </a:p>
          <a:p>
            <a:endParaRPr lang="en-US" sz="1800" b="0" i="0" u="none" strike="noStrike" baseline="0" dirty="0">
              <a:solidFill>
                <a:srgbClr val="000000"/>
              </a:solidFill>
            </a:endParaRPr>
          </a:p>
          <a:p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325B9-25C3-4C47-AE59-2A7BFFE38C54}" type="datetime1">
              <a:rPr lang="en-US" smtClean="0"/>
              <a:pPr/>
              <a:t>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Amrita School of Engineering, Bangalore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843A0-D5C2-4D72-A6B6-2325E0D42116}" type="slidenum">
              <a:rPr lang="en-US" smtClean="0"/>
              <a:t>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/>
              <p14:cNvContentPartPr/>
              <p14:nvPr/>
            </p14:nvContentPartPr>
            <p14:xfrm>
              <a:off x="5781600" y="3876120"/>
              <a:ext cx="252360" cy="3528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78360" y="3871800"/>
                <a:ext cx="259200" cy="4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5009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Course Objectives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325B9-25C3-4C47-AE59-2A7BFFE38C54}" type="datetime1">
              <a:rPr lang="en-US" smtClean="0"/>
              <a:pPr/>
              <a:t>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Amrita School of Engineering, Bangalore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843A0-D5C2-4D72-A6B6-2325E0D42116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0372152"/>
              </p:ext>
            </p:extLst>
          </p:nvPr>
        </p:nvGraphicFramePr>
        <p:xfrm>
          <a:off x="304800" y="1524000"/>
          <a:ext cx="8534400" cy="44909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52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2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86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647825" algn="l"/>
                        </a:tabLs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647825" algn="l"/>
                        </a:tabLs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 Outcomes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4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647825" algn="l"/>
                        </a:tabLs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Understand the design principles of Instruction Set Architecture (ISA) by taking ARM as reference. 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95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647825" algn="l"/>
                        </a:tabLs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Understand the design of data and control path in Single Clock Cycle.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122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647825" algn="l"/>
                        </a:tabLs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Understand the design of instruction execution using Multiple Clock Cycles and Analyze / Evaluate the performance of processors. 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8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647825" algn="l"/>
                        </a:tabLs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Understand Pipelined architecture and Design of multi-stage pipeline processor in ARM. 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6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647825" algn="l"/>
                        </a:tabLs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Apply the working principles of ALU, Memory and I/O in the design of processor. 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1936800" y="2574360"/>
              <a:ext cx="187920" cy="550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33920" y="2571840"/>
                <a:ext cx="193320" cy="6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7833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325B9-25C3-4C47-AE59-2A7BFFE38C54}" type="datetime1">
              <a:rPr lang="en-US" smtClean="0"/>
              <a:pPr/>
              <a:t>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Amrita School of Engineering, Bangalore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843A0-D5C2-4D72-A6B6-2325E0D42116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9959"/>
            <a:ext cx="9144000" cy="539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162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2440"/>
            <a:ext cx="8229600" cy="1143000"/>
          </a:xfrm>
        </p:spPr>
        <p:txBody>
          <a:bodyPr>
            <a:noAutofit/>
          </a:bodyPr>
          <a:lstStyle/>
          <a:p>
            <a:r>
              <a:rPr lang="en-US" b="1" dirty="0"/>
              <a:t>Outline of the course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This course aims at introducing the concept of computer architecture and organization.</a:t>
            </a:r>
          </a:p>
          <a:p>
            <a:pPr marL="0" indent="0" algn="just">
              <a:buNone/>
            </a:pPr>
            <a:endParaRPr lang="en-US" sz="2800" dirty="0"/>
          </a:p>
          <a:p>
            <a:pPr algn="just"/>
            <a:r>
              <a:rPr lang="en-US" sz="2800" dirty="0"/>
              <a:t>It involves design aspects, and deals with the current</a:t>
            </a:r>
          </a:p>
          <a:p>
            <a:pPr marL="0" indent="0" algn="just">
              <a:buNone/>
            </a:pPr>
            <a:r>
              <a:rPr lang="en-US" sz="2800" dirty="0"/>
              <a:t>     trends in computing architecture.</a:t>
            </a:r>
          </a:p>
          <a:p>
            <a:pPr marL="0" indent="0" algn="just">
              <a:buNone/>
            </a:pPr>
            <a:endParaRPr lang="en-US" sz="2800" dirty="0"/>
          </a:p>
          <a:p>
            <a:pPr algn="just"/>
            <a:r>
              <a:rPr lang="en-US" sz="2800" dirty="0"/>
              <a:t>System resources such as memory technology and I/O subsystems needed to achieve proportional increase in performance will also be discussed.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325B9-25C3-4C47-AE59-2A7BFFE38C54}" type="datetime1">
              <a:rPr lang="en-US" smtClean="0"/>
              <a:pPr/>
              <a:t>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Amrita School of Engineering, Bangalore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843A0-D5C2-4D72-A6B6-2325E0D4211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489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/>
              <a:t>Syllabus Outline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– </a:t>
            </a:r>
            <a:r>
              <a:rPr lang="en-US" sz="3600" dirty="0"/>
              <a:t>Introduction of Computing system</a:t>
            </a:r>
          </a:p>
          <a:p>
            <a:pPr marL="0" indent="0">
              <a:buNone/>
            </a:pPr>
            <a:r>
              <a:rPr lang="en-US" sz="3600" dirty="0"/>
              <a:t>– Processor Architecture with example as ARM &amp; Instruction Set</a:t>
            </a:r>
          </a:p>
          <a:p>
            <a:pPr marL="0" indent="0">
              <a:buNone/>
            </a:pPr>
            <a:r>
              <a:rPr lang="en-US" sz="3600" dirty="0"/>
              <a:t>– Single Cycle </a:t>
            </a:r>
            <a:r>
              <a:rPr lang="en-US" sz="3600" dirty="0" err="1"/>
              <a:t>Datapath</a:t>
            </a:r>
            <a:r>
              <a:rPr lang="en-US" sz="3600" dirty="0"/>
              <a:t> Design</a:t>
            </a:r>
          </a:p>
          <a:p>
            <a:pPr marL="0" indent="0">
              <a:buNone/>
            </a:pPr>
            <a:r>
              <a:rPr lang="en-US" sz="3600" dirty="0"/>
              <a:t>– Introduction to multicycle </a:t>
            </a:r>
            <a:r>
              <a:rPr lang="en-US" sz="3600" dirty="0" err="1"/>
              <a:t>datapath</a:t>
            </a:r>
            <a:endParaRPr lang="en-US" sz="3600" dirty="0"/>
          </a:p>
          <a:p>
            <a:pPr marL="0" indent="0">
              <a:buNone/>
            </a:pPr>
            <a:r>
              <a:rPr lang="en-US" sz="3600" dirty="0"/>
              <a:t>– Performance of Computing system, Role of performance</a:t>
            </a:r>
          </a:p>
          <a:p>
            <a:pPr marL="0" indent="0">
              <a:buNone/>
            </a:pPr>
            <a:r>
              <a:rPr lang="en-US" sz="3600" dirty="0"/>
              <a:t>– Pipelining Technique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• Design Issues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• Hazards: Structural Hazards, Data Hazards and Control Hazards (Static Branch Prediction, Dynamic Branch Prediction)</a:t>
            </a:r>
          </a:p>
          <a:p>
            <a:pPr marL="0" indent="0">
              <a:buNone/>
            </a:pPr>
            <a:r>
              <a:rPr lang="en-US" sz="3600" dirty="0"/>
              <a:t>– Memory Organization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• Introduction, Cache Memory Organization</a:t>
            </a:r>
          </a:p>
          <a:p>
            <a:pPr marL="0" indent="0">
              <a:buNone/>
            </a:pPr>
            <a:r>
              <a:rPr lang="en-US" sz="3600" dirty="0"/>
              <a:t>– Computer Arithmetic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• Binary multiplication and Division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• Floating Point Arithmetic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325B9-25C3-4C47-AE59-2A7BFFE38C54}" type="datetime1">
              <a:rPr lang="en-US" smtClean="0"/>
              <a:pPr/>
              <a:t>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Amrita School of Engineering, Bangalore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843A0-D5C2-4D72-A6B6-2325E0D421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61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r>
              <a:rPr lang="en-US" b="1" dirty="0"/>
              <a:t>Evaluation Pattern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325B9-25C3-4C47-AE59-2A7BFFE38C54}" type="datetime1">
              <a:rPr lang="en-US" smtClean="0"/>
              <a:pPr/>
              <a:t>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Amrita School of Engineering, Bangalore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843A0-D5C2-4D72-A6B6-2325E0D42116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3127CC4-5038-80AA-B4A0-EBC69C2E9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906747"/>
              </p:ext>
            </p:extLst>
          </p:nvPr>
        </p:nvGraphicFramePr>
        <p:xfrm>
          <a:off x="762000" y="2581274"/>
          <a:ext cx="7391400" cy="2870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0">
                  <a:extLst>
                    <a:ext uri="{9D8B030D-6E8A-4147-A177-3AD203B41FA5}">
                      <a16:colId xmlns:a16="http://schemas.microsoft.com/office/drawing/2014/main" val="1963771733"/>
                    </a:ext>
                  </a:extLst>
                </a:gridCol>
                <a:gridCol w="2463800">
                  <a:extLst>
                    <a:ext uri="{9D8B030D-6E8A-4147-A177-3AD203B41FA5}">
                      <a16:colId xmlns:a16="http://schemas.microsoft.com/office/drawing/2014/main" val="2494320999"/>
                    </a:ext>
                  </a:extLst>
                </a:gridCol>
                <a:gridCol w="2463800">
                  <a:extLst>
                    <a:ext uri="{9D8B030D-6E8A-4147-A177-3AD203B41FA5}">
                      <a16:colId xmlns:a16="http://schemas.microsoft.com/office/drawing/2014/main" val="2940289049"/>
                    </a:ext>
                  </a:extLst>
                </a:gridCol>
              </a:tblGrid>
              <a:tr h="607318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Assessment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External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9939097"/>
                  </a:ext>
                </a:extLst>
              </a:tr>
              <a:tr h="607318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 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903734"/>
                  </a:ext>
                </a:extLst>
              </a:tr>
              <a:tr h="1048247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6790"/>
                  </a:ext>
                </a:extLst>
              </a:tr>
              <a:tr h="607318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Semester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39594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10838C0-613B-2291-E1B9-C197C7B0AA16}"/>
              </a:ext>
            </a:extLst>
          </p:cNvPr>
          <p:cNvSpPr txBox="1"/>
          <p:nvPr/>
        </p:nvSpPr>
        <p:spPr>
          <a:xfrm>
            <a:off x="685800" y="182880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Evaluation Pattern: </a:t>
            </a:r>
            <a:r>
              <a:rPr lang="en-I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50:50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43368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325B9-25C3-4C47-AE59-2A7BFFE38C54}" type="datetime1">
              <a:rPr lang="en-US" smtClean="0"/>
              <a:pPr/>
              <a:t>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Amrita School of Engineering, Bangalore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843A0-D5C2-4D72-A6B6-2325E0D42116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0"/>
            <a:ext cx="7107550" cy="662163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7" name="Ink 26"/>
              <p14:cNvContentPartPr/>
              <p14:nvPr/>
            </p14:nvContentPartPr>
            <p14:xfrm>
              <a:off x="7595591" y="1984598"/>
              <a:ext cx="360" cy="360"/>
            </p14:xfrm>
          </p:contentPart>
        </mc:Choice>
        <mc:Fallback xmlns="">
          <p:pic>
            <p:nvPicPr>
              <p:cNvPr id="27" name="Ink 26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580471" y="1969478"/>
                <a:ext cx="30600" cy="3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6726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6227763" y="4005263"/>
            <a:ext cx="2447925" cy="120015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The Computer Revolution</a:t>
            </a:r>
            <a:endParaRPr lang="en-AU" altLang="en-US" b="1" dirty="0"/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Progress in computer technology</a:t>
            </a:r>
          </a:p>
          <a:p>
            <a:pPr lvl="1" eaLnBrk="1" hangingPunct="1"/>
            <a:r>
              <a:rPr lang="en-US" altLang="en-US"/>
              <a:t>Underpinned by Moore’s Law </a:t>
            </a:r>
          </a:p>
          <a:p>
            <a:pPr eaLnBrk="1" hangingPunct="1"/>
            <a:r>
              <a:rPr lang="en-US" altLang="en-US"/>
              <a:t>Makes novel applications feasible</a:t>
            </a:r>
          </a:p>
          <a:p>
            <a:pPr lvl="1" eaLnBrk="1" hangingPunct="1"/>
            <a:r>
              <a:rPr lang="en-US" altLang="en-US"/>
              <a:t>Computers in automobiles</a:t>
            </a:r>
          </a:p>
          <a:p>
            <a:pPr lvl="1" eaLnBrk="1" hangingPunct="1"/>
            <a:r>
              <a:rPr lang="en-US" altLang="en-US"/>
              <a:t>Cell phones</a:t>
            </a:r>
          </a:p>
          <a:p>
            <a:pPr lvl="1" eaLnBrk="1" hangingPunct="1"/>
            <a:r>
              <a:rPr lang="en-US" altLang="en-US"/>
              <a:t>Human genome project</a:t>
            </a:r>
          </a:p>
          <a:p>
            <a:pPr lvl="1" eaLnBrk="1" hangingPunct="1"/>
            <a:r>
              <a:rPr lang="en-US" altLang="en-US"/>
              <a:t>World Wide Web</a:t>
            </a:r>
          </a:p>
          <a:p>
            <a:pPr lvl="1" eaLnBrk="1" hangingPunct="1"/>
            <a:r>
              <a:rPr lang="en-US" altLang="en-US"/>
              <a:t>Search Engines</a:t>
            </a:r>
          </a:p>
          <a:p>
            <a:pPr eaLnBrk="1" hangingPunct="1"/>
            <a:r>
              <a:rPr lang="en-US" altLang="en-US"/>
              <a:t>Computers are pervasive</a:t>
            </a:r>
          </a:p>
        </p:txBody>
      </p:sp>
      <p:sp>
        <p:nvSpPr>
          <p:cNvPr id="13318" name="TextBox 1"/>
          <p:cNvSpPr txBox="1">
            <a:spLocks noChangeArrowheads="1"/>
          </p:cNvSpPr>
          <p:nvPr/>
        </p:nvSpPr>
        <p:spPr bwMode="auto">
          <a:xfrm>
            <a:off x="6227763" y="4005263"/>
            <a:ext cx="24479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Moore’s Law: the no. of transistors per chip doubles every two years</a:t>
            </a:r>
          </a:p>
        </p:txBody>
      </p:sp>
    </p:spTree>
    <p:extLst>
      <p:ext uri="{BB962C8B-B14F-4D97-AF65-F5344CB8AC3E}">
        <p14:creationId xmlns:p14="http://schemas.microsoft.com/office/powerpoint/2010/main" val="3389998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Classes of Computers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Personal computers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General purpose, variety of software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Subject to cost/performance tradeoff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Server computers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Network based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High capacity, performance, reliability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Range from small servers to building sized</a:t>
            </a:r>
          </a:p>
          <a:p>
            <a:pPr eaLnBrk="1" hangingPunct="1">
              <a:lnSpc>
                <a:spcPct val="90000"/>
              </a:lnSpc>
            </a:pPr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38859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Classes of Computers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Supercomputers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High-end scientific and engineering calculations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Highest capability but represent a small fraction of the overall computer market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Embedded computers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Hidden as components of systems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Stringent power/performance/cost constraints</a:t>
            </a:r>
          </a:p>
        </p:txBody>
      </p:sp>
    </p:spTree>
    <p:extLst>
      <p:ext uri="{BB962C8B-B14F-4D97-AF65-F5344CB8AC3E}">
        <p14:creationId xmlns:p14="http://schemas.microsoft.com/office/powerpoint/2010/main" val="448403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The </a:t>
            </a:r>
            <a:r>
              <a:rPr lang="en-US" altLang="en-US" b="1" dirty="0" err="1"/>
              <a:t>PostPC</a:t>
            </a:r>
            <a:r>
              <a:rPr lang="en-US" altLang="en-US" b="1" dirty="0"/>
              <a:t> Era</a:t>
            </a:r>
            <a:endParaRPr lang="en-AU" altLang="en-US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98" y="1143000"/>
            <a:ext cx="8311801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64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2DE-87F5-464A-A554-9D897836BC33}" type="datetime1">
              <a:rPr lang="en-US" smtClean="0"/>
              <a:t>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Amrita School of Engineering,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843A0-D5C2-4D72-A6B6-2325E0D42116}" type="slidenum">
              <a:rPr lang="en-US" smtClean="0"/>
              <a:t>13</a:t>
            </a:fld>
            <a:endParaRPr lang="en-US"/>
          </a:p>
        </p:txBody>
      </p:sp>
      <p:pic>
        <p:nvPicPr>
          <p:cNvPr id="5122" name="Picture 2" descr="PC-vs-Tablet-vs-Smartphone-vs-Network-PC-Sal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415" y="971328"/>
            <a:ext cx="7381169" cy="4938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7492320" y="4858560"/>
              <a:ext cx="15480" cy="2268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89800" y="4856040"/>
                <a:ext cx="20520" cy="2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830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229600" cy="1143000"/>
          </a:xfrm>
        </p:spPr>
        <p:txBody>
          <a:bodyPr/>
          <a:lstStyle/>
          <a:p>
            <a:r>
              <a:rPr lang="en-US" altLang="en-US" b="1" dirty="0"/>
              <a:t>The Post PC Era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1143000"/>
            <a:ext cx="8270875" cy="51117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Mobile Device (PMD)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operated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to the Internet (wireless)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Hundreds of dollars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phones, tablets, electronic glasses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 Scale Computers (WSC)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as a Service (SaaS) (web search, social networking)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Portion of software run on a PMD and a portion run in the Cloud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and Google</a:t>
            </a:r>
          </a:p>
        </p:txBody>
      </p:sp>
    </p:spTree>
    <p:extLst>
      <p:ext uri="{BB962C8B-B14F-4D97-AF65-F5344CB8AC3E}">
        <p14:creationId xmlns:p14="http://schemas.microsoft.com/office/powerpoint/2010/main" val="4229038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Cloud Computing</a:t>
            </a:r>
          </a:p>
        </p:txBody>
      </p:sp>
      <p:sp>
        <p:nvSpPr>
          <p:cNvPr id="21508" name="TextBox 3"/>
          <p:cNvSpPr txBox="1">
            <a:spLocks noChangeArrowheads="1"/>
          </p:cNvSpPr>
          <p:nvPr/>
        </p:nvSpPr>
        <p:spPr bwMode="auto">
          <a:xfrm>
            <a:off x="863600" y="1752600"/>
            <a:ext cx="7416800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refers to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ct val="0"/>
              </a:spcBef>
              <a:buClrTx/>
              <a:buSzTx/>
              <a:buFontTx/>
              <a:buAutoNum type="arabicParenBoth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collection of servers that provide services over the Internet, 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dynamically varying number of servers as a utility.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SaaS: a portion of code runs on PMD and a portion that runs in the Cloud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1483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Eight Great Ideas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altLang="en-US" sz="2400"/>
              <a:t>Design for </a:t>
            </a:r>
            <a:r>
              <a:rPr lang="en-US" altLang="en-US" sz="2400" b="1" i="1"/>
              <a:t>Moore’s Law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Use </a:t>
            </a:r>
            <a:r>
              <a:rPr lang="en-US" altLang="en-US" sz="2400" b="1" i="1"/>
              <a:t>abstraction</a:t>
            </a:r>
            <a:r>
              <a:rPr lang="en-US" altLang="en-US" sz="2400"/>
              <a:t> to simplify design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Make the </a:t>
            </a:r>
            <a:r>
              <a:rPr lang="en-US" altLang="en-US" sz="2400" b="1" i="1"/>
              <a:t>common case fast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Performance </a:t>
            </a:r>
            <a:r>
              <a:rPr lang="en-US" altLang="en-US" sz="2400" i="1"/>
              <a:t>via</a:t>
            </a:r>
            <a:r>
              <a:rPr lang="en-US" altLang="en-US" sz="2400"/>
              <a:t> </a:t>
            </a:r>
            <a:r>
              <a:rPr lang="en-US" altLang="en-US" sz="2400" b="1" i="1"/>
              <a:t>parallelism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Performance </a:t>
            </a:r>
            <a:r>
              <a:rPr lang="en-US" altLang="en-US" sz="2400" i="1"/>
              <a:t>via</a:t>
            </a:r>
            <a:r>
              <a:rPr lang="en-US" altLang="en-US" sz="2400"/>
              <a:t> </a:t>
            </a:r>
            <a:r>
              <a:rPr lang="en-US" altLang="en-US" sz="2400" b="1" i="1"/>
              <a:t>pipelining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Performance </a:t>
            </a:r>
            <a:r>
              <a:rPr lang="en-US" altLang="en-US" sz="2400" i="1"/>
              <a:t>via</a:t>
            </a:r>
            <a:r>
              <a:rPr lang="en-US" altLang="en-US" sz="2400"/>
              <a:t> </a:t>
            </a:r>
            <a:r>
              <a:rPr lang="en-US" altLang="en-US" sz="2400" b="1" i="1"/>
              <a:t>prediction</a:t>
            </a:r>
          </a:p>
          <a:p>
            <a:pPr>
              <a:lnSpc>
                <a:spcPct val="150000"/>
              </a:lnSpc>
            </a:pPr>
            <a:r>
              <a:rPr lang="en-US" altLang="en-US" sz="2400" b="1" i="1"/>
              <a:t>Hierarchy</a:t>
            </a:r>
            <a:r>
              <a:rPr lang="en-US" altLang="en-US" sz="2400"/>
              <a:t> of memories</a:t>
            </a:r>
          </a:p>
          <a:p>
            <a:pPr>
              <a:lnSpc>
                <a:spcPct val="150000"/>
              </a:lnSpc>
            </a:pPr>
            <a:r>
              <a:rPr lang="en-US" altLang="en-US" sz="2400" b="1" i="1"/>
              <a:t>Dependability</a:t>
            </a:r>
            <a:r>
              <a:rPr lang="en-US" altLang="en-US" sz="2400"/>
              <a:t> </a:t>
            </a:r>
            <a:r>
              <a:rPr lang="en-US" altLang="en-US" sz="2400" i="1"/>
              <a:t>via</a:t>
            </a:r>
            <a:r>
              <a:rPr lang="en-US" altLang="en-US" sz="2400"/>
              <a:t> redundancy</a:t>
            </a:r>
          </a:p>
        </p:txBody>
      </p:sp>
      <p:pic>
        <p:nvPicPr>
          <p:cNvPr id="26629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1112838"/>
            <a:ext cx="6477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438" y="1760538"/>
            <a:ext cx="576262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1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350" y="2389188"/>
            <a:ext cx="858838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2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0" y="2997200"/>
            <a:ext cx="719138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3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7900" y="3597275"/>
            <a:ext cx="6985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4" name="Picture 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6113" y="4197350"/>
            <a:ext cx="690562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5" name="Picture 1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4808538"/>
            <a:ext cx="78740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6" name="Picture 1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463" y="5586413"/>
            <a:ext cx="922337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983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21F90-2E3B-4FA6-B286-07C3B7CA27AF}" type="datetime1">
              <a:rPr lang="en-US" smtClean="0"/>
              <a:t>1/7/2025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Amrita School of </a:t>
            </a:r>
            <a:r>
              <a:rPr lang="en-US" dirty="0" err="1"/>
              <a:t>Engineering,Bangalore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endParaRPr lang="en-US" sz="6000" b="1" spc="50" dirty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  <a:p>
            <a:pPr algn="ctr">
              <a:buNone/>
            </a:pPr>
            <a:r>
              <a:rPr lang="en-US" sz="6000" b="1" spc="50" dirty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QUESTIONS!!!</a:t>
            </a:r>
          </a:p>
        </p:txBody>
      </p:sp>
    </p:spTree>
    <p:extLst>
      <p:ext uri="{BB962C8B-B14F-4D97-AF65-F5344CB8AC3E}">
        <p14:creationId xmlns:p14="http://schemas.microsoft.com/office/powerpoint/2010/main" val="4286004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15447</TotalTime>
  <Words>730</Words>
  <Application>Microsoft Office PowerPoint</Application>
  <PresentationFormat>On-screen Show (4:3)</PresentationFormat>
  <Paragraphs>162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Times New Roman</vt:lpstr>
      <vt:lpstr>Wingdings</vt:lpstr>
      <vt:lpstr>Office Theme</vt:lpstr>
      <vt:lpstr>Computer Organization and Architecture-23CSE213</vt:lpstr>
      <vt:lpstr>Course Objectives</vt:lpstr>
      <vt:lpstr>Course Objectives</vt:lpstr>
      <vt:lpstr>PowerPoint Presentation</vt:lpstr>
      <vt:lpstr>Outline of the course </vt:lpstr>
      <vt:lpstr>Syllabus Outline </vt:lpstr>
      <vt:lpstr>Evaluation Pattern</vt:lpstr>
      <vt:lpstr>PowerPoint Presentation</vt:lpstr>
      <vt:lpstr>The Computer Revolution</vt:lpstr>
      <vt:lpstr>Classes of Computers</vt:lpstr>
      <vt:lpstr>Classes of Computers</vt:lpstr>
      <vt:lpstr>The PostPC Era</vt:lpstr>
      <vt:lpstr>PowerPoint Presentation</vt:lpstr>
      <vt:lpstr>The Post PC Era</vt:lpstr>
      <vt:lpstr>Cloud Computing</vt:lpstr>
      <vt:lpstr>Eight Great Ideas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Vishwas Swamy</cp:lastModifiedBy>
  <cp:revision>331</cp:revision>
  <cp:lastPrinted>2016-08-11T05:32:52Z</cp:lastPrinted>
  <dcterms:created xsi:type="dcterms:W3CDTF">2015-12-18T05:39:53Z</dcterms:created>
  <dcterms:modified xsi:type="dcterms:W3CDTF">2025-01-07T04:28:14Z</dcterms:modified>
</cp:coreProperties>
</file>