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1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7D925-AFF9-406C-9448-D6596C0C35D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17BDC-A006-46CB-826D-47ABB514E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63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4A23F-0CC4-498B-80F8-329A71E5FA7B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5872C-A058-461E-8A66-A578AE387068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6323B-1742-4BF2-970C-8288FDD13522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D3E58-E2B6-460A-9C99-D385E9146EAD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7337-E135-4136-8AC8-1B390DEBEEA2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237490"/>
            <a:ext cx="7965440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7390" y="2727805"/>
            <a:ext cx="4244340" cy="1730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5CC82-60BC-4299-832E-2FE2AF563F33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60526" y="2755214"/>
            <a:ext cx="752729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dirty="0">
                <a:solidFill>
                  <a:srgbClr val="000000"/>
                </a:solidFill>
              </a:rPr>
              <a:t>String</a:t>
            </a:r>
            <a:r>
              <a:rPr sz="4900" spc="-80" dirty="0">
                <a:solidFill>
                  <a:srgbClr val="000000"/>
                </a:solidFill>
              </a:rPr>
              <a:t> </a:t>
            </a:r>
            <a:r>
              <a:rPr sz="4900" spc="-30" dirty="0">
                <a:solidFill>
                  <a:srgbClr val="000000"/>
                </a:solidFill>
              </a:rPr>
              <a:t>Matching</a:t>
            </a:r>
            <a:r>
              <a:rPr sz="4900" spc="-275" dirty="0">
                <a:solidFill>
                  <a:srgbClr val="000000"/>
                </a:solidFill>
              </a:rPr>
              <a:t> </a:t>
            </a:r>
            <a:r>
              <a:rPr sz="4900" spc="-10" dirty="0">
                <a:solidFill>
                  <a:srgbClr val="000000"/>
                </a:solidFill>
              </a:rPr>
              <a:t>Algorithms</a:t>
            </a:r>
            <a:endParaRPr sz="49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7748EC-85F1-9ECD-9B5F-23702DD950E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37490"/>
            <a:ext cx="8227060" cy="1047285"/>
          </a:xfrm>
          <a:prstGeom prst="rect">
            <a:avLst/>
          </a:prstGeom>
        </p:spPr>
        <p:txBody>
          <a:bodyPr vert="horz" wrap="square" lIns="0" tIns="595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/>
              <a:t>ST</a:t>
            </a:r>
            <a:r>
              <a:rPr lang="en-US" sz="2900" dirty="0"/>
              <a:t>R</a:t>
            </a:r>
            <a:r>
              <a:rPr sz="2900" dirty="0"/>
              <a:t>ING</a:t>
            </a:r>
            <a:r>
              <a:rPr sz="2900" spc="-70" dirty="0"/>
              <a:t> </a:t>
            </a:r>
            <a:r>
              <a:rPr sz="2900" spc="-20" dirty="0"/>
              <a:t>MATCHING</a:t>
            </a:r>
            <a:r>
              <a:rPr sz="2900" spc="-55" dirty="0"/>
              <a:t> </a:t>
            </a:r>
            <a:r>
              <a:rPr sz="2900" dirty="0"/>
              <a:t>OR</a:t>
            </a:r>
            <a:r>
              <a:rPr sz="2900" spc="-55" dirty="0"/>
              <a:t> </a:t>
            </a:r>
            <a:r>
              <a:rPr sz="2900" spc="-65" dirty="0"/>
              <a:t>PATTERN</a:t>
            </a:r>
            <a:r>
              <a:rPr sz="2900" spc="-35" dirty="0"/>
              <a:t> </a:t>
            </a:r>
            <a:r>
              <a:rPr sz="2900" spc="-10" dirty="0"/>
              <a:t>MATCHING</a:t>
            </a:r>
            <a:endParaRPr sz="29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43227"/>
            <a:ext cx="692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Text: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3182" y="1943227"/>
            <a:ext cx="3902710" cy="780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 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S”</a:t>
            </a:r>
            <a:endParaRPr sz="2400">
              <a:latin typeface="Times New Roman"/>
              <a:cs typeface="Times New Roman"/>
            </a:endParaRPr>
          </a:p>
          <a:p>
            <a:pPr marL="210185">
              <a:lnSpc>
                <a:spcPct val="100000"/>
              </a:lnSpc>
              <a:spcBef>
                <a:spcPts val="1380"/>
              </a:spcBef>
              <a:tabLst>
                <a:tab pos="521334" algn="l"/>
                <a:tab pos="787400" algn="l"/>
                <a:tab pos="1053465" algn="l"/>
                <a:tab pos="1364615" algn="l"/>
                <a:tab pos="1631314" algn="l"/>
                <a:tab pos="1898014" algn="l"/>
                <a:tab pos="2164715" algn="l"/>
                <a:tab pos="2477135" algn="l"/>
                <a:tab pos="2743835" algn="l"/>
                <a:tab pos="2966720" algn="l"/>
                <a:tab pos="3277235" algn="l"/>
                <a:tab pos="3581400" algn="l"/>
              </a:tabLst>
            </a:pPr>
            <a:r>
              <a:rPr sz="1400" b="1" spc="-50" dirty="0">
                <a:latin typeface="Times New Roman"/>
                <a:cs typeface="Times New Roman"/>
              </a:rPr>
              <a:t>0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3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4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5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7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b="1" spc="-50" dirty="0">
                <a:latin typeface="Times New Roman"/>
                <a:cs typeface="Times New Roman"/>
              </a:rPr>
              <a:t>8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10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11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12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162680"/>
            <a:ext cx="588518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Pattern: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K”</a:t>
            </a:r>
            <a:endParaRPr sz="2400">
              <a:latin typeface="Times New Roman"/>
              <a:cs typeface="Times New Roman"/>
            </a:endParaRPr>
          </a:p>
          <a:p>
            <a:pPr marL="1384300">
              <a:lnSpc>
                <a:spcPct val="100000"/>
              </a:lnSpc>
              <a:spcBef>
                <a:spcPts val="1000"/>
              </a:spcBef>
              <a:tabLst>
                <a:tab pos="1650364" algn="l"/>
                <a:tab pos="1917064" algn="l"/>
                <a:tab pos="2183765" algn="l"/>
              </a:tabLst>
            </a:pPr>
            <a:r>
              <a:rPr sz="1400" spc="-50" dirty="0">
                <a:latin typeface="Times New Roman"/>
                <a:cs typeface="Times New Roman"/>
              </a:rPr>
              <a:t>0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400" dirty="0">
                <a:latin typeface="Times New Roman"/>
                <a:cs typeface="Times New Roman"/>
              </a:rPr>
              <a:t>Pattern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found 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2405380" algn="l"/>
                <a:tab pos="5274310" algn="l"/>
              </a:tabLst>
            </a:pPr>
            <a:r>
              <a:rPr sz="2400" spc="-3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10" dirty="0">
                <a:latin typeface="Times New Roman"/>
                <a:cs typeface="Times New Roman"/>
              </a:rPr>
              <a:t> text. </a:t>
            </a:r>
            <a:r>
              <a:rPr sz="2400" spc="-25" dirty="0">
                <a:latin typeface="Times New Roman"/>
                <a:cs typeface="Times New Roman"/>
              </a:rPr>
              <a:t>Text-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Times New Roman"/>
                <a:cs typeface="Times New Roman"/>
              </a:rPr>
              <a:t>T[1,2,.....,n],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Pattern-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Times New Roman"/>
                <a:cs typeface="Times New Roman"/>
              </a:rPr>
              <a:t>P[1,2,......,m],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n&gt;m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78603-847E-ECD3-5B1D-62A9469F041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503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Types</a:t>
            </a:r>
            <a:r>
              <a:rPr sz="3600" spc="-100" dirty="0"/>
              <a:t> </a:t>
            </a:r>
            <a:r>
              <a:rPr sz="3600" dirty="0"/>
              <a:t>of</a:t>
            </a:r>
            <a:r>
              <a:rPr sz="3600" spc="-75" dirty="0"/>
              <a:t> </a:t>
            </a:r>
            <a:r>
              <a:rPr sz="3600" dirty="0"/>
              <a:t>String</a:t>
            </a:r>
            <a:r>
              <a:rPr sz="3600" spc="-70" dirty="0"/>
              <a:t> </a:t>
            </a:r>
            <a:r>
              <a:rPr sz="3600" dirty="0"/>
              <a:t>Matching</a:t>
            </a:r>
            <a:r>
              <a:rPr sz="3600" spc="-225" dirty="0"/>
              <a:t> </a:t>
            </a:r>
            <a:r>
              <a:rPr sz="3600" spc="-10" dirty="0"/>
              <a:t>Algorithms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2078862"/>
            <a:ext cx="6518275" cy="2500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spc="-25" dirty="0">
                <a:latin typeface="Times New Roman"/>
                <a:cs typeface="Times New Roman"/>
              </a:rPr>
              <a:t>Naive’s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Algorithm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Brute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Force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Algorithm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5"/>
              </a:spcBef>
              <a:buFont typeface="Arial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Rabin-Karp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Algorithm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5"/>
              </a:spcBef>
              <a:buFont typeface="Arial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spc="-20" dirty="0">
                <a:latin typeface="Times New Roman"/>
                <a:cs typeface="Times New Roman"/>
              </a:rPr>
              <a:t>Knuth-</a:t>
            </a:r>
            <a:r>
              <a:rPr sz="2800" spc="-10" dirty="0">
                <a:latin typeface="Times New Roman"/>
                <a:cs typeface="Times New Roman"/>
              </a:rPr>
              <a:t>Morris-Pratt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Algorithm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(KMP)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BBA82-309B-6AB5-7B4A-B2A6009E150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942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05"/>
              </a:spcBef>
            </a:pPr>
            <a:r>
              <a:rPr sz="3200" spc="-25" dirty="0"/>
              <a:t>Naive’s</a:t>
            </a:r>
            <a:r>
              <a:rPr sz="3200" spc="-190" dirty="0"/>
              <a:t> </a:t>
            </a:r>
            <a:r>
              <a:rPr sz="3200" dirty="0"/>
              <a:t>Algorithm</a:t>
            </a:r>
            <a:r>
              <a:rPr sz="3200" spc="-20" dirty="0"/>
              <a:t> </a:t>
            </a:r>
            <a:r>
              <a:rPr sz="3200" dirty="0"/>
              <a:t>/</a:t>
            </a:r>
            <a:r>
              <a:rPr sz="3200" spc="20" dirty="0"/>
              <a:t> </a:t>
            </a:r>
            <a:r>
              <a:rPr sz="3200" dirty="0"/>
              <a:t>Brute</a:t>
            </a:r>
            <a:r>
              <a:rPr sz="3200" spc="5" dirty="0"/>
              <a:t> </a:t>
            </a:r>
            <a:r>
              <a:rPr sz="3200" spc="-25" dirty="0"/>
              <a:t>Force</a:t>
            </a:r>
            <a:r>
              <a:rPr sz="3200" spc="-185" dirty="0"/>
              <a:t> </a:t>
            </a:r>
            <a:r>
              <a:rPr sz="3200" spc="-10" dirty="0"/>
              <a:t>Algorithm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509978"/>
            <a:ext cx="5782945" cy="452183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3200" b="1" dirty="0">
                <a:latin typeface="Calibri"/>
                <a:cs typeface="Calibri"/>
              </a:rPr>
              <a:t>Example</a:t>
            </a:r>
            <a:r>
              <a:rPr sz="3200" b="1" spc="-14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1</a:t>
            </a:r>
            <a:r>
              <a:rPr sz="3200" spc="-25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3200" spc="-25" dirty="0">
                <a:latin typeface="Calibri"/>
                <a:cs typeface="Calibri"/>
              </a:rPr>
              <a:t>T: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3200" spc="-25" dirty="0">
                <a:latin typeface="Calibri"/>
                <a:cs typeface="Calibri"/>
              </a:rPr>
              <a:t>P: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←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n-</a:t>
            </a:r>
            <a:r>
              <a:rPr sz="2800" spc="-50" dirty="0">
                <a:latin typeface="Calibri"/>
                <a:cs typeface="Calibri"/>
              </a:rPr>
              <a:t>m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spc="-114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Check: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P[1]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T[s+1]</a:t>
            </a:r>
            <a:endParaRPr sz="2800">
              <a:latin typeface="Calibri"/>
              <a:cs typeface="Calibri"/>
            </a:endParaRPr>
          </a:p>
          <a:p>
            <a:pPr marL="1494155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latin typeface="Calibri"/>
                <a:cs typeface="Calibri"/>
              </a:rPr>
              <a:t>P[2]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T[s+2]</a:t>
            </a:r>
            <a:endParaRPr sz="2800">
              <a:latin typeface="Calibri"/>
              <a:cs typeface="Calibri"/>
            </a:endParaRPr>
          </a:p>
          <a:p>
            <a:pPr marL="1469390">
              <a:lnSpc>
                <a:spcPct val="100000"/>
              </a:lnSpc>
              <a:spcBef>
                <a:spcPts val="340"/>
              </a:spcBef>
            </a:pPr>
            <a:r>
              <a:rPr sz="2800" dirty="0">
                <a:latin typeface="Calibri"/>
                <a:cs typeface="Calibri"/>
              </a:rPr>
              <a:t>P[3] =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T[s+3]</a:t>
            </a:r>
            <a:endParaRPr sz="2800">
              <a:latin typeface="Calibri"/>
              <a:cs typeface="Calibri"/>
            </a:endParaRPr>
          </a:p>
          <a:p>
            <a:pPr marL="417830">
              <a:lnSpc>
                <a:spcPct val="100000"/>
              </a:lnSpc>
              <a:spcBef>
                <a:spcPts val="335"/>
              </a:spcBef>
              <a:tabLst>
                <a:tab pos="1457325" algn="l"/>
              </a:tabLst>
            </a:pPr>
            <a:r>
              <a:rPr sz="2800" spc="-10" dirty="0">
                <a:latin typeface="Calibri"/>
                <a:cs typeface="Calibri"/>
              </a:rPr>
              <a:t>hence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dirty="0">
                <a:latin typeface="Calibri"/>
                <a:cs typeface="Calibri"/>
              </a:rPr>
              <a:t>P[m]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=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T[s+m],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shift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=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‘s’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41450" y="2279650"/>
          <a:ext cx="6097898" cy="37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41450" y="2739263"/>
          <a:ext cx="5979793" cy="748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57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08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56210">
                <a:tc>
                  <a:txBody>
                    <a:bodyPr/>
                    <a:lstStyle/>
                    <a:p>
                      <a:pPr marL="6350" algn="ctr">
                        <a:lnSpc>
                          <a:spcPts val="105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105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ts val="105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ts val="105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105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05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05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05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05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ts val="105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05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6350" algn="ctr">
                        <a:lnSpc>
                          <a:spcPts val="1275"/>
                        </a:lnSpc>
                        <a:spcBef>
                          <a:spcPts val="37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  <a:spcBef>
                          <a:spcPts val="37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ts val="1275"/>
                        </a:lnSpc>
                        <a:spcBef>
                          <a:spcPts val="37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13995" algn="r">
                        <a:lnSpc>
                          <a:spcPts val="1275"/>
                        </a:lnSpc>
                        <a:spcBef>
                          <a:spcPts val="37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7753C-F938-5818-2787-E95C93E5B0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980" y="6106667"/>
            <a:ext cx="24085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Times New Roman"/>
                <a:cs typeface="Times New Roman"/>
              </a:rPr>
              <a:t>Try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Yourself..!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36876" y="839724"/>
            <a:ext cx="1905" cy="1676400"/>
          </a:xfrm>
          <a:custGeom>
            <a:avLst/>
            <a:gdLst/>
            <a:ahLst/>
            <a:cxnLst/>
            <a:rect l="l" t="t" r="r" b="b"/>
            <a:pathLst>
              <a:path w="1905" h="1676400">
                <a:moveTo>
                  <a:pt x="1650" y="0"/>
                </a:moveTo>
                <a:lnTo>
                  <a:pt x="0" y="16764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50007" y="822197"/>
          <a:ext cx="1752599" cy="2289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5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8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32610">
                <a:tc>
                  <a:txBody>
                    <a:bodyPr/>
                    <a:lstStyle/>
                    <a:p>
                      <a:pPr marL="208915">
                        <a:lnSpc>
                          <a:spcPts val="232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195580" marR="37465" indent="10795" algn="just">
                        <a:lnSpc>
                          <a:spcPct val="10000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 a 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497DBA"/>
                      </a:solidFill>
                      <a:prstDash val="solid"/>
                    </a:lnR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232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146685" marR="121285" indent="-23495">
                        <a:lnSpc>
                          <a:spcPct val="10000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 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97DBA"/>
                      </a:solidFill>
                      <a:prstDash val="solid"/>
                    </a:lnL>
                    <a:lnR w="12700">
                      <a:solidFill>
                        <a:srgbClr val="497DBA"/>
                      </a:solidFill>
                      <a:prstDash val="solid"/>
                    </a:lnR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232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97DBA"/>
                      </a:solidFill>
                      <a:prstDash val="solid"/>
                    </a:lnL>
                    <a:lnR w="12700">
                      <a:solidFill>
                        <a:srgbClr val="497DBA"/>
                      </a:solidFill>
                      <a:prstDash val="solid"/>
                    </a:lnR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310" algn="ctr">
                        <a:lnSpc>
                          <a:spcPts val="232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97DBA"/>
                      </a:solidFill>
                      <a:prstDash val="solid"/>
                    </a:lnL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17804">
                        <a:lnSpc>
                          <a:spcPts val="3254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12700">
                      <a:solidFill>
                        <a:srgbClr val="497DBA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3254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97DBA"/>
                      </a:solidFill>
                      <a:prstDash val="solid"/>
                    </a:lnL>
                    <a:lnR w="12700">
                      <a:solidFill>
                        <a:srgbClr val="497DBA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3254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97DBA"/>
                      </a:solidFill>
                      <a:prstDash val="solid"/>
                    </a:lnL>
                    <a:lnR w="12700">
                      <a:solidFill>
                        <a:srgbClr val="497DBA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ts val="3254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97DBA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8166"/>
              </p:ext>
            </p:extLst>
          </p:nvPr>
        </p:nvGraphicFramePr>
        <p:xfrm>
          <a:off x="821994" y="686164"/>
          <a:ext cx="7707620" cy="5284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4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5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5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66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86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9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560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210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4286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R="60325" algn="ctr">
                        <a:lnSpc>
                          <a:spcPts val="3495"/>
                        </a:lnSpc>
                      </a:pPr>
                      <a:r>
                        <a:rPr sz="3200" spc="-25" dirty="0">
                          <a:latin typeface="Times New Roman"/>
                          <a:cs typeface="Times New Roman"/>
                        </a:rPr>
                        <a:t>T: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349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349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1445">
                        <a:lnSpc>
                          <a:spcPts val="349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R="44450" algn="r">
                        <a:lnSpc>
                          <a:spcPts val="349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349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349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74625">
                        <a:lnSpc>
                          <a:spcPts val="349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R="62230" algn="ctr">
                        <a:lnSpc>
                          <a:spcPts val="3495"/>
                        </a:lnSpc>
                      </a:pPr>
                      <a:r>
                        <a:rPr sz="3200" spc="-25" dirty="0">
                          <a:latin typeface="Times New Roman"/>
                          <a:cs typeface="Times New Roman"/>
                        </a:rPr>
                        <a:t>P: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349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3495"/>
                        </a:lnSpc>
                      </a:pPr>
                      <a:r>
                        <a:rPr sz="3200" spc="-6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118110" marR="2540" indent="-22860">
                        <a:lnSpc>
                          <a:spcPct val="10000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 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396240">
                        <a:lnSpc>
                          <a:spcPts val="349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s=0</a:t>
                      </a:r>
                      <a:r>
                        <a:rPr sz="3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396240" marR="3121025">
                        <a:lnSpc>
                          <a:spcPct val="100000"/>
                        </a:lnSpc>
                      </a:pPr>
                      <a:r>
                        <a:rPr sz="3200" spc="-25" dirty="0">
                          <a:latin typeface="Times New Roman"/>
                          <a:cs typeface="Times New Roman"/>
                        </a:rPr>
                        <a:t>s=1</a:t>
                      </a:r>
                      <a:r>
                        <a:rPr sz="3200" spc="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3200" spc="8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spc="-25" dirty="0">
                          <a:latin typeface="Times New Roman"/>
                          <a:cs typeface="Times New Roman"/>
                        </a:rPr>
                        <a:t>s=2</a:t>
                      </a:r>
                      <a:r>
                        <a:rPr sz="3200" spc="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396240">
                        <a:lnSpc>
                          <a:spcPts val="3495"/>
                        </a:lnSpc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s=3</a:t>
                      </a:r>
                      <a:r>
                        <a:rPr sz="3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Match</a:t>
                      </a:r>
                      <a:r>
                        <a:rPr sz="3200" spc="-9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3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dirty="0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sz="3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b="1" spc="-25" dirty="0">
                          <a:latin typeface="Times New Roman"/>
                          <a:cs typeface="Times New Roman"/>
                        </a:rPr>
                        <a:t>s=5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8530">
                <a:tc gridSpan="16">
                  <a:txBody>
                    <a:bodyPr/>
                    <a:lstStyle/>
                    <a:p>
                      <a:pPr marL="31750">
                        <a:lnSpc>
                          <a:spcPts val="3795"/>
                        </a:lnSpc>
                        <a:spcBef>
                          <a:spcPts val="3495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Example</a:t>
                      </a:r>
                      <a:r>
                        <a:rPr sz="3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b="1" spc="-25" dirty="0">
                          <a:latin typeface="Times New Roman"/>
                          <a:cs typeface="Times New Roman"/>
                        </a:rPr>
                        <a:t>2: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4438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360">
                <a:tc gridSpan="2">
                  <a:txBody>
                    <a:bodyPr/>
                    <a:lstStyle/>
                    <a:p>
                      <a:pPr marL="31750">
                        <a:lnSpc>
                          <a:spcPts val="378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T:</a:t>
                      </a:r>
                      <a:r>
                        <a:rPr sz="3200" spc="-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379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P:</a:t>
                      </a:r>
                      <a:r>
                        <a:rPr sz="3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marR="165735" indent="1270">
                        <a:lnSpc>
                          <a:spcPts val="384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 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marR="91440" indent="635">
                        <a:lnSpc>
                          <a:spcPts val="384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c a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2235" marR="93980" indent="1270">
                        <a:lnSpc>
                          <a:spcPts val="384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 a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378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378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378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ts val="378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378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378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ts val="378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ts val="378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3785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c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674876" y="763523"/>
            <a:ext cx="1905" cy="838200"/>
          </a:xfrm>
          <a:custGeom>
            <a:avLst/>
            <a:gdLst/>
            <a:ahLst/>
            <a:cxnLst/>
            <a:rect l="l" t="t" r="r" b="b"/>
            <a:pathLst>
              <a:path w="1905" h="838200">
                <a:moveTo>
                  <a:pt x="1650" y="0"/>
                </a:moveTo>
                <a:lnTo>
                  <a:pt x="0" y="8382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5876" y="839724"/>
            <a:ext cx="1905" cy="1219200"/>
          </a:xfrm>
          <a:custGeom>
            <a:avLst/>
            <a:gdLst/>
            <a:ahLst/>
            <a:cxnLst/>
            <a:rect l="l" t="t" r="r" b="b"/>
            <a:pathLst>
              <a:path w="1905" h="1219200">
                <a:moveTo>
                  <a:pt x="1650" y="0"/>
                </a:moveTo>
                <a:lnTo>
                  <a:pt x="0" y="12192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95A2C9-92B5-27FF-8D8C-A12189EC73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553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00"/>
                </a:solidFill>
              </a:rPr>
              <a:t>Algorithm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4162" y="1524761"/>
            <a:ext cx="6705600" cy="2590800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970">
              <a:lnSpc>
                <a:spcPts val="2330"/>
              </a:lnSpc>
            </a:pPr>
            <a:r>
              <a:rPr sz="2000" b="1" dirty="0">
                <a:latin typeface="Times New Roman"/>
                <a:cs typeface="Times New Roman"/>
              </a:rPr>
              <a:t>Naive_String_Matching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(T,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P)</a:t>
            </a:r>
            <a:endParaRPr sz="2000">
              <a:latin typeface="Times New Roman"/>
              <a:cs typeface="Times New Roman"/>
            </a:endParaRPr>
          </a:p>
          <a:p>
            <a:pPr marL="929005">
              <a:lnSpc>
                <a:spcPct val="100000"/>
              </a:lnSpc>
              <a:tabLst>
                <a:tab pos="1245870" algn="l"/>
              </a:tabLst>
            </a:pPr>
            <a:r>
              <a:rPr sz="2000" spc="-5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Wingdings"/>
                <a:cs typeface="Wingdings"/>
              </a:rPr>
              <a:t>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(t)</a:t>
            </a:r>
            <a:endParaRPr sz="2000">
              <a:latin typeface="Times New Roman"/>
              <a:cs typeface="Times New Roman"/>
            </a:endParaRPr>
          </a:p>
          <a:p>
            <a:pPr marL="929005" marR="4072254">
              <a:lnSpc>
                <a:spcPct val="100000"/>
              </a:lnSpc>
              <a:tabLst>
                <a:tab pos="1628139" algn="l"/>
              </a:tabLst>
            </a:pPr>
            <a:r>
              <a:rPr sz="2000" dirty="0">
                <a:latin typeface="Times New Roman"/>
                <a:cs typeface="Times New Roman"/>
              </a:rPr>
              <a:t>m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Wingdings"/>
                <a:cs typeface="Wingdings"/>
              </a:rPr>
              <a:t></a:t>
            </a:r>
            <a:r>
              <a:rPr sz="2000" dirty="0">
                <a:latin typeface="Times New Roman"/>
                <a:cs typeface="Times New Roman"/>
              </a:rPr>
              <a:t>	len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(p)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Wingdings"/>
                <a:cs typeface="Wingdings"/>
              </a:rPr>
              <a:t>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n-</a:t>
            </a:r>
            <a:r>
              <a:rPr sz="2000" spc="-50" dirty="0">
                <a:latin typeface="Times New Roman"/>
                <a:cs typeface="Times New Roman"/>
              </a:rPr>
              <a:t>m </a:t>
            </a:r>
            <a:r>
              <a:rPr sz="2000" spc="-25" dirty="0">
                <a:latin typeface="Times New Roman"/>
                <a:cs typeface="Times New Roman"/>
              </a:rPr>
              <a:t>do</a:t>
            </a:r>
            <a:endParaRPr sz="2000">
              <a:latin typeface="Times New Roman"/>
              <a:cs typeface="Times New Roman"/>
            </a:endParaRPr>
          </a:p>
          <a:p>
            <a:pPr marL="184340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P[1,....,m]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T[s+1,......,s+m]</a:t>
            </a:r>
            <a:endParaRPr sz="2000">
              <a:latin typeface="Times New Roman"/>
              <a:cs typeface="Times New Roman"/>
            </a:endParaRPr>
          </a:p>
          <a:p>
            <a:pPr marL="1843405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latin typeface="Times New Roman"/>
                <a:cs typeface="Times New Roman"/>
              </a:rPr>
              <a:t>then</a:t>
            </a:r>
            <a:endParaRPr sz="2000">
              <a:latin typeface="Times New Roman"/>
              <a:cs typeface="Times New Roman"/>
            </a:endParaRPr>
          </a:p>
          <a:p>
            <a:pPr marL="275780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print(“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Pattern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occurs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shift</a:t>
            </a:r>
            <a:r>
              <a:rPr sz="2000" spc="-25" dirty="0">
                <a:latin typeface="Times New Roman"/>
                <a:cs typeface="Times New Roman"/>
              </a:rPr>
              <a:t> s”)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246245"/>
            <a:ext cx="463740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Time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Complexity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O((n-</a:t>
            </a:r>
            <a:r>
              <a:rPr sz="2000" spc="-10" dirty="0">
                <a:latin typeface="Times New Roman"/>
                <a:cs typeface="Times New Roman"/>
              </a:rPr>
              <a:t>m+1)*m)</a:t>
            </a:r>
            <a:endParaRPr sz="2000">
              <a:latin typeface="Times New Roman"/>
              <a:cs typeface="Times New Roman"/>
            </a:endParaRPr>
          </a:p>
          <a:p>
            <a:pPr marL="115125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T(n,m):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O(nm)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Drawback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We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incrementing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DE0B0-E67F-B09F-52E4-F89EBD4CC1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3208" y="207391"/>
            <a:ext cx="5035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Rabin-</a:t>
            </a:r>
            <a:r>
              <a:rPr spc="-20" dirty="0"/>
              <a:t>Karp</a:t>
            </a:r>
            <a:r>
              <a:rPr spc="-17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249807"/>
            <a:ext cx="8149590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Example</a:t>
            </a:r>
            <a:r>
              <a:rPr sz="20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1: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65785" algn="l"/>
                <a:tab pos="820419" algn="l"/>
                <a:tab pos="1327785" algn="l"/>
                <a:tab pos="1582420" algn="l"/>
                <a:tab pos="2090420" algn="l"/>
                <a:tab pos="2344420" algn="l"/>
                <a:tab pos="2852420" algn="l"/>
                <a:tab pos="3106420" algn="l"/>
                <a:tab pos="3614420" algn="l"/>
                <a:tab pos="3869054" algn="l"/>
                <a:tab pos="4376420" algn="l"/>
                <a:tab pos="4631055" algn="l"/>
              </a:tabLst>
            </a:pPr>
            <a:r>
              <a:rPr sz="2000" b="1" spc="-50" dirty="0">
                <a:latin typeface="Times New Roman"/>
                <a:cs typeface="Times New Roman"/>
              </a:rPr>
              <a:t>T: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3</a:t>
            </a:r>
            <a:r>
              <a:rPr sz="2000" dirty="0">
                <a:latin typeface="Times New Roman"/>
                <a:cs typeface="Times New Roman"/>
              </a:rPr>
              <a:t>	5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	2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3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	4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	2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6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7</a:t>
            </a:r>
            <a:r>
              <a:rPr sz="2000" dirty="0">
                <a:latin typeface="Times New Roman"/>
                <a:cs typeface="Times New Roman"/>
              </a:rPr>
              <a:t>	3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Times New Roman"/>
                <a:cs typeface="Times New Roman"/>
              </a:rPr>
              <a:t>	2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70230" algn="l"/>
                <a:tab pos="824865" algn="l"/>
                <a:tab pos="1332230" algn="l"/>
              </a:tabLst>
            </a:pPr>
            <a:r>
              <a:rPr sz="2000" b="1" dirty="0">
                <a:latin typeface="Times New Roman"/>
                <a:cs typeface="Times New Roman"/>
              </a:rPr>
              <a:t>P: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3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	4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∑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0,1,2,.....,9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Solution: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Select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prime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find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mod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 pattern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referred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hash</a:t>
            </a:r>
            <a:r>
              <a:rPr sz="2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Times New Roman"/>
                <a:cs typeface="Times New Roman"/>
              </a:rPr>
              <a:t>value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Rabin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Karp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algorithm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compares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string’s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hash</a:t>
            </a:r>
            <a:r>
              <a:rPr sz="2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values</a:t>
            </a:r>
            <a:r>
              <a:rPr sz="2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rather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comparing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string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itself.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T[s+1,.....,s+m]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 q 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incrementally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subtracting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higher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digit,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shifting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adding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lower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next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substring.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arithmetic.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C233A-756F-91FB-24A6-0E33081371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556005"/>
            <a:ext cx="602361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5640" algn="l"/>
                <a:tab pos="980440" algn="l"/>
                <a:tab pos="1285240" algn="l"/>
                <a:tab pos="1590040" algn="l"/>
                <a:tab pos="1894839" algn="l"/>
                <a:tab pos="2199640" algn="l"/>
                <a:tab pos="2504440" algn="l"/>
                <a:tab pos="2809240" algn="l"/>
                <a:tab pos="3114040" algn="l"/>
                <a:tab pos="3418840" algn="l"/>
                <a:tab pos="3724275" algn="l"/>
                <a:tab pos="4029075" algn="l"/>
                <a:tab pos="4333875" algn="l"/>
                <a:tab pos="4638675" algn="l"/>
                <a:tab pos="4943475" algn="l"/>
                <a:tab pos="5248275" algn="l"/>
                <a:tab pos="5553075" algn="l"/>
                <a:tab pos="5857875" algn="l"/>
              </a:tabLst>
            </a:pPr>
            <a:r>
              <a:rPr sz="2400" b="1" spc="-50" dirty="0">
                <a:latin typeface="Times New Roman"/>
                <a:cs typeface="Times New Roman"/>
              </a:rPr>
              <a:t>T: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5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9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4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5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6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7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9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9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81355" algn="l"/>
                <a:tab pos="986155" algn="l"/>
                <a:tab pos="1290955" algn="l"/>
                <a:tab pos="1595755" algn="l"/>
              </a:tabLst>
            </a:pPr>
            <a:r>
              <a:rPr sz="2400" b="1" dirty="0">
                <a:latin typeface="Times New Roman"/>
                <a:cs typeface="Times New Roman"/>
              </a:rPr>
              <a:t>P: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4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q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13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(Randomly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selected)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Radix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25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31415 % 13 = 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Now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69290" y="3894369"/>
          <a:ext cx="7783194" cy="2894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7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155">
                <a:tc>
                  <a:txBody>
                    <a:bodyPr/>
                    <a:lstStyle/>
                    <a:p>
                      <a:pPr marL="31750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23590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41526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35902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15267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59023 % 13 =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52673 % 13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90231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26739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02314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2730"/>
                        </a:lnSpc>
                      </a:pPr>
                      <a:r>
                        <a:rPr sz="2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67399</a:t>
                      </a: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2400" b="1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b="1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none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u="none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none" dirty="0">
                          <a:latin typeface="Times New Roman"/>
                          <a:cs typeface="Times New Roman"/>
                        </a:rPr>
                        <a:t>Spurious</a:t>
                      </a:r>
                      <a:r>
                        <a:rPr sz="2400" u="none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none" spc="-20" dirty="0">
                          <a:latin typeface="Times New Roman"/>
                          <a:cs typeface="Times New Roman"/>
                        </a:rPr>
                        <a:t>Hit)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23141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73992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31415 %</a:t>
                      </a: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13 = 7</a:t>
                      </a: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none" dirty="0">
                          <a:latin typeface="Times New Roman"/>
                          <a:cs typeface="Times New Roman"/>
                        </a:rPr>
                        <a:t>(Actual</a:t>
                      </a:r>
                      <a:r>
                        <a:rPr sz="2400" u="none" spc="-20" dirty="0">
                          <a:latin typeface="Times New Roman"/>
                          <a:cs typeface="Times New Roman"/>
                        </a:rPr>
                        <a:t> Hit)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39921 % 13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31750">
                        <a:lnSpc>
                          <a:spcPts val="267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14152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BE74F-F6C1-18B8-0424-E5ECECF794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4340" y="2016379"/>
            <a:ext cx="7722870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14152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 [(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31415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 3 *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10</a:t>
            </a:r>
            <a:r>
              <a:rPr sz="3150" baseline="25132" dirty="0">
                <a:latin typeface="Times New Roman"/>
                <a:cs typeface="Times New Roman"/>
              </a:rPr>
              <a:t>4</a:t>
            </a:r>
            <a:r>
              <a:rPr sz="3150" spc="382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10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]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13</a:t>
            </a:r>
            <a:endParaRPr sz="3200">
              <a:latin typeface="Times New Roman"/>
              <a:cs typeface="Times New Roman"/>
            </a:endParaRPr>
          </a:p>
          <a:p>
            <a:pPr marR="90805" algn="r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[( 31415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30000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) *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10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2 ]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13</a:t>
            </a:r>
            <a:endParaRPr sz="3200">
              <a:latin typeface="Times New Roman"/>
              <a:cs typeface="Times New Roman"/>
            </a:endParaRPr>
          </a:p>
          <a:p>
            <a:pPr marL="15621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[ 1415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 10 +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2 ]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13</a:t>
            </a:r>
            <a:endParaRPr sz="3200">
              <a:latin typeface="Times New Roman"/>
              <a:cs typeface="Times New Roman"/>
            </a:endParaRPr>
          </a:p>
          <a:p>
            <a:pPr marL="15621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[ 14152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] mod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13</a:t>
            </a:r>
            <a:endParaRPr sz="3200">
              <a:latin typeface="Times New Roman"/>
              <a:cs typeface="Times New Roman"/>
            </a:endParaRPr>
          </a:p>
          <a:p>
            <a:pPr marL="12573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= </a:t>
            </a:r>
            <a:r>
              <a:rPr sz="3200" spc="-50" dirty="0"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575658-1673-CBCE-D6CA-4D9EAB8D5D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64490" y="545083"/>
          <a:ext cx="4789169" cy="4889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44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Example</a:t>
                      </a:r>
                      <a:r>
                        <a:rPr sz="1800" spc="-10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T:</a:t>
                      </a:r>
                      <a:r>
                        <a:rPr sz="1800" spc="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8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r>
                        <a:rPr sz="1800" spc="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18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spc="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889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889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889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889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P:</a:t>
                      </a:r>
                      <a:r>
                        <a:rPr sz="18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4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Prime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q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Solution: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Radix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20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hash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value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26</a:t>
                      </a:r>
                      <a:r>
                        <a:rPr sz="1800" b="1" u="sng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%</a:t>
                      </a:r>
                      <a:r>
                        <a:rPr sz="18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11</a:t>
                      </a:r>
                      <a:r>
                        <a:rPr sz="1800" b="1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34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% 11 =</a:t>
                      </a:r>
                      <a:r>
                        <a:rPr sz="180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35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% 11 =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97915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41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15</a:t>
                      </a:r>
                      <a:r>
                        <a:rPr sz="1800" b="1" u="sng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%</a:t>
                      </a:r>
                      <a:r>
                        <a:rPr sz="1800" b="1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11 =</a:t>
                      </a:r>
                      <a:r>
                        <a:rPr sz="1800" b="1" u="sng" spc="9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4 </a:t>
                      </a:r>
                      <a:r>
                        <a:rPr sz="1800" u="none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u="none" dirty="0">
                          <a:latin typeface="Times New Roman"/>
                          <a:cs typeface="Times New Roman"/>
                        </a:rPr>
                        <a:t>Spurious</a:t>
                      </a:r>
                      <a:r>
                        <a:rPr sz="1800" u="none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u="none" dirty="0"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1800" u="none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u="none" spc="-5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59</a:t>
                      </a:r>
                      <a:r>
                        <a:rPr sz="1800" b="1" u="sng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%</a:t>
                      </a:r>
                      <a:r>
                        <a:rPr sz="1800" b="1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11 =</a:t>
                      </a:r>
                      <a:r>
                        <a:rPr sz="1800" b="1" u="sng" spc="9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4 </a:t>
                      </a:r>
                      <a:r>
                        <a:rPr sz="1800" u="none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u="none" dirty="0">
                          <a:latin typeface="Times New Roman"/>
                          <a:cs typeface="Times New Roman"/>
                        </a:rPr>
                        <a:t>Spurious</a:t>
                      </a:r>
                      <a:r>
                        <a:rPr sz="1800" u="none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u="none" dirty="0"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1800" u="none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u="none" spc="-5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92</a:t>
                      </a:r>
                      <a:r>
                        <a:rPr sz="1800" b="1" u="sng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%</a:t>
                      </a:r>
                      <a:r>
                        <a:rPr sz="1800" b="1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11 =</a:t>
                      </a:r>
                      <a:r>
                        <a:rPr sz="1800" b="1" u="sng" spc="9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4 </a:t>
                      </a:r>
                      <a:r>
                        <a:rPr sz="1800" u="none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u="none" dirty="0">
                          <a:latin typeface="Times New Roman"/>
                          <a:cs typeface="Times New Roman"/>
                        </a:rPr>
                        <a:t>Spurious</a:t>
                      </a:r>
                      <a:r>
                        <a:rPr sz="1800" u="none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u="none" dirty="0"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1800" u="none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u="none" spc="-5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58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97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26</a:t>
                      </a:r>
                      <a:r>
                        <a:rPr sz="18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%</a:t>
                      </a:r>
                      <a:r>
                        <a:rPr sz="18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11</a:t>
                      </a:r>
                      <a:r>
                        <a:rPr sz="1800" b="1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b="1" u="sng" spc="8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4</a:t>
                      </a:r>
                      <a:r>
                        <a:rPr sz="1800" b="1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none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u="none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none" dirty="0">
                          <a:latin typeface="Calibri"/>
                          <a:cs typeface="Calibri"/>
                        </a:rPr>
                        <a:t>Actual</a:t>
                      </a:r>
                      <a:r>
                        <a:rPr sz="1800" u="none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none" dirty="0">
                          <a:latin typeface="Calibri"/>
                          <a:cs typeface="Calibri"/>
                        </a:rPr>
                        <a:t>Hit</a:t>
                      </a:r>
                      <a:r>
                        <a:rPr sz="1800" u="none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u="none" spc="-5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93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65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53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00CA3B-76D4-D953-CE53-FABDE013EA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040" y="1238757"/>
            <a:ext cx="7891780" cy="3928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41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 [( 34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-3 * 10</a:t>
            </a:r>
            <a:r>
              <a:rPr sz="3150" baseline="25132" dirty="0">
                <a:latin typeface="Times New Roman"/>
                <a:cs typeface="Times New Roman"/>
              </a:rPr>
              <a:t>1</a:t>
            </a:r>
            <a:r>
              <a:rPr sz="3150" spc="382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)*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10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+ 1] mod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  <a:p>
            <a:pPr marL="862965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[(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34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 30)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 10 +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1] mod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  <a:p>
            <a:pPr marL="862965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[ 4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10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+ 1 ]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  <a:p>
            <a:pPr marL="862965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[ 41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] mod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  <a:p>
            <a:pPr marL="6604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Times New Roman"/>
                <a:cs typeface="Times New Roman"/>
              </a:rPr>
              <a:t>= </a:t>
            </a:r>
            <a:r>
              <a:rPr sz="3200" spc="-50" dirty="0"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3200">
              <a:latin typeface="Times New Roman"/>
              <a:cs typeface="Times New Roman"/>
            </a:endParaRPr>
          </a:p>
          <a:p>
            <a:pPr marL="50800" marR="1778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solidFill>
                  <a:srgbClr val="C00000"/>
                </a:solidFill>
                <a:latin typeface="Times New Roman"/>
                <a:cs typeface="Times New Roman"/>
              </a:rPr>
              <a:t>Applications</a:t>
            </a:r>
            <a:r>
              <a:rPr sz="3200" dirty="0">
                <a:latin typeface="Times New Roman"/>
                <a:cs typeface="Times New Roman"/>
              </a:rPr>
              <a:t>: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Bio-informatics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see </a:t>
            </a:r>
            <a:r>
              <a:rPr sz="3200" spc="-10" dirty="0">
                <a:latin typeface="Times New Roman"/>
                <a:cs typeface="Times New Roman"/>
              </a:rPr>
              <a:t>similarities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proteins.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6AD5E3-1D44-16DD-EC6E-FDDA5A9744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3090" y="1337366"/>
          <a:ext cx="7469500" cy="819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7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31750">
                        <a:lnSpc>
                          <a:spcPts val="3050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T: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31750">
                        <a:lnSpc>
                          <a:spcPts val="3130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P: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3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3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3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12140" y="859281"/>
            <a:ext cx="7638415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Example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3: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Prime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25" dirty="0">
                <a:latin typeface="Times New Roman"/>
                <a:cs typeface="Times New Roman"/>
              </a:rPr>
              <a:t> 13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Apply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Rabin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Karp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algorithm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check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presence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</a:t>
            </a:r>
            <a:r>
              <a:rPr sz="2800" dirty="0">
                <a:latin typeface="Times New Roman"/>
                <a:cs typeface="Times New Roman"/>
              </a:rPr>
              <a:t>pattern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given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text.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Find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Spurious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exact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hit.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40" dirty="0">
                <a:latin typeface="Times New Roman"/>
                <a:cs typeface="Times New Roman"/>
              </a:rPr>
              <a:t>Try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Yourself...!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025A1-A1C0-88F6-0565-E95FB4BD8B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FB3056-371C-9D56-FA1D-10428AFCC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1" y="1106676"/>
            <a:ext cx="2743200" cy="2082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16E2F8-BD38-B7D0-762C-5B33787533CC}"/>
              </a:ext>
            </a:extLst>
          </p:cNvPr>
          <p:cNvSpPr txBox="1"/>
          <p:nvPr/>
        </p:nvSpPr>
        <p:spPr>
          <a:xfrm>
            <a:off x="4419600" y="1295400"/>
            <a:ext cx="23622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The ASCII values of a = 97, b = 98, </a:t>
            </a:r>
          </a:p>
          <a:p>
            <a:r>
              <a:rPr lang="pt-BR" dirty="0"/>
              <a:t>c = 99, d = 100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EF6834-CBAB-C28A-F4BF-C2F87EA515D8}"/>
                  </a:ext>
                </a:extLst>
              </p:cNvPr>
              <p:cNvSpPr txBox="1"/>
              <p:nvPr/>
            </p:nvSpPr>
            <p:spPr>
              <a:xfrm>
                <a:off x="544286" y="3348609"/>
                <a:ext cx="6999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/>
                  <a:t>Perform Pattern hash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b="1" dirty="0"/>
                  <a:t> (for </a:t>
                </a:r>
                <a:r>
                  <a:rPr lang="en-US" sz="2400" b="1" dirty="0" err="1"/>
                  <a:t>abd</a:t>
                </a:r>
                <a:r>
                  <a:rPr lang="en-US" sz="2400" b="1"/>
                  <a:t>)</a:t>
                </a:r>
                <a:endParaRPr lang="en-US" sz="2400" b="1" dirty="0"/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97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400" i="0">
                                <a:latin typeface="Cambria Math" panose="02040503050406030204" pitchFamily="18" charset="0"/>
                              </a:rPr>
                              <m:t>256</m:t>
                            </m:r>
                          </m:e>
                          <m:sup>
                            <m:r>
                              <a:rPr lang="ar-AE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256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m:rPr>
                        <m:nor/>
                      </m:rPr>
                      <a:rPr lang="ar-AE" sz="2400" b="0" i="1">
                        <a:latin typeface="Cambria Math" panose="02040503050406030204" pitchFamily="18" charset="0"/>
                      </a:rPr>
                      <m:t> </m:t>
                    </m:r>
                    <m:r>
                      <m:rPr>
                        <m:sty m:val="p"/>
                      </m:rPr>
                      <a:rPr lang="en-US" sz="2400" b="0" i="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sz="2400" b="0" i="1"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sz="2400" b="0" i="0"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lang="en-US" sz="2400" b="0" i="0" dirty="0">
                    <a:latin typeface="Cambria Math" panose="02040503050406030204" pitchFamily="18" charset="0"/>
                  </a:rPr>
                  <a:t> = 28</a:t>
                </a:r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EF6834-CBAB-C28A-F4BF-C2F87EA51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86" y="3348609"/>
                <a:ext cx="6999514" cy="830997"/>
              </a:xfrm>
              <a:prstGeom prst="rect">
                <a:avLst/>
              </a:prstGeom>
              <a:blipFill>
                <a:blip r:embed="rId3"/>
                <a:stretch>
                  <a:fillRect l="-1305" t="-510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41DFB4E-E97D-7185-50DA-C2AE87F45083}"/>
              </a:ext>
            </a:extLst>
          </p:cNvPr>
          <p:cNvSpPr txBox="1"/>
          <p:nvPr/>
        </p:nvSpPr>
        <p:spPr>
          <a:xfrm>
            <a:off x="544286" y="456456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work with Strings?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12D1FE-5951-D97A-E044-2930F2C0D2B5}"/>
              </a:ext>
            </a:extLst>
          </p:cNvPr>
          <p:cNvSpPr txBox="1"/>
          <p:nvPr/>
        </p:nvSpPr>
        <p:spPr>
          <a:xfrm>
            <a:off x="304800" y="4326700"/>
            <a:ext cx="8763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the given text into strings of 3 characters and find the hash value same as above 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(i.e.)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- 90,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- 31,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cda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- 56, dab – 28,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- 28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Proceed with the identification of Hits as Valid and Spurious Hits</a:t>
            </a:r>
          </a:p>
          <a:p>
            <a:pPr lvl="2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- 2 Hits, 1 valid and 1 spurious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a character wise comparison of the matched hash values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8814E-FFF7-7A08-D311-DF9B8AE7B0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21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kushal\Desktop\a5zL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179" y="52809"/>
            <a:ext cx="5972536" cy="383339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2140" y="4215765"/>
            <a:ext cx="6368415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858770" algn="ctr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Time</a:t>
            </a:r>
            <a:r>
              <a:rPr sz="22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complexity</a:t>
            </a:r>
            <a:r>
              <a:rPr sz="22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Worst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Case</a:t>
            </a:r>
            <a:endParaRPr sz="2200">
              <a:latin typeface="Times New Roman"/>
              <a:cs typeface="Times New Roman"/>
            </a:endParaRPr>
          </a:p>
          <a:p>
            <a:pPr marL="1296670" algn="ctr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T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(n,m)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O(m) +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O((n-m+1)*m)</a:t>
            </a:r>
            <a:endParaRPr sz="2200">
              <a:latin typeface="Times New Roman"/>
              <a:cs typeface="Times New Roman"/>
            </a:endParaRPr>
          </a:p>
          <a:p>
            <a:pPr marR="170180"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O(mn)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200">
              <a:latin typeface="Times New Roman"/>
              <a:cs typeface="Times New Roman"/>
            </a:endParaRPr>
          </a:p>
          <a:p>
            <a:pPr marL="1958975">
              <a:lnSpc>
                <a:spcPct val="100000"/>
              </a:lnSpc>
            </a:pPr>
            <a:r>
              <a:rPr sz="2200" spc="-40" dirty="0">
                <a:latin typeface="Times New Roman"/>
                <a:cs typeface="Times New Roman"/>
              </a:rPr>
              <a:t>Avg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Case</a:t>
            </a:r>
            <a:endParaRPr sz="2200">
              <a:latin typeface="Times New Roman"/>
              <a:cs typeface="Times New Roman"/>
            </a:endParaRPr>
          </a:p>
          <a:p>
            <a:pPr marL="196977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(n,m)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O(m)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+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O(n-</a:t>
            </a:r>
            <a:r>
              <a:rPr sz="2200" dirty="0">
                <a:latin typeface="Times New Roman"/>
                <a:cs typeface="Times New Roman"/>
              </a:rPr>
              <a:t>m+1)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Times New Roman"/>
                <a:cs typeface="Times New Roman"/>
              </a:rPr>
              <a:t>O(m+n)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B0CC1-B881-B210-D32F-ECBD70E98B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98495" marR="5080" indent="-262064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Knuth-</a:t>
            </a:r>
            <a:r>
              <a:rPr spc="-25" dirty="0"/>
              <a:t>Morris-</a:t>
            </a:r>
            <a:r>
              <a:rPr spc="-10" dirty="0"/>
              <a:t>Pratt</a:t>
            </a:r>
            <a:r>
              <a:rPr spc="-105" dirty="0"/>
              <a:t> </a:t>
            </a:r>
            <a:r>
              <a:rPr spc="-10" dirty="0"/>
              <a:t>Algorithm (KMP)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1138"/>
            <a:ext cx="34651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Consider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10" dirty="0">
                <a:latin typeface="Times New Roman"/>
                <a:cs typeface="Times New Roman"/>
              </a:rPr>
              <a:t> example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5490" y="2727805"/>
          <a:ext cx="4172582" cy="1730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5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6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64795">
                <a:tc>
                  <a:txBody>
                    <a:bodyPr/>
                    <a:lstStyle/>
                    <a:p>
                      <a:pPr marL="133985">
                        <a:lnSpc>
                          <a:spcPts val="1739"/>
                        </a:lnSpc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ts val="1739"/>
                        </a:lnSpc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39"/>
                        </a:lnSpc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739"/>
                        </a:lnSpc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739"/>
                        </a:lnSpc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1739"/>
                        </a:lnSpc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739"/>
                        </a:lnSpc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739"/>
                        </a:lnSpc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ts val="1739"/>
                        </a:lnSpc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1739"/>
                        </a:lnSpc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739"/>
                        </a:lnSpc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ts val="3770"/>
                        </a:lnSpc>
                      </a:pPr>
                      <a:r>
                        <a:rPr sz="3200" spc="-25" dirty="0">
                          <a:latin typeface="Times New Roman"/>
                          <a:cs typeface="Times New Roman"/>
                        </a:rPr>
                        <a:t>T: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ctr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2710" algn="r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6215" marB="0"/>
                </a:tc>
                <a:tc gridSpan="6"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621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ts val="3770"/>
                        </a:lnSpc>
                      </a:pPr>
                      <a:r>
                        <a:rPr sz="3200" spc="-25" dirty="0">
                          <a:latin typeface="Times New Roman"/>
                          <a:cs typeface="Times New Roman"/>
                        </a:rPr>
                        <a:t>P: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275" algn="ctr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4615" algn="r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100965">
                        <a:lnSpc>
                          <a:spcPts val="3770"/>
                        </a:lnSpc>
                      </a:pPr>
                      <a:r>
                        <a:rPr sz="3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64540" y="4930902"/>
            <a:ext cx="6496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comparisons.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AB92A-2748-F15D-955B-5C7517FA7D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640" y="552957"/>
            <a:ext cx="810895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C00000"/>
                </a:solidFill>
                <a:latin typeface="Times New Roman"/>
                <a:cs typeface="Times New Roman"/>
              </a:rPr>
              <a:t>KMP</a:t>
            </a:r>
            <a:r>
              <a:rPr sz="3200" spc="-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00000"/>
                </a:solidFill>
                <a:latin typeface="Times New Roman"/>
                <a:cs typeface="Times New Roman"/>
              </a:rPr>
              <a:t>algorithm</a:t>
            </a:r>
            <a:r>
              <a:rPr sz="32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00000"/>
                </a:solidFill>
                <a:latin typeface="Times New Roman"/>
                <a:cs typeface="Times New Roman"/>
              </a:rPr>
              <a:t>two</a:t>
            </a:r>
            <a:r>
              <a:rPr sz="32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C00000"/>
                </a:solidFill>
                <a:latin typeface="Times New Roman"/>
                <a:cs typeface="Times New Roman"/>
              </a:rPr>
              <a:t>components</a:t>
            </a:r>
            <a:endParaRPr sz="3200">
              <a:latin typeface="Times New Roman"/>
              <a:cs typeface="Times New Roman"/>
            </a:endParaRPr>
          </a:p>
          <a:p>
            <a:pPr marL="393065" indent="-342265">
              <a:lnSpc>
                <a:spcPct val="100000"/>
              </a:lnSpc>
              <a:buAutoNum type="arabicPeriod"/>
              <a:tabLst>
                <a:tab pos="393065" algn="l"/>
              </a:tabLst>
            </a:pPr>
            <a:r>
              <a:rPr sz="3200" dirty="0">
                <a:latin typeface="Times New Roman"/>
                <a:cs typeface="Times New Roman"/>
              </a:rPr>
              <a:t>Prefix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Function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π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 Compares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10" dirty="0">
                <a:latin typeface="Times New Roman"/>
                <a:cs typeface="Times New Roman"/>
              </a:rPr>
              <a:t> itself</a:t>
            </a:r>
            <a:endParaRPr sz="3200">
              <a:latin typeface="Times New Roman"/>
              <a:cs typeface="Times New Roman"/>
            </a:endParaRPr>
          </a:p>
          <a:p>
            <a:pPr marL="391795" marR="205740" indent="-341630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3200" dirty="0">
                <a:latin typeface="Times New Roman"/>
                <a:cs typeface="Times New Roman"/>
              </a:rPr>
              <a:t>KMP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Matcher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Compares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text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 </a:t>
            </a:r>
            <a:r>
              <a:rPr sz="3200" spc="-10" dirty="0">
                <a:latin typeface="Times New Roman"/>
                <a:cs typeface="Times New Roman"/>
              </a:rPr>
              <a:t>Pattern 	</a:t>
            </a:r>
            <a:r>
              <a:rPr sz="3200" dirty="0">
                <a:latin typeface="Times New Roman"/>
                <a:cs typeface="Times New Roman"/>
              </a:rPr>
              <a:t>P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π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Times New Roman"/>
              <a:buAutoNum type="arabicPeriod"/>
            </a:pPr>
            <a:endParaRPr sz="3200">
              <a:latin typeface="Times New Roman"/>
              <a:cs typeface="Times New Roman"/>
            </a:endParaRPr>
          </a:p>
          <a:p>
            <a:pPr marL="393700" marR="17780" lvl="1" indent="-343535">
              <a:lnSpc>
                <a:spcPct val="100000"/>
              </a:lnSpc>
              <a:buFont typeface="Arial"/>
              <a:buChar char="•"/>
              <a:tabLst>
                <a:tab pos="393700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prefix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function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π gives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information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about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pattern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“P”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matches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against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shifts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itself.</a:t>
            </a:r>
            <a:endParaRPr sz="3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60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393700" marR="424815" lvl="1" indent="-3435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93700" algn="l"/>
                <a:tab pos="4507230" algn="l"/>
              </a:tabLst>
            </a:pPr>
            <a:r>
              <a:rPr sz="3200" dirty="0">
                <a:latin typeface="Times New Roman"/>
                <a:cs typeface="Times New Roman"/>
              </a:rPr>
              <a:t>π[q]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length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longest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prefix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“P”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proper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suffix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P</a:t>
            </a:r>
            <a:r>
              <a:rPr sz="3150" spc="-37" baseline="-21164" dirty="0">
                <a:latin typeface="Times New Roman"/>
                <a:cs typeface="Times New Roman"/>
              </a:rPr>
              <a:t>q</a:t>
            </a:r>
            <a:endParaRPr sz="3150" baseline="-21164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AEBE79-50F6-3E8E-0412-643E09AFBF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551434"/>
            <a:ext cx="420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pattern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20" dirty="0">
                <a:latin typeface="Calibri"/>
                <a:cs typeface="Calibri"/>
              </a:rPr>
              <a:t>P,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prefix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function.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648714"/>
            <a:ext cx="198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3294710"/>
            <a:ext cx="199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17650" y="1974850"/>
          <a:ext cx="609600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P[q]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π[q]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17650" y="4032250"/>
          <a:ext cx="609600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P[q]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π[q]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55E9C-E26C-14BB-CFC1-C37889FED41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825753"/>
            <a:ext cx="199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3.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472054"/>
            <a:ext cx="199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4.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4387977"/>
            <a:ext cx="4056379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353695" algn="l"/>
                <a:tab pos="1097915" algn="l"/>
                <a:tab pos="1381760" algn="l"/>
                <a:tab pos="1646555" algn="l"/>
                <a:tab pos="1944370" algn="l"/>
                <a:tab pos="2209165" algn="l"/>
                <a:tab pos="2504440" algn="l"/>
                <a:tab pos="2788285" algn="l"/>
                <a:tab pos="3053080" algn="l"/>
                <a:tab pos="3335020" algn="l"/>
              </a:tabLst>
            </a:pPr>
            <a:r>
              <a:rPr sz="2400" dirty="0">
                <a:latin typeface="Calibri"/>
                <a:cs typeface="Calibri"/>
              </a:rPr>
              <a:t>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buAutoNum type="arabicPeriod" startAt="5"/>
              <a:tabLst>
                <a:tab pos="353695" algn="l"/>
                <a:tab pos="1084580" algn="l"/>
                <a:tab pos="1349375" algn="l"/>
                <a:tab pos="1647189" algn="l"/>
                <a:tab pos="1911985" algn="l"/>
                <a:tab pos="2193925" algn="l"/>
                <a:tab pos="2458720" algn="l"/>
                <a:tab pos="2756535" algn="l"/>
                <a:tab pos="3037840" algn="l"/>
                <a:tab pos="3302635" algn="l"/>
                <a:tab pos="3600450" algn="l"/>
                <a:tab pos="3896995" algn="l"/>
              </a:tabLst>
            </a:pPr>
            <a:r>
              <a:rPr sz="2400" dirty="0">
                <a:latin typeface="Calibri"/>
                <a:cs typeface="Calibri"/>
              </a:rPr>
              <a:t>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spc="-20" dirty="0">
                <a:latin typeface="Calibri"/>
                <a:cs typeface="Calibri"/>
              </a:rPr>
              <a:t>Try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Yourself..!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12850" y="1136650"/>
          <a:ext cx="670560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P[q]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π[q]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89050" y="2813050"/>
          <a:ext cx="662940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P[q]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π[q]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CE72B-9824-47DD-C80D-1F60AF04CE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kushal\AppData\Local\Temp\Rar$DIa6104.37914\CamScanner 05-14-2020 12.12.30_1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6339" y="0"/>
            <a:ext cx="6751320" cy="684427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14641A-0AC5-8BDC-A6D2-36B29EE67E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kushal\Desktop\MX5hv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9632" y="1010876"/>
            <a:ext cx="5698810" cy="466226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1CDFD3-E3F9-AB7B-AFA2-04A922A0EE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kushal\AppData\Local\Temp\Rar$DIa2516.46708\CamScanner 05-14-2020 12.13.30_1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488" y="0"/>
            <a:ext cx="5145023" cy="68579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73458E-B3CC-0658-78D2-7790B4EF5E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kushal\Desktop\flkH7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449" y="874462"/>
            <a:ext cx="7151528" cy="514533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ED9B7C-167C-C3BF-CE4B-2FCB30280D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630681"/>
            <a:ext cx="16529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Example</a:t>
            </a:r>
            <a:r>
              <a:rPr sz="2800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800" spc="-2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40690" y="1535486"/>
          <a:ext cx="3388993" cy="819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4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46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2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31750">
                        <a:lnSpc>
                          <a:spcPts val="305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T:</a:t>
                      </a:r>
                      <a:r>
                        <a:rPr sz="2800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0"/>
                        </a:lnSpc>
                        <a:tabLst>
                          <a:tab pos="335280" algn="l"/>
                        </a:tabLst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305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31750">
                        <a:lnSpc>
                          <a:spcPts val="313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P: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3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30"/>
                        </a:lnSpc>
                        <a:tabLst>
                          <a:tab pos="334645" algn="l"/>
                        </a:tabLst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313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9740" y="2764662"/>
            <a:ext cx="313436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/>
                <a:cs typeface="Times New Roman"/>
              </a:rPr>
              <a:t>Solution: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Find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prefix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values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70050" y="4641850"/>
          <a:ext cx="609600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P[q]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π[q]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B2BF7-2507-CB66-5AFB-5B67019433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kushal\AppData\Local\Temp\Rar$DIa4416.2131\CamScanner 05-14-2020 12.14.09_1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019" y="0"/>
            <a:ext cx="6537959" cy="684427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75576B-23F9-2686-EC3D-C47A6F060F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708405"/>
            <a:ext cx="2491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Trace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algorithm.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9740" y="1346961"/>
            <a:ext cx="21482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1225" algn="l"/>
                <a:tab pos="1443990" algn="l"/>
                <a:tab pos="1957070" algn="l"/>
              </a:tabLst>
            </a:pP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T:</a:t>
            </a:r>
            <a:r>
              <a:rPr sz="2800" b="0" spc="-1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8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8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800" b="0" spc="-60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7347" y="1346961"/>
            <a:ext cx="2298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5145" algn="l"/>
                <a:tab pos="1058545" algn="l"/>
                <a:tab pos="1570355" algn="l"/>
                <a:tab pos="2107565" algn="l"/>
              </a:tabLst>
            </a:pPr>
            <a:r>
              <a:rPr sz="2800" spc="-5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b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b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0" y="2200782"/>
            <a:ext cx="6170930" cy="3858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0590" algn="l"/>
                <a:tab pos="1443990" algn="l"/>
                <a:tab pos="1955800" algn="l"/>
                <a:tab pos="2491105" algn="l"/>
              </a:tabLst>
            </a:pPr>
            <a:r>
              <a:rPr sz="2800" dirty="0">
                <a:latin typeface="Times New Roman"/>
                <a:cs typeface="Times New Roman"/>
              </a:rPr>
              <a:t>P: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a</a:t>
            </a:r>
            <a:r>
              <a:rPr sz="2800" dirty="0">
                <a:solidFill>
                  <a:srgbClr val="92D05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b</a:t>
            </a:r>
            <a:r>
              <a:rPr sz="2800" dirty="0">
                <a:solidFill>
                  <a:srgbClr val="92D05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a</a:t>
            </a:r>
            <a:r>
              <a:rPr sz="2800" dirty="0">
                <a:solidFill>
                  <a:srgbClr val="92D05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b</a:t>
            </a:r>
            <a:r>
              <a:rPr sz="2800" dirty="0">
                <a:solidFill>
                  <a:srgbClr val="92D05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R="1022350" algn="ctr">
              <a:lnSpc>
                <a:spcPct val="100000"/>
              </a:lnSpc>
              <a:tabLst>
                <a:tab pos="513080" algn="l"/>
                <a:tab pos="1045844" algn="l"/>
                <a:tab pos="1558925" algn="l"/>
                <a:tab pos="2092325" algn="l"/>
              </a:tabLst>
            </a:pP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a</a:t>
            </a:r>
            <a:r>
              <a:rPr sz="2800" dirty="0">
                <a:solidFill>
                  <a:srgbClr val="92D05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b</a:t>
            </a:r>
            <a:r>
              <a:rPr sz="2800" dirty="0">
                <a:solidFill>
                  <a:srgbClr val="92D05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a</a:t>
            </a:r>
            <a:r>
              <a:rPr sz="2800" dirty="0">
                <a:solidFill>
                  <a:srgbClr val="92D05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b</a:t>
            </a:r>
            <a:r>
              <a:rPr sz="2800" dirty="0">
                <a:solidFill>
                  <a:srgbClr val="92D05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1390650" indent="2489200">
              <a:lnSpc>
                <a:spcPct val="100000"/>
              </a:lnSpc>
              <a:tabLst>
                <a:tab pos="3014345" algn="l"/>
                <a:tab pos="3547745" algn="l"/>
                <a:tab pos="4060190" algn="l"/>
                <a:tab pos="4594225" algn="l"/>
              </a:tabLst>
            </a:pP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a</a:t>
            </a:r>
            <a:r>
              <a:rPr sz="2800" dirty="0">
                <a:solidFill>
                  <a:srgbClr val="92D05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b</a:t>
            </a:r>
            <a:r>
              <a:rPr sz="2800" dirty="0">
                <a:solidFill>
                  <a:srgbClr val="92D05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a</a:t>
            </a:r>
            <a:r>
              <a:rPr sz="2800" dirty="0">
                <a:solidFill>
                  <a:srgbClr val="92D05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b</a:t>
            </a:r>
            <a:r>
              <a:rPr sz="2800" dirty="0">
                <a:solidFill>
                  <a:srgbClr val="92D05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solidFill>
                  <a:srgbClr val="92D050"/>
                </a:solidFill>
                <a:latin typeface="Times New Roman"/>
                <a:cs typeface="Times New Roman"/>
              </a:rPr>
              <a:t>b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Print</a:t>
            </a:r>
            <a:r>
              <a:rPr sz="28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occurs</a:t>
            </a:r>
            <a:r>
              <a:rPr sz="28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with</a:t>
            </a:r>
            <a:r>
              <a:rPr sz="28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r>
              <a:rPr sz="28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Times New Roman"/>
                <a:cs typeface="Times New Roman"/>
              </a:rPr>
              <a:t>shift.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800">
              <a:latin typeface="Times New Roman"/>
              <a:cs typeface="Times New Roman"/>
            </a:endParaRPr>
          </a:p>
          <a:p>
            <a:pPr marR="1040765" algn="ctr">
              <a:lnSpc>
                <a:spcPts val="3329"/>
              </a:lnSpc>
            </a:pP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Analysis:</a:t>
            </a:r>
            <a:r>
              <a:rPr sz="2800" spc="-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T(n,m)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sz="28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O(m)</a:t>
            </a:r>
            <a:r>
              <a:rPr sz="2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+</a:t>
            </a:r>
            <a:r>
              <a:rPr sz="28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Times New Roman"/>
                <a:cs typeface="Times New Roman"/>
              </a:rPr>
              <a:t>O(n+m)</a:t>
            </a:r>
            <a:endParaRPr sz="2800">
              <a:latin typeface="Times New Roman"/>
              <a:cs typeface="Times New Roman"/>
            </a:endParaRPr>
          </a:p>
          <a:p>
            <a:pPr marL="2947035">
              <a:lnSpc>
                <a:spcPts val="3329"/>
              </a:lnSpc>
              <a:tabLst>
                <a:tab pos="4165600" algn="l"/>
              </a:tabLst>
            </a:pPr>
            <a:r>
              <a:rPr sz="2800" dirty="0">
                <a:latin typeface="Calibri"/>
                <a:cs typeface="Calibri"/>
              </a:rPr>
              <a:t>π</a:t>
            </a:r>
            <a:r>
              <a:rPr sz="2800" spc="-25" dirty="0">
                <a:latin typeface="Calibri"/>
                <a:cs typeface="Calibri"/>
              </a:rPr>
              <a:t> fn</a:t>
            </a:r>
            <a:r>
              <a:rPr sz="2800" dirty="0">
                <a:latin typeface="Calibri"/>
                <a:cs typeface="Calibri"/>
              </a:rPr>
              <a:t>	KMP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Matches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1475" y="1296924"/>
            <a:ext cx="1905" cy="1371600"/>
          </a:xfrm>
          <a:custGeom>
            <a:avLst/>
            <a:gdLst/>
            <a:ahLst/>
            <a:cxnLst/>
            <a:rect l="l" t="t" r="r" b="b"/>
            <a:pathLst>
              <a:path w="1905" h="1371600">
                <a:moveTo>
                  <a:pt x="1587" y="0"/>
                </a:moveTo>
                <a:lnTo>
                  <a:pt x="0" y="13716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74876" y="1220724"/>
            <a:ext cx="1905" cy="1524000"/>
          </a:xfrm>
          <a:custGeom>
            <a:avLst/>
            <a:gdLst/>
            <a:ahLst/>
            <a:cxnLst/>
            <a:rect l="l" t="t" r="r" b="b"/>
            <a:pathLst>
              <a:path w="1905" h="1524000">
                <a:moveTo>
                  <a:pt x="1650" y="0"/>
                </a:moveTo>
                <a:lnTo>
                  <a:pt x="0" y="1524000"/>
                </a:lnTo>
              </a:path>
            </a:pathLst>
          </a:custGeom>
          <a:ln w="9143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08276" y="1296924"/>
            <a:ext cx="1905" cy="2133600"/>
          </a:xfrm>
          <a:custGeom>
            <a:avLst/>
            <a:gdLst/>
            <a:ahLst/>
            <a:cxnLst/>
            <a:rect l="l" t="t" r="r" b="b"/>
            <a:pathLst>
              <a:path w="1905" h="2133600">
                <a:moveTo>
                  <a:pt x="1650" y="0"/>
                </a:moveTo>
                <a:lnTo>
                  <a:pt x="0" y="21336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41676" y="1296924"/>
            <a:ext cx="1905" cy="2133600"/>
          </a:xfrm>
          <a:custGeom>
            <a:avLst/>
            <a:gdLst/>
            <a:ahLst/>
            <a:cxnLst/>
            <a:rect l="l" t="t" r="r" b="b"/>
            <a:pathLst>
              <a:path w="1905" h="2133600">
                <a:moveTo>
                  <a:pt x="1650" y="0"/>
                </a:moveTo>
                <a:lnTo>
                  <a:pt x="0" y="21336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98876" y="1296924"/>
            <a:ext cx="1905" cy="2895600"/>
          </a:xfrm>
          <a:custGeom>
            <a:avLst/>
            <a:gdLst/>
            <a:ahLst/>
            <a:cxnLst/>
            <a:rect l="l" t="t" r="r" b="b"/>
            <a:pathLst>
              <a:path w="1905" h="2895600">
                <a:moveTo>
                  <a:pt x="1650" y="0"/>
                </a:moveTo>
                <a:lnTo>
                  <a:pt x="0" y="28956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32276" y="1296924"/>
            <a:ext cx="1905" cy="2895600"/>
          </a:xfrm>
          <a:custGeom>
            <a:avLst/>
            <a:gdLst/>
            <a:ahLst/>
            <a:cxnLst/>
            <a:rect l="l" t="t" r="r" b="b"/>
            <a:pathLst>
              <a:path w="1904" h="2895600">
                <a:moveTo>
                  <a:pt x="1650" y="0"/>
                </a:moveTo>
                <a:lnTo>
                  <a:pt x="0" y="28956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65676" y="1296924"/>
            <a:ext cx="1905" cy="2971800"/>
          </a:xfrm>
          <a:custGeom>
            <a:avLst/>
            <a:gdLst/>
            <a:ahLst/>
            <a:cxnLst/>
            <a:rect l="l" t="t" r="r" b="b"/>
            <a:pathLst>
              <a:path w="1904" h="2971800">
                <a:moveTo>
                  <a:pt x="1650" y="0"/>
                </a:moveTo>
                <a:lnTo>
                  <a:pt x="0" y="29718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99076" y="1296924"/>
            <a:ext cx="1905" cy="2971800"/>
          </a:xfrm>
          <a:custGeom>
            <a:avLst/>
            <a:gdLst/>
            <a:ahLst/>
            <a:cxnLst/>
            <a:rect l="l" t="t" r="r" b="b"/>
            <a:pathLst>
              <a:path w="1904" h="2971800">
                <a:moveTo>
                  <a:pt x="1650" y="0"/>
                </a:moveTo>
                <a:lnTo>
                  <a:pt x="0" y="29718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6E137A7-F09A-8D5C-8462-E5EB09B1C4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556005"/>
            <a:ext cx="736092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Applications:</a:t>
            </a:r>
            <a:r>
              <a:rPr sz="24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Intrusion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Detection,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DNA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search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1504315">
              <a:lnSpc>
                <a:spcPct val="100000"/>
              </a:lnSpc>
            </a:pP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KMP:</a:t>
            </a:r>
            <a:r>
              <a:rPr sz="24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scanning 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Naive:</a:t>
            </a:r>
            <a:r>
              <a:rPr sz="24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Keyword search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datasets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Rabin</a:t>
            </a:r>
            <a:r>
              <a:rPr sz="24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Karp:</a:t>
            </a:r>
            <a:r>
              <a:rPr sz="24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dimensional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Problems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Example</a:t>
            </a:r>
            <a:r>
              <a:rPr sz="24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400" spc="-25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2441575">
              <a:lnSpc>
                <a:spcPct val="100000"/>
              </a:lnSpc>
              <a:tabLst>
                <a:tab pos="629285" algn="l"/>
                <a:tab pos="934085" algn="l"/>
                <a:tab pos="1221740" algn="l"/>
                <a:tab pos="1526540" algn="l"/>
                <a:tab pos="1813560" algn="l"/>
                <a:tab pos="2101215" algn="l"/>
                <a:tab pos="2406015" algn="l"/>
                <a:tab pos="2710815" algn="l"/>
                <a:tab pos="2999740" algn="l"/>
                <a:tab pos="3286760" algn="l"/>
                <a:tab pos="3574415" algn="l"/>
                <a:tab pos="3879215" algn="l"/>
                <a:tab pos="4165600" algn="l"/>
                <a:tab pos="4470400" algn="l"/>
                <a:tab pos="4758055" algn="l"/>
              </a:tabLst>
            </a:pPr>
            <a:r>
              <a:rPr sz="2400" dirty="0">
                <a:latin typeface="Times New Roman"/>
                <a:cs typeface="Times New Roman"/>
              </a:rPr>
              <a:t>T: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4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	</a:t>
            </a:r>
            <a:r>
              <a:rPr sz="2400" spc="-60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9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45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	</a:t>
            </a:r>
            <a:r>
              <a:rPr sz="2400" spc="-5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b </a:t>
            </a:r>
            <a:r>
              <a:rPr sz="2400" dirty="0">
                <a:latin typeface="Times New Roman"/>
                <a:cs typeface="Times New Roman"/>
              </a:rPr>
              <a:t>P: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Try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yourself..!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1E20AB-1A82-604A-86C7-BB6165B29A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1703</Words>
  <Application>Microsoft Office PowerPoint</Application>
  <PresentationFormat>On-screen Show (4:3)</PresentationFormat>
  <Paragraphs>467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Calibri</vt:lpstr>
      <vt:lpstr>Cambria Math</vt:lpstr>
      <vt:lpstr>Times New Roman</vt:lpstr>
      <vt:lpstr>Wingdings</vt:lpstr>
      <vt:lpstr>Office Theme</vt:lpstr>
      <vt:lpstr>String Matching Algorithms</vt:lpstr>
      <vt:lpstr>STRING MATCHING OR PATTERN MATCHING</vt:lpstr>
      <vt:lpstr>Types of String Matching Algorithms</vt:lpstr>
      <vt:lpstr>Naive’s Algorithm / Brute Force Algorithm</vt:lpstr>
      <vt:lpstr>PowerPoint Presentation</vt:lpstr>
      <vt:lpstr>Algorithm</vt:lpstr>
      <vt:lpstr>Rabin-Karp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Knuth-Morris-Pratt Algorithm (KMP)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T: a b a 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Matching Algorithms</dc:title>
  <dc:creator>kushal</dc:creator>
  <cp:lastModifiedBy>Dr. Supriya M.</cp:lastModifiedBy>
  <cp:revision>19</cp:revision>
  <dcterms:created xsi:type="dcterms:W3CDTF">2026-04-23T10:36:03Z</dcterms:created>
  <dcterms:modified xsi:type="dcterms:W3CDTF">2026-04-23T16:36:07Z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2020-05-14T00:00:00Z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2026-04-23T00:00:00Z</vt:filetime>
  </property>
  <property fmtid="{D5CDD505-2E9C-101B-9397-08002B2CF9AE}" pid="5" name="Producer">
    <vt:lpwstr>Microsoft® PowerPoint® 2013</vt:lpwstr>
  </property>
</Properties>
</file>