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74" r:id="rId3"/>
    <p:sldId id="258" r:id="rId4"/>
    <p:sldId id="257" r:id="rId5"/>
    <p:sldId id="267" r:id="rId6"/>
    <p:sldId id="259" r:id="rId7"/>
    <p:sldId id="260" r:id="rId8"/>
    <p:sldId id="261" r:id="rId9"/>
    <p:sldId id="275" r:id="rId10"/>
    <p:sldId id="262" r:id="rId11"/>
    <p:sldId id="263" r:id="rId12"/>
    <p:sldId id="264" r:id="rId13"/>
    <p:sldId id="276" r:id="rId14"/>
    <p:sldId id="265" r:id="rId15"/>
    <p:sldId id="266" r:id="rId16"/>
    <p:sldId id="268" r:id="rId17"/>
    <p:sldId id="269" r:id="rId18"/>
    <p:sldId id="271" r:id="rId19"/>
    <p:sldId id="270" r:id="rId20"/>
    <p:sldId id="272" r:id="rId21"/>
    <p:sldId id="273" r:id="rId22"/>
    <p:sldId id="277" r:id="rId23"/>
    <p:sldId id="279" r:id="rId24"/>
    <p:sldId id="278" r:id="rId25"/>
    <p:sldId id="280" r:id="rId26"/>
    <p:sldId id="283" r:id="rId27"/>
    <p:sldId id="281" r:id="rId28"/>
    <p:sldId id="285" r:id="rId29"/>
    <p:sldId id="286" r:id="rId30"/>
    <p:sldId id="287" r:id="rId31"/>
    <p:sldId id="289" r:id="rId32"/>
    <p:sldId id="288" r:id="rId33"/>
  </p:sldIdLst>
  <p:sldSz cx="12192000" cy="6858000"/>
  <p:notesSz cx="6858000" cy="9144000"/>
  <p:defaultTextStyle>
    <a:defPPr>
      <a:defRPr lang="hi-I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i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0218C-458C-4D53-A877-8CB35F944750}" type="datetimeFigureOut">
              <a:rPr lang="hi-IN" smtClean="0"/>
              <a:t>बुधवार, 20 ज्येष्ट 1942</a:t>
            </a:fld>
            <a:endParaRPr lang="hi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i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i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86A27D-855F-4E8E-8B21-0DA19969B2EB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228705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86225-41E9-4923-9142-6689C4597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DBF21-21FF-473E-B5CC-1D31E6BFF6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i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FDA5C-ADFB-487F-966B-7E5D4B403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D6432-E68C-4121-B75C-0AC994412B1C}" type="datetime8">
              <a:rPr lang="hi-IN" smtClean="0"/>
              <a:t>१०/०६/२०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740CB-4BF0-4355-86CA-049626C04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BF735-120F-4E17-9A2B-A10AEB78B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905459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9C1FA-097D-46EC-A623-28FA25470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9639C-7C29-4C5B-AE3E-90E6D4827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89C5D-B888-4C85-83BC-BC6268628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00AF5-F616-4757-BEE8-68317C343ED0}" type="datetime8">
              <a:rPr lang="hi-IN" smtClean="0"/>
              <a:t>१०/०६/२०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74EAB-9E84-4F26-8C43-C6FF2B118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CF51D-1644-4528-AD6C-B36BEFED8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217647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7C1D0-5A1F-4CF9-825D-27E3EC13F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F134F-C640-43EF-AF3D-72D5AEA91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7EB39-0DAE-4CAA-97F8-BA9E3C6FC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A3D00-AE34-421A-9C11-FE3BCB577EDD}" type="datetime8">
              <a:rPr lang="hi-IN" smtClean="0"/>
              <a:t>१०/०६/२०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671D5-B26F-45D4-A14F-FD7561E20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5CF32-7200-4DED-8484-38192F9B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37025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896A0-56A2-43D8-B1AC-8B29E99E2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4FEF5-D08A-4E86-BCA3-F4F080AE1F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37858-E8F0-4A02-BFC1-0E4A395B6D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993CC-D464-4CE0-AF28-02377C3A2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B8F5F-C04C-4D2D-9375-98217A219487}" type="datetime8">
              <a:rPr lang="hi-IN" smtClean="0"/>
              <a:t>१०/०६/२०</a:t>
            </a:fld>
            <a:endParaRPr lang="hi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159165-06D9-4000-B457-008F0CBBC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D1992-90A9-473C-903D-7EB162F5D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448291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CF5E-E791-402B-9EEB-8F20CAFEC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8CDE9-1348-42F4-A789-0CE23EDD1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8449D1-D818-42AF-870C-9AA392D66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FBDEEA-B89D-47F4-AC79-F2FB5C5D1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CAD7B6-C24B-4509-BC14-BB110E849D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C6B74A-6CC0-4D76-9987-10E8F7BD7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38F18-1548-412E-A075-A55636845A0F}" type="datetime8">
              <a:rPr lang="hi-IN" smtClean="0"/>
              <a:t>१०/०६/२०</a:t>
            </a:fld>
            <a:endParaRPr lang="hi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BC0AC7-1F89-4510-8ECE-7CB32B70B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7B7084-1772-467A-86DB-916E587C5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41621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97967-B8BD-4764-A896-CBAFB7AA5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1ACF79-30B1-4E4A-827F-37F847481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38454-9E74-4D8C-8952-AA3488AB8F67}" type="datetime8">
              <a:rPr lang="hi-IN" smtClean="0"/>
              <a:t>१०/०६/२०</a:t>
            </a:fld>
            <a:endParaRPr lang="hi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CE1BFA-0134-4D82-B4AA-E870B7289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C2DF3-6F63-4EED-AC91-974863145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94365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82C274-BD8A-4A0D-8314-C632FDC7E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A6F94-D9E8-4087-BAB7-3630B0517BE6}" type="datetime8">
              <a:rPr lang="hi-IN" smtClean="0"/>
              <a:t>१०/०६/२०</a:t>
            </a:fld>
            <a:endParaRPr lang="hi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8EF74-CBFC-4ED0-8456-396E5A80E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8C39A-E698-4F68-9219-7C9A27C5B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71548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8ECC6-637A-409E-89CB-E063D1EE9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F6DD8-301A-4E21-A775-B343F05BD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51FFD-D22B-421F-9031-5427864B8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10BC3-D86C-4282-BCFE-0FDECF08D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5165-DF3E-41EF-93CB-834C3A392C10}" type="datetime8">
              <a:rPr lang="hi-IN" smtClean="0"/>
              <a:t>१०/०६/२०</a:t>
            </a:fld>
            <a:endParaRPr lang="hi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FB20F-E799-4484-99BA-0CD474B8F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46507-A27B-49C0-90E0-3FCAF86DF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630762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66C5E-78FD-470B-8CF4-658926D62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01B9AA-1866-4EA8-AC63-1F4FC87435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i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71EA45-8E6A-40FF-982A-6745BF894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6B60E4-0114-493E-96AA-19E8D441F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A1A20-5680-4B02-BC15-B9F44A1ADE76}" type="datetime8">
              <a:rPr lang="hi-IN" smtClean="0"/>
              <a:t>१०/०६/२०</a:t>
            </a:fld>
            <a:endParaRPr lang="hi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DBA01-3C72-44C6-A0F0-DA1DB1C4F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7F416-0450-4785-84D5-A6F7B521A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776219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0CCB2-C534-4207-981A-4560996D6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56A0E2-3DAB-418D-BE92-63992BE09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B28E9-C2AD-451F-87AD-39609BFE2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7A639-3927-49A0-8E74-E99260A34C95}" type="datetime8">
              <a:rPr lang="hi-IN" smtClean="0"/>
              <a:t>१०/०६/२०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BD668-07D8-4B90-926D-A72997027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6C8EC-9C0E-431A-96E3-D5B84A1A4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090652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B5C625-46A9-492B-9204-57F9A33A8A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5C8166-9F43-4875-88D7-CC29E2F96B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25F96-9F9F-40B1-972A-C158071A0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AD8B5-4899-40A1-8B0A-3F08F2DAA26D}" type="datetime8">
              <a:rPr lang="hi-IN" smtClean="0"/>
              <a:t>१०/०६/२०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39E4A-2E72-48B9-A70E-F9810BE52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3FA09-BF43-4F3F-8759-E97291777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501168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D60624-9CCB-4CBE-B273-36CEC06BF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592E6-1E28-4145-8C0E-B6522CDF9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43144-6512-4F8B-A30C-DEA5B09EBC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037AF-6CBA-4A11-85C5-3D94FE66F535}" type="datetime8">
              <a:rPr lang="hi-IN" smtClean="0"/>
              <a:t>१०/०६/२०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1CD70-B045-4B48-8B4B-710D35D000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8C041-CD4D-4C2B-821B-596B76615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625C0-1574-4DFE-8448-1E78AC3A228A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816731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i-I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740BE-2634-49D1-837D-8028260BCD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P-NP Problems</a:t>
            </a:r>
            <a:endParaRPr lang="hi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509837-3DC8-4D01-899A-7CBAFB71A0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C8765-753C-4916-8E55-FE0DA4E12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1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82952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17F9C-0ED4-4BC5-B2B6-7BE39C24D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Tractable Vs Intractable</a:t>
            </a:r>
            <a:endParaRPr lang="hi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2CDC92-5104-4706-9826-FA531BBE39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46254"/>
            <a:ext cx="7905750" cy="52339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96CA6-CCC8-4012-B53C-0C74F2E2A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2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552329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B7CCE-D50B-4EAA-A2D6-21629B558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b="1" dirty="0"/>
              <a:t>Decision Problems 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D712B-94C4-4F45-8593-17C4FB0AD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950"/>
            <a:ext cx="10515600" cy="4987925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70000"/>
              </a:lnSpc>
            </a:pPr>
            <a:r>
              <a:rPr kumimoji="0" lang="en-US" altLang="zh-CN" dirty="0"/>
              <a:t>To keep things simple, we will mainly concern ourselves with  decision problems. These problems only require a single bit output: “yes” and “no”. </a:t>
            </a:r>
          </a:p>
          <a:p>
            <a:pPr algn="just"/>
            <a:endParaRPr kumimoji="0" lang="en-US" altLang="zh-CN" dirty="0"/>
          </a:p>
          <a:p>
            <a:pPr marL="0" indent="0" algn="just">
              <a:buNone/>
            </a:pPr>
            <a:r>
              <a:rPr kumimoji="0" lang="en-US" altLang="zh-CN" dirty="0"/>
              <a:t>How would you solve the following decision problems? </a:t>
            </a:r>
          </a:p>
          <a:p>
            <a:pPr algn="just"/>
            <a:endParaRPr kumimoji="0" lang="en-US" altLang="zh-CN" dirty="0"/>
          </a:p>
          <a:p>
            <a:pPr algn="just"/>
            <a:r>
              <a:rPr kumimoji="0" lang="en-US" altLang="zh-CN" dirty="0"/>
              <a:t>     Is this directed graph acyclic? </a:t>
            </a:r>
          </a:p>
          <a:p>
            <a:pPr algn="just"/>
            <a:r>
              <a:rPr kumimoji="0" lang="en-US" altLang="zh-CN" dirty="0"/>
              <a:t>     Is there a spanning tree of this undirected graph with total weight less </a:t>
            </a:r>
          </a:p>
          <a:p>
            <a:pPr marL="0" indent="0" algn="just">
              <a:buNone/>
            </a:pPr>
            <a:r>
              <a:rPr lang="en-US" altLang="zh-CN" dirty="0"/>
              <a:t>        </a:t>
            </a:r>
            <a:r>
              <a:rPr kumimoji="0" lang="en-US" altLang="zh-CN" dirty="0"/>
              <a:t>than w? </a:t>
            </a:r>
          </a:p>
          <a:p>
            <a:pPr algn="just"/>
            <a:r>
              <a:rPr kumimoji="0" lang="en-US" altLang="zh-CN" dirty="0"/>
              <a:t>     Does this bipartite graph have a perfect (all nodes matched) matching? </a:t>
            </a:r>
          </a:p>
          <a:p>
            <a:pPr algn="just"/>
            <a:r>
              <a:rPr kumimoji="0" lang="en-US" altLang="zh-CN" dirty="0"/>
              <a:t>     Does the pattern P appear as a substring in text T?</a:t>
            </a:r>
          </a:p>
          <a:p>
            <a:pPr marL="0" indent="0" algn="just">
              <a:buNone/>
            </a:pPr>
            <a:endParaRPr kumimoji="0" lang="en-US" altLang="zh-CN" dirty="0">
              <a:solidFill>
                <a:srgbClr val="C00000"/>
              </a:solidFill>
            </a:endParaRPr>
          </a:p>
          <a:p>
            <a:pPr marL="0" indent="0" algn="just">
              <a:buNone/>
            </a:pPr>
            <a:r>
              <a:rPr kumimoji="0" lang="en-US" altLang="zh-CN" dirty="0">
                <a:solidFill>
                  <a:srgbClr val="C00000"/>
                </a:solidFill>
              </a:rPr>
              <a:t>All the decision problems mentioned above are in P. </a:t>
            </a:r>
          </a:p>
          <a:p>
            <a:pPr algn="just"/>
            <a:endParaRPr lang="hi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78F3E-517B-4E3D-9629-2AF4F7E8A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3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197907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82A1-B600-4959-A8A5-02729011E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 and NP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D2EC9-248A-4ED4-B9E4-B7E8E9B9E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756149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  <a:defRPr/>
            </a:pPr>
            <a:r>
              <a:rPr lang="en-US" b="1" dirty="0"/>
              <a:t>What is P?</a:t>
            </a:r>
          </a:p>
          <a:p>
            <a:pPr algn="just">
              <a:defRPr/>
            </a:pPr>
            <a:r>
              <a:rPr lang="en-US" dirty="0"/>
              <a:t>P is the set of all decision problems which can be </a:t>
            </a:r>
            <a:r>
              <a:rPr lang="en-US" b="1" dirty="0"/>
              <a:t>solved</a:t>
            </a:r>
            <a:r>
              <a:rPr lang="en-US" dirty="0"/>
              <a:t> in polynomial time by a deterministic Turing machine. Since it can be solved in polynomial time, it can also be verified in polynomial time. </a:t>
            </a:r>
          </a:p>
          <a:p>
            <a:pPr marL="0" indent="0" algn="just">
              <a:buNone/>
              <a:defRPr/>
            </a:pPr>
            <a:r>
              <a:rPr lang="en-US" b="1" dirty="0"/>
              <a:t>What is NP?</a:t>
            </a:r>
          </a:p>
          <a:p>
            <a:pPr algn="just">
              <a:defRPr/>
            </a:pPr>
            <a:r>
              <a:rPr lang="en-US" dirty="0"/>
              <a:t>NP is the set of all decision problems (question with yes-or-no answer) for which the 'yes'-answers can be </a:t>
            </a:r>
            <a:r>
              <a:rPr lang="en-US" b="1" dirty="0"/>
              <a:t>verified</a:t>
            </a:r>
            <a:r>
              <a:rPr lang="en-US" dirty="0"/>
              <a:t> in polynomial time (O(</a:t>
            </a:r>
            <a:r>
              <a:rPr lang="en-US" dirty="0" err="1"/>
              <a:t>n</a:t>
            </a:r>
            <a:r>
              <a:rPr lang="en-US" baseline="30000" dirty="0" err="1"/>
              <a:t>k</a:t>
            </a:r>
            <a:r>
              <a:rPr lang="en-US" dirty="0"/>
              <a:t>) where n is the problem size, and k is a constant) by a deterministic Turing machine. </a:t>
            </a:r>
          </a:p>
          <a:p>
            <a:pPr algn="just">
              <a:defRPr/>
            </a:pPr>
            <a:r>
              <a:rPr lang="en-US" dirty="0"/>
              <a:t>Polynomial time is sometimes used as the definition of </a:t>
            </a:r>
            <a:r>
              <a:rPr lang="en-US" i="1" dirty="0"/>
              <a:t>fast</a:t>
            </a:r>
            <a:r>
              <a:rPr lang="en-US" dirty="0"/>
              <a:t> or </a:t>
            </a:r>
            <a:r>
              <a:rPr lang="en-US" i="1" dirty="0"/>
              <a:t>quickly</a:t>
            </a:r>
            <a:r>
              <a:rPr lang="en-US" dirty="0"/>
              <a:t>. </a:t>
            </a:r>
          </a:p>
          <a:p>
            <a:pPr algn="just">
              <a:defRPr/>
            </a:pPr>
            <a:r>
              <a:rPr lang="en-US" dirty="0"/>
              <a:t>Only a non-deterministic computer solves the NP problem in a polynomial time. Therefore P is a subset of NP.</a:t>
            </a:r>
          </a:p>
          <a:p>
            <a:pPr algn="just"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A0397-11AC-4596-B940-860A72111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4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6916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FCD0A-1DD8-4AA6-878F-850D6FB30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Non-Determinism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27D09-7409-42DD-9715-DDE7423C6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AEA76-B280-4D43-A55B-A0A55E59F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5</a:t>
            </a:fld>
            <a:endParaRPr lang="hi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BD0F92-E019-4906-8EEA-EBE192061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589" y="1646238"/>
            <a:ext cx="8545386" cy="484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709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C7F10-D97F-4C53-80B6-09640FC17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NP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9FB84-31C9-46A1-B809-AA333A818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/>
          </a:bodyPr>
          <a:lstStyle/>
          <a:p>
            <a:pPr algn="just"/>
            <a:r>
              <a:rPr kumimoji="0" lang="en-US" altLang="zh-CN" sz="3200" dirty="0"/>
              <a:t>The class NP (meaning </a:t>
            </a:r>
            <a:r>
              <a:rPr lang="en-US" altLang="zh-CN" sz="3200" dirty="0">
                <a:solidFill>
                  <a:srgbClr val="C00000"/>
                </a:solidFill>
              </a:rPr>
              <a:t>N</a:t>
            </a:r>
            <a:r>
              <a:rPr kumimoji="0" lang="en-US" altLang="zh-CN" sz="3200" dirty="0"/>
              <a:t>on-deterministic </a:t>
            </a:r>
            <a:r>
              <a:rPr kumimoji="0" lang="en-US" altLang="zh-CN" sz="3200" dirty="0">
                <a:solidFill>
                  <a:srgbClr val="C00000"/>
                </a:solidFill>
              </a:rPr>
              <a:t>P</a:t>
            </a:r>
            <a:r>
              <a:rPr kumimoji="0" lang="en-US" altLang="zh-CN" sz="3200" dirty="0"/>
              <a:t>olynomial time) </a:t>
            </a:r>
          </a:p>
          <a:p>
            <a:pPr algn="just"/>
            <a:r>
              <a:rPr kumimoji="0" lang="en-US" altLang="zh-CN" sz="3200" dirty="0"/>
              <a:t>What makes these problems special is that they might be hard to solve, but a short answer can always be printed in the back, and it is easy to see that the answer is correct once you see it. </a:t>
            </a:r>
          </a:p>
          <a:p>
            <a:pPr algn="just"/>
            <a:endParaRPr kumimoji="0" lang="en-US" altLang="zh-CN" sz="3200" dirty="0"/>
          </a:p>
          <a:p>
            <a:pPr algn="just"/>
            <a:r>
              <a:rPr kumimoji="0" lang="en-US" altLang="zh-CN" sz="3200" dirty="0"/>
              <a:t>Example... Does the given graph have a Hamiltonian Path? </a:t>
            </a:r>
          </a:p>
          <a:p>
            <a:pPr lvl="1" algn="just"/>
            <a:r>
              <a:rPr kumimoji="0" lang="en-US" altLang="zh-CN" sz="2800" dirty="0"/>
              <a:t>No guarantee if answer is “no”. </a:t>
            </a:r>
          </a:p>
          <a:p>
            <a:pPr lvl="1" algn="just"/>
            <a:r>
              <a:rPr lang="en-US" altLang="zh-CN" sz="2800" dirty="0"/>
              <a:t>But given a path, can we verify if it is correct? “Yes”</a:t>
            </a:r>
            <a:endParaRPr kumimoji="0" lang="en-US" altLang="zh-CN" sz="2800" dirty="0"/>
          </a:p>
          <a:p>
            <a:pPr marL="0" indent="0" algn="just">
              <a:buNone/>
            </a:pPr>
            <a:endParaRPr kumimoji="0" lang="en-US" altLang="zh-CN" sz="3200" dirty="0"/>
          </a:p>
          <a:p>
            <a:pPr algn="just"/>
            <a:endParaRPr lang="hi-I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4200E-FC7E-40E4-A7E9-2D4176583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6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856851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7EA55-FD2C-4173-8938-BEC325FF1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 vs NP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3D649-9CB1-44F2-92D6-798C2E263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03F0E-ABC1-49A6-8738-AE3478537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7</a:t>
            </a:fld>
            <a:endParaRPr lang="hi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2A230C-9952-49F0-929E-3B60A8A0C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691" y="1537676"/>
            <a:ext cx="9078757" cy="495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876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6C711-E08B-436B-A27E-44C49105B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Polynomial-Time Algorithms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F1D6A-EDD2-4EFF-BB20-5FB6E519B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2A3DB-DFA6-46B6-957E-C0C1E0193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8</a:t>
            </a:fld>
            <a:endParaRPr lang="hi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2FC567-4EA8-4147-984B-E269BC4AD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335" y="1549401"/>
            <a:ext cx="8818115" cy="45277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C8169C-B0DA-4C12-8BD6-BFB6DAEF99C1}"/>
              </a:ext>
            </a:extLst>
          </p:cNvPr>
          <p:cNvSpPr/>
          <p:nvPr/>
        </p:nvSpPr>
        <p:spPr>
          <a:xfrm>
            <a:off x="1866990" y="6114233"/>
            <a:ext cx="58006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urier New" panose="02070309020205020404" pitchFamily="49" charset="0"/>
              </a:rPr>
              <a:t>Ex: while (true) continue</a:t>
            </a:r>
            <a:endParaRPr lang="hi-IN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475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B5935-21E2-4DA4-BB25-8A4D6F967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Tractability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E2478-57A9-4EFE-A6AE-65696D414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13069-B7F7-4161-8A1B-8F50CEDC2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9</a:t>
            </a:fld>
            <a:endParaRPr lang="hi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B2530D2-3876-4608-820D-A10C7CE1B643}"/>
              </a:ext>
            </a:extLst>
          </p:cNvPr>
          <p:cNvGrpSpPr/>
          <p:nvPr/>
        </p:nvGrpSpPr>
        <p:grpSpPr>
          <a:xfrm>
            <a:off x="647699" y="1454455"/>
            <a:ext cx="9281521" cy="4722508"/>
            <a:chOff x="647699" y="1454455"/>
            <a:chExt cx="9281521" cy="472250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5703CEF-45EB-4C7E-9125-A1CFB0928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699" y="1454455"/>
              <a:ext cx="9167221" cy="4722508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7D06ED-EA01-44A9-94BF-860499E09AF8}"/>
                </a:ext>
              </a:extLst>
            </p:cNvPr>
            <p:cNvSpPr txBox="1"/>
            <p:nvPr/>
          </p:nvSpPr>
          <p:spPr>
            <a:xfrm>
              <a:off x="8848725" y="2933700"/>
              <a:ext cx="1080495" cy="5905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hi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E07592-D2C5-482A-9B79-71928975B25C}"/>
                </a:ext>
              </a:extLst>
            </p:cNvPr>
            <p:cNvSpPr txBox="1"/>
            <p:nvPr/>
          </p:nvSpPr>
          <p:spPr>
            <a:xfrm>
              <a:off x="1296585" y="3524250"/>
              <a:ext cx="2808690" cy="5905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hi-IN"/>
            </a:p>
          </p:txBody>
        </p:sp>
      </p:grpSp>
    </p:spTree>
    <p:extLst>
      <p:ext uri="{BB962C8B-B14F-4D97-AF65-F5344CB8AC3E}">
        <p14:creationId xmlns:p14="http://schemas.microsoft.com/office/powerpoint/2010/main" val="2527921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62E89-32FA-462A-92D2-73F5AD454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NP-Complete Problems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A5E30-3DA2-44CA-882F-B4BA4680B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0B6E7-C487-4861-848B-6AF778C3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10</a:t>
            </a:fld>
            <a:endParaRPr lang="hi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0CE4EB-6190-4E80-BE2C-E0D0C6344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8001000" cy="436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010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3D734-0B9D-495D-BE1D-2C44E3264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NPC – Hamiltonian Cycles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5F332-B23F-4821-B5B6-FFEABD325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D021C-D88D-4889-A393-1FC6BBA5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11</a:t>
            </a:fld>
            <a:endParaRPr lang="hi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600445-8636-4A70-A4F9-3EFC9EF6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99147"/>
            <a:ext cx="7239000" cy="428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398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41FAE-2F34-4395-B6DD-2D421BE3D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 and NP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ED29E-00F4-4ED3-98E6-66610B02C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C5BDC-279C-4758-95A0-59CB8DEFB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12</a:t>
            </a:fld>
            <a:endParaRPr lang="hi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FC8BFA-B37F-45BE-93D9-379994F20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9256510" cy="453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252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D35E5-F821-4133-8575-6171EC2C3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Is P = NP?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41898-095C-4970-B33E-A9C61E695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0DC75-A06A-4ACF-BD09-FD143DF04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13</a:t>
            </a:fld>
            <a:endParaRPr lang="hi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CF3EB6-E56B-4055-946F-2382CFC9A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80191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242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8B326-BEE6-445C-A933-FD98AB0F6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NP Complete Problems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57BE2-4940-49FD-8F46-43CD09EB8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8CF2B-B68F-48EF-8887-5A1066543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14</a:t>
            </a:fld>
            <a:endParaRPr lang="hi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A0E7E4E-98B2-4175-8BB3-BB12E9C56CAF}"/>
              </a:ext>
            </a:extLst>
          </p:cNvPr>
          <p:cNvGrpSpPr/>
          <p:nvPr/>
        </p:nvGrpSpPr>
        <p:grpSpPr>
          <a:xfrm>
            <a:off x="838200" y="1781978"/>
            <a:ext cx="7937654" cy="4494997"/>
            <a:chOff x="838200" y="1781978"/>
            <a:chExt cx="7937654" cy="44949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1566F76-6DAB-4A2C-AE82-9CCC567555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1781978"/>
              <a:ext cx="7937654" cy="4494997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F88268-DCB5-4482-B485-801BDF321558}"/>
                </a:ext>
              </a:extLst>
            </p:cNvPr>
            <p:cNvSpPr txBox="1"/>
            <p:nvPr/>
          </p:nvSpPr>
          <p:spPr>
            <a:xfrm>
              <a:off x="4248150" y="5686425"/>
              <a:ext cx="3105150" cy="49053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hi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588523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1F284-C2A7-4787-A81E-FAC06701E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Reduction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8F191-2E58-4A85-BF4F-32D052737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4A7B5-41E0-4F2E-86FC-003123DF9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15</a:t>
            </a:fld>
            <a:endParaRPr lang="hi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86379D-0657-4CE5-BA35-6BA9D120A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772400" cy="468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783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D593E-EC20-4705-8808-DB1052B33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Reducibility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A68ED-73B3-4383-9FB7-173A302F5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72192-FA4C-4349-9693-1F71E6999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16</a:t>
            </a:fld>
            <a:endParaRPr lang="hi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783A40-A1F2-4BE2-B6F5-245D8DD233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1724"/>
          <a:stretch/>
        </p:blipFill>
        <p:spPr>
          <a:xfrm>
            <a:off x="838199" y="1825625"/>
            <a:ext cx="968976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543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40EAA-F2C0-4C32-857E-B9F540250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Using Reductions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2741C-76B8-4110-9C8E-715357672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C18FD-C614-4155-9451-6C8B42BD3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17</a:t>
            </a:fld>
            <a:endParaRPr lang="hi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3AFE82-5D76-485E-8942-B1E807232B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070"/>
          <a:stretch/>
        </p:blipFill>
        <p:spPr>
          <a:xfrm>
            <a:off x="838199" y="1844674"/>
            <a:ext cx="8928519" cy="451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186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49FD7-D1D0-48C4-8B32-FDACEB561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NP-Hard and NP-Complete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D038F-8CB6-425E-B613-383CD0D85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C2213-CDA3-4F47-BF9F-97AE9AAD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18</a:t>
            </a:fld>
            <a:endParaRPr lang="hi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3732449-505E-458F-9425-446C35FBC1E3}"/>
              </a:ext>
            </a:extLst>
          </p:cNvPr>
          <p:cNvGrpSpPr/>
          <p:nvPr/>
        </p:nvGrpSpPr>
        <p:grpSpPr>
          <a:xfrm>
            <a:off x="838200" y="1825624"/>
            <a:ext cx="7988383" cy="4530725"/>
            <a:chOff x="838200" y="1825624"/>
            <a:chExt cx="7988383" cy="453072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BC0AEF2-BB57-46E5-9A6A-C21BE94CCC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1825624"/>
              <a:ext cx="7988383" cy="453072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2F59E2E-0236-45F5-950A-6A321B2D3FA3}"/>
                </a:ext>
              </a:extLst>
            </p:cNvPr>
            <p:cNvSpPr txBox="1"/>
            <p:nvPr/>
          </p:nvSpPr>
          <p:spPr>
            <a:xfrm>
              <a:off x="1247775" y="4838700"/>
              <a:ext cx="6134100" cy="5524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hi-IN" dirty="0"/>
            </a:p>
          </p:txBody>
        </p:sp>
      </p:grpSp>
    </p:spTree>
    <p:extLst>
      <p:ext uri="{BB962C8B-B14F-4D97-AF65-F5344CB8AC3E}">
        <p14:creationId xmlns:p14="http://schemas.microsoft.com/office/powerpoint/2010/main" val="87221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D57CF-B21A-455F-8192-56773FD45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NP Complete Problems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AA2EA-EE0F-4A1A-8217-020A2E21A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DA5A7-7F70-4E24-B16E-F3127B3D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19</a:t>
            </a:fld>
            <a:endParaRPr lang="hi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344B68-7345-4A6A-AA37-E9E6F4778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30" y="1690688"/>
            <a:ext cx="8050033" cy="457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870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3918E-FA4E-45F0-87CA-61C1E38A1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Prove NP-Completeness?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8B9F1-3B5E-425C-B20E-5E06AD38C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741B1-64EB-4840-BD58-C476F850B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20</a:t>
            </a:fld>
            <a:endParaRPr lang="hi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B3A592-6093-4CA3-9633-306265BE9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1258"/>
            <a:ext cx="756882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566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CDBA6-7785-419A-B36D-8BC1006CA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Proving NP-Completeness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9CB4E-65D7-45EE-A47C-A106409ED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7290A-0747-4FE6-9030-AE1E71242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21</a:t>
            </a:fld>
            <a:endParaRPr lang="hi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9AADB8-91E3-47CB-BFA8-D14A1F3DF3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413"/>
          <a:stretch/>
        </p:blipFill>
        <p:spPr>
          <a:xfrm>
            <a:off x="909924" y="1918311"/>
            <a:ext cx="9877268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72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8AD72-C870-410A-9358-06158638C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NP-Complete – Example: Clique Problem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6367D-DF6E-4CF1-820A-867996C4D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9AC5A-F4AA-4391-9D9E-296124B71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22</a:t>
            </a:fld>
            <a:endParaRPr lang="hi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615D3F-A2FA-4270-BEA1-AAEB66183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7212004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099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2DB8A-AD9A-4474-8717-1DF622DF2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 Satisfiability Problem (SAT)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E0311-D48C-44D1-A487-90FE6ADB2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993A3-AD6F-4181-B3A7-8EE3B9507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23</a:t>
            </a:fld>
            <a:endParaRPr lang="hi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5AE9A8-C2C7-4ED3-8D73-525899446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26045"/>
            <a:ext cx="8372475" cy="4511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519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2FD6C-A026-4B82-A176-87601A8A6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Few other examples…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10674-100E-4F7D-80EA-64A3C9CB1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CA712-09B8-4D2A-A619-23B6C1C9F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24</a:t>
            </a:fld>
            <a:endParaRPr lang="hi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891AF0-F61A-486C-8F58-0AB25616F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0179"/>
            <a:ext cx="7661612" cy="459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0374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6A24D-5188-4BB2-8767-C95CA93E4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Few other examples…</a:t>
            </a:r>
            <a:endParaRPr lang="hi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4314F-2580-4D0F-8431-C1246E4C4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06B38-D0D3-47AC-B01B-7FA2369EC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25</a:t>
            </a:fld>
            <a:endParaRPr lang="hi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66E705-CA83-4DA2-AFCE-2E582DEC5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87" y="1825625"/>
            <a:ext cx="765039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5763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EDB52-6F71-4E39-BF2D-B9F07752B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Classes of P and NP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6541E-1012-4DD5-BC78-FD3360201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DA02B-2580-4CE9-900A-21904D8DB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26</a:t>
            </a:fld>
            <a:endParaRPr lang="hi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0DB615-5565-479A-9B7E-C2D5A1102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621" y="1690688"/>
            <a:ext cx="8346654" cy="498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1040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F4F53-0C89-49C4-98D9-447A8479E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Relationship between P and NP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7CF4D-2630-46EF-BB2D-D26B41B47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F2640-8690-4FCA-81A8-43E10265B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27</a:t>
            </a:fld>
            <a:endParaRPr lang="hi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4E4C81-2777-45C1-A5C9-7DF26A53E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25625"/>
            <a:ext cx="7419975" cy="448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52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CEE75-89FA-4E7E-8325-032D6C4FF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prove problem is NP-Complete?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0B808-E4A9-4096-8680-1A7F6F9AF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36CEA-EBEF-4745-BABB-5E6FD87B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28</a:t>
            </a:fld>
            <a:endParaRPr lang="hi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7838D4-1C3D-496E-87F1-32155FD2B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976479"/>
            <a:ext cx="10844980" cy="299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4489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746B8-03A4-4201-AF5D-458DC392C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NP-Complete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E5F3C-468B-4FC1-A65B-8A9E15CD1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altLang="hi-IN" b="1" dirty="0"/>
              <a:t>What is NP-Complete?</a:t>
            </a:r>
          </a:p>
          <a:p>
            <a:pPr algn="just"/>
            <a:r>
              <a:rPr lang="en-US" altLang="hi-IN" dirty="0"/>
              <a:t>A problem x that is in NP is also in NP-Complete if and only if every other problem in NP can be quickly (</a:t>
            </a:r>
            <a:r>
              <a:rPr lang="en-US" altLang="hi-IN" dirty="0" err="1"/>
              <a:t>ie</a:t>
            </a:r>
            <a:r>
              <a:rPr lang="en-US" altLang="hi-IN" dirty="0"/>
              <a:t>. in polynomial time) transformed into x. In other words:</a:t>
            </a:r>
          </a:p>
          <a:p>
            <a:pPr algn="just"/>
            <a:r>
              <a:rPr lang="en-US" altLang="hi-IN" dirty="0"/>
              <a:t>x is in NP, and</a:t>
            </a:r>
          </a:p>
          <a:p>
            <a:pPr algn="just"/>
            <a:r>
              <a:rPr lang="en-US" altLang="hi-IN" dirty="0"/>
              <a:t>Every problem in NP is reducible to x</a:t>
            </a:r>
          </a:p>
          <a:p>
            <a:pPr algn="just"/>
            <a:r>
              <a:rPr lang="en-US" altLang="hi-IN" dirty="0"/>
              <a:t>So what makes NP-Complete so interesting is that if any one of the NP-Complete problems was to be solved quickly then all NP problems can be solved quickly</a:t>
            </a:r>
          </a:p>
          <a:p>
            <a:pPr algn="just">
              <a:buNone/>
            </a:pPr>
            <a:r>
              <a:rPr lang="ja-JP" altLang="en-US" b="1" dirty="0">
                <a:latin typeface="Arial" panose="020B0604020202020204" pitchFamily="34" charset="0"/>
                <a:ea typeface="HGS明朝E" panose="02020800000000000000" pitchFamily="18" charset="-128"/>
              </a:rPr>
              <a:t>“</a:t>
            </a:r>
            <a:r>
              <a:rPr lang="en-US" altLang="ja-JP" b="1" dirty="0"/>
              <a:t>NP-Complete</a:t>
            </a:r>
            <a:r>
              <a:rPr lang="ja-JP" altLang="en-US" b="1" dirty="0">
                <a:latin typeface="Arial" panose="020B0604020202020204" pitchFamily="34" charset="0"/>
                <a:ea typeface="HGS明朝E" panose="02020800000000000000" pitchFamily="18" charset="-128"/>
              </a:rPr>
              <a:t>”</a:t>
            </a:r>
            <a:r>
              <a:rPr lang="en-US" altLang="ja-JP" b="1" dirty="0"/>
              <a:t> comes from: </a:t>
            </a:r>
          </a:p>
          <a:p>
            <a:pPr lvl="1" algn="just"/>
            <a:r>
              <a:rPr lang="en-US" altLang="hi-IN" sz="2800" b="1" dirty="0"/>
              <a:t> </a:t>
            </a:r>
            <a:r>
              <a:rPr lang="en-US" altLang="hi-IN" sz="2800" b="1" dirty="0">
                <a:solidFill>
                  <a:srgbClr val="3333FF"/>
                </a:solidFill>
              </a:rPr>
              <a:t>N</a:t>
            </a:r>
            <a:r>
              <a:rPr lang="en-US" altLang="hi-IN" sz="2800" b="1" dirty="0"/>
              <a:t>ondeterministic </a:t>
            </a:r>
            <a:r>
              <a:rPr lang="en-US" altLang="hi-IN" sz="2800" b="1" dirty="0">
                <a:solidFill>
                  <a:srgbClr val="3333FF"/>
                </a:solidFill>
              </a:rPr>
              <a:t>P</a:t>
            </a:r>
            <a:r>
              <a:rPr lang="en-US" altLang="hi-IN" sz="2800" b="1" dirty="0"/>
              <a:t>olynomial</a:t>
            </a:r>
          </a:p>
          <a:p>
            <a:pPr lvl="1" algn="just"/>
            <a:r>
              <a:rPr lang="en-US" altLang="hi-IN" sz="2800" b="1" dirty="0"/>
              <a:t> </a:t>
            </a:r>
            <a:r>
              <a:rPr lang="en-US" altLang="hi-IN" sz="2800" b="1" dirty="0">
                <a:solidFill>
                  <a:srgbClr val="3333FF"/>
                </a:solidFill>
              </a:rPr>
              <a:t>Complete</a:t>
            </a:r>
            <a:r>
              <a:rPr lang="en-US" altLang="hi-IN" sz="2800" b="1" dirty="0"/>
              <a:t> - </a:t>
            </a:r>
            <a:r>
              <a:rPr lang="ja-JP" altLang="en-US" sz="2800" b="1" dirty="0">
                <a:latin typeface="Arial" panose="020B0604020202020204" pitchFamily="34" charset="0"/>
                <a:ea typeface="HGS明朝E" panose="02020800000000000000" pitchFamily="18" charset="-128"/>
              </a:rPr>
              <a:t>“</a:t>
            </a:r>
            <a:r>
              <a:rPr lang="en-US" altLang="ja-JP" sz="2800" b="1" dirty="0"/>
              <a:t>Solve one, Solve them all</a:t>
            </a:r>
            <a:r>
              <a:rPr lang="ja-JP" altLang="en-US" sz="2800" b="1" dirty="0">
                <a:latin typeface="Arial" panose="020B0604020202020204" pitchFamily="34" charset="0"/>
                <a:ea typeface="HGS明朝E" panose="02020800000000000000" pitchFamily="18" charset="-128"/>
              </a:rPr>
              <a:t>”</a:t>
            </a:r>
            <a:endParaRPr lang="en-US" altLang="ja-JP" sz="2800" b="1" dirty="0"/>
          </a:p>
          <a:p>
            <a:pPr algn="just"/>
            <a:endParaRPr lang="en-US" altLang="hi-IN" dirty="0"/>
          </a:p>
          <a:p>
            <a:pPr algn="just"/>
            <a:endParaRPr lang="hi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0B0B9-31FA-4D42-9C46-245DEA443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29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4261894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4A247-9CF2-42E3-B768-8EA24DF5C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NP-Hard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9A4AA-78EA-42C5-A346-EBDBB4BAE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altLang="hi-IN" b="1" dirty="0"/>
              <a:t>What is NP-Hard?</a:t>
            </a:r>
          </a:p>
          <a:p>
            <a:pPr algn="just"/>
            <a:r>
              <a:rPr lang="en-US" altLang="hi-IN" dirty="0"/>
              <a:t>NP-Hard are problems that are at least as hard as the hardest problems in NP. </a:t>
            </a:r>
          </a:p>
          <a:p>
            <a:pPr algn="just"/>
            <a:r>
              <a:rPr lang="en-US" altLang="hi-IN" dirty="0"/>
              <a:t>A problem is NP hard if every problem in NP can be </a:t>
            </a:r>
            <a:r>
              <a:rPr lang="en-US" altLang="hi-IN" dirty="0" err="1"/>
              <a:t>polynomially</a:t>
            </a:r>
            <a:r>
              <a:rPr lang="en-US" altLang="hi-IN" dirty="0"/>
              <a:t> reduced to it</a:t>
            </a:r>
          </a:p>
          <a:p>
            <a:pPr algn="just"/>
            <a:r>
              <a:rPr lang="en-US" altLang="hi-IN" dirty="0"/>
              <a:t>Note that NP-Complete problems are also NP-hard. </a:t>
            </a:r>
          </a:p>
          <a:p>
            <a:pPr algn="just"/>
            <a:r>
              <a:rPr lang="en-US" altLang="hi-IN" dirty="0"/>
              <a:t>However not all NP-hard problems are NP (or even a decision problem), despite having 'NP' as a prefix. That is the NP in NP-hard does not mean 'non-deterministic polynomial time’. </a:t>
            </a:r>
          </a:p>
          <a:p>
            <a:pPr algn="just"/>
            <a:r>
              <a:rPr lang="en-US" altLang="hi-IN" dirty="0"/>
              <a:t>All optimization problems in NP are NP-Hard and all decision problems in NP are NP-Complete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2F6DA-E565-4E23-85BB-6C685FB13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30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7475889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399C8-38E3-4131-ADE7-547CBA6F2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co-NP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79CE5-62C2-4049-B6BE-1ACE8C797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altLang="hi-IN" b="1" dirty="0"/>
              <a:t>What is co-NP?</a:t>
            </a:r>
          </a:p>
          <a:p>
            <a:pPr algn="just"/>
            <a:r>
              <a:rPr lang="en-US" dirty="0"/>
              <a:t>A decision problem X is a member of co-NP if and only if its complement X is in the complexity class </a:t>
            </a:r>
            <a:r>
              <a:rPr lang="en-US" b="1" dirty="0"/>
              <a:t>NP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In simple terms, co-NP is the class of problems for which there is a polynomial-time algorithm that can verify "</a:t>
            </a:r>
            <a:r>
              <a:rPr lang="en-US" i="1" dirty="0"/>
              <a:t>no</a:t>
            </a:r>
            <a:r>
              <a:rPr lang="en-US" dirty="0"/>
              <a:t>" instances (sometimes called counterexamples) given the appropriate certificate. </a:t>
            </a:r>
          </a:p>
          <a:p>
            <a:pPr algn="just"/>
            <a:r>
              <a:rPr lang="en-US" dirty="0"/>
              <a:t>Equivalently, co-NP is the set of decision problems where the "no" instances can be accepted in polynomial time by a non-deterministic Turing machine.</a:t>
            </a:r>
            <a:endParaRPr lang="hi-IN" dirty="0"/>
          </a:p>
          <a:p>
            <a:endParaRPr lang="hi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1B6A3-B182-4653-8A6C-FE3130FD2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31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6804824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A341E-6C11-4DF5-A924-03AF96A77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Relationship between NP-Complete and NP-Hard</a:t>
            </a:r>
            <a:endParaRPr lang="hi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FAA66-5368-41E6-89A0-FA7360578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1A9D1-DF54-4D80-8122-4C02047EB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25C0-1574-4DFE-8448-1E78AC3A228A}" type="slidenum">
              <a:rPr lang="hi-IN" smtClean="0"/>
              <a:t>32</a:t>
            </a:fld>
            <a:endParaRPr lang="hi-IN"/>
          </a:p>
        </p:txBody>
      </p:sp>
      <p:pic>
        <p:nvPicPr>
          <p:cNvPr id="1026" name="Picture 2" descr="Complexity Classes | The Road Ahead">
            <a:extLst>
              <a:ext uri="{FF2B5EF4-FFF2-40B4-BE49-F238E27FC236}">
                <a16:creationId xmlns:a16="http://schemas.microsoft.com/office/drawing/2014/main" id="{C245540D-5723-4500-B999-5DDA3FE5A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969" y="3739995"/>
            <a:ext cx="5334000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E_CSIE] P, NP, coNP, NP-COMPLETE, NP-HARD @ amzshar :: 痞客邦::">
            <a:extLst>
              <a:ext uri="{FF2B5EF4-FFF2-40B4-BE49-F238E27FC236}">
                <a16:creationId xmlns:a16="http://schemas.microsoft.com/office/drawing/2014/main" id="{3FA24146-817E-4F71-AB26-023EADC60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1346278"/>
            <a:ext cx="6065700" cy="332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2418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</TotalTime>
  <Words>741</Words>
  <Application>Microsoft Office PowerPoint</Application>
  <PresentationFormat>Widescreen</PresentationFormat>
  <Paragraphs>106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Courier New</vt:lpstr>
      <vt:lpstr>Office Theme</vt:lpstr>
      <vt:lpstr>P-NP Problems</vt:lpstr>
      <vt:lpstr>Tractable Vs Intractable</vt:lpstr>
      <vt:lpstr>Decision Problems </vt:lpstr>
      <vt:lpstr>P and NP</vt:lpstr>
      <vt:lpstr>Non-Determinism</vt:lpstr>
      <vt:lpstr>NP</vt:lpstr>
      <vt:lpstr>P vs NP</vt:lpstr>
      <vt:lpstr>Polynomial-Time Algorithms</vt:lpstr>
      <vt:lpstr>Tractability</vt:lpstr>
      <vt:lpstr>NP-Complete Problems</vt:lpstr>
      <vt:lpstr>NPC – Hamiltonian Cycles</vt:lpstr>
      <vt:lpstr>P and NP</vt:lpstr>
      <vt:lpstr>Is P = NP?</vt:lpstr>
      <vt:lpstr>NP Complete Problems</vt:lpstr>
      <vt:lpstr>Reduction</vt:lpstr>
      <vt:lpstr>Reducibility</vt:lpstr>
      <vt:lpstr>Using Reductions</vt:lpstr>
      <vt:lpstr>NP-Hard and NP-Complete</vt:lpstr>
      <vt:lpstr>NP Complete Problems</vt:lpstr>
      <vt:lpstr>Why Prove NP-Completeness?</vt:lpstr>
      <vt:lpstr>Proving NP-Completeness</vt:lpstr>
      <vt:lpstr>NP-Complete – Example: Clique Problem</vt:lpstr>
      <vt:lpstr>Example: Satisfiability Problem (SAT)</vt:lpstr>
      <vt:lpstr>Few other examples…</vt:lpstr>
      <vt:lpstr>Few other examples…</vt:lpstr>
      <vt:lpstr>Classes of P and NP</vt:lpstr>
      <vt:lpstr>Relationship between P and NP</vt:lpstr>
      <vt:lpstr>How to prove problem is NP-Complete?</vt:lpstr>
      <vt:lpstr>NP-Complete</vt:lpstr>
      <vt:lpstr>NP-Hard</vt:lpstr>
      <vt:lpstr>co-NP</vt:lpstr>
      <vt:lpstr>Relationship between NP-Complete and NP-Hard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P-NP Problems</dc:title>
  <dc:creator>Supriya M</dc:creator>
  <cp:lastModifiedBy>Supriya M</cp:lastModifiedBy>
  <cp:revision>100</cp:revision>
  <dcterms:created xsi:type="dcterms:W3CDTF">2020-06-09T07:56:35Z</dcterms:created>
  <dcterms:modified xsi:type="dcterms:W3CDTF">2020-06-10T14:42:19Z</dcterms:modified>
</cp:coreProperties>
</file>