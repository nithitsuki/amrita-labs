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2"/>
  </p:notesMasterIdLst>
  <p:handoutMasterIdLst>
    <p:handoutMasterId r:id="rId83"/>
  </p:handoutMasterIdLst>
  <p:sldIdLst>
    <p:sldId id="331" r:id="rId2"/>
    <p:sldId id="332" r:id="rId3"/>
    <p:sldId id="333" r:id="rId4"/>
    <p:sldId id="334" r:id="rId5"/>
    <p:sldId id="418" r:id="rId6"/>
    <p:sldId id="420" r:id="rId7"/>
    <p:sldId id="419" r:id="rId8"/>
    <p:sldId id="337" r:id="rId9"/>
    <p:sldId id="335" r:id="rId10"/>
    <p:sldId id="433" r:id="rId11"/>
    <p:sldId id="434" r:id="rId12"/>
    <p:sldId id="435" r:id="rId13"/>
    <p:sldId id="436" r:id="rId14"/>
    <p:sldId id="437" r:id="rId15"/>
    <p:sldId id="381" r:id="rId16"/>
    <p:sldId id="438" r:id="rId17"/>
    <p:sldId id="439" r:id="rId18"/>
    <p:sldId id="340" r:id="rId19"/>
    <p:sldId id="440" r:id="rId20"/>
    <p:sldId id="341" r:id="rId21"/>
    <p:sldId id="342" r:id="rId22"/>
    <p:sldId id="343" r:id="rId23"/>
    <p:sldId id="344" r:id="rId24"/>
    <p:sldId id="345" r:id="rId25"/>
    <p:sldId id="383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441" r:id="rId36"/>
    <p:sldId id="442" r:id="rId37"/>
    <p:sldId id="421" r:id="rId38"/>
    <p:sldId id="422" r:id="rId39"/>
    <p:sldId id="423" r:id="rId40"/>
    <p:sldId id="424" r:id="rId41"/>
    <p:sldId id="425" r:id="rId42"/>
    <p:sldId id="357" r:id="rId43"/>
    <p:sldId id="428" r:id="rId44"/>
    <p:sldId id="429" r:id="rId45"/>
    <p:sldId id="426" r:id="rId46"/>
    <p:sldId id="427" r:id="rId47"/>
    <p:sldId id="358" r:id="rId48"/>
    <p:sldId id="359" r:id="rId49"/>
    <p:sldId id="443" r:id="rId50"/>
    <p:sldId id="449" r:id="rId51"/>
    <p:sldId id="360" r:id="rId52"/>
    <p:sldId id="444" r:id="rId53"/>
    <p:sldId id="361" r:id="rId54"/>
    <p:sldId id="362" r:id="rId55"/>
    <p:sldId id="363" r:id="rId56"/>
    <p:sldId id="450" r:id="rId57"/>
    <p:sldId id="451" r:id="rId58"/>
    <p:sldId id="445" r:id="rId59"/>
    <p:sldId id="446" r:id="rId60"/>
    <p:sldId id="447" r:id="rId61"/>
    <p:sldId id="448" r:id="rId62"/>
    <p:sldId id="430" r:id="rId63"/>
    <p:sldId id="431" r:id="rId64"/>
    <p:sldId id="432" r:id="rId65"/>
    <p:sldId id="364" r:id="rId66"/>
    <p:sldId id="365" r:id="rId67"/>
    <p:sldId id="452" r:id="rId68"/>
    <p:sldId id="366" r:id="rId69"/>
    <p:sldId id="367" r:id="rId70"/>
    <p:sldId id="453" r:id="rId71"/>
    <p:sldId id="368" r:id="rId72"/>
    <p:sldId id="369" r:id="rId73"/>
    <p:sldId id="370" r:id="rId74"/>
    <p:sldId id="454" r:id="rId75"/>
    <p:sldId id="455" r:id="rId76"/>
    <p:sldId id="371" r:id="rId77"/>
    <p:sldId id="372" r:id="rId78"/>
    <p:sldId id="373" r:id="rId79"/>
    <p:sldId id="374" r:id="rId80"/>
    <p:sldId id="375" r:id="rId8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B69AA-3E97-400F-8227-BDD923428475}" v="5" dt="2022-03-23T17:28:00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6" autoAdjust="0"/>
    <p:restoredTop sz="80319" autoAdjust="0"/>
  </p:normalViewPr>
  <p:slideViewPr>
    <p:cSldViewPr snapToGrid="0">
      <p:cViewPr varScale="1">
        <p:scale>
          <a:sx n="62" d="100"/>
          <a:sy n="62" d="100"/>
        </p:scale>
        <p:origin x="2040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ige, Judi" userId="8877ca70-2753-47e6-94dc-e416309bcd8d" providerId="ADAL" clId="{327B69AA-3E97-400F-8227-BDD923428475}"/>
    <pc:docChg chg="undo redo custSel modSld">
      <pc:chgData name="Paige, Judi" userId="8877ca70-2753-47e6-94dc-e416309bcd8d" providerId="ADAL" clId="{327B69AA-3E97-400F-8227-BDD923428475}" dt="2022-03-23T17:28:00.632" v="173" actId="1076"/>
      <pc:docMkLst>
        <pc:docMk/>
      </pc:docMkLst>
      <pc:sldChg chg="modSp mod">
        <pc:chgData name="Paige, Judi" userId="8877ca70-2753-47e6-94dc-e416309bcd8d" providerId="ADAL" clId="{327B69AA-3E97-400F-8227-BDD923428475}" dt="2022-03-23T15:54:20.266" v="59" actId="20577"/>
        <pc:sldMkLst>
          <pc:docMk/>
          <pc:sldMk cId="0" sldId="335"/>
        </pc:sldMkLst>
        <pc:spChg chg="mod">
          <ac:chgData name="Paige, Judi" userId="8877ca70-2753-47e6-94dc-e416309bcd8d" providerId="ADAL" clId="{327B69AA-3E97-400F-8227-BDD923428475}" dt="2022-03-23T15:54:20.266" v="59" actId="20577"/>
          <ac:spMkLst>
            <pc:docMk/>
            <pc:sldMk cId="0" sldId="335"/>
            <ac:spMk id="13314" creationId="{F4824E8A-1421-4BF0-9A60-6CA3F5021CE8}"/>
          </ac:spMkLst>
        </pc:spChg>
      </pc:sldChg>
      <pc:sldChg chg="modSp mod">
        <pc:chgData name="Paige, Judi" userId="8877ca70-2753-47e6-94dc-e416309bcd8d" providerId="ADAL" clId="{327B69AA-3E97-400F-8227-BDD923428475}" dt="2022-03-23T15:53:47.130" v="57" actId="20577"/>
        <pc:sldMkLst>
          <pc:docMk/>
          <pc:sldMk cId="0" sldId="337"/>
        </pc:sldMkLst>
        <pc:spChg chg="mod">
          <ac:chgData name="Paige, Judi" userId="8877ca70-2753-47e6-94dc-e416309bcd8d" providerId="ADAL" clId="{327B69AA-3E97-400F-8227-BDD923428475}" dt="2022-03-23T15:53:47.130" v="57" actId="20577"/>
          <ac:spMkLst>
            <pc:docMk/>
            <pc:sldMk cId="0" sldId="337"/>
            <ac:spMk id="15362" creationId="{97E50AC4-3665-4FFE-B1D6-0D72C5ECE804}"/>
          </ac:spMkLst>
        </pc:spChg>
      </pc:sldChg>
      <pc:sldChg chg="modSp">
        <pc:chgData name="Paige, Judi" userId="8877ca70-2753-47e6-94dc-e416309bcd8d" providerId="ADAL" clId="{327B69AA-3E97-400F-8227-BDD923428475}" dt="2022-03-23T17:28:00.632" v="173" actId="1076"/>
        <pc:sldMkLst>
          <pc:docMk/>
          <pc:sldMk cId="0" sldId="340"/>
        </pc:sldMkLst>
        <pc:spChg chg="mod">
          <ac:chgData name="Paige, Judi" userId="8877ca70-2753-47e6-94dc-e416309bcd8d" providerId="ADAL" clId="{327B69AA-3E97-400F-8227-BDD923428475}" dt="2022-03-23T17:28:00.632" v="173" actId="1076"/>
          <ac:spMkLst>
            <pc:docMk/>
            <pc:sldMk cId="0" sldId="340"/>
            <ac:spMk id="17409" creationId="{837C291A-9445-4721-B361-26FE27F4113C}"/>
          </ac:spMkLst>
        </pc:spChg>
      </pc:sldChg>
      <pc:sldChg chg="modSp">
        <pc:chgData name="Paige, Judi" userId="8877ca70-2753-47e6-94dc-e416309bcd8d" providerId="ADAL" clId="{327B69AA-3E97-400F-8227-BDD923428475}" dt="2022-03-23T17:27:44.373" v="171" actId="1076"/>
        <pc:sldMkLst>
          <pc:docMk/>
          <pc:sldMk cId="0" sldId="341"/>
        </pc:sldMkLst>
        <pc:spChg chg="mod">
          <ac:chgData name="Paige, Judi" userId="8877ca70-2753-47e6-94dc-e416309bcd8d" providerId="ADAL" clId="{327B69AA-3E97-400F-8227-BDD923428475}" dt="2022-03-23T17:27:44.373" v="171" actId="1076"/>
          <ac:spMkLst>
            <pc:docMk/>
            <pc:sldMk cId="0" sldId="341"/>
            <ac:spMk id="19457" creationId="{C1FE1CF9-67CC-4C8B-A23E-E3989C148625}"/>
          </ac:spMkLst>
        </pc:spChg>
      </pc:sldChg>
      <pc:sldChg chg="modSp mod">
        <pc:chgData name="Paige, Judi" userId="8877ca70-2753-47e6-94dc-e416309bcd8d" providerId="ADAL" clId="{327B69AA-3E97-400F-8227-BDD923428475}" dt="2022-03-23T15:57:12.609" v="75" actId="20577"/>
        <pc:sldMkLst>
          <pc:docMk/>
          <pc:sldMk cId="0" sldId="344"/>
        </pc:sldMkLst>
        <pc:spChg chg="mod">
          <ac:chgData name="Paige, Judi" userId="8877ca70-2753-47e6-94dc-e416309bcd8d" providerId="ADAL" clId="{327B69AA-3E97-400F-8227-BDD923428475}" dt="2022-03-23T15:57:12.609" v="75" actId="20577"/>
          <ac:spMkLst>
            <pc:docMk/>
            <pc:sldMk cId="0" sldId="344"/>
            <ac:spMk id="25602" creationId="{248F74CB-A637-4326-83AD-A85531E46B2E}"/>
          </ac:spMkLst>
        </pc:spChg>
      </pc:sldChg>
      <pc:sldChg chg="modSp mod">
        <pc:chgData name="Paige, Judi" userId="8877ca70-2753-47e6-94dc-e416309bcd8d" providerId="ADAL" clId="{327B69AA-3E97-400F-8227-BDD923428475}" dt="2022-03-23T15:58:37.785" v="89" actId="20577"/>
        <pc:sldMkLst>
          <pc:docMk/>
          <pc:sldMk cId="0" sldId="349"/>
        </pc:sldMkLst>
        <pc:spChg chg="mod">
          <ac:chgData name="Paige, Judi" userId="8877ca70-2753-47e6-94dc-e416309bcd8d" providerId="ADAL" clId="{327B69AA-3E97-400F-8227-BDD923428475}" dt="2022-03-23T15:58:37.785" v="89" actId="20577"/>
          <ac:spMkLst>
            <pc:docMk/>
            <pc:sldMk cId="0" sldId="349"/>
            <ac:spMk id="31746" creationId="{EFC0A195-78EA-410E-9026-C9CEFE55CB37}"/>
          </ac:spMkLst>
        </pc:spChg>
      </pc:sldChg>
      <pc:sldChg chg="modSp mod">
        <pc:chgData name="Paige, Judi" userId="8877ca70-2753-47e6-94dc-e416309bcd8d" providerId="ADAL" clId="{327B69AA-3E97-400F-8227-BDD923428475}" dt="2022-03-23T17:18:29.694" v="93" actId="20577"/>
        <pc:sldMkLst>
          <pc:docMk/>
          <pc:sldMk cId="0" sldId="353"/>
        </pc:sldMkLst>
        <pc:spChg chg="mod">
          <ac:chgData name="Paige, Judi" userId="8877ca70-2753-47e6-94dc-e416309bcd8d" providerId="ADAL" clId="{327B69AA-3E97-400F-8227-BDD923428475}" dt="2022-03-23T17:18:29.694" v="93" actId="20577"/>
          <ac:spMkLst>
            <pc:docMk/>
            <pc:sldMk cId="0" sldId="353"/>
            <ac:spMk id="39938" creationId="{86FC01CE-3998-490A-BDE6-3A6213797806}"/>
          </ac:spMkLst>
        </pc:spChg>
      </pc:sldChg>
      <pc:sldChg chg="modSp mod">
        <pc:chgData name="Paige, Judi" userId="8877ca70-2753-47e6-94dc-e416309bcd8d" providerId="ADAL" clId="{327B69AA-3E97-400F-8227-BDD923428475}" dt="2022-03-23T17:18:51.292" v="94" actId="20577"/>
        <pc:sldMkLst>
          <pc:docMk/>
          <pc:sldMk cId="0" sldId="356"/>
        </pc:sldMkLst>
        <pc:spChg chg="mod">
          <ac:chgData name="Paige, Judi" userId="8877ca70-2753-47e6-94dc-e416309bcd8d" providerId="ADAL" clId="{327B69AA-3E97-400F-8227-BDD923428475}" dt="2022-03-23T17:18:51.292" v="94" actId="20577"/>
          <ac:spMkLst>
            <pc:docMk/>
            <pc:sldMk cId="0" sldId="356"/>
            <ac:spMk id="46082" creationId="{0A7AE779-FF63-41A9-B5BD-D519561ABD9E}"/>
          </ac:spMkLst>
        </pc:spChg>
      </pc:sldChg>
      <pc:sldChg chg="modSp mod">
        <pc:chgData name="Paige, Judi" userId="8877ca70-2753-47e6-94dc-e416309bcd8d" providerId="ADAL" clId="{327B69AA-3E97-400F-8227-BDD923428475}" dt="2022-03-23T17:20:07.547" v="98" actId="20577"/>
        <pc:sldMkLst>
          <pc:docMk/>
          <pc:sldMk cId="0" sldId="357"/>
        </pc:sldMkLst>
        <pc:spChg chg="mod">
          <ac:chgData name="Paige, Judi" userId="8877ca70-2753-47e6-94dc-e416309bcd8d" providerId="ADAL" clId="{327B69AA-3E97-400F-8227-BDD923428475}" dt="2022-03-23T17:20:07.547" v="98" actId="20577"/>
          <ac:spMkLst>
            <pc:docMk/>
            <pc:sldMk cId="0" sldId="357"/>
            <ac:spMk id="48130" creationId="{D051B137-35A8-4BCD-B97B-829EA95E2680}"/>
          </ac:spMkLst>
        </pc:spChg>
      </pc:sldChg>
      <pc:sldChg chg="modSp mod">
        <pc:chgData name="Paige, Judi" userId="8877ca70-2753-47e6-94dc-e416309bcd8d" providerId="ADAL" clId="{327B69AA-3E97-400F-8227-BDD923428475}" dt="2022-03-23T17:19:30.095" v="97" actId="20577"/>
        <pc:sldMkLst>
          <pc:docMk/>
          <pc:sldMk cId="0" sldId="358"/>
        </pc:sldMkLst>
        <pc:spChg chg="mod">
          <ac:chgData name="Paige, Judi" userId="8877ca70-2753-47e6-94dc-e416309bcd8d" providerId="ADAL" clId="{327B69AA-3E97-400F-8227-BDD923428475}" dt="2022-03-23T17:19:30.095" v="97" actId="20577"/>
          <ac:spMkLst>
            <pc:docMk/>
            <pc:sldMk cId="0" sldId="358"/>
            <ac:spMk id="50178" creationId="{9D3FB76A-D010-4081-9D81-A9865380F002}"/>
          </ac:spMkLst>
        </pc:spChg>
      </pc:sldChg>
      <pc:sldChg chg="modSp mod">
        <pc:chgData name="Paige, Judi" userId="8877ca70-2753-47e6-94dc-e416309bcd8d" providerId="ADAL" clId="{327B69AA-3E97-400F-8227-BDD923428475}" dt="2022-03-23T17:20:46.461" v="104" actId="20577"/>
        <pc:sldMkLst>
          <pc:docMk/>
          <pc:sldMk cId="0" sldId="360"/>
        </pc:sldMkLst>
        <pc:spChg chg="mod">
          <ac:chgData name="Paige, Judi" userId="8877ca70-2753-47e6-94dc-e416309bcd8d" providerId="ADAL" clId="{327B69AA-3E97-400F-8227-BDD923428475}" dt="2022-03-23T17:20:46.461" v="104" actId="20577"/>
          <ac:spMkLst>
            <pc:docMk/>
            <pc:sldMk cId="0" sldId="360"/>
            <ac:spMk id="54274" creationId="{778FADBB-9076-4FBD-93D9-F75ADC967EFF}"/>
          </ac:spMkLst>
        </pc:spChg>
      </pc:sldChg>
      <pc:sldChg chg="modSp mod">
        <pc:chgData name="Paige, Judi" userId="8877ca70-2753-47e6-94dc-e416309bcd8d" providerId="ADAL" clId="{327B69AA-3E97-400F-8227-BDD923428475}" dt="2022-03-23T17:21:24.971" v="112" actId="20577"/>
        <pc:sldMkLst>
          <pc:docMk/>
          <pc:sldMk cId="0" sldId="361"/>
        </pc:sldMkLst>
        <pc:spChg chg="mod">
          <ac:chgData name="Paige, Judi" userId="8877ca70-2753-47e6-94dc-e416309bcd8d" providerId="ADAL" clId="{327B69AA-3E97-400F-8227-BDD923428475}" dt="2022-03-23T17:21:24.971" v="112" actId="20577"/>
          <ac:spMkLst>
            <pc:docMk/>
            <pc:sldMk cId="0" sldId="361"/>
            <ac:spMk id="56322" creationId="{F9D491DD-A38E-475F-8906-6128AD1F3862}"/>
          </ac:spMkLst>
        </pc:spChg>
      </pc:sldChg>
      <pc:sldChg chg="modSp mod">
        <pc:chgData name="Paige, Judi" userId="8877ca70-2753-47e6-94dc-e416309bcd8d" providerId="ADAL" clId="{327B69AA-3E97-400F-8227-BDD923428475}" dt="2022-03-23T17:22:07.116" v="124" actId="20577"/>
        <pc:sldMkLst>
          <pc:docMk/>
          <pc:sldMk cId="0" sldId="362"/>
        </pc:sldMkLst>
        <pc:spChg chg="mod">
          <ac:chgData name="Paige, Judi" userId="8877ca70-2753-47e6-94dc-e416309bcd8d" providerId="ADAL" clId="{327B69AA-3E97-400F-8227-BDD923428475}" dt="2022-03-23T17:22:07.116" v="124" actId="20577"/>
          <ac:spMkLst>
            <pc:docMk/>
            <pc:sldMk cId="0" sldId="362"/>
            <ac:spMk id="58370" creationId="{43FB620B-ED3D-4487-B4B3-8D8C1990193B}"/>
          </ac:spMkLst>
        </pc:spChg>
      </pc:sldChg>
      <pc:sldChg chg="modSp mod">
        <pc:chgData name="Paige, Judi" userId="8877ca70-2753-47e6-94dc-e416309bcd8d" providerId="ADAL" clId="{327B69AA-3E97-400F-8227-BDD923428475}" dt="2022-03-23T17:23:01.564" v="136" actId="20577"/>
        <pc:sldMkLst>
          <pc:docMk/>
          <pc:sldMk cId="0" sldId="363"/>
        </pc:sldMkLst>
        <pc:spChg chg="mod">
          <ac:chgData name="Paige, Judi" userId="8877ca70-2753-47e6-94dc-e416309bcd8d" providerId="ADAL" clId="{327B69AA-3E97-400F-8227-BDD923428475}" dt="2022-03-23T17:23:01.564" v="136" actId="20577"/>
          <ac:spMkLst>
            <pc:docMk/>
            <pc:sldMk cId="0" sldId="363"/>
            <ac:spMk id="60418" creationId="{5866BF7C-1FA0-4840-882A-7A5E6F0E9A18}"/>
          </ac:spMkLst>
        </pc:spChg>
      </pc:sldChg>
      <pc:sldChg chg="modSp mod">
        <pc:chgData name="Paige, Judi" userId="8877ca70-2753-47e6-94dc-e416309bcd8d" providerId="ADAL" clId="{327B69AA-3E97-400F-8227-BDD923428475}" dt="2022-03-23T17:23:22.948" v="140" actId="20577"/>
        <pc:sldMkLst>
          <pc:docMk/>
          <pc:sldMk cId="0" sldId="365"/>
        </pc:sldMkLst>
        <pc:spChg chg="mod">
          <ac:chgData name="Paige, Judi" userId="8877ca70-2753-47e6-94dc-e416309bcd8d" providerId="ADAL" clId="{327B69AA-3E97-400F-8227-BDD923428475}" dt="2022-03-23T17:23:22.948" v="140" actId="20577"/>
          <ac:spMkLst>
            <pc:docMk/>
            <pc:sldMk cId="0" sldId="365"/>
            <ac:spMk id="64514" creationId="{9A96C6DF-1521-4C97-AEB7-B25DA22EF839}"/>
          </ac:spMkLst>
        </pc:spChg>
      </pc:sldChg>
      <pc:sldChg chg="modSp mod">
        <pc:chgData name="Paige, Judi" userId="8877ca70-2753-47e6-94dc-e416309bcd8d" providerId="ADAL" clId="{327B69AA-3E97-400F-8227-BDD923428475}" dt="2022-03-23T17:24:34.565" v="141" actId="20577"/>
        <pc:sldMkLst>
          <pc:docMk/>
          <pc:sldMk cId="0" sldId="367"/>
        </pc:sldMkLst>
        <pc:spChg chg="mod">
          <ac:chgData name="Paige, Judi" userId="8877ca70-2753-47e6-94dc-e416309bcd8d" providerId="ADAL" clId="{327B69AA-3E97-400F-8227-BDD923428475}" dt="2022-03-23T17:24:34.565" v="141" actId="20577"/>
          <ac:spMkLst>
            <pc:docMk/>
            <pc:sldMk cId="0" sldId="367"/>
            <ac:spMk id="68610" creationId="{A408F457-CD45-48AA-8181-E44F8AA0A577}"/>
          </ac:spMkLst>
        </pc:spChg>
      </pc:sldChg>
      <pc:sldChg chg="modSp mod">
        <pc:chgData name="Paige, Judi" userId="8877ca70-2753-47e6-94dc-e416309bcd8d" providerId="ADAL" clId="{327B69AA-3E97-400F-8227-BDD923428475}" dt="2022-03-23T17:24:54.372" v="142" actId="20577"/>
        <pc:sldMkLst>
          <pc:docMk/>
          <pc:sldMk cId="0" sldId="369"/>
        </pc:sldMkLst>
        <pc:spChg chg="mod">
          <ac:chgData name="Paige, Judi" userId="8877ca70-2753-47e6-94dc-e416309bcd8d" providerId="ADAL" clId="{327B69AA-3E97-400F-8227-BDD923428475}" dt="2022-03-23T17:24:54.372" v="142" actId="20577"/>
          <ac:spMkLst>
            <pc:docMk/>
            <pc:sldMk cId="0" sldId="369"/>
            <ac:spMk id="72706" creationId="{1590227E-597D-4241-9B48-CEE17B87BD41}"/>
          </ac:spMkLst>
        </pc:spChg>
      </pc:sldChg>
      <pc:sldChg chg="modSp mod">
        <pc:chgData name="Paige, Judi" userId="8877ca70-2753-47e6-94dc-e416309bcd8d" providerId="ADAL" clId="{327B69AA-3E97-400F-8227-BDD923428475}" dt="2022-03-23T17:25:51.195" v="157" actId="20577"/>
        <pc:sldMkLst>
          <pc:docMk/>
          <pc:sldMk cId="0" sldId="370"/>
        </pc:sldMkLst>
        <pc:spChg chg="mod">
          <ac:chgData name="Paige, Judi" userId="8877ca70-2753-47e6-94dc-e416309bcd8d" providerId="ADAL" clId="{327B69AA-3E97-400F-8227-BDD923428475}" dt="2022-03-23T17:25:51.195" v="157" actId="20577"/>
          <ac:spMkLst>
            <pc:docMk/>
            <pc:sldMk cId="0" sldId="370"/>
            <ac:spMk id="74754" creationId="{CBEDF2A5-8F09-4357-9519-FCAE0F3F3B32}"/>
          </ac:spMkLst>
        </pc:spChg>
      </pc:sldChg>
      <pc:sldChg chg="modSp mod">
        <pc:chgData name="Paige, Judi" userId="8877ca70-2753-47e6-94dc-e416309bcd8d" providerId="ADAL" clId="{327B69AA-3E97-400F-8227-BDD923428475}" dt="2022-03-23T17:26:32.779" v="170" actId="20577"/>
        <pc:sldMkLst>
          <pc:docMk/>
          <pc:sldMk cId="0" sldId="371"/>
        </pc:sldMkLst>
        <pc:spChg chg="mod">
          <ac:chgData name="Paige, Judi" userId="8877ca70-2753-47e6-94dc-e416309bcd8d" providerId="ADAL" clId="{327B69AA-3E97-400F-8227-BDD923428475}" dt="2022-03-23T17:26:32.779" v="170" actId="20577"/>
          <ac:spMkLst>
            <pc:docMk/>
            <pc:sldMk cId="0" sldId="371"/>
            <ac:spMk id="76802" creationId="{198FFF5E-8931-4A8B-8BF7-20846C289136}"/>
          </ac:spMkLst>
        </pc:spChg>
      </pc:sldChg>
      <pc:sldChg chg="modSp mod">
        <pc:chgData name="Paige, Judi" userId="8877ca70-2753-47e6-94dc-e416309bcd8d" providerId="ADAL" clId="{327B69AA-3E97-400F-8227-BDD923428475}" dt="2022-03-23T15:56:30.954" v="72" actId="947"/>
        <pc:sldMkLst>
          <pc:docMk/>
          <pc:sldMk cId="0" sldId="381"/>
        </pc:sldMkLst>
        <pc:spChg chg="mod">
          <ac:chgData name="Paige, Judi" userId="8877ca70-2753-47e6-94dc-e416309bcd8d" providerId="ADAL" clId="{327B69AA-3E97-400F-8227-BDD923428475}" dt="2022-03-23T15:56:30.954" v="72" actId="947"/>
          <ac:spMkLst>
            <pc:docMk/>
            <pc:sldMk cId="0" sldId="381"/>
            <ac:spMk id="91138" creationId="{66863360-8218-4F9C-99FE-9BE85325DE12}"/>
          </ac:spMkLst>
        </pc:spChg>
      </pc:sldChg>
      <pc:sldChg chg="modSp mod">
        <pc:chgData name="Paige, Judi" userId="8877ca70-2753-47e6-94dc-e416309bcd8d" providerId="ADAL" clId="{327B69AA-3E97-400F-8227-BDD923428475}" dt="2022-03-23T15:51:35.132" v="23" actId="114"/>
        <pc:sldMkLst>
          <pc:docMk/>
          <pc:sldMk cId="0" sldId="418"/>
        </pc:sldMkLst>
        <pc:spChg chg="mod">
          <ac:chgData name="Paige, Judi" userId="8877ca70-2753-47e6-94dc-e416309bcd8d" providerId="ADAL" clId="{327B69AA-3E97-400F-8227-BDD923428475}" dt="2022-03-23T15:51:35.132" v="23" actId="114"/>
          <ac:spMkLst>
            <pc:docMk/>
            <pc:sldMk cId="0" sldId="418"/>
            <ac:spMk id="57346" creationId="{5ED238E1-E3E6-41E4-AE23-2237E43D6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Deadlock-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650068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RAG-directed graphs- used to model resource allocations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Conditions for resource deadlocks- Each resource is currently available or not assigned to a process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3D1A-2560-4E4B-68D6-055D0012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41C20AA-0C34-7011-7DB3-DCCC8A317A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8466578-2959-6091-04CC-2E15D7E67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094BA5E-3925-62CD-AB1A-28DD5628E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1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181F-7E58-363C-CA0C-7DC815C9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FC0A237C-0BF7-3566-6329-62BEBD246B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DC0FA24-2C4A-CE14-DD0C-5EDF29337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212E2DF-C731-B0D6-21B5-092EA40D8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817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BC65-B4D5-6C71-7BB7-3F458C4E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FFA5329-5262-B7A4-16C7-97C539D4A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FE33056-B295-D897-54EE-90A23ACFE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F590AED-8E8E-760A-3E6F-C22BBB2EB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All these conditions occurs then deadlock happens- ordering of the resources and requests-deadlocks</a:t>
            </a:r>
          </a:p>
        </p:txBody>
      </p:sp>
    </p:spTree>
    <p:extLst>
      <p:ext uri="{BB962C8B-B14F-4D97-AF65-F5344CB8AC3E}">
        <p14:creationId xmlns:p14="http://schemas.microsoft.com/office/powerpoint/2010/main" val="3426157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8C58-458A-85E1-492E-EC71F8BE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33420213-BD84-841B-9DC0-DAB1F86A29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67D9B77-4D55-DAEE-2A9E-78CB111BE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AF52915-3106-8F52-2879-FE20B213F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610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6630-534F-0614-48DE-EEED4240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0913941-BB77-8362-AC99-2A7FF0453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7C3DE23-085D-08F4-8285-55E437B4AA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C46BED5-4AAB-1D37-611C-4B608B849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44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Allow multiple processes to use a resource simultaneously. Example: Read-only files can be shared.-ME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Used to check whether the system is in a </a:t>
            </a:r>
            <a:r>
              <a:rPr lang="en-US" b="1" dirty="0"/>
              <a:t>safe state</a:t>
            </a:r>
          </a:p>
          <a:p>
            <a:r>
              <a:rPr lang="en-US" b="1" dirty="0"/>
              <a:t>Allocation matrix</a:t>
            </a:r>
            <a:r>
              <a:rPr lang="en-US" dirty="0"/>
              <a:t> shows </a:t>
            </a:r>
            <a:r>
              <a:rPr lang="en-US" b="1" dirty="0"/>
              <a:t>how many resources are currently given to each process</a:t>
            </a:r>
            <a:r>
              <a:rPr lang="en-US" dirty="0"/>
              <a:t>.</a:t>
            </a:r>
          </a:p>
          <a:p>
            <a:r>
              <a:rPr lang="en-US" b="1" dirty="0"/>
              <a:t>Max matrix</a:t>
            </a:r>
            <a:r>
              <a:rPr lang="en-US" dirty="0"/>
              <a:t> shows the </a:t>
            </a:r>
            <a:r>
              <a:rPr lang="en-US" b="1" dirty="0"/>
              <a:t>maximum resources each process may need to complete its execution</a:t>
            </a:r>
            <a:r>
              <a:rPr lang="en-US" dirty="0"/>
              <a:t>.</a:t>
            </a:r>
          </a:p>
          <a:p>
            <a:r>
              <a:rPr lang="en-US" b="1" dirty="0"/>
              <a:t>Need[</a:t>
            </a:r>
            <a:r>
              <a:rPr lang="en-US" b="1" dirty="0" err="1"/>
              <a:t>i</a:t>
            </a:r>
            <a:r>
              <a:rPr lang="en-US" b="1" dirty="0"/>
              <a:t>]</a:t>
            </a:r>
            <a:r>
              <a:rPr lang="en-US" dirty="0"/>
              <a:t> represents the </a:t>
            </a:r>
            <a:r>
              <a:rPr lang="en-US" b="1" dirty="0"/>
              <a:t>remaining resources that process </a:t>
            </a:r>
            <a:r>
              <a:rPr lang="en-US" b="1" i="1" dirty="0" err="1"/>
              <a:t>i</a:t>
            </a:r>
            <a:r>
              <a:rPr lang="en-US" b="1" dirty="0"/>
              <a:t> still requires to complete its execution</a:t>
            </a:r>
            <a:r>
              <a:rPr lang="en-US" dirty="0"/>
              <a:t>.</a:t>
            </a:r>
          </a:p>
          <a:p>
            <a:r>
              <a:rPr lang="en-US" dirty="0"/>
              <a:t>Work means current available resources during checking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50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631711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To decide whether a </a:t>
            </a:r>
            <a:r>
              <a:rPr lang="en-US" b="1" dirty="0"/>
              <a:t>new resource request</a:t>
            </a:r>
            <a:r>
              <a:rPr lang="en-US" dirty="0"/>
              <a:t> can be granted.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Need=max-allocation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T4 → (3,3,0) Not Granted Request &gt; Available</a:t>
            </a:r>
          </a:p>
          <a:p>
            <a:r>
              <a:rPr lang="en-US" dirty="0"/>
              <a:t>T0 → (0,2,0) Not Granted Leads to unsafe state- </a:t>
            </a:r>
            <a:r>
              <a:rPr lang="en-US" i="1" dirty="0"/>
              <a:t>tentatively allocate</a:t>
            </a:r>
            <a:r>
              <a:rPr lang="en-US" dirty="0"/>
              <a:t> and check safety.-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56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834715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⟨ T2, T1, T3, T0, T4 ⟩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64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856719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Deadlock detection is the process of identifying when processes are stuck waiting for resources held by other processes.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Recovery is the method of resolving the deadlock to allow the system to continue functioning.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Detection is done using techniques like Resource Allocation Graphs (RAG) or Wait-for Graphs.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Once a deadlock is detected, recovery methods include process termination, resource preemption, or process rollback.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MS PGothic" pitchFamily="34" charset="-128"/>
              <a:cs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Deadlock detection is a mechanism in operating systems used to identify whether a set of processes is stuck in a deadlock state.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It analyzes resource allocation and process dependencies to detect cycles and determine if processes are waiting indefinitely for resources.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panose="020B0600070205080204" pitchFamily="34" charset="-128"/>
              </a:rPr>
              <a:t>In this case for Deadlock detection, we can run an algorithm to check for the cycle in the Resource Allocation Graph. The presence of a cycle in the graph is a sufficient condition for deadlock.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 bankers algorithm-&gt;Maximum demand (Max)</a:t>
            </a:r>
            <a:r>
              <a:rPr lang="en-US" dirty="0"/>
              <a:t> of each process </a:t>
            </a:r>
          </a:p>
          <a:p>
            <a:r>
              <a:rPr lang="en-US" b="1" dirty="0"/>
              <a:t>Remaining need (Need = Max − Allocation)</a:t>
            </a:r>
            <a:r>
              <a:rPr lang="en-US" dirty="0"/>
              <a:t> </a:t>
            </a:r>
          </a:p>
          <a:p>
            <a:r>
              <a:rPr lang="en-US" dirty="0"/>
              <a:t>This allows the system to:</a:t>
            </a:r>
          </a:p>
          <a:p>
            <a:r>
              <a:rPr lang="en-US" dirty="0"/>
              <a:t>Predict future behavior </a:t>
            </a:r>
          </a:p>
          <a:p>
            <a:r>
              <a:rPr lang="en-US" dirty="0"/>
              <a:t>Ensure a </a:t>
            </a:r>
            <a:r>
              <a:rPr lang="en-US" b="1" dirty="0"/>
              <a:t>safe sequence exists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70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351159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3DA0-C1F5-ACD0-BE94-DCAFEAFD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663D9161-3110-6205-1CE0-0BA5347038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3277A7E5-9117-E883-F821-508FCA3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674083E-75B8-F7E1-1285-67B8C0CBB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After granting T2’s additional request, only T0 can complete. The remaining processes cannot satisfy their requests with available resources, leading to a deadlock involving T1, T2, T3, and T4.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454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After granting T2’s additional request, only T0 can complete. The remaining processes cannot satisfy their requests with available resources, leading to a deadlock involving T1, T2, T3, and T4.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80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55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5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1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11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8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75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13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0EE328B-BE68-481B-A918-E117CF2E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DD82269-6038-4DC7-9DB9-33CC07A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F423CC-D04E-4FEB-90EB-369DCBB9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BC97BB-8A12-40A3-B5F2-69DC5101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DBF570C-E8F3-4209-82B7-AC2D00088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AD91054-EF57-4D49-A1B2-120B5F4B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CF2C6-6AD0-42E6-B742-6900D0A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52438FC-02CE-45C2-B0C5-D0E79E96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40D0A5C9-1564-450C-8B21-348FDB204F4D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F5650-E826-4410-A822-722A1D58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924BF04-C0A2-4C41-BCF7-E1064F22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C30FAE5-2DCB-4F75-996C-0AB71A9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225461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09170"/>
            <a:ext cx="7588250" cy="4530725"/>
          </a:xfrm>
        </p:spPr>
        <p:txBody>
          <a:bodyPr/>
          <a:lstStyle/>
          <a:p>
            <a:r>
              <a:rPr lang="en-US" altLang="en-US" dirty="0"/>
              <a:t>System Model</a:t>
            </a:r>
          </a:p>
          <a:p>
            <a:r>
              <a:rPr lang="en-US" altLang="en-US" dirty="0"/>
              <a:t>Deadlock Characterization</a:t>
            </a:r>
          </a:p>
          <a:p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r>
              <a:rPr lang="en-US" altLang="en-US" dirty="0"/>
              <a:t>Deadlock Avoidance</a:t>
            </a:r>
          </a:p>
          <a:p>
            <a:r>
              <a:rPr lang="en-US" altLang="en-US" dirty="0"/>
              <a:t>Deadlock Detection </a:t>
            </a:r>
          </a:p>
          <a:p>
            <a:r>
              <a:rPr lang="en-US" altLang="en-US" dirty="0"/>
              <a:t>Recovery from Deadlock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308136"/>
            <a:ext cx="7772400" cy="4500562"/>
          </a:xfrm>
        </p:spPr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endParaRPr lang="en-US" altLang="en-US" dirty="0"/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834" y="1354816"/>
            <a:ext cx="7351712" cy="4483100"/>
          </a:xfrm>
        </p:spPr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1"/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17586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7360" y="1331338"/>
            <a:ext cx="6959600" cy="4860925"/>
          </a:xfrm>
        </p:spPr>
        <p:txBody>
          <a:bodyPr/>
          <a:lstStyle/>
          <a:p>
            <a:r>
              <a:rPr lang="en-US" altLang="en-US" dirty="0"/>
              <a:t>Data: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A semaphore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r>
              <a:rPr lang="en-US" altLang="en-US" dirty="0"/>
              <a:t>Two threads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en-US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</a:t>
            </a:r>
            <a:r>
              <a:rPr lang="en-US" altLang="en-US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19F850-A320-E512-760D-72A24828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Allocation Graphs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B08055-0486-E9ED-E3CC-B90C60BB5C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D188D32-FA6F-3992-A259-D409D08E0D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97450" y="1640910"/>
            <a:ext cx="4038600" cy="402085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ED70EF-937B-2F28-CF02-4001578E3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95287"/>
            <a:ext cx="4279117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0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3FDD-ECF8-7EA8-D88D-BC375B2C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646B4D-DD6B-75D2-3809-6200350DC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42320" y="1051763"/>
            <a:ext cx="6172735" cy="739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4AAABA-27A5-6D60-B779-97E7DF148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686" y="2023824"/>
            <a:ext cx="3810532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2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09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8253" y="1771945"/>
            <a:ext cx="6574810" cy="4019550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T</a:t>
            </a:r>
            <a:r>
              <a:rPr lang="en-US" altLang="en-US" dirty="0"/>
              <a:t> = {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dirty="0"/>
              <a:t>}, the set consisting of all the threads in the system.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522" y="1300748"/>
            <a:ext cx="42755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 set of vertices </a:t>
            </a:r>
            <a:r>
              <a:rPr kumimoji="0" lang="en-US" altLang="en-US" i="1" dirty="0"/>
              <a:t>V</a:t>
            </a:r>
            <a:r>
              <a:rPr kumimoji="0" lang="en-US" altLang="en-US" dirty="0"/>
              <a:t> and a set of edges </a:t>
            </a:r>
            <a:r>
              <a:rPr kumimoji="0" lang="en-US" altLang="en-US" i="1" dirty="0"/>
              <a:t>E</a:t>
            </a:r>
            <a:r>
              <a:rPr kumimoji="0" lang="en-US" alt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567" y="1635373"/>
            <a:ext cx="6259909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8454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0B817-380A-70F0-49A0-ECD7EF9A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922" y="2333280"/>
            <a:ext cx="2507197" cy="35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1C40B-B0CD-552B-35C3-7749C646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4DCA65E-296D-36CC-7F6F-582E11E6F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662D64E1-E797-49A4-195D-C2C44B191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567" y="1635373"/>
            <a:ext cx="6259909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thread holding at least one resource is waiting to acquire additional resources held by other threads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F7F9153D-FFAF-E083-1E2F-A705D6B23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8454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277A3-90D6-05C4-575D-8C49C57C7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823" y="3228150"/>
            <a:ext cx="237764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6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C6A7-CE9F-4FE0-97DE-AC61FBEB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323C366-0EE7-3061-9630-CF30CFD2D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B422DA3-5981-46B2-CE54-13E36C5DC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567" y="1635373"/>
            <a:ext cx="6259909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thread holding at least one resource is waiting to acquire additional resources held by other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thread holding it, after that thread has completed its task</a:t>
            </a:r>
            <a:endParaRPr lang="en-US" altLang="en-US" sz="800" dirty="0"/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47FBD390-FACE-F3DC-0B33-46E91E8D2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8454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02047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991A3-2635-662F-C2B1-695D7AD7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8CBA732-F020-B5C8-E4DC-FD956F2B5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248078C8-7015-F0A8-3378-0A9776DBE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567" y="1635373"/>
            <a:ext cx="7937500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thread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thread holding at least one resource is waiting to acquire additional resources held by other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thread holding it, after that thread has completed its task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} of waiting threads such that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0F3A0C31-467F-8A55-5F5E-D3D1BCAC9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8454"/>
            <a:ext cx="6485359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4F04B-CDB7-E19B-2028-6474AD3A8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711" y="4556561"/>
            <a:ext cx="2248095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3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26D6-3545-B795-4DB2-4333CBF9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2A7E-A97D-4FF7-1FD5-C6D9F3E9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7A6CA-2079-47B6-AF03-A3D48A2B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37" y="1188526"/>
            <a:ext cx="6759526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7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E382-9B1B-D5CF-1625-A52BF733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52E19-825D-0A4B-F1F7-D87D9C1A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FA674-5E97-EE83-192D-1FCCBCEE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407" y="1485625"/>
            <a:ext cx="5379257" cy="33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1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65" y="214006"/>
            <a:ext cx="7880350" cy="537202"/>
          </a:xfrm>
        </p:spPr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4524375" cy="4530725"/>
          </a:xfrm>
        </p:spPr>
        <p:txBody>
          <a:bodyPr/>
          <a:lstStyle/>
          <a:p>
            <a:r>
              <a:rPr lang="en-US" altLang="en-US" dirty="0"/>
              <a:t>One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Two instances of R</a:t>
            </a:r>
            <a:r>
              <a:rPr lang="en-US" altLang="en-US" baseline="-25000" dirty="0"/>
              <a:t>2</a:t>
            </a:r>
          </a:p>
          <a:p>
            <a:r>
              <a:rPr lang="en-US" altLang="en-US" dirty="0"/>
              <a:t>One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Three instance of R</a:t>
            </a:r>
            <a:r>
              <a:rPr lang="en-US" altLang="en-US" baseline="-25000" dirty="0"/>
              <a:t>4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 and is waiting for an instance of R</a:t>
            </a:r>
            <a:r>
              <a:rPr lang="en-US" altLang="en-US" baseline="-25000" dirty="0"/>
              <a:t>1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holds one instance of R</a:t>
            </a:r>
            <a:r>
              <a:rPr lang="en-US" altLang="en-US" baseline="-25000" dirty="0"/>
              <a:t>1</a:t>
            </a:r>
            <a:r>
              <a:rPr lang="en-US" altLang="en-US" dirty="0"/>
              <a:t>, one instance of R</a:t>
            </a:r>
            <a:r>
              <a:rPr lang="en-US" altLang="en-US" baseline="-25000" dirty="0"/>
              <a:t>2</a:t>
            </a:r>
            <a:r>
              <a:rPr lang="en-US" altLang="en-US" dirty="0"/>
              <a:t>, and is waiting for an instance of R</a:t>
            </a:r>
            <a:r>
              <a:rPr lang="en-US" altLang="en-US" baseline="-25000" dirty="0"/>
              <a:t>3</a:t>
            </a:r>
          </a:p>
          <a:p>
            <a:r>
              <a:rPr lang="en-US" altLang="en-US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is holds one instance of R</a:t>
            </a:r>
            <a:r>
              <a:rPr lang="en-US" altLang="en-US" baseline="-25000" dirty="0"/>
              <a:t>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B6DF-6BA1-4A5F-5D2C-CA103ED5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26FE54-3959-B644-DCF6-A905B662F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26227" y="1233488"/>
            <a:ext cx="608839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36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25E7-88E2-22D7-5699-071731F5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1C67EC0-D805-0CB7-CFF6-FDE41F201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175" y="2737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825830C9-5305-B6DD-8917-B741E4C9A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4040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175" y="2737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67F64-028B-943A-606E-54E02C182DC3}"/>
              </a:ext>
            </a:extLst>
          </p:cNvPr>
          <p:cNvSpPr txBox="1"/>
          <p:nvPr/>
        </p:nvSpPr>
        <p:spPr>
          <a:xfrm>
            <a:off x="351273" y="5383934"/>
            <a:ext cx="4603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T1 and T2 are in a circular wait</a:t>
            </a:r>
            <a:r>
              <a:rPr lang="en-US" dirty="0"/>
              <a:t> where both are waiting for resources held by the other, this creates a </a:t>
            </a:r>
            <a:r>
              <a:rPr lang="en-US" b="1" dirty="0"/>
              <a:t>deadlock condition</a:t>
            </a:r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B81C3-7693-7E9D-4AC8-0EB532BAC798}"/>
              </a:ext>
            </a:extLst>
          </p:cNvPr>
          <p:cNvSpPr txBox="1"/>
          <p:nvPr/>
        </p:nvSpPr>
        <p:spPr>
          <a:xfrm>
            <a:off x="5102877" y="3866541"/>
            <a:ext cx="404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T1-&gt;R1-&gt;T2-&gt;R3-&gt;T3-&gt;R2-&gt;T1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54F78-E378-27E8-ED0F-0F9A3E8D5B0F}"/>
              </a:ext>
            </a:extLst>
          </p:cNvPr>
          <p:cNvSpPr txBox="1"/>
          <p:nvPr/>
        </p:nvSpPr>
        <p:spPr>
          <a:xfrm>
            <a:off x="5987441" y="4559809"/>
            <a:ext cx="283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P2-&gt;R3-&gt;P3-&gt;R2-&gt;P2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BCB9-A5EC-6BD7-86B2-E38BB6CA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6012596-62B1-2234-7528-8AA9D7C72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5594" y="346641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F8FF380C-85FE-9A34-AC25-31834966E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98" y="1748820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861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5594" y="346641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98" y="1748820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6DE7B3-DBE2-CB8C-05EF-51E049ACA01F}"/>
              </a:ext>
            </a:extLst>
          </p:cNvPr>
          <p:cNvSpPr txBox="1"/>
          <p:nvPr/>
        </p:nvSpPr>
        <p:spPr>
          <a:xfrm>
            <a:off x="4255777" y="3429000"/>
            <a:ext cx="46033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is no circular wait condition.</a:t>
            </a:r>
          </a:p>
          <a:p>
            <a:endParaRPr lang="en-US" dirty="0"/>
          </a:p>
          <a:p>
            <a:r>
              <a:rPr lang="en-US" dirty="0"/>
              <a:t>Some transactions (T3​ and T4​) do not have dependencies on other resources.</a:t>
            </a:r>
          </a:p>
          <a:p>
            <a:endParaRPr lang="en-US" dirty="0"/>
          </a:p>
          <a:p>
            <a:r>
              <a:rPr lang="en-US" dirty="0"/>
              <a:t>Transactions will eventually complete and release resources, allowing other transactions to proceed.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13B079-8BB8-C78A-C7BF-3481B70FD186}"/>
              </a:ext>
            </a:extLst>
          </p:cNvPr>
          <p:cNvSpPr txBox="1"/>
          <p:nvPr/>
        </p:nvSpPr>
        <p:spPr>
          <a:xfrm>
            <a:off x="4697260" y="2542784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T₁ → R₁ → T₃ → R₂ → T₁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7635000" cy="4400550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49" y="1198563"/>
            <a:ext cx="7577137" cy="3295650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226431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3773" y="1717511"/>
            <a:ext cx="7237084" cy="3822700"/>
          </a:xfrm>
        </p:spPr>
        <p:txBody>
          <a:bodyPr/>
          <a:lstStyle/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thread requests a resource, it does not hold any other resources</a:t>
            </a:r>
          </a:p>
          <a:p>
            <a:pPr lvl="1"/>
            <a:r>
              <a:rPr lang="en-US" altLang="en-US" dirty="0"/>
              <a:t>Require threads to request and be allocated all its resources before it begins execution or allow thread to request resources only when the thread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6" y="1196734"/>
            <a:ext cx="7800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85853"/>
            <a:ext cx="7683500" cy="4446588"/>
          </a:xfrm>
        </p:spPr>
        <p:txBody>
          <a:bodyPr/>
          <a:lstStyle/>
          <a:p>
            <a:r>
              <a:rPr lang="en-US" altLang="en-US" b="1" dirty="0"/>
              <a:t>No Preemption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dirty="0"/>
              <a:t>Preempted resources are added to the list of resources for which the thread is waiting</a:t>
            </a:r>
          </a:p>
          <a:p>
            <a:pPr lvl="1"/>
            <a:r>
              <a:rPr lang="en-US" altLang="en-US" dirty="0"/>
              <a:t>Thread will be restarted only when it can regain its old resources, as well as the new ones that it is requesting</a:t>
            </a:r>
          </a:p>
          <a:p>
            <a:r>
              <a:rPr lang="en-US" altLang="en-US" b="1" dirty="0"/>
              <a:t>Circular Wait:</a:t>
            </a:r>
          </a:p>
          <a:p>
            <a:pPr lvl="1"/>
            <a:r>
              <a:rPr lang="en-US" altLang="en-US" dirty="0"/>
              <a:t>Impose a total ordering of all resource types, and require that each thread requests resources in an increasing order of enumeration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10125"/>
          </a:xfrm>
        </p:spPr>
        <p:txBody>
          <a:bodyPr/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(i.e.,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11363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63888" y="4160838"/>
            <a:ext cx="2214562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22643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971" y="1814513"/>
            <a:ext cx="7296539" cy="3783012"/>
          </a:xfrm>
        </p:spPr>
        <p:txBody>
          <a:bodyPr/>
          <a:lstStyle/>
          <a:p>
            <a:r>
              <a:rPr lang="en-US" altLang="en-US" dirty="0"/>
              <a:t>Simplest and most useful model requires that each thread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17" y="1098550"/>
            <a:ext cx="767909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83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10438" cy="4914562"/>
          </a:xfrm>
        </p:spPr>
        <p:txBody>
          <a:bodyPr/>
          <a:lstStyle/>
          <a:p>
            <a:r>
              <a:rPr lang="en-US" altLang="en-US" dirty="0"/>
              <a:t>When a thread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T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T</a:t>
            </a:r>
            <a:r>
              <a:rPr lang="en-US" altLang="en-US" i="1" baseline="-25000" dirty="0"/>
              <a:t>n</a:t>
            </a:r>
            <a:r>
              <a:rPr lang="en-US" altLang="en-US" dirty="0"/>
              <a:t>&gt; of ALL the threads  in the systems such that  for each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, the resources that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terminates,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337" y="1190625"/>
            <a:ext cx="7652495" cy="44148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5461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62088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41336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989" y="235762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7" y="1155700"/>
            <a:ext cx="7457849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</a:t>
            </a:r>
            <a:r>
              <a:rPr lang="en-US" altLang="en-US" dirty="0"/>
              <a:t>thread</a:t>
            </a:r>
            <a:r>
              <a:rPr lang="en-US" altLang="en-US" dirty="0">
                <a:sym typeface="Symbol" panose="05050102010706020507" pitchFamily="18" charset="2"/>
              </a:rPr>
              <a:t>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</a:t>
            </a:r>
            <a:r>
              <a:rPr lang="en-US" altLang="en-US" dirty="0"/>
              <a:t>thread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</a:t>
            </a:r>
            <a:r>
              <a:rPr lang="en-US" altLang="en-US" dirty="0"/>
              <a:t> thread</a:t>
            </a:r>
            <a:r>
              <a:rPr lang="en-US" altLang="en-US" dirty="0">
                <a:sym typeface="Symbol" panose="05050102010706020507" pitchFamily="18" charset="2"/>
              </a:rPr>
              <a:t>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079" y="355636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77" y="142369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7952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438275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2747" y="234792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015" y="1187450"/>
            <a:ext cx="7656512" cy="4303713"/>
          </a:xfrm>
        </p:spPr>
        <p:txBody>
          <a:bodyPr/>
          <a:lstStyle/>
          <a:p>
            <a:r>
              <a:rPr lang="en-US" altLang="en-US" dirty="0"/>
              <a:t>Suppose that thread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DD96-CCEE-EE9E-4FCA-F23BD885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B7BC5-968C-1F23-56D9-1F824307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system with three processes </a:t>
            </a:r>
            <a:r>
              <a:rPr lang="en-US" b="1" dirty="0"/>
              <a:t>P1, P2, and P3</a:t>
            </a:r>
            <a:r>
              <a:rPr lang="en-US" dirty="0"/>
              <a:t> and two resource types </a:t>
            </a:r>
            <a:r>
              <a:rPr lang="en-US" b="1" dirty="0"/>
              <a:t>R1 and R2</a:t>
            </a:r>
            <a:r>
              <a:rPr lang="en-US" dirty="0"/>
              <a:t>, each having a single instance.</a:t>
            </a:r>
          </a:p>
          <a:p>
            <a:r>
              <a:rPr lang="en-US" dirty="0"/>
              <a:t>For the given Resource Allocation Graph:</a:t>
            </a:r>
          </a:p>
          <a:p>
            <a:r>
              <a:rPr lang="en-US" dirty="0"/>
              <a:t>Process </a:t>
            </a:r>
            <a:r>
              <a:rPr lang="en-US" b="1" dirty="0"/>
              <a:t>P1</a:t>
            </a:r>
            <a:r>
              <a:rPr lang="en-US" dirty="0"/>
              <a:t> is holding resource </a:t>
            </a:r>
            <a:r>
              <a:rPr lang="en-US" b="1" dirty="0"/>
              <a:t>R1</a:t>
            </a:r>
            <a:r>
              <a:rPr lang="en-US" dirty="0"/>
              <a:t> </a:t>
            </a:r>
          </a:p>
          <a:p>
            <a:r>
              <a:rPr lang="en-US" dirty="0"/>
              <a:t>Process </a:t>
            </a:r>
            <a:r>
              <a:rPr lang="en-US" b="1" dirty="0"/>
              <a:t>P2</a:t>
            </a:r>
            <a:r>
              <a:rPr lang="en-US" dirty="0"/>
              <a:t> is holding resource </a:t>
            </a:r>
            <a:r>
              <a:rPr lang="en-US" b="1" dirty="0"/>
              <a:t>R2</a:t>
            </a:r>
            <a:r>
              <a:rPr lang="en-US" dirty="0"/>
              <a:t> </a:t>
            </a:r>
          </a:p>
          <a:p>
            <a:r>
              <a:rPr lang="en-US" dirty="0"/>
              <a:t>Process </a:t>
            </a:r>
            <a:r>
              <a:rPr lang="en-US" b="1" dirty="0"/>
              <a:t>P3</a:t>
            </a:r>
            <a:r>
              <a:rPr lang="en-US" dirty="0"/>
              <a:t> is requesting both </a:t>
            </a:r>
            <a:r>
              <a:rPr lang="en-US" b="1" dirty="0"/>
              <a:t>R1 and R2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80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CBED-A6BA-F101-8BDB-460B124E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FFEA21-CC29-5BE1-F68F-BE98A7772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47901" y="2157614"/>
            <a:ext cx="5845047" cy="268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6834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5B04-20D2-1DB6-8572-14E3B9B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8356-6A54-29EB-513A-862B4CCC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system, the following state of processes and resources are given: R1→ P1, P1→ R2, P2→ R3, R2→ P2, R3→ P3, P3→ R4, P4→ R3, R4→ P4, P4→ R1, R1→ P5</a:t>
            </a:r>
            <a:r>
              <a:rPr lang="en-US"/>
              <a:t>. </a:t>
            </a:r>
          </a:p>
          <a:p>
            <a:pPr marL="0" indent="0">
              <a:buNone/>
            </a:pPr>
            <a:r>
              <a:rPr lang="en-US"/>
              <a:t>Draw </a:t>
            </a:r>
            <a:r>
              <a:rPr lang="en-US" dirty="0"/>
              <a:t>Resource Allocation Graph for the system and check for deadlock condition.</a:t>
            </a:r>
          </a:p>
          <a:p>
            <a:pPr marL="400050" indent="-400050">
              <a:buAutoNum type="romanLcParenR"/>
            </a:pPr>
            <a:r>
              <a:rPr lang="pt-BR" dirty="0"/>
              <a:t>R1→ P1→ R2→ P2→ R3→ P3→ R4→ P4→ R3→ P3→ R4→ P4→ R1 </a:t>
            </a:r>
          </a:p>
          <a:p>
            <a:pPr marL="400050" indent="-400050">
              <a:buAutoNum type="romanLcParenR"/>
            </a:pPr>
            <a:r>
              <a:rPr lang="pt-BR" dirty="0"/>
              <a:t>R3→ P3→ R4→ P4→ R3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41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EABA-B535-A164-B995-71A75A47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F5F0C-F7AE-4AA3-9983-AE64D1910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Cycles in the resource allocation graph include: </a:t>
            </a:r>
          </a:p>
          <a:p>
            <a:pPr marL="0" indent="0">
              <a:buNone/>
            </a:pPr>
            <a:r>
              <a:rPr lang="en-US" dirty="0"/>
              <a:t>R1→ P1→ R2→ P2→ R3→ P3→ R4→ P4→ R3→ P3→ R4→ P4→ R1 This cycle has more than one instances of the resource R3 and R4, so it’s not necessarily deadlocked.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R3→ P3→ R4→ P4→ R3 </a:t>
            </a:r>
          </a:p>
          <a:p>
            <a:pPr marL="0" indent="0">
              <a:buNone/>
            </a:pPr>
            <a:r>
              <a:rPr lang="en-US" dirty="0"/>
              <a:t>This cycle has only one instances of the resources R3 and R4, so it might be deadlocked. </a:t>
            </a:r>
          </a:p>
        </p:txBody>
      </p:sp>
    </p:spTree>
    <p:extLst>
      <p:ext uri="{BB962C8B-B14F-4D97-AF65-F5344CB8AC3E}">
        <p14:creationId xmlns:p14="http://schemas.microsoft.com/office/powerpoint/2010/main" val="2673381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1512-860A-C11A-7DAF-0D2B00C3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98C59-1C2B-2BDB-C3E7-4AF63507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47234-DD0A-C72A-634D-8F47DE932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32" y="1233488"/>
            <a:ext cx="6039693" cy="4401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F760D3-57D8-322C-85ED-5D194883920E}"/>
              </a:ext>
            </a:extLst>
          </p:cNvPr>
          <p:cNvSpPr txBox="1"/>
          <p:nvPr/>
        </p:nvSpPr>
        <p:spPr>
          <a:xfrm>
            <a:off x="2163871" y="5855628"/>
            <a:ext cx="4603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R1→ P1→ R2→ P2→ R3→ P3→ R4→ P4→ R3→ P3→ R4→ P4→ R1 </a:t>
            </a:r>
          </a:p>
        </p:txBody>
      </p:sp>
    </p:spTree>
    <p:extLst>
      <p:ext uri="{BB962C8B-B14F-4D97-AF65-F5344CB8AC3E}">
        <p14:creationId xmlns:p14="http://schemas.microsoft.com/office/powerpoint/2010/main" val="2755971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C32E-2058-5C8F-35B6-048F09F0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5073-1BAE-2520-3AFE-090FE47E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Consider the following Resource Allocation Graph:</a:t>
            </a:r>
          </a:p>
          <a:p>
            <a:pPr marL="0" indent="0">
              <a:buNone/>
            </a:pPr>
            <a:r>
              <a:rPr lang="en-US" dirty="0"/>
              <a:t>P1 → R1 (P1 is holding R1)</a:t>
            </a:r>
          </a:p>
          <a:p>
            <a:pPr marL="0" indent="0">
              <a:buNone/>
            </a:pPr>
            <a:r>
              <a:rPr lang="en-US" dirty="0"/>
              <a:t>P2 → R2 (P2 is holding R2)</a:t>
            </a:r>
          </a:p>
          <a:p>
            <a:pPr marL="0" indent="0">
              <a:buNone/>
            </a:pPr>
            <a:r>
              <a:rPr lang="en-US" dirty="0"/>
              <a:t>P3 → R3 (P3 is holding R3)</a:t>
            </a:r>
          </a:p>
          <a:p>
            <a:pPr marL="0" indent="0">
              <a:buNone/>
            </a:pPr>
            <a:r>
              <a:rPr lang="en-US" dirty="0"/>
              <a:t>P1 → R2 (P1 is requesting R2)</a:t>
            </a:r>
          </a:p>
          <a:p>
            <a:pPr marL="0" indent="0">
              <a:buNone/>
            </a:pPr>
            <a:r>
              <a:rPr lang="en-US" dirty="0"/>
              <a:t>P2 → R3 (P2 is requesting R3)</a:t>
            </a:r>
          </a:p>
          <a:p>
            <a:pPr marL="0" indent="0">
              <a:buNone/>
            </a:pPr>
            <a:r>
              <a:rPr lang="en-US" dirty="0"/>
              <a:t>P3 → R1 (P3 is requesting R1)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Draw the RAG for this scenario.</a:t>
            </a:r>
          </a:p>
          <a:p>
            <a:pPr marL="0" indent="0">
              <a:buNone/>
            </a:pPr>
            <a:r>
              <a:rPr lang="en-US" dirty="0"/>
              <a:t>Identify if a deadlock exists.</a:t>
            </a:r>
          </a:p>
        </p:txBody>
      </p:sp>
    </p:spTree>
    <p:extLst>
      <p:ext uri="{BB962C8B-B14F-4D97-AF65-F5344CB8AC3E}">
        <p14:creationId xmlns:p14="http://schemas.microsoft.com/office/powerpoint/2010/main" val="2002684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5EC0-FBF0-D32E-C17B-D3AD6650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853EA3-AACE-BAC9-CB37-4F1A8EC3D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6450" y="3037185"/>
            <a:ext cx="617669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cycle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P1 → R2 → P2 → R3 → P3 → R1 → P1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cycle in the RAG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a deadlock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03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7706664" cy="4441825"/>
          </a:xfrm>
        </p:spPr>
        <p:txBody>
          <a:bodyPr/>
          <a:lstStyle/>
          <a:p>
            <a:r>
              <a:rPr lang="en-US" altLang="en-US" dirty="0"/>
              <a:t>Multiple instances of resources</a:t>
            </a:r>
          </a:p>
          <a:p>
            <a:r>
              <a:rPr lang="en-US" altLang="en-US" dirty="0"/>
              <a:t>Each thread must a priori claim maximum use</a:t>
            </a:r>
          </a:p>
          <a:p>
            <a:r>
              <a:rPr lang="en-US" altLang="en-US" dirty="0"/>
              <a:t>When a thread requests a resource, it may have to wait  </a:t>
            </a:r>
          </a:p>
          <a:p>
            <a:r>
              <a:rPr lang="en-US" altLang="en-US" dirty="0"/>
              <a:t>When a thread gets all its resources it must return them in a finite amount of time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6C67-C3AF-3947-F483-5EAAAF13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3CEE-DEA1-EA69-D82C-E485BFBB9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dirty="0">
                <a:solidFill>
                  <a:srgbClr val="61738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implementing or working with Bankers algorithm in OS, it is quite important to keep a track of three things: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61738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many resources of each type, a process can request for and it is denoted by the [MAX] array.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61738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many resources of each type, a process is currently holding or allocated and it is denoted by [ALLOCATION] array.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61738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many resources of each type are currently available within the system and it is denoted by the [AVAILABLE] array.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79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8247-92C1-CC52-EF79-BB62AFCA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E41A-9F7E-FC8C-8A4C-D932B7E94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The following data structures are needed to implement the Bankers Algorithm in OS:</a:t>
            </a:r>
          </a:p>
          <a:p>
            <a:pPr algn="l">
              <a:spcAft>
                <a:spcPts val="11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Available Resources Array:</a:t>
            </a:r>
            <a:r>
              <a:rPr lang="en-US" b="0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 An array that stores the current number of available resources of each type.</a:t>
            </a:r>
          </a:p>
          <a:p>
            <a:pPr algn="l">
              <a:spcAft>
                <a:spcPts val="11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Maximum Need Matrix:</a:t>
            </a:r>
            <a:r>
              <a:rPr lang="en-US" b="0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 A matrix that stores the maximum number of resources of each type required by each process.</a:t>
            </a:r>
          </a:p>
          <a:p>
            <a:pPr algn="l">
              <a:spcAft>
                <a:spcPts val="11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Allocation Matrix:</a:t>
            </a:r>
            <a:r>
              <a:rPr lang="en-US" b="0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 A matrix that stores the number of resources of each type currently allocated to each process.</a:t>
            </a:r>
          </a:p>
          <a:p>
            <a:pPr algn="l">
              <a:spcAft>
                <a:spcPts val="11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Need Matrix:</a:t>
            </a:r>
            <a:r>
              <a:rPr lang="en-US" b="0" i="0" dirty="0">
                <a:solidFill>
                  <a:srgbClr val="282828"/>
                </a:solidFill>
                <a:effectLst/>
                <a:latin typeface="Roboto" panose="02000000000000000000" pitchFamily="2" charset="0"/>
              </a:rPr>
              <a:t> A matrix that stores the remaining resources of each type required by each process (calculated as the difference between the Maximum Need and Allocation matrices).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1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5383-CBD6-6043-CFF6-356A9490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CA61-5433-0936-8F90-A37BC6F2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Available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1-D array of size ‘m’ indicating the number of available resources of each type.</a:t>
            </a:r>
          </a:p>
          <a:p>
            <a:pPr marL="0" indent="0">
              <a:buNone/>
            </a:pPr>
            <a:r>
              <a:rPr lang="en-US" dirty="0"/>
              <a:t>Available[ j ] = k means there are ‘k’ instances of resource type </a:t>
            </a:r>
            <a:r>
              <a:rPr lang="en-US" dirty="0" err="1"/>
              <a:t>Rj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Max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2-d array of size ‘n*m’ that defines the maximum demand of each process in a system.</a:t>
            </a:r>
          </a:p>
          <a:p>
            <a:pPr marL="0" indent="0">
              <a:buNone/>
            </a:pPr>
            <a:r>
              <a:rPr lang="en-US" dirty="0"/>
              <a:t>Max[ </a:t>
            </a:r>
            <a:r>
              <a:rPr lang="en-US" dirty="0" err="1"/>
              <a:t>i</a:t>
            </a:r>
            <a:r>
              <a:rPr lang="en-US" dirty="0"/>
              <a:t>, j ] = k means process Pi may request at most ‘k’ instances of resource type </a:t>
            </a:r>
            <a:r>
              <a:rPr lang="en-US" dirty="0" err="1"/>
              <a:t>Rj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669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99AC-1238-84C9-C108-9AB9F583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CC81E-D34B-AE05-40A1-D041A13AF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Allocation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2-d array of size ‘n*m’ that defines the number of resources of each type currently allocated to each process.</a:t>
            </a:r>
          </a:p>
          <a:p>
            <a:pPr marL="0" indent="0">
              <a:buNone/>
            </a:pPr>
            <a:r>
              <a:rPr lang="en-US" dirty="0"/>
              <a:t>Allocation[ </a:t>
            </a:r>
            <a:r>
              <a:rPr lang="en-US" dirty="0" err="1"/>
              <a:t>i</a:t>
            </a:r>
            <a:r>
              <a:rPr lang="en-US" dirty="0"/>
              <a:t>, j ] = k means process Pi is currently allocated ‘k’ instances of resource type </a:t>
            </a:r>
            <a:r>
              <a:rPr lang="en-US" dirty="0" err="1"/>
              <a:t>Rj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Need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2-d array of size ‘n*m’ that indicates the remaining resource need of each process.</a:t>
            </a:r>
          </a:p>
          <a:p>
            <a:pPr marL="0" indent="0">
              <a:buNone/>
            </a:pPr>
            <a:r>
              <a:rPr lang="en-US" dirty="0"/>
              <a:t>Need [ </a:t>
            </a:r>
            <a:r>
              <a:rPr lang="en-US" dirty="0" err="1"/>
              <a:t>i</a:t>
            </a:r>
            <a:r>
              <a:rPr lang="en-US" dirty="0"/>
              <a:t>,   j ] = k means process Pi currently needs ‘k’ instances of resource type </a:t>
            </a:r>
            <a:r>
              <a:rPr lang="en-US" dirty="0" err="1"/>
              <a:t>Rj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Need [ </a:t>
            </a:r>
            <a:r>
              <a:rPr lang="en-US" dirty="0" err="1"/>
              <a:t>i</a:t>
            </a:r>
            <a:r>
              <a:rPr lang="en-US" dirty="0"/>
              <a:t>,   j ] = Max [ </a:t>
            </a:r>
            <a:r>
              <a:rPr lang="en-US" dirty="0" err="1"/>
              <a:t>i</a:t>
            </a:r>
            <a:r>
              <a:rPr lang="en-US" dirty="0"/>
              <a:t>,   j ] – Allocation [ </a:t>
            </a:r>
            <a:r>
              <a:rPr lang="en-US" dirty="0" err="1"/>
              <a:t>i</a:t>
            </a:r>
            <a:r>
              <a:rPr lang="en-US" dirty="0"/>
              <a:t>,   j ]</a:t>
            </a:r>
          </a:p>
        </p:txBody>
      </p:sp>
    </p:spTree>
    <p:extLst>
      <p:ext uri="{BB962C8B-B14F-4D97-AF65-F5344CB8AC3E}">
        <p14:creationId xmlns:p14="http://schemas.microsoft.com/office/powerpoint/2010/main" val="1880689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4237" y="383009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5"/>
            <a:ext cx="7370762" cy="4387850"/>
          </a:xfrm>
        </p:spPr>
        <p:txBody>
          <a:bodyPr/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57288"/>
            <a:ext cx="7372350" cy="49434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  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b="1" dirty="0"/>
              <a:t>  </a:t>
            </a:r>
            <a:r>
              <a:rPr lang="en-US" altLang="en-US" dirty="0"/>
              <a:t>go to step 2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altLang="en-US" sz="7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B244-0E6E-19CC-C584-66CA6016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999E-FB3C-813C-7388-D507E46B3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939114"/>
            <a:ext cx="7727950" cy="4825099"/>
          </a:xfrm>
        </p:spPr>
        <p:txBody>
          <a:bodyPr/>
          <a:lstStyle/>
          <a:p>
            <a:r>
              <a:rPr lang="fr-FR" b="1" dirty="0" err="1"/>
              <a:t>Processes</a:t>
            </a:r>
            <a:r>
              <a:rPr lang="fr-FR" b="1" dirty="0"/>
              <a:t>: P0, P1, P2</a:t>
            </a:r>
          </a:p>
          <a:p>
            <a:r>
              <a:rPr lang="fr-FR" b="1" dirty="0"/>
              <a:t>Resource types: A, B</a:t>
            </a:r>
          </a:p>
          <a:p>
            <a:r>
              <a:rPr lang="fr-FR" dirty="0" err="1"/>
              <a:t>Available</a:t>
            </a:r>
            <a:r>
              <a:rPr lang="fr-FR" dirty="0"/>
              <a:t> = [3, 2]</a:t>
            </a:r>
          </a:p>
          <a:p>
            <a:pPr marL="0" indent="0">
              <a:buNone/>
            </a:pPr>
            <a:r>
              <a:rPr lang="fr-FR" dirty="0"/>
              <a:t>Allocation</a:t>
            </a:r>
          </a:p>
          <a:p>
            <a:pPr marL="0" indent="0">
              <a:buNone/>
            </a:pPr>
            <a:r>
              <a:rPr lang="fr-FR" dirty="0"/>
              <a:t>P0 → [1, 0] P1 → [1, 1]  P2 → [1, 2]</a:t>
            </a:r>
          </a:p>
          <a:p>
            <a:pPr marL="0" indent="0">
              <a:buNone/>
            </a:pPr>
            <a:r>
              <a:rPr lang="fr-FR" dirty="0"/>
              <a:t>Need</a:t>
            </a:r>
          </a:p>
          <a:p>
            <a:pPr marL="0" indent="0">
              <a:buNone/>
            </a:pPr>
            <a:r>
              <a:rPr lang="fr-FR" dirty="0"/>
              <a:t>P0 → [1, 2] P1 → [1, 1] P2 → [2, 0]</a:t>
            </a:r>
          </a:p>
          <a:p>
            <a:pPr marL="0" indent="0">
              <a:buNone/>
            </a:pPr>
            <a:r>
              <a:rPr lang="en-US" dirty="0"/>
              <a:t>Work = Available = [3, 2]    Finish = [false, false, false]</a:t>
            </a:r>
          </a:p>
          <a:p>
            <a:pPr marL="0" indent="0">
              <a:buNone/>
            </a:pPr>
            <a:r>
              <a:rPr lang="en-US" dirty="0"/>
              <a:t>P0: Need = [1,2] ≤ [3,2] </a:t>
            </a:r>
          </a:p>
          <a:p>
            <a:pPr marL="0" indent="0">
              <a:buNone/>
            </a:pPr>
            <a:r>
              <a:rPr lang="en-US" dirty="0"/>
              <a:t>P1: Need = [1,1] ≤ [3,2] </a:t>
            </a:r>
          </a:p>
          <a:p>
            <a:pPr marL="0" indent="0">
              <a:buNone/>
            </a:pPr>
            <a:r>
              <a:rPr lang="en-US" dirty="0"/>
              <a:t>P2: Need = [2,0] ≤ [3,2]</a:t>
            </a:r>
          </a:p>
          <a:p>
            <a:pPr marL="0" indent="0">
              <a:buNone/>
            </a:pPr>
            <a:r>
              <a:rPr lang="en-US" dirty="0"/>
              <a:t>Select P0</a:t>
            </a:r>
          </a:p>
          <a:p>
            <a:pPr marL="0" indent="0">
              <a:buNone/>
            </a:pPr>
            <a:r>
              <a:rPr lang="en-US" dirty="0"/>
              <a:t>Work = Work + Allocation</a:t>
            </a:r>
          </a:p>
          <a:p>
            <a:pPr marL="0" indent="0">
              <a:buNone/>
            </a:pPr>
            <a:r>
              <a:rPr lang="en-US" dirty="0"/>
              <a:t>[P0]     = [3,2] + [1,0]     = [4,2]</a:t>
            </a:r>
          </a:p>
          <a:p>
            <a:pPr marL="0" indent="0">
              <a:buNone/>
            </a:pPr>
            <a:r>
              <a:rPr lang="en-US" dirty="0"/>
              <a:t>Finish = [true, false, false]</a:t>
            </a:r>
          </a:p>
        </p:txBody>
      </p:sp>
    </p:spTree>
    <p:extLst>
      <p:ext uri="{BB962C8B-B14F-4D97-AF65-F5344CB8AC3E}">
        <p14:creationId xmlns:p14="http://schemas.microsoft.com/office/powerpoint/2010/main" val="2197930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EB-8F50-83A7-7AE4-9AC95B84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851D27-D785-55EB-14B9-DEBB4A861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850319"/>
              </p:ext>
            </p:extLst>
          </p:nvPr>
        </p:nvGraphicFramePr>
        <p:xfrm>
          <a:off x="843521" y="1141181"/>
          <a:ext cx="7727948" cy="2194560"/>
        </p:xfrm>
        <a:graphic>
          <a:graphicData uri="http://schemas.openxmlformats.org/drawingml/2006/table">
            <a:tbl>
              <a:tblPr/>
              <a:tblGrid>
                <a:gridCol w="1931987">
                  <a:extLst>
                    <a:ext uri="{9D8B030D-6E8A-4147-A177-3AD203B41FA5}">
                      <a16:colId xmlns:a16="http://schemas.microsoft.com/office/drawing/2014/main" val="1099506433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2689093926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3125824136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21153099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3084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9906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1914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7819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7124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532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6E902B-D3AD-7BDA-3F57-854B71F174C2}"/>
              </a:ext>
            </a:extLst>
          </p:cNvPr>
          <p:cNvSpPr txBox="1"/>
          <p:nvPr/>
        </p:nvSpPr>
        <p:spPr>
          <a:xfrm>
            <a:off x="843521" y="818907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Allocation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4BF457-0905-9A46-8489-7F5F2E96A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34428"/>
              </p:ext>
            </p:extLst>
          </p:nvPr>
        </p:nvGraphicFramePr>
        <p:xfrm>
          <a:off x="843521" y="3844533"/>
          <a:ext cx="7727948" cy="2194560"/>
        </p:xfrm>
        <a:graphic>
          <a:graphicData uri="http://schemas.openxmlformats.org/drawingml/2006/table">
            <a:tbl>
              <a:tblPr/>
              <a:tblGrid>
                <a:gridCol w="1931987">
                  <a:extLst>
                    <a:ext uri="{9D8B030D-6E8A-4147-A177-3AD203B41FA5}">
                      <a16:colId xmlns:a16="http://schemas.microsoft.com/office/drawing/2014/main" val="2864941581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1517319362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1627998622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22553314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17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6814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021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3131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790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605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91A9D8-153F-14A2-54EA-6117B733758E}"/>
              </a:ext>
            </a:extLst>
          </p:cNvPr>
          <p:cNvSpPr txBox="1"/>
          <p:nvPr/>
        </p:nvSpPr>
        <p:spPr>
          <a:xfrm>
            <a:off x="843521" y="3522260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1FB94-7B06-BA3B-3B88-EE89E2058579}"/>
              </a:ext>
            </a:extLst>
          </p:cNvPr>
          <p:cNvSpPr txBox="1"/>
          <p:nvPr/>
        </p:nvSpPr>
        <p:spPr>
          <a:xfrm>
            <a:off x="1025611" y="6178553"/>
            <a:ext cx="2171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is 3 3 2</a:t>
            </a:r>
          </a:p>
        </p:txBody>
      </p:sp>
    </p:spTree>
    <p:extLst>
      <p:ext uri="{BB962C8B-B14F-4D97-AF65-F5344CB8AC3E}">
        <p14:creationId xmlns:p14="http://schemas.microsoft.com/office/powerpoint/2010/main" val="1712129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b="1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endParaRPr lang="en-US" altLang="en-US" b="1" i="1" baseline="-25000" dirty="0">
              <a:sym typeface="Symbol" panose="05050102010706020507" pitchFamily="18" charset="2"/>
            </a:endParaRP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4CD1-F09B-965C-E77F-2BA0D4EE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142B-23B2-A0A4-8029-06936901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 in Resource request algorithm :</a:t>
            </a:r>
            <a:endParaRPr lang="en-US" dirty="0"/>
          </a:p>
          <a:p>
            <a:pPr algn="just"/>
            <a:r>
              <a:rPr lang="en-US" b="1" dirty="0"/>
              <a:t>Step-1</a:t>
            </a:r>
            <a:r>
              <a:rPr lang="en-US" dirty="0"/>
              <a:t>: If Request[</a:t>
            </a:r>
            <a:r>
              <a:rPr lang="en-US" dirty="0" err="1"/>
              <a:t>i,j</a:t>
            </a:r>
            <a:r>
              <a:rPr lang="en-US" dirty="0"/>
              <a:t>]&lt;= Need[</a:t>
            </a:r>
            <a:r>
              <a:rPr lang="en-US" dirty="0" err="1"/>
              <a:t>i,j</a:t>
            </a:r>
            <a:r>
              <a:rPr lang="en-US" dirty="0"/>
              <a:t>] then it means the process is requesting for resources less than or </a:t>
            </a:r>
            <a:r>
              <a:rPr lang="en-US" dirty="0" err="1"/>
              <a:t>eqaul</a:t>
            </a:r>
            <a:r>
              <a:rPr lang="en-US" dirty="0"/>
              <a:t> its need for </a:t>
            </a:r>
            <a:r>
              <a:rPr lang="en-US" dirty="0" err="1"/>
              <a:t>execution.If</a:t>
            </a:r>
            <a:r>
              <a:rPr lang="en-US" dirty="0"/>
              <a:t> Request[</a:t>
            </a:r>
            <a:r>
              <a:rPr lang="en-US" dirty="0" err="1"/>
              <a:t>i,j</a:t>
            </a:r>
            <a:r>
              <a:rPr lang="en-US" dirty="0"/>
              <a:t>]&gt;Need[</a:t>
            </a:r>
            <a:r>
              <a:rPr lang="en-US" dirty="0" err="1"/>
              <a:t>i,j</a:t>
            </a:r>
            <a:r>
              <a:rPr lang="en-US" dirty="0"/>
              <a:t>] then an error flag can be raised stating that process is requesting for resources beyond its </a:t>
            </a:r>
            <a:r>
              <a:rPr lang="en-US" dirty="0" err="1"/>
              <a:t>need.If</a:t>
            </a:r>
            <a:r>
              <a:rPr lang="en-US" dirty="0"/>
              <a:t> Request[</a:t>
            </a:r>
            <a:r>
              <a:rPr lang="en-US" dirty="0" err="1"/>
              <a:t>i,j</a:t>
            </a:r>
            <a:r>
              <a:rPr lang="en-US" dirty="0"/>
              <a:t>]&lt;= Need[</a:t>
            </a:r>
            <a:r>
              <a:rPr lang="en-US" dirty="0" err="1"/>
              <a:t>i,j</a:t>
            </a:r>
            <a:r>
              <a:rPr lang="en-US" dirty="0"/>
              <a:t>] then proceed to step2.</a:t>
            </a:r>
          </a:p>
          <a:p>
            <a:pPr algn="just"/>
            <a:r>
              <a:rPr lang="en-US" b="1" dirty="0"/>
              <a:t>Step-2</a:t>
            </a:r>
            <a:r>
              <a:rPr lang="en-US" dirty="0"/>
              <a:t>: If Request[</a:t>
            </a:r>
            <a:r>
              <a:rPr lang="en-US" dirty="0" err="1"/>
              <a:t>i.j</a:t>
            </a:r>
            <a:r>
              <a:rPr lang="en-US" dirty="0"/>
              <a:t>]&lt;=Available[</a:t>
            </a:r>
            <a:r>
              <a:rPr lang="en-US" dirty="0" err="1"/>
              <a:t>i,j</a:t>
            </a:r>
            <a:r>
              <a:rPr lang="en-US" dirty="0"/>
              <a:t>] then it means the requested resources are </a:t>
            </a:r>
            <a:r>
              <a:rPr lang="en-US" dirty="0" err="1"/>
              <a:t>availble</a:t>
            </a:r>
            <a:r>
              <a:rPr lang="en-US" dirty="0"/>
              <a:t> in the </a:t>
            </a:r>
            <a:r>
              <a:rPr lang="en-US" dirty="0" err="1"/>
              <a:t>sytem</a:t>
            </a:r>
            <a:r>
              <a:rPr lang="en-US" dirty="0"/>
              <a:t> and can be allocated to the </a:t>
            </a:r>
            <a:r>
              <a:rPr lang="en-US" dirty="0" err="1"/>
              <a:t>process.If</a:t>
            </a:r>
            <a:r>
              <a:rPr lang="en-US" dirty="0"/>
              <a:t> Request[</a:t>
            </a:r>
            <a:r>
              <a:rPr lang="en-US" dirty="0" err="1"/>
              <a:t>i.j</a:t>
            </a:r>
            <a:r>
              <a:rPr lang="en-US" dirty="0"/>
              <a:t>]&lt;Available[</a:t>
            </a:r>
            <a:r>
              <a:rPr lang="en-US" dirty="0" err="1"/>
              <a:t>i,j</a:t>
            </a:r>
            <a:r>
              <a:rPr lang="en-US" dirty="0"/>
              <a:t>] then proceed to step-3 else the process has to wait for the available resource to be greater than equal to the requested resources.</a:t>
            </a:r>
          </a:p>
          <a:p>
            <a:pPr algn="just"/>
            <a:r>
              <a:rPr lang="en-US" b="1" dirty="0"/>
              <a:t>Step-3</a:t>
            </a:r>
            <a:r>
              <a:rPr lang="en-US" dirty="0"/>
              <a:t> - Now, if Request[</a:t>
            </a:r>
            <a:r>
              <a:rPr lang="en-US" dirty="0" err="1"/>
              <a:t>i.j</a:t>
            </a:r>
            <a:r>
              <a:rPr lang="en-US" dirty="0"/>
              <a:t>]&lt;Available[</a:t>
            </a:r>
            <a:r>
              <a:rPr lang="en-US" dirty="0" err="1"/>
              <a:t>i,j</a:t>
            </a:r>
            <a:r>
              <a:rPr lang="en-US" dirty="0"/>
              <a:t>] then resource are allocated to the process Pi and the Available[</a:t>
            </a:r>
            <a:r>
              <a:rPr lang="en-US" dirty="0" err="1"/>
              <a:t>i,j</a:t>
            </a:r>
            <a:r>
              <a:rPr lang="en-US" dirty="0"/>
              <a:t>],Allocation[</a:t>
            </a:r>
            <a:r>
              <a:rPr lang="en-US" dirty="0" err="1"/>
              <a:t>i,j</a:t>
            </a:r>
            <a:r>
              <a:rPr lang="en-US" dirty="0"/>
              <a:t>]and Need[</a:t>
            </a:r>
            <a:r>
              <a:rPr lang="en-US" dirty="0" err="1"/>
              <a:t>i,j</a:t>
            </a:r>
            <a:r>
              <a:rPr lang="en-US" dirty="0"/>
              <a:t>] will updated as given below:</a:t>
            </a:r>
          </a:p>
          <a:p>
            <a:pPr marL="0" indent="0" algn="just">
              <a:buNone/>
            </a:pPr>
            <a:r>
              <a:rPr lang="en-US" dirty="0"/>
              <a:t> 	Available[</a:t>
            </a:r>
            <a:r>
              <a:rPr lang="en-US" dirty="0" err="1"/>
              <a:t>i,j</a:t>
            </a:r>
            <a:r>
              <a:rPr lang="en-US" dirty="0"/>
              <a:t>]=Available[</a:t>
            </a:r>
            <a:r>
              <a:rPr lang="en-US" dirty="0" err="1"/>
              <a:t>i,j</a:t>
            </a:r>
            <a:r>
              <a:rPr lang="en-US" dirty="0"/>
              <a:t>]-Request[</a:t>
            </a:r>
            <a:r>
              <a:rPr lang="en-US" dirty="0" err="1"/>
              <a:t>i,j</a:t>
            </a:r>
            <a:r>
              <a:rPr lang="en-US" dirty="0"/>
              <a:t>]</a:t>
            </a:r>
          </a:p>
          <a:p>
            <a:pPr marL="0" indent="0" algn="just">
              <a:buNone/>
            </a:pPr>
            <a:r>
              <a:rPr lang="en-US" dirty="0"/>
              <a:t>	Allocation[</a:t>
            </a:r>
            <a:r>
              <a:rPr lang="en-US" dirty="0" err="1"/>
              <a:t>i,j</a:t>
            </a:r>
            <a:r>
              <a:rPr lang="en-US" dirty="0"/>
              <a:t>]=Allocation[</a:t>
            </a:r>
            <a:r>
              <a:rPr lang="en-US" dirty="0" err="1"/>
              <a:t>i,j</a:t>
            </a:r>
            <a:r>
              <a:rPr lang="en-US" dirty="0"/>
              <a:t>]+Request[</a:t>
            </a:r>
            <a:r>
              <a:rPr lang="en-US" dirty="0" err="1"/>
              <a:t>i,j</a:t>
            </a:r>
            <a:r>
              <a:rPr lang="en-US" dirty="0"/>
              <a:t>]</a:t>
            </a:r>
          </a:p>
          <a:p>
            <a:pPr marL="0" indent="0" algn="just">
              <a:buNone/>
            </a:pPr>
            <a:r>
              <a:rPr lang="en-US" dirty="0"/>
              <a:t>	Need[</a:t>
            </a:r>
            <a:r>
              <a:rPr lang="en-US" dirty="0" err="1"/>
              <a:t>i,j</a:t>
            </a:r>
            <a:r>
              <a:rPr lang="en-US" dirty="0"/>
              <a:t>]=Need[</a:t>
            </a:r>
            <a:r>
              <a:rPr lang="en-US" dirty="0" err="1"/>
              <a:t>i,j</a:t>
            </a:r>
            <a:r>
              <a:rPr lang="en-US" dirty="0"/>
              <a:t>]-Request[</a:t>
            </a:r>
            <a:r>
              <a:rPr lang="en-US" dirty="0" err="1"/>
              <a:t>i,j</a:t>
            </a:r>
            <a:r>
              <a:rPr lang="en-US" dirty="0"/>
              <a:t>]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20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36379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threads </a:t>
            </a:r>
            <a:r>
              <a:rPr lang="en-US" altLang="en-US" i="1" dirty="0"/>
              <a:t>T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1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36650"/>
            <a:ext cx="7854205" cy="464026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413" y="1103313"/>
            <a:ext cx="7869237" cy="5103812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999A-B95B-79E1-D973-EE96629E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6FDC-193D-D48E-DC78-35C3A6672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Available</a:t>
            </a:r>
            <a:r>
              <a:rPr lang="fr-FR" dirty="0"/>
              <a:t> = (2,3,0) − (0,2,0) = (2,1,0)</a:t>
            </a:r>
          </a:p>
          <a:p>
            <a:pPr marL="0" indent="0">
              <a:buNone/>
            </a:pPr>
            <a:r>
              <a:rPr lang="fr-FR" dirty="0"/>
              <a:t>T0 Allocation = (0,1,0) + (0,2,0) = (0,3,0)</a:t>
            </a:r>
          </a:p>
          <a:p>
            <a:pPr marL="0" indent="0">
              <a:buNone/>
            </a:pPr>
            <a:r>
              <a:rPr lang="fr-FR" dirty="0"/>
              <a:t>T0 Need = (7,4,3) − (0,2,0) = (7,2,3)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137A07-7DE8-7585-764E-C207331FC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2382491"/>
            <a:ext cx="53982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= (2,1,0)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check if any process can finish (Need ≤ Work)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ABE0D-FD12-3029-6C82-F10036853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767" y="3582820"/>
            <a:ext cx="475363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242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8DD8-0B53-BB99-9308-EA4A6F25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FB58-C085-30EF-09D7-D10CD6F41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after allocating:</a:t>
            </a:r>
          </a:p>
          <a:p>
            <a:pPr marL="0" indent="0">
              <a:buNone/>
            </a:pPr>
            <a:r>
              <a:rPr lang="en-US" dirty="0"/>
              <a:t>Available resources become too low: </a:t>
            </a:r>
            <a:r>
              <a:rPr lang="en-US" b="1" dirty="0"/>
              <a:t>(2,1,0)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No process has its Need ≤ Available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So </a:t>
            </a:r>
            <a:r>
              <a:rPr lang="en-US" b="1" dirty="0"/>
              <a:t>no process can complete and release resources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This causes a </a:t>
            </a:r>
            <a:r>
              <a:rPr lang="en-US" b="1" dirty="0"/>
              <a:t>deadlock risk</a:t>
            </a:r>
            <a:r>
              <a:rPr lang="en-US" dirty="0"/>
              <a:t>, hence:</a:t>
            </a:r>
          </a:p>
          <a:p>
            <a:endParaRPr lang="en-US" dirty="0"/>
          </a:p>
          <a:p>
            <a:r>
              <a:rPr lang="en-US" dirty="0"/>
              <a:t>Request by </a:t>
            </a:r>
            <a:r>
              <a:rPr lang="en-US" b="1" dirty="0"/>
              <a:t>T4 (3,3,0)</a:t>
            </a:r>
            <a:r>
              <a:rPr lang="en-US" dirty="0"/>
              <a:t> → </a:t>
            </a:r>
            <a:r>
              <a:rPr lang="en-US" b="1" dirty="0"/>
              <a:t>Cannot be granted (insufficient resources)</a:t>
            </a:r>
            <a:r>
              <a:rPr lang="en-US" dirty="0"/>
              <a:t> </a:t>
            </a:r>
          </a:p>
          <a:p>
            <a:r>
              <a:rPr lang="en-US" dirty="0"/>
              <a:t>Request by </a:t>
            </a:r>
            <a:r>
              <a:rPr lang="en-US" b="1" dirty="0"/>
              <a:t>T0 (0,2,0)</a:t>
            </a:r>
            <a:r>
              <a:rPr lang="en-US" dirty="0"/>
              <a:t> → </a:t>
            </a:r>
            <a:r>
              <a:rPr lang="en-US" b="1" dirty="0"/>
              <a:t>Cannot be granted (leads to unsafe state)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83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B1D2-A8F7-FF7E-1703-834B3FE9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65299-05F2-7BB7-FE97-CE17C161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33" y="1215198"/>
            <a:ext cx="8237934" cy="4024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1888EB-B9E8-FBAA-AADF-E0D1C5999BE9}"/>
              </a:ext>
            </a:extLst>
          </p:cNvPr>
          <p:cNvSpPr txBox="1"/>
          <p:nvPr/>
        </p:nvSpPr>
        <p:spPr>
          <a:xfrm>
            <a:off x="321276" y="5319636"/>
            <a:ext cx="8089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Calculate the need matrix? Q.2 Is the system in a safe state?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5079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9A9D-682C-A737-D668-778467BB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45B42-6BFC-E5B3-83C6-01DA13063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Q.1 Calculate the need matrix? Q.2 Is the system in a safe state?</a:t>
                </a:r>
                <a:endParaRPr lang="en-US" dirty="0"/>
              </a:p>
              <a:p>
                <a:r>
                  <a:rPr lang="en-US" dirty="0"/>
                  <a:t> We can easily calculate the entries of need matrix using the formula: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𝑁𝑒𝑒𝑑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𝑀𝑎𝑥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𝐴𝑙𝑙𝑜𝑐𝑎𝑡𝑖𝑜𝑛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45B42-6BFC-E5B3-83C6-01DA13063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D1FA29B-DD5E-C540-6FD0-D49D8B75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3" y="2323069"/>
            <a:ext cx="8237934" cy="32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41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C6D1-CD92-B95D-911B-083BDD73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502CE-8022-AE1B-0B9C-888EF4542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400" dirty="0"/>
                  <a:t>Let us check for safe sequence:</a:t>
                </a:r>
              </a:p>
              <a:p>
                <a:r>
                  <a:rPr lang="en-US" sz="1400" b="1" dirty="0"/>
                  <a:t>1. For process P0, Need = (4, 3, 2) and Available = (3, 2, 1)</a:t>
                </a:r>
                <a:r>
                  <a:rPr lang="en-US" sz="1400" dirty="0"/>
                  <a:t> Clearly, the resources needed are more in number than the available ones. So, now the system will move to process the next request.</a:t>
                </a:r>
              </a:p>
              <a:p>
                <a:r>
                  <a:rPr lang="en-US" sz="1400" b="1" dirty="0"/>
                  <a:t>2. For Process P1, Need = (2, 2, 1) and Available = (3, 2, 1)</a:t>
                </a:r>
                <a:r>
                  <a:rPr lang="en-US" sz="1400" dirty="0"/>
                  <a:t> Clearly, resources needed are less than equal to the available resources within the system. Hence, request of P1 is granted.</a:t>
                </a:r>
              </a:p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𝐴𝑙𝑙𝑜𝑐𝑎𝑡𝑖𝑜𝑛</m:t>
                    </m:r>
                  </m:oMath>
                </a14:m>
                <a:r>
                  <a:rPr lang="en-US" sz="1400" dirty="0"/>
                  <a:t> </a:t>
                </a:r>
                <a:r>
                  <a:rPr lang="en-US" sz="1400" b="1" dirty="0"/>
                  <a:t>= (3, 2, 1) + (2, 1, 2)</a:t>
                </a:r>
                <a:r>
                  <a:rPr lang="en-US" sz="1400" dirty="0"/>
                  <a:t> </a:t>
                </a:r>
                <a:r>
                  <a:rPr lang="en-US" sz="1400" b="1" dirty="0"/>
                  <a:t>= (5, 3, 3) (New Available)</a:t>
                </a:r>
                <a:endParaRPr lang="en-US" sz="1400" dirty="0"/>
              </a:p>
              <a:p>
                <a:r>
                  <a:rPr lang="en-US" sz="1400" b="1" dirty="0"/>
                  <a:t>3. For Process P2, Need = (6, 1, 2) and Available = (5, 3, 3)</a:t>
                </a:r>
                <a:r>
                  <a:rPr lang="en-US" sz="1400" dirty="0"/>
                  <a:t> Clearly, the resources needed are more in number than the available ones. So, now the system will move to process the next request.</a:t>
                </a:r>
              </a:p>
              <a:p>
                <a:r>
                  <a:rPr lang="en-US" sz="1400" b="1" dirty="0"/>
                  <a:t>4. For Process P3, Need = (8, 4, 4) and Available = (5, 3, 3)</a:t>
                </a:r>
                <a:r>
                  <a:rPr lang="en-US" sz="1400" dirty="0"/>
                  <a:t> Clearly, the resources needed are more in number than the available ones. So, now the system will move to process the next request.</a:t>
                </a:r>
              </a:p>
              <a:p>
                <a:r>
                  <a:rPr lang="en-US" sz="1400" b="1" dirty="0"/>
                  <a:t>5. For Process P4, Need = (1, 1, 1) and Available = (5, 3, 3)</a:t>
                </a:r>
                <a:r>
                  <a:rPr lang="en-US" sz="1400" dirty="0"/>
                  <a:t> Clearly, resources needed are less than equal to the available resources within the system. Hence, request of P4 is granted.</a:t>
                </a:r>
              </a:p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𝐴𝑙𝑙𝑜𝑐𝑎𝑡𝑖𝑜𝑛</m:t>
                    </m:r>
                  </m:oMath>
                </a14:m>
                <a:r>
                  <a:rPr lang="en-US" sz="1400" dirty="0"/>
                  <a:t> </a:t>
                </a:r>
                <a:r>
                  <a:rPr lang="en-US" sz="1400" b="1" dirty="0"/>
                  <a:t>= (5, 3, 3) + (1, 1, 2) = (6, 4, 5) (New Available)</a:t>
                </a:r>
                <a:endParaRPr lang="en-US" sz="1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502CE-8022-AE1B-0B9C-888EF4542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7" t="-403" r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2994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72E5-C727-46A2-93A4-4B60EE1C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5C6264-7C4E-FF63-8C89-EE01B044DD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6. Now again check for Process P2, Need = (6, 1, 2) and Available = (6, 4, 5)</a:t>
                </a:r>
                <a:r>
                  <a:rPr lang="en-US" dirty="0"/>
                  <a:t> Clearly, resources needed are less than equal to the available resources within the system. Hence, request of P2 is granted.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𝐴𝑙𝑙𝑜𝑐𝑎𝑡𝑖𝑜𝑛</m:t>
                    </m:r>
                  </m:oMath>
                </a14:m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𝑁𝑒𝑤𝐴𝑣𝑎𝑖𝑙𝑎𝑏𝑙𝑒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ar-AE" b="1" dirty="0"/>
                  <a:t>7</a:t>
                </a:r>
                <a:r>
                  <a:rPr lang="en-US" b="1" dirty="0"/>
                  <a:t>. Now again check for Process P3, Need = (8, 4, 4) and Available = (9, 4, 6)</a:t>
                </a:r>
                <a:r>
                  <a:rPr lang="en-US" dirty="0"/>
                  <a:t> Clearly, resources needed are less than equal to the available resources within the system. Hence, request of P3 is granted.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𝐴𝑣𝑎𝑖𝑙𝑎𝑏𝑙𝑒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𝐴𝑙𝑙𝑜𝑐𝑎𝑡𝑖𝑜𝑛</m:t>
                    </m:r>
                  </m:oMath>
                </a14:m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𝑁𝑒𝑤𝐴𝑣𝑎𝑖𝑙𝑎𝑏𝑙𝑒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8. Now again check for Process P0, Need = (4, 3, 2), and Available (9, 6, 6)</a:t>
                </a:r>
                <a:r>
                  <a:rPr lang="en-US" dirty="0"/>
                  <a:t> Clearly, the request for P0 is also granted.</a:t>
                </a:r>
              </a:p>
              <a:p>
                <a:r>
                  <a:rPr lang="en-US" b="1" dirty="0"/>
                  <a:t>Safe sequence</a:t>
                </a:r>
                <a:r>
                  <a:rPr lang="en-US" dirty="0"/>
                  <a:t>: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5C6264-7C4E-FF63-8C89-EE01B044D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672" r="-1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3821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99FD-C4A6-1AE8-759F-DF77FDE4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1B63C9-D76B-7090-0826-D6F8C4B41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50" y="1386944"/>
            <a:ext cx="7727950" cy="4223812"/>
          </a:xfrm>
        </p:spPr>
      </p:pic>
    </p:spTree>
    <p:extLst>
      <p:ext uri="{BB962C8B-B14F-4D97-AF65-F5344CB8AC3E}">
        <p14:creationId xmlns:p14="http://schemas.microsoft.com/office/powerpoint/2010/main" val="23313922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E881-33B7-6E74-BA9E-9024E142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3F14-1AE6-E439-1133-1DB583A9E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Safe sequence: &lt; P1, P4, P2, P3, P0&gt;</a:t>
            </a:r>
          </a:p>
          <a:p>
            <a:pPr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The total amount of resources will be calculated by the following formula:</a:t>
            </a:r>
          </a:p>
          <a:p>
            <a:pPr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The total amount of resources= sum of columns of allocation + Available</a:t>
            </a:r>
          </a:p>
          <a:p>
            <a:pPr algn="l"/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= [8 5 7] + [2 1 0] = [10 6 7]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138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4C3B-E1EA-BA5C-5B02-819E6CFE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5E7CA-CD68-DA7E-6C26-4E0932D21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3490" y="1166648"/>
            <a:ext cx="6484881" cy="4393324"/>
          </a:xfrm>
        </p:spPr>
      </p:pic>
    </p:spTree>
    <p:extLst>
      <p:ext uri="{BB962C8B-B14F-4D97-AF65-F5344CB8AC3E}">
        <p14:creationId xmlns:p14="http://schemas.microsoft.com/office/powerpoint/2010/main" val="2439095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235762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5" y="1233488"/>
            <a:ext cx="7527990" cy="4530725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686" y="-19986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/>
          <a:lstStyle/>
          <a:p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graph</a:t>
            </a:r>
          </a:p>
          <a:p>
            <a:pPr lvl="1"/>
            <a:r>
              <a:rPr lang="en-US" altLang="en-US" dirty="0"/>
              <a:t>Nodes are threads</a:t>
            </a:r>
          </a:p>
          <a:p>
            <a:pPr lvl="1"/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i="1" dirty="0">
              <a:sym typeface="Symbol" panose="05050102010706020507" pitchFamily="18" charset="2"/>
            </a:endParaRPr>
          </a:p>
          <a:p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3A48-A370-7398-2FB3-0B611446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AAB1-51EF-9F82-571B-0B20C327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Wait-For Graph</a:t>
            </a:r>
            <a:r>
              <a:rPr lang="en-US" dirty="0"/>
              <a:t> is a simplified graph used for </a:t>
            </a:r>
            <a:r>
              <a:rPr lang="en-US" b="1" dirty="0"/>
              <a:t>deadlock detection</a:t>
            </a:r>
            <a:r>
              <a:rPr lang="en-US" dirty="0"/>
              <a:t> in systems where each resource has </a:t>
            </a:r>
            <a:r>
              <a:rPr lang="en-US" b="1" dirty="0"/>
              <a:t>only one instance</a:t>
            </a:r>
            <a:r>
              <a:rPr lang="en-US" dirty="0"/>
              <a:t>.</a:t>
            </a:r>
          </a:p>
          <a:p>
            <a:r>
              <a:rPr lang="en-US" b="1" dirty="0"/>
              <a:t>Nodes</a:t>
            </a:r>
            <a:r>
              <a:rPr lang="en-US" dirty="0"/>
              <a:t> → Processes (T0, T1, …) </a:t>
            </a:r>
          </a:p>
          <a:p>
            <a:r>
              <a:rPr lang="en-US" b="1" dirty="0"/>
              <a:t>Edges (Pi → </a:t>
            </a:r>
            <a:r>
              <a:rPr lang="en-US" b="1" dirty="0" err="1"/>
              <a:t>Pj</a:t>
            </a:r>
            <a:r>
              <a:rPr lang="en-US" b="1" dirty="0"/>
              <a:t>)</a:t>
            </a:r>
            <a:r>
              <a:rPr lang="en-US" dirty="0"/>
              <a:t> → Process </a:t>
            </a:r>
            <a:r>
              <a:rPr lang="en-US" i="1" dirty="0"/>
              <a:t>Pi is waiting for a resource held by </a:t>
            </a:r>
            <a:r>
              <a:rPr lang="en-US" i="1" dirty="0" err="1"/>
              <a:t>Pj</a:t>
            </a:r>
            <a:endParaRPr lang="en-US" i="1" dirty="0"/>
          </a:p>
          <a:p>
            <a:r>
              <a:rPr lang="en-US" dirty="0"/>
              <a:t>Assume:</a:t>
            </a:r>
          </a:p>
          <a:p>
            <a:pPr marL="0" indent="0">
              <a:buNone/>
            </a:pPr>
            <a:r>
              <a:rPr lang="en-US" dirty="0"/>
              <a:t>T0 is waiting for a resource held by T1 </a:t>
            </a:r>
          </a:p>
          <a:p>
            <a:pPr marL="0" indent="0">
              <a:buNone/>
            </a:pPr>
            <a:r>
              <a:rPr lang="en-US" dirty="0"/>
              <a:t>T1 is waiting for a resource held by T2 </a:t>
            </a:r>
          </a:p>
          <a:p>
            <a:pPr marL="0" indent="0">
              <a:buNone/>
            </a:pPr>
            <a:r>
              <a:rPr lang="en-US" dirty="0"/>
              <a:t>T2 is waiting for a resource held by T0 </a:t>
            </a:r>
          </a:p>
          <a:p>
            <a:r>
              <a:rPr lang="en-US" b="1" dirty="0"/>
              <a:t>Wait-For Graph:</a:t>
            </a:r>
            <a:endParaRPr lang="en-US" dirty="0"/>
          </a:p>
          <a:p>
            <a:r>
              <a:rPr lang="en-US" dirty="0"/>
              <a:t>T0 → T1 → T2 → T0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196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164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1252538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6331" y="131947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580215" cy="385127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thread.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thread.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thread</a:t>
            </a:r>
            <a:r>
              <a:rPr lang="en-US" altLang="en-US" i="1" dirty="0"/>
              <a:t>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FFD3-06B9-AE1F-8501-0433E82F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Max and Need are NOT required in Deadlock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7E7A-37CC-52BB-F90B-5BF767133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deadlock detection, we are only asking:</a:t>
            </a:r>
          </a:p>
          <a:p>
            <a:pPr marL="0" indent="0">
              <a:buNone/>
            </a:pPr>
            <a:r>
              <a:rPr lang="en-US" i="1" dirty="0"/>
              <a:t>“Given the current situation, is there a deadlock right now?”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 do NOT care about future demands.</a:t>
            </a:r>
          </a:p>
          <a:p>
            <a:pPr marL="0" indent="0">
              <a:buNone/>
            </a:pPr>
            <a:r>
              <a:rPr lang="en-US" dirty="0"/>
              <a:t>So we only need:</a:t>
            </a:r>
          </a:p>
          <a:p>
            <a:pPr marL="0" indent="0">
              <a:buNone/>
            </a:pPr>
            <a:r>
              <a:rPr lang="en-US" dirty="0"/>
              <a:t>Allocation → what each process already has </a:t>
            </a:r>
          </a:p>
          <a:p>
            <a:pPr marL="0" indent="0">
              <a:buNone/>
            </a:pPr>
            <a:r>
              <a:rPr lang="en-US" dirty="0"/>
              <a:t>Request → what each process is currently waiting for </a:t>
            </a:r>
          </a:p>
          <a:p>
            <a:pPr marL="0" indent="0">
              <a:buNone/>
            </a:pPr>
            <a:r>
              <a:rPr lang="en-US" dirty="0"/>
              <a:t>Available → what is free now </a:t>
            </a:r>
          </a:p>
          <a:p>
            <a:pPr marL="0" indent="0">
              <a:buNone/>
            </a:pPr>
            <a:r>
              <a:rPr lang="en-US" dirty="0"/>
              <a:t>That’s enough to check:</a:t>
            </a:r>
          </a:p>
          <a:p>
            <a:pPr marL="0" indent="0">
              <a:buNone/>
            </a:pPr>
            <a:r>
              <a:rPr lang="en-US" dirty="0"/>
              <a:t>Can any process finish with the resources currently available?</a:t>
            </a:r>
          </a:p>
          <a:p>
            <a:pPr marL="0" indent="0">
              <a:buNone/>
            </a:pPr>
            <a:r>
              <a:rPr lang="en-US" dirty="0"/>
              <a:t>If no process can proceed → deadlock exists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551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415" y="236379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dirty="0"/>
              <a:t> 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 0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</a:t>
            </a:r>
            <a:r>
              <a:rPr lang="en-US" altLang="en-US" b="1" i="1" dirty="0">
                <a:sym typeface="Symbol" panose="05050102010706020507" pitchFamily="18" charset="2"/>
              </a:rPr>
              <a:t>= false</a:t>
            </a:r>
            <a:r>
              <a:rPr lang="en-US" altLang="en-US" dirty="0">
                <a:sym typeface="Symbol" panose="05050102010706020507" pitchFamily="18" charset="2"/>
              </a:rPr>
              <a:t>; otherwise,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[i] = </a:t>
            </a:r>
            <a:r>
              <a:rPr lang="en-US" altLang="en-US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dirty="0"/>
              <a:t>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i="1" dirty="0"/>
              <a:t>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dirty="0">
              <a:sym typeface="Symbol" panose="05050102010706020507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dirty="0"/>
              <a:t>go to step 2</a:t>
            </a:r>
            <a:br>
              <a:rPr lang="en-US" altLang="en-US" dirty="0"/>
            </a:br>
            <a:r>
              <a:rPr lang="en-US" altLang="en-US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dirty="0"/>
              <a:t>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 err="1">
                <a:sym typeface="Symbol" panose="05050102010706020507" pitchFamily="18" charset="2"/>
              </a:rPr>
              <a:t>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threads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T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T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T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T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C4EC-9937-98AC-7DC2-8BFE5226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510" y="148282"/>
            <a:ext cx="7727950" cy="46644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this, Work = [0, 0, 0] &amp;</a:t>
            </a:r>
          </a:p>
          <a:p>
            <a:pPr marL="0" indent="0">
              <a:buNone/>
            </a:pPr>
            <a:r>
              <a:rPr lang="en-US" dirty="0"/>
              <a:t>Finish = [false, false, false, false, false]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=0 is selected as both Finish[0] = false and [0, 0, 0]&lt;=[0, 0, 0].</a:t>
            </a:r>
          </a:p>
          <a:p>
            <a:pPr marL="0" indent="0">
              <a:buNone/>
            </a:pPr>
            <a:r>
              <a:rPr lang="en-US" dirty="0"/>
              <a:t>Work =[0, 0, 0]+[0, 1, 0] =&gt;[0, 1, 0] &amp;</a:t>
            </a:r>
          </a:p>
          <a:p>
            <a:pPr marL="0" indent="0">
              <a:buNone/>
            </a:pPr>
            <a:r>
              <a:rPr lang="en-US" dirty="0"/>
              <a:t>Finish = [true, false, false, false, false].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=2 is selected as both Finish[2] = false and [0, 0, 0]&lt;=[0, 1, 0].</a:t>
            </a:r>
          </a:p>
          <a:p>
            <a:pPr marL="0" indent="0">
              <a:buNone/>
            </a:pPr>
            <a:r>
              <a:rPr lang="en-US" dirty="0"/>
              <a:t>Work =[0, 1, 0]+[3, 0, 3] =&gt;[3, 1, 3] &amp;</a:t>
            </a:r>
          </a:p>
          <a:p>
            <a:pPr marL="0" indent="0">
              <a:buNone/>
            </a:pPr>
            <a:r>
              <a:rPr lang="en-US" dirty="0"/>
              <a:t>Finish = [true, false, true, false, false].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=1 is selected as both Finish[1] = false and [2, 0, 2]&lt;=[3, 1, 3].</a:t>
            </a:r>
          </a:p>
          <a:p>
            <a:pPr marL="0" indent="0">
              <a:buNone/>
            </a:pPr>
            <a:r>
              <a:rPr lang="en-US" dirty="0"/>
              <a:t>Work =[3, 1, 3]+[2, 0, 0] =&gt;[5, 1, 3] &amp;</a:t>
            </a:r>
          </a:p>
          <a:p>
            <a:pPr marL="0" indent="0">
              <a:buNone/>
            </a:pPr>
            <a:r>
              <a:rPr lang="en-US" dirty="0"/>
              <a:t>Finish = [true, true, true, false, false].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=3 is selected as both Finish[3] = false and [1, 0, 0]&lt;=[5, 1, 3].</a:t>
            </a:r>
          </a:p>
          <a:p>
            <a:pPr marL="0" indent="0">
              <a:buNone/>
            </a:pPr>
            <a:r>
              <a:rPr lang="en-US" dirty="0"/>
              <a:t>Work =[5, 1, 3]+[2, 1, 1] =&gt;[7, 2, 4] &amp;</a:t>
            </a:r>
          </a:p>
          <a:p>
            <a:pPr marL="0" indent="0">
              <a:buNone/>
            </a:pPr>
            <a:r>
              <a:rPr lang="en-US" dirty="0"/>
              <a:t>Finish = [true, true, true, true, false].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=4 is selected as both Finish[4] = false and [0, 0, 2]&lt;=[7, 2, 4].</a:t>
            </a:r>
          </a:p>
          <a:p>
            <a:pPr marL="0" indent="0">
              <a:buNone/>
            </a:pPr>
            <a:r>
              <a:rPr lang="en-US" dirty="0"/>
              <a:t>Work =[7, 2, 4]+[0, 0, 2] =&gt;[7, 2, 6] &amp;</a:t>
            </a:r>
          </a:p>
          <a:p>
            <a:pPr marL="0" indent="0">
              <a:buNone/>
            </a:pPr>
            <a:r>
              <a:rPr lang="en-US" dirty="0"/>
              <a:t>Finish = [true, true, true, true, true]. </a:t>
            </a:r>
          </a:p>
        </p:txBody>
      </p:sp>
    </p:spTree>
    <p:extLst>
      <p:ext uri="{BB962C8B-B14F-4D97-AF65-F5344CB8AC3E}">
        <p14:creationId xmlns:p14="http://schemas.microsoft.com/office/powerpoint/2010/main" val="1874527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34F6-AADB-8DAE-45D9-9CE9296A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B4744B1B-C5AA-5469-534D-B3DC12F82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A907169F-AE81-C76E-535C-C86C15402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 marL="0" indent="0">
              <a:buNone/>
              <a:tabLst>
                <a:tab pos="2800350" algn="l"/>
                <a:tab pos="3708400" algn="ctr"/>
              </a:tabLst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5012785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thread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122363"/>
            <a:ext cx="7742205" cy="4530725"/>
          </a:xfrm>
        </p:spPr>
        <p:txBody>
          <a:bodyPr/>
          <a:lstStyle/>
          <a:p>
            <a:r>
              <a:rPr lang="en-US" altLang="en-US" dirty="0"/>
              <a:t>When, and how often, to invoke depends on:</a:t>
            </a:r>
          </a:p>
          <a:p>
            <a:pPr lvl="1"/>
            <a:r>
              <a:rPr lang="en-US" altLang="en-US" dirty="0"/>
              <a:t>How often a deadlock is likely to occur?</a:t>
            </a:r>
          </a:p>
          <a:p>
            <a:pPr lvl="1"/>
            <a:r>
              <a:rPr lang="en-US" altLang="en-US" dirty="0"/>
              <a:t>How many processes will need to be rolled back?</a:t>
            </a:r>
          </a:p>
          <a:p>
            <a:pPr lvl="2"/>
            <a:r>
              <a:rPr lang="en-US" altLang="en-US" dirty="0"/>
              <a:t>one for each disjoint cycle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detection algorithm is invoked arbitrarily, there may be many cycles in the resource graph and so we would not be able to tell which of the many deadlocked threads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  <a:endParaRPr lang="en-US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731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/>
          <a:lstStyle/>
          <a:p>
            <a:r>
              <a:rPr lang="en-US" altLang="en-US" dirty="0"/>
              <a:t>Abort all deadlocked threads</a:t>
            </a:r>
          </a:p>
          <a:p>
            <a:r>
              <a:rPr lang="en-US" altLang="en-US" dirty="0"/>
              <a:t>Abort one process at a time until the deadlock cycle is eliminated</a:t>
            </a:r>
          </a:p>
          <a:p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Priority of the thread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has the thread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that the thread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threads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Is the thread interactive or batch?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6802437" cy="4483100"/>
          </a:xfrm>
        </p:spPr>
        <p:txBody>
          <a:bodyPr/>
          <a:lstStyle/>
          <a:p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</a:p>
          <a:p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the thread for that state</a:t>
            </a:r>
          </a:p>
          <a:p>
            <a:r>
              <a:rPr lang="en-US" altLang="en-US" b="1" dirty="0"/>
              <a:t>Starvation</a:t>
            </a:r>
            <a:r>
              <a:rPr lang="en-US" altLang="en-US" dirty="0"/>
              <a:t> –  same thread may always be picked as victim, include number of rollback in cost factor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14797</TotalTime>
  <Words>6095</Words>
  <Application>Microsoft Office PowerPoint</Application>
  <PresentationFormat>On-screen Show (4:3)</PresentationFormat>
  <Paragraphs>591</Paragraphs>
  <Slides>80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Arial</vt:lpstr>
      <vt:lpstr>Cambria Math</vt:lpstr>
      <vt:lpstr>Courier New</vt:lpstr>
      <vt:lpstr>Helvetica</vt:lpstr>
      <vt:lpstr>Monotype Sorts</vt:lpstr>
      <vt:lpstr>Roboto</vt:lpstr>
      <vt:lpstr>Symbol</vt:lpstr>
      <vt:lpstr>system-ui</vt:lpstr>
      <vt:lpstr>Times New Roman</vt:lpstr>
      <vt:lpstr>Verdana</vt:lpstr>
      <vt:lpstr>Webdings</vt:lpstr>
      <vt:lpstr>Wingdings</vt:lpstr>
      <vt:lpstr>os-8</vt:lpstr>
      <vt:lpstr>Chapter 8:  Deadlocks</vt:lpstr>
      <vt:lpstr>Outline</vt:lpstr>
      <vt:lpstr>Chapter Objectives</vt:lpstr>
      <vt:lpstr>System Model</vt:lpstr>
      <vt:lpstr>Deadlock with Semaphores</vt:lpstr>
      <vt:lpstr>Resource Allocation Graphs</vt:lpstr>
      <vt:lpstr>PowerPoint Presentation</vt:lpstr>
      <vt:lpstr>Resource-Allocation Graph</vt:lpstr>
      <vt:lpstr>Deadlock Characterization</vt:lpstr>
      <vt:lpstr>Deadlock Characterization</vt:lpstr>
      <vt:lpstr>Deadlock Characterization</vt:lpstr>
      <vt:lpstr>Deadlock Characterization</vt:lpstr>
      <vt:lpstr>PowerPoint Presentation</vt:lpstr>
      <vt:lpstr>PowerPoint Presentation</vt:lpstr>
      <vt:lpstr>Resource Allocation Graph Example</vt:lpstr>
      <vt:lpstr>PowerPoint Presentation</vt:lpstr>
      <vt:lpstr>Resource Allocation Graph with a Deadlock</vt:lpstr>
      <vt:lpstr>Resource Allocation Graph with a Deadlock</vt:lpstr>
      <vt:lpstr>Graph with a Cycle But no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Banker’s Algorithm</vt:lpstr>
      <vt:lpstr>PowerPoint Presentation</vt:lpstr>
      <vt:lpstr>PowerPoint Presentation</vt:lpstr>
      <vt:lpstr>PowerPoint Presentation</vt:lpstr>
      <vt:lpstr>PowerPoint Presentation</vt:lpstr>
      <vt:lpstr>Data Structures for the Banker’s Algorithm </vt:lpstr>
      <vt:lpstr>Safety Algorithm</vt:lpstr>
      <vt:lpstr>PowerPoint Presentation</vt:lpstr>
      <vt:lpstr>PowerPoint Presentation</vt:lpstr>
      <vt:lpstr>Resource-Request Algorithm for Process Pi</vt:lpstr>
      <vt:lpstr>PowerPoint Presentation</vt:lpstr>
      <vt:lpstr>Example of Banker’s Algorithm</vt:lpstr>
      <vt:lpstr>Example (Cont.)</vt:lpstr>
      <vt:lpstr>Example:  P1 Request (1,0,2)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Deadlock Detection</vt:lpstr>
      <vt:lpstr>Single Instance of Each Resource Type</vt:lpstr>
      <vt:lpstr>PowerPoint Presentation</vt:lpstr>
      <vt:lpstr>Resource-Allocation Graph and  Wait-for Graph</vt:lpstr>
      <vt:lpstr>Several Instances of a Resource Type</vt:lpstr>
      <vt:lpstr>Why Max and Need are NOT required in Deadlock Detection</vt:lpstr>
      <vt:lpstr>Detection Algorithm</vt:lpstr>
      <vt:lpstr>Detection Algorithm (Cont.)</vt:lpstr>
      <vt:lpstr>Example of Detection Algorithm</vt:lpstr>
      <vt:lpstr>PowerPoint Presentation</vt:lpstr>
      <vt:lpstr>Example (Cont.)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Aiswariya Milan</cp:lastModifiedBy>
  <cp:revision>270</cp:revision>
  <cp:lastPrinted>2013-09-10T17:57:57Z</cp:lastPrinted>
  <dcterms:created xsi:type="dcterms:W3CDTF">2011-01-13T23:43:38Z</dcterms:created>
  <dcterms:modified xsi:type="dcterms:W3CDTF">2026-04-24T04:09:25Z</dcterms:modified>
</cp:coreProperties>
</file>