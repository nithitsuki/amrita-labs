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7" d="100"/>
          <a:sy n="67" d="100"/>
        </p:scale>
        <p:origin x="644"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10D76-760F-4524-B2A1-E0B0CD3F57D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FEC35E8-1512-4915-8CDC-2864F3631FB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8B007B4-7AA8-4B95-B2E6-58C6D76B435C}"/>
              </a:ext>
            </a:extLst>
          </p:cNvPr>
          <p:cNvSpPr>
            <a:spLocks noGrp="1"/>
          </p:cNvSpPr>
          <p:nvPr>
            <p:ph type="dt" sz="half" idx="10"/>
          </p:nvPr>
        </p:nvSpPr>
        <p:spPr/>
        <p:txBody>
          <a:bodyPr/>
          <a:lstStyle/>
          <a:p>
            <a:fld id="{BBC0BE48-3E48-47FF-AD66-BF44330DFB8C}" type="datetimeFigureOut">
              <a:rPr lang="en-US" smtClean="0"/>
              <a:t>10/11/2021</a:t>
            </a:fld>
            <a:endParaRPr lang="en-US"/>
          </a:p>
        </p:txBody>
      </p:sp>
      <p:sp>
        <p:nvSpPr>
          <p:cNvPr id="5" name="Footer Placeholder 4">
            <a:extLst>
              <a:ext uri="{FF2B5EF4-FFF2-40B4-BE49-F238E27FC236}">
                <a16:creationId xmlns:a16="http://schemas.microsoft.com/office/drawing/2014/main" id="{681CC4B4-A4CA-405C-BC06-418CA110FA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755F768-4338-4FFF-AF26-F6FA28F40FE7}"/>
              </a:ext>
            </a:extLst>
          </p:cNvPr>
          <p:cNvSpPr>
            <a:spLocks noGrp="1"/>
          </p:cNvSpPr>
          <p:nvPr>
            <p:ph type="sldNum" sz="quarter" idx="12"/>
          </p:nvPr>
        </p:nvSpPr>
        <p:spPr/>
        <p:txBody>
          <a:bodyPr/>
          <a:lstStyle/>
          <a:p>
            <a:fld id="{714A10D9-535C-4199-99F5-797D24D7206C}" type="slidenum">
              <a:rPr lang="en-US" smtClean="0"/>
              <a:t>‹#›</a:t>
            </a:fld>
            <a:endParaRPr lang="en-US"/>
          </a:p>
        </p:txBody>
      </p:sp>
    </p:spTree>
    <p:extLst>
      <p:ext uri="{BB962C8B-B14F-4D97-AF65-F5344CB8AC3E}">
        <p14:creationId xmlns:p14="http://schemas.microsoft.com/office/powerpoint/2010/main" val="37656438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10283E-D3F8-4A61-B583-CBF357CE849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DA5E4CE-C4B6-4191-A15F-E9F1A789F62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3A780EA-5714-4B47-AADA-060F463BB0B1}"/>
              </a:ext>
            </a:extLst>
          </p:cNvPr>
          <p:cNvSpPr>
            <a:spLocks noGrp="1"/>
          </p:cNvSpPr>
          <p:nvPr>
            <p:ph type="dt" sz="half" idx="10"/>
          </p:nvPr>
        </p:nvSpPr>
        <p:spPr/>
        <p:txBody>
          <a:bodyPr/>
          <a:lstStyle/>
          <a:p>
            <a:fld id="{BBC0BE48-3E48-47FF-AD66-BF44330DFB8C}" type="datetimeFigureOut">
              <a:rPr lang="en-US" smtClean="0"/>
              <a:t>10/11/2021</a:t>
            </a:fld>
            <a:endParaRPr lang="en-US"/>
          </a:p>
        </p:txBody>
      </p:sp>
      <p:sp>
        <p:nvSpPr>
          <p:cNvPr id="5" name="Footer Placeholder 4">
            <a:extLst>
              <a:ext uri="{FF2B5EF4-FFF2-40B4-BE49-F238E27FC236}">
                <a16:creationId xmlns:a16="http://schemas.microsoft.com/office/drawing/2014/main" id="{CDC06086-AB39-4AA6-BA2B-ACC5A6A71C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8217087-6012-454A-A92B-230766C229DB}"/>
              </a:ext>
            </a:extLst>
          </p:cNvPr>
          <p:cNvSpPr>
            <a:spLocks noGrp="1"/>
          </p:cNvSpPr>
          <p:nvPr>
            <p:ph type="sldNum" sz="quarter" idx="12"/>
          </p:nvPr>
        </p:nvSpPr>
        <p:spPr/>
        <p:txBody>
          <a:bodyPr/>
          <a:lstStyle/>
          <a:p>
            <a:fld id="{714A10D9-535C-4199-99F5-797D24D7206C}" type="slidenum">
              <a:rPr lang="en-US" smtClean="0"/>
              <a:t>‹#›</a:t>
            </a:fld>
            <a:endParaRPr lang="en-US"/>
          </a:p>
        </p:txBody>
      </p:sp>
    </p:spTree>
    <p:extLst>
      <p:ext uri="{BB962C8B-B14F-4D97-AF65-F5344CB8AC3E}">
        <p14:creationId xmlns:p14="http://schemas.microsoft.com/office/powerpoint/2010/main" val="16980691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E513BC-693C-439B-A268-8F9B50BADF3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B42FC0F-D712-444B-A1B5-93B72786D2D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C8B5281-BF78-4E5A-BD28-CDB40467A3A5}"/>
              </a:ext>
            </a:extLst>
          </p:cNvPr>
          <p:cNvSpPr>
            <a:spLocks noGrp="1"/>
          </p:cNvSpPr>
          <p:nvPr>
            <p:ph type="dt" sz="half" idx="10"/>
          </p:nvPr>
        </p:nvSpPr>
        <p:spPr/>
        <p:txBody>
          <a:bodyPr/>
          <a:lstStyle/>
          <a:p>
            <a:fld id="{BBC0BE48-3E48-47FF-AD66-BF44330DFB8C}" type="datetimeFigureOut">
              <a:rPr lang="en-US" smtClean="0"/>
              <a:t>10/11/2021</a:t>
            </a:fld>
            <a:endParaRPr lang="en-US"/>
          </a:p>
        </p:txBody>
      </p:sp>
      <p:sp>
        <p:nvSpPr>
          <p:cNvPr id="5" name="Footer Placeholder 4">
            <a:extLst>
              <a:ext uri="{FF2B5EF4-FFF2-40B4-BE49-F238E27FC236}">
                <a16:creationId xmlns:a16="http://schemas.microsoft.com/office/drawing/2014/main" id="{75A69037-1560-45A8-8C81-F27B74902D8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7792ABF-1F3B-4518-A9DC-B85A0905B8DC}"/>
              </a:ext>
            </a:extLst>
          </p:cNvPr>
          <p:cNvSpPr>
            <a:spLocks noGrp="1"/>
          </p:cNvSpPr>
          <p:nvPr>
            <p:ph type="sldNum" sz="quarter" idx="12"/>
          </p:nvPr>
        </p:nvSpPr>
        <p:spPr/>
        <p:txBody>
          <a:bodyPr/>
          <a:lstStyle/>
          <a:p>
            <a:fld id="{714A10D9-535C-4199-99F5-797D24D7206C}" type="slidenum">
              <a:rPr lang="en-US" smtClean="0"/>
              <a:t>‹#›</a:t>
            </a:fld>
            <a:endParaRPr lang="en-US"/>
          </a:p>
        </p:txBody>
      </p:sp>
    </p:spTree>
    <p:extLst>
      <p:ext uri="{BB962C8B-B14F-4D97-AF65-F5344CB8AC3E}">
        <p14:creationId xmlns:p14="http://schemas.microsoft.com/office/powerpoint/2010/main" val="33889083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40D8B-3312-4276-B6F9-2220D6A15D5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36333DC-345F-4050-ABF1-C29D888FEF8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D42AF90-1FE2-4216-9E2E-1689DEC0D44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5B58315-F17D-4FCC-BF11-2712E480D434}"/>
              </a:ext>
            </a:extLst>
          </p:cNvPr>
          <p:cNvSpPr>
            <a:spLocks noGrp="1"/>
          </p:cNvSpPr>
          <p:nvPr>
            <p:ph type="dt" sz="half" idx="10"/>
          </p:nvPr>
        </p:nvSpPr>
        <p:spPr/>
        <p:txBody>
          <a:bodyPr/>
          <a:lstStyle/>
          <a:p>
            <a:fld id="{BBC0BE48-3E48-47FF-AD66-BF44330DFB8C}" type="datetimeFigureOut">
              <a:rPr lang="en-US" smtClean="0"/>
              <a:t>10/11/2021</a:t>
            </a:fld>
            <a:endParaRPr lang="en-US"/>
          </a:p>
        </p:txBody>
      </p:sp>
      <p:sp>
        <p:nvSpPr>
          <p:cNvPr id="6" name="Footer Placeholder 5">
            <a:extLst>
              <a:ext uri="{FF2B5EF4-FFF2-40B4-BE49-F238E27FC236}">
                <a16:creationId xmlns:a16="http://schemas.microsoft.com/office/drawing/2014/main" id="{F76D91D8-DDF0-4515-81EE-3089E0D5A73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6F45011-D4BF-4167-9190-F5071F1F0296}"/>
              </a:ext>
            </a:extLst>
          </p:cNvPr>
          <p:cNvSpPr>
            <a:spLocks noGrp="1"/>
          </p:cNvSpPr>
          <p:nvPr>
            <p:ph type="sldNum" sz="quarter" idx="12"/>
          </p:nvPr>
        </p:nvSpPr>
        <p:spPr/>
        <p:txBody>
          <a:bodyPr/>
          <a:lstStyle/>
          <a:p>
            <a:fld id="{714A10D9-535C-4199-99F5-797D24D7206C}" type="slidenum">
              <a:rPr lang="en-US" smtClean="0"/>
              <a:t>‹#›</a:t>
            </a:fld>
            <a:endParaRPr lang="en-US"/>
          </a:p>
        </p:txBody>
      </p:sp>
    </p:spTree>
    <p:extLst>
      <p:ext uri="{BB962C8B-B14F-4D97-AF65-F5344CB8AC3E}">
        <p14:creationId xmlns:p14="http://schemas.microsoft.com/office/powerpoint/2010/main" val="735142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49DE70-33D7-4FCE-8C34-62D391B963D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6962074-528A-48CD-B28D-C9A6DA5BD8C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3C13B9E-1320-4C3A-8EE8-E18F0E92C91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896DD35-D558-455D-B2E0-7334D3EF4FC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BA3C76E-B3EA-42B6-8AB3-4ECAE1B3993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0536A9B-259D-4988-A213-899F11EAD22E}"/>
              </a:ext>
            </a:extLst>
          </p:cNvPr>
          <p:cNvSpPr>
            <a:spLocks noGrp="1"/>
          </p:cNvSpPr>
          <p:nvPr>
            <p:ph type="dt" sz="half" idx="10"/>
          </p:nvPr>
        </p:nvSpPr>
        <p:spPr/>
        <p:txBody>
          <a:bodyPr/>
          <a:lstStyle/>
          <a:p>
            <a:fld id="{BBC0BE48-3E48-47FF-AD66-BF44330DFB8C}" type="datetimeFigureOut">
              <a:rPr lang="en-US" smtClean="0"/>
              <a:t>10/11/2021</a:t>
            </a:fld>
            <a:endParaRPr lang="en-US"/>
          </a:p>
        </p:txBody>
      </p:sp>
      <p:sp>
        <p:nvSpPr>
          <p:cNvPr id="8" name="Footer Placeholder 7">
            <a:extLst>
              <a:ext uri="{FF2B5EF4-FFF2-40B4-BE49-F238E27FC236}">
                <a16:creationId xmlns:a16="http://schemas.microsoft.com/office/drawing/2014/main" id="{147CB99F-A701-4318-83A8-F9F73814386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D26F5DF-CD40-4706-AC65-C359D7F16D6F}"/>
              </a:ext>
            </a:extLst>
          </p:cNvPr>
          <p:cNvSpPr>
            <a:spLocks noGrp="1"/>
          </p:cNvSpPr>
          <p:nvPr>
            <p:ph type="sldNum" sz="quarter" idx="12"/>
          </p:nvPr>
        </p:nvSpPr>
        <p:spPr/>
        <p:txBody>
          <a:bodyPr/>
          <a:lstStyle/>
          <a:p>
            <a:fld id="{714A10D9-535C-4199-99F5-797D24D7206C}" type="slidenum">
              <a:rPr lang="en-US" smtClean="0"/>
              <a:t>‹#›</a:t>
            </a:fld>
            <a:endParaRPr lang="en-US"/>
          </a:p>
        </p:txBody>
      </p:sp>
    </p:spTree>
    <p:extLst>
      <p:ext uri="{BB962C8B-B14F-4D97-AF65-F5344CB8AC3E}">
        <p14:creationId xmlns:p14="http://schemas.microsoft.com/office/powerpoint/2010/main" val="38620831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6F964B-064E-4F23-BC8B-943FB30E0EC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DEF1186-A75F-4341-96EA-6E3163C26FB9}"/>
              </a:ext>
            </a:extLst>
          </p:cNvPr>
          <p:cNvSpPr>
            <a:spLocks noGrp="1"/>
          </p:cNvSpPr>
          <p:nvPr>
            <p:ph type="dt" sz="half" idx="10"/>
          </p:nvPr>
        </p:nvSpPr>
        <p:spPr/>
        <p:txBody>
          <a:bodyPr/>
          <a:lstStyle/>
          <a:p>
            <a:fld id="{BBC0BE48-3E48-47FF-AD66-BF44330DFB8C}" type="datetimeFigureOut">
              <a:rPr lang="en-US" smtClean="0"/>
              <a:t>10/11/2021</a:t>
            </a:fld>
            <a:endParaRPr lang="en-US"/>
          </a:p>
        </p:txBody>
      </p:sp>
      <p:sp>
        <p:nvSpPr>
          <p:cNvPr id="4" name="Footer Placeholder 3">
            <a:extLst>
              <a:ext uri="{FF2B5EF4-FFF2-40B4-BE49-F238E27FC236}">
                <a16:creationId xmlns:a16="http://schemas.microsoft.com/office/drawing/2014/main" id="{CB122704-31F9-4F8A-8796-E162E96163F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C8589D5-E9BE-4591-8C3A-1201692A1C40}"/>
              </a:ext>
            </a:extLst>
          </p:cNvPr>
          <p:cNvSpPr>
            <a:spLocks noGrp="1"/>
          </p:cNvSpPr>
          <p:nvPr>
            <p:ph type="sldNum" sz="quarter" idx="12"/>
          </p:nvPr>
        </p:nvSpPr>
        <p:spPr/>
        <p:txBody>
          <a:bodyPr/>
          <a:lstStyle/>
          <a:p>
            <a:fld id="{714A10D9-535C-4199-99F5-797D24D7206C}" type="slidenum">
              <a:rPr lang="en-US" smtClean="0"/>
              <a:t>‹#›</a:t>
            </a:fld>
            <a:endParaRPr lang="en-US"/>
          </a:p>
        </p:txBody>
      </p:sp>
    </p:spTree>
    <p:extLst>
      <p:ext uri="{BB962C8B-B14F-4D97-AF65-F5344CB8AC3E}">
        <p14:creationId xmlns:p14="http://schemas.microsoft.com/office/powerpoint/2010/main" val="9925824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FDD4F10-D42B-4523-AEF3-3CBD865792A5}"/>
              </a:ext>
            </a:extLst>
          </p:cNvPr>
          <p:cNvSpPr>
            <a:spLocks noGrp="1"/>
          </p:cNvSpPr>
          <p:nvPr>
            <p:ph type="dt" sz="half" idx="10"/>
          </p:nvPr>
        </p:nvSpPr>
        <p:spPr/>
        <p:txBody>
          <a:bodyPr/>
          <a:lstStyle/>
          <a:p>
            <a:fld id="{BBC0BE48-3E48-47FF-AD66-BF44330DFB8C}" type="datetimeFigureOut">
              <a:rPr lang="en-US" smtClean="0"/>
              <a:t>10/11/2021</a:t>
            </a:fld>
            <a:endParaRPr lang="en-US"/>
          </a:p>
        </p:txBody>
      </p:sp>
      <p:sp>
        <p:nvSpPr>
          <p:cNvPr id="3" name="Footer Placeholder 2">
            <a:extLst>
              <a:ext uri="{FF2B5EF4-FFF2-40B4-BE49-F238E27FC236}">
                <a16:creationId xmlns:a16="http://schemas.microsoft.com/office/drawing/2014/main" id="{DE9A3767-5075-411D-8689-3F5913FC356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B202B58-FC5D-4811-A28F-6893E60E02D2}"/>
              </a:ext>
            </a:extLst>
          </p:cNvPr>
          <p:cNvSpPr>
            <a:spLocks noGrp="1"/>
          </p:cNvSpPr>
          <p:nvPr>
            <p:ph type="sldNum" sz="quarter" idx="12"/>
          </p:nvPr>
        </p:nvSpPr>
        <p:spPr/>
        <p:txBody>
          <a:bodyPr/>
          <a:lstStyle/>
          <a:p>
            <a:fld id="{714A10D9-535C-4199-99F5-797D24D7206C}" type="slidenum">
              <a:rPr lang="en-US" smtClean="0"/>
              <a:t>‹#›</a:t>
            </a:fld>
            <a:endParaRPr lang="en-US"/>
          </a:p>
        </p:txBody>
      </p:sp>
    </p:spTree>
    <p:extLst>
      <p:ext uri="{BB962C8B-B14F-4D97-AF65-F5344CB8AC3E}">
        <p14:creationId xmlns:p14="http://schemas.microsoft.com/office/powerpoint/2010/main" val="11922137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A245BD-1D74-426D-A8F0-C8F81AE7B77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5FFCA69-5356-4B16-9FD7-50D8AA89718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A08AA17-626F-4E75-854D-2AC5B17EC4F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F4EE7F0-54E6-417C-B6DE-CE862DEF6686}"/>
              </a:ext>
            </a:extLst>
          </p:cNvPr>
          <p:cNvSpPr>
            <a:spLocks noGrp="1"/>
          </p:cNvSpPr>
          <p:nvPr>
            <p:ph type="dt" sz="half" idx="10"/>
          </p:nvPr>
        </p:nvSpPr>
        <p:spPr/>
        <p:txBody>
          <a:bodyPr/>
          <a:lstStyle/>
          <a:p>
            <a:fld id="{BBC0BE48-3E48-47FF-AD66-BF44330DFB8C}" type="datetimeFigureOut">
              <a:rPr lang="en-US" smtClean="0"/>
              <a:t>10/11/2021</a:t>
            </a:fld>
            <a:endParaRPr lang="en-US"/>
          </a:p>
        </p:txBody>
      </p:sp>
      <p:sp>
        <p:nvSpPr>
          <p:cNvPr id="6" name="Footer Placeholder 5">
            <a:extLst>
              <a:ext uri="{FF2B5EF4-FFF2-40B4-BE49-F238E27FC236}">
                <a16:creationId xmlns:a16="http://schemas.microsoft.com/office/drawing/2014/main" id="{CFF7355D-EBBD-4076-9A1C-7EE3B4B37C7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95DC14E-82EB-4DFE-AE22-31E6A711C4BE}"/>
              </a:ext>
            </a:extLst>
          </p:cNvPr>
          <p:cNvSpPr>
            <a:spLocks noGrp="1"/>
          </p:cNvSpPr>
          <p:nvPr>
            <p:ph type="sldNum" sz="quarter" idx="12"/>
          </p:nvPr>
        </p:nvSpPr>
        <p:spPr/>
        <p:txBody>
          <a:bodyPr/>
          <a:lstStyle/>
          <a:p>
            <a:fld id="{714A10D9-535C-4199-99F5-797D24D7206C}" type="slidenum">
              <a:rPr lang="en-US" smtClean="0"/>
              <a:t>‹#›</a:t>
            </a:fld>
            <a:endParaRPr lang="en-US"/>
          </a:p>
        </p:txBody>
      </p:sp>
    </p:spTree>
    <p:extLst>
      <p:ext uri="{BB962C8B-B14F-4D97-AF65-F5344CB8AC3E}">
        <p14:creationId xmlns:p14="http://schemas.microsoft.com/office/powerpoint/2010/main" val="16565196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4AAEF5-928D-4FA6-8B58-6D9579599ED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531D666-C058-48C3-AD35-993D9D54732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9EA8486-E94D-4723-A47E-9616178F8F0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694DE8A-C22F-44D5-A007-387ABC8F4CF6}"/>
              </a:ext>
            </a:extLst>
          </p:cNvPr>
          <p:cNvSpPr>
            <a:spLocks noGrp="1"/>
          </p:cNvSpPr>
          <p:nvPr>
            <p:ph type="dt" sz="half" idx="10"/>
          </p:nvPr>
        </p:nvSpPr>
        <p:spPr/>
        <p:txBody>
          <a:bodyPr/>
          <a:lstStyle/>
          <a:p>
            <a:fld id="{BBC0BE48-3E48-47FF-AD66-BF44330DFB8C}" type="datetimeFigureOut">
              <a:rPr lang="en-US" smtClean="0"/>
              <a:t>10/11/2021</a:t>
            </a:fld>
            <a:endParaRPr lang="en-US"/>
          </a:p>
        </p:txBody>
      </p:sp>
      <p:sp>
        <p:nvSpPr>
          <p:cNvPr id="6" name="Footer Placeholder 5">
            <a:extLst>
              <a:ext uri="{FF2B5EF4-FFF2-40B4-BE49-F238E27FC236}">
                <a16:creationId xmlns:a16="http://schemas.microsoft.com/office/drawing/2014/main" id="{B0FDA877-1139-40A6-B268-644E4EBC8F3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E8A89ED-5516-42AB-9E7F-27B1419FA05E}"/>
              </a:ext>
            </a:extLst>
          </p:cNvPr>
          <p:cNvSpPr>
            <a:spLocks noGrp="1"/>
          </p:cNvSpPr>
          <p:nvPr>
            <p:ph type="sldNum" sz="quarter" idx="12"/>
          </p:nvPr>
        </p:nvSpPr>
        <p:spPr/>
        <p:txBody>
          <a:bodyPr/>
          <a:lstStyle/>
          <a:p>
            <a:fld id="{714A10D9-535C-4199-99F5-797D24D7206C}" type="slidenum">
              <a:rPr lang="en-US" smtClean="0"/>
              <a:t>‹#›</a:t>
            </a:fld>
            <a:endParaRPr lang="en-US"/>
          </a:p>
        </p:txBody>
      </p:sp>
    </p:spTree>
    <p:extLst>
      <p:ext uri="{BB962C8B-B14F-4D97-AF65-F5344CB8AC3E}">
        <p14:creationId xmlns:p14="http://schemas.microsoft.com/office/powerpoint/2010/main" val="32353086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07F38E-E31E-406C-BD7C-912E3219873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49B5931-C3C9-4782-8525-FB2D126B658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60C86C7-A724-46DD-8FB6-A4E99F1F4428}"/>
              </a:ext>
            </a:extLst>
          </p:cNvPr>
          <p:cNvSpPr>
            <a:spLocks noGrp="1"/>
          </p:cNvSpPr>
          <p:nvPr>
            <p:ph type="dt" sz="half" idx="10"/>
          </p:nvPr>
        </p:nvSpPr>
        <p:spPr/>
        <p:txBody>
          <a:bodyPr/>
          <a:lstStyle/>
          <a:p>
            <a:fld id="{BBC0BE48-3E48-47FF-AD66-BF44330DFB8C}" type="datetimeFigureOut">
              <a:rPr lang="en-US" smtClean="0"/>
              <a:t>10/11/2021</a:t>
            </a:fld>
            <a:endParaRPr lang="en-US"/>
          </a:p>
        </p:txBody>
      </p:sp>
      <p:sp>
        <p:nvSpPr>
          <p:cNvPr id="5" name="Footer Placeholder 4">
            <a:extLst>
              <a:ext uri="{FF2B5EF4-FFF2-40B4-BE49-F238E27FC236}">
                <a16:creationId xmlns:a16="http://schemas.microsoft.com/office/drawing/2014/main" id="{45C15035-8DEE-44E6-8658-BE906ED516C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2527EB7-BA4B-45B3-A0E4-E2077BA9D24B}"/>
              </a:ext>
            </a:extLst>
          </p:cNvPr>
          <p:cNvSpPr>
            <a:spLocks noGrp="1"/>
          </p:cNvSpPr>
          <p:nvPr>
            <p:ph type="sldNum" sz="quarter" idx="12"/>
          </p:nvPr>
        </p:nvSpPr>
        <p:spPr/>
        <p:txBody>
          <a:bodyPr/>
          <a:lstStyle/>
          <a:p>
            <a:fld id="{714A10D9-535C-4199-99F5-797D24D7206C}" type="slidenum">
              <a:rPr lang="en-US" smtClean="0"/>
              <a:t>‹#›</a:t>
            </a:fld>
            <a:endParaRPr lang="en-US"/>
          </a:p>
        </p:txBody>
      </p:sp>
    </p:spTree>
    <p:extLst>
      <p:ext uri="{BB962C8B-B14F-4D97-AF65-F5344CB8AC3E}">
        <p14:creationId xmlns:p14="http://schemas.microsoft.com/office/powerpoint/2010/main" val="38931769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2920371-6C5D-4586-8A9F-3ED23FBEB65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6E813B6-96D5-49CE-BEC7-68F19FB354B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72B02B3-8493-4C8E-8B90-384E31B0E2F3}"/>
              </a:ext>
            </a:extLst>
          </p:cNvPr>
          <p:cNvSpPr>
            <a:spLocks noGrp="1"/>
          </p:cNvSpPr>
          <p:nvPr>
            <p:ph type="dt" sz="half" idx="10"/>
          </p:nvPr>
        </p:nvSpPr>
        <p:spPr/>
        <p:txBody>
          <a:bodyPr/>
          <a:lstStyle/>
          <a:p>
            <a:fld id="{BBC0BE48-3E48-47FF-AD66-BF44330DFB8C}" type="datetimeFigureOut">
              <a:rPr lang="en-US" smtClean="0"/>
              <a:t>10/11/2021</a:t>
            </a:fld>
            <a:endParaRPr lang="en-US"/>
          </a:p>
        </p:txBody>
      </p:sp>
      <p:sp>
        <p:nvSpPr>
          <p:cNvPr id="5" name="Footer Placeholder 4">
            <a:extLst>
              <a:ext uri="{FF2B5EF4-FFF2-40B4-BE49-F238E27FC236}">
                <a16:creationId xmlns:a16="http://schemas.microsoft.com/office/drawing/2014/main" id="{2D200EC1-F99D-494A-82D7-A77F0A056C5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C003C25-11C3-4F74-955A-DB8149D85E87}"/>
              </a:ext>
            </a:extLst>
          </p:cNvPr>
          <p:cNvSpPr>
            <a:spLocks noGrp="1"/>
          </p:cNvSpPr>
          <p:nvPr>
            <p:ph type="sldNum" sz="quarter" idx="12"/>
          </p:nvPr>
        </p:nvSpPr>
        <p:spPr/>
        <p:txBody>
          <a:bodyPr/>
          <a:lstStyle/>
          <a:p>
            <a:fld id="{714A10D9-535C-4199-99F5-797D24D7206C}" type="slidenum">
              <a:rPr lang="en-US" smtClean="0"/>
              <a:t>‹#›</a:t>
            </a:fld>
            <a:endParaRPr lang="en-US"/>
          </a:p>
        </p:txBody>
      </p:sp>
    </p:spTree>
    <p:extLst>
      <p:ext uri="{BB962C8B-B14F-4D97-AF65-F5344CB8AC3E}">
        <p14:creationId xmlns:p14="http://schemas.microsoft.com/office/powerpoint/2010/main" val="32364042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D72912D-09B9-4063-9AC7-880E715A63E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3DF0AB2-9974-40AF-9904-F273AB974B7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A172F57-8BB8-4FC3-BC94-85CF4F95FB8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BC0BE48-3E48-47FF-AD66-BF44330DFB8C}" type="datetimeFigureOut">
              <a:rPr lang="en-US" smtClean="0"/>
              <a:t>10/11/2021</a:t>
            </a:fld>
            <a:endParaRPr lang="en-US"/>
          </a:p>
        </p:txBody>
      </p:sp>
      <p:sp>
        <p:nvSpPr>
          <p:cNvPr id="5" name="Footer Placeholder 4">
            <a:extLst>
              <a:ext uri="{FF2B5EF4-FFF2-40B4-BE49-F238E27FC236}">
                <a16:creationId xmlns:a16="http://schemas.microsoft.com/office/drawing/2014/main" id="{D4552AD7-BD8C-431E-AEA5-0A8C4F049BC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810F4CA-1C2B-4875-A1C1-8383D7BC272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14A10D9-535C-4199-99F5-797D24D7206C}" type="slidenum">
              <a:rPr lang="en-US" smtClean="0"/>
              <a:t>‹#›</a:t>
            </a:fld>
            <a:endParaRPr lang="en-US"/>
          </a:p>
        </p:txBody>
      </p:sp>
    </p:spTree>
    <p:extLst>
      <p:ext uri="{BB962C8B-B14F-4D97-AF65-F5344CB8AC3E}">
        <p14:creationId xmlns:p14="http://schemas.microsoft.com/office/powerpoint/2010/main" val="31314669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00E2C5-5015-4573-8015-455BD3BC696B}"/>
              </a:ext>
            </a:extLst>
          </p:cNvPr>
          <p:cNvSpPr>
            <a:spLocks noGrp="1"/>
          </p:cNvSpPr>
          <p:nvPr>
            <p:ph type="ctrTitle"/>
          </p:nvPr>
        </p:nvSpPr>
        <p:spPr/>
        <p:txBody>
          <a:bodyPr/>
          <a:lstStyle/>
          <a:p>
            <a:r>
              <a:rPr lang="en-US" b="1" dirty="0"/>
              <a:t>Algorithm Design Strategies</a:t>
            </a:r>
          </a:p>
        </p:txBody>
      </p:sp>
      <p:sp>
        <p:nvSpPr>
          <p:cNvPr id="3" name="Subtitle 2">
            <a:extLst>
              <a:ext uri="{FF2B5EF4-FFF2-40B4-BE49-F238E27FC236}">
                <a16:creationId xmlns:a16="http://schemas.microsoft.com/office/drawing/2014/main" id="{67B131B0-1C10-4019-8B49-1E28C72AD426}"/>
              </a:ext>
            </a:extLst>
          </p:cNvPr>
          <p:cNvSpPr>
            <a:spLocks noGrp="1"/>
          </p:cNvSpPr>
          <p:nvPr>
            <p:ph type="subTitle" idx="1"/>
          </p:nvPr>
        </p:nvSpPr>
        <p:spPr/>
        <p:txBody>
          <a:bodyPr>
            <a:normAutofit/>
          </a:bodyPr>
          <a:lstStyle/>
          <a:p>
            <a:r>
              <a:rPr lang="en-US" sz="4400" dirty="0"/>
              <a:t>Applications and Examples</a:t>
            </a:r>
          </a:p>
        </p:txBody>
      </p:sp>
    </p:spTree>
    <p:extLst>
      <p:ext uri="{BB962C8B-B14F-4D97-AF65-F5344CB8AC3E}">
        <p14:creationId xmlns:p14="http://schemas.microsoft.com/office/powerpoint/2010/main" val="25061501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9AC98F-A41D-4B4E-A69A-DCAA5899DD0B}"/>
              </a:ext>
            </a:extLst>
          </p:cNvPr>
          <p:cNvSpPr>
            <a:spLocks noGrp="1"/>
          </p:cNvSpPr>
          <p:nvPr>
            <p:ph type="title"/>
          </p:nvPr>
        </p:nvSpPr>
        <p:spPr/>
        <p:txBody>
          <a:bodyPr/>
          <a:lstStyle/>
          <a:p>
            <a:r>
              <a:rPr lang="en-US" dirty="0"/>
              <a:t>Example 1</a:t>
            </a:r>
          </a:p>
        </p:txBody>
      </p:sp>
      <p:sp>
        <p:nvSpPr>
          <p:cNvPr id="3" name="Content Placeholder 2">
            <a:extLst>
              <a:ext uri="{FF2B5EF4-FFF2-40B4-BE49-F238E27FC236}">
                <a16:creationId xmlns:a16="http://schemas.microsoft.com/office/drawing/2014/main" id="{7B5E17A4-1AB7-439E-9CC0-DD82B68F12F6}"/>
              </a:ext>
            </a:extLst>
          </p:cNvPr>
          <p:cNvSpPr>
            <a:spLocks noGrp="1"/>
          </p:cNvSpPr>
          <p:nvPr>
            <p:ph idx="1"/>
          </p:nvPr>
        </p:nvSpPr>
        <p:spPr/>
        <p:txBody>
          <a:bodyPr>
            <a:normAutofit/>
          </a:bodyPr>
          <a:lstStyle/>
          <a:p>
            <a:pPr marL="0" marR="0" lvl="0" indent="0" algn="just">
              <a:lnSpc>
                <a:spcPct val="150000"/>
              </a:lnSpc>
              <a:spcBef>
                <a:spcPts val="0"/>
              </a:spcBef>
              <a:spcAft>
                <a:spcPts val="0"/>
              </a:spcAft>
              <a:buSzPts val="1200"/>
              <a:buNone/>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An  array A[1..n] is </a:t>
            </a:r>
            <a:r>
              <a:rPr lang="en-IN" sz="2000" b="1" i="1" dirty="0">
                <a:effectLst/>
                <a:latin typeface="Times New Roman" panose="02020603050405020304" pitchFamily="18" charset="0"/>
                <a:ea typeface="Calibri" panose="020F0502020204030204" pitchFamily="34" charset="0"/>
                <a:cs typeface="Times New Roman" panose="02020603050405020304" pitchFamily="18" charset="0"/>
              </a:rPr>
              <a:t>Unimodal</a:t>
            </a: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 if it consists of an increasing sequence followed by a decreasing sequence, or more precisely, if there is an index m є {1,2,..,n} such that </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0"/>
              </a:spcAft>
              <a:buFont typeface="Symbol" panose="05050102010706020507" pitchFamily="18" charset="2"/>
              <a:buChar char=""/>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A[</a:t>
            </a:r>
            <a:r>
              <a:rPr lang="en-IN" sz="2000" dirty="0" err="1">
                <a:effectLst/>
                <a:latin typeface="Times New Roman" panose="02020603050405020304" pitchFamily="18" charset="0"/>
                <a:ea typeface="Calibri" panose="020F0502020204030204" pitchFamily="34" charset="0"/>
                <a:cs typeface="Times New Roman" panose="02020603050405020304" pitchFamily="18" charset="0"/>
              </a:rPr>
              <a:t>i</a:t>
            </a: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 &lt; A[i+1] for all 1 &lt;= </a:t>
            </a:r>
            <a:r>
              <a:rPr lang="en-IN" sz="2000" dirty="0" err="1">
                <a:effectLst/>
                <a:latin typeface="Times New Roman" panose="02020603050405020304" pitchFamily="18" charset="0"/>
                <a:ea typeface="Calibri" panose="020F0502020204030204" pitchFamily="34" charset="0"/>
                <a:cs typeface="Times New Roman" panose="02020603050405020304" pitchFamily="18" charset="0"/>
              </a:rPr>
              <a:t>i</a:t>
            </a: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 &lt; m and</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0"/>
              </a:spcAft>
              <a:buFont typeface="Symbol" panose="05050102010706020507" pitchFamily="18" charset="2"/>
              <a:buChar char=""/>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A[</a:t>
            </a:r>
            <a:r>
              <a:rPr lang="en-IN" sz="2000" dirty="0" err="1">
                <a:effectLst/>
                <a:latin typeface="Times New Roman" panose="02020603050405020304" pitchFamily="18" charset="0"/>
                <a:ea typeface="Calibri" panose="020F0502020204030204" pitchFamily="34" charset="0"/>
                <a:cs typeface="Times New Roman" panose="02020603050405020304" pitchFamily="18" charset="0"/>
              </a:rPr>
              <a:t>i</a:t>
            </a: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 &gt; A[i+1] for all m &lt;= </a:t>
            </a:r>
            <a:r>
              <a:rPr lang="en-IN" sz="2000" dirty="0" err="1">
                <a:effectLst/>
                <a:latin typeface="Times New Roman" panose="02020603050405020304" pitchFamily="18" charset="0"/>
                <a:ea typeface="Calibri" panose="020F0502020204030204" pitchFamily="34" charset="0"/>
                <a:cs typeface="Times New Roman" panose="02020603050405020304" pitchFamily="18" charset="0"/>
              </a:rPr>
              <a:t>i</a:t>
            </a: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 &lt; n</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lgn="just">
              <a:lnSpc>
                <a:spcPct val="150000"/>
              </a:lnSpc>
              <a:buNone/>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In particular, A[m] is the maximum element, and it is unique “locally maximum” element surrounded by smaller elements. Give an algorithm to compute the </a:t>
            </a:r>
            <a:r>
              <a:rPr lang="en-IN" sz="2000" dirty="0" err="1">
                <a:effectLst/>
                <a:latin typeface="Times New Roman" panose="02020603050405020304" pitchFamily="18" charset="0"/>
                <a:ea typeface="Calibri" panose="020F0502020204030204" pitchFamily="34" charset="0"/>
                <a:cs typeface="Times New Roman" panose="02020603050405020304" pitchFamily="18" charset="0"/>
              </a:rPr>
              <a:t>maximun</a:t>
            </a: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 element of a </a:t>
            </a:r>
            <a:r>
              <a:rPr lang="en-IN" sz="2000" b="1" i="1" dirty="0">
                <a:effectLst/>
                <a:latin typeface="Times New Roman" panose="02020603050405020304" pitchFamily="18" charset="0"/>
                <a:ea typeface="Calibri" panose="020F0502020204030204" pitchFamily="34" charset="0"/>
                <a:cs typeface="Times New Roman" panose="02020603050405020304" pitchFamily="18" charset="0"/>
              </a:rPr>
              <a:t>Unimodal</a:t>
            </a: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 input array A[1..n], </a:t>
            </a:r>
            <a:r>
              <a:rPr lang="en-IN" sz="2000" dirty="0" err="1">
                <a:effectLst/>
                <a:latin typeface="Times New Roman" panose="02020603050405020304" pitchFamily="18" charset="0"/>
                <a:ea typeface="Calibri" panose="020F0502020204030204" pitchFamily="34" charset="0"/>
                <a:cs typeface="Times New Roman" panose="02020603050405020304" pitchFamily="18" charset="0"/>
              </a:rPr>
              <a:t>analyze</a:t>
            </a: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 the algorithm. Prove the correctness of your algorithm and prove the bound on its running time.</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9B28B72F-493D-4931-B237-C8C7D9186496}"/>
              </a:ext>
            </a:extLst>
          </p:cNvPr>
          <p:cNvSpPr txBox="1"/>
          <p:nvPr/>
        </p:nvSpPr>
        <p:spPr>
          <a:xfrm>
            <a:off x="2933700" y="5718889"/>
            <a:ext cx="6096000" cy="742511"/>
          </a:xfrm>
          <a:prstGeom prst="rect">
            <a:avLst/>
          </a:prstGeom>
          <a:noFill/>
        </p:spPr>
        <p:txBody>
          <a:bodyPr wrap="square">
            <a:spAutoFit/>
          </a:bodyPr>
          <a:lstStyle/>
          <a:p>
            <a:pPr marL="0" indent="0" algn="just">
              <a:lnSpc>
                <a:spcPct val="150000"/>
              </a:lnSpc>
              <a:buNone/>
            </a:pPr>
            <a:r>
              <a:rPr lang="en-US" sz="3200" dirty="0">
                <a:latin typeface="Times New Roman" panose="02020603050405020304" pitchFamily="18" charset="0"/>
                <a:cs typeface="Times New Roman" panose="02020603050405020304" pitchFamily="18" charset="0"/>
              </a:rPr>
              <a:t>Divide and Conquer</a:t>
            </a:r>
          </a:p>
        </p:txBody>
      </p:sp>
    </p:spTree>
    <p:extLst>
      <p:ext uri="{BB962C8B-B14F-4D97-AF65-F5344CB8AC3E}">
        <p14:creationId xmlns:p14="http://schemas.microsoft.com/office/powerpoint/2010/main" val="28671789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976F0-CAA3-4CCD-A966-8C43009173E4}"/>
              </a:ext>
            </a:extLst>
          </p:cNvPr>
          <p:cNvSpPr>
            <a:spLocks noGrp="1"/>
          </p:cNvSpPr>
          <p:nvPr>
            <p:ph type="title"/>
          </p:nvPr>
        </p:nvSpPr>
        <p:spPr/>
        <p:txBody>
          <a:bodyPr/>
          <a:lstStyle/>
          <a:p>
            <a:r>
              <a:rPr lang="en-US" dirty="0"/>
              <a:t>Example 2</a:t>
            </a:r>
          </a:p>
        </p:txBody>
      </p:sp>
      <p:sp>
        <p:nvSpPr>
          <p:cNvPr id="3" name="Content Placeholder 2">
            <a:extLst>
              <a:ext uri="{FF2B5EF4-FFF2-40B4-BE49-F238E27FC236}">
                <a16:creationId xmlns:a16="http://schemas.microsoft.com/office/drawing/2014/main" id="{AC80590A-1A07-4F63-9D16-CF2DDFD90B75}"/>
              </a:ext>
            </a:extLst>
          </p:cNvPr>
          <p:cNvSpPr>
            <a:spLocks noGrp="1"/>
          </p:cNvSpPr>
          <p:nvPr>
            <p:ph idx="1"/>
          </p:nvPr>
        </p:nvSpPr>
        <p:spPr/>
        <p:txBody>
          <a:bodyPr>
            <a:normAutofit/>
          </a:bodyPr>
          <a:lstStyle/>
          <a:p>
            <a:pPr algn="just">
              <a:lnSpc>
                <a:spcPct val="150000"/>
              </a:lnSpc>
            </a:pPr>
            <a:r>
              <a:rPr lang="en-US" sz="2000" b="0" i="0" u="none" strike="noStrike" baseline="0" dirty="0">
                <a:solidFill>
                  <a:srgbClr val="231F20"/>
                </a:solidFill>
                <a:latin typeface="Times New Roman" panose="02020603050405020304" pitchFamily="18" charset="0"/>
                <a:ea typeface="Tahoma" panose="020B0604030504040204" pitchFamily="34" charset="0"/>
                <a:cs typeface="Times New Roman" panose="02020603050405020304" pitchFamily="18" charset="0"/>
              </a:rPr>
              <a:t>Given a set, </a:t>
            </a:r>
            <a:r>
              <a:rPr lang="en-US" sz="2000" b="0" i="1" u="none" strike="noStrike" baseline="0" dirty="0">
                <a:solidFill>
                  <a:srgbClr val="231F20"/>
                </a:solidFill>
                <a:latin typeface="Times New Roman" panose="02020603050405020304" pitchFamily="18" charset="0"/>
                <a:ea typeface="Tahoma" panose="020B0604030504040204" pitchFamily="34" charset="0"/>
                <a:cs typeface="Times New Roman" panose="02020603050405020304" pitchFamily="18" charset="0"/>
              </a:rPr>
              <a:t>P</a:t>
            </a:r>
            <a:r>
              <a:rPr lang="en-US" sz="2000" b="0" i="0" u="none" strike="noStrike" baseline="0" dirty="0">
                <a:solidFill>
                  <a:srgbClr val="231F20"/>
                </a:solidFill>
                <a:latin typeface="Times New Roman" panose="02020603050405020304" pitchFamily="18" charset="0"/>
                <a:ea typeface="Tahoma" panose="020B0604030504040204" pitchFamily="34" charset="0"/>
                <a:cs typeface="Times New Roman" panose="02020603050405020304" pitchFamily="18" charset="0"/>
              </a:rPr>
              <a:t>, of </a:t>
            </a:r>
            <a:r>
              <a:rPr lang="en-US" sz="2000" b="0" i="1" u="none" strike="noStrike" baseline="0" dirty="0">
                <a:solidFill>
                  <a:srgbClr val="231F20"/>
                </a:solidFill>
                <a:latin typeface="Times New Roman" panose="02020603050405020304" pitchFamily="18" charset="0"/>
                <a:ea typeface="Tahoma" panose="020B0604030504040204" pitchFamily="34" charset="0"/>
                <a:cs typeface="Times New Roman" panose="02020603050405020304" pitchFamily="18" charset="0"/>
              </a:rPr>
              <a:t>n </a:t>
            </a:r>
            <a:r>
              <a:rPr lang="en-US" sz="2000" b="0" i="0" u="none" strike="noStrike" baseline="0" dirty="0">
                <a:solidFill>
                  <a:srgbClr val="231F20"/>
                </a:solidFill>
                <a:latin typeface="Times New Roman" panose="02020603050405020304" pitchFamily="18" charset="0"/>
                <a:ea typeface="Tahoma" panose="020B0604030504040204" pitchFamily="34" charset="0"/>
                <a:cs typeface="Times New Roman" panose="02020603050405020304" pitchFamily="18" charset="0"/>
              </a:rPr>
              <a:t>teams in some sport, a </a:t>
            </a:r>
            <a:r>
              <a:rPr lang="en-US" sz="2000" b="0" i="1" u="none" strike="noStrike" baseline="0" dirty="0">
                <a:solidFill>
                  <a:srgbClr val="231F20"/>
                </a:solidFill>
                <a:latin typeface="Times New Roman" panose="02020603050405020304" pitchFamily="18" charset="0"/>
                <a:ea typeface="Tahoma" panose="020B0604030504040204" pitchFamily="34" charset="0"/>
                <a:cs typeface="Times New Roman" panose="02020603050405020304" pitchFamily="18" charset="0"/>
              </a:rPr>
              <a:t>round-robin tournament </a:t>
            </a:r>
            <a:r>
              <a:rPr lang="en-US" sz="2000" b="0" i="0" u="none" strike="noStrike" baseline="0" dirty="0">
                <a:solidFill>
                  <a:srgbClr val="231F20"/>
                </a:solidFill>
                <a:latin typeface="Times New Roman" panose="02020603050405020304" pitchFamily="18" charset="0"/>
                <a:ea typeface="Tahoma" panose="020B0604030504040204" pitchFamily="34" charset="0"/>
                <a:cs typeface="Times New Roman" panose="02020603050405020304" pitchFamily="18" charset="0"/>
              </a:rPr>
              <a:t>is a collection of games in which each team plays each other team exactly once. Such round-robin tournaments are often used as the first round for establishing the order of teams (and their seedings) for later single- or double-elimination tournaments. Design an efficient algorithm for constructing a round-robin tournament for a set, </a:t>
            </a:r>
            <a:r>
              <a:rPr lang="en-US" sz="2000" b="0" i="1" u="none" strike="noStrike" baseline="0" dirty="0">
                <a:solidFill>
                  <a:srgbClr val="231F20"/>
                </a:solidFill>
                <a:latin typeface="Times New Roman" panose="02020603050405020304" pitchFamily="18" charset="0"/>
                <a:ea typeface="Tahoma" panose="020B0604030504040204" pitchFamily="34" charset="0"/>
                <a:cs typeface="Times New Roman" panose="02020603050405020304" pitchFamily="18" charset="0"/>
              </a:rPr>
              <a:t>P</a:t>
            </a:r>
            <a:r>
              <a:rPr lang="en-US" sz="2000" b="0" i="0" u="none" strike="noStrike" baseline="0" dirty="0">
                <a:solidFill>
                  <a:srgbClr val="231F20"/>
                </a:solidFill>
                <a:latin typeface="Times New Roman" panose="02020603050405020304" pitchFamily="18" charset="0"/>
                <a:ea typeface="Tahoma" panose="020B0604030504040204" pitchFamily="34" charset="0"/>
                <a:cs typeface="Times New Roman" panose="02020603050405020304" pitchFamily="18" charset="0"/>
              </a:rPr>
              <a:t>, of </a:t>
            </a:r>
            <a:r>
              <a:rPr lang="en-US" sz="2000" b="0" i="1" u="none" strike="noStrike" baseline="0" dirty="0">
                <a:solidFill>
                  <a:srgbClr val="231F20"/>
                </a:solidFill>
                <a:latin typeface="Times New Roman" panose="02020603050405020304" pitchFamily="18" charset="0"/>
                <a:ea typeface="Tahoma" panose="020B0604030504040204" pitchFamily="34" charset="0"/>
                <a:cs typeface="Times New Roman" panose="02020603050405020304" pitchFamily="18" charset="0"/>
              </a:rPr>
              <a:t>n </a:t>
            </a:r>
            <a:r>
              <a:rPr lang="en-US" sz="2000" b="0" i="0" u="none" strike="noStrike" baseline="0" dirty="0">
                <a:solidFill>
                  <a:srgbClr val="231F20"/>
                </a:solidFill>
                <a:latin typeface="Times New Roman" panose="02020603050405020304" pitchFamily="18" charset="0"/>
                <a:ea typeface="Tahoma" panose="020B0604030504040204" pitchFamily="34" charset="0"/>
                <a:cs typeface="Times New Roman" panose="02020603050405020304" pitchFamily="18" charset="0"/>
              </a:rPr>
              <a:t>teams assuming </a:t>
            </a:r>
            <a:r>
              <a:rPr lang="en-US" sz="2000" b="0" i="1" u="none" strike="noStrike" baseline="0" dirty="0">
                <a:solidFill>
                  <a:srgbClr val="231F20"/>
                </a:solidFill>
                <a:latin typeface="Times New Roman" panose="02020603050405020304" pitchFamily="18" charset="0"/>
                <a:ea typeface="Tahoma" panose="020B0604030504040204" pitchFamily="34" charset="0"/>
                <a:cs typeface="Times New Roman" panose="02020603050405020304" pitchFamily="18" charset="0"/>
              </a:rPr>
              <a:t>n </a:t>
            </a:r>
            <a:r>
              <a:rPr lang="en-US" sz="2000" b="0" i="0" u="none" strike="noStrike" baseline="0" dirty="0">
                <a:solidFill>
                  <a:srgbClr val="231F20"/>
                </a:solidFill>
                <a:latin typeface="Times New Roman" panose="02020603050405020304" pitchFamily="18" charset="0"/>
                <a:ea typeface="Tahoma" panose="020B0604030504040204" pitchFamily="34" charset="0"/>
                <a:cs typeface="Times New Roman" panose="02020603050405020304" pitchFamily="18" charset="0"/>
              </a:rPr>
              <a:t>is a power of 2.</a:t>
            </a:r>
            <a:endParaRPr lang="en-US" sz="2000"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AF489487-2BE4-4BE1-9079-C5644043C5EE}"/>
              </a:ext>
            </a:extLst>
          </p:cNvPr>
          <p:cNvSpPr txBox="1"/>
          <p:nvPr/>
        </p:nvSpPr>
        <p:spPr>
          <a:xfrm>
            <a:off x="2933700" y="5718889"/>
            <a:ext cx="6096000" cy="742511"/>
          </a:xfrm>
          <a:prstGeom prst="rect">
            <a:avLst/>
          </a:prstGeom>
          <a:noFill/>
        </p:spPr>
        <p:txBody>
          <a:bodyPr wrap="square">
            <a:spAutoFit/>
          </a:bodyPr>
          <a:lstStyle/>
          <a:p>
            <a:pPr marL="0" indent="0" algn="just">
              <a:lnSpc>
                <a:spcPct val="150000"/>
              </a:lnSpc>
              <a:buNone/>
            </a:pPr>
            <a:r>
              <a:rPr lang="en-US" sz="3200" dirty="0">
                <a:latin typeface="Times New Roman" panose="02020603050405020304" pitchFamily="18" charset="0"/>
                <a:cs typeface="Times New Roman" panose="02020603050405020304" pitchFamily="18" charset="0"/>
              </a:rPr>
              <a:t>Divide and Conquer</a:t>
            </a:r>
          </a:p>
        </p:txBody>
      </p:sp>
    </p:spTree>
    <p:extLst>
      <p:ext uri="{BB962C8B-B14F-4D97-AF65-F5344CB8AC3E}">
        <p14:creationId xmlns:p14="http://schemas.microsoft.com/office/powerpoint/2010/main" val="32840398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2C1F2E-C099-4E4C-BBC7-1BB21FF4BD02}"/>
              </a:ext>
            </a:extLst>
          </p:cNvPr>
          <p:cNvSpPr>
            <a:spLocks noGrp="1"/>
          </p:cNvSpPr>
          <p:nvPr>
            <p:ph type="title"/>
          </p:nvPr>
        </p:nvSpPr>
        <p:spPr/>
        <p:txBody>
          <a:bodyPr/>
          <a:lstStyle/>
          <a:p>
            <a:r>
              <a:rPr lang="en-US" dirty="0"/>
              <a:t>Example 3</a:t>
            </a:r>
          </a:p>
        </p:txBody>
      </p:sp>
      <p:sp>
        <p:nvSpPr>
          <p:cNvPr id="3" name="Content Placeholder 2">
            <a:extLst>
              <a:ext uri="{FF2B5EF4-FFF2-40B4-BE49-F238E27FC236}">
                <a16:creationId xmlns:a16="http://schemas.microsoft.com/office/drawing/2014/main" id="{47D1FFD2-6DEB-4AAB-BE7A-B8CAD6C7196C}"/>
              </a:ext>
            </a:extLst>
          </p:cNvPr>
          <p:cNvSpPr>
            <a:spLocks noGrp="1"/>
          </p:cNvSpPr>
          <p:nvPr>
            <p:ph idx="1"/>
          </p:nvPr>
        </p:nvSpPr>
        <p:spPr/>
        <p:txBody>
          <a:bodyPr>
            <a:normAutofit/>
          </a:bodyPr>
          <a:lstStyle/>
          <a:p>
            <a:pPr algn="just">
              <a:lnSpc>
                <a:spcPct val="150000"/>
              </a:lnSpc>
            </a:pPr>
            <a:r>
              <a:rPr lang="en-US" sz="2000" b="0" i="0" u="none" strike="noStrike" baseline="0" dirty="0">
                <a:latin typeface="Times New Roman" panose="02020603050405020304" pitchFamily="18" charset="0"/>
                <a:cs typeface="Times New Roman" panose="02020603050405020304" pitchFamily="18" charset="0"/>
              </a:rPr>
              <a:t>Eggs break when dropped from great enough height. Specifically, there must be a floor </a:t>
            </a:r>
            <a:r>
              <a:rPr lang="en-US" sz="2000" b="0" i="1" u="none" strike="noStrike" baseline="0" dirty="0">
                <a:latin typeface="Times New Roman" panose="02020603050405020304" pitchFamily="18" charset="0"/>
                <a:cs typeface="Times New Roman" panose="02020603050405020304" pitchFamily="18" charset="0"/>
              </a:rPr>
              <a:t>f </a:t>
            </a:r>
            <a:r>
              <a:rPr lang="en-US" sz="2000" b="0" i="0" u="none" strike="noStrike" baseline="0" dirty="0">
                <a:latin typeface="Times New Roman" panose="02020603050405020304" pitchFamily="18" charset="0"/>
                <a:cs typeface="Times New Roman" panose="02020603050405020304" pitchFamily="18" charset="0"/>
              </a:rPr>
              <a:t>in any sufficiently tall building such that an egg dropped from the </a:t>
            </a:r>
            <a:r>
              <a:rPr lang="en-US" sz="2000" b="0" i="1" u="none" strike="noStrike" baseline="0" dirty="0" err="1">
                <a:latin typeface="Times New Roman" panose="02020603050405020304" pitchFamily="18" charset="0"/>
                <a:cs typeface="Times New Roman" panose="02020603050405020304" pitchFamily="18" charset="0"/>
              </a:rPr>
              <a:t>f</a:t>
            </a:r>
            <a:r>
              <a:rPr lang="en-US" sz="2000" b="0" i="0" u="none" strike="noStrike" baseline="0" dirty="0" err="1">
                <a:latin typeface="Times New Roman" panose="02020603050405020304" pitchFamily="18" charset="0"/>
                <a:cs typeface="Times New Roman" panose="02020603050405020304" pitchFamily="18" charset="0"/>
              </a:rPr>
              <a:t>th</a:t>
            </a:r>
            <a:r>
              <a:rPr lang="en-US" sz="2000" b="0" i="0" u="none" strike="noStrike" baseline="0" dirty="0">
                <a:latin typeface="Times New Roman" panose="02020603050405020304" pitchFamily="18" charset="0"/>
                <a:cs typeface="Times New Roman" panose="02020603050405020304" pitchFamily="18" charset="0"/>
              </a:rPr>
              <a:t> floor breaks, but one dropped from the (</a:t>
            </a:r>
            <a:r>
              <a:rPr lang="en-US" sz="2000" b="0" i="1" u="none" strike="noStrike" baseline="0" dirty="0">
                <a:latin typeface="Times New Roman" panose="02020603050405020304" pitchFamily="18" charset="0"/>
                <a:cs typeface="Times New Roman" panose="02020603050405020304" pitchFamily="18" charset="0"/>
              </a:rPr>
              <a:t>f − </a:t>
            </a:r>
            <a:r>
              <a:rPr lang="en-US" sz="2000" b="0" i="0" u="none" strike="noStrike" baseline="0" dirty="0">
                <a:latin typeface="Times New Roman" panose="02020603050405020304" pitchFamily="18" charset="0"/>
                <a:cs typeface="Times New Roman" panose="02020603050405020304" pitchFamily="18" charset="0"/>
              </a:rPr>
              <a:t>1)</a:t>
            </a:r>
            <a:r>
              <a:rPr lang="en-US" sz="2000" b="0" i="0" u="none" strike="noStrike" baseline="0" dirty="0" err="1">
                <a:latin typeface="Times New Roman" panose="02020603050405020304" pitchFamily="18" charset="0"/>
                <a:cs typeface="Times New Roman" panose="02020603050405020304" pitchFamily="18" charset="0"/>
              </a:rPr>
              <a:t>st</a:t>
            </a:r>
            <a:r>
              <a:rPr lang="en-US" sz="2000" b="0" i="0" u="none" strike="noStrike" baseline="0" dirty="0">
                <a:latin typeface="Times New Roman" panose="02020603050405020304" pitchFamily="18" charset="0"/>
                <a:cs typeface="Times New Roman" panose="02020603050405020304" pitchFamily="18" charset="0"/>
              </a:rPr>
              <a:t> floor will not. If the egg always breaks, then </a:t>
            </a:r>
            <a:r>
              <a:rPr lang="en-US" sz="2000" b="0" i="1" u="none" strike="noStrike" baseline="0" dirty="0">
                <a:latin typeface="Times New Roman" panose="02020603050405020304" pitchFamily="18" charset="0"/>
                <a:cs typeface="Times New Roman" panose="02020603050405020304" pitchFamily="18" charset="0"/>
              </a:rPr>
              <a:t>f </a:t>
            </a:r>
            <a:r>
              <a:rPr lang="en-US" sz="2000" b="0" i="0" u="none" strike="noStrike" baseline="0" dirty="0">
                <a:latin typeface="Times New Roman" panose="02020603050405020304" pitchFamily="18" charset="0"/>
                <a:cs typeface="Times New Roman" panose="02020603050405020304" pitchFamily="18" charset="0"/>
              </a:rPr>
              <a:t>= 1. If the egg never breaks, then </a:t>
            </a:r>
            <a:r>
              <a:rPr lang="en-US" sz="2000" b="0" i="1" u="none" strike="noStrike" baseline="0" dirty="0">
                <a:latin typeface="Times New Roman" panose="02020603050405020304" pitchFamily="18" charset="0"/>
                <a:cs typeface="Times New Roman" panose="02020603050405020304" pitchFamily="18" charset="0"/>
              </a:rPr>
              <a:t>f </a:t>
            </a:r>
            <a:r>
              <a:rPr lang="en-US" sz="2000" b="0" i="0" u="none" strike="noStrike" baseline="0" dirty="0">
                <a:latin typeface="Times New Roman" panose="02020603050405020304" pitchFamily="18" charset="0"/>
                <a:cs typeface="Times New Roman" panose="02020603050405020304" pitchFamily="18" charset="0"/>
              </a:rPr>
              <a:t>= </a:t>
            </a:r>
            <a:r>
              <a:rPr lang="en-US" sz="2000" b="0" i="1" u="none" strike="noStrike" baseline="0" dirty="0">
                <a:latin typeface="Times New Roman" panose="02020603050405020304" pitchFamily="18" charset="0"/>
                <a:cs typeface="Times New Roman" panose="02020603050405020304" pitchFamily="18" charset="0"/>
              </a:rPr>
              <a:t>n </a:t>
            </a:r>
            <a:r>
              <a:rPr lang="en-US" sz="2000" b="0" i="0" u="none" strike="noStrike" baseline="0" dirty="0">
                <a:latin typeface="Times New Roman" panose="02020603050405020304" pitchFamily="18" charset="0"/>
                <a:cs typeface="Times New Roman" panose="02020603050405020304" pitchFamily="18" charset="0"/>
              </a:rPr>
              <a:t>+ 1. You seek to find the critical floor </a:t>
            </a:r>
            <a:r>
              <a:rPr lang="en-US" sz="2000" b="0" i="1" u="none" strike="noStrike" baseline="0" dirty="0">
                <a:latin typeface="Times New Roman" panose="02020603050405020304" pitchFamily="18" charset="0"/>
                <a:cs typeface="Times New Roman" panose="02020603050405020304" pitchFamily="18" charset="0"/>
              </a:rPr>
              <a:t>f </a:t>
            </a:r>
            <a:r>
              <a:rPr lang="en-US" sz="2000" b="0" i="0" u="none" strike="noStrike" baseline="0" dirty="0">
                <a:latin typeface="Times New Roman" panose="02020603050405020304" pitchFamily="18" charset="0"/>
                <a:cs typeface="Times New Roman" panose="02020603050405020304" pitchFamily="18" charset="0"/>
              </a:rPr>
              <a:t>using an </a:t>
            </a:r>
            <a:r>
              <a:rPr lang="en-US" sz="2000" b="0" i="1" u="none" strike="noStrike" baseline="0" dirty="0">
                <a:latin typeface="Times New Roman" panose="02020603050405020304" pitchFamily="18" charset="0"/>
                <a:cs typeface="Times New Roman" panose="02020603050405020304" pitchFamily="18" charset="0"/>
              </a:rPr>
              <a:t>n</a:t>
            </a:r>
            <a:r>
              <a:rPr lang="en-US" sz="2000" b="0" i="0" u="none" strike="noStrike" baseline="0" dirty="0">
                <a:latin typeface="Times New Roman" panose="02020603050405020304" pitchFamily="18" charset="0"/>
                <a:cs typeface="Times New Roman" panose="02020603050405020304" pitchFamily="18" charset="0"/>
              </a:rPr>
              <a:t>-story building. The only operation you can perform is to drop an egg off some floor and see what happens. You start out with </a:t>
            </a:r>
            <a:r>
              <a:rPr lang="en-US" sz="2000" b="0" i="1" u="none" strike="noStrike" baseline="0" dirty="0">
                <a:latin typeface="Times New Roman" panose="02020603050405020304" pitchFamily="18" charset="0"/>
                <a:cs typeface="Times New Roman" panose="02020603050405020304" pitchFamily="18" charset="0"/>
              </a:rPr>
              <a:t>k </a:t>
            </a:r>
            <a:r>
              <a:rPr lang="en-US" sz="2000" b="0" i="0" u="none" strike="noStrike" baseline="0" dirty="0">
                <a:latin typeface="Times New Roman" panose="02020603050405020304" pitchFamily="18" charset="0"/>
                <a:cs typeface="Times New Roman" panose="02020603050405020304" pitchFamily="18" charset="0"/>
              </a:rPr>
              <a:t>eggs, and seek to drop eggs as few times as possible. Broken eggs cannot be reused. Let </a:t>
            </a:r>
            <a:r>
              <a:rPr lang="en-US" sz="2000" b="0" i="1" u="none" strike="noStrike" baseline="0" dirty="0">
                <a:latin typeface="Times New Roman" panose="02020603050405020304" pitchFamily="18" charset="0"/>
                <a:cs typeface="Times New Roman" panose="02020603050405020304" pitchFamily="18" charset="0"/>
              </a:rPr>
              <a:t>E</a:t>
            </a:r>
            <a:r>
              <a:rPr lang="en-US" sz="2000" b="0" i="0" u="none" strike="noStrike" baseline="0" dirty="0">
                <a:latin typeface="Times New Roman" panose="02020603050405020304" pitchFamily="18" charset="0"/>
                <a:cs typeface="Times New Roman" panose="02020603050405020304" pitchFamily="18" charset="0"/>
              </a:rPr>
              <a:t>(</a:t>
            </a:r>
            <a:r>
              <a:rPr lang="en-US" sz="2000" b="0" i="1" u="none" strike="noStrike" baseline="0" dirty="0">
                <a:latin typeface="Times New Roman" panose="02020603050405020304" pitchFamily="18" charset="0"/>
                <a:cs typeface="Times New Roman" panose="02020603050405020304" pitchFamily="18" charset="0"/>
              </a:rPr>
              <a:t>k, n</a:t>
            </a:r>
            <a:r>
              <a:rPr lang="en-US" sz="2000" b="0" i="0" u="none" strike="noStrike" baseline="0" dirty="0">
                <a:latin typeface="Times New Roman" panose="02020603050405020304" pitchFamily="18" charset="0"/>
                <a:cs typeface="Times New Roman" panose="02020603050405020304" pitchFamily="18" charset="0"/>
              </a:rPr>
              <a:t>) be the minimum number of egg droppings that will always suffice.</a:t>
            </a:r>
            <a:endParaRPr lang="en-US" sz="20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F1125A76-1FC1-4F76-B5AB-1047C0EDE05E}"/>
              </a:ext>
            </a:extLst>
          </p:cNvPr>
          <p:cNvSpPr txBox="1"/>
          <p:nvPr/>
        </p:nvSpPr>
        <p:spPr>
          <a:xfrm>
            <a:off x="2933700" y="5718889"/>
            <a:ext cx="6096000" cy="742511"/>
          </a:xfrm>
          <a:prstGeom prst="rect">
            <a:avLst/>
          </a:prstGeom>
          <a:noFill/>
        </p:spPr>
        <p:txBody>
          <a:bodyPr wrap="square">
            <a:spAutoFit/>
          </a:bodyPr>
          <a:lstStyle/>
          <a:p>
            <a:pPr marL="0" indent="0" algn="just">
              <a:lnSpc>
                <a:spcPct val="150000"/>
              </a:lnSpc>
              <a:buNone/>
            </a:pPr>
            <a:r>
              <a:rPr lang="en-US" sz="3200" dirty="0">
                <a:latin typeface="Times New Roman" panose="02020603050405020304" pitchFamily="18" charset="0"/>
                <a:cs typeface="Times New Roman" panose="02020603050405020304" pitchFamily="18" charset="0"/>
              </a:rPr>
              <a:t>Dynamic Programming</a:t>
            </a:r>
          </a:p>
        </p:txBody>
      </p:sp>
    </p:spTree>
    <p:extLst>
      <p:ext uri="{BB962C8B-B14F-4D97-AF65-F5344CB8AC3E}">
        <p14:creationId xmlns:p14="http://schemas.microsoft.com/office/powerpoint/2010/main" val="17428609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B77417-4AE3-41D3-BCCC-6901DED9F81D}"/>
              </a:ext>
            </a:extLst>
          </p:cNvPr>
          <p:cNvSpPr>
            <a:spLocks noGrp="1"/>
          </p:cNvSpPr>
          <p:nvPr>
            <p:ph type="title"/>
          </p:nvPr>
        </p:nvSpPr>
        <p:spPr/>
        <p:txBody>
          <a:bodyPr/>
          <a:lstStyle/>
          <a:p>
            <a:r>
              <a:rPr lang="en-US" dirty="0"/>
              <a:t>Example 4</a:t>
            </a:r>
          </a:p>
        </p:txBody>
      </p:sp>
      <p:sp>
        <p:nvSpPr>
          <p:cNvPr id="3" name="Content Placeholder 2">
            <a:extLst>
              <a:ext uri="{FF2B5EF4-FFF2-40B4-BE49-F238E27FC236}">
                <a16:creationId xmlns:a16="http://schemas.microsoft.com/office/drawing/2014/main" id="{311639B8-116C-444F-A68C-16B70F877A1F}"/>
              </a:ext>
            </a:extLst>
          </p:cNvPr>
          <p:cNvSpPr>
            <a:spLocks noGrp="1"/>
          </p:cNvSpPr>
          <p:nvPr>
            <p:ph idx="1"/>
          </p:nvPr>
        </p:nvSpPr>
        <p:spPr/>
        <p:txBody>
          <a:bodyPr>
            <a:normAutofit/>
          </a:bodyPr>
          <a:lstStyle/>
          <a:p>
            <a:pPr algn="just">
              <a:lnSpc>
                <a:spcPct val="150000"/>
              </a:lnSpc>
            </a:pPr>
            <a:r>
              <a:rPr lang="en-US" sz="2000" b="0" i="0" u="none" strike="noStrike" baseline="0" dirty="0">
                <a:latin typeface="Times New Roman" panose="02020603050405020304" pitchFamily="18" charset="0"/>
                <a:cs typeface="Times New Roman" panose="02020603050405020304" pitchFamily="18" charset="0"/>
              </a:rPr>
              <a:t>In the </a:t>
            </a:r>
            <a:r>
              <a:rPr lang="en-US" sz="2000" b="0" i="1" u="none" strike="noStrike" baseline="0" dirty="0">
                <a:latin typeface="Times New Roman" panose="02020603050405020304" pitchFamily="18" charset="0"/>
                <a:cs typeface="Times New Roman" panose="02020603050405020304" pitchFamily="18" charset="0"/>
              </a:rPr>
              <a:t>single-processor scheduling problem</a:t>
            </a:r>
            <a:r>
              <a:rPr lang="en-US" sz="2000" b="0" i="0" u="none" strike="noStrike" baseline="0" dirty="0">
                <a:latin typeface="Times New Roman" panose="02020603050405020304" pitchFamily="18" charset="0"/>
                <a:cs typeface="Times New Roman" panose="02020603050405020304" pitchFamily="18" charset="0"/>
              </a:rPr>
              <a:t>, we are given a set of </a:t>
            </a:r>
            <a:r>
              <a:rPr lang="en-US" sz="2000" b="0" i="1" u="none" strike="noStrike" baseline="0" dirty="0">
                <a:latin typeface="Times New Roman" panose="02020603050405020304" pitchFamily="18" charset="0"/>
                <a:cs typeface="Times New Roman" panose="02020603050405020304" pitchFamily="18" charset="0"/>
              </a:rPr>
              <a:t>n </a:t>
            </a:r>
            <a:r>
              <a:rPr lang="en-US" sz="2000" b="0" i="0" u="none" strike="noStrike" baseline="0" dirty="0">
                <a:latin typeface="Times New Roman" panose="02020603050405020304" pitchFamily="18" charset="0"/>
                <a:cs typeface="Times New Roman" panose="02020603050405020304" pitchFamily="18" charset="0"/>
              </a:rPr>
              <a:t>jobs </a:t>
            </a:r>
            <a:r>
              <a:rPr lang="en-US" sz="2000" b="0" i="1" u="none" strike="noStrike" baseline="0" dirty="0">
                <a:latin typeface="Times New Roman" panose="02020603050405020304" pitchFamily="18" charset="0"/>
                <a:cs typeface="Times New Roman" panose="02020603050405020304" pitchFamily="18" charset="0"/>
              </a:rPr>
              <a:t>J</a:t>
            </a:r>
            <a:r>
              <a:rPr lang="en-US" sz="2000" b="0" i="0" u="none" strike="noStrike" baseline="0" dirty="0">
                <a:latin typeface="Times New Roman" panose="02020603050405020304" pitchFamily="18" charset="0"/>
                <a:cs typeface="Times New Roman" panose="02020603050405020304" pitchFamily="18" charset="0"/>
              </a:rPr>
              <a:t>. Each job </a:t>
            </a:r>
            <a:r>
              <a:rPr lang="en-US" sz="2000" b="0" i="1" u="none" strike="noStrike" baseline="0" dirty="0" err="1">
                <a:latin typeface="Times New Roman" panose="02020603050405020304" pitchFamily="18" charset="0"/>
                <a:cs typeface="Times New Roman" panose="02020603050405020304" pitchFamily="18" charset="0"/>
              </a:rPr>
              <a:t>i</a:t>
            </a:r>
            <a:r>
              <a:rPr lang="en-US" sz="2000" b="0" i="1" u="none" strike="noStrike" baseline="0" dirty="0">
                <a:latin typeface="Times New Roman" panose="02020603050405020304" pitchFamily="18" charset="0"/>
                <a:cs typeface="Times New Roman" panose="02020603050405020304" pitchFamily="18" charset="0"/>
              </a:rPr>
              <a:t> </a:t>
            </a:r>
            <a:r>
              <a:rPr lang="en-US" sz="2000" b="0" i="0" u="none" strike="noStrike" baseline="0" dirty="0">
                <a:latin typeface="Times New Roman" panose="02020603050405020304" pitchFamily="18" charset="0"/>
                <a:cs typeface="Times New Roman" panose="02020603050405020304" pitchFamily="18" charset="0"/>
              </a:rPr>
              <a:t>has a processing time </a:t>
            </a:r>
            <a:r>
              <a:rPr lang="en-US" sz="2000" b="0" i="1" u="none" strike="noStrike" baseline="0" dirty="0" err="1">
                <a:latin typeface="Times New Roman" panose="02020603050405020304" pitchFamily="18" charset="0"/>
                <a:cs typeface="Times New Roman" panose="02020603050405020304" pitchFamily="18" charset="0"/>
              </a:rPr>
              <a:t>ti</a:t>
            </a:r>
            <a:r>
              <a:rPr lang="en-US" sz="2000" b="0" i="0" u="none" strike="noStrike" baseline="0" dirty="0">
                <a:latin typeface="Times New Roman" panose="02020603050405020304" pitchFamily="18" charset="0"/>
                <a:cs typeface="Times New Roman" panose="02020603050405020304" pitchFamily="18" charset="0"/>
              </a:rPr>
              <a:t>, and a deadline </a:t>
            </a:r>
            <a:r>
              <a:rPr lang="en-US" sz="2000" b="0" i="1" u="none" strike="noStrike" baseline="0" dirty="0">
                <a:latin typeface="Times New Roman" panose="02020603050405020304" pitchFamily="18" charset="0"/>
                <a:cs typeface="Times New Roman" panose="02020603050405020304" pitchFamily="18" charset="0"/>
              </a:rPr>
              <a:t>di</a:t>
            </a:r>
            <a:r>
              <a:rPr lang="en-US" sz="2000" b="0" i="0" u="none" strike="noStrike" baseline="0" dirty="0">
                <a:latin typeface="Times New Roman" panose="02020603050405020304" pitchFamily="18" charset="0"/>
                <a:cs typeface="Times New Roman" panose="02020603050405020304" pitchFamily="18" charset="0"/>
              </a:rPr>
              <a:t>. A feasible schedule is a permutation of the jobs such that when the jobs are performed in that order, every job is finished before its deadline. The greedy algorithm for single-processor scheduling selects the job with the earliest deadline first. Show that if a feasible schedule exists, then the schedule produced by this greedy algorithm is feasible</a:t>
            </a:r>
            <a:endParaRPr lang="en-US" sz="20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95ECAC27-DF45-4A65-8C06-C43089C4CF4E}"/>
              </a:ext>
            </a:extLst>
          </p:cNvPr>
          <p:cNvSpPr txBox="1"/>
          <p:nvPr/>
        </p:nvSpPr>
        <p:spPr>
          <a:xfrm>
            <a:off x="2933700" y="5718889"/>
            <a:ext cx="6096000" cy="742511"/>
          </a:xfrm>
          <a:prstGeom prst="rect">
            <a:avLst/>
          </a:prstGeom>
          <a:noFill/>
        </p:spPr>
        <p:txBody>
          <a:bodyPr wrap="square">
            <a:spAutoFit/>
          </a:bodyPr>
          <a:lstStyle/>
          <a:p>
            <a:pPr marL="0" indent="0" algn="just">
              <a:lnSpc>
                <a:spcPct val="150000"/>
              </a:lnSpc>
              <a:buNone/>
            </a:pPr>
            <a:r>
              <a:rPr lang="en-US" sz="3200" dirty="0">
                <a:latin typeface="Times New Roman" panose="02020603050405020304" pitchFamily="18" charset="0"/>
                <a:cs typeface="Times New Roman" panose="02020603050405020304" pitchFamily="18" charset="0"/>
              </a:rPr>
              <a:t>Greedy Algorithm</a:t>
            </a:r>
          </a:p>
        </p:txBody>
      </p:sp>
    </p:spTree>
    <p:extLst>
      <p:ext uri="{BB962C8B-B14F-4D97-AF65-F5344CB8AC3E}">
        <p14:creationId xmlns:p14="http://schemas.microsoft.com/office/powerpoint/2010/main" val="13153940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5D5CD-AC38-43BA-9302-96138CFF2B4A}"/>
              </a:ext>
            </a:extLst>
          </p:cNvPr>
          <p:cNvSpPr>
            <a:spLocks noGrp="1"/>
          </p:cNvSpPr>
          <p:nvPr>
            <p:ph type="title"/>
          </p:nvPr>
        </p:nvSpPr>
        <p:spPr/>
        <p:txBody>
          <a:bodyPr/>
          <a:lstStyle/>
          <a:p>
            <a:r>
              <a:rPr lang="en-US" dirty="0"/>
              <a:t>Example 5</a:t>
            </a:r>
          </a:p>
        </p:txBody>
      </p:sp>
      <p:sp>
        <p:nvSpPr>
          <p:cNvPr id="3" name="Content Placeholder 2">
            <a:extLst>
              <a:ext uri="{FF2B5EF4-FFF2-40B4-BE49-F238E27FC236}">
                <a16:creationId xmlns:a16="http://schemas.microsoft.com/office/drawing/2014/main" id="{E54E0BC1-FA73-4107-B18E-4FAAF1A69083}"/>
              </a:ext>
            </a:extLst>
          </p:cNvPr>
          <p:cNvSpPr>
            <a:spLocks noGrp="1"/>
          </p:cNvSpPr>
          <p:nvPr>
            <p:ph idx="1"/>
          </p:nvPr>
        </p:nvSpPr>
        <p:spPr/>
        <p:txBody>
          <a:bodyPr>
            <a:noAutofit/>
          </a:bodyPr>
          <a:lstStyle/>
          <a:p>
            <a:pPr algn="just">
              <a:lnSpc>
                <a:spcPct val="150000"/>
              </a:lnSpc>
            </a:pPr>
            <a:r>
              <a:rPr lang="en-US" sz="2000" b="0" i="0" u="none" strike="noStrike" baseline="0" dirty="0">
                <a:latin typeface="Times New Roman" panose="02020603050405020304" pitchFamily="18" charset="0"/>
                <a:cs typeface="Times New Roman" panose="02020603050405020304" pitchFamily="18" charset="0"/>
              </a:rPr>
              <a:t>Consider the problem of storing </a:t>
            </a:r>
            <a:r>
              <a:rPr lang="en-US" sz="2000" b="0" i="1" u="none" strike="noStrike" baseline="0" dirty="0">
                <a:latin typeface="Times New Roman" panose="02020603050405020304" pitchFamily="18" charset="0"/>
                <a:cs typeface="Times New Roman" panose="02020603050405020304" pitchFamily="18" charset="0"/>
              </a:rPr>
              <a:t>n </a:t>
            </a:r>
            <a:r>
              <a:rPr lang="en-US" sz="2000" b="0" i="0" u="none" strike="noStrike" baseline="0" dirty="0">
                <a:latin typeface="Times New Roman" panose="02020603050405020304" pitchFamily="18" charset="0"/>
                <a:cs typeface="Times New Roman" panose="02020603050405020304" pitchFamily="18" charset="0"/>
              </a:rPr>
              <a:t>books on shelves in a library. The order of the books is fixed by the cataloging system and so cannot be rearranged. Therefore, we can speak of a book </a:t>
            </a:r>
            <a:r>
              <a:rPr lang="en-US" sz="2000" b="0" i="1" u="none" strike="noStrike" baseline="0" dirty="0">
                <a:latin typeface="Times New Roman" panose="02020603050405020304" pitchFamily="18" charset="0"/>
                <a:cs typeface="Times New Roman" panose="02020603050405020304" pitchFamily="18" charset="0"/>
              </a:rPr>
              <a:t>bi</a:t>
            </a:r>
            <a:r>
              <a:rPr lang="en-US" sz="2000" b="0" i="0" u="none" strike="noStrike" baseline="0" dirty="0">
                <a:latin typeface="Times New Roman" panose="02020603050405020304" pitchFamily="18" charset="0"/>
                <a:cs typeface="Times New Roman" panose="02020603050405020304" pitchFamily="18" charset="0"/>
              </a:rPr>
              <a:t>, where 1 </a:t>
            </a:r>
            <a:r>
              <a:rPr lang="en-US" sz="2000" b="0" i="1" u="none" strike="noStrike" baseline="0" dirty="0">
                <a:latin typeface="Times New Roman" panose="02020603050405020304" pitchFamily="18" charset="0"/>
                <a:cs typeface="Times New Roman" panose="02020603050405020304" pitchFamily="18" charset="0"/>
              </a:rPr>
              <a:t>≤ </a:t>
            </a:r>
            <a:r>
              <a:rPr lang="en-US" sz="2000" b="0" i="1" u="none" strike="noStrike" baseline="0" dirty="0" err="1">
                <a:latin typeface="Times New Roman" panose="02020603050405020304" pitchFamily="18" charset="0"/>
                <a:cs typeface="Times New Roman" panose="02020603050405020304" pitchFamily="18" charset="0"/>
              </a:rPr>
              <a:t>i</a:t>
            </a:r>
            <a:r>
              <a:rPr lang="en-US" sz="2000" b="0" i="1" u="none" strike="noStrike" baseline="0" dirty="0">
                <a:latin typeface="Times New Roman" panose="02020603050405020304" pitchFamily="18" charset="0"/>
                <a:cs typeface="Times New Roman" panose="02020603050405020304" pitchFamily="18" charset="0"/>
              </a:rPr>
              <a:t> ≤ n</a:t>
            </a:r>
            <a:r>
              <a:rPr lang="en-US" sz="2000" b="0" i="0" u="none" strike="noStrike" baseline="0" dirty="0">
                <a:latin typeface="Times New Roman" panose="02020603050405020304" pitchFamily="18" charset="0"/>
                <a:cs typeface="Times New Roman" panose="02020603050405020304" pitchFamily="18" charset="0"/>
              </a:rPr>
              <a:t>, that has a thickness </a:t>
            </a:r>
            <a:r>
              <a:rPr lang="en-US" sz="2000" b="0" i="1" u="none" strike="noStrike" baseline="0" dirty="0" err="1">
                <a:latin typeface="Times New Roman" panose="02020603050405020304" pitchFamily="18" charset="0"/>
                <a:cs typeface="Times New Roman" panose="02020603050405020304" pitchFamily="18" charset="0"/>
              </a:rPr>
              <a:t>ti</a:t>
            </a:r>
            <a:r>
              <a:rPr lang="en-US" sz="2000" b="0" i="1" u="none" strike="noStrike" baseline="0" dirty="0">
                <a:latin typeface="Times New Roman" panose="02020603050405020304" pitchFamily="18" charset="0"/>
                <a:cs typeface="Times New Roman" panose="02020603050405020304" pitchFamily="18" charset="0"/>
              </a:rPr>
              <a:t> </a:t>
            </a:r>
            <a:r>
              <a:rPr lang="en-US" sz="2000" b="0" i="0" u="none" strike="noStrike" baseline="0" dirty="0">
                <a:latin typeface="Times New Roman" panose="02020603050405020304" pitchFamily="18" charset="0"/>
                <a:cs typeface="Times New Roman" panose="02020603050405020304" pitchFamily="18" charset="0"/>
              </a:rPr>
              <a:t>and height </a:t>
            </a:r>
            <a:r>
              <a:rPr lang="en-US" sz="2000" b="0" i="1" u="none" strike="noStrike" baseline="0" dirty="0">
                <a:latin typeface="Times New Roman" panose="02020603050405020304" pitchFamily="18" charset="0"/>
                <a:cs typeface="Times New Roman" panose="02020603050405020304" pitchFamily="18" charset="0"/>
              </a:rPr>
              <a:t>hi</a:t>
            </a:r>
            <a:r>
              <a:rPr lang="en-US" sz="2000" b="0" i="0" u="none" strike="noStrike" baseline="0" dirty="0">
                <a:latin typeface="Times New Roman" panose="02020603050405020304" pitchFamily="18" charset="0"/>
                <a:cs typeface="Times New Roman" panose="02020603050405020304" pitchFamily="18" charset="0"/>
              </a:rPr>
              <a:t>. The length of each bookshelf at this library is </a:t>
            </a:r>
            <a:r>
              <a:rPr lang="en-US" sz="2000" b="0" i="1" u="none" strike="noStrike" baseline="0" dirty="0">
                <a:latin typeface="Times New Roman" panose="02020603050405020304" pitchFamily="18" charset="0"/>
                <a:cs typeface="Times New Roman" panose="02020603050405020304" pitchFamily="18" charset="0"/>
              </a:rPr>
              <a:t>L</a:t>
            </a:r>
            <a:r>
              <a:rPr lang="en-US" sz="2000" b="0" i="0" u="none" strike="noStrike" baseline="0" dirty="0">
                <a:latin typeface="Times New Roman" panose="02020603050405020304" pitchFamily="18" charset="0"/>
                <a:cs typeface="Times New Roman" panose="02020603050405020304" pitchFamily="18" charset="0"/>
              </a:rPr>
              <a:t>. Suppose all the books have the same height </a:t>
            </a:r>
            <a:r>
              <a:rPr lang="en-US" sz="2000" b="0" i="1" u="none" strike="noStrike" baseline="0" dirty="0">
                <a:latin typeface="Times New Roman" panose="02020603050405020304" pitchFamily="18" charset="0"/>
                <a:cs typeface="Times New Roman" panose="02020603050405020304" pitchFamily="18" charset="0"/>
              </a:rPr>
              <a:t>h </a:t>
            </a:r>
            <a:r>
              <a:rPr lang="en-US" sz="2000" b="0" i="0" u="none" strike="noStrike" baseline="0" dirty="0">
                <a:latin typeface="Times New Roman" panose="02020603050405020304" pitchFamily="18" charset="0"/>
                <a:cs typeface="Times New Roman" panose="02020603050405020304" pitchFamily="18" charset="0"/>
              </a:rPr>
              <a:t>(i.e. , </a:t>
            </a:r>
            <a:r>
              <a:rPr lang="en-US" sz="2000" b="0" i="1" u="none" strike="noStrike" baseline="0" dirty="0">
                <a:latin typeface="Times New Roman" panose="02020603050405020304" pitchFamily="18" charset="0"/>
                <a:cs typeface="Times New Roman" panose="02020603050405020304" pitchFamily="18" charset="0"/>
              </a:rPr>
              <a:t>h </a:t>
            </a:r>
            <a:r>
              <a:rPr lang="en-US" sz="2000" b="0" i="0" u="none" strike="noStrike" baseline="0" dirty="0">
                <a:latin typeface="Times New Roman" panose="02020603050405020304" pitchFamily="18" charset="0"/>
                <a:cs typeface="Times New Roman" panose="02020603050405020304" pitchFamily="18" charset="0"/>
              </a:rPr>
              <a:t>= </a:t>
            </a:r>
            <a:r>
              <a:rPr lang="en-US" sz="2000" b="0" i="1" u="none" strike="noStrike" baseline="0" dirty="0">
                <a:latin typeface="Times New Roman" panose="02020603050405020304" pitchFamily="18" charset="0"/>
                <a:cs typeface="Times New Roman" panose="02020603050405020304" pitchFamily="18" charset="0"/>
              </a:rPr>
              <a:t>hi </a:t>
            </a:r>
            <a:r>
              <a:rPr lang="en-US" sz="2000" b="0" i="0" u="none" strike="noStrike" baseline="0" dirty="0">
                <a:latin typeface="Times New Roman" panose="02020603050405020304" pitchFamily="18" charset="0"/>
                <a:cs typeface="Times New Roman" panose="02020603050405020304" pitchFamily="18" charset="0"/>
              </a:rPr>
              <a:t>= </a:t>
            </a:r>
            <a:r>
              <a:rPr lang="en-US" sz="2000" b="0" i="1" u="none" strike="noStrike" baseline="0" dirty="0" err="1">
                <a:latin typeface="Times New Roman" panose="02020603050405020304" pitchFamily="18" charset="0"/>
                <a:cs typeface="Times New Roman" panose="02020603050405020304" pitchFamily="18" charset="0"/>
              </a:rPr>
              <a:t>hj</a:t>
            </a:r>
            <a:r>
              <a:rPr lang="en-US" sz="2000" b="0" i="1" u="none" strike="noStrike" baseline="0" dirty="0">
                <a:latin typeface="Times New Roman" panose="02020603050405020304" pitchFamily="18" charset="0"/>
                <a:cs typeface="Times New Roman" panose="02020603050405020304" pitchFamily="18" charset="0"/>
              </a:rPr>
              <a:t> </a:t>
            </a:r>
            <a:r>
              <a:rPr lang="en-US" sz="2000" b="0" i="0" u="none" strike="noStrike" baseline="0" dirty="0">
                <a:latin typeface="Times New Roman" panose="02020603050405020304" pitchFamily="18" charset="0"/>
                <a:cs typeface="Times New Roman" panose="02020603050405020304" pitchFamily="18" charset="0"/>
              </a:rPr>
              <a:t>for all </a:t>
            </a:r>
            <a:r>
              <a:rPr lang="en-US" sz="2000" b="0" i="1" u="none" strike="noStrike" baseline="0" dirty="0" err="1">
                <a:latin typeface="Times New Roman" panose="02020603050405020304" pitchFamily="18" charset="0"/>
                <a:cs typeface="Times New Roman" panose="02020603050405020304" pitchFamily="18" charset="0"/>
              </a:rPr>
              <a:t>i</a:t>
            </a:r>
            <a:r>
              <a:rPr lang="en-US" sz="2000" b="0" i="1" u="none" strike="noStrike" baseline="0" dirty="0">
                <a:latin typeface="Times New Roman" panose="02020603050405020304" pitchFamily="18" charset="0"/>
                <a:cs typeface="Times New Roman" panose="02020603050405020304" pitchFamily="18" charset="0"/>
              </a:rPr>
              <a:t>, j</a:t>
            </a:r>
            <a:r>
              <a:rPr lang="en-US" sz="2000" b="0" i="0" u="none" strike="noStrike" baseline="0" dirty="0">
                <a:latin typeface="Times New Roman" panose="02020603050405020304" pitchFamily="18" charset="0"/>
                <a:cs typeface="Times New Roman" panose="02020603050405020304" pitchFamily="18" charset="0"/>
              </a:rPr>
              <a:t>) and the shelves are all separated by a distance of greater than </a:t>
            </a:r>
            <a:r>
              <a:rPr lang="en-US" sz="2000" b="0" i="1" u="none" strike="noStrike" baseline="0" dirty="0">
                <a:latin typeface="Times New Roman" panose="02020603050405020304" pitchFamily="18" charset="0"/>
                <a:cs typeface="Times New Roman" panose="02020603050405020304" pitchFamily="18" charset="0"/>
              </a:rPr>
              <a:t>h</a:t>
            </a:r>
            <a:r>
              <a:rPr lang="en-US" sz="2000" b="0" i="0" u="none" strike="noStrike" baseline="0" dirty="0">
                <a:latin typeface="Times New Roman" panose="02020603050405020304" pitchFamily="18" charset="0"/>
                <a:cs typeface="Times New Roman" panose="02020603050405020304" pitchFamily="18" charset="0"/>
              </a:rPr>
              <a:t>, so any book fits on any shelf. The greedy algorithm would fill the first shelf with as many books as we can until we get the smallest </a:t>
            </a:r>
            <a:r>
              <a:rPr lang="en-US" sz="2000" b="0" i="1" u="none" strike="noStrike" baseline="0" dirty="0" err="1">
                <a:latin typeface="Times New Roman" panose="02020603050405020304" pitchFamily="18" charset="0"/>
                <a:cs typeface="Times New Roman" panose="02020603050405020304" pitchFamily="18" charset="0"/>
              </a:rPr>
              <a:t>i</a:t>
            </a:r>
            <a:r>
              <a:rPr lang="en-US" sz="2000" b="0" i="1" u="none" strike="noStrike" baseline="0" dirty="0">
                <a:latin typeface="Times New Roman" panose="02020603050405020304" pitchFamily="18" charset="0"/>
                <a:cs typeface="Times New Roman" panose="02020603050405020304" pitchFamily="18" charset="0"/>
              </a:rPr>
              <a:t> </a:t>
            </a:r>
            <a:r>
              <a:rPr lang="en-US" sz="2000" b="0" i="0" u="none" strike="noStrike" baseline="0" dirty="0">
                <a:latin typeface="Times New Roman" panose="02020603050405020304" pitchFamily="18" charset="0"/>
                <a:cs typeface="Times New Roman" panose="02020603050405020304" pitchFamily="18" charset="0"/>
              </a:rPr>
              <a:t>such that </a:t>
            </a:r>
            <a:r>
              <a:rPr lang="en-US" sz="2000" b="0" i="1" u="none" strike="noStrike" baseline="0" dirty="0">
                <a:latin typeface="Times New Roman" panose="02020603050405020304" pitchFamily="18" charset="0"/>
                <a:cs typeface="Times New Roman" panose="02020603050405020304" pitchFamily="18" charset="0"/>
              </a:rPr>
              <a:t>bi </a:t>
            </a:r>
            <a:r>
              <a:rPr lang="en-US" sz="2000" b="0" i="0" u="none" strike="noStrike" baseline="0" dirty="0">
                <a:latin typeface="Times New Roman" panose="02020603050405020304" pitchFamily="18" charset="0"/>
                <a:cs typeface="Times New Roman" panose="02020603050405020304" pitchFamily="18" charset="0"/>
              </a:rPr>
              <a:t>does not fit, and then repeat with subsequent shelves. Show that the greedy algorithm always finds the optimal shelf placement, and analyze its time complexity</a:t>
            </a:r>
            <a:endParaRPr lang="en-US" sz="20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35F6B829-E68C-4F3C-B225-E34270F7EB12}"/>
              </a:ext>
            </a:extLst>
          </p:cNvPr>
          <p:cNvSpPr txBox="1"/>
          <p:nvPr/>
        </p:nvSpPr>
        <p:spPr>
          <a:xfrm>
            <a:off x="2933700" y="5718889"/>
            <a:ext cx="6096000" cy="742511"/>
          </a:xfrm>
          <a:prstGeom prst="rect">
            <a:avLst/>
          </a:prstGeom>
          <a:noFill/>
        </p:spPr>
        <p:txBody>
          <a:bodyPr wrap="square">
            <a:spAutoFit/>
          </a:bodyPr>
          <a:lstStyle/>
          <a:p>
            <a:pPr marL="0" indent="0" algn="just">
              <a:lnSpc>
                <a:spcPct val="150000"/>
              </a:lnSpc>
              <a:buNone/>
            </a:pPr>
            <a:r>
              <a:rPr lang="en-US" sz="3200" dirty="0">
                <a:latin typeface="Times New Roman" panose="02020603050405020304" pitchFamily="18" charset="0"/>
                <a:cs typeface="Times New Roman" panose="02020603050405020304" pitchFamily="18" charset="0"/>
              </a:rPr>
              <a:t>Greedy Algorithm</a:t>
            </a:r>
          </a:p>
        </p:txBody>
      </p:sp>
    </p:spTree>
    <p:extLst>
      <p:ext uri="{BB962C8B-B14F-4D97-AF65-F5344CB8AC3E}">
        <p14:creationId xmlns:p14="http://schemas.microsoft.com/office/powerpoint/2010/main" val="39213286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2DBA80-BF6D-404F-8A8C-56027F8A434F}"/>
              </a:ext>
            </a:extLst>
          </p:cNvPr>
          <p:cNvSpPr>
            <a:spLocks noGrp="1"/>
          </p:cNvSpPr>
          <p:nvPr>
            <p:ph type="title"/>
          </p:nvPr>
        </p:nvSpPr>
        <p:spPr/>
        <p:txBody>
          <a:bodyPr/>
          <a:lstStyle/>
          <a:p>
            <a:r>
              <a:rPr lang="en-US" dirty="0"/>
              <a:t>Example 6</a:t>
            </a:r>
          </a:p>
        </p:txBody>
      </p:sp>
      <p:sp>
        <p:nvSpPr>
          <p:cNvPr id="3" name="Content Placeholder 2">
            <a:extLst>
              <a:ext uri="{FF2B5EF4-FFF2-40B4-BE49-F238E27FC236}">
                <a16:creationId xmlns:a16="http://schemas.microsoft.com/office/drawing/2014/main" id="{635A2905-0B73-4C6B-BEC5-0328542AF0AA}"/>
              </a:ext>
            </a:extLst>
          </p:cNvPr>
          <p:cNvSpPr>
            <a:spLocks noGrp="1"/>
          </p:cNvSpPr>
          <p:nvPr>
            <p:ph idx="1"/>
          </p:nvPr>
        </p:nvSpPr>
        <p:spPr/>
        <p:txBody>
          <a:bodyPr>
            <a:normAutofit/>
          </a:bodyPr>
          <a:lstStyle/>
          <a:p>
            <a:pPr algn="just">
              <a:lnSpc>
                <a:spcPct val="150000"/>
              </a:lnSpc>
              <a:spcBef>
                <a:spcPts val="0"/>
              </a:spcBef>
            </a:pPr>
            <a:r>
              <a:rPr lang="en-GB" sz="2000" dirty="0">
                <a:solidFill>
                  <a:srgbClr val="000000"/>
                </a:solidFill>
                <a:effectLst/>
                <a:latin typeface="Times New Roman" panose="02020603050405020304" pitchFamily="18" charset="0"/>
                <a:ea typeface="Calibri" panose="020F0502020204030204" pitchFamily="34" charset="0"/>
              </a:rPr>
              <a:t>Amrita is conducting its annual book exhibition. There are n different books on sale in the exhibition. The </a:t>
            </a:r>
            <a:r>
              <a:rPr lang="en-GB" sz="2000" dirty="0" err="1">
                <a:solidFill>
                  <a:srgbClr val="000000"/>
                </a:solidFill>
                <a:effectLst/>
                <a:latin typeface="Times New Roman" panose="02020603050405020304" pitchFamily="18" charset="0"/>
                <a:ea typeface="Calibri" panose="020F0502020204030204" pitchFamily="34" charset="0"/>
              </a:rPr>
              <a:t>i</a:t>
            </a:r>
            <a:r>
              <a:rPr lang="en-GB" sz="2000" baseline="30000" dirty="0" err="1">
                <a:solidFill>
                  <a:srgbClr val="000000"/>
                </a:solidFill>
                <a:effectLst/>
                <a:latin typeface="Times New Roman" panose="02020603050405020304" pitchFamily="18" charset="0"/>
                <a:ea typeface="Calibri" panose="020F0502020204030204" pitchFamily="34" charset="0"/>
              </a:rPr>
              <a:t>th</a:t>
            </a:r>
            <a:r>
              <a:rPr lang="en-GB" sz="2000" dirty="0">
                <a:solidFill>
                  <a:srgbClr val="000000"/>
                </a:solidFill>
                <a:effectLst/>
                <a:latin typeface="Times New Roman" panose="02020603050405020304" pitchFamily="18" charset="0"/>
                <a:ea typeface="Calibri" panose="020F0502020204030204" pitchFamily="34" charset="0"/>
              </a:rPr>
              <a:t> book in the exhibition is priced at Rs. Pi. John is a first year student (Reg. No. BL.EN.U4CSE19020). John plans to spend Rs. W to buy books during the exhibition. He wants to impress upon his parents and buy as many of books as possible. However, he does not want to buy two copies of the same book.</a:t>
            </a:r>
            <a:endParaRPr lang="en-US" sz="2000" dirty="0">
              <a:effectLst/>
              <a:latin typeface="Times New Roman" panose="02020603050405020304" pitchFamily="18" charset="0"/>
              <a:ea typeface="Calibri" panose="020F0502020204030204" pitchFamily="34" charset="0"/>
            </a:endParaRPr>
          </a:p>
          <a:p>
            <a:pPr marL="0" marR="0" indent="0" algn="just">
              <a:lnSpc>
                <a:spcPct val="150000"/>
              </a:lnSpc>
              <a:spcBef>
                <a:spcPts val="0"/>
              </a:spcBef>
              <a:spcAft>
                <a:spcPts val="0"/>
              </a:spcAft>
              <a:buNone/>
            </a:pPr>
            <a:r>
              <a:rPr lang="en-GB" sz="2000" dirty="0">
                <a:solidFill>
                  <a:srgbClr val="000000"/>
                </a:solidFill>
                <a:latin typeface="Times New Roman" panose="02020603050405020304" pitchFamily="18" charset="0"/>
                <a:ea typeface="Calibri" panose="020F0502020204030204" pitchFamily="34" charset="0"/>
              </a:rPr>
              <a:t>   </a:t>
            </a:r>
            <a:r>
              <a:rPr lang="en-GB" sz="2000" dirty="0">
                <a:solidFill>
                  <a:srgbClr val="000000"/>
                </a:solidFill>
                <a:effectLst/>
                <a:latin typeface="Times New Roman" panose="02020603050405020304" pitchFamily="18" charset="0"/>
                <a:ea typeface="Calibri" panose="020F0502020204030204" pitchFamily="34" charset="0"/>
              </a:rPr>
              <a:t>a) Suggest an algorithm which John can use to buy as many books as possible with Rs. W.</a:t>
            </a:r>
            <a:endParaRPr lang="en-US" sz="2000" dirty="0">
              <a:effectLst/>
              <a:latin typeface="Times New Roman" panose="02020603050405020304" pitchFamily="18" charset="0"/>
              <a:ea typeface="Calibri" panose="020F0502020204030204" pitchFamily="34" charset="0"/>
            </a:endParaRPr>
          </a:p>
          <a:p>
            <a:pPr marL="0" indent="0" algn="just">
              <a:lnSpc>
                <a:spcPct val="150000"/>
              </a:lnSpc>
              <a:buNone/>
            </a:pPr>
            <a:r>
              <a:rPr lang="en-GB" sz="2000" dirty="0">
                <a:solidFill>
                  <a:srgbClr val="000000"/>
                </a:solidFill>
                <a:effectLst/>
                <a:latin typeface="Times New Roman" panose="02020603050405020304" pitchFamily="18" charset="0"/>
                <a:ea typeface="Calibri" panose="020F0502020204030204" pitchFamily="34" charset="0"/>
              </a:rPr>
              <a:t>   b) What is the complexity of your algorithm?</a:t>
            </a:r>
            <a:endParaRPr lang="en-US" sz="3200" dirty="0"/>
          </a:p>
        </p:txBody>
      </p:sp>
      <p:sp>
        <p:nvSpPr>
          <p:cNvPr id="4" name="TextBox 3">
            <a:extLst>
              <a:ext uri="{FF2B5EF4-FFF2-40B4-BE49-F238E27FC236}">
                <a16:creationId xmlns:a16="http://schemas.microsoft.com/office/drawing/2014/main" id="{8CBDE93A-8A5B-4C24-979B-072096ADD94B}"/>
              </a:ext>
            </a:extLst>
          </p:cNvPr>
          <p:cNvSpPr txBox="1"/>
          <p:nvPr/>
        </p:nvSpPr>
        <p:spPr>
          <a:xfrm>
            <a:off x="2933700" y="5718889"/>
            <a:ext cx="6096000" cy="742511"/>
          </a:xfrm>
          <a:prstGeom prst="rect">
            <a:avLst/>
          </a:prstGeom>
          <a:noFill/>
        </p:spPr>
        <p:txBody>
          <a:bodyPr wrap="square">
            <a:spAutoFit/>
          </a:bodyPr>
          <a:lstStyle/>
          <a:p>
            <a:pPr marL="0" indent="0" algn="just">
              <a:lnSpc>
                <a:spcPct val="150000"/>
              </a:lnSpc>
              <a:buNone/>
            </a:pPr>
            <a:r>
              <a:rPr lang="en-US" sz="3200" dirty="0">
                <a:latin typeface="Times New Roman" panose="02020603050405020304" pitchFamily="18" charset="0"/>
                <a:cs typeface="Times New Roman" panose="02020603050405020304" pitchFamily="18" charset="0"/>
              </a:rPr>
              <a:t>Dynamic Programming</a:t>
            </a:r>
          </a:p>
        </p:txBody>
      </p:sp>
    </p:spTree>
    <p:extLst>
      <p:ext uri="{BB962C8B-B14F-4D97-AF65-F5344CB8AC3E}">
        <p14:creationId xmlns:p14="http://schemas.microsoft.com/office/powerpoint/2010/main" val="21725165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FC5B31-67FB-4F55-849D-6C9F970F2561}"/>
              </a:ext>
            </a:extLst>
          </p:cNvPr>
          <p:cNvSpPr>
            <a:spLocks noGrp="1"/>
          </p:cNvSpPr>
          <p:nvPr>
            <p:ph type="title"/>
          </p:nvPr>
        </p:nvSpPr>
        <p:spPr/>
        <p:txBody>
          <a:bodyPr/>
          <a:lstStyle/>
          <a:p>
            <a:r>
              <a:rPr lang="en-US" dirty="0"/>
              <a:t>Example 7</a:t>
            </a:r>
          </a:p>
        </p:txBody>
      </p:sp>
      <p:sp>
        <p:nvSpPr>
          <p:cNvPr id="3" name="Content Placeholder 2">
            <a:extLst>
              <a:ext uri="{FF2B5EF4-FFF2-40B4-BE49-F238E27FC236}">
                <a16:creationId xmlns:a16="http://schemas.microsoft.com/office/drawing/2014/main" id="{1405D4F9-997B-4583-B863-26D46843E927}"/>
              </a:ext>
            </a:extLst>
          </p:cNvPr>
          <p:cNvSpPr>
            <a:spLocks noGrp="1"/>
          </p:cNvSpPr>
          <p:nvPr>
            <p:ph idx="1"/>
          </p:nvPr>
        </p:nvSpPr>
        <p:spPr/>
        <p:txBody>
          <a:bodyPr>
            <a:normAutofit lnSpcReduction="10000"/>
          </a:bodyPr>
          <a:lstStyle/>
          <a:p>
            <a:pPr algn="just">
              <a:lnSpc>
                <a:spcPct val="150000"/>
              </a:lnSpc>
              <a:spcBef>
                <a:spcPts val="0"/>
              </a:spcBef>
            </a:pPr>
            <a:r>
              <a:rPr lang="en-US" sz="1800" dirty="0">
                <a:effectLst/>
                <a:latin typeface="Times New Roman" panose="02020603050405020304" pitchFamily="18" charset="0"/>
                <a:ea typeface="Times New Roman" panose="02020603050405020304" pitchFamily="18" charset="0"/>
              </a:rPr>
              <a:t>You are playing a game where there is a monster is chasing you in a maze. The maze has a graph structure, possibly with cycles. Your goal is to escape from the maze before the monster catches you and eats you. You know the following: the maze layout, your location in the maze, and the monster's location. However, the escape door is invisible unless you are right in front of it. You and the monster alternate moves. At each move, the player moving (you or the monster) must move to a node adjacent to the mover's current position in the maze.</a:t>
            </a:r>
            <a:r>
              <a:rPr lang="en-US" sz="1800" dirty="0">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After getting eaten multiple times, you decide to write a program to figure out your moves. That is, at each step in the game, you will consult your program to decide where to move next. Your strategy won't necessarily guarantee that you escape, but it should greatly improve your chances. Discuss the issues/challenges of this problem, discuss the graph algorithms you might use and why, your general strategy if you have one, and any other details you feel are important. Note, this problem is intentionally left vague. Be creative and thoughtful.</a:t>
            </a:r>
          </a:p>
          <a:p>
            <a:endParaRPr lang="en-US" dirty="0"/>
          </a:p>
        </p:txBody>
      </p:sp>
      <p:sp>
        <p:nvSpPr>
          <p:cNvPr id="4" name="TextBox 3">
            <a:extLst>
              <a:ext uri="{FF2B5EF4-FFF2-40B4-BE49-F238E27FC236}">
                <a16:creationId xmlns:a16="http://schemas.microsoft.com/office/drawing/2014/main" id="{8A858286-388B-4861-B4E9-EBB2FF906563}"/>
              </a:ext>
            </a:extLst>
          </p:cNvPr>
          <p:cNvSpPr txBox="1"/>
          <p:nvPr/>
        </p:nvSpPr>
        <p:spPr>
          <a:xfrm>
            <a:off x="3419475" y="5750364"/>
            <a:ext cx="6096000" cy="742511"/>
          </a:xfrm>
          <a:prstGeom prst="rect">
            <a:avLst/>
          </a:prstGeom>
          <a:noFill/>
        </p:spPr>
        <p:txBody>
          <a:bodyPr wrap="square">
            <a:spAutoFit/>
          </a:bodyPr>
          <a:lstStyle/>
          <a:p>
            <a:pPr marL="0" indent="0" algn="just">
              <a:lnSpc>
                <a:spcPct val="150000"/>
              </a:lnSpc>
              <a:buNone/>
            </a:pPr>
            <a:r>
              <a:rPr lang="en-US" sz="3200" dirty="0">
                <a:latin typeface="Times New Roman" panose="02020603050405020304" pitchFamily="18" charset="0"/>
                <a:cs typeface="Times New Roman" panose="02020603050405020304" pitchFamily="18" charset="0"/>
              </a:rPr>
              <a:t>Backtracking</a:t>
            </a:r>
          </a:p>
        </p:txBody>
      </p:sp>
    </p:spTree>
    <p:extLst>
      <p:ext uri="{BB962C8B-B14F-4D97-AF65-F5344CB8AC3E}">
        <p14:creationId xmlns:p14="http://schemas.microsoft.com/office/powerpoint/2010/main" val="9089559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378</TotalTime>
  <Words>1018</Words>
  <Application>Microsoft Office PowerPoint</Application>
  <PresentationFormat>Widescreen</PresentationFormat>
  <Paragraphs>28</Paragraphs>
  <Slides>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Arial</vt:lpstr>
      <vt:lpstr>Calibri</vt:lpstr>
      <vt:lpstr>Calibri Light</vt:lpstr>
      <vt:lpstr>Symbol</vt:lpstr>
      <vt:lpstr>Times New Roman</vt:lpstr>
      <vt:lpstr>Office Theme</vt:lpstr>
      <vt:lpstr>Algorithm Design Strategies</vt:lpstr>
      <vt:lpstr>Example 1</vt:lpstr>
      <vt:lpstr>Example 2</vt:lpstr>
      <vt:lpstr>Example 3</vt:lpstr>
      <vt:lpstr>Example 4</vt:lpstr>
      <vt:lpstr>Example 5</vt:lpstr>
      <vt:lpstr>Example 6</vt:lpstr>
      <vt:lpstr>Example 7</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Algorithm Design Strategies</dc:title>
  <dc:creator>Supriya M</dc:creator>
  <cp:lastModifiedBy>Supriya M</cp:lastModifiedBy>
  <cp:revision>14</cp:revision>
  <dcterms:created xsi:type="dcterms:W3CDTF">2021-10-10T11:06:15Z</dcterms:created>
  <dcterms:modified xsi:type="dcterms:W3CDTF">2021-10-11T03:19:37Z</dcterms:modified>
</cp:coreProperties>
</file>