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0"/>
  </p:notesMasterIdLst>
  <p:handoutMasterIdLst>
    <p:handoutMasterId r:id="rId41"/>
  </p:handoutMasterIdLst>
  <p:sldIdLst>
    <p:sldId id="331" r:id="rId2"/>
    <p:sldId id="334" r:id="rId3"/>
    <p:sldId id="335" r:id="rId4"/>
    <p:sldId id="407" r:id="rId5"/>
    <p:sldId id="336" r:id="rId6"/>
    <p:sldId id="339" r:id="rId7"/>
    <p:sldId id="409" r:id="rId8"/>
    <p:sldId id="340" r:id="rId9"/>
    <p:sldId id="341" r:id="rId10"/>
    <p:sldId id="410" r:id="rId11"/>
    <p:sldId id="430" r:id="rId12"/>
    <p:sldId id="344" r:id="rId13"/>
    <p:sldId id="411" r:id="rId14"/>
    <p:sldId id="431" r:id="rId15"/>
    <p:sldId id="347" r:id="rId16"/>
    <p:sldId id="412" r:id="rId17"/>
    <p:sldId id="354" r:id="rId18"/>
    <p:sldId id="355" r:id="rId19"/>
    <p:sldId id="356" r:id="rId20"/>
    <p:sldId id="432" r:id="rId21"/>
    <p:sldId id="433" r:id="rId22"/>
    <p:sldId id="434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435" r:id="rId32"/>
    <p:sldId id="437" r:id="rId33"/>
    <p:sldId id="438" r:id="rId34"/>
    <p:sldId id="365" r:id="rId35"/>
    <p:sldId id="428" r:id="rId36"/>
    <p:sldId id="429" r:id="rId37"/>
    <p:sldId id="367" r:id="rId38"/>
    <p:sldId id="414" r:id="rId39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53" y="4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0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1000D4E-8A67-4003-8E87-772D9024C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4E0BBA3-E5B3-4DF0-BCF9-576ABB3C3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22619B1-76CC-405A-8360-27F1944D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412E0F5-3DB3-4276-9E28-E97E37598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6849717-E504-4367-AE73-45E192484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07A02F3-4A7A-4C49-8E28-03B39609B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EE992A3-26D2-44B8-92BB-28FFF646A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C5E8084-CD27-45F0-948B-527CF3E8C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1C2F6CE-343E-4E7D-B50B-7FBBE87E4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BD6615-ED48-4079-BAA7-A84844D67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825ED8D-9E3E-4698-BB5C-C026B0475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D5306E4-3AAE-4121-B023-8B43D082C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0BFD4EBE-353D-4C31-99D7-B7C3FEC6C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02C982-0312-4EC7-A741-67B0BEDA4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1F7861C-35C5-4B12-8A55-F7A16557D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2EC3CC7-E29A-4D50-9A98-532553638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B01CE6FA-B36D-49C3-8371-51A4E9764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8274DE9-BC41-40F6-83AC-5A3D3773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Scheduled disk operation- OS will send a request to the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2CB2C-F279-41F0-AC48-D923156805A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0303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551FA5F-3DAF-4F79-96DF-B76D1641D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67C6B9E-26B1-4F34-923D-B2966B894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351E2D8-3E9B-4911-A879-EA20F380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BB9D8362-CFFE-4239-A0CE-16166762B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00D4DD15-6D6E-4697-8517-23E5CECAC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3F296D03-4616-4EA3-8B0A-A93A46673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0-no page fault 1-every reference page fault</a:t>
            </a:r>
          </a:p>
          <a:p>
            <a:r>
              <a:rPr lang="en-US" dirty="0"/>
              <a:t>P is 1 out of 1000 access=0.01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2CB2C-F279-41F0-AC48-D923156805A3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5811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BE82472-66AF-4BF7-A2A7-57FD11ECB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3C9793E-0DAB-48C2-A22A-A9ACDD882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7AC332B0-F66D-4C3F-8DDB-E1E0D7FC2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6F09507-C2E2-47B2-82A8-B5E3C87D7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84A5CD44-BF84-48EC-B0BC-E076CADF8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26D7BA3-2768-4887-B710-E8BBC3F5A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A49125B-F571-4E5D-9BAD-1D212CCF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D870FB1-A095-437C-B6D2-2B1B4AAB9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501E773-1178-4204-823A-15B92DFA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0CCC09F-8FEA-4870-9E40-37BBE7100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A081F303-3AE6-4FDF-9914-380C5084D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4F7AB753-E023-44B0-B607-E3C978A6E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EDA1708-FBD0-46B6-B6E0-9DACFC6E8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60FA1B4-6A09-4A5E-8B97-24767F39B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52D03A7-D598-4B7B-B4F2-C1353D7B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reduce overhead by dirty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2CB2C-F279-41F0-AC48-D923156805A3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3705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047A01C-D4F1-483C-95F6-D9DE64F05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377D733F-0F22-4399-A6D3-B09E70F2D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FF7E3D3-1282-4112-B6EE-171A1083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839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18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6D552B07-256F-4CF9-951E-BED33D96D4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C3FC6E-E384-4B81-AA25-F632E1589562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91E88685-55B4-4474-96D2-B0B47E63B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71C63F73-047C-46CA-A5C8-6B22C38F4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CC7638-093C-4CC4-960F-79B01FBE9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BAF45D-7AF6-46D9-974E-C552BF29A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</a:p>
          <a:p>
            <a:pPr lvl="1"/>
            <a:r>
              <a:rPr lang="en-US" altLang="en-US" dirty="0"/>
              <a:t>Error code, unusual routines, large data structures</a:t>
            </a:r>
          </a:p>
          <a:p>
            <a:r>
              <a:rPr lang="en-US" altLang="en-US" dirty="0"/>
              <a:t>Entire program code not needed at same time</a:t>
            </a:r>
          </a:p>
          <a:p>
            <a:r>
              <a:rPr lang="en-US" altLang="en-US" dirty="0"/>
              <a:t>Consider ability to execute partially-loaded program</a:t>
            </a:r>
          </a:p>
          <a:p>
            <a:pPr lvl="1"/>
            <a:r>
              <a:rPr lang="en-US" altLang="en-US" dirty="0"/>
              <a:t>Program no longer constrained by limits of physical memory</a:t>
            </a:r>
          </a:p>
          <a:p>
            <a:pPr lvl="1"/>
            <a:r>
              <a:rPr lang="en-US" altLang="en-US" dirty="0"/>
              <a:t>Each program takes less memory while running -&gt; more programs run at the same time</a:t>
            </a:r>
          </a:p>
          <a:p>
            <a:pPr lvl="2"/>
            <a:r>
              <a:rPr lang="en-US" altLang="en-US" dirty="0"/>
              <a:t>Increased CPU utilization and throughput with no increase in response time or turnaround time</a:t>
            </a:r>
          </a:p>
          <a:p>
            <a:pPr lvl="1"/>
            <a:r>
              <a:rPr lang="en-US" altLang="en-US" dirty="0"/>
              <a:t>Less I/O needed to load or swap programs into memory -&gt; each user program runs faster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/>
            <a:r>
              <a:rPr lang="en-US" altLang="en-US" dirty="0"/>
              <a:t>Only part of the program needs to be in memory for execution</a:t>
            </a:r>
          </a:p>
          <a:p>
            <a:pPr lvl="1"/>
            <a:r>
              <a:rPr lang="en-US" altLang="en-US" dirty="0"/>
              <a:t>Logical address space can therefore be much larger than physical address space</a:t>
            </a:r>
          </a:p>
          <a:p>
            <a:pPr lvl="1"/>
            <a:r>
              <a:rPr lang="en-US" altLang="en-US" dirty="0"/>
              <a:t>Allows address spaces to be shared by several processes</a:t>
            </a:r>
          </a:p>
          <a:p>
            <a:pPr lvl="1"/>
            <a:r>
              <a:rPr lang="en-US" altLang="en-US" dirty="0"/>
              <a:t>Allows for more efficient process creation</a:t>
            </a:r>
          </a:p>
          <a:p>
            <a:pPr lvl="1"/>
            <a:r>
              <a:rPr lang="en-US" altLang="en-US" dirty="0"/>
              <a:t>More programs running concurrently</a:t>
            </a:r>
          </a:p>
          <a:p>
            <a:pPr lvl="1"/>
            <a:r>
              <a:rPr lang="en-US" altLang="en-US" dirty="0"/>
              <a:t>Less I/O needed to load or swap processes</a:t>
            </a:r>
          </a:p>
          <a:p>
            <a:endParaRPr lang="en-US" alt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DB020-58DC-4E49-1561-B2F73DD9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850" y="4440393"/>
            <a:ext cx="3581900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334937-C42E-4E7B-B0E3-358B7E80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</a:p>
        </p:txBody>
      </p:sp>
      <p:pic>
        <p:nvPicPr>
          <p:cNvPr id="10243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75959D58-FD0D-4362-987B-001456C2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69F4A5-E6CB-4B0B-8299-F4A8C1CEF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D2BC1A3-DFC6-4D60-B5FB-EA52511A2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Page is needed </a:t>
            </a:r>
            <a:r>
              <a:rPr lang="en-US" altLang="en-US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06DF40-C8BE-4D63-864C-842E26CBB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A26912-DDBD-4FE1-BFA7-E72BE4D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0333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64511C-9394-4FB0-8A88-DD12566F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F816111-C06D-4FA2-86A2-9368F11D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191243"/>
            <a:ext cx="7697755" cy="4530725"/>
          </a:xfrm>
        </p:spPr>
        <p:txBody>
          <a:bodyPr/>
          <a:lstStyle/>
          <a:p>
            <a:r>
              <a:rPr lang="en-US" altLang="en-US" dirty="0"/>
              <a:t>With swapping, pager guesses which pages will be used before swapping out again</a:t>
            </a:r>
          </a:p>
          <a:p>
            <a:r>
              <a:rPr lang="en-US" altLang="en-US" dirty="0"/>
              <a:t>Instead, pager brings in only those pages into memory</a:t>
            </a:r>
          </a:p>
          <a:p>
            <a:r>
              <a:rPr lang="en-US" altLang="en-US" dirty="0"/>
              <a:t>How to determine that set of pages?</a:t>
            </a:r>
          </a:p>
          <a:p>
            <a:pPr lvl="1"/>
            <a:r>
              <a:rPr lang="en-US" altLang="en-US" dirty="0"/>
              <a:t>Need new MMU functionality to implement demand paging</a:t>
            </a:r>
          </a:p>
          <a:p>
            <a:r>
              <a:rPr lang="en-US" altLang="en-US" dirty="0"/>
              <a:t>If pages needed are already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resident</a:t>
            </a:r>
          </a:p>
          <a:p>
            <a:pPr lvl="1"/>
            <a:r>
              <a:rPr lang="en-US" altLang="en-US" dirty="0"/>
              <a:t>No difference from non demand-paging</a:t>
            </a:r>
          </a:p>
          <a:p>
            <a:r>
              <a:rPr lang="en-US" altLang="en-US" dirty="0"/>
              <a:t>If page needed and not memory resident</a:t>
            </a:r>
          </a:p>
          <a:p>
            <a:pPr lvl="1"/>
            <a:r>
              <a:rPr lang="en-US" altLang="en-US" dirty="0"/>
              <a:t>Need to detect and load the page into memory from storage</a:t>
            </a:r>
          </a:p>
          <a:p>
            <a:pPr lvl="2"/>
            <a:r>
              <a:rPr lang="en-US" altLang="en-US" dirty="0"/>
              <a:t>Without changing program behavior</a:t>
            </a:r>
          </a:p>
          <a:p>
            <a:pPr lvl="2"/>
            <a:r>
              <a:rPr lang="en-US" altLang="en-US" dirty="0"/>
              <a:t>Without programmer needing to change code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871474-8C29-4C4D-A06C-A16B6A83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2DE0254-5503-4CC6-82D6-9AD27FDC1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dirty="0"/>
              <a:t>With each page table entry a valid–invalid bit is associated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in-memory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not-in-memory)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dirty="0">
                <a:sym typeface="Symbol" panose="05050102010706020507" pitchFamily="18" charset="2"/>
              </a:rPr>
              <a:t>on all entries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 dirty="0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16388" name="Picture 1">
            <a:extLst>
              <a:ext uri="{FF2B5EF4-FFF2-40B4-BE49-F238E27FC236}">
                <a16:creationId xmlns:a16="http://schemas.microsoft.com/office/drawing/2014/main" id="{6076F79C-4BBB-4218-90FB-18A6D83B8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897" y="2623263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154921-491D-443E-816A-3E1D64EAD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</a:p>
        </p:txBody>
      </p:sp>
      <p:pic>
        <p:nvPicPr>
          <p:cNvPr id="17411" name="Picture 2" descr="B:\os-book\os10-dir\Slides-WORK-area\Figures-dir\ch10\JPG-dir\10_04.jpg">
            <a:extLst>
              <a:ext uri="{FF2B5EF4-FFF2-40B4-BE49-F238E27FC236}">
                <a16:creationId xmlns:a16="http://schemas.microsoft.com/office/drawing/2014/main" id="{EE8B21A0-27D4-48EC-AA1E-673C6BCA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8"/>
            <a:ext cx="4805362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AA31-249B-F0A9-7A5D-9CA37621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C5519-807F-FE3E-BE6E-535F1F422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42" y="1423707"/>
            <a:ext cx="7459116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9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5744E8-6995-495D-B4E9-CB815555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</a:p>
        </p:txBody>
      </p:sp>
      <p:pic>
        <p:nvPicPr>
          <p:cNvPr id="19459" name="Picture 4" descr="9">
            <a:extLst>
              <a:ext uri="{FF2B5EF4-FFF2-40B4-BE49-F238E27FC236}">
                <a16:creationId xmlns:a16="http://schemas.microsoft.com/office/drawing/2014/main" id="{4C87B603-A2E7-4FAE-A0CB-D034C608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1A455AE-86AA-4EA2-9575-6B5ABC990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1D3A033-F636-4DD5-B0D9-B3C0BC32B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dirty="0"/>
              <a:t>When a page fault occurs, the operating system must bring the desired page from secondary storage into main memory. </a:t>
            </a:r>
          </a:p>
          <a:p>
            <a:r>
              <a:rPr lang="en-US" altLang="en-US" dirty="0"/>
              <a:t>Most operating systems maintain a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b="1" dirty="0">
                <a:solidFill>
                  <a:srgbClr val="0070C0"/>
                </a:solidFill>
              </a:rPr>
              <a:t> list</a:t>
            </a:r>
            <a:r>
              <a:rPr lang="en-US" altLang="en-US" dirty="0"/>
              <a:t> -- a pool of free frames for satisfying such requests.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Operating system typically allocate free frames using a technique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dirty="0"/>
              <a:t> --  the content of the frames zeroed-out before being allocated.</a:t>
            </a:r>
          </a:p>
          <a:p>
            <a:r>
              <a:rPr lang="en-US" altLang="en-US" dirty="0"/>
              <a:t>When a system starts up, all available memory is placed on the free-frame list.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22532" name="Picture 2" descr="B:\os-book\os10-dir\Slides-WORK-area\Figures-dir\ch10\JPG-dir\10_06.jpg">
            <a:extLst>
              <a:ext uri="{FF2B5EF4-FFF2-40B4-BE49-F238E27FC236}">
                <a16:creationId xmlns:a16="http://schemas.microsoft.com/office/drawing/2014/main" id="{74C1D426-4DEE-495E-BFD2-9DDD43D1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208" y="282798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52CD-8F6C-6EF4-20B8-88C8B1D9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F13EB-757D-8A05-E82D-B68DB8FDD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83DAB-AD25-D195-BAC8-2193C141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4" y="1114102"/>
            <a:ext cx="9078592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30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3106162-FA5D-4204-BC6B-FC492CAB8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sz="3000" dirty="0"/>
            </a:br>
            <a:r>
              <a:rPr lang="en-US" altLang="en-US" sz="3000" dirty="0"/>
              <a:t>Stages in Demand Paging – Worse Case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9FD618-6420-46F8-ADA3-3B84918F6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Issue a read from the disk to a free frame:</a:t>
            </a:r>
          </a:p>
          <a:p>
            <a:pPr marL="800100" lvl="1" indent="-342900">
              <a:buFont typeface="+mj-lt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Begin the transfer of the page to a free frame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F1F3F51-F06E-4908-B338-588E54F1A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04CF6A9-3B99-4D5B-BF8C-4531B0913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While waiting, allocate the CPU to some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Receive an interrupt from the disk I/O subsystem (I/O   completed)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Save the registers and process state for the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Determine that the interrupt was from the disk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Correct the page table and other tables to show page is now in memory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Wait for the CPU to be allocated to this process again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Restore the user registers, process state, and new page table, and then  </a:t>
            </a:r>
          </a:p>
          <a:p>
            <a:pPr marL="0" indent="0">
              <a:spcBef>
                <a:spcPts val="0"/>
              </a:spcBef>
              <a:buNone/>
              <a:tabLst>
                <a:tab pos="2163763" algn="l"/>
                <a:tab pos="2855913" algn="l"/>
              </a:tabLst>
            </a:pPr>
            <a:r>
              <a:rPr lang="en-US" altLang="en-US" dirty="0"/>
              <a:t>       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488EA0-8C3D-457E-9DD0-39B979074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4E993E-0F50-409F-A8A7-195A5B940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dirty="0"/>
              <a:t>Used up by process pages</a:t>
            </a:r>
          </a:p>
          <a:p>
            <a:r>
              <a:rPr lang="en-US" altLang="en-US" dirty="0"/>
              <a:t>Also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How much to allocate to each?</a:t>
            </a:r>
          </a:p>
          <a:p>
            <a:r>
              <a:rPr lang="en-US" altLang="en-US" dirty="0"/>
              <a:t>Page replacement – find some page in memory, but not really in use, page it out</a:t>
            </a:r>
          </a:p>
          <a:p>
            <a:pPr lvl="1"/>
            <a:r>
              <a:rPr lang="en-US" altLang="en-US" dirty="0"/>
              <a:t>Algorithm – terminate? swap out? replace the page?</a:t>
            </a:r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</a:p>
          <a:p>
            <a:r>
              <a:rPr lang="en-US" altLang="en-US" dirty="0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B00CC0E-9E33-4072-9D8C-43E000475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125108-1B16-48F4-B19C-7A4934EC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dirty="0"/>
              <a:t>Prevent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dirty="0"/>
              <a:t> of memory by modifying page-fault service routine to include page replacement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reduce overhead of page transfers – only modified pages are written to disk</a:t>
            </a:r>
          </a:p>
          <a:p>
            <a:r>
              <a:rPr lang="en-US" altLang="en-US" dirty="0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60E5859-1ADF-409F-B8A3-01A46FD0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33795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1AAD-F164-9994-314C-2F689EAE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F8664-7CCC-EAA7-732C-9C28892DA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1" y="1352260"/>
            <a:ext cx="8935697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40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C49F-D202-4DD0-6C54-6A74BE15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20B56-9EAF-798F-E452-11985BB29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9" y="1461813"/>
            <a:ext cx="7678222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63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73B9-6590-6AC9-C444-AACF78B6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BD63D3-677F-769F-D845-AC8AAD24F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30" y="1357023"/>
            <a:ext cx="8697539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47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3D0E3-2B35-4747-8B9E-6B7BFD7D4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9B5FA-26B2-48A5-8A7B-413D74146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   </a:t>
            </a:r>
            <a:r>
              <a:rPr lang="en-US" altLang="en-US" dirty="0"/>
              <a:t>-</a:t>
            </a:r>
            <a:r>
              <a:rPr lang="en-US" altLang="en-US" b="1" dirty="0"/>
              <a:t>  </a:t>
            </a:r>
            <a:r>
              <a:rPr lang="en-US" altLang="en-US" dirty="0"/>
              <a:t>Write victim frame to disk if dirty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33475"/>
            <a:ext cx="7679094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In all our examples,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referenced page numbers is </a:t>
            </a:r>
          </a:p>
          <a:p>
            <a:pPr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dirty="0"/>
              <a:t>	              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 marL="457200" lvl="1" indent="0">
              <a:buNone/>
              <a:tabLst>
                <a:tab pos="1889125" algn="l"/>
              </a:tabLst>
            </a:pPr>
            <a:r>
              <a:rPr lang="en-US" dirty="0"/>
              <a:t>Optimal page replacement needs to know which pages will be used in the future, which is not possible in real-world scenarios.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79" y="1260964"/>
            <a:ext cx="7751989" cy="48355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41988" name="Picture 4" descr="9">
            <a:extLst>
              <a:ext uri="{FF2B5EF4-FFF2-40B4-BE49-F238E27FC236}">
                <a16:creationId xmlns:a16="http://schemas.microsoft.com/office/drawing/2014/main" id="{1C494269-8B4A-4BA9-9CC1-ED6087AC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2635545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EEE8-A7BC-6F92-D84A-2857C75D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E9A35-B010-7A21-DBF2-831D0C112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page reference string 1, 3, 0, 3, 5, 6, 3 with 3-page frames. Find the number of page faults using FIFO Page Replacement Algorithm.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page reference string:</a:t>
            </a:r>
          </a:p>
          <a:p>
            <a:pPr marL="0" indent="0">
              <a:buNone/>
            </a:pPr>
            <a:r>
              <a:rPr lang="en-US" dirty="0"/>
              <a:t>1,2,3,4,2,1,5,6,2,1,2,3,7,6,3,2,1,2,3,6  frame size =4</a:t>
            </a:r>
          </a:p>
          <a:p>
            <a:pPr marL="0" indent="0">
              <a:buNone/>
            </a:pPr>
            <a:r>
              <a:rPr lang="en-US" dirty="0"/>
              <a:t>Compare the number of page faults for LRU, FIFO and Optimal page replacement algorithm</a:t>
            </a:r>
          </a:p>
        </p:txBody>
      </p:sp>
    </p:spTree>
    <p:extLst>
      <p:ext uri="{BB962C8B-B14F-4D97-AF65-F5344CB8AC3E}">
        <p14:creationId xmlns:p14="http://schemas.microsoft.com/office/powerpoint/2010/main" val="2362449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79A2-74F7-5F59-9126-DBABDD7F5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EB4E2-052C-EDCF-1644-3D70588AD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032" y="1233488"/>
            <a:ext cx="6218785" cy="4530725"/>
          </a:xfrm>
        </p:spPr>
      </p:pic>
    </p:spTree>
    <p:extLst>
      <p:ext uri="{BB962C8B-B14F-4D97-AF65-F5344CB8AC3E}">
        <p14:creationId xmlns:p14="http://schemas.microsoft.com/office/powerpoint/2010/main" val="3677237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E945-8F3C-5D1C-1685-346A41F7C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CAEF1-CE81-B2BF-2672-0D4A9AEE0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846" y="1233488"/>
            <a:ext cx="6199158" cy="4530725"/>
          </a:xfrm>
        </p:spPr>
      </p:pic>
    </p:spTree>
    <p:extLst>
      <p:ext uri="{BB962C8B-B14F-4D97-AF65-F5344CB8AC3E}">
        <p14:creationId xmlns:p14="http://schemas.microsoft.com/office/powerpoint/2010/main" val="1521731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>
            <a:extLst>
              <a:ext uri="{FF2B5EF4-FFF2-40B4-BE49-F238E27FC236}">
                <a16:creationId xmlns:a16="http://schemas.microsoft.com/office/drawing/2014/main" id="{650D8023-264A-4AC3-B430-E0C59C95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499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referenced bit set to 1</a:t>
            </a:r>
          </a:p>
          <a:p>
            <a:pPr lvl="1"/>
            <a:r>
              <a:rPr lang="en-US" altLang="en-US" dirty="0"/>
              <a:t>Replace any with reference bit = 0 (if one exists)</a:t>
            </a:r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41356722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then:</a:t>
            </a:r>
          </a:p>
          <a:p>
            <a:pPr lvl="3"/>
            <a:r>
              <a:rPr lang="en-US" altLang="en-US" dirty="0"/>
              <a:t>set reference bit 0, leave page in memory</a:t>
            </a:r>
          </a:p>
          <a:p>
            <a:pPr lvl="3"/>
            <a:r>
              <a:rPr lang="en-US" altLang="en-US" dirty="0"/>
              <a:t>replace next page, subject to same rules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B7010A0A-69BE-40FB-B610-371954DA7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476" y="244899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86019" name="Picture 4" descr="9">
            <a:extLst>
              <a:ext uri="{FF2B5EF4-FFF2-40B4-BE49-F238E27FC236}">
                <a16:creationId xmlns:a16="http://schemas.microsoft.com/office/drawing/2014/main" id="{50E85EF8-613B-4255-9442-9E2F2002B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192213"/>
            <a:ext cx="619283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18672</TotalTime>
  <Words>1714</Words>
  <Application>Microsoft Office PowerPoint</Application>
  <PresentationFormat>On-screen Show (4:3)</PresentationFormat>
  <Paragraphs>234</Paragraphs>
  <Slides>38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Chapter 10:  Virtual Memory</vt:lpstr>
      <vt:lpstr>Background</vt:lpstr>
      <vt:lpstr>Virtual memory </vt:lpstr>
      <vt:lpstr>Virtual memory  (Cont.)</vt:lpstr>
      <vt:lpstr>Virtual Memory That is Larger Than Physical Memory</vt:lpstr>
      <vt:lpstr>Demand Paging</vt:lpstr>
      <vt:lpstr>Demand Paging</vt:lpstr>
      <vt:lpstr>Basic Concepts</vt:lpstr>
      <vt:lpstr>Valid-Invalid Bit</vt:lpstr>
      <vt:lpstr>Page Table When Some Pages Are Not in Main Memory</vt:lpstr>
      <vt:lpstr>PowerPoint Presentation</vt:lpstr>
      <vt:lpstr>Steps in Handling a Page Fault (Cont.)</vt:lpstr>
      <vt:lpstr>Free-Frame List</vt:lpstr>
      <vt:lpstr>PowerPoint Presentation</vt:lpstr>
      <vt:lpstr> Stages in Demand Paging – Worse Case</vt:lpstr>
      <vt:lpstr>Stages in Demand Paging  (Cont.)</vt:lpstr>
      <vt:lpstr>What Happens if There is no Free Frame?</vt:lpstr>
      <vt:lpstr>Page Replacement</vt:lpstr>
      <vt:lpstr>Need For Page Replacement</vt:lpstr>
      <vt:lpstr>PowerPoint Presentation</vt:lpstr>
      <vt:lpstr>PowerPoint Presentation</vt:lpstr>
      <vt:lpstr>PowerPoint Presentation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PowerPoint Presentation</vt:lpstr>
      <vt:lpstr>PowerPoint Presentation</vt:lpstr>
      <vt:lpstr>PowerPoint Presentation</vt:lpstr>
      <vt:lpstr>LRU Algorithm (Cont.)</vt:lpstr>
      <vt:lpstr>LRU Algorithm (Cont.)</vt:lpstr>
      <vt:lpstr>LRU Approximation Algorithms</vt:lpstr>
      <vt:lpstr>LRU Approximation Algorithms (cont.)</vt:lpstr>
      <vt:lpstr>Need For Page Replacement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Aiswariya Milan</cp:lastModifiedBy>
  <cp:revision>295</cp:revision>
  <cp:lastPrinted>2013-09-10T17:57:57Z</cp:lastPrinted>
  <dcterms:created xsi:type="dcterms:W3CDTF">2011-01-13T23:43:38Z</dcterms:created>
  <dcterms:modified xsi:type="dcterms:W3CDTF">2026-05-08T04:05:31Z</dcterms:modified>
</cp:coreProperties>
</file>