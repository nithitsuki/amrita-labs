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447" r:id="rId5"/>
    <p:sldId id="448" r:id="rId6"/>
    <p:sldId id="259" r:id="rId7"/>
    <p:sldId id="260" r:id="rId8"/>
    <p:sldId id="261" r:id="rId9"/>
    <p:sldId id="265" r:id="rId10"/>
    <p:sldId id="262" r:id="rId11"/>
    <p:sldId id="263" r:id="rId12"/>
    <p:sldId id="264" r:id="rId13"/>
    <p:sldId id="266" r:id="rId14"/>
    <p:sldId id="267" r:id="rId15"/>
    <p:sldId id="268" r:id="rId16"/>
    <p:sldId id="275" r:id="rId17"/>
    <p:sldId id="276" r:id="rId18"/>
    <p:sldId id="277" r:id="rId19"/>
    <p:sldId id="278" r:id="rId20"/>
    <p:sldId id="279" r:id="rId21"/>
    <p:sldId id="280" r:id="rId22"/>
    <p:sldId id="281" r:id="rId23"/>
    <p:sldId id="457" r:id="rId24"/>
    <p:sldId id="458" r:id="rId25"/>
    <p:sldId id="282" r:id="rId26"/>
    <p:sldId id="283" r:id="rId27"/>
    <p:sldId id="449" r:id="rId28"/>
    <p:sldId id="450" r:id="rId29"/>
    <p:sldId id="284" r:id="rId30"/>
    <p:sldId id="285" r:id="rId31"/>
    <p:sldId id="286" r:id="rId32"/>
    <p:sldId id="451" r:id="rId33"/>
    <p:sldId id="452" r:id="rId34"/>
    <p:sldId id="287" r:id="rId35"/>
    <p:sldId id="288" r:id="rId36"/>
    <p:sldId id="289" r:id="rId37"/>
    <p:sldId id="290" r:id="rId38"/>
    <p:sldId id="291" r:id="rId39"/>
    <p:sldId id="292" r:id="rId40"/>
    <p:sldId id="453" r:id="rId41"/>
    <p:sldId id="293" r:id="rId42"/>
    <p:sldId id="294" r:id="rId43"/>
    <p:sldId id="295" r:id="rId44"/>
    <p:sldId id="297" r:id="rId45"/>
    <p:sldId id="298" r:id="rId46"/>
    <p:sldId id="269" r:id="rId47"/>
    <p:sldId id="270" r:id="rId48"/>
    <p:sldId id="456" r:id="rId49"/>
    <p:sldId id="271" r:id="rId50"/>
    <p:sldId id="272" r:id="rId51"/>
    <p:sldId id="273" r:id="rId52"/>
    <p:sldId id="454" r:id="rId53"/>
    <p:sldId id="455" r:id="rId54"/>
    <p:sldId id="314" r:id="rId5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782" autoAdjust="0"/>
  </p:normalViewPr>
  <p:slideViewPr>
    <p:cSldViewPr>
      <p:cViewPr varScale="1">
        <p:scale>
          <a:sx n="63" d="100"/>
          <a:sy n="63" d="100"/>
        </p:scale>
        <p:origin x="195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5CBA559-33DA-4AD2-8264-D9CABCFD34E8}" type="datetimeFigureOut">
              <a:rPr lang="en-US" smtClean="0"/>
              <a:t>4/29/2026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49D026F-54F5-4360-BFD9-BCDB443D9769}" type="slidenum">
              <a:rPr lang="en-US" smtClean="0"/>
              <a:t>‹#›</a:t>
            </a:fld>
            <a:endParaRPr lang="en-US"/>
          </a:p>
        </p:txBody>
      </p:sp>
    </p:spTree>
    <p:extLst>
      <p:ext uri="{BB962C8B-B14F-4D97-AF65-F5344CB8AC3E}">
        <p14:creationId xmlns:p14="http://schemas.microsoft.com/office/powerpoint/2010/main" val="81546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number identifies the page</a:t>
            </a:r>
          </a:p>
          <a:p>
            <a:r>
              <a:rPr lang="en-US" dirty="0"/>
              <a:t>Offset exact location within the page</a:t>
            </a:r>
          </a:p>
        </p:txBody>
      </p:sp>
      <p:sp>
        <p:nvSpPr>
          <p:cNvPr id="4" name="Slide Number Placeholder 3"/>
          <p:cNvSpPr>
            <a:spLocks noGrp="1"/>
          </p:cNvSpPr>
          <p:nvPr>
            <p:ph type="sldNum" sz="quarter" idx="5"/>
          </p:nvPr>
        </p:nvSpPr>
        <p:spPr/>
        <p:txBody>
          <a:bodyPr/>
          <a:lstStyle/>
          <a:p>
            <a:fld id="{D49D026F-54F5-4360-BFD9-BCDB443D9769}" type="slidenum">
              <a:rPr lang="en-US" smtClean="0"/>
              <a:t>26</a:t>
            </a:fld>
            <a:endParaRPr lang="en-US"/>
          </a:p>
        </p:txBody>
      </p:sp>
    </p:spTree>
    <p:extLst>
      <p:ext uri="{BB962C8B-B14F-4D97-AF65-F5344CB8AC3E}">
        <p14:creationId xmlns:p14="http://schemas.microsoft.com/office/powerpoint/2010/main" val="65484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rgbClr val="FF0000"/>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5" name="Holder 5"/>
          <p:cNvSpPr>
            <a:spLocks noGrp="1"/>
          </p:cNvSpPr>
          <p:nvPr>
            <p:ph type="dt" sz="half" idx="6"/>
          </p:nvPr>
        </p:nvSpPr>
        <p:spPr/>
        <p:txBody>
          <a:bodyPr lIns="0" tIns="0" rIns="0" bIns="0"/>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Holder 6"/>
          <p:cNvSpPr>
            <a:spLocks noGrp="1"/>
          </p:cNvSpPr>
          <p:nvPr>
            <p:ph type="sldNum" sz="quarter" idx="7"/>
          </p:nvPr>
        </p:nvSpPr>
        <p:spPr/>
        <p:txBody>
          <a:bodyPr lIns="0" tIns="0" rIns="0" bIns="0"/>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5" name="Holder 5"/>
          <p:cNvSpPr>
            <a:spLocks noGrp="1"/>
          </p:cNvSpPr>
          <p:nvPr>
            <p:ph type="dt" sz="half" idx="6"/>
          </p:nvPr>
        </p:nvSpPr>
        <p:spPr/>
        <p:txBody>
          <a:bodyPr lIns="0" tIns="0" rIns="0" bIns="0"/>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Holder 6"/>
          <p:cNvSpPr>
            <a:spLocks noGrp="1"/>
          </p:cNvSpPr>
          <p:nvPr>
            <p:ph type="sldNum" sz="quarter" idx="7"/>
          </p:nvPr>
        </p:nvSpPr>
        <p:spPr/>
        <p:txBody>
          <a:bodyPr lIns="0" tIns="0" rIns="0" bIns="0"/>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6" name="Holder 6"/>
          <p:cNvSpPr>
            <a:spLocks noGrp="1"/>
          </p:cNvSpPr>
          <p:nvPr>
            <p:ph type="dt" sz="half" idx="6"/>
          </p:nvPr>
        </p:nvSpPr>
        <p:spPr/>
        <p:txBody>
          <a:bodyPr lIns="0" tIns="0" rIns="0" bIns="0"/>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7" name="Holder 7"/>
          <p:cNvSpPr>
            <a:spLocks noGrp="1"/>
          </p:cNvSpPr>
          <p:nvPr>
            <p:ph type="sldNum" sz="quarter" idx="7"/>
          </p:nvPr>
        </p:nvSpPr>
        <p:spPr/>
        <p:txBody>
          <a:bodyPr lIns="0" tIns="0" rIns="0" bIns="0"/>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FF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4" name="Holder 4"/>
          <p:cNvSpPr>
            <a:spLocks noGrp="1"/>
          </p:cNvSpPr>
          <p:nvPr>
            <p:ph type="dt" sz="half" idx="6"/>
          </p:nvPr>
        </p:nvSpPr>
        <p:spPr/>
        <p:txBody>
          <a:bodyPr lIns="0" tIns="0" rIns="0" bIns="0"/>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Holder 5"/>
          <p:cNvSpPr>
            <a:spLocks noGrp="1"/>
          </p:cNvSpPr>
          <p:nvPr>
            <p:ph type="sldNum" sz="quarter" idx="7"/>
          </p:nvPr>
        </p:nvSpPr>
        <p:spPr/>
        <p:txBody>
          <a:bodyPr lIns="0" tIns="0" rIns="0" bIns="0"/>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Holder 3"/>
          <p:cNvSpPr>
            <a:spLocks noGrp="1"/>
          </p:cNvSpPr>
          <p:nvPr>
            <p:ph type="dt" sz="half" idx="6"/>
          </p:nvPr>
        </p:nvSpPr>
        <p:spPr/>
        <p:txBody>
          <a:bodyPr lIns="0" tIns="0" rIns="0" bIns="0"/>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4" name="Holder 4"/>
          <p:cNvSpPr>
            <a:spLocks noGrp="1"/>
          </p:cNvSpPr>
          <p:nvPr>
            <p:ph type="sldNum" sz="quarter" idx="7"/>
          </p:nvPr>
        </p:nvSpPr>
        <p:spPr/>
        <p:txBody>
          <a:bodyPr lIns="0" tIns="0" rIns="0" bIns="0"/>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354450" y="68791"/>
            <a:ext cx="1035086" cy="816327"/>
          </a:xfrm>
          <a:prstGeom prst="rect">
            <a:avLst/>
          </a:prstGeom>
        </p:spPr>
      </p:pic>
      <p:sp>
        <p:nvSpPr>
          <p:cNvPr id="17" name="bg object 17"/>
          <p:cNvSpPr/>
          <p:nvPr/>
        </p:nvSpPr>
        <p:spPr>
          <a:xfrm>
            <a:off x="0" y="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336699"/>
          </a:solidFill>
        </p:spPr>
        <p:txBody>
          <a:bodyPr wrap="square" lIns="0" tIns="0" rIns="0" bIns="0" rtlCol="0"/>
          <a:lstStyle/>
          <a:p>
            <a:endParaRPr/>
          </a:p>
        </p:txBody>
      </p:sp>
      <p:sp>
        <p:nvSpPr>
          <p:cNvPr id="18" name="bg object 18"/>
          <p:cNvSpPr/>
          <p:nvPr/>
        </p:nvSpPr>
        <p:spPr>
          <a:xfrm>
            <a:off x="457200" y="860425"/>
            <a:ext cx="8077200" cy="0"/>
          </a:xfrm>
          <a:custGeom>
            <a:avLst/>
            <a:gdLst/>
            <a:ahLst/>
            <a:cxnLst/>
            <a:rect l="l" t="t" r="r" b="b"/>
            <a:pathLst>
              <a:path w="8077200">
                <a:moveTo>
                  <a:pt x="0" y="0"/>
                </a:moveTo>
                <a:lnTo>
                  <a:pt x="8077200" y="0"/>
                </a:lnTo>
              </a:path>
            </a:pathLst>
          </a:custGeom>
          <a:ln w="19050">
            <a:solidFill>
              <a:srgbClr val="336699"/>
            </a:solidFill>
          </a:ln>
        </p:spPr>
        <p:txBody>
          <a:bodyPr wrap="square" lIns="0" tIns="0" rIns="0" bIns="0" rtlCol="0"/>
          <a:lstStyle/>
          <a:p>
            <a:endParaRPr/>
          </a:p>
        </p:txBody>
      </p:sp>
      <p:sp>
        <p:nvSpPr>
          <p:cNvPr id="19" name="bg object 19"/>
          <p:cNvSpPr/>
          <p:nvPr/>
        </p:nvSpPr>
        <p:spPr>
          <a:xfrm>
            <a:off x="0" y="228600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99CCFF"/>
          </a:solidFill>
        </p:spPr>
        <p:txBody>
          <a:bodyPr wrap="square" lIns="0" tIns="0" rIns="0" bIns="0" rtlCol="0"/>
          <a:lstStyle/>
          <a:p>
            <a:endParaRPr/>
          </a:p>
        </p:txBody>
      </p:sp>
      <p:sp>
        <p:nvSpPr>
          <p:cNvPr id="20" name="bg object 20"/>
          <p:cNvSpPr/>
          <p:nvPr/>
        </p:nvSpPr>
        <p:spPr>
          <a:xfrm>
            <a:off x="0" y="457200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336699"/>
          </a:solidFill>
        </p:spPr>
        <p:txBody>
          <a:bodyPr wrap="square" lIns="0" tIns="0" rIns="0" bIns="0" rtlCol="0"/>
          <a:lstStyle/>
          <a:p>
            <a:endParaRPr/>
          </a:p>
        </p:txBody>
      </p:sp>
      <p:pic>
        <p:nvPicPr>
          <p:cNvPr id="21" name="bg object 21"/>
          <p:cNvPicPr/>
          <p:nvPr/>
        </p:nvPicPr>
        <p:blipFill>
          <a:blip r:embed="rId8" cstate="print"/>
          <a:stretch>
            <a:fillRect/>
          </a:stretch>
        </p:blipFill>
        <p:spPr>
          <a:xfrm>
            <a:off x="7774051" y="5849937"/>
            <a:ext cx="1284224" cy="792162"/>
          </a:xfrm>
          <a:prstGeom prst="rect">
            <a:avLst/>
          </a:prstGeom>
        </p:spPr>
      </p:pic>
      <p:sp>
        <p:nvSpPr>
          <p:cNvPr id="2" name="Holder 2"/>
          <p:cNvSpPr>
            <a:spLocks noGrp="1"/>
          </p:cNvSpPr>
          <p:nvPr>
            <p:ph type="title"/>
          </p:nvPr>
        </p:nvSpPr>
        <p:spPr>
          <a:xfrm>
            <a:off x="56388" y="61086"/>
            <a:ext cx="9031223" cy="701167"/>
          </a:xfrm>
          <a:prstGeom prst="rect">
            <a:avLst/>
          </a:prstGeom>
        </p:spPr>
        <p:txBody>
          <a:bodyPr wrap="square" lIns="0" tIns="0" rIns="0" bIns="0">
            <a:spAutoFit/>
          </a:bodyPr>
          <a:lstStyle>
            <a:lvl1pPr>
              <a:defRPr sz="3200" b="1" i="0">
                <a:solidFill>
                  <a:srgbClr val="FF0000"/>
                </a:solidFill>
                <a:latin typeface="Arial"/>
                <a:cs typeface="Arial"/>
              </a:defRPr>
            </a:lvl1pPr>
          </a:lstStyle>
          <a:p>
            <a:endParaRPr/>
          </a:p>
        </p:txBody>
      </p:sp>
      <p:sp>
        <p:nvSpPr>
          <p:cNvPr id="3" name="Holder 3"/>
          <p:cNvSpPr>
            <a:spLocks noGrp="1"/>
          </p:cNvSpPr>
          <p:nvPr>
            <p:ph type="body" idx="1"/>
          </p:nvPr>
        </p:nvSpPr>
        <p:spPr>
          <a:xfrm>
            <a:off x="1422019" y="2870708"/>
            <a:ext cx="5821680" cy="150748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264668" y="6664103"/>
            <a:ext cx="2475230" cy="167640"/>
          </a:xfrm>
          <a:prstGeom prst="rect">
            <a:avLst/>
          </a:prstGeom>
        </p:spPr>
        <p:txBody>
          <a:bodyPr wrap="square" lIns="0" tIns="0" rIns="0" bIns="0">
            <a:spAutoFit/>
          </a:bodyPr>
          <a:lstStyle>
            <a:lvl1pPr>
              <a:defRPr sz="1000" b="1" i="0">
                <a:solidFill>
                  <a:srgbClr val="006699"/>
                </a:solidFill>
                <a:latin typeface="Arial"/>
                <a:cs typeface="Arial"/>
              </a:defRPr>
            </a:lvl1p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5" name="Holder 5"/>
          <p:cNvSpPr>
            <a:spLocks noGrp="1"/>
          </p:cNvSpPr>
          <p:nvPr>
            <p:ph type="dt" sz="half" idx="6"/>
          </p:nvPr>
        </p:nvSpPr>
        <p:spPr>
          <a:xfrm>
            <a:off x="6685915" y="6631425"/>
            <a:ext cx="2323465" cy="167004"/>
          </a:xfrm>
          <a:prstGeom prst="rect">
            <a:avLst/>
          </a:prstGeom>
        </p:spPr>
        <p:txBody>
          <a:bodyPr wrap="square" lIns="0" tIns="0" rIns="0" bIns="0">
            <a:spAutoFit/>
          </a:bodyPr>
          <a:lstStyle>
            <a:lvl1pPr>
              <a:defRPr sz="1000" b="1" i="0">
                <a:solidFill>
                  <a:srgbClr val="006699"/>
                </a:solidFill>
                <a:latin typeface="Arial"/>
                <a:cs typeface="Arial"/>
              </a:defRPr>
            </a:lvl1p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Holder 6"/>
          <p:cNvSpPr>
            <a:spLocks noGrp="1"/>
          </p:cNvSpPr>
          <p:nvPr>
            <p:ph type="sldNum" sz="quarter" idx="7"/>
          </p:nvPr>
        </p:nvSpPr>
        <p:spPr>
          <a:xfrm>
            <a:off x="4345304" y="6656752"/>
            <a:ext cx="309245" cy="167640"/>
          </a:xfrm>
          <a:prstGeom prst="rect">
            <a:avLst/>
          </a:prstGeom>
        </p:spPr>
        <p:txBody>
          <a:bodyPr wrap="square" lIns="0" tIns="0" rIns="0" bIns="0">
            <a:spAutoFit/>
          </a:bodyPr>
          <a:lstStyle>
            <a:lvl1pPr>
              <a:defRPr sz="1000" b="1" i="0">
                <a:solidFill>
                  <a:srgbClr val="006699"/>
                </a:solidFill>
                <a:latin typeface="Arial"/>
                <a:cs typeface="Arial"/>
              </a:defRPr>
            </a:lvl1pPr>
          </a:lstStyle>
          <a:p>
            <a:pPr marL="12700">
              <a:lnSpc>
                <a:spcPct val="100000"/>
              </a:lnSpc>
            </a:pPr>
            <a:r>
              <a:rPr spc="-20" dirty="0"/>
              <a:t>8.</a:t>
            </a:r>
            <a:fld id="{81D60167-4931-47E6-BA6A-407CBD079E47}" type="slidenum">
              <a:rPr spc="-20" dirty="0"/>
              <a:t>‹#›</a:t>
            </a:fld>
            <a:endParaRPr spc="-2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29.png"/><Relationship Id="rId21" Type="http://schemas.openxmlformats.org/officeDocument/2006/relationships/image" Target="../media/image25.png"/><Relationship Id="rId34" Type="http://schemas.openxmlformats.org/officeDocument/2006/relationships/image" Target="../media/image3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8.png"/><Relationship Id="rId33" Type="http://schemas.openxmlformats.org/officeDocument/2006/relationships/image" Target="../media/image36.png"/><Relationship Id="rId38" Type="http://schemas.openxmlformats.org/officeDocument/2006/relationships/image" Target="../media/image41.png"/><Relationship Id="rId2" Type="http://schemas.openxmlformats.org/officeDocument/2006/relationships/image" Target="../media/image1.jp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7.png"/><Relationship Id="rId32" Type="http://schemas.openxmlformats.org/officeDocument/2006/relationships/image" Target="../media/image35.png"/><Relationship Id="rId37" Type="http://schemas.openxmlformats.org/officeDocument/2006/relationships/image" Target="../media/image40.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6.png"/><Relationship Id="rId28" Type="http://schemas.openxmlformats.org/officeDocument/2006/relationships/image" Target="../media/image31.png"/><Relationship Id="rId36" Type="http://schemas.openxmlformats.org/officeDocument/2006/relationships/image" Target="../media/image39.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jpg"/><Relationship Id="rId27" Type="http://schemas.openxmlformats.org/officeDocument/2006/relationships/image" Target="../media/image30.png"/><Relationship Id="rId30" Type="http://schemas.openxmlformats.org/officeDocument/2006/relationships/image" Target="../media/image33.png"/><Relationship Id="rId35" Type="http://schemas.openxmlformats.org/officeDocument/2006/relationships/image" Target="../media/image38.png"/><Relationship Id="rId8" Type="http://schemas.openxmlformats.org/officeDocument/2006/relationships/image" Target="../media/image12.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98437" y="2960687"/>
            <a:ext cx="8611235" cy="201930"/>
            <a:chOff x="198437" y="2960687"/>
            <a:chExt cx="8611235" cy="201930"/>
          </a:xfrm>
        </p:grpSpPr>
        <p:sp>
          <p:nvSpPr>
            <p:cNvPr id="3" name="object 3"/>
            <p:cNvSpPr/>
            <p:nvPr/>
          </p:nvSpPr>
          <p:spPr>
            <a:xfrm>
              <a:off x="198437"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336699"/>
            </a:solidFill>
          </p:spPr>
          <p:txBody>
            <a:bodyPr wrap="square" lIns="0" tIns="0" rIns="0" bIns="0" rtlCol="0"/>
            <a:lstStyle/>
            <a:p>
              <a:endParaRPr/>
            </a:p>
          </p:txBody>
        </p:sp>
        <p:sp>
          <p:nvSpPr>
            <p:cNvPr id="4" name="object 4"/>
            <p:cNvSpPr/>
            <p:nvPr/>
          </p:nvSpPr>
          <p:spPr>
            <a:xfrm>
              <a:off x="3068701"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99CCFF"/>
            </a:solidFill>
          </p:spPr>
          <p:txBody>
            <a:bodyPr wrap="square" lIns="0" tIns="0" rIns="0" bIns="0" rtlCol="0"/>
            <a:lstStyle/>
            <a:p>
              <a:endParaRPr/>
            </a:p>
          </p:txBody>
        </p:sp>
        <p:sp>
          <p:nvSpPr>
            <p:cNvPr id="5" name="object 5"/>
            <p:cNvSpPr/>
            <p:nvPr/>
          </p:nvSpPr>
          <p:spPr>
            <a:xfrm>
              <a:off x="5938901"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336699"/>
            </a:solidFill>
          </p:spPr>
          <p:txBody>
            <a:bodyPr wrap="square" lIns="0" tIns="0" rIns="0" bIns="0" rtlCol="0"/>
            <a:lstStyle/>
            <a:p>
              <a:endParaRPr/>
            </a:p>
          </p:txBody>
        </p:sp>
      </p:grpSp>
      <p:sp>
        <p:nvSpPr>
          <p:cNvPr id="6" name="object 6"/>
          <p:cNvSpPr txBox="1"/>
          <p:nvPr/>
        </p:nvSpPr>
        <p:spPr>
          <a:xfrm>
            <a:off x="6685915" y="6619443"/>
            <a:ext cx="2323465"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336699"/>
                </a:solidFill>
                <a:latin typeface="Arial"/>
                <a:cs typeface="Arial"/>
              </a:rPr>
              <a:t>Silberschatz,</a:t>
            </a:r>
            <a:r>
              <a:rPr sz="1000" b="1" spc="-40" dirty="0">
                <a:solidFill>
                  <a:srgbClr val="336699"/>
                </a:solidFill>
                <a:latin typeface="Arial"/>
                <a:cs typeface="Arial"/>
              </a:rPr>
              <a:t> </a:t>
            </a:r>
            <a:r>
              <a:rPr sz="1000" b="1" dirty="0">
                <a:solidFill>
                  <a:srgbClr val="336699"/>
                </a:solidFill>
                <a:latin typeface="Arial"/>
                <a:cs typeface="Arial"/>
              </a:rPr>
              <a:t>Galvin</a:t>
            </a:r>
            <a:r>
              <a:rPr sz="1000" b="1" spc="-45" dirty="0">
                <a:solidFill>
                  <a:srgbClr val="336699"/>
                </a:solidFill>
                <a:latin typeface="Arial"/>
                <a:cs typeface="Arial"/>
              </a:rPr>
              <a:t> </a:t>
            </a:r>
            <a:r>
              <a:rPr sz="1000" b="1" dirty="0">
                <a:solidFill>
                  <a:srgbClr val="336699"/>
                </a:solidFill>
                <a:latin typeface="Arial"/>
                <a:cs typeface="Arial"/>
              </a:rPr>
              <a:t>and</a:t>
            </a:r>
            <a:r>
              <a:rPr sz="1000" b="1" spc="-20" dirty="0">
                <a:solidFill>
                  <a:srgbClr val="336699"/>
                </a:solidFill>
                <a:latin typeface="Arial"/>
                <a:cs typeface="Arial"/>
              </a:rPr>
              <a:t> </a:t>
            </a:r>
            <a:r>
              <a:rPr sz="1000" b="1" dirty="0">
                <a:solidFill>
                  <a:srgbClr val="336699"/>
                </a:solidFill>
                <a:latin typeface="Arial"/>
                <a:cs typeface="Arial"/>
              </a:rPr>
              <a:t>Gagne</a:t>
            </a:r>
            <a:r>
              <a:rPr sz="1000" b="1" spc="-25" dirty="0">
                <a:solidFill>
                  <a:srgbClr val="336699"/>
                </a:solidFill>
                <a:latin typeface="Arial"/>
                <a:cs typeface="Arial"/>
              </a:rPr>
              <a:t> </a:t>
            </a:r>
            <a:r>
              <a:rPr sz="1000" b="1" spc="-20" dirty="0">
                <a:solidFill>
                  <a:srgbClr val="336699"/>
                </a:solidFill>
                <a:latin typeface="Arial"/>
                <a:cs typeface="Arial"/>
              </a:rPr>
              <a:t>©2013</a:t>
            </a:r>
            <a:endParaRPr sz="1000">
              <a:latin typeface="Arial"/>
              <a:cs typeface="Arial"/>
            </a:endParaRPr>
          </a:p>
        </p:txBody>
      </p:sp>
      <p:sp>
        <p:nvSpPr>
          <p:cNvPr id="7" name="object 7"/>
          <p:cNvSpPr txBox="1"/>
          <p:nvPr/>
        </p:nvSpPr>
        <p:spPr>
          <a:xfrm>
            <a:off x="80467" y="6644741"/>
            <a:ext cx="2526665" cy="177800"/>
          </a:xfrm>
          <a:prstGeom prst="rect">
            <a:avLst/>
          </a:prstGeom>
        </p:spPr>
        <p:txBody>
          <a:bodyPr vert="horz" wrap="square" lIns="0" tIns="12065" rIns="0" bIns="0" rtlCol="0">
            <a:spAutoFit/>
          </a:bodyPr>
          <a:lstStyle/>
          <a:p>
            <a:pPr marL="38100">
              <a:lnSpc>
                <a:spcPct val="100000"/>
              </a:lnSpc>
              <a:spcBef>
                <a:spcPts val="95"/>
              </a:spcBef>
            </a:pPr>
            <a:r>
              <a:rPr sz="1000" b="1" dirty="0">
                <a:solidFill>
                  <a:srgbClr val="336699"/>
                </a:solidFill>
                <a:latin typeface="Arial"/>
                <a:cs typeface="Arial"/>
              </a:rPr>
              <a:t>Operating</a:t>
            </a:r>
            <a:r>
              <a:rPr sz="1000" b="1" spc="-20" dirty="0">
                <a:solidFill>
                  <a:srgbClr val="336699"/>
                </a:solidFill>
                <a:latin typeface="Arial"/>
                <a:cs typeface="Arial"/>
              </a:rPr>
              <a:t> </a:t>
            </a:r>
            <a:r>
              <a:rPr sz="1000" b="1" dirty="0">
                <a:solidFill>
                  <a:srgbClr val="336699"/>
                </a:solidFill>
                <a:latin typeface="Arial"/>
                <a:cs typeface="Arial"/>
              </a:rPr>
              <a:t>System</a:t>
            </a:r>
            <a:r>
              <a:rPr sz="1000" b="1" spc="-20" dirty="0">
                <a:solidFill>
                  <a:srgbClr val="336699"/>
                </a:solidFill>
                <a:latin typeface="Arial"/>
                <a:cs typeface="Arial"/>
              </a:rPr>
              <a:t> </a:t>
            </a:r>
            <a:r>
              <a:rPr sz="1000" b="1" dirty="0">
                <a:solidFill>
                  <a:srgbClr val="336699"/>
                </a:solidFill>
                <a:latin typeface="Arial"/>
                <a:cs typeface="Arial"/>
              </a:rPr>
              <a:t>Concepts</a:t>
            </a:r>
            <a:r>
              <a:rPr sz="1000" b="1" spc="-20" dirty="0">
                <a:solidFill>
                  <a:srgbClr val="336699"/>
                </a:solidFill>
                <a:latin typeface="Arial"/>
                <a:cs typeface="Arial"/>
              </a:rPr>
              <a:t> </a:t>
            </a:r>
            <a:r>
              <a:rPr sz="1000" b="1" dirty="0">
                <a:solidFill>
                  <a:srgbClr val="336699"/>
                </a:solidFill>
                <a:latin typeface="Arial"/>
                <a:cs typeface="Arial"/>
              </a:rPr>
              <a:t>–</a:t>
            </a:r>
            <a:r>
              <a:rPr sz="1000" b="1" spc="-25" dirty="0">
                <a:solidFill>
                  <a:srgbClr val="336699"/>
                </a:solidFill>
                <a:latin typeface="Arial"/>
                <a:cs typeface="Arial"/>
              </a:rPr>
              <a:t> </a:t>
            </a:r>
            <a:r>
              <a:rPr sz="1000" b="1" dirty="0">
                <a:solidFill>
                  <a:srgbClr val="336699"/>
                </a:solidFill>
                <a:latin typeface="Arial"/>
                <a:cs typeface="Arial"/>
              </a:rPr>
              <a:t>9</a:t>
            </a:r>
            <a:r>
              <a:rPr sz="975" b="1" baseline="25641" dirty="0">
                <a:solidFill>
                  <a:srgbClr val="336699"/>
                </a:solidFill>
                <a:latin typeface="Arial"/>
                <a:cs typeface="Arial"/>
              </a:rPr>
              <a:t>th</a:t>
            </a:r>
            <a:r>
              <a:rPr sz="975" b="1" spc="112" baseline="25641" dirty="0">
                <a:solidFill>
                  <a:srgbClr val="336699"/>
                </a:solidFill>
                <a:latin typeface="Arial"/>
                <a:cs typeface="Arial"/>
              </a:rPr>
              <a:t> </a:t>
            </a:r>
            <a:r>
              <a:rPr sz="1000" b="1" spc="-10" dirty="0">
                <a:solidFill>
                  <a:srgbClr val="336699"/>
                </a:solidFill>
                <a:latin typeface="Arial"/>
                <a:cs typeface="Arial"/>
              </a:rPr>
              <a:t>Edition</a:t>
            </a:r>
            <a:endParaRPr sz="1000">
              <a:latin typeface="Arial"/>
              <a:cs typeface="Arial"/>
            </a:endParaRPr>
          </a:p>
        </p:txBody>
      </p:sp>
      <p:grpSp>
        <p:nvGrpSpPr>
          <p:cNvPr id="8" name="object 8"/>
          <p:cNvGrpSpPr/>
          <p:nvPr/>
        </p:nvGrpSpPr>
        <p:grpSpPr>
          <a:xfrm>
            <a:off x="3195573" y="3978909"/>
            <a:ext cx="2393950" cy="1944370"/>
            <a:chOff x="3195573" y="3978909"/>
            <a:chExt cx="2393950" cy="1944370"/>
          </a:xfrm>
        </p:grpSpPr>
        <p:pic>
          <p:nvPicPr>
            <p:cNvPr id="9" name="object 9"/>
            <p:cNvPicPr/>
            <p:nvPr/>
          </p:nvPicPr>
          <p:blipFill>
            <a:blip r:embed="rId2" cstate="print"/>
            <a:stretch>
              <a:fillRect/>
            </a:stretch>
          </p:blipFill>
          <p:spPr>
            <a:xfrm>
              <a:off x="3397379" y="4331703"/>
              <a:ext cx="2025520" cy="1328208"/>
            </a:xfrm>
            <a:prstGeom prst="rect">
              <a:avLst/>
            </a:prstGeom>
          </p:spPr>
        </p:pic>
        <p:sp>
          <p:nvSpPr>
            <p:cNvPr id="10" name="object 10"/>
            <p:cNvSpPr/>
            <p:nvPr/>
          </p:nvSpPr>
          <p:spPr>
            <a:xfrm>
              <a:off x="3322700" y="4119562"/>
              <a:ext cx="2138680" cy="1670050"/>
            </a:xfrm>
            <a:custGeom>
              <a:avLst/>
              <a:gdLst/>
              <a:ahLst/>
              <a:cxnLst/>
              <a:rect l="l" t="t" r="r" b="b"/>
              <a:pathLst>
                <a:path w="2138679" h="1670050">
                  <a:moveTo>
                    <a:pt x="0" y="1670050"/>
                  </a:moveTo>
                  <a:lnTo>
                    <a:pt x="2138299" y="1670050"/>
                  </a:lnTo>
                  <a:lnTo>
                    <a:pt x="2138299" y="0"/>
                  </a:lnTo>
                  <a:lnTo>
                    <a:pt x="0" y="0"/>
                  </a:lnTo>
                  <a:lnTo>
                    <a:pt x="0" y="1670050"/>
                  </a:lnTo>
                  <a:close/>
                </a:path>
              </a:pathLst>
            </a:custGeom>
            <a:ln w="76200">
              <a:solidFill>
                <a:srgbClr val="336699"/>
              </a:solidFill>
            </a:ln>
          </p:spPr>
          <p:txBody>
            <a:bodyPr wrap="square" lIns="0" tIns="0" rIns="0" bIns="0" rtlCol="0"/>
            <a:lstStyle/>
            <a:p>
              <a:endParaRPr/>
            </a:p>
          </p:txBody>
        </p:sp>
        <p:sp>
          <p:nvSpPr>
            <p:cNvPr id="11" name="object 11"/>
            <p:cNvSpPr/>
            <p:nvPr/>
          </p:nvSpPr>
          <p:spPr>
            <a:xfrm>
              <a:off x="3195574" y="3978909"/>
              <a:ext cx="2393950" cy="1944370"/>
            </a:xfrm>
            <a:custGeom>
              <a:avLst/>
              <a:gdLst/>
              <a:ahLst/>
              <a:cxnLst/>
              <a:rect l="l" t="t" r="r" b="b"/>
              <a:pathLst>
                <a:path w="2393950" h="1944370">
                  <a:moveTo>
                    <a:pt x="2371090" y="22860"/>
                  </a:moveTo>
                  <a:lnTo>
                    <a:pt x="22860" y="22860"/>
                  </a:lnTo>
                  <a:lnTo>
                    <a:pt x="22860" y="57150"/>
                  </a:lnTo>
                  <a:lnTo>
                    <a:pt x="22860" y="1887220"/>
                  </a:lnTo>
                  <a:lnTo>
                    <a:pt x="22860" y="1921510"/>
                  </a:lnTo>
                  <a:lnTo>
                    <a:pt x="2371090" y="1921510"/>
                  </a:lnTo>
                  <a:lnTo>
                    <a:pt x="2371090" y="1887220"/>
                  </a:lnTo>
                  <a:lnTo>
                    <a:pt x="57150" y="1887220"/>
                  </a:lnTo>
                  <a:lnTo>
                    <a:pt x="57150" y="57150"/>
                  </a:lnTo>
                  <a:lnTo>
                    <a:pt x="2336800" y="57150"/>
                  </a:lnTo>
                  <a:lnTo>
                    <a:pt x="2336800" y="1886902"/>
                  </a:lnTo>
                  <a:lnTo>
                    <a:pt x="2371090" y="1886902"/>
                  </a:lnTo>
                  <a:lnTo>
                    <a:pt x="2371090" y="57150"/>
                  </a:lnTo>
                  <a:lnTo>
                    <a:pt x="2371090" y="56515"/>
                  </a:lnTo>
                  <a:lnTo>
                    <a:pt x="2371090" y="22860"/>
                  </a:lnTo>
                  <a:close/>
                </a:path>
                <a:path w="2393950" h="1944370">
                  <a:moveTo>
                    <a:pt x="2393950" y="0"/>
                  </a:moveTo>
                  <a:lnTo>
                    <a:pt x="0" y="0"/>
                  </a:lnTo>
                  <a:lnTo>
                    <a:pt x="0" y="11430"/>
                  </a:lnTo>
                  <a:lnTo>
                    <a:pt x="0" y="1932940"/>
                  </a:lnTo>
                  <a:lnTo>
                    <a:pt x="0" y="1944370"/>
                  </a:lnTo>
                  <a:lnTo>
                    <a:pt x="2393950" y="1944370"/>
                  </a:lnTo>
                  <a:lnTo>
                    <a:pt x="2393950" y="1932940"/>
                  </a:lnTo>
                  <a:lnTo>
                    <a:pt x="11430" y="1932940"/>
                  </a:lnTo>
                  <a:lnTo>
                    <a:pt x="11430" y="11430"/>
                  </a:lnTo>
                  <a:lnTo>
                    <a:pt x="2382520" y="11430"/>
                  </a:lnTo>
                  <a:lnTo>
                    <a:pt x="2382520" y="1932622"/>
                  </a:lnTo>
                  <a:lnTo>
                    <a:pt x="2393950" y="1932622"/>
                  </a:lnTo>
                  <a:lnTo>
                    <a:pt x="2393950" y="11430"/>
                  </a:lnTo>
                  <a:lnTo>
                    <a:pt x="2393950" y="10795"/>
                  </a:lnTo>
                  <a:lnTo>
                    <a:pt x="2393950" y="0"/>
                  </a:lnTo>
                  <a:close/>
                </a:path>
              </a:pathLst>
            </a:custGeom>
            <a:solidFill>
              <a:srgbClr val="66CCFF"/>
            </a:solidFill>
          </p:spPr>
          <p:txBody>
            <a:bodyPr wrap="square" lIns="0" tIns="0" rIns="0" bIns="0" rtlCol="0"/>
            <a:lstStyle/>
            <a:p>
              <a:endParaRPr/>
            </a:p>
          </p:txBody>
        </p:sp>
      </p:grpSp>
      <p:sp>
        <p:nvSpPr>
          <p:cNvPr id="12" name="object 12"/>
          <p:cNvSpPr txBox="1">
            <a:spLocks noGrp="1"/>
          </p:cNvSpPr>
          <p:nvPr>
            <p:ph type="title"/>
          </p:nvPr>
        </p:nvSpPr>
        <p:spPr>
          <a:xfrm>
            <a:off x="1312544" y="2194051"/>
            <a:ext cx="6519545" cy="680720"/>
          </a:xfrm>
          <a:prstGeom prst="rect">
            <a:avLst/>
          </a:prstGeom>
        </p:spPr>
        <p:txBody>
          <a:bodyPr vert="horz" wrap="square" lIns="0" tIns="12065" rIns="0" bIns="0" rtlCol="0">
            <a:spAutoFit/>
          </a:bodyPr>
          <a:lstStyle/>
          <a:p>
            <a:pPr marL="12700">
              <a:lnSpc>
                <a:spcPct val="100000"/>
              </a:lnSpc>
              <a:spcBef>
                <a:spcPts val="95"/>
              </a:spcBef>
              <a:tabLst>
                <a:tab pos="3016885" algn="l"/>
              </a:tabLst>
            </a:pPr>
            <a:r>
              <a:rPr sz="4300" dirty="0">
                <a:solidFill>
                  <a:srgbClr val="006699"/>
                </a:solidFill>
              </a:rPr>
              <a:t>Chapter</a:t>
            </a:r>
            <a:r>
              <a:rPr sz="4300" spc="-170" dirty="0">
                <a:solidFill>
                  <a:srgbClr val="006699"/>
                </a:solidFill>
              </a:rPr>
              <a:t> </a:t>
            </a:r>
            <a:r>
              <a:rPr sz="4300" spc="-25" dirty="0">
                <a:solidFill>
                  <a:srgbClr val="006699"/>
                </a:solidFill>
              </a:rPr>
              <a:t>8:</a:t>
            </a:r>
            <a:r>
              <a:rPr sz="4300" dirty="0">
                <a:solidFill>
                  <a:srgbClr val="006699"/>
                </a:solidFill>
              </a:rPr>
              <a:t>	Main</a:t>
            </a:r>
            <a:r>
              <a:rPr sz="4300" spc="-75" dirty="0">
                <a:solidFill>
                  <a:srgbClr val="006699"/>
                </a:solidFill>
              </a:rPr>
              <a:t> </a:t>
            </a:r>
            <a:r>
              <a:rPr sz="4300" spc="-10" dirty="0">
                <a:solidFill>
                  <a:srgbClr val="006699"/>
                </a:solidFill>
              </a:rPr>
              <a:t>Memory</a:t>
            </a:r>
            <a:endParaRPr sz="4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2844" y="232409"/>
            <a:ext cx="6410325" cy="513715"/>
          </a:xfrm>
          <a:prstGeom prst="rect">
            <a:avLst/>
          </a:prstGeom>
        </p:spPr>
        <p:txBody>
          <a:bodyPr vert="horz" wrap="square" lIns="0" tIns="12700" rIns="0" bIns="0" rtlCol="0">
            <a:spAutoFit/>
          </a:bodyPr>
          <a:lstStyle/>
          <a:p>
            <a:pPr marL="12700">
              <a:lnSpc>
                <a:spcPct val="100000"/>
              </a:lnSpc>
              <a:spcBef>
                <a:spcPts val="100"/>
              </a:spcBef>
              <a:tabLst>
                <a:tab pos="2245360" algn="l"/>
              </a:tabLst>
            </a:pPr>
            <a:r>
              <a:rPr dirty="0">
                <a:solidFill>
                  <a:srgbClr val="006699"/>
                </a:solidFill>
              </a:rPr>
              <a:t>Chapter</a:t>
            </a:r>
            <a:r>
              <a:rPr spc="-50" dirty="0">
                <a:solidFill>
                  <a:srgbClr val="006699"/>
                </a:solidFill>
              </a:rPr>
              <a:t> </a:t>
            </a:r>
            <a:r>
              <a:rPr spc="-25" dirty="0">
                <a:solidFill>
                  <a:srgbClr val="006699"/>
                </a:solidFill>
              </a:rPr>
              <a:t>8:</a:t>
            </a:r>
            <a:r>
              <a:rPr dirty="0">
                <a:solidFill>
                  <a:srgbClr val="006699"/>
                </a:solidFill>
              </a:rPr>
              <a:t>	Memory</a:t>
            </a:r>
            <a:r>
              <a:rPr spc="-45" dirty="0">
                <a:solidFill>
                  <a:srgbClr val="006699"/>
                </a:solidFill>
              </a:rPr>
              <a:t> </a:t>
            </a:r>
            <a:r>
              <a:rPr spc="-10" dirty="0">
                <a:solidFill>
                  <a:srgbClr val="006699"/>
                </a:solidFill>
              </a:rPr>
              <a:t>Management</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955344" y="1070228"/>
            <a:ext cx="5065395" cy="5485765"/>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spc="-10" dirty="0">
                <a:latin typeface="Arial MT"/>
                <a:cs typeface="Arial MT"/>
              </a:rPr>
              <a:t>Background</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spc="-10" dirty="0">
                <a:latin typeface="Arial MT"/>
                <a:cs typeface="Arial MT"/>
              </a:rPr>
              <a:t>Swapping</a:t>
            </a:r>
            <a:endParaRPr sz="1800">
              <a:latin typeface="Arial MT"/>
              <a:cs typeface="Arial MT"/>
            </a:endParaRPr>
          </a:p>
          <a:p>
            <a:pPr>
              <a:lnSpc>
                <a:spcPct val="100000"/>
              </a:lnSpc>
              <a:spcBef>
                <a:spcPts val="1605"/>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Contiguous</a:t>
            </a:r>
            <a:r>
              <a:rPr sz="1800" spc="-30" dirty="0">
                <a:latin typeface="Arial MT"/>
                <a:cs typeface="Arial MT"/>
              </a:rPr>
              <a:t> </a:t>
            </a:r>
            <a:r>
              <a:rPr sz="1800" dirty="0">
                <a:latin typeface="Arial MT"/>
                <a:cs typeface="Arial MT"/>
              </a:rPr>
              <a:t>Memory</a:t>
            </a:r>
            <a:r>
              <a:rPr sz="1800" spc="-45" dirty="0">
                <a:latin typeface="Arial MT"/>
                <a:cs typeface="Arial MT"/>
              </a:rPr>
              <a:t> </a:t>
            </a:r>
            <a:r>
              <a:rPr sz="1800" spc="-10" dirty="0">
                <a:latin typeface="Arial MT"/>
                <a:cs typeface="Arial MT"/>
              </a:rPr>
              <a:t>Allocation</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354965" indent="-342265">
              <a:lnSpc>
                <a:spcPct val="100000"/>
              </a:lnSpc>
              <a:spcBef>
                <a:spcPts val="5"/>
              </a:spcBef>
              <a:buClr>
                <a:srgbClr val="993300"/>
              </a:buClr>
              <a:buSzPct val="88888"/>
              <a:buFont typeface="Wingdings"/>
              <a:buChar char=""/>
              <a:tabLst>
                <a:tab pos="354965" algn="l"/>
              </a:tabLst>
            </a:pPr>
            <a:r>
              <a:rPr sz="1800" spc="-10" dirty="0">
                <a:latin typeface="Arial MT"/>
                <a:cs typeface="Arial MT"/>
              </a:rPr>
              <a:t>Segmentation</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spc="-10" dirty="0">
                <a:latin typeface="Arial MT"/>
                <a:cs typeface="Arial MT"/>
              </a:rPr>
              <a:t>Paging</a:t>
            </a:r>
            <a:endParaRPr sz="1800">
              <a:latin typeface="Arial MT"/>
              <a:cs typeface="Arial MT"/>
            </a:endParaRPr>
          </a:p>
          <a:p>
            <a:pPr>
              <a:lnSpc>
                <a:spcPct val="100000"/>
              </a:lnSpc>
              <a:spcBef>
                <a:spcPts val="1605"/>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Structure</a:t>
            </a:r>
            <a:r>
              <a:rPr sz="1800" spc="-30"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Page</a:t>
            </a:r>
            <a:r>
              <a:rPr sz="1800" spc="-15" dirty="0">
                <a:latin typeface="Arial MT"/>
                <a:cs typeface="Arial MT"/>
              </a:rPr>
              <a:t> </a:t>
            </a:r>
            <a:r>
              <a:rPr sz="1800" spc="-20" dirty="0">
                <a:latin typeface="Arial MT"/>
                <a:cs typeface="Arial MT"/>
              </a:rPr>
              <a:t>Table</a:t>
            </a:r>
            <a:endParaRPr sz="1800">
              <a:latin typeface="Arial MT"/>
              <a:cs typeface="Arial MT"/>
            </a:endParaRPr>
          </a:p>
          <a:p>
            <a:pPr>
              <a:lnSpc>
                <a:spcPct val="100000"/>
              </a:lnSpc>
              <a:spcBef>
                <a:spcPts val="1605"/>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Example:</a:t>
            </a:r>
            <a:r>
              <a:rPr sz="1800" spc="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Intel</a:t>
            </a:r>
            <a:r>
              <a:rPr sz="1800" spc="-25" dirty="0">
                <a:latin typeface="Arial MT"/>
                <a:cs typeface="Arial MT"/>
              </a:rPr>
              <a:t> </a:t>
            </a:r>
            <a:r>
              <a:rPr sz="1800" dirty="0">
                <a:latin typeface="Arial MT"/>
                <a:cs typeface="Arial MT"/>
              </a:rPr>
              <a:t>32</a:t>
            </a:r>
            <a:r>
              <a:rPr sz="1800" spc="-25" dirty="0">
                <a:latin typeface="Arial MT"/>
                <a:cs typeface="Arial MT"/>
              </a:rPr>
              <a:t> </a:t>
            </a:r>
            <a:r>
              <a:rPr sz="1800" dirty="0">
                <a:latin typeface="Arial MT"/>
                <a:cs typeface="Arial MT"/>
              </a:rPr>
              <a:t>and</a:t>
            </a:r>
            <a:r>
              <a:rPr sz="1800" spc="-10" dirty="0">
                <a:latin typeface="Arial MT"/>
                <a:cs typeface="Arial MT"/>
              </a:rPr>
              <a:t> 64-</a:t>
            </a:r>
            <a:r>
              <a:rPr sz="1800" dirty="0">
                <a:latin typeface="Arial MT"/>
                <a:cs typeface="Arial MT"/>
              </a:rPr>
              <a:t>bit</a:t>
            </a:r>
            <a:r>
              <a:rPr sz="1800" spc="-10" dirty="0">
                <a:latin typeface="Arial MT"/>
                <a:cs typeface="Arial MT"/>
              </a:rPr>
              <a:t> Architectures</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Example:</a:t>
            </a:r>
            <a:r>
              <a:rPr sz="1800" spc="-5" dirty="0">
                <a:latin typeface="Arial MT"/>
                <a:cs typeface="Arial MT"/>
              </a:rPr>
              <a:t> </a:t>
            </a:r>
            <a:r>
              <a:rPr sz="1800" dirty="0">
                <a:latin typeface="Arial MT"/>
                <a:cs typeface="Arial MT"/>
              </a:rPr>
              <a:t>ARM</a:t>
            </a:r>
            <a:r>
              <a:rPr sz="1800" spc="-20" dirty="0">
                <a:latin typeface="Arial MT"/>
                <a:cs typeface="Arial MT"/>
              </a:rPr>
              <a:t> </a:t>
            </a:r>
            <a:r>
              <a:rPr sz="1800" spc="-10" dirty="0">
                <a:latin typeface="Arial MT"/>
                <a:cs typeface="Arial MT"/>
              </a:rPr>
              <a:t>Architecture</a:t>
            </a:r>
            <a:endParaRPr sz="1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4996" rIns="0" bIns="0" rtlCol="0">
            <a:spAutoFit/>
          </a:bodyPr>
          <a:lstStyle/>
          <a:p>
            <a:pPr marL="3488054">
              <a:lnSpc>
                <a:spcPct val="100000"/>
              </a:lnSpc>
              <a:spcBef>
                <a:spcPts val="100"/>
              </a:spcBef>
            </a:pPr>
            <a:r>
              <a:rPr spc="-10" dirty="0">
                <a:solidFill>
                  <a:srgbClr val="006699"/>
                </a:solidFill>
              </a:rPr>
              <a:t>Objectives</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84579"/>
            <a:ext cx="8577580" cy="5293360"/>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solidFill>
                  <a:srgbClr val="FF0000"/>
                </a:solidFill>
                <a:latin typeface="Arial MT"/>
                <a:cs typeface="Arial MT"/>
              </a:rPr>
              <a:t>To</a:t>
            </a:r>
            <a:r>
              <a:rPr sz="1800" spc="-45" dirty="0">
                <a:solidFill>
                  <a:srgbClr val="FF0000"/>
                </a:solidFill>
                <a:latin typeface="Arial MT"/>
                <a:cs typeface="Arial MT"/>
              </a:rPr>
              <a:t> </a:t>
            </a:r>
            <a:r>
              <a:rPr sz="1800" dirty="0">
                <a:solidFill>
                  <a:srgbClr val="FF0000"/>
                </a:solidFill>
                <a:latin typeface="Arial MT"/>
                <a:cs typeface="Arial MT"/>
              </a:rPr>
              <a:t>increase</a:t>
            </a:r>
            <a:r>
              <a:rPr sz="1800" spc="-20" dirty="0">
                <a:solidFill>
                  <a:srgbClr val="FF0000"/>
                </a:solidFill>
                <a:latin typeface="Arial MT"/>
                <a:cs typeface="Arial MT"/>
              </a:rPr>
              <a:t> </a:t>
            </a:r>
            <a:r>
              <a:rPr sz="1800" dirty="0">
                <a:solidFill>
                  <a:srgbClr val="FF0000"/>
                </a:solidFill>
                <a:latin typeface="Arial MT"/>
                <a:cs typeface="Arial MT"/>
              </a:rPr>
              <a:t>CPU</a:t>
            </a:r>
            <a:r>
              <a:rPr sz="1800" spc="-40" dirty="0">
                <a:solidFill>
                  <a:srgbClr val="FF0000"/>
                </a:solidFill>
                <a:latin typeface="Arial MT"/>
                <a:cs typeface="Arial MT"/>
              </a:rPr>
              <a:t> </a:t>
            </a:r>
            <a:r>
              <a:rPr sz="1800" dirty="0">
                <a:solidFill>
                  <a:srgbClr val="FF0000"/>
                </a:solidFill>
                <a:latin typeface="Arial MT"/>
                <a:cs typeface="Arial MT"/>
              </a:rPr>
              <a:t>utilization</a:t>
            </a:r>
            <a:r>
              <a:rPr sz="1800" spc="-10"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dirty="0">
                <a:solidFill>
                  <a:srgbClr val="FF0000"/>
                </a:solidFill>
                <a:latin typeface="Arial MT"/>
                <a:cs typeface="Arial MT"/>
              </a:rPr>
              <a:t>response</a:t>
            </a:r>
            <a:r>
              <a:rPr sz="1800" spc="-25" dirty="0">
                <a:solidFill>
                  <a:srgbClr val="FF0000"/>
                </a:solidFill>
                <a:latin typeface="Arial MT"/>
                <a:cs typeface="Arial MT"/>
              </a:rPr>
              <a:t> </a:t>
            </a:r>
            <a:r>
              <a:rPr sz="1800" spc="-10" dirty="0">
                <a:solidFill>
                  <a:srgbClr val="FF0000"/>
                </a:solidFill>
                <a:latin typeface="Arial MT"/>
                <a:cs typeface="Arial MT"/>
              </a:rPr>
              <a:t>speed:</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solidFill>
                  <a:srgbClr val="FF0000"/>
                </a:solidFill>
                <a:latin typeface="Arial MT"/>
                <a:cs typeface="Arial MT"/>
              </a:rPr>
              <a:t>Several</a:t>
            </a:r>
            <a:r>
              <a:rPr sz="1800" spc="-15" dirty="0">
                <a:solidFill>
                  <a:srgbClr val="FF0000"/>
                </a:solidFill>
                <a:latin typeface="Arial MT"/>
                <a:cs typeface="Arial MT"/>
              </a:rPr>
              <a:t> </a:t>
            </a:r>
            <a:r>
              <a:rPr sz="1800" dirty="0">
                <a:solidFill>
                  <a:srgbClr val="FF0000"/>
                </a:solidFill>
                <a:latin typeface="Arial MT"/>
                <a:cs typeface="Arial MT"/>
              </a:rPr>
              <a:t>processes</a:t>
            </a:r>
            <a:r>
              <a:rPr sz="1800" spc="-10" dirty="0">
                <a:solidFill>
                  <a:srgbClr val="FF0000"/>
                </a:solidFill>
                <a:latin typeface="Arial MT"/>
                <a:cs typeface="Arial MT"/>
              </a:rPr>
              <a:t> </a:t>
            </a:r>
            <a:r>
              <a:rPr sz="1800" dirty="0">
                <a:solidFill>
                  <a:srgbClr val="FF0000"/>
                </a:solidFill>
                <a:latin typeface="Arial MT"/>
                <a:cs typeface="Arial MT"/>
              </a:rPr>
              <a:t>must</a:t>
            </a:r>
            <a:r>
              <a:rPr sz="1800" spc="-20" dirty="0">
                <a:solidFill>
                  <a:srgbClr val="FF0000"/>
                </a:solidFill>
                <a:latin typeface="Arial MT"/>
                <a:cs typeface="Arial MT"/>
              </a:rPr>
              <a:t> </a:t>
            </a:r>
            <a:r>
              <a:rPr sz="1800" dirty="0">
                <a:solidFill>
                  <a:srgbClr val="FF0000"/>
                </a:solidFill>
                <a:latin typeface="Arial MT"/>
                <a:cs typeface="Arial MT"/>
              </a:rPr>
              <a:t>be</a:t>
            </a:r>
            <a:r>
              <a:rPr sz="1800" spc="-25" dirty="0">
                <a:solidFill>
                  <a:srgbClr val="FF0000"/>
                </a:solidFill>
                <a:latin typeface="Arial MT"/>
                <a:cs typeface="Arial MT"/>
              </a:rPr>
              <a:t> </a:t>
            </a:r>
            <a:r>
              <a:rPr sz="1800" dirty="0">
                <a:solidFill>
                  <a:srgbClr val="FF0000"/>
                </a:solidFill>
                <a:latin typeface="Arial MT"/>
                <a:cs typeface="Arial MT"/>
              </a:rPr>
              <a:t>kept</a:t>
            </a:r>
            <a:r>
              <a:rPr sz="1800" spc="-15" dirty="0">
                <a:solidFill>
                  <a:srgbClr val="FF0000"/>
                </a:solidFill>
                <a:latin typeface="Arial MT"/>
                <a:cs typeface="Arial MT"/>
              </a:rPr>
              <a:t> </a:t>
            </a:r>
            <a:r>
              <a:rPr sz="1800" dirty="0">
                <a:solidFill>
                  <a:srgbClr val="FF0000"/>
                </a:solidFill>
                <a:latin typeface="Arial MT"/>
                <a:cs typeface="Arial MT"/>
              </a:rPr>
              <a:t>in</a:t>
            </a:r>
            <a:r>
              <a:rPr sz="1800" spc="-30" dirty="0">
                <a:solidFill>
                  <a:srgbClr val="FF0000"/>
                </a:solidFill>
                <a:latin typeface="Arial MT"/>
                <a:cs typeface="Arial MT"/>
              </a:rPr>
              <a:t> </a:t>
            </a:r>
            <a:r>
              <a:rPr sz="1800" dirty="0">
                <a:solidFill>
                  <a:srgbClr val="FF0000"/>
                </a:solidFill>
                <a:latin typeface="Arial MT"/>
                <a:cs typeface="Arial MT"/>
              </a:rPr>
              <a:t>main</a:t>
            </a:r>
            <a:r>
              <a:rPr sz="1800" spc="-1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870585">
              <a:lnSpc>
                <a:spcPct val="100000"/>
              </a:lnSpc>
            </a:pPr>
            <a:r>
              <a:rPr sz="1350" dirty="0">
                <a:solidFill>
                  <a:srgbClr val="009900"/>
                </a:solidFill>
                <a:latin typeface="Webdings"/>
                <a:cs typeface="Webdings"/>
              </a:rPr>
              <a:t></a:t>
            </a:r>
            <a:r>
              <a:rPr sz="1350" spc="85" dirty="0">
                <a:solidFill>
                  <a:srgbClr val="009900"/>
                </a:solidFill>
                <a:latin typeface="Times New Roman"/>
                <a:cs typeface="Times New Roman"/>
              </a:rPr>
              <a:t> </a:t>
            </a:r>
            <a:r>
              <a:rPr sz="1800" dirty="0">
                <a:solidFill>
                  <a:srgbClr val="FF0000"/>
                </a:solidFill>
                <a:latin typeface="Arial MT"/>
                <a:cs typeface="Arial MT"/>
              </a:rPr>
              <a:t>We</a:t>
            </a:r>
            <a:r>
              <a:rPr sz="1800" spc="-10" dirty="0">
                <a:solidFill>
                  <a:srgbClr val="FF0000"/>
                </a:solidFill>
                <a:latin typeface="Arial MT"/>
                <a:cs typeface="Arial MT"/>
              </a:rPr>
              <a:t> </a:t>
            </a:r>
            <a:r>
              <a:rPr sz="1800" dirty="0">
                <a:solidFill>
                  <a:srgbClr val="FF0000"/>
                </a:solidFill>
                <a:latin typeface="Arial MT"/>
                <a:cs typeface="Arial MT"/>
              </a:rPr>
              <a:t>must</a:t>
            </a:r>
            <a:r>
              <a:rPr sz="1800" spc="-25" dirty="0">
                <a:solidFill>
                  <a:srgbClr val="FF0000"/>
                </a:solidFill>
                <a:latin typeface="Arial MT"/>
                <a:cs typeface="Arial MT"/>
              </a:rPr>
              <a:t> </a:t>
            </a:r>
            <a:r>
              <a:rPr sz="1800" dirty="0">
                <a:solidFill>
                  <a:srgbClr val="FF0000"/>
                </a:solidFill>
                <a:latin typeface="Arial MT"/>
                <a:cs typeface="Arial MT"/>
              </a:rPr>
              <a:t>share</a:t>
            </a:r>
            <a:r>
              <a:rPr sz="1800" spc="-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a:lnSpc>
                <a:spcPct val="100000"/>
              </a:lnSpc>
              <a:spcBef>
                <a:spcPts val="1600"/>
              </a:spcBef>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solidFill>
                  <a:srgbClr val="FF0000"/>
                </a:solidFill>
                <a:latin typeface="Arial MT"/>
                <a:cs typeface="Arial MT"/>
              </a:rPr>
              <a:t>How</a:t>
            </a:r>
            <a:r>
              <a:rPr sz="1800" spc="-25" dirty="0">
                <a:solidFill>
                  <a:srgbClr val="FF0000"/>
                </a:solidFill>
                <a:latin typeface="Arial MT"/>
                <a:cs typeface="Arial MT"/>
              </a:rPr>
              <a:t> </a:t>
            </a:r>
            <a:r>
              <a:rPr sz="1800" dirty="0">
                <a:solidFill>
                  <a:srgbClr val="FF0000"/>
                </a:solidFill>
                <a:latin typeface="Arial MT"/>
                <a:cs typeface="Arial MT"/>
              </a:rPr>
              <a:t>to</a:t>
            </a:r>
            <a:r>
              <a:rPr sz="1800" spc="-40" dirty="0">
                <a:solidFill>
                  <a:srgbClr val="FF0000"/>
                </a:solidFill>
                <a:latin typeface="Arial MT"/>
                <a:cs typeface="Arial MT"/>
              </a:rPr>
              <a:t> </a:t>
            </a:r>
            <a:r>
              <a:rPr sz="1800" dirty="0">
                <a:solidFill>
                  <a:srgbClr val="FF0000"/>
                </a:solidFill>
                <a:latin typeface="Arial MT"/>
                <a:cs typeface="Arial MT"/>
              </a:rPr>
              <a:t>manage</a:t>
            </a:r>
            <a:r>
              <a:rPr sz="1800" spc="-10" dirty="0">
                <a:solidFill>
                  <a:srgbClr val="FF0000"/>
                </a:solidFill>
                <a:latin typeface="Arial MT"/>
                <a:cs typeface="Arial MT"/>
              </a:rPr>
              <a:t> </a:t>
            </a:r>
            <a:r>
              <a:rPr sz="1800" dirty="0">
                <a:solidFill>
                  <a:srgbClr val="FF0000"/>
                </a:solidFill>
                <a:latin typeface="Arial MT"/>
                <a:cs typeface="Arial MT"/>
              </a:rPr>
              <a:t>main</a:t>
            </a:r>
            <a:r>
              <a:rPr sz="1800" spc="-25" dirty="0">
                <a:solidFill>
                  <a:srgbClr val="FF0000"/>
                </a:solidFill>
                <a:latin typeface="Arial MT"/>
                <a:cs typeface="Arial MT"/>
              </a:rPr>
              <a:t> </a:t>
            </a:r>
            <a:r>
              <a:rPr sz="1800" dirty="0">
                <a:solidFill>
                  <a:srgbClr val="FF0000"/>
                </a:solidFill>
                <a:latin typeface="Arial MT"/>
                <a:cs typeface="Arial MT"/>
              </a:rPr>
              <a:t>memory</a:t>
            </a:r>
            <a:r>
              <a:rPr sz="1800" spc="-25" dirty="0">
                <a:solidFill>
                  <a:srgbClr val="FF0000"/>
                </a:solidFill>
                <a:latin typeface="Arial MT"/>
                <a:cs typeface="Arial MT"/>
              </a:rPr>
              <a:t> </a:t>
            </a:r>
            <a:r>
              <a:rPr sz="1800" spc="-10" dirty="0">
                <a:solidFill>
                  <a:srgbClr val="FF0000"/>
                </a:solidFill>
                <a:latin typeface="Arial MT"/>
                <a:cs typeface="Arial MT"/>
              </a:rPr>
              <a:t>resource…?</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To</a:t>
            </a:r>
            <a:r>
              <a:rPr sz="1800" spc="-65" dirty="0">
                <a:latin typeface="Arial MT"/>
                <a:cs typeface="Arial MT"/>
              </a:rPr>
              <a:t> </a:t>
            </a:r>
            <a:r>
              <a:rPr sz="1800" dirty="0">
                <a:latin typeface="Arial MT"/>
                <a:cs typeface="Arial MT"/>
              </a:rPr>
              <a:t>provide</a:t>
            </a:r>
            <a:r>
              <a:rPr sz="1800" spc="-30" dirty="0">
                <a:latin typeface="Arial MT"/>
                <a:cs typeface="Arial MT"/>
              </a:rPr>
              <a:t> </a:t>
            </a:r>
            <a:r>
              <a:rPr sz="1800" dirty="0">
                <a:latin typeface="Arial MT"/>
                <a:cs typeface="Arial MT"/>
              </a:rPr>
              <a:t>a</a:t>
            </a:r>
            <a:r>
              <a:rPr sz="1800" spc="-45" dirty="0">
                <a:latin typeface="Arial MT"/>
                <a:cs typeface="Arial MT"/>
              </a:rPr>
              <a:t> </a:t>
            </a:r>
            <a:r>
              <a:rPr sz="1800" dirty="0">
                <a:latin typeface="Arial MT"/>
                <a:cs typeface="Arial MT"/>
              </a:rPr>
              <a:t>detailed</a:t>
            </a:r>
            <a:r>
              <a:rPr sz="1800" spc="-20" dirty="0">
                <a:latin typeface="Arial MT"/>
                <a:cs typeface="Arial MT"/>
              </a:rPr>
              <a:t> </a:t>
            </a:r>
            <a:r>
              <a:rPr sz="1800" dirty="0">
                <a:latin typeface="Arial MT"/>
                <a:cs typeface="Arial MT"/>
              </a:rPr>
              <a:t>description</a:t>
            </a:r>
            <a:r>
              <a:rPr sz="1800" spc="-30" dirty="0">
                <a:latin typeface="Arial MT"/>
                <a:cs typeface="Arial MT"/>
              </a:rPr>
              <a:t> </a:t>
            </a:r>
            <a:r>
              <a:rPr sz="1800" dirty="0">
                <a:latin typeface="Arial MT"/>
                <a:cs typeface="Arial MT"/>
              </a:rPr>
              <a:t>of</a:t>
            </a:r>
            <a:r>
              <a:rPr sz="1800" spc="-40" dirty="0">
                <a:latin typeface="Arial MT"/>
                <a:cs typeface="Arial MT"/>
              </a:rPr>
              <a:t> </a:t>
            </a:r>
            <a:r>
              <a:rPr sz="1800" dirty="0">
                <a:latin typeface="Arial MT"/>
                <a:cs typeface="Arial MT"/>
              </a:rPr>
              <a:t>various</a:t>
            </a:r>
            <a:r>
              <a:rPr sz="1800" spc="-25" dirty="0">
                <a:latin typeface="Arial MT"/>
                <a:cs typeface="Arial MT"/>
              </a:rPr>
              <a:t> </a:t>
            </a:r>
            <a:r>
              <a:rPr sz="1800" dirty="0">
                <a:latin typeface="Arial MT"/>
                <a:cs typeface="Arial MT"/>
              </a:rPr>
              <a:t>ways of</a:t>
            </a:r>
            <a:r>
              <a:rPr sz="1800" spc="-35" dirty="0">
                <a:latin typeface="Arial MT"/>
                <a:cs typeface="Arial MT"/>
              </a:rPr>
              <a:t> </a:t>
            </a:r>
            <a:r>
              <a:rPr sz="1800" dirty="0">
                <a:latin typeface="Arial MT"/>
                <a:cs typeface="Arial MT"/>
              </a:rPr>
              <a:t>organizing</a:t>
            </a:r>
            <a:r>
              <a:rPr sz="1800" spc="-20" dirty="0">
                <a:latin typeface="Arial MT"/>
                <a:cs typeface="Arial MT"/>
              </a:rPr>
              <a:t> </a:t>
            </a:r>
            <a:r>
              <a:rPr sz="1800" dirty="0">
                <a:latin typeface="Arial MT"/>
                <a:cs typeface="Arial MT"/>
              </a:rPr>
              <a:t>memory</a:t>
            </a:r>
            <a:r>
              <a:rPr sz="1800" spc="-25" dirty="0">
                <a:latin typeface="Arial MT"/>
                <a:cs typeface="Arial MT"/>
              </a:rPr>
              <a:t> </a:t>
            </a:r>
            <a:r>
              <a:rPr sz="1800" spc="-10" dirty="0">
                <a:latin typeface="Arial MT"/>
                <a:cs typeface="Arial MT"/>
              </a:rPr>
              <a:t>hardware</a:t>
            </a:r>
            <a:endParaRPr sz="1800">
              <a:latin typeface="Arial MT"/>
              <a:cs typeface="Arial MT"/>
            </a:endParaRPr>
          </a:p>
          <a:p>
            <a:pPr>
              <a:lnSpc>
                <a:spcPct val="100000"/>
              </a:lnSpc>
              <a:spcBef>
                <a:spcPts val="1605"/>
              </a:spcBef>
              <a:buClr>
                <a:srgbClr val="993300"/>
              </a:buClr>
              <a:buFont typeface="Wingdings"/>
              <a:buChar char=""/>
            </a:pPr>
            <a:endParaRPr sz="1800">
              <a:latin typeface="Arial MT"/>
              <a:cs typeface="Arial MT"/>
            </a:endParaRPr>
          </a:p>
          <a:p>
            <a:pPr marL="355600" marR="634365" indent="-342900">
              <a:lnSpc>
                <a:spcPct val="100000"/>
              </a:lnSpc>
              <a:buClr>
                <a:srgbClr val="993300"/>
              </a:buClr>
              <a:buSzPct val="88888"/>
              <a:buFont typeface="Wingdings"/>
              <a:buChar char=""/>
              <a:tabLst>
                <a:tab pos="355600" algn="l"/>
              </a:tabLst>
            </a:pPr>
            <a:r>
              <a:rPr sz="1800" dirty="0">
                <a:latin typeface="Arial MT"/>
                <a:cs typeface="Arial MT"/>
              </a:rPr>
              <a:t>To</a:t>
            </a:r>
            <a:r>
              <a:rPr sz="1800" spc="-50" dirty="0">
                <a:latin typeface="Arial MT"/>
                <a:cs typeface="Arial MT"/>
              </a:rPr>
              <a:t> </a:t>
            </a:r>
            <a:r>
              <a:rPr sz="1800" dirty="0">
                <a:latin typeface="Arial MT"/>
                <a:cs typeface="Arial MT"/>
              </a:rPr>
              <a:t>discuss</a:t>
            </a:r>
            <a:r>
              <a:rPr sz="1800" spc="-35" dirty="0">
                <a:latin typeface="Arial MT"/>
                <a:cs typeface="Arial MT"/>
              </a:rPr>
              <a:t> </a:t>
            </a:r>
            <a:r>
              <a:rPr sz="1800" dirty="0">
                <a:latin typeface="Arial MT"/>
                <a:cs typeface="Arial MT"/>
              </a:rPr>
              <a:t>various</a:t>
            </a:r>
            <a:r>
              <a:rPr sz="1800" spc="-30" dirty="0">
                <a:latin typeface="Arial MT"/>
                <a:cs typeface="Arial MT"/>
              </a:rPr>
              <a:t> </a:t>
            </a:r>
            <a:r>
              <a:rPr sz="1800" spc="-10" dirty="0">
                <a:latin typeface="Arial MT"/>
                <a:cs typeface="Arial MT"/>
              </a:rPr>
              <a:t>memory-</a:t>
            </a:r>
            <a:r>
              <a:rPr sz="1800" dirty="0">
                <a:latin typeface="Arial MT"/>
                <a:cs typeface="Arial MT"/>
              </a:rPr>
              <a:t>management</a:t>
            </a:r>
            <a:r>
              <a:rPr sz="1800" spc="20" dirty="0">
                <a:latin typeface="Arial MT"/>
                <a:cs typeface="Arial MT"/>
              </a:rPr>
              <a:t> </a:t>
            </a:r>
            <a:r>
              <a:rPr sz="1800" dirty="0">
                <a:latin typeface="Arial MT"/>
                <a:cs typeface="Arial MT"/>
              </a:rPr>
              <a:t>techniques,</a:t>
            </a:r>
            <a:r>
              <a:rPr sz="1800" spc="-25" dirty="0">
                <a:latin typeface="Arial MT"/>
                <a:cs typeface="Arial MT"/>
              </a:rPr>
              <a:t> </a:t>
            </a:r>
            <a:r>
              <a:rPr sz="1800" dirty="0">
                <a:latin typeface="Arial MT"/>
                <a:cs typeface="Arial MT"/>
              </a:rPr>
              <a:t>including</a:t>
            </a:r>
            <a:r>
              <a:rPr sz="1800" spc="-20" dirty="0">
                <a:latin typeface="Arial MT"/>
                <a:cs typeface="Arial MT"/>
              </a:rPr>
              <a:t> </a:t>
            </a:r>
            <a:r>
              <a:rPr sz="1800" dirty="0">
                <a:latin typeface="Arial MT"/>
                <a:cs typeface="Arial MT"/>
              </a:rPr>
              <a:t>paging</a:t>
            </a:r>
            <a:r>
              <a:rPr sz="1800" spc="-20" dirty="0">
                <a:latin typeface="Arial MT"/>
                <a:cs typeface="Arial MT"/>
              </a:rPr>
              <a:t> </a:t>
            </a:r>
            <a:r>
              <a:rPr sz="1800" spc="-25" dirty="0">
                <a:latin typeface="Arial MT"/>
                <a:cs typeface="Arial MT"/>
              </a:rPr>
              <a:t>and </a:t>
            </a:r>
            <a:r>
              <a:rPr sz="1800" spc="-10" dirty="0">
                <a:latin typeface="Arial MT"/>
                <a:cs typeface="Arial MT"/>
              </a:rPr>
              <a:t>segmentation</a:t>
            </a:r>
            <a:endParaRPr sz="1800">
              <a:latin typeface="Arial MT"/>
              <a:cs typeface="Arial MT"/>
            </a:endParaRPr>
          </a:p>
          <a:p>
            <a:pPr>
              <a:lnSpc>
                <a:spcPct val="100000"/>
              </a:lnSpc>
              <a:spcBef>
                <a:spcPts val="1605"/>
              </a:spcBef>
              <a:buClr>
                <a:srgbClr val="993300"/>
              </a:buClr>
              <a:buFont typeface="Wingdings"/>
              <a:buChar char=""/>
            </a:pPr>
            <a:endParaRPr sz="1800">
              <a:latin typeface="Arial MT"/>
              <a:cs typeface="Arial MT"/>
            </a:endParaRPr>
          </a:p>
          <a:p>
            <a:pPr marL="355600" marR="203835" indent="-342900">
              <a:lnSpc>
                <a:spcPct val="100000"/>
              </a:lnSpc>
              <a:buClr>
                <a:srgbClr val="993300"/>
              </a:buClr>
              <a:buSzPct val="88888"/>
              <a:buFont typeface="Wingdings"/>
              <a:buChar char=""/>
              <a:tabLst>
                <a:tab pos="355600" algn="l"/>
              </a:tabLst>
            </a:pPr>
            <a:r>
              <a:rPr sz="1800" dirty="0">
                <a:latin typeface="Arial MT"/>
                <a:cs typeface="Arial MT"/>
              </a:rPr>
              <a:t>To</a:t>
            </a:r>
            <a:r>
              <a:rPr sz="1800" spc="-50" dirty="0">
                <a:latin typeface="Arial MT"/>
                <a:cs typeface="Arial MT"/>
              </a:rPr>
              <a:t> </a:t>
            </a:r>
            <a:r>
              <a:rPr sz="1800" dirty="0">
                <a:latin typeface="Arial MT"/>
                <a:cs typeface="Arial MT"/>
              </a:rPr>
              <a:t>provide</a:t>
            </a:r>
            <a:r>
              <a:rPr sz="1800" spc="-25" dirty="0">
                <a:latin typeface="Arial MT"/>
                <a:cs typeface="Arial MT"/>
              </a:rPr>
              <a:t> </a:t>
            </a:r>
            <a:r>
              <a:rPr sz="1800" dirty="0">
                <a:latin typeface="Arial MT"/>
                <a:cs typeface="Arial MT"/>
              </a:rPr>
              <a:t>a</a:t>
            </a:r>
            <a:r>
              <a:rPr sz="1800" spc="-35" dirty="0">
                <a:latin typeface="Arial MT"/>
                <a:cs typeface="Arial MT"/>
              </a:rPr>
              <a:t> </a:t>
            </a:r>
            <a:r>
              <a:rPr sz="1800" dirty="0">
                <a:latin typeface="Arial MT"/>
                <a:cs typeface="Arial MT"/>
              </a:rPr>
              <a:t>detailed</a:t>
            </a:r>
            <a:r>
              <a:rPr sz="1800" spc="-15" dirty="0">
                <a:latin typeface="Arial MT"/>
                <a:cs typeface="Arial MT"/>
              </a:rPr>
              <a:t> </a:t>
            </a:r>
            <a:r>
              <a:rPr sz="1800" dirty="0">
                <a:latin typeface="Arial MT"/>
                <a:cs typeface="Arial MT"/>
              </a:rPr>
              <a:t>description</a:t>
            </a:r>
            <a:r>
              <a:rPr sz="1800" spc="-30"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the</a:t>
            </a:r>
            <a:r>
              <a:rPr sz="1800" spc="-45" dirty="0">
                <a:latin typeface="Arial MT"/>
                <a:cs typeface="Arial MT"/>
              </a:rPr>
              <a:t> </a:t>
            </a:r>
            <a:r>
              <a:rPr sz="1800" dirty="0">
                <a:latin typeface="Arial MT"/>
                <a:cs typeface="Arial MT"/>
              </a:rPr>
              <a:t>Intel</a:t>
            </a:r>
            <a:r>
              <a:rPr sz="1800" spc="-30" dirty="0">
                <a:latin typeface="Arial MT"/>
                <a:cs typeface="Arial MT"/>
              </a:rPr>
              <a:t> </a:t>
            </a:r>
            <a:r>
              <a:rPr sz="1800" dirty="0">
                <a:latin typeface="Arial MT"/>
                <a:cs typeface="Arial MT"/>
              </a:rPr>
              <a:t>Pentium,</a:t>
            </a:r>
            <a:r>
              <a:rPr sz="1800" spc="-35" dirty="0">
                <a:latin typeface="Arial MT"/>
                <a:cs typeface="Arial MT"/>
              </a:rPr>
              <a:t> </a:t>
            </a:r>
            <a:r>
              <a:rPr sz="1800" dirty="0">
                <a:latin typeface="Arial MT"/>
                <a:cs typeface="Arial MT"/>
              </a:rPr>
              <a:t>which</a:t>
            </a:r>
            <a:r>
              <a:rPr sz="1800" spc="10" dirty="0">
                <a:latin typeface="Arial MT"/>
                <a:cs typeface="Arial MT"/>
              </a:rPr>
              <a:t> </a:t>
            </a:r>
            <a:r>
              <a:rPr sz="1800" dirty="0">
                <a:latin typeface="Arial MT"/>
                <a:cs typeface="Arial MT"/>
              </a:rPr>
              <a:t>supports</a:t>
            </a:r>
            <a:r>
              <a:rPr sz="1800" spc="-15" dirty="0">
                <a:latin typeface="Arial MT"/>
                <a:cs typeface="Arial MT"/>
              </a:rPr>
              <a:t> </a:t>
            </a:r>
            <a:r>
              <a:rPr sz="1800" dirty="0">
                <a:latin typeface="Arial MT"/>
                <a:cs typeface="Arial MT"/>
              </a:rPr>
              <a:t>both</a:t>
            </a:r>
            <a:r>
              <a:rPr sz="1800" spc="-35" dirty="0">
                <a:latin typeface="Arial MT"/>
                <a:cs typeface="Arial MT"/>
              </a:rPr>
              <a:t> </a:t>
            </a:r>
            <a:r>
              <a:rPr sz="1800" spc="-20" dirty="0">
                <a:latin typeface="Arial MT"/>
                <a:cs typeface="Arial MT"/>
              </a:rPr>
              <a:t>pure </a:t>
            </a:r>
            <a:r>
              <a:rPr sz="1800" dirty="0">
                <a:latin typeface="Arial MT"/>
                <a:cs typeface="Arial MT"/>
              </a:rPr>
              <a:t>segmentation</a:t>
            </a:r>
            <a:r>
              <a:rPr sz="1800" spc="-45" dirty="0">
                <a:latin typeface="Arial MT"/>
                <a:cs typeface="Arial MT"/>
              </a:rPr>
              <a:t> </a:t>
            </a:r>
            <a:r>
              <a:rPr sz="1800" dirty="0">
                <a:latin typeface="Arial MT"/>
                <a:cs typeface="Arial MT"/>
              </a:rPr>
              <a:t>and</a:t>
            </a:r>
            <a:r>
              <a:rPr sz="1800" spc="-50" dirty="0">
                <a:latin typeface="Arial MT"/>
                <a:cs typeface="Arial MT"/>
              </a:rPr>
              <a:t> </a:t>
            </a:r>
            <a:r>
              <a:rPr sz="1800" dirty="0">
                <a:latin typeface="Arial MT"/>
                <a:cs typeface="Arial MT"/>
              </a:rPr>
              <a:t>segmentation</a:t>
            </a:r>
            <a:r>
              <a:rPr sz="1800" spc="-35" dirty="0">
                <a:latin typeface="Arial MT"/>
                <a:cs typeface="Arial MT"/>
              </a:rPr>
              <a:t> </a:t>
            </a:r>
            <a:r>
              <a:rPr sz="1800" dirty="0">
                <a:latin typeface="Arial MT"/>
                <a:cs typeface="Arial MT"/>
              </a:rPr>
              <a:t>with</a:t>
            </a:r>
            <a:r>
              <a:rPr sz="1800" spc="-20" dirty="0">
                <a:latin typeface="Arial MT"/>
                <a:cs typeface="Arial MT"/>
              </a:rPr>
              <a:t> </a:t>
            </a:r>
            <a:r>
              <a:rPr sz="1800" spc="-10" dirty="0">
                <a:latin typeface="Arial MT"/>
                <a:cs typeface="Arial MT"/>
              </a:rPr>
              <a:t>paging</a:t>
            </a:r>
            <a:endParaRPr sz="18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336D-7C6E-B2F6-144D-D7D0540172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559070-90DF-BE7B-59A2-999A2CBCBF80}"/>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2E965E4B-02D1-5E43-5717-DEC15C4E2012}"/>
              </a:ext>
            </a:extLst>
          </p:cNvPr>
          <p:cNvPicPr>
            <a:picLocks noChangeAspect="1"/>
          </p:cNvPicPr>
          <p:nvPr/>
        </p:nvPicPr>
        <p:blipFill>
          <a:blip r:embed="rId2"/>
          <a:stretch>
            <a:fillRect/>
          </a:stretch>
        </p:blipFill>
        <p:spPr>
          <a:xfrm>
            <a:off x="983846" y="1404655"/>
            <a:ext cx="4220164" cy="4048690"/>
          </a:xfrm>
          <a:prstGeom prst="rect">
            <a:avLst/>
          </a:prstGeom>
        </p:spPr>
      </p:pic>
    </p:spTree>
    <p:extLst>
      <p:ext uri="{BB962C8B-B14F-4D97-AF65-F5344CB8AC3E}">
        <p14:creationId xmlns:p14="http://schemas.microsoft.com/office/powerpoint/2010/main" val="103691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1947-01D8-594E-8366-14B512FBB72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B5B3D16-CF07-1163-BF2F-E51974354DAD}"/>
              </a:ext>
            </a:extLst>
          </p:cNvPr>
          <p:cNvPicPr>
            <a:picLocks noGrp="1" noChangeAspect="1"/>
          </p:cNvPicPr>
          <p:nvPr>
            <p:ph idx="1"/>
          </p:nvPr>
        </p:nvPicPr>
        <p:blipFill>
          <a:blip r:embed="rId2"/>
          <a:stretch>
            <a:fillRect/>
          </a:stretch>
        </p:blipFill>
        <p:spPr>
          <a:xfrm>
            <a:off x="1006909" y="1233488"/>
            <a:ext cx="7327031" cy="4530725"/>
          </a:xfrm>
        </p:spPr>
      </p:pic>
    </p:spTree>
    <p:extLst>
      <p:ext uri="{BB962C8B-B14F-4D97-AF65-F5344CB8AC3E}">
        <p14:creationId xmlns:p14="http://schemas.microsoft.com/office/powerpoint/2010/main" val="373468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680" rIns="0" bIns="0" rtlCol="0">
            <a:spAutoFit/>
          </a:bodyPr>
          <a:lstStyle/>
          <a:p>
            <a:pPr marL="3201035">
              <a:lnSpc>
                <a:spcPct val="100000"/>
              </a:lnSpc>
              <a:spcBef>
                <a:spcPts val="105"/>
              </a:spcBef>
            </a:pPr>
            <a:r>
              <a:rPr spc="-10" dirty="0">
                <a:solidFill>
                  <a:srgbClr val="006699"/>
                </a:solidFill>
              </a:rPr>
              <a:t>Background</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6</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582660" cy="5554345"/>
          </a:xfrm>
          <a:prstGeom prst="rect">
            <a:avLst/>
          </a:prstGeom>
        </p:spPr>
        <p:txBody>
          <a:bodyPr vert="horz" wrap="square" lIns="0" tIns="12700" rIns="0" bIns="0" rtlCol="0">
            <a:spAutoFit/>
          </a:bodyPr>
          <a:lstStyle/>
          <a:p>
            <a:pPr marL="355600" marR="221615" indent="-342900">
              <a:lnSpc>
                <a:spcPct val="100000"/>
              </a:lnSpc>
              <a:spcBef>
                <a:spcPts val="100"/>
              </a:spcBef>
              <a:buClr>
                <a:srgbClr val="993300"/>
              </a:buClr>
              <a:buSzPct val="88888"/>
              <a:buFont typeface="Wingdings"/>
              <a:buChar char=""/>
              <a:tabLst>
                <a:tab pos="355600" algn="l"/>
                <a:tab pos="4215130" algn="l"/>
              </a:tabLst>
            </a:pPr>
            <a:r>
              <a:rPr sz="1800" dirty="0">
                <a:latin typeface="Arial MT"/>
                <a:cs typeface="Arial MT"/>
              </a:rPr>
              <a:t>Program</a:t>
            </a:r>
            <a:r>
              <a:rPr sz="1800" spc="-25" dirty="0">
                <a:latin typeface="Arial MT"/>
                <a:cs typeface="Arial MT"/>
              </a:rPr>
              <a:t> </a:t>
            </a:r>
            <a:r>
              <a:rPr sz="1800" dirty="0">
                <a:latin typeface="Arial MT"/>
                <a:cs typeface="Arial MT"/>
              </a:rPr>
              <a:t>must</a:t>
            </a:r>
            <a:r>
              <a:rPr sz="1800" spc="-35" dirty="0">
                <a:latin typeface="Arial MT"/>
                <a:cs typeface="Arial MT"/>
              </a:rPr>
              <a:t> </a:t>
            </a:r>
            <a:r>
              <a:rPr sz="1800" dirty="0">
                <a:latin typeface="Arial MT"/>
                <a:cs typeface="Arial MT"/>
              </a:rPr>
              <a:t>be</a:t>
            </a:r>
            <a:r>
              <a:rPr sz="1800" spc="-25" dirty="0">
                <a:latin typeface="Arial MT"/>
                <a:cs typeface="Arial MT"/>
              </a:rPr>
              <a:t> </a:t>
            </a:r>
            <a:r>
              <a:rPr sz="1800" dirty="0">
                <a:latin typeface="Arial MT"/>
                <a:cs typeface="Arial MT"/>
              </a:rPr>
              <a:t>brought</a:t>
            </a:r>
            <a:r>
              <a:rPr sz="1800" spc="-20" dirty="0">
                <a:latin typeface="Arial MT"/>
                <a:cs typeface="Arial MT"/>
              </a:rPr>
              <a:t> </a:t>
            </a:r>
            <a:r>
              <a:rPr sz="1800" dirty="0">
                <a:latin typeface="Arial MT"/>
                <a:cs typeface="Arial MT"/>
              </a:rPr>
              <a:t>(from</a:t>
            </a:r>
            <a:r>
              <a:rPr sz="1800" spc="-35" dirty="0">
                <a:latin typeface="Arial MT"/>
                <a:cs typeface="Arial MT"/>
              </a:rPr>
              <a:t> </a:t>
            </a:r>
            <a:r>
              <a:rPr sz="1800" spc="-10" dirty="0">
                <a:latin typeface="Arial MT"/>
                <a:cs typeface="Arial MT"/>
              </a:rPr>
              <a:t>disk)</a:t>
            </a:r>
            <a:r>
              <a:rPr sz="1800" dirty="0">
                <a:latin typeface="Arial MT"/>
                <a:cs typeface="Arial MT"/>
              </a:rPr>
              <a:t>	into</a:t>
            </a:r>
            <a:r>
              <a:rPr sz="1800" spc="-30"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placed</a:t>
            </a:r>
            <a:r>
              <a:rPr sz="1800" spc="-25" dirty="0">
                <a:latin typeface="Arial MT"/>
                <a:cs typeface="Arial MT"/>
              </a:rPr>
              <a:t> </a:t>
            </a:r>
            <a:r>
              <a:rPr sz="1800" dirty="0">
                <a:latin typeface="Arial MT"/>
                <a:cs typeface="Arial MT"/>
              </a:rPr>
              <a:t>within</a:t>
            </a:r>
            <a:r>
              <a:rPr sz="1800" spc="15" dirty="0">
                <a:latin typeface="Arial MT"/>
                <a:cs typeface="Arial MT"/>
              </a:rPr>
              <a:t> </a:t>
            </a:r>
            <a:r>
              <a:rPr sz="1800" dirty="0">
                <a:latin typeface="Arial MT"/>
                <a:cs typeface="Arial MT"/>
              </a:rPr>
              <a:t>a</a:t>
            </a:r>
            <a:r>
              <a:rPr sz="1800" spc="-25" dirty="0">
                <a:latin typeface="Arial MT"/>
                <a:cs typeface="Arial MT"/>
              </a:rPr>
              <a:t> </a:t>
            </a:r>
            <a:r>
              <a:rPr sz="1800" spc="-10" dirty="0">
                <a:latin typeface="Arial MT"/>
                <a:cs typeface="Arial MT"/>
              </a:rPr>
              <a:t>process </a:t>
            </a:r>
            <a:r>
              <a:rPr sz="1800" dirty="0">
                <a:latin typeface="Arial MT"/>
                <a:cs typeface="Arial MT"/>
              </a:rPr>
              <a:t>for</a:t>
            </a:r>
            <a:r>
              <a:rPr sz="1800" spc="-5" dirty="0">
                <a:latin typeface="Arial MT"/>
                <a:cs typeface="Arial MT"/>
              </a:rPr>
              <a:t> </a:t>
            </a:r>
            <a:r>
              <a:rPr sz="1800" dirty="0">
                <a:latin typeface="Arial MT"/>
                <a:cs typeface="Arial MT"/>
              </a:rPr>
              <a:t>it</a:t>
            </a:r>
            <a:r>
              <a:rPr sz="1800" spc="-5" dirty="0">
                <a:latin typeface="Arial MT"/>
                <a:cs typeface="Arial MT"/>
              </a:rPr>
              <a:t> </a:t>
            </a:r>
            <a:r>
              <a:rPr sz="1800" dirty="0">
                <a:latin typeface="Arial MT"/>
                <a:cs typeface="Arial MT"/>
              </a:rPr>
              <a:t>to</a:t>
            </a:r>
            <a:r>
              <a:rPr sz="1800" spc="-5" dirty="0">
                <a:latin typeface="Arial MT"/>
                <a:cs typeface="Arial MT"/>
              </a:rPr>
              <a:t> </a:t>
            </a:r>
            <a:r>
              <a:rPr sz="1800" dirty="0">
                <a:latin typeface="Arial MT"/>
                <a:cs typeface="Arial MT"/>
              </a:rPr>
              <a:t>be</a:t>
            </a:r>
            <a:r>
              <a:rPr sz="1800" spc="-10" dirty="0">
                <a:latin typeface="Arial MT"/>
                <a:cs typeface="Arial MT"/>
              </a:rPr>
              <a:t> </a:t>
            </a:r>
            <a:r>
              <a:rPr sz="1800" spc="-25" dirty="0">
                <a:latin typeface="Arial MT"/>
                <a:cs typeface="Arial MT"/>
              </a:rPr>
              <a:t>run</a:t>
            </a:r>
            <a:endParaRPr sz="1800" dirty="0">
              <a:latin typeface="Arial MT"/>
              <a:cs typeface="Arial MT"/>
            </a:endParaRPr>
          </a:p>
          <a:p>
            <a:pPr marL="756285" lvl="1" indent="-286385">
              <a:lnSpc>
                <a:spcPct val="100000"/>
              </a:lnSpc>
              <a:spcBef>
                <a:spcPts val="590"/>
              </a:spcBef>
              <a:buClr>
                <a:srgbClr val="CC6600"/>
              </a:buClr>
              <a:buSzPct val="78571"/>
              <a:buFont typeface="Wingdings"/>
              <a:buChar char=""/>
              <a:tabLst>
                <a:tab pos="756285" algn="l"/>
              </a:tabLst>
            </a:pPr>
            <a:r>
              <a:rPr sz="1400" dirty="0">
                <a:solidFill>
                  <a:srgbClr val="FF0000"/>
                </a:solidFill>
                <a:latin typeface="Arial MT"/>
                <a:cs typeface="Arial MT"/>
              </a:rPr>
              <a:t>Given</a:t>
            </a:r>
            <a:r>
              <a:rPr sz="1400" spc="-25" dirty="0">
                <a:solidFill>
                  <a:srgbClr val="FF0000"/>
                </a:solidFill>
                <a:latin typeface="Arial MT"/>
                <a:cs typeface="Arial MT"/>
              </a:rPr>
              <a:t> </a:t>
            </a:r>
            <a:r>
              <a:rPr sz="1400" dirty="0">
                <a:solidFill>
                  <a:srgbClr val="FF0000"/>
                </a:solidFill>
                <a:latin typeface="Arial MT"/>
                <a:cs typeface="Arial MT"/>
              </a:rPr>
              <a:t>current</a:t>
            </a:r>
            <a:r>
              <a:rPr sz="1400" spc="-55" dirty="0">
                <a:solidFill>
                  <a:srgbClr val="FF0000"/>
                </a:solidFill>
                <a:latin typeface="Arial MT"/>
                <a:cs typeface="Arial MT"/>
              </a:rPr>
              <a:t> </a:t>
            </a:r>
            <a:r>
              <a:rPr sz="1400" dirty="0">
                <a:solidFill>
                  <a:srgbClr val="FF0000"/>
                </a:solidFill>
                <a:latin typeface="Arial MT"/>
                <a:cs typeface="Arial MT"/>
              </a:rPr>
              <a:t>value</a:t>
            </a:r>
            <a:r>
              <a:rPr sz="1400" spc="-15" dirty="0">
                <a:solidFill>
                  <a:srgbClr val="FF0000"/>
                </a:solidFill>
                <a:latin typeface="Arial MT"/>
                <a:cs typeface="Arial MT"/>
              </a:rPr>
              <a:t> </a:t>
            </a:r>
            <a:r>
              <a:rPr sz="1400" dirty="0">
                <a:solidFill>
                  <a:srgbClr val="FF0000"/>
                </a:solidFill>
                <a:latin typeface="Arial MT"/>
                <a:cs typeface="Arial MT"/>
              </a:rPr>
              <a:t>of</a:t>
            </a:r>
            <a:r>
              <a:rPr sz="1400" spc="-20" dirty="0">
                <a:solidFill>
                  <a:srgbClr val="FF0000"/>
                </a:solidFill>
                <a:latin typeface="Arial MT"/>
                <a:cs typeface="Arial MT"/>
              </a:rPr>
              <a:t> </a:t>
            </a:r>
            <a:r>
              <a:rPr sz="1400" dirty="0">
                <a:solidFill>
                  <a:srgbClr val="FF0000"/>
                </a:solidFill>
                <a:latin typeface="Arial MT"/>
                <a:cs typeface="Arial MT"/>
              </a:rPr>
              <a:t>EIP</a:t>
            </a:r>
            <a:r>
              <a:rPr sz="1400" spc="-25" dirty="0">
                <a:solidFill>
                  <a:srgbClr val="FF0000"/>
                </a:solidFill>
                <a:latin typeface="Arial MT"/>
                <a:cs typeface="Arial MT"/>
              </a:rPr>
              <a:t> </a:t>
            </a:r>
            <a:r>
              <a:rPr sz="1400" dirty="0">
                <a:solidFill>
                  <a:srgbClr val="FF0000"/>
                </a:solidFill>
                <a:latin typeface="Arial MT"/>
                <a:cs typeface="Arial MT"/>
              </a:rPr>
              <a:t>register,</a:t>
            </a:r>
            <a:r>
              <a:rPr sz="1400" spc="-50" dirty="0">
                <a:solidFill>
                  <a:srgbClr val="FF0000"/>
                </a:solidFill>
                <a:latin typeface="Arial MT"/>
                <a:cs typeface="Arial MT"/>
              </a:rPr>
              <a:t> </a:t>
            </a:r>
            <a:r>
              <a:rPr sz="1400" dirty="0">
                <a:solidFill>
                  <a:srgbClr val="FF0000"/>
                </a:solidFill>
                <a:latin typeface="Arial MT"/>
                <a:cs typeface="Arial MT"/>
              </a:rPr>
              <a:t>then</a:t>
            </a:r>
            <a:r>
              <a:rPr sz="1400" spc="-50" dirty="0">
                <a:solidFill>
                  <a:srgbClr val="FF0000"/>
                </a:solidFill>
                <a:latin typeface="Arial MT"/>
                <a:cs typeface="Arial MT"/>
              </a:rPr>
              <a:t> </a:t>
            </a:r>
            <a:r>
              <a:rPr sz="1400" dirty="0">
                <a:solidFill>
                  <a:srgbClr val="FF0000"/>
                </a:solidFill>
                <a:latin typeface="Arial MT"/>
                <a:cs typeface="Arial MT"/>
              </a:rPr>
              <a:t>Fetch-</a:t>
            </a:r>
            <a:r>
              <a:rPr sz="1400" spc="-10" dirty="0">
                <a:solidFill>
                  <a:srgbClr val="FF0000"/>
                </a:solidFill>
                <a:latin typeface="Arial MT"/>
                <a:cs typeface="Arial MT"/>
              </a:rPr>
              <a:t>and-</a:t>
            </a:r>
            <a:r>
              <a:rPr sz="1400" dirty="0">
                <a:solidFill>
                  <a:srgbClr val="FF0000"/>
                </a:solidFill>
                <a:latin typeface="Arial MT"/>
                <a:cs typeface="Arial MT"/>
              </a:rPr>
              <a:t>Execute</a:t>
            </a:r>
            <a:r>
              <a:rPr sz="1400" spc="-60" dirty="0">
                <a:solidFill>
                  <a:srgbClr val="FF0000"/>
                </a:solidFill>
                <a:latin typeface="Arial MT"/>
                <a:cs typeface="Arial MT"/>
              </a:rPr>
              <a:t> </a:t>
            </a:r>
            <a:r>
              <a:rPr sz="1400" spc="-10" dirty="0">
                <a:solidFill>
                  <a:srgbClr val="FF0000"/>
                </a:solidFill>
                <a:latin typeface="Arial MT"/>
                <a:cs typeface="Arial MT"/>
              </a:rPr>
              <a:t>cycle</a:t>
            </a:r>
            <a:endParaRPr sz="1400" dirty="0">
              <a:latin typeface="Arial MT"/>
              <a:cs typeface="Arial MT"/>
            </a:endParaRPr>
          </a:p>
          <a:p>
            <a:pPr marL="1098550" lvl="2" indent="-227965">
              <a:lnSpc>
                <a:spcPct val="100000"/>
              </a:lnSpc>
              <a:spcBef>
                <a:spcPts val="590"/>
              </a:spcBef>
              <a:buClr>
                <a:srgbClr val="009900"/>
              </a:buClr>
              <a:buSzPct val="75000"/>
              <a:buFont typeface="Webdings"/>
              <a:buChar char=""/>
              <a:tabLst>
                <a:tab pos="1098550" algn="l"/>
              </a:tabLst>
            </a:pPr>
            <a:r>
              <a:rPr sz="1400" dirty="0">
                <a:solidFill>
                  <a:srgbClr val="FF0000"/>
                </a:solidFill>
                <a:latin typeface="Arial MT"/>
                <a:cs typeface="Arial MT"/>
              </a:rPr>
              <a:t>Fetch</a:t>
            </a:r>
            <a:r>
              <a:rPr sz="1400" spc="-45" dirty="0">
                <a:solidFill>
                  <a:srgbClr val="FF0000"/>
                </a:solidFill>
                <a:latin typeface="Arial MT"/>
                <a:cs typeface="Arial MT"/>
              </a:rPr>
              <a:t> </a:t>
            </a:r>
            <a:r>
              <a:rPr sz="1400" dirty="0">
                <a:solidFill>
                  <a:srgbClr val="FF0000"/>
                </a:solidFill>
                <a:latin typeface="Arial MT"/>
                <a:cs typeface="Arial MT"/>
              </a:rPr>
              <a:t>next</a:t>
            </a:r>
            <a:r>
              <a:rPr sz="1400" spc="-15" dirty="0">
                <a:solidFill>
                  <a:srgbClr val="FF0000"/>
                </a:solidFill>
                <a:latin typeface="Arial MT"/>
                <a:cs typeface="Arial MT"/>
              </a:rPr>
              <a:t> </a:t>
            </a:r>
            <a:r>
              <a:rPr sz="1400" dirty="0">
                <a:solidFill>
                  <a:srgbClr val="FF0000"/>
                </a:solidFill>
                <a:latin typeface="Arial MT"/>
                <a:cs typeface="Arial MT"/>
              </a:rPr>
              <a:t>instruction</a:t>
            </a:r>
            <a:r>
              <a:rPr sz="1400" spc="-55" dirty="0">
                <a:solidFill>
                  <a:srgbClr val="FF0000"/>
                </a:solidFill>
                <a:latin typeface="Arial MT"/>
                <a:cs typeface="Arial MT"/>
              </a:rPr>
              <a:t> </a:t>
            </a:r>
            <a:r>
              <a:rPr sz="1400" dirty="0">
                <a:solidFill>
                  <a:srgbClr val="FF0000"/>
                </a:solidFill>
                <a:latin typeface="Arial MT"/>
                <a:cs typeface="Arial MT"/>
              </a:rPr>
              <a:t>from</a:t>
            </a:r>
            <a:r>
              <a:rPr sz="1400" spc="-50" dirty="0">
                <a:solidFill>
                  <a:srgbClr val="FF0000"/>
                </a:solidFill>
                <a:latin typeface="Arial MT"/>
                <a:cs typeface="Arial MT"/>
              </a:rPr>
              <a:t> </a:t>
            </a:r>
            <a:r>
              <a:rPr sz="1400" spc="-10" dirty="0">
                <a:solidFill>
                  <a:srgbClr val="FF0000"/>
                </a:solidFill>
                <a:latin typeface="Arial MT"/>
                <a:cs typeface="Arial MT"/>
              </a:rPr>
              <a:t>memory</a:t>
            </a:r>
            <a:endParaRPr sz="1400" dirty="0">
              <a:latin typeface="Arial MT"/>
              <a:cs typeface="Arial MT"/>
            </a:endParaRPr>
          </a:p>
          <a:p>
            <a:pPr marL="1098550" lvl="2" indent="-227965">
              <a:lnSpc>
                <a:spcPct val="100000"/>
              </a:lnSpc>
              <a:spcBef>
                <a:spcPts val="590"/>
              </a:spcBef>
              <a:buClr>
                <a:srgbClr val="009900"/>
              </a:buClr>
              <a:buSzPct val="75000"/>
              <a:buFont typeface="Webdings"/>
              <a:buChar char=""/>
              <a:tabLst>
                <a:tab pos="1098550" algn="l"/>
              </a:tabLst>
            </a:pPr>
            <a:r>
              <a:rPr sz="1400" dirty="0">
                <a:solidFill>
                  <a:srgbClr val="FF0000"/>
                </a:solidFill>
                <a:latin typeface="Arial MT"/>
                <a:cs typeface="Arial MT"/>
              </a:rPr>
              <a:t>Decode</a:t>
            </a:r>
            <a:r>
              <a:rPr sz="1400" spc="-50" dirty="0">
                <a:solidFill>
                  <a:srgbClr val="FF0000"/>
                </a:solidFill>
                <a:latin typeface="Arial MT"/>
                <a:cs typeface="Arial MT"/>
              </a:rPr>
              <a:t> </a:t>
            </a:r>
            <a:r>
              <a:rPr sz="1400" dirty="0">
                <a:solidFill>
                  <a:srgbClr val="FF0000"/>
                </a:solidFill>
                <a:latin typeface="Arial MT"/>
                <a:cs typeface="Arial MT"/>
              </a:rPr>
              <a:t>the</a:t>
            </a:r>
            <a:r>
              <a:rPr sz="1400" spc="-30" dirty="0">
                <a:solidFill>
                  <a:srgbClr val="FF0000"/>
                </a:solidFill>
                <a:latin typeface="Arial MT"/>
                <a:cs typeface="Arial MT"/>
              </a:rPr>
              <a:t> </a:t>
            </a:r>
            <a:r>
              <a:rPr sz="1400" dirty="0">
                <a:solidFill>
                  <a:srgbClr val="FF0000"/>
                </a:solidFill>
                <a:latin typeface="Arial MT"/>
                <a:cs typeface="Arial MT"/>
              </a:rPr>
              <a:t>new</a:t>
            </a:r>
            <a:r>
              <a:rPr sz="1400" spc="-25" dirty="0">
                <a:solidFill>
                  <a:srgbClr val="FF0000"/>
                </a:solidFill>
                <a:latin typeface="Arial MT"/>
                <a:cs typeface="Arial MT"/>
              </a:rPr>
              <a:t> </a:t>
            </a:r>
            <a:r>
              <a:rPr sz="1400" spc="-10" dirty="0">
                <a:solidFill>
                  <a:srgbClr val="FF0000"/>
                </a:solidFill>
                <a:latin typeface="Arial MT"/>
                <a:cs typeface="Arial MT"/>
              </a:rPr>
              <a:t>instruction</a:t>
            </a:r>
            <a:endParaRPr sz="1400" dirty="0">
              <a:latin typeface="Arial MT"/>
              <a:cs typeface="Arial MT"/>
            </a:endParaRPr>
          </a:p>
          <a:p>
            <a:pPr marL="1442085" lvl="3" indent="-228600">
              <a:lnSpc>
                <a:spcPct val="100000"/>
              </a:lnSpc>
              <a:spcBef>
                <a:spcPts val="590"/>
              </a:spcBef>
              <a:buClr>
                <a:srgbClr val="FFCC00"/>
              </a:buClr>
              <a:buSzPct val="75000"/>
              <a:buChar char="–"/>
              <a:tabLst>
                <a:tab pos="1442085" algn="l"/>
              </a:tabLst>
            </a:pPr>
            <a:r>
              <a:rPr sz="1400" dirty="0">
                <a:solidFill>
                  <a:srgbClr val="FF0000"/>
                </a:solidFill>
                <a:latin typeface="Arial MT"/>
                <a:cs typeface="Arial MT"/>
              </a:rPr>
              <a:t>If</a:t>
            </a:r>
            <a:r>
              <a:rPr sz="1400" spc="-35" dirty="0">
                <a:solidFill>
                  <a:srgbClr val="FF0000"/>
                </a:solidFill>
                <a:latin typeface="Arial MT"/>
                <a:cs typeface="Arial MT"/>
              </a:rPr>
              <a:t> </a:t>
            </a:r>
            <a:r>
              <a:rPr sz="1400" dirty="0">
                <a:solidFill>
                  <a:srgbClr val="FF0000"/>
                </a:solidFill>
                <a:latin typeface="Arial MT"/>
                <a:cs typeface="Arial MT"/>
              </a:rPr>
              <a:t>necessary:</a:t>
            </a:r>
            <a:r>
              <a:rPr sz="1400" spc="-35" dirty="0">
                <a:solidFill>
                  <a:srgbClr val="FF0000"/>
                </a:solidFill>
                <a:latin typeface="Arial MT"/>
                <a:cs typeface="Arial MT"/>
              </a:rPr>
              <a:t> </a:t>
            </a:r>
            <a:r>
              <a:rPr sz="1400" dirty="0">
                <a:solidFill>
                  <a:srgbClr val="FF0000"/>
                </a:solidFill>
                <a:latin typeface="Arial MT"/>
                <a:cs typeface="Arial MT"/>
              </a:rPr>
              <a:t>fetch</a:t>
            </a:r>
            <a:r>
              <a:rPr sz="1400" spc="-50" dirty="0">
                <a:solidFill>
                  <a:srgbClr val="FF0000"/>
                </a:solidFill>
                <a:latin typeface="Arial MT"/>
                <a:cs typeface="Arial MT"/>
              </a:rPr>
              <a:t> </a:t>
            </a:r>
            <a:r>
              <a:rPr sz="1400" dirty="0">
                <a:solidFill>
                  <a:srgbClr val="FF0000"/>
                </a:solidFill>
                <a:latin typeface="Arial MT"/>
                <a:cs typeface="Arial MT"/>
              </a:rPr>
              <a:t>operands</a:t>
            </a:r>
            <a:r>
              <a:rPr sz="1400" spc="-45" dirty="0">
                <a:solidFill>
                  <a:srgbClr val="FF0000"/>
                </a:solidFill>
                <a:latin typeface="Arial MT"/>
                <a:cs typeface="Arial MT"/>
              </a:rPr>
              <a:t> </a:t>
            </a:r>
            <a:r>
              <a:rPr sz="1400" dirty="0">
                <a:solidFill>
                  <a:srgbClr val="FF0000"/>
                </a:solidFill>
                <a:latin typeface="Arial MT"/>
                <a:cs typeface="Arial MT"/>
              </a:rPr>
              <a:t>(data)</a:t>
            </a:r>
            <a:r>
              <a:rPr sz="1400" spc="-50" dirty="0">
                <a:solidFill>
                  <a:srgbClr val="FF0000"/>
                </a:solidFill>
                <a:latin typeface="Arial MT"/>
                <a:cs typeface="Arial MT"/>
              </a:rPr>
              <a:t> </a:t>
            </a:r>
            <a:r>
              <a:rPr sz="1400" dirty="0">
                <a:solidFill>
                  <a:srgbClr val="FF0000"/>
                </a:solidFill>
                <a:latin typeface="Arial MT"/>
                <a:cs typeface="Arial MT"/>
              </a:rPr>
              <a:t>from</a:t>
            </a:r>
            <a:r>
              <a:rPr sz="1400" spc="-30" dirty="0">
                <a:solidFill>
                  <a:srgbClr val="FF0000"/>
                </a:solidFill>
                <a:latin typeface="Arial MT"/>
                <a:cs typeface="Arial MT"/>
              </a:rPr>
              <a:t> </a:t>
            </a:r>
            <a:r>
              <a:rPr sz="1400" spc="-10" dirty="0">
                <a:solidFill>
                  <a:srgbClr val="FF0000"/>
                </a:solidFill>
                <a:latin typeface="Arial MT"/>
                <a:cs typeface="Arial MT"/>
              </a:rPr>
              <a:t>memory</a:t>
            </a:r>
            <a:endParaRPr sz="1400" dirty="0">
              <a:latin typeface="Arial MT"/>
              <a:cs typeface="Arial MT"/>
            </a:endParaRPr>
          </a:p>
          <a:p>
            <a:pPr marL="1098550" lvl="2" indent="-227965">
              <a:lnSpc>
                <a:spcPct val="100000"/>
              </a:lnSpc>
              <a:spcBef>
                <a:spcPts val="585"/>
              </a:spcBef>
              <a:buClr>
                <a:srgbClr val="009900"/>
              </a:buClr>
              <a:buSzPct val="75000"/>
              <a:buFont typeface="Webdings"/>
              <a:buChar char=""/>
              <a:tabLst>
                <a:tab pos="1098550" algn="l"/>
              </a:tabLst>
            </a:pPr>
            <a:r>
              <a:rPr sz="1400" dirty="0">
                <a:solidFill>
                  <a:srgbClr val="FF0000"/>
                </a:solidFill>
                <a:latin typeface="Arial MT"/>
                <a:cs typeface="Arial MT"/>
              </a:rPr>
              <a:t>Execute</a:t>
            </a:r>
            <a:r>
              <a:rPr sz="1400" spc="-35" dirty="0">
                <a:solidFill>
                  <a:srgbClr val="FF0000"/>
                </a:solidFill>
                <a:latin typeface="Arial MT"/>
                <a:cs typeface="Arial MT"/>
              </a:rPr>
              <a:t> </a:t>
            </a:r>
            <a:r>
              <a:rPr sz="1400" dirty="0">
                <a:solidFill>
                  <a:srgbClr val="FF0000"/>
                </a:solidFill>
                <a:latin typeface="Arial MT"/>
                <a:cs typeface="Arial MT"/>
              </a:rPr>
              <a:t>the</a:t>
            </a:r>
            <a:r>
              <a:rPr sz="1400" spc="-30" dirty="0">
                <a:solidFill>
                  <a:srgbClr val="FF0000"/>
                </a:solidFill>
                <a:latin typeface="Arial MT"/>
                <a:cs typeface="Arial MT"/>
              </a:rPr>
              <a:t> </a:t>
            </a:r>
            <a:r>
              <a:rPr sz="1400" spc="-10" dirty="0">
                <a:solidFill>
                  <a:srgbClr val="FF0000"/>
                </a:solidFill>
                <a:latin typeface="Arial MT"/>
                <a:cs typeface="Arial MT"/>
              </a:rPr>
              <a:t>instruction</a:t>
            </a:r>
            <a:endParaRPr sz="1400" dirty="0">
              <a:latin typeface="Arial MT"/>
              <a:cs typeface="Arial MT"/>
            </a:endParaRPr>
          </a:p>
          <a:p>
            <a:pPr marL="1442085" lvl="3" indent="-228600">
              <a:lnSpc>
                <a:spcPct val="100000"/>
              </a:lnSpc>
              <a:spcBef>
                <a:spcPts val="590"/>
              </a:spcBef>
              <a:buClr>
                <a:srgbClr val="FFCC00"/>
              </a:buClr>
              <a:buSzPct val="75000"/>
              <a:buChar char="–"/>
              <a:tabLst>
                <a:tab pos="1442085" algn="l"/>
              </a:tabLst>
            </a:pPr>
            <a:r>
              <a:rPr sz="1400" dirty="0">
                <a:solidFill>
                  <a:srgbClr val="FF0000"/>
                </a:solidFill>
                <a:latin typeface="Arial MT"/>
                <a:cs typeface="Arial MT"/>
              </a:rPr>
              <a:t>EIP</a:t>
            </a:r>
            <a:r>
              <a:rPr sz="1400" spc="-20" dirty="0">
                <a:solidFill>
                  <a:srgbClr val="FF0000"/>
                </a:solidFill>
                <a:latin typeface="Arial MT"/>
                <a:cs typeface="Arial MT"/>
              </a:rPr>
              <a:t> </a:t>
            </a:r>
            <a:r>
              <a:rPr sz="1400" dirty="0">
                <a:solidFill>
                  <a:srgbClr val="FF0000"/>
                </a:solidFill>
                <a:latin typeface="Arial MT"/>
                <a:cs typeface="Arial MT"/>
              </a:rPr>
              <a:t>=</a:t>
            </a:r>
            <a:r>
              <a:rPr sz="1400" spc="-15" dirty="0">
                <a:solidFill>
                  <a:srgbClr val="FF0000"/>
                </a:solidFill>
                <a:latin typeface="Arial MT"/>
                <a:cs typeface="Arial MT"/>
              </a:rPr>
              <a:t> </a:t>
            </a:r>
            <a:r>
              <a:rPr sz="1400" dirty="0">
                <a:solidFill>
                  <a:srgbClr val="FF0000"/>
                </a:solidFill>
                <a:latin typeface="Arial MT"/>
                <a:cs typeface="Arial MT"/>
              </a:rPr>
              <a:t>address</a:t>
            </a:r>
            <a:r>
              <a:rPr sz="1400" spc="-40" dirty="0">
                <a:solidFill>
                  <a:srgbClr val="FF0000"/>
                </a:solidFill>
                <a:latin typeface="Arial MT"/>
                <a:cs typeface="Arial MT"/>
              </a:rPr>
              <a:t> </a:t>
            </a:r>
            <a:r>
              <a:rPr sz="1400" dirty="0">
                <a:solidFill>
                  <a:srgbClr val="FF0000"/>
                </a:solidFill>
                <a:latin typeface="Arial MT"/>
                <a:cs typeface="Arial MT"/>
              </a:rPr>
              <a:t>of</a:t>
            </a:r>
            <a:r>
              <a:rPr sz="1400" spc="-20" dirty="0">
                <a:solidFill>
                  <a:srgbClr val="FF0000"/>
                </a:solidFill>
                <a:latin typeface="Arial MT"/>
                <a:cs typeface="Arial MT"/>
              </a:rPr>
              <a:t> </a:t>
            </a:r>
            <a:r>
              <a:rPr sz="1400" dirty="0">
                <a:solidFill>
                  <a:srgbClr val="FF0000"/>
                </a:solidFill>
                <a:latin typeface="Arial MT"/>
                <a:cs typeface="Arial MT"/>
              </a:rPr>
              <a:t>next</a:t>
            </a:r>
            <a:r>
              <a:rPr sz="1400" spc="-5" dirty="0">
                <a:solidFill>
                  <a:srgbClr val="FF0000"/>
                </a:solidFill>
                <a:latin typeface="Arial MT"/>
                <a:cs typeface="Arial MT"/>
              </a:rPr>
              <a:t> </a:t>
            </a:r>
            <a:r>
              <a:rPr sz="1400" spc="-10" dirty="0">
                <a:solidFill>
                  <a:srgbClr val="FF0000"/>
                </a:solidFill>
                <a:latin typeface="Arial MT"/>
                <a:cs typeface="Arial MT"/>
              </a:rPr>
              <a:t>instruction</a:t>
            </a:r>
            <a:endParaRPr sz="1400" dirty="0">
              <a:latin typeface="Arial MT"/>
              <a:cs typeface="Arial MT"/>
            </a:endParaRPr>
          </a:p>
          <a:p>
            <a:pPr marL="1098550" lvl="2" indent="-227965">
              <a:lnSpc>
                <a:spcPct val="100000"/>
              </a:lnSpc>
              <a:spcBef>
                <a:spcPts val="585"/>
              </a:spcBef>
              <a:buClr>
                <a:srgbClr val="009900"/>
              </a:buClr>
              <a:buSzPct val="75000"/>
              <a:buFont typeface="Webdings"/>
              <a:buChar char=""/>
              <a:tabLst>
                <a:tab pos="1098550" algn="l"/>
              </a:tabLst>
            </a:pPr>
            <a:r>
              <a:rPr sz="1400" dirty="0">
                <a:solidFill>
                  <a:srgbClr val="FF0000"/>
                </a:solidFill>
                <a:latin typeface="Arial MT"/>
                <a:cs typeface="Arial MT"/>
              </a:rPr>
              <a:t>If</a:t>
            </a:r>
            <a:r>
              <a:rPr sz="1400" spc="-40" dirty="0">
                <a:solidFill>
                  <a:srgbClr val="FF0000"/>
                </a:solidFill>
                <a:latin typeface="Arial MT"/>
                <a:cs typeface="Arial MT"/>
              </a:rPr>
              <a:t> </a:t>
            </a:r>
            <a:r>
              <a:rPr sz="1400" dirty="0">
                <a:solidFill>
                  <a:srgbClr val="FF0000"/>
                </a:solidFill>
                <a:latin typeface="Arial MT"/>
                <a:cs typeface="Arial MT"/>
              </a:rPr>
              <a:t>necessary:</a:t>
            </a:r>
            <a:r>
              <a:rPr sz="1400" spc="-40" dirty="0">
                <a:solidFill>
                  <a:srgbClr val="FF0000"/>
                </a:solidFill>
                <a:latin typeface="Arial MT"/>
                <a:cs typeface="Arial MT"/>
              </a:rPr>
              <a:t> </a:t>
            </a:r>
            <a:r>
              <a:rPr sz="1400" dirty="0">
                <a:solidFill>
                  <a:srgbClr val="FF0000"/>
                </a:solidFill>
                <a:latin typeface="Arial MT"/>
                <a:cs typeface="Arial MT"/>
              </a:rPr>
              <a:t>save</a:t>
            </a:r>
            <a:r>
              <a:rPr sz="1400" spc="-20" dirty="0">
                <a:solidFill>
                  <a:srgbClr val="FF0000"/>
                </a:solidFill>
                <a:latin typeface="Arial MT"/>
                <a:cs typeface="Arial MT"/>
              </a:rPr>
              <a:t> </a:t>
            </a:r>
            <a:r>
              <a:rPr sz="1400" dirty="0">
                <a:solidFill>
                  <a:srgbClr val="FF0000"/>
                </a:solidFill>
                <a:latin typeface="Arial MT"/>
                <a:cs typeface="Arial MT"/>
              </a:rPr>
              <a:t>results</a:t>
            </a:r>
            <a:r>
              <a:rPr sz="1400" spc="-50" dirty="0">
                <a:solidFill>
                  <a:srgbClr val="FF0000"/>
                </a:solidFill>
                <a:latin typeface="Arial MT"/>
                <a:cs typeface="Arial MT"/>
              </a:rPr>
              <a:t> </a:t>
            </a:r>
            <a:r>
              <a:rPr sz="1400" dirty="0">
                <a:solidFill>
                  <a:srgbClr val="FF0000"/>
                </a:solidFill>
                <a:latin typeface="Arial MT"/>
                <a:cs typeface="Arial MT"/>
              </a:rPr>
              <a:t>(new</a:t>
            </a:r>
            <a:r>
              <a:rPr sz="1400" spc="-30" dirty="0">
                <a:solidFill>
                  <a:srgbClr val="FF0000"/>
                </a:solidFill>
                <a:latin typeface="Arial MT"/>
                <a:cs typeface="Arial MT"/>
              </a:rPr>
              <a:t> </a:t>
            </a:r>
            <a:r>
              <a:rPr sz="1400" dirty="0">
                <a:solidFill>
                  <a:srgbClr val="FF0000"/>
                </a:solidFill>
                <a:latin typeface="Arial MT"/>
                <a:cs typeface="Arial MT"/>
              </a:rPr>
              <a:t>data)</a:t>
            </a:r>
            <a:r>
              <a:rPr sz="1400" spc="-40" dirty="0">
                <a:solidFill>
                  <a:srgbClr val="FF0000"/>
                </a:solidFill>
                <a:latin typeface="Arial MT"/>
                <a:cs typeface="Arial MT"/>
              </a:rPr>
              <a:t> </a:t>
            </a:r>
            <a:r>
              <a:rPr sz="1400" dirty="0">
                <a:solidFill>
                  <a:srgbClr val="FF0000"/>
                </a:solidFill>
                <a:latin typeface="Arial MT"/>
                <a:cs typeface="Arial MT"/>
              </a:rPr>
              <a:t>to</a:t>
            </a:r>
            <a:r>
              <a:rPr sz="1400" spc="-30" dirty="0">
                <a:solidFill>
                  <a:srgbClr val="FF0000"/>
                </a:solidFill>
                <a:latin typeface="Arial MT"/>
                <a:cs typeface="Arial MT"/>
              </a:rPr>
              <a:t> </a:t>
            </a:r>
            <a:r>
              <a:rPr sz="1400" spc="-10" dirty="0">
                <a:solidFill>
                  <a:srgbClr val="FF0000"/>
                </a:solidFill>
                <a:latin typeface="Arial MT"/>
                <a:cs typeface="Arial MT"/>
              </a:rPr>
              <a:t>memory</a:t>
            </a:r>
            <a:endParaRPr sz="1400" dirty="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Main</a:t>
            </a:r>
            <a:r>
              <a:rPr sz="1800" spc="-35"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registers</a:t>
            </a:r>
            <a:r>
              <a:rPr sz="1800" spc="-20" dirty="0">
                <a:latin typeface="Arial MT"/>
                <a:cs typeface="Arial MT"/>
              </a:rPr>
              <a:t> </a:t>
            </a:r>
            <a:r>
              <a:rPr sz="1800" dirty="0">
                <a:latin typeface="Arial MT"/>
                <a:cs typeface="Arial MT"/>
              </a:rPr>
              <a:t>are</a:t>
            </a:r>
            <a:r>
              <a:rPr sz="1800" spc="-2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only</a:t>
            </a:r>
            <a:r>
              <a:rPr sz="1800" spc="-25" dirty="0">
                <a:latin typeface="Arial MT"/>
                <a:cs typeface="Arial MT"/>
              </a:rPr>
              <a:t> </a:t>
            </a:r>
            <a:r>
              <a:rPr sz="1800" dirty="0">
                <a:latin typeface="Arial MT"/>
                <a:cs typeface="Arial MT"/>
              </a:rPr>
              <a:t>storage</a:t>
            </a:r>
            <a:r>
              <a:rPr sz="1800" spc="-15" dirty="0">
                <a:latin typeface="Arial MT"/>
                <a:cs typeface="Arial MT"/>
              </a:rPr>
              <a:t> </a:t>
            </a:r>
            <a:r>
              <a:rPr sz="1800" dirty="0">
                <a:latin typeface="Arial MT"/>
                <a:cs typeface="Arial MT"/>
              </a:rPr>
              <a:t>that</a:t>
            </a:r>
            <a:r>
              <a:rPr sz="1800" spc="-2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CPU</a:t>
            </a:r>
            <a:r>
              <a:rPr sz="1800" spc="-25" dirty="0">
                <a:latin typeface="Arial MT"/>
                <a:cs typeface="Arial MT"/>
              </a:rPr>
              <a:t> </a:t>
            </a:r>
            <a:r>
              <a:rPr sz="1800" dirty="0">
                <a:latin typeface="Arial MT"/>
                <a:cs typeface="Arial MT"/>
              </a:rPr>
              <a:t>can</a:t>
            </a:r>
            <a:r>
              <a:rPr sz="1800" spc="-35" dirty="0">
                <a:latin typeface="Arial MT"/>
                <a:cs typeface="Arial MT"/>
              </a:rPr>
              <a:t> </a:t>
            </a:r>
            <a:r>
              <a:rPr sz="1800" dirty="0">
                <a:latin typeface="Arial MT"/>
                <a:cs typeface="Arial MT"/>
              </a:rPr>
              <a:t>access</a:t>
            </a:r>
            <a:r>
              <a:rPr sz="1800" spc="-10" dirty="0">
                <a:latin typeface="Arial MT"/>
                <a:cs typeface="Arial MT"/>
              </a:rPr>
              <a:t> directly</a:t>
            </a:r>
            <a:endParaRPr sz="1800" dirty="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solidFill>
                  <a:srgbClr val="FF0000"/>
                </a:solidFill>
                <a:latin typeface="Arial MT"/>
                <a:cs typeface="Arial MT"/>
              </a:rPr>
              <a:t>There</a:t>
            </a:r>
            <a:r>
              <a:rPr sz="1800" spc="-40" dirty="0">
                <a:solidFill>
                  <a:srgbClr val="FF0000"/>
                </a:solidFill>
                <a:latin typeface="Arial MT"/>
                <a:cs typeface="Arial MT"/>
              </a:rPr>
              <a:t> </a:t>
            </a:r>
            <a:r>
              <a:rPr sz="1800" dirty="0">
                <a:solidFill>
                  <a:srgbClr val="FF0000"/>
                </a:solidFill>
                <a:latin typeface="Arial MT"/>
                <a:cs typeface="Arial MT"/>
              </a:rPr>
              <a:t>are</a:t>
            </a:r>
            <a:r>
              <a:rPr sz="1800" spc="-15" dirty="0">
                <a:solidFill>
                  <a:srgbClr val="FF0000"/>
                </a:solidFill>
                <a:latin typeface="Arial MT"/>
                <a:cs typeface="Arial MT"/>
              </a:rPr>
              <a:t> </a:t>
            </a:r>
            <a:r>
              <a:rPr sz="1800" b="1" i="1" dirty="0">
                <a:solidFill>
                  <a:srgbClr val="FF0000"/>
                </a:solidFill>
                <a:latin typeface="Arial"/>
                <a:cs typeface="Arial"/>
              </a:rPr>
              <a:t>no</a:t>
            </a:r>
            <a:r>
              <a:rPr sz="1800" b="1" i="1" spc="-30" dirty="0">
                <a:solidFill>
                  <a:srgbClr val="FF0000"/>
                </a:solidFill>
                <a:latin typeface="Arial"/>
                <a:cs typeface="Arial"/>
              </a:rPr>
              <a:t> </a:t>
            </a:r>
            <a:r>
              <a:rPr sz="1800" dirty="0">
                <a:solidFill>
                  <a:srgbClr val="FF0000"/>
                </a:solidFill>
                <a:latin typeface="Arial MT"/>
                <a:cs typeface="Arial MT"/>
              </a:rPr>
              <a:t>machine</a:t>
            </a:r>
            <a:r>
              <a:rPr sz="1800" spc="-15" dirty="0">
                <a:solidFill>
                  <a:srgbClr val="FF0000"/>
                </a:solidFill>
                <a:latin typeface="Arial MT"/>
                <a:cs typeface="Arial MT"/>
              </a:rPr>
              <a:t> </a:t>
            </a:r>
            <a:r>
              <a:rPr sz="1800" dirty="0">
                <a:solidFill>
                  <a:srgbClr val="FF0000"/>
                </a:solidFill>
                <a:latin typeface="Arial MT"/>
                <a:cs typeface="Arial MT"/>
              </a:rPr>
              <a:t>instructions</a:t>
            </a:r>
            <a:r>
              <a:rPr sz="1800" spc="-20" dirty="0">
                <a:solidFill>
                  <a:srgbClr val="FF0000"/>
                </a:solidFill>
                <a:latin typeface="Arial MT"/>
                <a:cs typeface="Arial MT"/>
              </a:rPr>
              <a:t> </a:t>
            </a:r>
            <a:r>
              <a:rPr sz="1800" dirty="0">
                <a:solidFill>
                  <a:srgbClr val="FF0000"/>
                </a:solidFill>
                <a:latin typeface="Arial MT"/>
                <a:cs typeface="Arial MT"/>
              </a:rPr>
              <a:t>taking</a:t>
            </a:r>
            <a:r>
              <a:rPr sz="1800" spc="-5" dirty="0">
                <a:solidFill>
                  <a:srgbClr val="FF0000"/>
                </a:solidFill>
                <a:latin typeface="Arial MT"/>
                <a:cs typeface="Arial MT"/>
              </a:rPr>
              <a:t> </a:t>
            </a:r>
            <a:r>
              <a:rPr sz="1800" b="1" i="1" dirty="0">
                <a:solidFill>
                  <a:srgbClr val="FF0000"/>
                </a:solidFill>
                <a:latin typeface="Arial"/>
                <a:cs typeface="Arial"/>
              </a:rPr>
              <a:t>disk</a:t>
            </a:r>
            <a:r>
              <a:rPr sz="1800" b="1" i="1" spc="-45" dirty="0">
                <a:solidFill>
                  <a:srgbClr val="FF0000"/>
                </a:solidFill>
                <a:latin typeface="Arial"/>
                <a:cs typeface="Arial"/>
              </a:rPr>
              <a:t> </a:t>
            </a:r>
            <a:r>
              <a:rPr sz="1800" b="1" i="1" dirty="0">
                <a:solidFill>
                  <a:srgbClr val="FF0000"/>
                </a:solidFill>
                <a:latin typeface="Arial"/>
                <a:cs typeface="Arial"/>
              </a:rPr>
              <a:t>addresses</a:t>
            </a:r>
            <a:r>
              <a:rPr sz="1800" b="1" i="1" spc="-5" dirty="0">
                <a:solidFill>
                  <a:srgbClr val="FF0000"/>
                </a:solidFill>
                <a:latin typeface="Arial"/>
                <a:cs typeface="Arial"/>
              </a:rPr>
              <a:t> </a:t>
            </a:r>
            <a:r>
              <a:rPr sz="1800" dirty="0">
                <a:solidFill>
                  <a:srgbClr val="FF0000"/>
                </a:solidFill>
                <a:latin typeface="Arial MT"/>
                <a:cs typeface="Arial MT"/>
              </a:rPr>
              <a:t>as</a:t>
            </a:r>
            <a:r>
              <a:rPr sz="1800" spc="-20" dirty="0">
                <a:solidFill>
                  <a:srgbClr val="FF0000"/>
                </a:solidFill>
                <a:latin typeface="Arial MT"/>
                <a:cs typeface="Arial MT"/>
              </a:rPr>
              <a:t> </a:t>
            </a:r>
            <a:r>
              <a:rPr sz="1800" spc="-10" dirty="0">
                <a:solidFill>
                  <a:srgbClr val="FF0000"/>
                </a:solidFill>
                <a:latin typeface="Arial MT"/>
                <a:cs typeface="Arial MT"/>
              </a:rPr>
              <a:t>arguments</a:t>
            </a:r>
            <a:endParaRPr sz="1800" dirty="0">
              <a:latin typeface="Arial MT"/>
              <a:cs typeface="Arial MT"/>
            </a:endParaRPr>
          </a:p>
          <a:p>
            <a:pPr marL="354965" indent="-342265">
              <a:lnSpc>
                <a:spcPct val="100000"/>
              </a:lnSpc>
              <a:spcBef>
                <a:spcPts val="760"/>
              </a:spcBef>
              <a:buClr>
                <a:srgbClr val="993300"/>
              </a:buClr>
              <a:buSzPct val="88888"/>
              <a:buFont typeface="Wingdings"/>
              <a:buChar char=""/>
              <a:tabLst>
                <a:tab pos="354965" algn="l"/>
              </a:tabLst>
            </a:pPr>
            <a:r>
              <a:rPr sz="1800" dirty="0">
                <a:latin typeface="Arial MT"/>
                <a:cs typeface="Arial MT"/>
              </a:rPr>
              <a:t>Memory</a:t>
            </a:r>
            <a:r>
              <a:rPr sz="1800" spc="-25" dirty="0">
                <a:latin typeface="Arial MT"/>
                <a:cs typeface="Arial MT"/>
              </a:rPr>
              <a:t> </a:t>
            </a:r>
            <a:r>
              <a:rPr sz="1800" dirty="0">
                <a:latin typeface="Arial MT"/>
                <a:cs typeface="Arial MT"/>
              </a:rPr>
              <a:t>unit</a:t>
            </a:r>
            <a:r>
              <a:rPr sz="1800" spc="-10" dirty="0">
                <a:latin typeface="Arial MT"/>
                <a:cs typeface="Arial MT"/>
              </a:rPr>
              <a:t> </a:t>
            </a:r>
            <a:r>
              <a:rPr sz="1800" dirty="0">
                <a:latin typeface="Arial MT"/>
                <a:cs typeface="Arial MT"/>
              </a:rPr>
              <a:t>only</a:t>
            </a:r>
            <a:r>
              <a:rPr sz="1800" spc="-35" dirty="0">
                <a:latin typeface="Arial MT"/>
                <a:cs typeface="Arial MT"/>
              </a:rPr>
              <a:t> </a:t>
            </a:r>
            <a:r>
              <a:rPr sz="1800" dirty="0">
                <a:latin typeface="Arial MT"/>
                <a:cs typeface="Arial MT"/>
              </a:rPr>
              <a:t>sees</a:t>
            </a:r>
            <a:r>
              <a:rPr sz="1800" spc="-1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stream</a:t>
            </a:r>
            <a:r>
              <a:rPr sz="1800" spc="-25" dirty="0">
                <a:latin typeface="Arial MT"/>
                <a:cs typeface="Arial MT"/>
              </a:rPr>
              <a:t> of</a:t>
            </a:r>
            <a:endParaRPr sz="1800" dirty="0">
              <a:latin typeface="Arial MT"/>
              <a:cs typeface="Arial MT"/>
            </a:endParaRPr>
          </a:p>
          <a:p>
            <a:pPr marL="819785" lvl="1" indent="-349885">
              <a:lnSpc>
                <a:spcPct val="100000"/>
              </a:lnSpc>
              <a:spcBef>
                <a:spcPts val="755"/>
              </a:spcBef>
              <a:buClr>
                <a:srgbClr val="CC6600"/>
              </a:buClr>
              <a:buSzPct val="80555"/>
              <a:buFont typeface="Wingdings"/>
              <a:buChar char=""/>
              <a:tabLst>
                <a:tab pos="819785" algn="l"/>
              </a:tabLst>
            </a:pPr>
            <a:r>
              <a:rPr sz="1800" dirty="0">
                <a:solidFill>
                  <a:srgbClr val="FF0000"/>
                </a:solidFill>
                <a:latin typeface="Arial MT"/>
                <a:cs typeface="Arial MT"/>
              </a:rPr>
              <a:t>addresses</a:t>
            </a:r>
            <a:r>
              <a:rPr sz="1800" spc="-30" dirty="0">
                <a:solidFill>
                  <a:srgbClr val="FF0000"/>
                </a:solidFill>
                <a:latin typeface="Arial MT"/>
                <a:cs typeface="Arial MT"/>
              </a:rPr>
              <a:t> </a:t>
            </a:r>
            <a:r>
              <a:rPr sz="1800" dirty="0">
                <a:solidFill>
                  <a:srgbClr val="FF0000"/>
                </a:solidFill>
                <a:latin typeface="Arial MT"/>
                <a:cs typeface="Arial MT"/>
              </a:rPr>
              <a:t>and</a:t>
            </a:r>
            <a:r>
              <a:rPr sz="1800" spc="-15" dirty="0">
                <a:solidFill>
                  <a:srgbClr val="FF0000"/>
                </a:solidFill>
                <a:latin typeface="Arial MT"/>
                <a:cs typeface="Arial MT"/>
              </a:rPr>
              <a:t> </a:t>
            </a:r>
            <a:r>
              <a:rPr sz="1800" dirty="0">
                <a:solidFill>
                  <a:srgbClr val="FF0000"/>
                </a:solidFill>
                <a:latin typeface="Arial MT"/>
                <a:cs typeface="Arial MT"/>
              </a:rPr>
              <a:t>read</a:t>
            </a:r>
            <a:r>
              <a:rPr sz="1800" spc="-20" dirty="0">
                <a:solidFill>
                  <a:srgbClr val="FF0000"/>
                </a:solidFill>
                <a:latin typeface="Arial MT"/>
                <a:cs typeface="Arial MT"/>
              </a:rPr>
              <a:t> </a:t>
            </a:r>
            <a:r>
              <a:rPr sz="1800" dirty="0">
                <a:solidFill>
                  <a:srgbClr val="FF0000"/>
                </a:solidFill>
                <a:latin typeface="Arial MT"/>
                <a:cs typeface="Arial MT"/>
              </a:rPr>
              <a:t>requests</a:t>
            </a:r>
            <a:r>
              <a:rPr sz="1800" dirty="0">
                <a:latin typeface="Arial MT"/>
                <a:cs typeface="Arial MT"/>
              </a:rPr>
              <a:t>,</a:t>
            </a:r>
            <a:r>
              <a:rPr sz="1800" spc="-5" dirty="0">
                <a:latin typeface="Arial MT"/>
                <a:cs typeface="Arial MT"/>
              </a:rPr>
              <a:t> </a:t>
            </a:r>
            <a:r>
              <a:rPr sz="1800" dirty="0">
                <a:latin typeface="Arial MT"/>
                <a:cs typeface="Arial MT"/>
              </a:rPr>
              <a:t>or,</a:t>
            </a:r>
            <a:r>
              <a:rPr sz="1800" spc="455" dirty="0">
                <a:latin typeface="Arial MT"/>
                <a:cs typeface="Arial MT"/>
              </a:rPr>
              <a:t> </a:t>
            </a:r>
            <a:r>
              <a:rPr sz="1800" dirty="0">
                <a:solidFill>
                  <a:srgbClr val="FF0000"/>
                </a:solidFill>
                <a:latin typeface="Arial MT"/>
                <a:cs typeface="Arial MT"/>
              </a:rPr>
              <a:t>address</a:t>
            </a:r>
            <a:r>
              <a:rPr sz="1800" spc="-10" dirty="0">
                <a:solidFill>
                  <a:srgbClr val="FF0000"/>
                </a:solidFill>
                <a:latin typeface="Arial MT"/>
                <a:cs typeface="Arial MT"/>
              </a:rPr>
              <a:t> </a:t>
            </a:r>
            <a:r>
              <a:rPr sz="1800" dirty="0">
                <a:solidFill>
                  <a:srgbClr val="FF0000"/>
                </a:solidFill>
                <a:latin typeface="Arial MT"/>
                <a:cs typeface="Arial MT"/>
              </a:rPr>
              <a:t>+</a:t>
            </a:r>
            <a:r>
              <a:rPr sz="1800" spc="-20" dirty="0">
                <a:solidFill>
                  <a:srgbClr val="FF0000"/>
                </a:solidFill>
                <a:latin typeface="Arial MT"/>
                <a:cs typeface="Arial MT"/>
              </a:rPr>
              <a:t> </a:t>
            </a:r>
            <a:r>
              <a:rPr sz="1800" dirty="0">
                <a:solidFill>
                  <a:srgbClr val="FF0000"/>
                </a:solidFill>
                <a:latin typeface="Arial MT"/>
                <a:cs typeface="Arial MT"/>
              </a:rPr>
              <a:t>data</a:t>
            </a:r>
            <a:r>
              <a:rPr sz="1800" spc="-15"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dirty="0">
                <a:solidFill>
                  <a:srgbClr val="FF0000"/>
                </a:solidFill>
                <a:latin typeface="Arial MT"/>
                <a:cs typeface="Arial MT"/>
              </a:rPr>
              <a:t>write</a:t>
            </a:r>
            <a:r>
              <a:rPr sz="1800" spc="25" dirty="0">
                <a:solidFill>
                  <a:srgbClr val="FF0000"/>
                </a:solidFill>
                <a:latin typeface="Arial MT"/>
                <a:cs typeface="Arial MT"/>
              </a:rPr>
              <a:t> </a:t>
            </a:r>
            <a:r>
              <a:rPr sz="1800" spc="-10" dirty="0">
                <a:solidFill>
                  <a:srgbClr val="FF0000"/>
                </a:solidFill>
                <a:latin typeface="Arial MT"/>
                <a:cs typeface="Arial MT"/>
              </a:rPr>
              <a:t>requests</a:t>
            </a:r>
            <a:endParaRPr sz="1800" dirty="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Registers</a:t>
            </a:r>
            <a:r>
              <a:rPr sz="1800" spc="-25" dirty="0">
                <a:latin typeface="Arial MT"/>
                <a:cs typeface="Arial MT"/>
              </a:rPr>
              <a:t> </a:t>
            </a:r>
            <a:r>
              <a:rPr sz="1800" dirty="0">
                <a:latin typeface="Arial MT"/>
                <a:cs typeface="Arial MT"/>
              </a:rPr>
              <a:t>are</a:t>
            </a:r>
            <a:r>
              <a:rPr sz="1800" spc="-30" dirty="0">
                <a:latin typeface="Arial MT"/>
                <a:cs typeface="Arial MT"/>
              </a:rPr>
              <a:t> </a:t>
            </a:r>
            <a:r>
              <a:rPr sz="1800" dirty="0">
                <a:latin typeface="Arial MT"/>
                <a:cs typeface="Arial MT"/>
              </a:rPr>
              <a:t>accessed</a:t>
            </a:r>
            <a:r>
              <a:rPr sz="1800" spc="-15" dirty="0">
                <a:latin typeface="Arial MT"/>
                <a:cs typeface="Arial MT"/>
              </a:rPr>
              <a:t> </a:t>
            </a:r>
            <a:r>
              <a:rPr sz="1800" dirty="0">
                <a:latin typeface="Arial MT"/>
                <a:cs typeface="Arial MT"/>
              </a:rPr>
              <a:t>within</a:t>
            </a:r>
            <a:r>
              <a:rPr sz="1800" spc="10" dirty="0">
                <a:latin typeface="Arial MT"/>
                <a:cs typeface="Arial MT"/>
              </a:rPr>
              <a:t> </a:t>
            </a:r>
            <a:r>
              <a:rPr sz="1800" dirty="0">
                <a:latin typeface="Arial MT"/>
                <a:cs typeface="Arial MT"/>
              </a:rPr>
              <a:t>one</a:t>
            </a:r>
            <a:r>
              <a:rPr sz="1800" spc="-15" dirty="0">
                <a:latin typeface="Arial MT"/>
                <a:cs typeface="Arial MT"/>
              </a:rPr>
              <a:t> </a:t>
            </a:r>
            <a:r>
              <a:rPr sz="1800" dirty="0">
                <a:latin typeface="Arial MT"/>
                <a:cs typeface="Arial MT"/>
              </a:rPr>
              <a:t>tick</a:t>
            </a:r>
            <a:r>
              <a:rPr sz="1800" spc="-2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CPU</a:t>
            </a:r>
            <a:r>
              <a:rPr sz="1800" spc="-20" dirty="0">
                <a:latin typeface="Arial MT"/>
                <a:cs typeface="Arial MT"/>
              </a:rPr>
              <a:t> </a:t>
            </a:r>
            <a:r>
              <a:rPr sz="1800" dirty="0">
                <a:latin typeface="Arial MT"/>
                <a:cs typeface="Arial MT"/>
              </a:rPr>
              <a:t>clock;</a:t>
            </a:r>
            <a:r>
              <a:rPr sz="1800" spc="-5" dirty="0">
                <a:latin typeface="Arial MT"/>
                <a:cs typeface="Arial MT"/>
              </a:rPr>
              <a:t> </a:t>
            </a:r>
            <a:r>
              <a:rPr sz="1800" dirty="0">
                <a:solidFill>
                  <a:srgbClr val="FF0000"/>
                </a:solidFill>
                <a:latin typeface="Arial MT"/>
                <a:cs typeface="Arial MT"/>
              </a:rPr>
              <a:t>very</a:t>
            </a:r>
            <a:r>
              <a:rPr sz="1800" spc="-20" dirty="0">
                <a:solidFill>
                  <a:srgbClr val="FF0000"/>
                </a:solidFill>
                <a:latin typeface="Arial MT"/>
                <a:cs typeface="Arial MT"/>
              </a:rPr>
              <a:t> </a:t>
            </a:r>
            <a:r>
              <a:rPr sz="1800" dirty="0">
                <a:solidFill>
                  <a:srgbClr val="FF0000"/>
                </a:solidFill>
                <a:latin typeface="Arial MT"/>
                <a:cs typeface="Arial MT"/>
              </a:rPr>
              <a:t>fast</a:t>
            </a:r>
            <a:r>
              <a:rPr sz="1800" spc="-30" dirty="0">
                <a:solidFill>
                  <a:srgbClr val="FF0000"/>
                </a:solidFill>
                <a:latin typeface="Arial MT"/>
                <a:cs typeface="Arial MT"/>
              </a:rPr>
              <a:t> </a:t>
            </a:r>
            <a:r>
              <a:rPr sz="1800" spc="-10" dirty="0">
                <a:solidFill>
                  <a:srgbClr val="FF0000"/>
                </a:solidFill>
                <a:latin typeface="Arial MT"/>
                <a:cs typeface="Arial MT"/>
              </a:rPr>
              <a:t>memories</a:t>
            </a:r>
            <a:endParaRPr sz="1800" dirty="0">
              <a:latin typeface="Arial MT"/>
              <a:cs typeface="Arial MT"/>
            </a:endParaRPr>
          </a:p>
          <a:p>
            <a:pPr marL="354965" indent="-342265">
              <a:lnSpc>
                <a:spcPct val="100000"/>
              </a:lnSpc>
              <a:spcBef>
                <a:spcPts val="760"/>
              </a:spcBef>
              <a:buClr>
                <a:srgbClr val="993300"/>
              </a:buClr>
              <a:buSzPct val="88888"/>
              <a:buFont typeface="Wingdings"/>
              <a:buChar char=""/>
              <a:tabLst>
                <a:tab pos="354965" algn="l"/>
              </a:tabLst>
            </a:pPr>
            <a:r>
              <a:rPr sz="1800" dirty="0">
                <a:latin typeface="Arial MT"/>
                <a:cs typeface="Arial MT"/>
              </a:rPr>
              <a:t>Main</a:t>
            </a:r>
            <a:r>
              <a:rPr sz="1800" spc="-2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access</a:t>
            </a:r>
            <a:r>
              <a:rPr sz="1800" spc="-15" dirty="0">
                <a:latin typeface="Arial MT"/>
                <a:cs typeface="Arial MT"/>
              </a:rPr>
              <a:t> </a:t>
            </a:r>
            <a:r>
              <a:rPr sz="1800" dirty="0">
                <a:latin typeface="Arial MT"/>
                <a:cs typeface="Arial MT"/>
              </a:rPr>
              <a:t>can</a:t>
            </a:r>
            <a:r>
              <a:rPr sz="1800" spc="-10" dirty="0">
                <a:latin typeface="Arial MT"/>
                <a:cs typeface="Arial MT"/>
              </a:rPr>
              <a:t> </a:t>
            </a:r>
            <a:r>
              <a:rPr sz="1800" dirty="0">
                <a:latin typeface="Arial MT"/>
                <a:cs typeface="Arial MT"/>
              </a:rPr>
              <a:t>take</a:t>
            </a:r>
            <a:r>
              <a:rPr sz="1800" spc="-25" dirty="0">
                <a:latin typeface="Arial MT"/>
                <a:cs typeface="Arial MT"/>
              </a:rPr>
              <a:t> </a:t>
            </a:r>
            <a:r>
              <a:rPr sz="1800" dirty="0">
                <a:latin typeface="Arial MT"/>
                <a:cs typeface="Arial MT"/>
              </a:rPr>
              <a:t>many</a:t>
            </a:r>
            <a:r>
              <a:rPr sz="1800" spc="-15" dirty="0">
                <a:latin typeface="Arial MT"/>
                <a:cs typeface="Arial MT"/>
              </a:rPr>
              <a:t> </a:t>
            </a:r>
            <a:r>
              <a:rPr sz="1800" dirty="0">
                <a:latin typeface="Arial MT"/>
                <a:cs typeface="Arial MT"/>
              </a:rPr>
              <a:t>CPU</a:t>
            </a:r>
            <a:r>
              <a:rPr sz="1800" spc="-25" dirty="0">
                <a:latin typeface="Arial MT"/>
                <a:cs typeface="Arial MT"/>
              </a:rPr>
              <a:t> </a:t>
            </a:r>
            <a:r>
              <a:rPr sz="1800" dirty="0">
                <a:latin typeface="Arial MT"/>
                <a:cs typeface="Arial MT"/>
              </a:rPr>
              <a:t>clock</a:t>
            </a:r>
            <a:r>
              <a:rPr sz="1800" spc="-10" dirty="0">
                <a:latin typeface="Arial MT"/>
                <a:cs typeface="Arial MT"/>
              </a:rPr>
              <a:t> </a:t>
            </a:r>
            <a:r>
              <a:rPr sz="1800" dirty="0">
                <a:latin typeface="Arial MT"/>
                <a:cs typeface="Arial MT"/>
              </a:rPr>
              <a:t>ticks,</a:t>
            </a:r>
            <a:r>
              <a:rPr sz="1800" spc="-15" dirty="0">
                <a:latin typeface="Arial MT"/>
                <a:cs typeface="Arial MT"/>
              </a:rPr>
              <a:t> </a:t>
            </a:r>
            <a:r>
              <a:rPr sz="1800" dirty="0">
                <a:latin typeface="Arial MT"/>
                <a:cs typeface="Arial MT"/>
              </a:rPr>
              <a:t>causing</a:t>
            </a:r>
            <a:r>
              <a:rPr sz="1800" spc="-10" dirty="0">
                <a:latin typeface="Arial MT"/>
                <a:cs typeface="Arial MT"/>
              </a:rPr>
              <a:t> </a:t>
            </a:r>
            <a:r>
              <a:rPr sz="1800" dirty="0">
                <a:latin typeface="Arial MT"/>
                <a:cs typeface="Arial MT"/>
              </a:rPr>
              <a:t>a </a:t>
            </a:r>
            <a:r>
              <a:rPr sz="1800" b="1" spc="-10" dirty="0">
                <a:solidFill>
                  <a:srgbClr val="3366FF"/>
                </a:solidFill>
                <a:latin typeface="Arial"/>
                <a:cs typeface="Arial"/>
              </a:rPr>
              <a:t>stall</a:t>
            </a:r>
            <a:endParaRPr sz="1800" dirty="0">
              <a:latin typeface="Arial"/>
              <a:cs typeface="Arial"/>
            </a:endParaRPr>
          </a:p>
          <a:p>
            <a:pPr marL="354965" indent="-342265">
              <a:lnSpc>
                <a:spcPct val="100000"/>
              </a:lnSpc>
              <a:spcBef>
                <a:spcPts val="755"/>
              </a:spcBef>
              <a:buClr>
                <a:srgbClr val="993300"/>
              </a:buClr>
              <a:buSzPct val="88888"/>
              <a:buFont typeface="Wingdings"/>
              <a:buChar char=""/>
              <a:tabLst>
                <a:tab pos="354965" algn="l"/>
              </a:tabLst>
            </a:pPr>
            <a:r>
              <a:rPr sz="1800" b="1" dirty="0">
                <a:solidFill>
                  <a:srgbClr val="3366FF"/>
                </a:solidFill>
                <a:latin typeface="Arial"/>
                <a:cs typeface="Arial"/>
              </a:rPr>
              <a:t>Cache</a:t>
            </a:r>
            <a:r>
              <a:rPr sz="1800" b="1" spc="-15" dirty="0">
                <a:solidFill>
                  <a:srgbClr val="3366FF"/>
                </a:solidFill>
                <a:latin typeface="Arial"/>
                <a:cs typeface="Arial"/>
              </a:rPr>
              <a:t> </a:t>
            </a:r>
            <a:r>
              <a:rPr sz="1800" dirty="0">
                <a:latin typeface="Arial MT"/>
                <a:cs typeface="Arial MT"/>
              </a:rPr>
              <a:t>sits</a:t>
            </a:r>
            <a:r>
              <a:rPr sz="1800" spc="-30" dirty="0">
                <a:latin typeface="Arial MT"/>
                <a:cs typeface="Arial MT"/>
              </a:rPr>
              <a:t> </a:t>
            </a:r>
            <a:r>
              <a:rPr sz="1800" dirty="0">
                <a:latin typeface="Arial MT"/>
                <a:cs typeface="Arial MT"/>
              </a:rPr>
              <a:t>between</a:t>
            </a:r>
            <a:r>
              <a:rPr sz="1800" spc="30" dirty="0">
                <a:latin typeface="Arial MT"/>
                <a:cs typeface="Arial MT"/>
              </a:rPr>
              <a:t> </a:t>
            </a:r>
            <a:r>
              <a:rPr sz="1800" dirty="0">
                <a:latin typeface="Arial MT"/>
                <a:cs typeface="Arial MT"/>
              </a:rPr>
              <a:t>main</a:t>
            </a:r>
            <a:r>
              <a:rPr sz="1800" spc="-2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CPU</a:t>
            </a:r>
            <a:r>
              <a:rPr sz="1800" spc="-10" dirty="0">
                <a:latin typeface="Arial MT"/>
                <a:cs typeface="Arial MT"/>
              </a:rPr>
              <a:t> </a:t>
            </a:r>
            <a:r>
              <a:rPr sz="1800" dirty="0">
                <a:latin typeface="Arial MT"/>
                <a:cs typeface="Arial MT"/>
              </a:rPr>
              <a:t>registers;</a:t>
            </a:r>
            <a:r>
              <a:rPr sz="1800" spc="-15" dirty="0">
                <a:latin typeface="Arial MT"/>
                <a:cs typeface="Arial MT"/>
              </a:rPr>
              <a:t> </a:t>
            </a:r>
            <a:r>
              <a:rPr sz="1800" i="1" dirty="0">
                <a:solidFill>
                  <a:srgbClr val="FF0000"/>
                </a:solidFill>
                <a:latin typeface="Arial"/>
                <a:cs typeface="Arial"/>
              </a:rPr>
              <a:t>solution</a:t>
            </a:r>
            <a:r>
              <a:rPr sz="1800" i="1" spc="-15" dirty="0">
                <a:solidFill>
                  <a:srgbClr val="FF0000"/>
                </a:solidFill>
                <a:latin typeface="Arial"/>
                <a:cs typeface="Arial"/>
              </a:rPr>
              <a:t> </a:t>
            </a:r>
            <a:r>
              <a:rPr sz="1800" i="1" dirty="0">
                <a:solidFill>
                  <a:srgbClr val="FF0000"/>
                </a:solidFill>
                <a:latin typeface="Arial"/>
                <a:cs typeface="Arial"/>
              </a:rPr>
              <a:t>to</a:t>
            </a:r>
            <a:r>
              <a:rPr sz="1800" i="1" spc="-25" dirty="0">
                <a:solidFill>
                  <a:srgbClr val="FF0000"/>
                </a:solidFill>
                <a:latin typeface="Arial"/>
                <a:cs typeface="Arial"/>
              </a:rPr>
              <a:t> </a:t>
            </a:r>
            <a:r>
              <a:rPr sz="1800" b="1" i="1" dirty="0">
                <a:solidFill>
                  <a:srgbClr val="FF0000"/>
                </a:solidFill>
                <a:latin typeface="Arial"/>
                <a:cs typeface="Arial"/>
              </a:rPr>
              <a:t>stall</a:t>
            </a:r>
            <a:r>
              <a:rPr sz="1800" b="1" i="1" spc="-10" dirty="0">
                <a:solidFill>
                  <a:srgbClr val="FF0000"/>
                </a:solidFill>
                <a:latin typeface="Arial"/>
                <a:cs typeface="Arial"/>
              </a:rPr>
              <a:t> </a:t>
            </a:r>
            <a:r>
              <a:rPr sz="1800" i="1" spc="-10" dirty="0">
                <a:solidFill>
                  <a:srgbClr val="FF0000"/>
                </a:solidFill>
                <a:latin typeface="Arial"/>
                <a:cs typeface="Arial"/>
              </a:rPr>
              <a:t>issue</a:t>
            </a:r>
            <a:endParaRPr sz="1800" dirty="0">
              <a:latin typeface="Arial"/>
              <a:cs typeface="Arial"/>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Protection</a:t>
            </a:r>
            <a:r>
              <a:rPr sz="1800" spc="-20"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required</a:t>
            </a:r>
            <a:r>
              <a:rPr sz="1800" spc="-1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ensure</a:t>
            </a:r>
            <a:r>
              <a:rPr sz="1800" spc="-20" dirty="0">
                <a:latin typeface="Arial MT"/>
                <a:cs typeface="Arial MT"/>
              </a:rPr>
              <a:t> </a:t>
            </a:r>
            <a:r>
              <a:rPr sz="1800" dirty="0">
                <a:latin typeface="Arial MT"/>
                <a:cs typeface="Arial MT"/>
              </a:rPr>
              <a:t>correct</a:t>
            </a:r>
            <a:r>
              <a:rPr sz="1800" spc="-20" dirty="0">
                <a:latin typeface="Arial MT"/>
                <a:cs typeface="Arial MT"/>
              </a:rPr>
              <a:t> </a:t>
            </a:r>
            <a:r>
              <a:rPr sz="1800" dirty="0">
                <a:latin typeface="Arial MT"/>
                <a:cs typeface="Arial MT"/>
              </a:rPr>
              <a:t>operation;</a:t>
            </a:r>
            <a:r>
              <a:rPr sz="1800" spc="10" dirty="0">
                <a:latin typeface="Arial MT"/>
                <a:cs typeface="Arial MT"/>
              </a:rPr>
              <a:t> </a:t>
            </a:r>
            <a:r>
              <a:rPr sz="1800" b="1" i="1" spc="-10" dirty="0">
                <a:solidFill>
                  <a:srgbClr val="FF0000"/>
                </a:solidFill>
                <a:latin typeface="Arial"/>
                <a:cs typeface="Arial"/>
              </a:rPr>
              <a:t>hardware-level</a:t>
            </a:r>
            <a:endParaRPr sz="180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2423" rIns="0" bIns="0" rtlCol="0">
            <a:spAutoFit/>
          </a:bodyPr>
          <a:lstStyle/>
          <a:p>
            <a:pPr marL="2063114">
              <a:lnSpc>
                <a:spcPct val="100000"/>
              </a:lnSpc>
              <a:spcBef>
                <a:spcPts val="100"/>
              </a:spcBef>
            </a:pPr>
            <a:r>
              <a:rPr dirty="0">
                <a:solidFill>
                  <a:srgbClr val="006699"/>
                </a:solidFill>
              </a:rPr>
              <a:t>Base</a:t>
            </a:r>
            <a:r>
              <a:rPr spc="-35" dirty="0">
                <a:solidFill>
                  <a:srgbClr val="006699"/>
                </a:solidFill>
              </a:rPr>
              <a:t> </a:t>
            </a:r>
            <a:r>
              <a:rPr dirty="0">
                <a:solidFill>
                  <a:srgbClr val="006699"/>
                </a:solidFill>
              </a:rPr>
              <a:t>and</a:t>
            </a:r>
            <a:r>
              <a:rPr spc="-30" dirty="0">
                <a:solidFill>
                  <a:srgbClr val="006699"/>
                </a:solidFill>
              </a:rPr>
              <a:t> </a:t>
            </a:r>
            <a:r>
              <a:rPr dirty="0">
                <a:solidFill>
                  <a:srgbClr val="006699"/>
                </a:solidFill>
              </a:rPr>
              <a:t>Limit</a:t>
            </a:r>
            <a:r>
              <a:rPr spc="-5" dirty="0">
                <a:solidFill>
                  <a:srgbClr val="006699"/>
                </a:solidFill>
              </a:rPr>
              <a:t> </a:t>
            </a:r>
            <a:r>
              <a:rPr spc="-10" dirty="0">
                <a:solidFill>
                  <a:srgbClr val="006699"/>
                </a:solidFill>
              </a:rPr>
              <a:t>Registers</a:t>
            </a:r>
          </a:p>
        </p:txBody>
      </p:sp>
      <p:sp>
        <p:nvSpPr>
          <p:cNvPr id="3" name="object 3"/>
          <p:cNvSpPr txBox="1"/>
          <p:nvPr/>
        </p:nvSpPr>
        <p:spPr>
          <a:xfrm>
            <a:off x="236016" y="925956"/>
            <a:ext cx="8576945" cy="2152650"/>
          </a:xfrm>
          <a:prstGeom prst="rect">
            <a:avLst/>
          </a:prstGeom>
        </p:spPr>
        <p:txBody>
          <a:bodyPr vert="horz" wrap="square" lIns="0" tIns="109220" rIns="0" bIns="0" rtlCol="0">
            <a:spAutoFit/>
          </a:bodyPr>
          <a:lstStyle/>
          <a:p>
            <a:pPr marL="354965" indent="-342265">
              <a:lnSpc>
                <a:spcPct val="100000"/>
              </a:lnSpc>
              <a:spcBef>
                <a:spcPts val="860"/>
              </a:spcBef>
              <a:buClr>
                <a:srgbClr val="993300"/>
              </a:buClr>
              <a:buSzPct val="88888"/>
              <a:buFont typeface="Wingdings"/>
              <a:buChar char=""/>
              <a:tabLst>
                <a:tab pos="354965" algn="l"/>
              </a:tabLst>
            </a:pPr>
            <a:r>
              <a:rPr sz="1800" dirty="0">
                <a:latin typeface="Arial MT"/>
                <a:cs typeface="Arial MT"/>
              </a:rPr>
              <a:t>For</a:t>
            </a:r>
            <a:r>
              <a:rPr sz="1800" spc="-20" dirty="0">
                <a:latin typeface="Arial MT"/>
                <a:cs typeface="Arial MT"/>
              </a:rPr>
              <a:t> </a:t>
            </a:r>
            <a:r>
              <a:rPr sz="1800" dirty="0">
                <a:latin typeface="Arial MT"/>
                <a:cs typeface="Arial MT"/>
              </a:rPr>
              <a:t>each</a:t>
            </a:r>
            <a:r>
              <a:rPr sz="1800" spc="-20" dirty="0">
                <a:latin typeface="Arial MT"/>
                <a:cs typeface="Arial MT"/>
              </a:rPr>
              <a:t> </a:t>
            </a:r>
            <a:r>
              <a:rPr sz="1800" dirty="0">
                <a:latin typeface="Arial MT"/>
                <a:cs typeface="Arial MT"/>
              </a:rPr>
              <a:t>process,</a:t>
            </a:r>
            <a:r>
              <a:rPr sz="1800" spc="-5" dirty="0">
                <a:latin typeface="Arial MT"/>
                <a:cs typeface="Arial MT"/>
              </a:rPr>
              <a:t> </a:t>
            </a:r>
            <a:r>
              <a:rPr sz="1800" dirty="0">
                <a:latin typeface="Arial MT"/>
                <a:cs typeface="Arial MT"/>
              </a:rPr>
              <a:t>the</a:t>
            </a:r>
            <a:r>
              <a:rPr sz="1800" spc="-20" dirty="0">
                <a:latin typeface="Arial MT"/>
                <a:cs typeface="Arial MT"/>
              </a:rPr>
              <a:t> </a:t>
            </a:r>
            <a:r>
              <a:rPr sz="1800" b="1" dirty="0">
                <a:solidFill>
                  <a:srgbClr val="3366FF"/>
                </a:solidFill>
                <a:latin typeface="Arial"/>
                <a:cs typeface="Arial"/>
              </a:rPr>
              <a:t>base</a:t>
            </a:r>
            <a:r>
              <a:rPr sz="1800" b="1" spc="-20" dirty="0">
                <a:solidFill>
                  <a:srgbClr val="3366FF"/>
                </a:solidFill>
                <a:latin typeface="Arial"/>
                <a:cs typeface="Arial"/>
              </a:rPr>
              <a:t> </a:t>
            </a:r>
            <a:r>
              <a:rPr sz="1800" dirty="0">
                <a:latin typeface="Arial MT"/>
                <a:cs typeface="Arial MT"/>
              </a:rPr>
              <a:t>and</a:t>
            </a:r>
            <a:r>
              <a:rPr sz="1800" spc="-10" dirty="0">
                <a:latin typeface="Arial MT"/>
                <a:cs typeface="Arial MT"/>
              </a:rPr>
              <a:t> </a:t>
            </a:r>
            <a:r>
              <a:rPr sz="1800" b="1" dirty="0">
                <a:solidFill>
                  <a:srgbClr val="3366FF"/>
                </a:solidFill>
                <a:latin typeface="Arial"/>
                <a:cs typeface="Arial"/>
              </a:rPr>
              <a:t>limit</a:t>
            </a:r>
            <a:r>
              <a:rPr sz="1800" b="1" spc="-30" dirty="0">
                <a:solidFill>
                  <a:srgbClr val="3366FF"/>
                </a:solidFill>
                <a:latin typeface="Arial"/>
                <a:cs typeface="Arial"/>
              </a:rPr>
              <a:t> </a:t>
            </a:r>
            <a:r>
              <a:rPr sz="1800" b="1" dirty="0">
                <a:solidFill>
                  <a:srgbClr val="3366FF"/>
                </a:solidFill>
                <a:latin typeface="Arial"/>
                <a:cs typeface="Arial"/>
              </a:rPr>
              <a:t>registers</a:t>
            </a:r>
            <a:r>
              <a:rPr sz="1800" b="1" spc="-10" dirty="0">
                <a:solidFill>
                  <a:srgbClr val="3366FF"/>
                </a:solidFill>
                <a:latin typeface="Arial"/>
                <a:cs typeface="Arial"/>
              </a:rPr>
              <a:t> </a:t>
            </a:r>
            <a:r>
              <a:rPr sz="1800" dirty="0">
                <a:latin typeface="Arial MT"/>
                <a:cs typeface="Arial MT"/>
              </a:rPr>
              <a:t>define</a:t>
            </a:r>
            <a:r>
              <a:rPr sz="1800" spc="-10" dirty="0">
                <a:latin typeface="Arial MT"/>
                <a:cs typeface="Arial MT"/>
              </a:rPr>
              <a:t> </a:t>
            </a:r>
            <a:r>
              <a:rPr sz="1800" dirty="0">
                <a:latin typeface="Arial MT"/>
                <a:cs typeface="Arial MT"/>
              </a:rPr>
              <a:t>its</a:t>
            </a:r>
            <a:r>
              <a:rPr sz="1800" spc="-30"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address</a:t>
            </a:r>
            <a:r>
              <a:rPr sz="1800" spc="-10" dirty="0">
                <a:latin typeface="Arial MT"/>
                <a:cs typeface="Arial MT"/>
              </a:rPr>
              <a:t> space</a:t>
            </a:r>
            <a:endParaRPr sz="1800" dirty="0">
              <a:latin typeface="Arial MT"/>
              <a:cs typeface="Arial MT"/>
            </a:endParaRPr>
          </a:p>
          <a:p>
            <a:pPr marL="870585">
              <a:lnSpc>
                <a:spcPct val="100000"/>
              </a:lnSpc>
              <a:spcBef>
                <a:spcPts val="755"/>
              </a:spcBef>
            </a:pPr>
            <a:r>
              <a:rPr sz="1350" dirty="0">
                <a:solidFill>
                  <a:srgbClr val="009900"/>
                </a:solidFill>
                <a:latin typeface="Webdings"/>
                <a:cs typeface="Webdings"/>
              </a:rPr>
              <a:t></a:t>
            </a:r>
            <a:r>
              <a:rPr sz="1350" spc="85" dirty="0">
                <a:solidFill>
                  <a:srgbClr val="009900"/>
                </a:solidFill>
                <a:latin typeface="Times New Roman"/>
                <a:cs typeface="Times New Roman"/>
              </a:rPr>
              <a:t> </a:t>
            </a:r>
            <a:r>
              <a:rPr sz="1800" dirty="0">
                <a:solidFill>
                  <a:srgbClr val="FF0000"/>
                </a:solidFill>
                <a:latin typeface="Arial MT"/>
                <a:cs typeface="Arial MT"/>
              </a:rPr>
              <a:t>To</a:t>
            </a:r>
            <a:r>
              <a:rPr sz="1800" spc="-35" dirty="0">
                <a:solidFill>
                  <a:srgbClr val="FF0000"/>
                </a:solidFill>
                <a:latin typeface="Arial MT"/>
                <a:cs typeface="Arial MT"/>
              </a:rPr>
              <a:t> </a:t>
            </a:r>
            <a:r>
              <a:rPr sz="1800" dirty="0">
                <a:solidFill>
                  <a:srgbClr val="FF0000"/>
                </a:solidFill>
                <a:latin typeface="Arial MT"/>
                <a:cs typeface="Arial MT"/>
              </a:rPr>
              <a:t>protect</a:t>
            </a:r>
            <a:r>
              <a:rPr sz="1800" spc="-20" dirty="0">
                <a:solidFill>
                  <a:srgbClr val="FF0000"/>
                </a:solidFill>
                <a:latin typeface="Arial MT"/>
                <a:cs typeface="Arial MT"/>
              </a:rPr>
              <a:t> </a:t>
            </a:r>
            <a:r>
              <a:rPr sz="1800" dirty="0">
                <a:solidFill>
                  <a:srgbClr val="FF0000"/>
                </a:solidFill>
                <a:latin typeface="Arial MT"/>
                <a:cs typeface="Arial MT"/>
              </a:rPr>
              <a:t>processes</a:t>
            </a:r>
            <a:r>
              <a:rPr sz="1800" spc="-15" dirty="0">
                <a:solidFill>
                  <a:srgbClr val="FF0000"/>
                </a:solidFill>
                <a:latin typeface="Arial MT"/>
                <a:cs typeface="Arial MT"/>
              </a:rPr>
              <a:t> </a:t>
            </a:r>
            <a:r>
              <a:rPr sz="1800" dirty="0">
                <a:solidFill>
                  <a:srgbClr val="FF0000"/>
                </a:solidFill>
                <a:latin typeface="Arial MT"/>
                <a:cs typeface="Arial MT"/>
              </a:rPr>
              <a:t>from</a:t>
            </a:r>
            <a:r>
              <a:rPr sz="1800" spc="-30" dirty="0">
                <a:solidFill>
                  <a:srgbClr val="FF0000"/>
                </a:solidFill>
                <a:latin typeface="Arial MT"/>
                <a:cs typeface="Arial MT"/>
              </a:rPr>
              <a:t> </a:t>
            </a:r>
            <a:r>
              <a:rPr sz="1800" dirty="0">
                <a:solidFill>
                  <a:srgbClr val="FF0000"/>
                </a:solidFill>
                <a:latin typeface="Arial MT"/>
                <a:cs typeface="Arial MT"/>
              </a:rPr>
              <a:t>each;</a:t>
            </a:r>
            <a:r>
              <a:rPr sz="1800" spc="-10" dirty="0">
                <a:solidFill>
                  <a:srgbClr val="FF0000"/>
                </a:solidFill>
                <a:latin typeface="Arial MT"/>
                <a:cs typeface="Arial MT"/>
              </a:rPr>
              <a:t> </a:t>
            </a:r>
            <a:r>
              <a:rPr sz="1800" dirty="0">
                <a:solidFill>
                  <a:srgbClr val="FF0000"/>
                </a:solidFill>
                <a:latin typeface="Arial MT"/>
                <a:cs typeface="Arial MT"/>
              </a:rPr>
              <a:t>each</a:t>
            </a:r>
            <a:r>
              <a:rPr sz="1800" spc="-20" dirty="0">
                <a:solidFill>
                  <a:srgbClr val="FF0000"/>
                </a:solidFill>
                <a:latin typeface="Arial MT"/>
                <a:cs typeface="Arial MT"/>
              </a:rPr>
              <a:t> </a:t>
            </a:r>
            <a:r>
              <a:rPr sz="1800" dirty="0">
                <a:solidFill>
                  <a:srgbClr val="FF0000"/>
                </a:solidFill>
                <a:latin typeface="Arial MT"/>
                <a:cs typeface="Arial MT"/>
              </a:rPr>
              <a:t>process</a:t>
            </a:r>
            <a:r>
              <a:rPr sz="1800" spc="-15" dirty="0">
                <a:solidFill>
                  <a:srgbClr val="FF0000"/>
                </a:solidFill>
                <a:latin typeface="Arial MT"/>
                <a:cs typeface="Arial MT"/>
              </a:rPr>
              <a:t> </a:t>
            </a:r>
            <a:r>
              <a:rPr sz="1800" dirty="0">
                <a:solidFill>
                  <a:srgbClr val="FF0000"/>
                </a:solidFill>
                <a:latin typeface="Arial MT"/>
                <a:cs typeface="Arial MT"/>
              </a:rPr>
              <a:t>has</a:t>
            </a:r>
            <a:r>
              <a:rPr sz="1800" spc="-20" dirty="0">
                <a:solidFill>
                  <a:srgbClr val="FF0000"/>
                </a:solidFill>
                <a:latin typeface="Arial MT"/>
                <a:cs typeface="Arial MT"/>
              </a:rPr>
              <a:t> </a:t>
            </a:r>
            <a:r>
              <a:rPr sz="1800" dirty="0">
                <a:solidFill>
                  <a:srgbClr val="FF0000"/>
                </a:solidFill>
                <a:latin typeface="Arial MT"/>
                <a:cs typeface="Arial MT"/>
              </a:rPr>
              <a:t>its</a:t>
            </a:r>
            <a:r>
              <a:rPr sz="1800" spc="-15" dirty="0">
                <a:solidFill>
                  <a:srgbClr val="FF0000"/>
                </a:solidFill>
                <a:latin typeface="Arial MT"/>
                <a:cs typeface="Arial MT"/>
              </a:rPr>
              <a:t> </a:t>
            </a:r>
            <a:r>
              <a:rPr sz="1800" dirty="0">
                <a:solidFill>
                  <a:srgbClr val="FF0000"/>
                </a:solidFill>
                <a:latin typeface="Arial MT"/>
                <a:cs typeface="Arial MT"/>
              </a:rPr>
              <a:t>own</a:t>
            </a:r>
            <a:r>
              <a:rPr sz="1800" spc="20" dirty="0">
                <a:solidFill>
                  <a:srgbClr val="FF0000"/>
                </a:solidFill>
                <a:latin typeface="Arial MT"/>
                <a:cs typeface="Arial MT"/>
              </a:rPr>
              <a:t> </a:t>
            </a:r>
            <a:r>
              <a:rPr sz="1800" dirty="0">
                <a:solidFill>
                  <a:srgbClr val="FF0000"/>
                </a:solidFill>
                <a:latin typeface="Arial MT"/>
                <a:cs typeface="Arial MT"/>
              </a:rPr>
              <a:t>memory</a:t>
            </a:r>
            <a:r>
              <a:rPr sz="1800" spc="-20" dirty="0">
                <a:solidFill>
                  <a:srgbClr val="FF0000"/>
                </a:solidFill>
                <a:latin typeface="Arial MT"/>
                <a:cs typeface="Arial MT"/>
              </a:rPr>
              <a:t> </a:t>
            </a:r>
            <a:r>
              <a:rPr sz="1800" spc="-10" dirty="0">
                <a:solidFill>
                  <a:srgbClr val="FF0000"/>
                </a:solidFill>
                <a:latin typeface="Arial MT"/>
                <a:cs typeface="Arial MT"/>
              </a:rPr>
              <a:t>space</a:t>
            </a:r>
            <a:endParaRPr sz="1800" dirty="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b="1" i="1" dirty="0">
                <a:solidFill>
                  <a:srgbClr val="FF0000"/>
                </a:solidFill>
                <a:latin typeface="Arial"/>
                <a:cs typeface="Arial"/>
              </a:rPr>
              <a:t>Base</a:t>
            </a:r>
            <a:r>
              <a:rPr sz="1800" b="1" i="1" spc="-30" dirty="0">
                <a:solidFill>
                  <a:srgbClr val="FF0000"/>
                </a:solidFill>
                <a:latin typeface="Arial"/>
                <a:cs typeface="Arial"/>
              </a:rPr>
              <a:t> </a:t>
            </a:r>
            <a:r>
              <a:rPr sz="1800" b="1" i="1" dirty="0">
                <a:solidFill>
                  <a:srgbClr val="FF0000"/>
                </a:solidFill>
                <a:latin typeface="Arial"/>
                <a:cs typeface="Arial"/>
              </a:rPr>
              <a:t>register</a:t>
            </a:r>
            <a:r>
              <a:rPr sz="1800" b="1" i="1" spc="-15" dirty="0">
                <a:solidFill>
                  <a:srgbClr val="FF0000"/>
                </a:solidFill>
                <a:latin typeface="Arial"/>
                <a:cs typeface="Arial"/>
              </a:rPr>
              <a:t> </a:t>
            </a:r>
            <a:r>
              <a:rPr sz="1800" dirty="0">
                <a:solidFill>
                  <a:srgbClr val="FF0000"/>
                </a:solidFill>
                <a:latin typeface="Arial MT"/>
                <a:cs typeface="Arial MT"/>
              </a:rPr>
              <a:t>holds</a:t>
            </a:r>
            <a:r>
              <a:rPr sz="1800" spc="-25" dirty="0">
                <a:solidFill>
                  <a:srgbClr val="FF0000"/>
                </a:solidFill>
                <a:latin typeface="Arial MT"/>
                <a:cs typeface="Arial MT"/>
              </a:rPr>
              <a:t> </a:t>
            </a: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smallest</a:t>
            </a:r>
            <a:r>
              <a:rPr sz="1800" spc="-30" dirty="0">
                <a:solidFill>
                  <a:srgbClr val="FF0000"/>
                </a:solidFill>
                <a:latin typeface="Arial MT"/>
                <a:cs typeface="Arial MT"/>
              </a:rPr>
              <a:t> </a:t>
            </a:r>
            <a:r>
              <a:rPr sz="1800" dirty="0">
                <a:solidFill>
                  <a:srgbClr val="FF0000"/>
                </a:solidFill>
                <a:latin typeface="Arial MT"/>
                <a:cs typeface="Arial MT"/>
              </a:rPr>
              <a:t>legal</a:t>
            </a:r>
            <a:r>
              <a:rPr sz="1800" spc="-10" dirty="0">
                <a:solidFill>
                  <a:srgbClr val="FF0000"/>
                </a:solidFill>
                <a:latin typeface="Arial MT"/>
                <a:cs typeface="Arial MT"/>
              </a:rPr>
              <a:t> </a:t>
            </a:r>
            <a:r>
              <a:rPr sz="1800" dirty="0">
                <a:solidFill>
                  <a:srgbClr val="FF0000"/>
                </a:solidFill>
                <a:latin typeface="Arial MT"/>
                <a:cs typeface="Arial MT"/>
              </a:rPr>
              <a:t>physical</a:t>
            </a:r>
            <a:r>
              <a:rPr sz="1800" spc="-5" dirty="0">
                <a:solidFill>
                  <a:srgbClr val="FF0000"/>
                </a:solidFill>
                <a:latin typeface="Arial MT"/>
                <a:cs typeface="Arial MT"/>
              </a:rPr>
              <a:t> </a:t>
            </a:r>
            <a:r>
              <a:rPr sz="1800" dirty="0">
                <a:solidFill>
                  <a:srgbClr val="FF0000"/>
                </a:solidFill>
                <a:latin typeface="Arial MT"/>
                <a:cs typeface="Arial MT"/>
              </a:rPr>
              <a:t>memory</a:t>
            </a:r>
            <a:r>
              <a:rPr sz="1800" spc="-30" dirty="0">
                <a:solidFill>
                  <a:srgbClr val="FF0000"/>
                </a:solidFill>
                <a:latin typeface="Arial MT"/>
                <a:cs typeface="Arial MT"/>
              </a:rPr>
              <a:t> </a:t>
            </a:r>
            <a:r>
              <a:rPr sz="1800" spc="-10" dirty="0">
                <a:solidFill>
                  <a:srgbClr val="FF0000"/>
                </a:solidFill>
                <a:latin typeface="Arial MT"/>
                <a:cs typeface="Arial MT"/>
              </a:rPr>
              <a:t>address</a:t>
            </a:r>
            <a:endParaRPr sz="1800" dirty="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b="1" i="1" dirty="0">
                <a:solidFill>
                  <a:srgbClr val="FF0000"/>
                </a:solidFill>
                <a:latin typeface="Arial"/>
                <a:cs typeface="Arial"/>
              </a:rPr>
              <a:t>Limit</a:t>
            </a:r>
            <a:r>
              <a:rPr sz="1800" b="1" i="1" spc="-35" dirty="0">
                <a:solidFill>
                  <a:srgbClr val="FF0000"/>
                </a:solidFill>
                <a:latin typeface="Arial"/>
                <a:cs typeface="Arial"/>
              </a:rPr>
              <a:t> </a:t>
            </a:r>
            <a:r>
              <a:rPr sz="1800" b="1" i="1" dirty="0">
                <a:solidFill>
                  <a:srgbClr val="FF0000"/>
                </a:solidFill>
                <a:latin typeface="Arial"/>
                <a:cs typeface="Arial"/>
              </a:rPr>
              <a:t>register</a:t>
            </a:r>
            <a:r>
              <a:rPr sz="1800" b="1" i="1" spc="-5" dirty="0">
                <a:solidFill>
                  <a:srgbClr val="FF0000"/>
                </a:solidFill>
                <a:latin typeface="Arial"/>
                <a:cs typeface="Arial"/>
              </a:rPr>
              <a:t> </a:t>
            </a:r>
            <a:r>
              <a:rPr sz="1800" dirty="0">
                <a:solidFill>
                  <a:srgbClr val="FF0000"/>
                </a:solidFill>
                <a:latin typeface="Arial MT"/>
                <a:cs typeface="Arial MT"/>
              </a:rPr>
              <a:t>specifies</a:t>
            </a:r>
            <a:r>
              <a:rPr sz="1800" spc="-15"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size</a:t>
            </a:r>
            <a:r>
              <a:rPr sz="1800" spc="-20" dirty="0">
                <a:solidFill>
                  <a:srgbClr val="FF0000"/>
                </a:solidFill>
                <a:latin typeface="Arial MT"/>
                <a:cs typeface="Arial MT"/>
              </a:rPr>
              <a:t> </a:t>
            </a:r>
            <a:r>
              <a:rPr sz="1800" dirty="0">
                <a:solidFill>
                  <a:srgbClr val="FF0000"/>
                </a:solidFill>
                <a:latin typeface="Arial MT"/>
                <a:cs typeface="Arial MT"/>
              </a:rPr>
              <a:t>of</a:t>
            </a:r>
            <a:r>
              <a:rPr sz="1800" spc="-20"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range</a:t>
            </a:r>
            <a:r>
              <a:rPr sz="1800" spc="-15" dirty="0">
                <a:solidFill>
                  <a:srgbClr val="FF0000"/>
                </a:solidFill>
                <a:latin typeface="Arial MT"/>
                <a:cs typeface="Arial MT"/>
              </a:rPr>
              <a:t> </a:t>
            </a:r>
            <a:r>
              <a:rPr sz="1800" dirty="0">
                <a:solidFill>
                  <a:srgbClr val="FF0000"/>
                </a:solidFill>
                <a:latin typeface="Arial MT"/>
                <a:cs typeface="Arial MT"/>
              </a:rPr>
              <a:t>of</a:t>
            </a:r>
            <a:r>
              <a:rPr sz="1800" spc="-30" dirty="0">
                <a:solidFill>
                  <a:srgbClr val="FF0000"/>
                </a:solidFill>
                <a:latin typeface="Arial MT"/>
                <a:cs typeface="Arial MT"/>
              </a:rPr>
              <a:t> </a:t>
            </a:r>
            <a:r>
              <a:rPr sz="1800" dirty="0">
                <a:solidFill>
                  <a:srgbClr val="FF0000"/>
                </a:solidFill>
                <a:latin typeface="Arial MT"/>
                <a:cs typeface="Arial MT"/>
              </a:rPr>
              <a:t>accessible</a:t>
            </a:r>
            <a:r>
              <a:rPr sz="1800" spc="-10" dirty="0">
                <a:solidFill>
                  <a:srgbClr val="FF0000"/>
                </a:solidFill>
                <a:latin typeface="Arial MT"/>
                <a:cs typeface="Arial MT"/>
              </a:rPr>
              <a:t> addresses</a:t>
            </a:r>
            <a:endParaRPr sz="1800" dirty="0">
              <a:latin typeface="Arial MT"/>
              <a:cs typeface="Arial MT"/>
            </a:endParaRPr>
          </a:p>
          <a:p>
            <a:pPr marL="355600" marR="264795" indent="-342900">
              <a:lnSpc>
                <a:spcPct val="100000"/>
              </a:lnSpc>
              <a:spcBef>
                <a:spcPts val="755"/>
              </a:spcBef>
              <a:buClr>
                <a:srgbClr val="993300"/>
              </a:buClr>
              <a:buSzPct val="88888"/>
              <a:buFont typeface="Wingdings"/>
              <a:buChar char=""/>
              <a:tabLst>
                <a:tab pos="355600" algn="l"/>
              </a:tabLst>
            </a:pPr>
            <a:r>
              <a:rPr sz="1800" dirty="0">
                <a:latin typeface="Arial MT"/>
                <a:cs typeface="Arial MT"/>
              </a:rPr>
              <a:t>CPU</a:t>
            </a:r>
            <a:r>
              <a:rPr sz="1800" spc="-30" dirty="0">
                <a:latin typeface="Arial MT"/>
                <a:cs typeface="Arial MT"/>
              </a:rPr>
              <a:t> </a:t>
            </a:r>
            <a:r>
              <a:rPr sz="1800" dirty="0">
                <a:latin typeface="Arial MT"/>
                <a:cs typeface="Arial MT"/>
              </a:rPr>
              <a:t>must</a:t>
            </a:r>
            <a:r>
              <a:rPr sz="1800" spc="-15" dirty="0">
                <a:latin typeface="Arial MT"/>
                <a:cs typeface="Arial MT"/>
              </a:rPr>
              <a:t> </a:t>
            </a:r>
            <a:r>
              <a:rPr sz="1800" dirty="0">
                <a:latin typeface="Arial MT"/>
                <a:cs typeface="Arial MT"/>
              </a:rPr>
              <a:t>check</a:t>
            </a:r>
            <a:r>
              <a:rPr sz="1800" spc="-15" dirty="0">
                <a:latin typeface="Arial MT"/>
                <a:cs typeface="Arial MT"/>
              </a:rPr>
              <a:t> </a:t>
            </a:r>
            <a:r>
              <a:rPr sz="1800" dirty="0">
                <a:latin typeface="Arial MT"/>
                <a:cs typeface="Arial MT"/>
              </a:rPr>
              <a:t>every</a:t>
            </a:r>
            <a:r>
              <a:rPr sz="1800" spc="-10"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access</a:t>
            </a:r>
            <a:r>
              <a:rPr sz="1800" spc="-20" dirty="0">
                <a:latin typeface="Arial MT"/>
                <a:cs typeface="Arial MT"/>
              </a:rPr>
              <a:t> </a:t>
            </a:r>
            <a:r>
              <a:rPr sz="1800" dirty="0">
                <a:latin typeface="Arial MT"/>
                <a:cs typeface="Arial MT"/>
              </a:rPr>
              <a:t>generated in</a:t>
            </a:r>
            <a:r>
              <a:rPr sz="1800" spc="-25" dirty="0">
                <a:latin typeface="Arial MT"/>
                <a:cs typeface="Arial MT"/>
              </a:rPr>
              <a:t> </a:t>
            </a:r>
            <a:r>
              <a:rPr sz="1800" dirty="0">
                <a:latin typeface="Arial MT"/>
                <a:cs typeface="Arial MT"/>
              </a:rPr>
              <a:t>user</a:t>
            </a:r>
            <a:r>
              <a:rPr sz="1800" spc="-10" dirty="0">
                <a:latin typeface="Arial MT"/>
                <a:cs typeface="Arial MT"/>
              </a:rPr>
              <a:t> </a:t>
            </a:r>
            <a:r>
              <a:rPr sz="1800" dirty="0">
                <a:latin typeface="Arial MT"/>
                <a:cs typeface="Arial MT"/>
              </a:rPr>
              <a:t>mode</a:t>
            </a:r>
            <a:r>
              <a:rPr sz="1800" spc="-1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be</a:t>
            </a:r>
            <a:r>
              <a:rPr sz="1800" spc="-30" dirty="0">
                <a:latin typeface="Arial MT"/>
                <a:cs typeface="Arial MT"/>
              </a:rPr>
              <a:t> </a:t>
            </a:r>
            <a:r>
              <a:rPr sz="1800" dirty="0">
                <a:latin typeface="Arial MT"/>
                <a:cs typeface="Arial MT"/>
              </a:rPr>
              <a:t>sure</a:t>
            </a:r>
            <a:r>
              <a:rPr sz="1800" spc="-10" dirty="0">
                <a:latin typeface="Arial MT"/>
                <a:cs typeface="Arial MT"/>
              </a:rPr>
              <a:t> </a:t>
            </a:r>
            <a:r>
              <a:rPr sz="1800" dirty="0">
                <a:latin typeface="Arial MT"/>
                <a:cs typeface="Arial MT"/>
              </a:rPr>
              <a:t>it</a:t>
            </a:r>
            <a:r>
              <a:rPr sz="1800" spc="-30" dirty="0">
                <a:latin typeface="Arial MT"/>
                <a:cs typeface="Arial MT"/>
              </a:rPr>
              <a:t> </a:t>
            </a:r>
            <a:r>
              <a:rPr sz="1800" spc="-25" dirty="0">
                <a:latin typeface="Arial MT"/>
                <a:cs typeface="Arial MT"/>
              </a:rPr>
              <a:t>is </a:t>
            </a:r>
            <a:r>
              <a:rPr sz="1800" dirty="0">
                <a:latin typeface="Arial MT"/>
                <a:cs typeface="Arial MT"/>
              </a:rPr>
              <a:t>between</a:t>
            </a:r>
            <a:r>
              <a:rPr sz="1800" spc="15" dirty="0">
                <a:latin typeface="Arial MT"/>
                <a:cs typeface="Arial MT"/>
              </a:rPr>
              <a:t> </a:t>
            </a:r>
            <a:r>
              <a:rPr sz="1800" dirty="0">
                <a:latin typeface="Arial MT"/>
                <a:cs typeface="Arial MT"/>
              </a:rPr>
              <a:t>base</a:t>
            </a:r>
            <a:r>
              <a:rPr sz="1800" spc="-20"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limit</a:t>
            </a:r>
            <a:r>
              <a:rPr sz="1800" spc="-25"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that</a:t>
            </a:r>
            <a:r>
              <a:rPr sz="1800" spc="-25" dirty="0">
                <a:latin typeface="Arial MT"/>
                <a:cs typeface="Arial MT"/>
              </a:rPr>
              <a:t> </a:t>
            </a:r>
            <a:r>
              <a:rPr sz="1800" dirty="0">
                <a:latin typeface="Arial MT"/>
                <a:cs typeface="Arial MT"/>
              </a:rPr>
              <a:t>user;</a:t>
            </a:r>
            <a:r>
              <a:rPr sz="1800" spc="-15" dirty="0">
                <a:latin typeface="Arial MT"/>
                <a:cs typeface="Arial MT"/>
              </a:rPr>
              <a:t> </a:t>
            </a:r>
            <a:r>
              <a:rPr sz="1800" dirty="0">
                <a:solidFill>
                  <a:srgbClr val="FF0000"/>
                </a:solidFill>
                <a:latin typeface="Arial MT"/>
                <a:cs typeface="Arial MT"/>
              </a:rPr>
              <a:t>to</a:t>
            </a:r>
            <a:r>
              <a:rPr sz="1800" spc="-25" dirty="0">
                <a:solidFill>
                  <a:srgbClr val="FF0000"/>
                </a:solidFill>
                <a:latin typeface="Arial MT"/>
                <a:cs typeface="Arial MT"/>
              </a:rPr>
              <a:t> </a:t>
            </a:r>
            <a:r>
              <a:rPr sz="1800" dirty="0">
                <a:solidFill>
                  <a:srgbClr val="FF0000"/>
                </a:solidFill>
                <a:latin typeface="Arial MT"/>
                <a:cs typeface="Arial MT"/>
              </a:rPr>
              <a:t>protect</a:t>
            </a:r>
            <a:r>
              <a:rPr sz="1800" spc="-30" dirty="0">
                <a:solidFill>
                  <a:srgbClr val="FF0000"/>
                </a:solidFill>
                <a:latin typeface="Arial MT"/>
                <a:cs typeface="Arial MT"/>
              </a:rPr>
              <a:t> </a:t>
            </a:r>
            <a:r>
              <a:rPr sz="1800" dirty="0">
                <a:solidFill>
                  <a:srgbClr val="FF0000"/>
                </a:solidFill>
                <a:latin typeface="Arial MT"/>
                <a:cs typeface="Arial MT"/>
              </a:rPr>
              <a:t>a</a:t>
            </a:r>
            <a:r>
              <a:rPr sz="1800" spc="-25" dirty="0">
                <a:solidFill>
                  <a:srgbClr val="FF0000"/>
                </a:solidFill>
                <a:latin typeface="Arial MT"/>
                <a:cs typeface="Arial MT"/>
              </a:rPr>
              <a:t> </a:t>
            </a:r>
            <a:r>
              <a:rPr sz="1800" dirty="0">
                <a:solidFill>
                  <a:srgbClr val="FF0000"/>
                </a:solidFill>
                <a:latin typeface="Arial MT"/>
                <a:cs typeface="Arial MT"/>
              </a:rPr>
              <a:t>process’s</a:t>
            </a:r>
            <a:r>
              <a:rPr sz="1800" spc="-20" dirty="0">
                <a:solidFill>
                  <a:srgbClr val="FF0000"/>
                </a:solidFill>
                <a:latin typeface="Arial MT"/>
                <a:cs typeface="Arial MT"/>
              </a:rPr>
              <a:t> </a:t>
            </a:r>
            <a:r>
              <a:rPr sz="1800" dirty="0">
                <a:solidFill>
                  <a:srgbClr val="FF0000"/>
                </a:solidFill>
                <a:latin typeface="Arial MT"/>
                <a:cs typeface="Arial MT"/>
              </a:rPr>
              <a:t>memory</a:t>
            </a:r>
            <a:r>
              <a:rPr sz="1800" spc="-25" dirty="0">
                <a:solidFill>
                  <a:srgbClr val="FF0000"/>
                </a:solidFill>
                <a:latin typeface="Arial MT"/>
                <a:cs typeface="Arial MT"/>
              </a:rPr>
              <a:t> </a:t>
            </a:r>
            <a:r>
              <a:rPr sz="1800" spc="-10" dirty="0">
                <a:solidFill>
                  <a:srgbClr val="FF0000"/>
                </a:solidFill>
                <a:latin typeface="Arial MT"/>
                <a:cs typeface="Arial MT"/>
              </a:rPr>
              <a:t>space</a:t>
            </a:r>
            <a:endParaRPr sz="1800" dirty="0">
              <a:latin typeface="Arial MT"/>
              <a:cs typeface="Arial MT"/>
            </a:endParaRPr>
          </a:p>
        </p:txBody>
      </p:sp>
      <p:pic>
        <p:nvPicPr>
          <p:cNvPr id="4" name="object 4"/>
          <p:cNvPicPr/>
          <p:nvPr/>
        </p:nvPicPr>
        <p:blipFill>
          <a:blip r:embed="rId2" cstate="print"/>
          <a:stretch>
            <a:fillRect/>
          </a:stretch>
        </p:blipFill>
        <p:spPr>
          <a:xfrm>
            <a:off x="185737" y="3205226"/>
            <a:ext cx="8801100" cy="3500374"/>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7</a:t>
            </a:fld>
            <a:endParaRPr spc="-20" dirty="0"/>
          </a:p>
        </p:txBody>
      </p:sp>
      <p:sp>
        <p:nvSpPr>
          <p:cNvPr id="7" name="object 7"/>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4450" y="68791"/>
            <a:ext cx="1035086" cy="816327"/>
          </a:xfrm>
          <a:prstGeom prst="rect">
            <a:avLst/>
          </a:prstGeom>
        </p:spPr>
      </p:pic>
      <p:sp>
        <p:nvSpPr>
          <p:cNvPr id="3" name="object 3"/>
          <p:cNvSpPr/>
          <p:nvPr/>
        </p:nvSpPr>
        <p:spPr>
          <a:xfrm>
            <a:off x="0" y="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336699"/>
          </a:solidFill>
        </p:spPr>
        <p:txBody>
          <a:bodyPr wrap="square" lIns="0" tIns="0" rIns="0" bIns="0" rtlCol="0"/>
          <a:lstStyle/>
          <a:p>
            <a:endParaRPr/>
          </a:p>
        </p:txBody>
      </p:sp>
      <p:sp>
        <p:nvSpPr>
          <p:cNvPr id="4" name="object 4"/>
          <p:cNvSpPr/>
          <p:nvPr/>
        </p:nvSpPr>
        <p:spPr>
          <a:xfrm>
            <a:off x="457200" y="860425"/>
            <a:ext cx="8077200" cy="0"/>
          </a:xfrm>
          <a:custGeom>
            <a:avLst/>
            <a:gdLst/>
            <a:ahLst/>
            <a:cxnLst/>
            <a:rect l="l" t="t" r="r" b="b"/>
            <a:pathLst>
              <a:path w="8077200">
                <a:moveTo>
                  <a:pt x="0" y="0"/>
                </a:moveTo>
                <a:lnTo>
                  <a:pt x="8077200" y="0"/>
                </a:lnTo>
              </a:path>
            </a:pathLst>
          </a:custGeom>
          <a:ln w="19050">
            <a:solidFill>
              <a:srgbClr val="336699"/>
            </a:solidFill>
          </a:ln>
        </p:spPr>
        <p:txBody>
          <a:bodyPr wrap="square" lIns="0" tIns="0" rIns="0" bIns="0" rtlCol="0"/>
          <a:lstStyle/>
          <a:p>
            <a:endParaRPr/>
          </a:p>
        </p:txBody>
      </p:sp>
      <p:grpSp>
        <p:nvGrpSpPr>
          <p:cNvPr id="5" name="object 5"/>
          <p:cNvGrpSpPr/>
          <p:nvPr/>
        </p:nvGrpSpPr>
        <p:grpSpPr>
          <a:xfrm>
            <a:off x="0" y="1463772"/>
            <a:ext cx="8975090" cy="5394325"/>
            <a:chOff x="0" y="1463772"/>
            <a:chExt cx="8975090" cy="5394325"/>
          </a:xfrm>
        </p:grpSpPr>
        <p:sp>
          <p:nvSpPr>
            <p:cNvPr id="6" name="object 6"/>
            <p:cNvSpPr/>
            <p:nvPr/>
          </p:nvSpPr>
          <p:spPr>
            <a:xfrm>
              <a:off x="0" y="228600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99CCFF"/>
            </a:solidFill>
          </p:spPr>
          <p:txBody>
            <a:bodyPr wrap="square" lIns="0" tIns="0" rIns="0" bIns="0" rtlCol="0"/>
            <a:lstStyle/>
            <a:p>
              <a:endParaRPr/>
            </a:p>
          </p:txBody>
        </p:sp>
        <p:sp>
          <p:nvSpPr>
            <p:cNvPr id="7" name="object 7"/>
            <p:cNvSpPr/>
            <p:nvPr/>
          </p:nvSpPr>
          <p:spPr>
            <a:xfrm>
              <a:off x="0" y="4572000"/>
              <a:ext cx="228600" cy="2286000"/>
            </a:xfrm>
            <a:custGeom>
              <a:avLst/>
              <a:gdLst/>
              <a:ahLst/>
              <a:cxnLst/>
              <a:rect l="l" t="t" r="r" b="b"/>
              <a:pathLst>
                <a:path w="228600" h="2286000">
                  <a:moveTo>
                    <a:pt x="228600" y="0"/>
                  </a:moveTo>
                  <a:lnTo>
                    <a:pt x="0" y="0"/>
                  </a:lnTo>
                  <a:lnTo>
                    <a:pt x="0" y="2286000"/>
                  </a:lnTo>
                  <a:lnTo>
                    <a:pt x="228600" y="2286000"/>
                  </a:lnTo>
                  <a:lnTo>
                    <a:pt x="228600" y="0"/>
                  </a:lnTo>
                  <a:close/>
                </a:path>
              </a:pathLst>
            </a:custGeom>
            <a:solidFill>
              <a:srgbClr val="336699"/>
            </a:solidFill>
          </p:spPr>
          <p:txBody>
            <a:bodyPr wrap="square" lIns="0" tIns="0" rIns="0" bIns="0" rtlCol="0"/>
            <a:lstStyle/>
            <a:p>
              <a:endParaRPr/>
            </a:p>
          </p:txBody>
        </p:sp>
        <p:sp>
          <p:nvSpPr>
            <p:cNvPr id="8" name="object 8"/>
            <p:cNvSpPr/>
            <p:nvPr/>
          </p:nvSpPr>
          <p:spPr>
            <a:xfrm>
              <a:off x="1476994" y="3023293"/>
              <a:ext cx="6122670" cy="0"/>
            </a:xfrm>
            <a:custGeom>
              <a:avLst/>
              <a:gdLst/>
              <a:ahLst/>
              <a:cxnLst/>
              <a:rect l="l" t="t" r="r" b="b"/>
              <a:pathLst>
                <a:path w="6122670">
                  <a:moveTo>
                    <a:pt x="0" y="0"/>
                  </a:moveTo>
                  <a:lnTo>
                    <a:pt x="0" y="0"/>
                  </a:lnTo>
                  <a:lnTo>
                    <a:pt x="1038353" y="0"/>
                  </a:lnTo>
                </a:path>
                <a:path w="6122670">
                  <a:moveTo>
                    <a:pt x="2417799" y="0"/>
                  </a:moveTo>
                  <a:lnTo>
                    <a:pt x="2417799" y="0"/>
                  </a:lnTo>
                  <a:lnTo>
                    <a:pt x="3530105" y="0"/>
                  </a:lnTo>
                </a:path>
                <a:path w="6122670">
                  <a:moveTo>
                    <a:pt x="4945491" y="0"/>
                  </a:moveTo>
                  <a:lnTo>
                    <a:pt x="4945491" y="0"/>
                  </a:lnTo>
                  <a:lnTo>
                    <a:pt x="6122201" y="0"/>
                  </a:lnTo>
                </a:path>
              </a:pathLst>
            </a:custGeom>
            <a:ln w="22700">
              <a:solidFill>
                <a:srgbClr val="000000"/>
              </a:solidFill>
            </a:ln>
          </p:spPr>
          <p:txBody>
            <a:bodyPr wrap="square" lIns="0" tIns="0" rIns="0" bIns="0" rtlCol="0"/>
            <a:lstStyle/>
            <a:p>
              <a:endParaRPr/>
            </a:p>
          </p:txBody>
        </p:sp>
        <p:sp>
          <p:nvSpPr>
            <p:cNvPr id="9" name="object 9"/>
            <p:cNvSpPr/>
            <p:nvPr/>
          </p:nvSpPr>
          <p:spPr>
            <a:xfrm>
              <a:off x="5759244" y="1895802"/>
              <a:ext cx="0" cy="792480"/>
            </a:xfrm>
            <a:custGeom>
              <a:avLst/>
              <a:gdLst/>
              <a:ahLst/>
              <a:cxnLst/>
              <a:rect l="l" t="t" r="r" b="b"/>
              <a:pathLst>
                <a:path h="792480">
                  <a:moveTo>
                    <a:pt x="0" y="0"/>
                  </a:moveTo>
                  <a:lnTo>
                    <a:pt x="0" y="792135"/>
                  </a:lnTo>
                </a:path>
              </a:pathLst>
            </a:custGeom>
            <a:ln w="24639">
              <a:solidFill>
                <a:srgbClr val="000000"/>
              </a:solidFill>
            </a:ln>
          </p:spPr>
          <p:txBody>
            <a:bodyPr wrap="square" lIns="0" tIns="0" rIns="0" bIns="0" rtlCol="0"/>
            <a:lstStyle/>
            <a:p>
              <a:endParaRPr/>
            </a:p>
          </p:txBody>
        </p:sp>
        <p:sp>
          <p:nvSpPr>
            <p:cNvPr id="10" name="object 10"/>
            <p:cNvSpPr/>
            <p:nvPr/>
          </p:nvSpPr>
          <p:spPr>
            <a:xfrm>
              <a:off x="5759244" y="3237287"/>
              <a:ext cx="0" cy="843280"/>
            </a:xfrm>
            <a:custGeom>
              <a:avLst/>
              <a:gdLst/>
              <a:ahLst/>
              <a:cxnLst/>
              <a:rect l="l" t="t" r="r" b="b"/>
              <a:pathLst>
                <a:path h="843279">
                  <a:moveTo>
                    <a:pt x="0" y="0"/>
                  </a:moveTo>
                  <a:lnTo>
                    <a:pt x="0" y="0"/>
                  </a:lnTo>
                  <a:lnTo>
                    <a:pt x="0" y="843186"/>
                  </a:lnTo>
                </a:path>
              </a:pathLst>
            </a:custGeom>
            <a:ln w="24639">
              <a:solidFill>
                <a:srgbClr val="000000"/>
              </a:solidFill>
            </a:ln>
          </p:spPr>
          <p:txBody>
            <a:bodyPr wrap="square" lIns="0" tIns="0" rIns="0" bIns="0" rtlCol="0"/>
            <a:lstStyle/>
            <a:p>
              <a:endParaRPr/>
            </a:p>
          </p:txBody>
        </p:sp>
        <p:sp>
          <p:nvSpPr>
            <p:cNvPr id="11" name="object 11"/>
            <p:cNvSpPr/>
            <p:nvPr/>
          </p:nvSpPr>
          <p:spPr>
            <a:xfrm>
              <a:off x="3246707" y="1895802"/>
              <a:ext cx="0" cy="802005"/>
            </a:xfrm>
            <a:custGeom>
              <a:avLst/>
              <a:gdLst/>
              <a:ahLst/>
              <a:cxnLst/>
              <a:rect l="l" t="t" r="r" b="b"/>
              <a:pathLst>
                <a:path h="802005">
                  <a:moveTo>
                    <a:pt x="0" y="0"/>
                  </a:moveTo>
                  <a:lnTo>
                    <a:pt x="0" y="801711"/>
                  </a:lnTo>
                </a:path>
              </a:pathLst>
            </a:custGeom>
            <a:ln w="24639">
              <a:solidFill>
                <a:srgbClr val="000000"/>
              </a:solidFill>
            </a:ln>
          </p:spPr>
          <p:txBody>
            <a:bodyPr wrap="square" lIns="0" tIns="0" rIns="0" bIns="0" rtlCol="0"/>
            <a:lstStyle/>
            <a:p>
              <a:endParaRPr/>
            </a:p>
          </p:txBody>
        </p:sp>
        <p:sp>
          <p:nvSpPr>
            <p:cNvPr id="12" name="object 12"/>
            <p:cNvSpPr/>
            <p:nvPr/>
          </p:nvSpPr>
          <p:spPr>
            <a:xfrm>
              <a:off x="3246707" y="3237287"/>
              <a:ext cx="0" cy="840105"/>
            </a:xfrm>
            <a:custGeom>
              <a:avLst/>
              <a:gdLst/>
              <a:ahLst/>
              <a:cxnLst/>
              <a:rect l="l" t="t" r="r" b="b"/>
              <a:pathLst>
                <a:path h="840104">
                  <a:moveTo>
                    <a:pt x="0" y="0"/>
                  </a:moveTo>
                  <a:lnTo>
                    <a:pt x="0" y="0"/>
                  </a:lnTo>
                  <a:lnTo>
                    <a:pt x="0" y="839994"/>
                  </a:lnTo>
                </a:path>
              </a:pathLst>
            </a:custGeom>
            <a:ln w="24639">
              <a:solidFill>
                <a:srgbClr val="000000"/>
              </a:solidFill>
            </a:ln>
          </p:spPr>
          <p:txBody>
            <a:bodyPr wrap="square" lIns="0" tIns="0" rIns="0" bIns="0" rtlCol="0"/>
            <a:lstStyle/>
            <a:p>
              <a:endParaRPr/>
            </a:p>
          </p:txBody>
        </p:sp>
        <p:sp>
          <p:nvSpPr>
            <p:cNvPr id="13" name="object 13"/>
            <p:cNvSpPr/>
            <p:nvPr/>
          </p:nvSpPr>
          <p:spPr>
            <a:xfrm>
              <a:off x="177134" y="2799723"/>
              <a:ext cx="1300480" cy="426720"/>
            </a:xfrm>
            <a:custGeom>
              <a:avLst/>
              <a:gdLst/>
              <a:ahLst/>
              <a:cxnLst/>
              <a:rect l="l" t="t" r="r" b="b"/>
              <a:pathLst>
                <a:path w="1300480" h="426719">
                  <a:moveTo>
                    <a:pt x="1299860" y="0"/>
                  </a:moveTo>
                  <a:lnTo>
                    <a:pt x="0" y="0"/>
                  </a:lnTo>
                  <a:lnTo>
                    <a:pt x="0" y="426370"/>
                  </a:lnTo>
                  <a:lnTo>
                    <a:pt x="1299860" y="426370"/>
                  </a:lnTo>
                  <a:lnTo>
                    <a:pt x="1299860" y="0"/>
                  </a:lnTo>
                  <a:close/>
                </a:path>
              </a:pathLst>
            </a:custGeom>
            <a:solidFill>
              <a:srgbClr val="D0D0D0"/>
            </a:solidFill>
          </p:spPr>
          <p:txBody>
            <a:bodyPr wrap="square" lIns="0" tIns="0" rIns="0" bIns="0" rtlCol="0"/>
            <a:lstStyle/>
            <a:p>
              <a:endParaRPr/>
            </a:p>
          </p:txBody>
        </p:sp>
        <p:sp>
          <p:nvSpPr>
            <p:cNvPr id="14" name="object 14"/>
            <p:cNvSpPr/>
            <p:nvPr/>
          </p:nvSpPr>
          <p:spPr>
            <a:xfrm>
              <a:off x="177134" y="2799723"/>
              <a:ext cx="1300480" cy="426720"/>
            </a:xfrm>
            <a:custGeom>
              <a:avLst/>
              <a:gdLst/>
              <a:ahLst/>
              <a:cxnLst/>
              <a:rect l="l" t="t" r="r" b="b"/>
              <a:pathLst>
                <a:path w="1300480" h="426719">
                  <a:moveTo>
                    <a:pt x="0" y="426370"/>
                  </a:moveTo>
                  <a:lnTo>
                    <a:pt x="1299860" y="426370"/>
                  </a:lnTo>
                  <a:lnTo>
                    <a:pt x="1299860" y="0"/>
                  </a:lnTo>
                  <a:lnTo>
                    <a:pt x="0" y="0"/>
                  </a:lnTo>
                  <a:lnTo>
                    <a:pt x="0" y="426370"/>
                  </a:lnTo>
                  <a:close/>
                </a:path>
              </a:pathLst>
            </a:custGeom>
            <a:ln w="9755">
              <a:solidFill>
                <a:srgbClr val="000000"/>
              </a:solidFill>
            </a:ln>
          </p:spPr>
          <p:txBody>
            <a:bodyPr wrap="square" lIns="0" tIns="0" rIns="0" bIns="0" rtlCol="0"/>
            <a:lstStyle/>
            <a:p>
              <a:endParaRPr/>
            </a:p>
          </p:txBody>
        </p:sp>
        <p:sp>
          <p:nvSpPr>
            <p:cNvPr id="15" name="object 15"/>
            <p:cNvSpPr/>
            <p:nvPr/>
          </p:nvSpPr>
          <p:spPr>
            <a:xfrm>
              <a:off x="7667389" y="1469346"/>
              <a:ext cx="1301750" cy="2895600"/>
            </a:xfrm>
            <a:custGeom>
              <a:avLst/>
              <a:gdLst/>
              <a:ahLst/>
              <a:cxnLst/>
              <a:rect l="l" t="t" r="r" b="b"/>
              <a:pathLst>
                <a:path w="1301750" h="2895600">
                  <a:moveTo>
                    <a:pt x="1301730" y="0"/>
                  </a:moveTo>
                  <a:lnTo>
                    <a:pt x="0" y="0"/>
                  </a:lnTo>
                  <a:lnTo>
                    <a:pt x="0" y="2895389"/>
                  </a:lnTo>
                  <a:lnTo>
                    <a:pt x="1301730" y="2895389"/>
                  </a:lnTo>
                  <a:lnTo>
                    <a:pt x="1301730" y="0"/>
                  </a:lnTo>
                  <a:close/>
                </a:path>
              </a:pathLst>
            </a:custGeom>
            <a:solidFill>
              <a:srgbClr val="CAEDFA"/>
            </a:solidFill>
          </p:spPr>
          <p:txBody>
            <a:bodyPr wrap="square" lIns="0" tIns="0" rIns="0" bIns="0" rtlCol="0"/>
            <a:lstStyle/>
            <a:p>
              <a:endParaRPr/>
            </a:p>
          </p:txBody>
        </p:sp>
        <p:sp>
          <p:nvSpPr>
            <p:cNvPr id="16" name="object 16"/>
            <p:cNvSpPr/>
            <p:nvPr/>
          </p:nvSpPr>
          <p:spPr>
            <a:xfrm>
              <a:off x="7667389" y="1469346"/>
              <a:ext cx="1301750" cy="2895600"/>
            </a:xfrm>
            <a:custGeom>
              <a:avLst/>
              <a:gdLst/>
              <a:ahLst/>
              <a:cxnLst/>
              <a:rect l="l" t="t" r="r" b="b"/>
              <a:pathLst>
                <a:path w="1301750" h="2895600">
                  <a:moveTo>
                    <a:pt x="0" y="2895389"/>
                  </a:moveTo>
                  <a:lnTo>
                    <a:pt x="1301730" y="2895389"/>
                  </a:lnTo>
                  <a:lnTo>
                    <a:pt x="1301730" y="0"/>
                  </a:lnTo>
                  <a:lnTo>
                    <a:pt x="0" y="0"/>
                  </a:lnTo>
                  <a:lnTo>
                    <a:pt x="0" y="2895389"/>
                  </a:lnTo>
                  <a:close/>
                </a:path>
              </a:pathLst>
            </a:custGeom>
            <a:ln w="11071">
              <a:solidFill>
                <a:srgbClr val="000000"/>
              </a:solidFill>
            </a:ln>
          </p:spPr>
          <p:txBody>
            <a:bodyPr wrap="square" lIns="0" tIns="0" rIns="0" bIns="0" rtlCol="0"/>
            <a:lstStyle/>
            <a:p>
              <a:endParaRPr/>
            </a:p>
          </p:txBody>
        </p:sp>
        <p:sp>
          <p:nvSpPr>
            <p:cNvPr id="17" name="object 17"/>
            <p:cNvSpPr/>
            <p:nvPr/>
          </p:nvSpPr>
          <p:spPr>
            <a:xfrm>
              <a:off x="5103580" y="1469346"/>
              <a:ext cx="1300480" cy="426720"/>
            </a:xfrm>
            <a:custGeom>
              <a:avLst/>
              <a:gdLst/>
              <a:ahLst/>
              <a:cxnLst/>
              <a:rect l="l" t="t" r="r" b="b"/>
              <a:pathLst>
                <a:path w="1300479" h="426719">
                  <a:moveTo>
                    <a:pt x="1299962" y="0"/>
                  </a:moveTo>
                  <a:lnTo>
                    <a:pt x="0" y="0"/>
                  </a:lnTo>
                  <a:lnTo>
                    <a:pt x="0" y="426455"/>
                  </a:lnTo>
                  <a:lnTo>
                    <a:pt x="1299962" y="426455"/>
                  </a:lnTo>
                  <a:lnTo>
                    <a:pt x="1299962" y="0"/>
                  </a:lnTo>
                  <a:close/>
                </a:path>
              </a:pathLst>
            </a:custGeom>
            <a:solidFill>
              <a:srgbClr val="D0D0D0"/>
            </a:solidFill>
          </p:spPr>
          <p:txBody>
            <a:bodyPr wrap="square" lIns="0" tIns="0" rIns="0" bIns="0" rtlCol="0"/>
            <a:lstStyle/>
            <a:p>
              <a:endParaRPr/>
            </a:p>
          </p:txBody>
        </p:sp>
        <p:sp>
          <p:nvSpPr>
            <p:cNvPr id="18" name="object 18"/>
            <p:cNvSpPr/>
            <p:nvPr/>
          </p:nvSpPr>
          <p:spPr>
            <a:xfrm>
              <a:off x="5103580" y="1469346"/>
              <a:ext cx="1300480" cy="426720"/>
            </a:xfrm>
            <a:custGeom>
              <a:avLst/>
              <a:gdLst/>
              <a:ahLst/>
              <a:cxnLst/>
              <a:rect l="l" t="t" r="r" b="b"/>
              <a:pathLst>
                <a:path w="1300479" h="426719">
                  <a:moveTo>
                    <a:pt x="0" y="426455"/>
                  </a:moveTo>
                  <a:lnTo>
                    <a:pt x="1299962" y="426455"/>
                  </a:lnTo>
                  <a:lnTo>
                    <a:pt x="1299962" y="0"/>
                  </a:lnTo>
                  <a:lnTo>
                    <a:pt x="0" y="0"/>
                  </a:lnTo>
                  <a:lnTo>
                    <a:pt x="0" y="426455"/>
                  </a:lnTo>
                  <a:close/>
                </a:path>
              </a:pathLst>
            </a:custGeom>
            <a:ln w="9755">
              <a:solidFill>
                <a:srgbClr val="000000"/>
              </a:solidFill>
            </a:ln>
          </p:spPr>
          <p:txBody>
            <a:bodyPr wrap="square" lIns="0" tIns="0" rIns="0" bIns="0" rtlCol="0"/>
            <a:lstStyle/>
            <a:p>
              <a:endParaRPr/>
            </a:p>
          </p:txBody>
        </p:sp>
        <p:sp>
          <p:nvSpPr>
            <p:cNvPr id="19" name="object 19"/>
            <p:cNvSpPr/>
            <p:nvPr/>
          </p:nvSpPr>
          <p:spPr>
            <a:xfrm>
              <a:off x="2602509" y="1469346"/>
              <a:ext cx="1300480" cy="426720"/>
            </a:xfrm>
            <a:custGeom>
              <a:avLst/>
              <a:gdLst/>
              <a:ahLst/>
              <a:cxnLst/>
              <a:rect l="l" t="t" r="r" b="b"/>
              <a:pathLst>
                <a:path w="1300479" h="426719">
                  <a:moveTo>
                    <a:pt x="1299861" y="0"/>
                  </a:moveTo>
                  <a:lnTo>
                    <a:pt x="0" y="0"/>
                  </a:lnTo>
                  <a:lnTo>
                    <a:pt x="0" y="426455"/>
                  </a:lnTo>
                  <a:lnTo>
                    <a:pt x="1299861" y="426455"/>
                  </a:lnTo>
                  <a:lnTo>
                    <a:pt x="1299861" y="0"/>
                  </a:lnTo>
                  <a:close/>
                </a:path>
              </a:pathLst>
            </a:custGeom>
            <a:solidFill>
              <a:srgbClr val="D0D0D0"/>
            </a:solidFill>
          </p:spPr>
          <p:txBody>
            <a:bodyPr wrap="square" lIns="0" tIns="0" rIns="0" bIns="0" rtlCol="0"/>
            <a:lstStyle/>
            <a:p>
              <a:endParaRPr/>
            </a:p>
          </p:txBody>
        </p:sp>
        <p:sp>
          <p:nvSpPr>
            <p:cNvPr id="20" name="object 20"/>
            <p:cNvSpPr/>
            <p:nvPr/>
          </p:nvSpPr>
          <p:spPr>
            <a:xfrm>
              <a:off x="2602509" y="1469346"/>
              <a:ext cx="1300480" cy="426720"/>
            </a:xfrm>
            <a:custGeom>
              <a:avLst/>
              <a:gdLst/>
              <a:ahLst/>
              <a:cxnLst/>
              <a:rect l="l" t="t" r="r" b="b"/>
              <a:pathLst>
                <a:path w="1300479" h="426719">
                  <a:moveTo>
                    <a:pt x="0" y="426455"/>
                  </a:moveTo>
                  <a:lnTo>
                    <a:pt x="1299861" y="426455"/>
                  </a:lnTo>
                  <a:lnTo>
                    <a:pt x="1299861" y="0"/>
                  </a:lnTo>
                  <a:lnTo>
                    <a:pt x="0" y="0"/>
                  </a:lnTo>
                  <a:lnTo>
                    <a:pt x="0" y="426455"/>
                  </a:lnTo>
                  <a:close/>
                </a:path>
              </a:pathLst>
            </a:custGeom>
            <a:ln w="9755">
              <a:solidFill>
                <a:srgbClr val="000000"/>
              </a:solidFill>
            </a:ln>
          </p:spPr>
          <p:txBody>
            <a:bodyPr wrap="square" lIns="0" tIns="0" rIns="0" bIns="0" rtlCol="0"/>
            <a:lstStyle/>
            <a:p>
              <a:endParaRPr/>
            </a:p>
          </p:txBody>
        </p:sp>
        <p:sp>
          <p:nvSpPr>
            <p:cNvPr id="21" name="object 21"/>
            <p:cNvSpPr/>
            <p:nvPr/>
          </p:nvSpPr>
          <p:spPr>
            <a:xfrm>
              <a:off x="2568412" y="2758184"/>
              <a:ext cx="1356995" cy="511175"/>
            </a:xfrm>
            <a:custGeom>
              <a:avLst/>
              <a:gdLst/>
              <a:ahLst/>
              <a:cxnLst/>
              <a:rect l="l" t="t" r="r" b="b"/>
              <a:pathLst>
                <a:path w="1356995" h="511175">
                  <a:moveTo>
                    <a:pt x="678294" y="0"/>
                  </a:moveTo>
                  <a:lnTo>
                    <a:pt x="0" y="265109"/>
                  </a:lnTo>
                  <a:lnTo>
                    <a:pt x="678294" y="511044"/>
                  </a:lnTo>
                  <a:lnTo>
                    <a:pt x="1356689" y="265109"/>
                  </a:lnTo>
                  <a:lnTo>
                    <a:pt x="678294" y="0"/>
                  </a:lnTo>
                  <a:close/>
                </a:path>
              </a:pathLst>
            </a:custGeom>
            <a:solidFill>
              <a:srgbClr val="CAEDFA"/>
            </a:solidFill>
          </p:spPr>
          <p:txBody>
            <a:bodyPr wrap="square" lIns="0" tIns="0" rIns="0" bIns="0" rtlCol="0"/>
            <a:lstStyle/>
            <a:p>
              <a:endParaRPr/>
            </a:p>
          </p:txBody>
        </p:sp>
        <p:sp>
          <p:nvSpPr>
            <p:cNvPr id="22" name="object 22"/>
            <p:cNvSpPr/>
            <p:nvPr/>
          </p:nvSpPr>
          <p:spPr>
            <a:xfrm>
              <a:off x="2568412" y="2758184"/>
              <a:ext cx="1356995" cy="511175"/>
            </a:xfrm>
            <a:custGeom>
              <a:avLst/>
              <a:gdLst/>
              <a:ahLst/>
              <a:cxnLst/>
              <a:rect l="l" t="t" r="r" b="b"/>
              <a:pathLst>
                <a:path w="1356995" h="511175">
                  <a:moveTo>
                    <a:pt x="0" y="265109"/>
                  </a:moveTo>
                  <a:lnTo>
                    <a:pt x="678294" y="0"/>
                  </a:lnTo>
                  <a:lnTo>
                    <a:pt x="1356689" y="265109"/>
                  </a:lnTo>
                  <a:lnTo>
                    <a:pt x="678294" y="511044"/>
                  </a:lnTo>
                  <a:lnTo>
                    <a:pt x="0" y="265109"/>
                  </a:lnTo>
                  <a:close/>
                </a:path>
              </a:pathLst>
            </a:custGeom>
            <a:ln w="9804">
              <a:solidFill>
                <a:srgbClr val="000000"/>
              </a:solidFill>
            </a:ln>
          </p:spPr>
          <p:txBody>
            <a:bodyPr wrap="square" lIns="0" tIns="0" rIns="0" bIns="0" rtlCol="0"/>
            <a:lstStyle/>
            <a:p>
              <a:endParaRPr/>
            </a:p>
          </p:txBody>
        </p:sp>
        <p:sp>
          <p:nvSpPr>
            <p:cNvPr id="23" name="object 23"/>
            <p:cNvSpPr/>
            <p:nvPr/>
          </p:nvSpPr>
          <p:spPr>
            <a:xfrm>
              <a:off x="5080849" y="2758184"/>
              <a:ext cx="1358900" cy="511175"/>
            </a:xfrm>
            <a:custGeom>
              <a:avLst/>
              <a:gdLst/>
              <a:ahLst/>
              <a:cxnLst/>
              <a:rect l="l" t="t" r="r" b="b"/>
              <a:pathLst>
                <a:path w="1358900" h="511175">
                  <a:moveTo>
                    <a:pt x="678395" y="0"/>
                  </a:moveTo>
                  <a:lnTo>
                    <a:pt x="0" y="265109"/>
                  </a:lnTo>
                  <a:lnTo>
                    <a:pt x="678395" y="511044"/>
                  </a:lnTo>
                  <a:lnTo>
                    <a:pt x="1358558" y="265109"/>
                  </a:lnTo>
                  <a:lnTo>
                    <a:pt x="678395" y="0"/>
                  </a:lnTo>
                  <a:close/>
                </a:path>
              </a:pathLst>
            </a:custGeom>
            <a:solidFill>
              <a:srgbClr val="CAEDFA"/>
            </a:solidFill>
          </p:spPr>
          <p:txBody>
            <a:bodyPr wrap="square" lIns="0" tIns="0" rIns="0" bIns="0" rtlCol="0"/>
            <a:lstStyle/>
            <a:p>
              <a:endParaRPr/>
            </a:p>
          </p:txBody>
        </p:sp>
        <p:sp>
          <p:nvSpPr>
            <p:cNvPr id="24" name="object 24"/>
            <p:cNvSpPr/>
            <p:nvPr/>
          </p:nvSpPr>
          <p:spPr>
            <a:xfrm>
              <a:off x="5080849" y="2758184"/>
              <a:ext cx="1358900" cy="511175"/>
            </a:xfrm>
            <a:custGeom>
              <a:avLst/>
              <a:gdLst/>
              <a:ahLst/>
              <a:cxnLst/>
              <a:rect l="l" t="t" r="r" b="b"/>
              <a:pathLst>
                <a:path w="1358900" h="511175">
                  <a:moveTo>
                    <a:pt x="0" y="265109"/>
                  </a:moveTo>
                  <a:lnTo>
                    <a:pt x="678395" y="0"/>
                  </a:lnTo>
                  <a:lnTo>
                    <a:pt x="1358558" y="265109"/>
                  </a:lnTo>
                  <a:lnTo>
                    <a:pt x="678395" y="511044"/>
                  </a:lnTo>
                  <a:lnTo>
                    <a:pt x="0" y="265109"/>
                  </a:lnTo>
                  <a:close/>
                </a:path>
              </a:pathLst>
            </a:custGeom>
            <a:ln w="9803">
              <a:solidFill>
                <a:srgbClr val="000000"/>
              </a:solidFill>
            </a:ln>
          </p:spPr>
          <p:txBody>
            <a:bodyPr wrap="square" lIns="0" tIns="0" rIns="0" bIns="0" rtlCol="0"/>
            <a:lstStyle/>
            <a:p>
              <a:endParaRPr/>
            </a:p>
          </p:txBody>
        </p:sp>
        <p:pic>
          <p:nvPicPr>
            <p:cNvPr id="25" name="object 25"/>
            <p:cNvPicPr/>
            <p:nvPr/>
          </p:nvPicPr>
          <p:blipFill>
            <a:blip r:embed="rId3" cstate="print"/>
            <a:stretch>
              <a:fillRect/>
            </a:stretch>
          </p:blipFill>
          <p:spPr>
            <a:xfrm>
              <a:off x="3019396" y="1613200"/>
              <a:ext cx="469774" cy="138960"/>
            </a:xfrm>
            <a:prstGeom prst="rect">
              <a:avLst/>
            </a:prstGeom>
          </p:spPr>
        </p:pic>
        <p:pic>
          <p:nvPicPr>
            <p:cNvPr id="26" name="object 26"/>
            <p:cNvPicPr/>
            <p:nvPr/>
          </p:nvPicPr>
          <p:blipFill>
            <a:blip r:embed="rId4" cstate="print"/>
            <a:stretch>
              <a:fillRect/>
            </a:stretch>
          </p:blipFill>
          <p:spPr>
            <a:xfrm>
              <a:off x="1609617" y="2777357"/>
              <a:ext cx="231174" cy="138938"/>
            </a:xfrm>
            <a:prstGeom prst="rect">
              <a:avLst/>
            </a:prstGeom>
          </p:spPr>
        </p:pic>
        <p:pic>
          <p:nvPicPr>
            <p:cNvPr id="27" name="object 27"/>
            <p:cNvPicPr/>
            <p:nvPr/>
          </p:nvPicPr>
          <p:blipFill>
            <a:blip r:embed="rId5" cstate="print"/>
            <a:stretch>
              <a:fillRect/>
            </a:stretch>
          </p:blipFill>
          <p:spPr>
            <a:xfrm>
              <a:off x="1863523" y="2777357"/>
              <a:ext cx="104209" cy="138938"/>
            </a:xfrm>
            <a:prstGeom prst="rect">
              <a:avLst/>
            </a:prstGeom>
          </p:spPr>
        </p:pic>
        <p:pic>
          <p:nvPicPr>
            <p:cNvPr id="28" name="object 28"/>
            <p:cNvPicPr/>
            <p:nvPr/>
          </p:nvPicPr>
          <p:blipFill>
            <a:blip r:embed="rId6" cstate="print"/>
            <a:stretch>
              <a:fillRect/>
            </a:stretch>
          </p:blipFill>
          <p:spPr>
            <a:xfrm>
              <a:off x="1998065" y="2810895"/>
              <a:ext cx="403602" cy="105401"/>
            </a:xfrm>
            <a:prstGeom prst="rect">
              <a:avLst/>
            </a:prstGeom>
          </p:spPr>
        </p:pic>
        <p:pic>
          <p:nvPicPr>
            <p:cNvPr id="29" name="object 29"/>
            <p:cNvPicPr/>
            <p:nvPr/>
          </p:nvPicPr>
          <p:blipFill>
            <a:blip r:embed="rId7" cstate="print"/>
            <a:stretch>
              <a:fillRect/>
            </a:stretch>
          </p:blipFill>
          <p:spPr>
            <a:xfrm>
              <a:off x="6426274" y="2810895"/>
              <a:ext cx="337177" cy="143726"/>
            </a:xfrm>
            <a:prstGeom prst="rect">
              <a:avLst/>
            </a:prstGeom>
          </p:spPr>
        </p:pic>
        <p:pic>
          <p:nvPicPr>
            <p:cNvPr id="30" name="object 30"/>
            <p:cNvPicPr/>
            <p:nvPr/>
          </p:nvPicPr>
          <p:blipFill>
            <a:blip r:embed="rId8" cstate="print"/>
            <a:stretch>
              <a:fillRect/>
            </a:stretch>
          </p:blipFill>
          <p:spPr>
            <a:xfrm>
              <a:off x="3926870" y="2810895"/>
              <a:ext cx="339197" cy="143726"/>
            </a:xfrm>
            <a:prstGeom prst="rect">
              <a:avLst/>
            </a:prstGeom>
          </p:spPr>
        </p:pic>
        <p:pic>
          <p:nvPicPr>
            <p:cNvPr id="31" name="object 31"/>
            <p:cNvPicPr/>
            <p:nvPr/>
          </p:nvPicPr>
          <p:blipFill>
            <a:blip r:embed="rId9" cstate="print"/>
            <a:stretch>
              <a:fillRect/>
            </a:stretch>
          </p:blipFill>
          <p:spPr>
            <a:xfrm>
              <a:off x="5895631" y="3357052"/>
              <a:ext cx="94712" cy="103805"/>
            </a:xfrm>
            <a:prstGeom prst="rect">
              <a:avLst/>
            </a:prstGeom>
          </p:spPr>
        </p:pic>
        <p:pic>
          <p:nvPicPr>
            <p:cNvPr id="32" name="object 32"/>
            <p:cNvPicPr/>
            <p:nvPr/>
          </p:nvPicPr>
          <p:blipFill>
            <a:blip r:embed="rId10" cstate="print"/>
            <a:stretch>
              <a:fillRect/>
            </a:stretch>
          </p:blipFill>
          <p:spPr>
            <a:xfrm>
              <a:off x="6015095" y="3357052"/>
              <a:ext cx="109866" cy="105401"/>
            </a:xfrm>
            <a:prstGeom prst="rect">
              <a:avLst/>
            </a:prstGeom>
          </p:spPr>
        </p:pic>
        <p:pic>
          <p:nvPicPr>
            <p:cNvPr id="33" name="object 33"/>
            <p:cNvPicPr/>
            <p:nvPr/>
          </p:nvPicPr>
          <p:blipFill>
            <a:blip r:embed="rId11" cstate="print"/>
            <a:stretch>
              <a:fillRect/>
            </a:stretch>
          </p:blipFill>
          <p:spPr>
            <a:xfrm>
              <a:off x="3367939" y="3357052"/>
              <a:ext cx="96733" cy="103805"/>
            </a:xfrm>
            <a:prstGeom prst="rect">
              <a:avLst/>
            </a:prstGeom>
          </p:spPr>
        </p:pic>
        <p:pic>
          <p:nvPicPr>
            <p:cNvPr id="34" name="object 34"/>
            <p:cNvPicPr/>
            <p:nvPr/>
          </p:nvPicPr>
          <p:blipFill>
            <a:blip r:embed="rId12" cstate="print"/>
            <a:stretch>
              <a:fillRect/>
            </a:stretch>
          </p:blipFill>
          <p:spPr>
            <a:xfrm>
              <a:off x="3487403" y="3357052"/>
              <a:ext cx="109866" cy="105401"/>
            </a:xfrm>
            <a:prstGeom prst="rect">
              <a:avLst/>
            </a:prstGeom>
          </p:spPr>
        </p:pic>
        <p:pic>
          <p:nvPicPr>
            <p:cNvPr id="35" name="object 35"/>
            <p:cNvPicPr/>
            <p:nvPr/>
          </p:nvPicPr>
          <p:blipFill>
            <a:blip r:embed="rId13" cstate="print"/>
            <a:stretch>
              <a:fillRect/>
            </a:stretch>
          </p:blipFill>
          <p:spPr>
            <a:xfrm>
              <a:off x="597783" y="2940257"/>
              <a:ext cx="144013" cy="143705"/>
            </a:xfrm>
            <a:prstGeom prst="rect">
              <a:avLst/>
            </a:prstGeom>
          </p:spPr>
        </p:pic>
        <p:pic>
          <p:nvPicPr>
            <p:cNvPr id="36" name="object 36"/>
            <p:cNvPicPr/>
            <p:nvPr/>
          </p:nvPicPr>
          <p:blipFill>
            <a:blip r:embed="rId14" cstate="print"/>
            <a:stretch>
              <a:fillRect/>
            </a:stretch>
          </p:blipFill>
          <p:spPr>
            <a:xfrm>
              <a:off x="770210" y="2943449"/>
              <a:ext cx="121282" cy="137321"/>
            </a:xfrm>
            <a:prstGeom prst="rect">
              <a:avLst/>
            </a:prstGeom>
          </p:spPr>
        </p:pic>
        <p:pic>
          <p:nvPicPr>
            <p:cNvPr id="37" name="object 37"/>
            <p:cNvPicPr/>
            <p:nvPr/>
          </p:nvPicPr>
          <p:blipFill>
            <a:blip r:embed="rId15" cstate="print"/>
            <a:stretch>
              <a:fillRect/>
            </a:stretch>
          </p:blipFill>
          <p:spPr>
            <a:xfrm>
              <a:off x="921801" y="2943449"/>
              <a:ext cx="126940" cy="140513"/>
            </a:xfrm>
            <a:prstGeom prst="rect">
              <a:avLst/>
            </a:prstGeom>
          </p:spPr>
        </p:pic>
        <p:pic>
          <p:nvPicPr>
            <p:cNvPr id="38" name="object 38"/>
            <p:cNvPicPr/>
            <p:nvPr/>
          </p:nvPicPr>
          <p:blipFill>
            <a:blip r:embed="rId16" cstate="print"/>
            <a:stretch>
              <a:fillRect/>
            </a:stretch>
          </p:blipFill>
          <p:spPr>
            <a:xfrm>
              <a:off x="5160408" y="1613200"/>
              <a:ext cx="470027" cy="138960"/>
            </a:xfrm>
            <a:prstGeom prst="rect">
              <a:avLst/>
            </a:prstGeom>
          </p:spPr>
        </p:pic>
        <p:pic>
          <p:nvPicPr>
            <p:cNvPr id="39" name="object 39"/>
            <p:cNvPicPr/>
            <p:nvPr/>
          </p:nvPicPr>
          <p:blipFill>
            <a:blip r:embed="rId17" cstate="print"/>
            <a:stretch>
              <a:fillRect/>
            </a:stretch>
          </p:blipFill>
          <p:spPr>
            <a:xfrm>
              <a:off x="5730957" y="1632353"/>
              <a:ext cx="132597" cy="111721"/>
            </a:xfrm>
            <a:prstGeom prst="rect">
              <a:avLst/>
            </a:prstGeom>
          </p:spPr>
        </p:pic>
        <p:sp>
          <p:nvSpPr>
            <p:cNvPr id="40" name="object 40"/>
            <p:cNvSpPr/>
            <p:nvPr/>
          </p:nvSpPr>
          <p:spPr>
            <a:xfrm>
              <a:off x="5971400" y="1613204"/>
              <a:ext cx="70485" cy="137795"/>
            </a:xfrm>
            <a:custGeom>
              <a:avLst/>
              <a:gdLst/>
              <a:ahLst/>
              <a:cxnLst/>
              <a:rect l="l" t="t" r="r" b="b"/>
              <a:pathLst>
                <a:path w="70485" h="137794">
                  <a:moveTo>
                    <a:pt x="18935" y="0"/>
                  </a:moveTo>
                  <a:lnTo>
                    <a:pt x="0" y="0"/>
                  </a:lnTo>
                  <a:lnTo>
                    <a:pt x="0" y="137261"/>
                  </a:lnTo>
                  <a:lnTo>
                    <a:pt x="18935" y="137261"/>
                  </a:lnTo>
                  <a:lnTo>
                    <a:pt x="18935" y="0"/>
                  </a:lnTo>
                  <a:close/>
                </a:path>
                <a:path w="70485" h="137794">
                  <a:moveTo>
                    <a:pt x="70205" y="36601"/>
                  </a:moveTo>
                  <a:lnTo>
                    <a:pt x="51269" y="36601"/>
                  </a:lnTo>
                  <a:lnTo>
                    <a:pt x="51269" y="137261"/>
                  </a:lnTo>
                  <a:lnTo>
                    <a:pt x="70205" y="137261"/>
                  </a:lnTo>
                  <a:lnTo>
                    <a:pt x="70205" y="36601"/>
                  </a:lnTo>
                  <a:close/>
                </a:path>
                <a:path w="70485" h="137794">
                  <a:moveTo>
                    <a:pt x="70205" y="0"/>
                  </a:moveTo>
                  <a:lnTo>
                    <a:pt x="51269" y="0"/>
                  </a:lnTo>
                  <a:lnTo>
                    <a:pt x="51269" y="19151"/>
                  </a:lnTo>
                  <a:lnTo>
                    <a:pt x="70205" y="19151"/>
                  </a:lnTo>
                  <a:lnTo>
                    <a:pt x="70205" y="0"/>
                  </a:lnTo>
                  <a:close/>
                </a:path>
              </a:pathLst>
            </a:custGeom>
            <a:solidFill>
              <a:srgbClr val="000000"/>
            </a:solidFill>
          </p:spPr>
          <p:txBody>
            <a:bodyPr wrap="square" lIns="0" tIns="0" rIns="0" bIns="0" rtlCol="0"/>
            <a:lstStyle/>
            <a:p>
              <a:endParaRPr/>
            </a:p>
          </p:txBody>
        </p:sp>
        <p:pic>
          <p:nvPicPr>
            <p:cNvPr id="41" name="object 41"/>
            <p:cNvPicPr/>
            <p:nvPr/>
          </p:nvPicPr>
          <p:blipFill>
            <a:blip r:embed="rId18" cstate="print"/>
            <a:stretch>
              <a:fillRect/>
            </a:stretch>
          </p:blipFill>
          <p:spPr>
            <a:xfrm>
              <a:off x="6071922" y="1648313"/>
              <a:ext cx="159117" cy="102145"/>
            </a:xfrm>
            <a:prstGeom prst="rect">
              <a:avLst/>
            </a:prstGeom>
          </p:spPr>
        </p:pic>
        <p:pic>
          <p:nvPicPr>
            <p:cNvPr id="42" name="object 42"/>
            <p:cNvPicPr/>
            <p:nvPr/>
          </p:nvPicPr>
          <p:blipFill>
            <a:blip r:embed="rId19" cstate="print"/>
            <a:stretch>
              <a:fillRect/>
            </a:stretch>
          </p:blipFill>
          <p:spPr>
            <a:xfrm>
              <a:off x="6261348" y="1613200"/>
              <a:ext cx="92944" cy="137257"/>
            </a:xfrm>
            <a:prstGeom prst="rect">
              <a:avLst/>
            </a:prstGeom>
          </p:spPr>
        </p:pic>
        <p:pic>
          <p:nvPicPr>
            <p:cNvPr id="43" name="object 43"/>
            <p:cNvPicPr/>
            <p:nvPr/>
          </p:nvPicPr>
          <p:blipFill>
            <a:blip r:embed="rId20" cstate="print"/>
            <a:stretch>
              <a:fillRect/>
            </a:stretch>
          </p:blipFill>
          <p:spPr>
            <a:xfrm>
              <a:off x="3189879" y="2959410"/>
              <a:ext cx="111887" cy="121361"/>
            </a:xfrm>
            <a:prstGeom prst="rect">
              <a:avLst/>
            </a:prstGeom>
          </p:spPr>
        </p:pic>
        <p:pic>
          <p:nvPicPr>
            <p:cNvPr id="44" name="object 44"/>
            <p:cNvPicPr/>
            <p:nvPr/>
          </p:nvPicPr>
          <p:blipFill>
            <a:blip r:embed="rId21" cstate="print"/>
            <a:stretch>
              <a:fillRect/>
            </a:stretch>
          </p:blipFill>
          <p:spPr>
            <a:xfrm>
              <a:off x="5704437" y="2986563"/>
              <a:ext cx="109866" cy="92611"/>
            </a:xfrm>
            <a:prstGeom prst="rect">
              <a:avLst/>
            </a:prstGeom>
          </p:spPr>
        </p:pic>
        <p:sp>
          <p:nvSpPr>
            <p:cNvPr id="45" name="object 45"/>
            <p:cNvSpPr/>
            <p:nvPr/>
          </p:nvSpPr>
          <p:spPr>
            <a:xfrm>
              <a:off x="2450909" y="2659189"/>
              <a:ext cx="5216525" cy="1478915"/>
            </a:xfrm>
            <a:custGeom>
              <a:avLst/>
              <a:gdLst/>
              <a:ahLst/>
              <a:cxnLst/>
              <a:rect l="l" t="t" r="r" b="b"/>
              <a:pathLst>
                <a:path w="5216525" h="1478914">
                  <a:moveTo>
                    <a:pt x="117500" y="364109"/>
                  </a:moveTo>
                  <a:lnTo>
                    <a:pt x="0" y="322592"/>
                  </a:lnTo>
                  <a:lnTo>
                    <a:pt x="20840" y="364109"/>
                  </a:lnTo>
                  <a:lnTo>
                    <a:pt x="0" y="405625"/>
                  </a:lnTo>
                  <a:lnTo>
                    <a:pt x="117500" y="364109"/>
                  </a:lnTo>
                  <a:close/>
                </a:path>
                <a:path w="5216525" h="1478914">
                  <a:moveTo>
                    <a:pt x="845045" y="1381366"/>
                  </a:moveTo>
                  <a:lnTo>
                    <a:pt x="795794" y="1398930"/>
                  </a:lnTo>
                  <a:lnTo>
                    <a:pt x="746544" y="1381366"/>
                  </a:lnTo>
                  <a:lnTo>
                    <a:pt x="795794" y="1478788"/>
                  </a:lnTo>
                  <a:lnTo>
                    <a:pt x="845045" y="1381366"/>
                  </a:lnTo>
                  <a:close/>
                </a:path>
                <a:path w="5216525" h="1478914">
                  <a:moveTo>
                    <a:pt x="845045" y="0"/>
                  </a:moveTo>
                  <a:lnTo>
                    <a:pt x="795794" y="17564"/>
                  </a:lnTo>
                  <a:lnTo>
                    <a:pt x="746544" y="0"/>
                  </a:lnTo>
                  <a:lnTo>
                    <a:pt x="795794" y="98996"/>
                  </a:lnTo>
                  <a:lnTo>
                    <a:pt x="845045" y="0"/>
                  </a:lnTo>
                  <a:close/>
                </a:path>
                <a:path w="5216525" h="1478914">
                  <a:moveTo>
                    <a:pt x="2629928" y="364109"/>
                  </a:moveTo>
                  <a:lnTo>
                    <a:pt x="2514511" y="322592"/>
                  </a:lnTo>
                  <a:lnTo>
                    <a:pt x="2535224" y="364109"/>
                  </a:lnTo>
                  <a:lnTo>
                    <a:pt x="2514511" y="405625"/>
                  </a:lnTo>
                  <a:lnTo>
                    <a:pt x="2629928" y="364109"/>
                  </a:lnTo>
                  <a:close/>
                </a:path>
                <a:path w="5216525" h="1478914">
                  <a:moveTo>
                    <a:pt x="3357575" y="1381366"/>
                  </a:moveTo>
                  <a:lnTo>
                    <a:pt x="3308324" y="1398930"/>
                  </a:lnTo>
                  <a:lnTo>
                    <a:pt x="3261093" y="1381366"/>
                  </a:lnTo>
                  <a:lnTo>
                    <a:pt x="3308324" y="1478788"/>
                  </a:lnTo>
                  <a:lnTo>
                    <a:pt x="3357575" y="1381366"/>
                  </a:lnTo>
                  <a:close/>
                </a:path>
                <a:path w="5216525" h="1478914">
                  <a:moveTo>
                    <a:pt x="3357575" y="0"/>
                  </a:moveTo>
                  <a:lnTo>
                    <a:pt x="3308324" y="17564"/>
                  </a:lnTo>
                  <a:lnTo>
                    <a:pt x="3261093" y="0"/>
                  </a:lnTo>
                  <a:lnTo>
                    <a:pt x="3308324" y="98996"/>
                  </a:lnTo>
                  <a:lnTo>
                    <a:pt x="3357575" y="0"/>
                  </a:lnTo>
                  <a:close/>
                </a:path>
                <a:path w="5216525" h="1478914">
                  <a:moveTo>
                    <a:pt x="5216474" y="364109"/>
                  </a:moveTo>
                  <a:lnTo>
                    <a:pt x="5100802" y="322592"/>
                  </a:lnTo>
                  <a:lnTo>
                    <a:pt x="5121757" y="364109"/>
                  </a:lnTo>
                  <a:lnTo>
                    <a:pt x="5100802" y="405625"/>
                  </a:lnTo>
                  <a:lnTo>
                    <a:pt x="5216474" y="364109"/>
                  </a:lnTo>
                  <a:close/>
                </a:path>
              </a:pathLst>
            </a:custGeom>
            <a:solidFill>
              <a:srgbClr val="000000"/>
            </a:solidFill>
          </p:spPr>
          <p:txBody>
            <a:bodyPr wrap="square" lIns="0" tIns="0" rIns="0" bIns="0" rtlCol="0"/>
            <a:lstStyle/>
            <a:p>
              <a:endParaRPr/>
            </a:p>
          </p:txBody>
        </p:sp>
      </p:grpSp>
      <p:pic>
        <p:nvPicPr>
          <p:cNvPr id="46" name="object 46"/>
          <p:cNvPicPr/>
          <p:nvPr/>
        </p:nvPicPr>
        <p:blipFill>
          <a:blip r:embed="rId22" cstate="print"/>
          <a:stretch>
            <a:fillRect/>
          </a:stretch>
        </p:blipFill>
        <p:spPr>
          <a:xfrm>
            <a:off x="7774051" y="5849937"/>
            <a:ext cx="1284224" cy="792162"/>
          </a:xfrm>
          <a:prstGeom prst="rect">
            <a:avLst/>
          </a:prstGeom>
        </p:spPr>
      </p:pic>
      <p:sp>
        <p:nvSpPr>
          <p:cNvPr id="47" name="object 47"/>
          <p:cNvSpPr txBox="1">
            <a:spLocks noGrp="1"/>
          </p:cNvSpPr>
          <p:nvPr>
            <p:ph type="title"/>
          </p:nvPr>
        </p:nvSpPr>
        <p:spPr>
          <a:prstGeom prst="rect">
            <a:avLst/>
          </a:prstGeom>
        </p:spPr>
        <p:txBody>
          <a:bodyPr vert="horz" wrap="square" lIns="0" tIns="123571" rIns="0" bIns="0" rtlCol="0">
            <a:spAutoFit/>
          </a:bodyPr>
          <a:lstStyle/>
          <a:p>
            <a:pPr marL="1901825">
              <a:lnSpc>
                <a:spcPct val="100000"/>
              </a:lnSpc>
              <a:spcBef>
                <a:spcPts val="100"/>
              </a:spcBef>
            </a:pPr>
            <a:r>
              <a:rPr dirty="0">
                <a:solidFill>
                  <a:srgbClr val="006699"/>
                </a:solidFill>
              </a:rPr>
              <a:t>Hardware</a:t>
            </a:r>
            <a:r>
              <a:rPr spc="-40" dirty="0">
                <a:solidFill>
                  <a:srgbClr val="006699"/>
                </a:solidFill>
              </a:rPr>
              <a:t> </a:t>
            </a:r>
            <a:r>
              <a:rPr dirty="0">
                <a:solidFill>
                  <a:srgbClr val="006699"/>
                </a:solidFill>
              </a:rPr>
              <a:t>Address</a:t>
            </a:r>
            <a:r>
              <a:rPr spc="-40" dirty="0">
                <a:solidFill>
                  <a:srgbClr val="006699"/>
                </a:solidFill>
              </a:rPr>
              <a:t> </a:t>
            </a:r>
            <a:r>
              <a:rPr spc="-10" dirty="0">
                <a:solidFill>
                  <a:srgbClr val="006699"/>
                </a:solidFill>
              </a:rPr>
              <a:t>Protection</a:t>
            </a:r>
          </a:p>
        </p:txBody>
      </p:sp>
      <p:grpSp>
        <p:nvGrpSpPr>
          <p:cNvPr id="48" name="object 48"/>
          <p:cNvGrpSpPr/>
          <p:nvPr/>
        </p:nvGrpSpPr>
        <p:grpSpPr>
          <a:xfrm>
            <a:off x="7949759" y="4494089"/>
            <a:ext cx="808990" cy="144145"/>
            <a:chOff x="7949759" y="4494089"/>
            <a:chExt cx="808990" cy="144145"/>
          </a:xfrm>
        </p:grpSpPr>
        <p:pic>
          <p:nvPicPr>
            <p:cNvPr id="49" name="object 49"/>
            <p:cNvPicPr/>
            <p:nvPr/>
          </p:nvPicPr>
          <p:blipFill>
            <a:blip r:embed="rId23" cstate="print"/>
            <a:stretch>
              <a:fillRect/>
            </a:stretch>
          </p:blipFill>
          <p:spPr>
            <a:xfrm>
              <a:off x="7949759" y="4494089"/>
              <a:ext cx="157096" cy="102204"/>
            </a:xfrm>
            <a:prstGeom prst="rect">
              <a:avLst/>
            </a:prstGeom>
          </p:spPr>
        </p:pic>
        <p:pic>
          <p:nvPicPr>
            <p:cNvPr id="50" name="object 50"/>
            <p:cNvPicPr/>
            <p:nvPr/>
          </p:nvPicPr>
          <p:blipFill>
            <a:blip r:embed="rId24" cstate="print"/>
            <a:stretch>
              <a:fillRect/>
            </a:stretch>
          </p:blipFill>
          <p:spPr>
            <a:xfrm>
              <a:off x="8133376" y="4494089"/>
              <a:ext cx="106330" cy="105398"/>
            </a:xfrm>
            <a:prstGeom prst="rect">
              <a:avLst/>
            </a:prstGeom>
          </p:spPr>
        </p:pic>
        <p:pic>
          <p:nvPicPr>
            <p:cNvPr id="51" name="object 51"/>
            <p:cNvPicPr/>
            <p:nvPr/>
          </p:nvPicPr>
          <p:blipFill>
            <a:blip r:embed="rId25" cstate="print"/>
            <a:stretch>
              <a:fillRect/>
            </a:stretch>
          </p:blipFill>
          <p:spPr>
            <a:xfrm>
              <a:off x="8264205" y="4494089"/>
              <a:ext cx="159117" cy="102204"/>
            </a:xfrm>
            <a:prstGeom prst="rect">
              <a:avLst/>
            </a:prstGeom>
          </p:spPr>
        </p:pic>
        <p:pic>
          <p:nvPicPr>
            <p:cNvPr id="52" name="object 52"/>
            <p:cNvPicPr/>
            <p:nvPr/>
          </p:nvPicPr>
          <p:blipFill>
            <a:blip r:embed="rId26" cstate="print"/>
            <a:stretch>
              <a:fillRect/>
            </a:stretch>
          </p:blipFill>
          <p:spPr>
            <a:xfrm>
              <a:off x="8448074" y="4494089"/>
              <a:ext cx="109866" cy="105398"/>
            </a:xfrm>
            <a:prstGeom prst="rect">
              <a:avLst/>
            </a:prstGeom>
          </p:spPr>
        </p:pic>
        <p:pic>
          <p:nvPicPr>
            <p:cNvPr id="53" name="object 53"/>
            <p:cNvPicPr/>
            <p:nvPr/>
          </p:nvPicPr>
          <p:blipFill>
            <a:blip r:embed="rId27" cstate="print"/>
            <a:stretch>
              <a:fillRect/>
            </a:stretch>
          </p:blipFill>
          <p:spPr>
            <a:xfrm>
              <a:off x="8582692" y="4494089"/>
              <a:ext cx="176039" cy="143726"/>
            </a:xfrm>
            <a:prstGeom prst="rect">
              <a:avLst/>
            </a:prstGeom>
          </p:spPr>
        </p:pic>
      </p:grpSp>
      <p:grpSp>
        <p:nvGrpSpPr>
          <p:cNvPr id="54" name="object 54"/>
          <p:cNvGrpSpPr/>
          <p:nvPr/>
        </p:nvGrpSpPr>
        <p:grpSpPr>
          <a:xfrm>
            <a:off x="3197456" y="4313641"/>
            <a:ext cx="2626360" cy="391795"/>
            <a:chOff x="3197456" y="4313641"/>
            <a:chExt cx="2626360" cy="391795"/>
          </a:xfrm>
        </p:grpSpPr>
        <p:pic>
          <p:nvPicPr>
            <p:cNvPr id="55" name="object 55"/>
            <p:cNvPicPr/>
            <p:nvPr/>
          </p:nvPicPr>
          <p:blipFill>
            <a:blip r:embed="rId28" cstate="print"/>
            <a:stretch>
              <a:fillRect/>
            </a:stretch>
          </p:blipFill>
          <p:spPr>
            <a:xfrm>
              <a:off x="3741233" y="4323217"/>
              <a:ext cx="178059" cy="129341"/>
            </a:xfrm>
            <a:prstGeom prst="rect">
              <a:avLst/>
            </a:prstGeom>
          </p:spPr>
        </p:pic>
        <p:sp>
          <p:nvSpPr>
            <p:cNvPr id="56" name="object 56"/>
            <p:cNvSpPr/>
            <p:nvPr/>
          </p:nvSpPr>
          <p:spPr>
            <a:xfrm>
              <a:off x="4648949" y="4313643"/>
              <a:ext cx="20955" cy="135890"/>
            </a:xfrm>
            <a:custGeom>
              <a:avLst/>
              <a:gdLst/>
              <a:ahLst/>
              <a:cxnLst/>
              <a:rect l="l" t="t" r="r" b="b"/>
              <a:pathLst>
                <a:path w="20954" h="135889">
                  <a:moveTo>
                    <a:pt x="20713" y="36728"/>
                  </a:moveTo>
                  <a:lnTo>
                    <a:pt x="0" y="36728"/>
                  </a:lnTo>
                  <a:lnTo>
                    <a:pt x="0" y="135724"/>
                  </a:lnTo>
                  <a:lnTo>
                    <a:pt x="20713" y="135724"/>
                  </a:lnTo>
                  <a:lnTo>
                    <a:pt x="20713" y="36728"/>
                  </a:lnTo>
                  <a:close/>
                </a:path>
                <a:path w="20954" h="135889">
                  <a:moveTo>
                    <a:pt x="20713" y="0"/>
                  </a:moveTo>
                  <a:lnTo>
                    <a:pt x="0" y="0"/>
                  </a:lnTo>
                  <a:lnTo>
                    <a:pt x="0" y="19151"/>
                  </a:lnTo>
                  <a:lnTo>
                    <a:pt x="20713" y="19151"/>
                  </a:lnTo>
                  <a:lnTo>
                    <a:pt x="20713" y="0"/>
                  </a:lnTo>
                  <a:close/>
                </a:path>
              </a:pathLst>
            </a:custGeom>
            <a:solidFill>
              <a:srgbClr val="000000"/>
            </a:solidFill>
          </p:spPr>
          <p:txBody>
            <a:bodyPr wrap="square" lIns="0" tIns="0" rIns="0" bIns="0" rtlCol="0"/>
            <a:lstStyle/>
            <a:p>
              <a:endParaRPr/>
            </a:p>
          </p:txBody>
        </p:sp>
        <p:pic>
          <p:nvPicPr>
            <p:cNvPr id="57" name="object 57"/>
            <p:cNvPicPr/>
            <p:nvPr/>
          </p:nvPicPr>
          <p:blipFill>
            <a:blip r:embed="rId29" cstate="print"/>
            <a:stretch>
              <a:fillRect/>
            </a:stretch>
          </p:blipFill>
          <p:spPr>
            <a:xfrm>
              <a:off x="4699978" y="4347179"/>
              <a:ext cx="94965" cy="102187"/>
            </a:xfrm>
            <a:prstGeom prst="rect">
              <a:avLst/>
            </a:prstGeom>
          </p:spPr>
        </p:pic>
        <p:pic>
          <p:nvPicPr>
            <p:cNvPr id="58" name="object 58"/>
            <p:cNvPicPr/>
            <p:nvPr/>
          </p:nvPicPr>
          <p:blipFill>
            <a:blip r:embed="rId30" cstate="print"/>
            <a:stretch>
              <a:fillRect/>
            </a:stretch>
          </p:blipFill>
          <p:spPr>
            <a:xfrm>
              <a:off x="4819442" y="4347179"/>
              <a:ext cx="104310" cy="143705"/>
            </a:xfrm>
            <a:prstGeom prst="rect">
              <a:avLst/>
            </a:prstGeom>
          </p:spPr>
        </p:pic>
        <p:sp>
          <p:nvSpPr>
            <p:cNvPr id="59" name="object 59"/>
            <p:cNvSpPr/>
            <p:nvPr/>
          </p:nvSpPr>
          <p:spPr>
            <a:xfrm>
              <a:off x="5007089" y="4323219"/>
              <a:ext cx="392430" cy="168275"/>
            </a:xfrm>
            <a:custGeom>
              <a:avLst/>
              <a:gdLst/>
              <a:ahLst/>
              <a:cxnLst/>
              <a:rect l="l" t="t" r="r" b="b"/>
              <a:pathLst>
                <a:path w="392429" h="168275">
                  <a:moveTo>
                    <a:pt x="98501" y="95808"/>
                  </a:moveTo>
                  <a:lnTo>
                    <a:pt x="64414" y="70269"/>
                  </a:lnTo>
                  <a:lnTo>
                    <a:pt x="30314" y="62293"/>
                  </a:lnTo>
                  <a:lnTo>
                    <a:pt x="24498" y="60693"/>
                  </a:lnTo>
                  <a:lnTo>
                    <a:pt x="24498" y="52692"/>
                  </a:lnTo>
                  <a:lnTo>
                    <a:pt x="27279" y="45059"/>
                  </a:lnTo>
                  <a:lnTo>
                    <a:pt x="33782" y="40728"/>
                  </a:lnTo>
                  <a:lnTo>
                    <a:pt x="41338" y="38773"/>
                  </a:lnTo>
                  <a:lnTo>
                    <a:pt x="47231" y="38328"/>
                  </a:lnTo>
                  <a:lnTo>
                    <a:pt x="62141" y="40170"/>
                  </a:lnTo>
                  <a:lnTo>
                    <a:pt x="70789" y="44716"/>
                  </a:lnTo>
                  <a:lnTo>
                    <a:pt x="74790" y="50444"/>
                  </a:lnTo>
                  <a:lnTo>
                    <a:pt x="75768" y="55892"/>
                  </a:lnTo>
                  <a:lnTo>
                    <a:pt x="94716" y="55892"/>
                  </a:lnTo>
                  <a:lnTo>
                    <a:pt x="93472" y="48882"/>
                  </a:lnTo>
                  <a:lnTo>
                    <a:pt x="87617" y="38125"/>
                  </a:lnTo>
                  <a:lnTo>
                    <a:pt x="73939" y="28282"/>
                  </a:lnTo>
                  <a:lnTo>
                    <a:pt x="49250" y="23964"/>
                  </a:lnTo>
                  <a:lnTo>
                    <a:pt x="32562" y="25806"/>
                  </a:lnTo>
                  <a:lnTo>
                    <a:pt x="17995" y="31546"/>
                  </a:lnTo>
                  <a:lnTo>
                    <a:pt x="7696" y="41478"/>
                  </a:lnTo>
                  <a:lnTo>
                    <a:pt x="3797" y="55892"/>
                  </a:lnTo>
                  <a:lnTo>
                    <a:pt x="5829" y="65252"/>
                  </a:lnTo>
                  <a:lnTo>
                    <a:pt x="11595" y="72059"/>
                  </a:lnTo>
                  <a:lnTo>
                    <a:pt x="20523" y="76784"/>
                  </a:lnTo>
                  <a:lnTo>
                    <a:pt x="32080" y="79844"/>
                  </a:lnTo>
                  <a:lnTo>
                    <a:pt x="54813" y="84632"/>
                  </a:lnTo>
                  <a:lnTo>
                    <a:pt x="65608" y="87109"/>
                  </a:lnTo>
                  <a:lnTo>
                    <a:pt x="72618" y="90030"/>
                  </a:lnTo>
                  <a:lnTo>
                    <a:pt x="76403" y="93853"/>
                  </a:lnTo>
                  <a:lnTo>
                    <a:pt x="77546" y="99021"/>
                  </a:lnTo>
                  <a:lnTo>
                    <a:pt x="75526" y="106222"/>
                  </a:lnTo>
                  <a:lnTo>
                    <a:pt x="69964" y="111188"/>
                  </a:lnTo>
                  <a:lnTo>
                    <a:pt x="61556" y="114058"/>
                  </a:lnTo>
                  <a:lnTo>
                    <a:pt x="51028" y="114985"/>
                  </a:lnTo>
                  <a:lnTo>
                    <a:pt x="34353" y="112864"/>
                  </a:lnTo>
                  <a:lnTo>
                    <a:pt x="25260" y="107594"/>
                  </a:lnTo>
                  <a:lnTo>
                    <a:pt x="21475" y="100838"/>
                  </a:lnTo>
                  <a:lnTo>
                    <a:pt x="20713" y="94208"/>
                  </a:lnTo>
                  <a:lnTo>
                    <a:pt x="0" y="94208"/>
                  </a:lnTo>
                  <a:lnTo>
                    <a:pt x="2324" y="105092"/>
                  </a:lnTo>
                  <a:lnTo>
                    <a:pt x="9131" y="116573"/>
                  </a:lnTo>
                  <a:lnTo>
                    <a:pt x="24117" y="125653"/>
                  </a:lnTo>
                  <a:lnTo>
                    <a:pt x="51028" y="129349"/>
                  </a:lnTo>
                  <a:lnTo>
                    <a:pt x="69634" y="127025"/>
                  </a:lnTo>
                  <a:lnTo>
                    <a:pt x="84709" y="120370"/>
                  </a:lnTo>
                  <a:lnTo>
                    <a:pt x="94818" y="109816"/>
                  </a:lnTo>
                  <a:lnTo>
                    <a:pt x="98501" y="95808"/>
                  </a:lnTo>
                  <a:close/>
                </a:path>
                <a:path w="392429" h="168275">
                  <a:moveTo>
                    <a:pt x="217970" y="27152"/>
                  </a:moveTo>
                  <a:lnTo>
                    <a:pt x="195237" y="27152"/>
                  </a:lnTo>
                  <a:lnTo>
                    <a:pt x="164680" y="108597"/>
                  </a:lnTo>
                  <a:lnTo>
                    <a:pt x="162915" y="108597"/>
                  </a:lnTo>
                  <a:lnTo>
                    <a:pt x="132600" y="27152"/>
                  </a:lnTo>
                  <a:lnTo>
                    <a:pt x="109867" y="27152"/>
                  </a:lnTo>
                  <a:lnTo>
                    <a:pt x="153314" y="129349"/>
                  </a:lnTo>
                  <a:lnTo>
                    <a:pt x="147447" y="141605"/>
                  </a:lnTo>
                  <a:lnTo>
                    <a:pt x="142951" y="148323"/>
                  </a:lnTo>
                  <a:lnTo>
                    <a:pt x="138468" y="151142"/>
                  </a:lnTo>
                  <a:lnTo>
                    <a:pt x="132600" y="151714"/>
                  </a:lnTo>
                  <a:lnTo>
                    <a:pt x="122999" y="151714"/>
                  </a:lnTo>
                  <a:lnTo>
                    <a:pt x="121234" y="150114"/>
                  </a:lnTo>
                  <a:lnTo>
                    <a:pt x="121234" y="166077"/>
                  </a:lnTo>
                  <a:lnTo>
                    <a:pt x="122999" y="166077"/>
                  </a:lnTo>
                  <a:lnTo>
                    <a:pt x="125018" y="167665"/>
                  </a:lnTo>
                  <a:lnTo>
                    <a:pt x="128816" y="167665"/>
                  </a:lnTo>
                  <a:lnTo>
                    <a:pt x="163372" y="148132"/>
                  </a:lnTo>
                  <a:lnTo>
                    <a:pt x="196786" y="75844"/>
                  </a:lnTo>
                  <a:lnTo>
                    <a:pt x="207632" y="51346"/>
                  </a:lnTo>
                  <a:lnTo>
                    <a:pt x="217970" y="27152"/>
                  </a:lnTo>
                  <a:close/>
                </a:path>
                <a:path w="392429" h="168275">
                  <a:moveTo>
                    <a:pt x="325818" y="95808"/>
                  </a:moveTo>
                  <a:lnTo>
                    <a:pt x="291719" y="70269"/>
                  </a:lnTo>
                  <a:lnTo>
                    <a:pt x="257619" y="62293"/>
                  </a:lnTo>
                  <a:lnTo>
                    <a:pt x="252069" y="60693"/>
                  </a:lnTo>
                  <a:lnTo>
                    <a:pt x="252069" y="52692"/>
                  </a:lnTo>
                  <a:lnTo>
                    <a:pt x="254800" y="45059"/>
                  </a:lnTo>
                  <a:lnTo>
                    <a:pt x="261251" y="40728"/>
                  </a:lnTo>
                  <a:lnTo>
                    <a:pt x="268795" y="38773"/>
                  </a:lnTo>
                  <a:lnTo>
                    <a:pt x="274802" y="38328"/>
                  </a:lnTo>
                  <a:lnTo>
                    <a:pt x="289547" y="40170"/>
                  </a:lnTo>
                  <a:lnTo>
                    <a:pt x="298132" y="44716"/>
                  </a:lnTo>
                  <a:lnTo>
                    <a:pt x="302107" y="50444"/>
                  </a:lnTo>
                  <a:lnTo>
                    <a:pt x="303085" y="55892"/>
                  </a:lnTo>
                  <a:lnTo>
                    <a:pt x="322021" y="55892"/>
                  </a:lnTo>
                  <a:lnTo>
                    <a:pt x="320789" y="48882"/>
                  </a:lnTo>
                  <a:lnTo>
                    <a:pt x="314921" y="38125"/>
                  </a:lnTo>
                  <a:lnTo>
                    <a:pt x="301244" y="28282"/>
                  </a:lnTo>
                  <a:lnTo>
                    <a:pt x="276567" y="23964"/>
                  </a:lnTo>
                  <a:lnTo>
                    <a:pt x="259867" y="25806"/>
                  </a:lnTo>
                  <a:lnTo>
                    <a:pt x="245313" y="31546"/>
                  </a:lnTo>
                  <a:lnTo>
                    <a:pt x="235013" y="41478"/>
                  </a:lnTo>
                  <a:lnTo>
                    <a:pt x="231101" y="55892"/>
                  </a:lnTo>
                  <a:lnTo>
                    <a:pt x="233146" y="65252"/>
                  </a:lnTo>
                  <a:lnTo>
                    <a:pt x="238937" y="72059"/>
                  </a:lnTo>
                  <a:lnTo>
                    <a:pt x="247942" y="76784"/>
                  </a:lnTo>
                  <a:lnTo>
                    <a:pt x="259638" y="79844"/>
                  </a:lnTo>
                  <a:lnTo>
                    <a:pt x="282371" y="84632"/>
                  </a:lnTo>
                  <a:lnTo>
                    <a:pt x="293065" y="87109"/>
                  </a:lnTo>
                  <a:lnTo>
                    <a:pt x="300088" y="90030"/>
                  </a:lnTo>
                  <a:lnTo>
                    <a:pt x="303936" y="93853"/>
                  </a:lnTo>
                  <a:lnTo>
                    <a:pt x="305104" y="99021"/>
                  </a:lnTo>
                  <a:lnTo>
                    <a:pt x="303098" y="106222"/>
                  </a:lnTo>
                  <a:lnTo>
                    <a:pt x="297522" y="111188"/>
                  </a:lnTo>
                  <a:lnTo>
                    <a:pt x="289128" y="114058"/>
                  </a:lnTo>
                  <a:lnTo>
                    <a:pt x="278587" y="114985"/>
                  </a:lnTo>
                  <a:lnTo>
                    <a:pt x="261810" y="112864"/>
                  </a:lnTo>
                  <a:lnTo>
                    <a:pt x="252730" y="107594"/>
                  </a:lnTo>
                  <a:lnTo>
                    <a:pt x="248996" y="100838"/>
                  </a:lnTo>
                  <a:lnTo>
                    <a:pt x="248272" y="94208"/>
                  </a:lnTo>
                  <a:lnTo>
                    <a:pt x="227317" y="94208"/>
                  </a:lnTo>
                  <a:lnTo>
                    <a:pt x="229781" y="105092"/>
                  </a:lnTo>
                  <a:lnTo>
                    <a:pt x="236664" y="116573"/>
                  </a:lnTo>
                  <a:lnTo>
                    <a:pt x="251675" y="125653"/>
                  </a:lnTo>
                  <a:lnTo>
                    <a:pt x="278587" y="129349"/>
                  </a:lnTo>
                  <a:lnTo>
                    <a:pt x="297154" y="127025"/>
                  </a:lnTo>
                  <a:lnTo>
                    <a:pt x="312140" y="120370"/>
                  </a:lnTo>
                  <a:lnTo>
                    <a:pt x="322160" y="109816"/>
                  </a:lnTo>
                  <a:lnTo>
                    <a:pt x="325818" y="95808"/>
                  </a:lnTo>
                  <a:close/>
                </a:path>
                <a:path w="392429" h="168275">
                  <a:moveTo>
                    <a:pt x="392239" y="27152"/>
                  </a:moveTo>
                  <a:lnTo>
                    <a:pt x="373303" y="27152"/>
                  </a:lnTo>
                  <a:lnTo>
                    <a:pt x="373303" y="0"/>
                  </a:lnTo>
                  <a:lnTo>
                    <a:pt x="354355" y="0"/>
                  </a:lnTo>
                  <a:lnTo>
                    <a:pt x="354355" y="27152"/>
                  </a:lnTo>
                  <a:lnTo>
                    <a:pt x="337185" y="27152"/>
                  </a:lnTo>
                  <a:lnTo>
                    <a:pt x="337185" y="41516"/>
                  </a:lnTo>
                  <a:lnTo>
                    <a:pt x="354355" y="41516"/>
                  </a:lnTo>
                  <a:lnTo>
                    <a:pt x="354355" y="106997"/>
                  </a:lnTo>
                  <a:lnTo>
                    <a:pt x="355244" y="114960"/>
                  </a:lnTo>
                  <a:lnTo>
                    <a:pt x="358622" y="121564"/>
                  </a:lnTo>
                  <a:lnTo>
                    <a:pt x="365544" y="126072"/>
                  </a:lnTo>
                  <a:lnTo>
                    <a:pt x="377088" y="127749"/>
                  </a:lnTo>
                  <a:lnTo>
                    <a:pt x="384670" y="127749"/>
                  </a:lnTo>
                  <a:lnTo>
                    <a:pt x="392239" y="126149"/>
                  </a:lnTo>
                  <a:lnTo>
                    <a:pt x="392239" y="113385"/>
                  </a:lnTo>
                  <a:lnTo>
                    <a:pt x="373303" y="113385"/>
                  </a:lnTo>
                  <a:lnTo>
                    <a:pt x="373303" y="41516"/>
                  </a:lnTo>
                  <a:lnTo>
                    <a:pt x="392239" y="41516"/>
                  </a:lnTo>
                  <a:lnTo>
                    <a:pt x="392239" y="27152"/>
                  </a:lnTo>
                  <a:close/>
                </a:path>
              </a:pathLst>
            </a:custGeom>
            <a:solidFill>
              <a:srgbClr val="000000"/>
            </a:solidFill>
          </p:spPr>
          <p:txBody>
            <a:bodyPr wrap="square" lIns="0" tIns="0" rIns="0" bIns="0" rtlCol="0"/>
            <a:lstStyle/>
            <a:p>
              <a:endParaRPr/>
            </a:p>
          </p:txBody>
        </p:sp>
        <p:pic>
          <p:nvPicPr>
            <p:cNvPr id="60" name="object 60"/>
            <p:cNvPicPr/>
            <p:nvPr/>
          </p:nvPicPr>
          <p:blipFill>
            <a:blip r:embed="rId31" cstate="print"/>
            <a:stretch>
              <a:fillRect/>
            </a:stretch>
          </p:blipFill>
          <p:spPr>
            <a:xfrm>
              <a:off x="3288380" y="4323217"/>
              <a:ext cx="1678813" cy="341745"/>
            </a:xfrm>
            <a:prstGeom prst="rect">
              <a:avLst/>
            </a:prstGeom>
          </p:spPr>
        </p:pic>
        <p:sp>
          <p:nvSpPr>
            <p:cNvPr id="61" name="object 61"/>
            <p:cNvSpPr/>
            <p:nvPr/>
          </p:nvSpPr>
          <p:spPr>
            <a:xfrm>
              <a:off x="5414490" y="4347179"/>
              <a:ext cx="106680" cy="105410"/>
            </a:xfrm>
            <a:custGeom>
              <a:avLst/>
              <a:gdLst/>
              <a:ahLst/>
              <a:cxnLst/>
              <a:rect l="l" t="t" r="r" b="b"/>
              <a:pathLst>
                <a:path w="106679" h="105410">
                  <a:moveTo>
                    <a:pt x="56827" y="0"/>
                  </a:moveTo>
                  <a:lnTo>
                    <a:pt x="13449" y="15962"/>
                  </a:lnTo>
                  <a:lnTo>
                    <a:pt x="0" y="55881"/>
                  </a:lnTo>
                  <a:lnTo>
                    <a:pt x="3492" y="75744"/>
                  </a:lnTo>
                  <a:lnTo>
                    <a:pt x="13733" y="91411"/>
                  </a:lnTo>
                  <a:lnTo>
                    <a:pt x="30367" y="101688"/>
                  </a:lnTo>
                  <a:lnTo>
                    <a:pt x="53039" y="105379"/>
                  </a:lnTo>
                  <a:lnTo>
                    <a:pt x="65233" y="104831"/>
                  </a:lnTo>
                  <a:lnTo>
                    <a:pt x="93327" y="91015"/>
                  </a:lnTo>
                  <a:lnTo>
                    <a:pt x="54807" y="91015"/>
                  </a:lnTo>
                  <a:lnTo>
                    <a:pt x="39889" y="88696"/>
                  </a:lnTo>
                  <a:lnTo>
                    <a:pt x="29234" y="82035"/>
                  </a:lnTo>
                  <a:lnTo>
                    <a:pt x="22841" y="71480"/>
                  </a:lnTo>
                  <a:lnTo>
                    <a:pt x="20710" y="57477"/>
                  </a:lnTo>
                  <a:lnTo>
                    <a:pt x="106078" y="57477"/>
                  </a:lnTo>
                  <a:lnTo>
                    <a:pt x="104522" y="44709"/>
                  </a:lnTo>
                  <a:lnTo>
                    <a:pt x="20710" y="44709"/>
                  </a:lnTo>
                  <a:lnTo>
                    <a:pt x="23299" y="33674"/>
                  </a:lnTo>
                  <a:lnTo>
                    <a:pt x="23346" y="33475"/>
                  </a:lnTo>
                  <a:lnTo>
                    <a:pt x="30434" y="24341"/>
                  </a:lnTo>
                  <a:lnTo>
                    <a:pt x="40742" y="18204"/>
                  </a:lnTo>
                  <a:lnTo>
                    <a:pt x="53024" y="15962"/>
                  </a:lnTo>
                  <a:lnTo>
                    <a:pt x="94436" y="15962"/>
                  </a:lnTo>
                  <a:lnTo>
                    <a:pt x="94239" y="15563"/>
                  </a:lnTo>
                  <a:lnTo>
                    <a:pt x="78907" y="4040"/>
                  </a:lnTo>
                  <a:lnTo>
                    <a:pt x="56827" y="0"/>
                  </a:lnTo>
                  <a:close/>
                </a:path>
                <a:path w="106679" h="105410">
                  <a:moveTo>
                    <a:pt x="106078" y="71842"/>
                  </a:moveTo>
                  <a:lnTo>
                    <a:pt x="85115" y="71842"/>
                  </a:lnTo>
                  <a:lnTo>
                    <a:pt x="83043" y="77540"/>
                  </a:lnTo>
                  <a:lnTo>
                    <a:pt x="77064" y="83830"/>
                  </a:lnTo>
                  <a:lnTo>
                    <a:pt x="67534" y="88920"/>
                  </a:lnTo>
                  <a:lnTo>
                    <a:pt x="54807" y="91015"/>
                  </a:lnTo>
                  <a:lnTo>
                    <a:pt x="93327" y="91015"/>
                  </a:lnTo>
                  <a:lnTo>
                    <a:pt x="99637" y="83631"/>
                  </a:lnTo>
                  <a:lnTo>
                    <a:pt x="103805" y="76767"/>
                  </a:lnTo>
                  <a:lnTo>
                    <a:pt x="106078" y="71842"/>
                  </a:lnTo>
                  <a:close/>
                </a:path>
                <a:path w="106679" h="105410">
                  <a:moveTo>
                    <a:pt x="94436" y="15962"/>
                  </a:moveTo>
                  <a:lnTo>
                    <a:pt x="53057" y="15962"/>
                  </a:lnTo>
                  <a:lnTo>
                    <a:pt x="68418" y="18204"/>
                  </a:lnTo>
                  <a:lnTo>
                    <a:pt x="78516" y="24341"/>
                  </a:lnTo>
                  <a:lnTo>
                    <a:pt x="84400" y="33475"/>
                  </a:lnTo>
                  <a:lnTo>
                    <a:pt x="87135" y="44709"/>
                  </a:lnTo>
                  <a:lnTo>
                    <a:pt x="104522" y="44709"/>
                  </a:lnTo>
                  <a:lnTo>
                    <a:pt x="103177" y="33674"/>
                  </a:lnTo>
                  <a:lnTo>
                    <a:pt x="94436" y="15962"/>
                  </a:lnTo>
                  <a:close/>
                </a:path>
              </a:pathLst>
            </a:custGeom>
            <a:solidFill>
              <a:srgbClr val="000000"/>
            </a:solidFill>
          </p:spPr>
          <p:txBody>
            <a:bodyPr wrap="square" lIns="0" tIns="0" rIns="0" bIns="0" rtlCol="0"/>
            <a:lstStyle/>
            <a:p>
              <a:endParaRPr/>
            </a:p>
          </p:txBody>
        </p:sp>
        <p:pic>
          <p:nvPicPr>
            <p:cNvPr id="62" name="object 62"/>
            <p:cNvPicPr/>
            <p:nvPr/>
          </p:nvPicPr>
          <p:blipFill>
            <a:blip r:embed="rId32" cstate="print"/>
            <a:stretch>
              <a:fillRect/>
            </a:stretch>
          </p:blipFill>
          <p:spPr>
            <a:xfrm>
              <a:off x="5545067" y="4347179"/>
              <a:ext cx="159369" cy="102187"/>
            </a:xfrm>
            <a:prstGeom prst="rect">
              <a:avLst/>
            </a:prstGeom>
          </p:spPr>
        </p:pic>
        <p:pic>
          <p:nvPicPr>
            <p:cNvPr id="63" name="object 63"/>
            <p:cNvPicPr/>
            <p:nvPr/>
          </p:nvPicPr>
          <p:blipFill>
            <a:blip r:embed="rId33" cstate="print"/>
            <a:stretch>
              <a:fillRect/>
            </a:stretch>
          </p:blipFill>
          <p:spPr>
            <a:xfrm>
              <a:off x="3197456" y="4559564"/>
              <a:ext cx="159117" cy="103802"/>
            </a:xfrm>
            <a:prstGeom prst="rect">
              <a:avLst/>
            </a:prstGeom>
          </p:spPr>
        </p:pic>
        <p:pic>
          <p:nvPicPr>
            <p:cNvPr id="64" name="object 64"/>
            <p:cNvPicPr/>
            <p:nvPr/>
          </p:nvPicPr>
          <p:blipFill>
            <a:blip r:embed="rId34" cstate="print"/>
            <a:stretch>
              <a:fillRect/>
            </a:stretch>
          </p:blipFill>
          <p:spPr>
            <a:xfrm>
              <a:off x="3379304" y="4559564"/>
              <a:ext cx="109866" cy="105398"/>
            </a:xfrm>
            <a:prstGeom prst="rect">
              <a:avLst/>
            </a:prstGeom>
          </p:spPr>
        </p:pic>
        <p:pic>
          <p:nvPicPr>
            <p:cNvPr id="65" name="object 65"/>
            <p:cNvPicPr/>
            <p:nvPr/>
          </p:nvPicPr>
          <p:blipFill>
            <a:blip r:embed="rId35" cstate="print"/>
            <a:stretch>
              <a:fillRect/>
            </a:stretch>
          </p:blipFill>
          <p:spPr>
            <a:xfrm>
              <a:off x="3513923" y="4559564"/>
              <a:ext cx="94712" cy="103802"/>
            </a:xfrm>
            <a:prstGeom prst="rect">
              <a:avLst/>
            </a:prstGeom>
          </p:spPr>
        </p:pic>
        <p:sp>
          <p:nvSpPr>
            <p:cNvPr id="66" name="object 66"/>
            <p:cNvSpPr/>
            <p:nvPr/>
          </p:nvSpPr>
          <p:spPr>
            <a:xfrm>
              <a:off x="4991938" y="4526038"/>
              <a:ext cx="20955" cy="137795"/>
            </a:xfrm>
            <a:custGeom>
              <a:avLst/>
              <a:gdLst/>
              <a:ahLst/>
              <a:cxnLst/>
              <a:rect l="l" t="t" r="r" b="b"/>
              <a:pathLst>
                <a:path w="20954" h="137795">
                  <a:moveTo>
                    <a:pt x="20713" y="36728"/>
                  </a:moveTo>
                  <a:lnTo>
                    <a:pt x="0" y="36728"/>
                  </a:lnTo>
                  <a:lnTo>
                    <a:pt x="0" y="137337"/>
                  </a:lnTo>
                  <a:lnTo>
                    <a:pt x="20713" y="137337"/>
                  </a:lnTo>
                  <a:lnTo>
                    <a:pt x="20713" y="36728"/>
                  </a:lnTo>
                  <a:close/>
                </a:path>
                <a:path w="20954" h="137795">
                  <a:moveTo>
                    <a:pt x="20713" y="0"/>
                  </a:moveTo>
                  <a:lnTo>
                    <a:pt x="0" y="0"/>
                  </a:lnTo>
                  <a:lnTo>
                    <a:pt x="0" y="19164"/>
                  </a:lnTo>
                  <a:lnTo>
                    <a:pt x="20713" y="19164"/>
                  </a:lnTo>
                  <a:lnTo>
                    <a:pt x="20713" y="0"/>
                  </a:lnTo>
                  <a:close/>
                </a:path>
              </a:pathLst>
            </a:custGeom>
            <a:solidFill>
              <a:srgbClr val="000000"/>
            </a:solidFill>
          </p:spPr>
          <p:txBody>
            <a:bodyPr wrap="square" lIns="0" tIns="0" rIns="0" bIns="0" rtlCol="0"/>
            <a:lstStyle/>
            <a:p>
              <a:endParaRPr/>
            </a:p>
          </p:txBody>
        </p:sp>
        <p:pic>
          <p:nvPicPr>
            <p:cNvPr id="67" name="object 67"/>
            <p:cNvPicPr/>
            <p:nvPr/>
          </p:nvPicPr>
          <p:blipFill>
            <a:blip r:embed="rId35" cstate="print"/>
            <a:stretch>
              <a:fillRect/>
            </a:stretch>
          </p:blipFill>
          <p:spPr>
            <a:xfrm>
              <a:off x="5042964" y="4559564"/>
              <a:ext cx="94712" cy="103802"/>
            </a:xfrm>
            <a:prstGeom prst="rect">
              <a:avLst/>
            </a:prstGeom>
          </p:spPr>
        </p:pic>
        <p:pic>
          <p:nvPicPr>
            <p:cNvPr id="68" name="object 68"/>
            <p:cNvPicPr/>
            <p:nvPr/>
          </p:nvPicPr>
          <p:blipFill>
            <a:blip r:embed="rId36" cstate="print"/>
            <a:stretch>
              <a:fillRect/>
            </a:stretch>
          </p:blipFill>
          <p:spPr>
            <a:xfrm>
              <a:off x="5162428" y="4559564"/>
              <a:ext cx="104310" cy="145322"/>
            </a:xfrm>
            <a:prstGeom prst="rect">
              <a:avLst/>
            </a:prstGeom>
          </p:spPr>
        </p:pic>
        <p:pic>
          <p:nvPicPr>
            <p:cNvPr id="69" name="object 69"/>
            <p:cNvPicPr/>
            <p:nvPr/>
          </p:nvPicPr>
          <p:blipFill>
            <a:blip r:embed="rId37" cstate="print"/>
            <a:stretch>
              <a:fillRect/>
            </a:stretch>
          </p:blipFill>
          <p:spPr>
            <a:xfrm>
              <a:off x="5351854" y="4559564"/>
              <a:ext cx="108098" cy="105398"/>
            </a:xfrm>
            <a:prstGeom prst="rect">
              <a:avLst/>
            </a:prstGeom>
          </p:spPr>
        </p:pic>
        <p:pic>
          <p:nvPicPr>
            <p:cNvPr id="70" name="object 70"/>
            <p:cNvPicPr/>
            <p:nvPr/>
          </p:nvPicPr>
          <p:blipFill>
            <a:blip r:embed="rId38" cstate="print"/>
            <a:stretch>
              <a:fillRect/>
            </a:stretch>
          </p:blipFill>
          <p:spPr>
            <a:xfrm>
              <a:off x="5488240" y="4559564"/>
              <a:ext cx="250294" cy="105398"/>
            </a:xfrm>
            <a:prstGeom prst="rect">
              <a:avLst/>
            </a:prstGeom>
          </p:spPr>
        </p:pic>
        <p:sp>
          <p:nvSpPr>
            <p:cNvPr id="71" name="object 71"/>
            <p:cNvSpPr/>
            <p:nvPr/>
          </p:nvSpPr>
          <p:spPr>
            <a:xfrm>
              <a:off x="5765053" y="4559564"/>
              <a:ext cx="59055" cy="104139"/>
            </a:xfrm>
            <a:custGeom>
              <a:avLst/>
              <a:gdLst/>
              <a:ahLst/>
              <a:cxnLst/>
              <a:rect l="l" t="t" r="r" b="b"/>
              <a:pathLst>
                <a:path w="59054" h="104139">
                  <a:moveTo>
                    <a:pt x="18942" y="3194"/>
                  </a:moveTo>
                  <a:lnTo>
                    <a:pt x="0" y="3194"/>
                  </a:lnTo>
                  <a:lnTo>
                    <a:pt x="0" y="103802"/>
                  </a:lnTo>
                  <a:lnTo>
                    <a:pt x="20710" y="103802"/>
                  </a:lnTo>
                  <a:lnTo>
                    <a:pt x="20710" y="44714"/>
                  </a:lnTo>
                  <a:lnTo>
                    <a:pt x="22782" y="34658"/>
                  </a:lnTo>
                  <a:lnTo>
                    <a:pt x="28761" y="26548"/>
                  </a:lnTo>
                  <a:lnTo>
                    <a:pt x="38291" y="21134"/>
                  </a:lnTo>
                  <a:lnTo>
                    <a:pt x="40700" y="20761"/>
                  </a:lnTo>
                  <a:lnTo>
                    <a:pt x="18942" y="20761"/>
                  </a:lnTo>
                  <a:lnTo>
                    <a:pt x="18942" y="3194"/>
                  </a:lnTo>
                  <a:close/>
                </a:path>
                <a:path w="59054" h="104139">
                  <a:moveTo>
                    <a:pt x="54807" y="0"/>
                  </a:moveTo>
                  <a:lnTo>
                    <a:pt x="53039" y="0"/>
                  </a:lnTo>
                  <a:lnTo>
                    <a:pt x="42383" y="1447"/>
                  </a:lnTo>
                  <a:lnTo>
                    <a:pt x="33149" y="5589"/>
                  </a:lnTo>
                  <a:lnTo>
                    <a:pt x="25335" y="12126"/>
                  </a:lnTo>
                  <a:lnTo>
                    <a:pt x="18942" y="20761"/>
                  </a:lnTo>
                  <a:lnTo>
                    <a:pt x="40700" y="20761"/>
                  </a:lnTo>
                  <a:lnTo>
                    <a:pt x="51018" y="19162"/>
                  </a:lnTo>
                  <a:lnTo>
                    <a:pt x="58595" y="19162"/>
                  </a:lnTo>
                  <a:lnTo>
                    <a:pt x="58595" y="1596"/>
                  </a:lnTo>
                  <a:lnTo>
                    <a:pt x="56827" y="1596"/>
                  </a:lnTo>
                  <a:lnTo>
                    <a:pt x="54807" y="0"/>
                  </a:lnTo>
                  <a:close/>
                </a:path>
              </a:pathLst>
            </a:custGeom>
            <a:solidFill>
              <a:srgbClr val="000000"/>
            </a:solidFill>
          </p:spPr>
          <p:txBody>
            <a:bodyPr wrap="square" lIns="0" tIns="0" rIns="0" bIns="0" rtlCol="0"/>
            <a:lstStyle/>
            <a:p>
              <a:endParaRPr/>
            </a:p>
          </p:txBody>
        </p:sp>
      </p:grpSp>
      <p:sp>
        <p:nvSpPr>
          <p:cNvPr id="72" name="object 72"/>
          <p:cNvSpPr txBox="1"/>
          <p:nvPr/>
        </p:nvSpPr>
        <p:spPr>
          <a:xfrm>
            <a:off x="407314" y="5149341"/>
            <a:ext cx="8170545" cy="1519555"/>
          </a:xfrm>
          <a:prstGeom prst="rect">
            <a:avLst/>
          </a:prstGeom>
        </p:spPr>
        <p:txBody>
          <a:bodyPr vert="horz" wrap="square" lIns="0" tIns="12700" rIns="0" bIns="0" rtlCol="0">
            <a:spAutoFit/>
          </a:bodyPr>
          <a:lstStyle/>
          <a:p>
            <a:pPr marL="299085" indent="-286385">
              <a:lnSpc>
                <a:spcPct val="100000"/>
              </a:lnSpc>
              <a:spcBef>
                <a:spcPts val="100"/>
              </a:spcBef>
              <a:buChar char="•"/>
              <a:tabLst>
                <a:tab pos="299085" algn="l"/>
              </a:tabLst>
            </a:pPr>
            <a:r>
              <a:rPr sz="1800" dirty="0">
                <a:solidFill>
                  <a:srgbClr val="FF0000"/>
                </a:solidFill>
                <a:latin typeface="Arial MT"/>
                <a:cs typeface="Arial MT"/>
              </a:rPr>
              <a:t>Base</a:t>
            </a:r>
            <a:r>
              <a:rPr sz="1800" spc="-25"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dirty="0">
                <a:solidFill>
                  <a:srgbClr val="FF0000"/>
                </a:solidFill>
                <a:latin typeface="Arial MT"/>
                <a:cs typeface="Arial MT"/>
              </a:rPr>
              <a:t>limit</a:t>
            </a:r>
            <a:r>
              <a:rPr sz="1800" spc="-25" dirty="0">
                <a:solidFill>
                  <a:srgbClr val="FF0000"/>
                </a:solidFill>
                <a:latin typeface="Arial MT"/>
                <a:cs typeface="Arial MT"/>
              </a:rPr>
              <a:t> </a:t>
            </a:r>
            <a:r>
              <a:rPr sz="1800" dirty="0">
                <a:solidFill>
                  <a:srgbClr val="FF0000"/>
                </a:solidFill>
                <a:latin typeface="Arial MT"/>
                <a:cs typeface="Arial MT"/>
              </a:rPr>
              <a:t>registers</a:t>
            </a:r>
            <a:r>
              <a:rPr sz="1800" spc="-15" dirty="0">
                <a:solidFill>
                  <a:srgbClr val="FF0000"/>
                </a:solidFill>
                <a:latin typeface="Arial MT"/>
                <a:cs typeface="Arial MT"/>
              </a:rPr>
              <a:t> </a:t>
            </a:r>
            <a:r>
              <a:rPr sz="1800" dirty="0">
                <a:solidFill>
                  <a:srgbClr val="FF0000"/>
                </a:solidFill>
                <a:latin typeface="Arial MT"/>
                <a:cs typeface="Arial MT"/>
              </a:rPr>
              <a:t>loaded</a:t>
            </a:r>
            <a:r>
              <a:rPr sz="1800" spc="-10" dirty="0">
                <a:solidFill>
                  <a:srgbClr val="FF0000"/>
                </a:solidFill>
                <a:latin typeface="Arial MT"/>
                <a:cs typeface="Arial MT"/>
              </a:rPr>
              <a:t> </a:t>
            </a:r>
            <a:r>
              <a:rPr sz="1800" dirty="0">
                <a:solidFill>
                  <a:srgbClr val="FF0000"/>
                </a:solidFill>
                <a:latin typeface="Arial MT"/>
                <a:cs typeface="Arial MT"/>
              </a:rPr>
              <a:t>only</a:t>
            </a:r>
            <a:r>
              <a:rPr sz="1800" spc="-35" dirty="0">
                <a:solidFill>
                  <a:srgbClr val="FF0000"/>
                </a:solidFill>
                <a:latin typeface="Arial MT"/>
                <a:cs typeface="Arial MT"/>
              </a:rPr>
              <a:t> </a:t>
            </a:r>
            <a:r>
              <a:rPr sz="1800" dirty="0">
                <a:solidFill>
                  <a:srgbClr val="FF0000"/>
                </a:solidFill>
                <a:latin typeface="Arial MT"/>
                <a:cs typeface="Arial MT"/>
              </a:rPr>
              <a:t>by</a:t>
            </a:r>
            <a:r>
              <a:rPr sz="1800" spc="-30"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OS</a:t>
            </a:r>
            <a:r>
              <a:rPr sz="1800" spc="-25" dirty="0">
                <a:solidFill>
                  <a:srgbClr val="FF0000"/>
                </a:solidFill>
                <a:latin typeface="Arial MT"/>
                <a:cs typeface="Arial MT"/>
              </a:rPr>
              <a:t> </a:t>
            </a:r>
            <a:r>
              <a:rPr sz="1800" dirty="0">
                <a:solidFill>
                  <a:srgbClr val="FF0000"/>
                </a:solidFill>
                <a:latin typeface="Arial MT"/>
                <a:cs typeface="Arial MT"/>
              </a:rPr>
              <a:t>through</a:t>
            </a:r>
            <a:r>
              <a:rPr sz="1800" spc="-20" dirty="0">
                <a:solidFill>
                  <a:srgbClr val="FF0000"/>
                </a:solidFill>
                <a:latin typeface="Arial MT"/>
                <a:cs typeface="Arial MT"/>
              </a:rPr>
              <a:t> </a:t>
            </a:r>
            <a:r>
              <a:rPr sz="1800" dirty="0">
                <a:solidFill>
                  <a:srgbClr val="FF0000"/>
                </a:solidFill>
                <a:latin typeface="Arial MT"/>
                <a:cs typeface="Arial MT"/>
              </a:rPr>
              <a:t>a</a:t>
            </a:r>
            <a:r>
              <a:rPr sz="1800" spc="-25" dirty="0">
                <a:solidFill>
                  <a:srgbClr val="FF0000"/>
                </a:solidFill>
                <a:latin typeface="Arial MT"/>
                <a:cs typeface="Arial MT"/>
              </a:rPr>
              <a:t> </a:t>
            </a:r>
            <a:r>
              <a:rPr sz="1800" dirty="0">
                <a:solidFill>
                  <a:srgbClr val="FF0000"/>
                </a:solidFill>
                <a:latin typeface="Arial MT"/>
                <a:cs typeface="Arial MT"/>
              </a:rPr>
              <a:t>privileged</a:t>
            </a:r>
            <a:r>
              <a:rPr sz="1800" spc="-5" dirty="0">
                <a:solidFill>
                  <a:srgbClr val="FF0000"/>
                </a:solidFill>
                <a:latin typeface="Arial MT"/>
                <a:cs typeface="Arial MT"/>
              </a:rPr>
              <a:t> </a:t>
            </a:r>
            <a:r>
              <a:rPr sz="1800" spc="-10" dirty="0">
                <a:solidFill>
                  <a:srgbClr val="FF0000"/>
                </a:solidFill>
                <a:latin typeface="Arial MT"/>
                <a:cs typeface="Arial MT"/>
              </a:rPr>
              <a:t>instruction</a:t>
            </a:r>
            <a:endParaRPr sz="1800" dirty="0">
              <a:latin typeface="Arial MT"/>
              <a:cs typeface="Arial MT"/>
            </a:endParaRPr>
          </a:p>
          <a:p>
            <a:pPr marL="286385" marR="1676400" lvl="1" indent="-286385" algn="r">
              <a:lnSpc>
                <a:spcPct val="100000"/>
              </a:lnSpc>
              <a:buChar char="•"/>
              <a:tabLst>
                <a:tab pos="286385" algn="l"/>
              </a:tabLst>
            </a:pPr>
            <a:r>
              <a:rPr sz="1800" spc="-95" dirty="0">
                <a:solidFill>
                  <a:srgbClr val="FF0000"/>
                </a:solidFill>
                <a:latin typeface="Arial MT"/>
                <a:cs typeface="Arial MT"/>
              </a:rPr>
              <a:t>To</a:t>
            </a:r>
            <a:r>
              <a:rPr sz="1800" spc="-30" dirty="0">
                <a:solidFill>
                  <a:srgbClr val="FF0000"/>
                </a:solidFill>
                <a:latin typeface="Arial MT"/>
                <a:cs typeface="Arial MT"/>
              </a:rPr>
              <a:t> </a:t>
            </a:r>
            <a:r>
              <a:rPr sz="1800" dirty="0">
                <a:solidFill>
                  <a:srgbClr val="FF0000"/>
                </a:solidFill>
                <a:latin typeface="Arial MT"/>
                <a:cs typeface="Arial MT"/>
              </a:rPr>
              <a:t>prevent</a:t>
            </a:r>
            <a:r>
              <a:rPr sz="1800" spc="-45" dirty="0">
                <a:solidFill>
                  <a:srgbClr val="FF0000"/>
                </a:solidFill>
                <a:latin typeface="Arial MT"/>
                <a:cs typeface="Arial MT"/>
              </a:rPr>
              <a:t> </a:t>
            </a:r>
            <a:r>
              <a:rPr sz="1800" dirty="0">
                <a:solidFill>
                  <a:srgbClr val="FF0000"/>
                </a:solidFill>
                <a:latin typeface="Arial MT"/>
                <a:cs typeface="Arial MT"/>
              </a:rPr>
              <a:t>users</a:t>
            </a:r>
            <a:r>
              <a:rPr sz="1800" spc="-35" dirty="0">
                <a:solidFill>
                  <a:srgbClr val="FF0000"/>
                </a:solidFill>
                <a:latin typeface="Arial MT"/>
                <a:cs typeface="Arial MT"/>
              </a:rPr>
              <a:t> </a:t>
            </a:r>
            <a:r>
              <a:rPr sz="1800" dirty="0">
                <a:solidFill>
                  <a:srgbClr val="FF0000"/>
                </a:solidFill>
                <a:latin typeface="Arial MT"/>
                <a:cs typeface="Arial MT"/>
              </a:rPr>
              <a:t>from</a:t>
            </a:r>
            <a:r>
              <a:rPr sz="1800" spc="-35" dirty="0">
                <a:solidFill>
                  <a:srgbClr val="FF0000"/>
                </a:solidFill>
                <a:latin typeface="Arial MT"/>
                <a:cs typeface="Arial MT"/>
              </a:rPr>
              <a:t> </a:t>
            </a:r>
            <a:r>
              <a:rPr sz="1800" dirty="0">
                <a:solidFill>
                  <a:srgbClr val="FF0000"/>
                </a:solidFill>
                <a:latin typeface="Arial MT"/>
                <a:cs typeface="Arial MT"/>
              </a:rPr>
              <a:t>changing</a:t>
            </a:r>
            <a:r>
              <a:rPr sz="1800" spc="-20" dirty="0">
                <a:solidFill>
                  <a:srgbClr val="FF0000"/>
                </a:solidFill>
                <a:latin typeface="Arial MT"/>
                <a:cs typeface="Arial MT"/>
              </a:rPr>
              <a:t> </a:t>
            </a:r>
            <a:r>
              <a:rPr sz="1800" dirty="0">
                <a:solidFill>
                  <a:srgbClr val="FF0000"/>
                </a:solidFill>
                <a:latin typeface="Arial MT"/>
                <a:cs typeface="Arial MT"/>
              </a:rPr>
              <a:t>these</a:t>
            </a:r>
            <a:r>
              <a:rPr sz="1800" spc="-35" dirty="0">
                <a:solidFill>
                  <a:srgbClr val="FF0000"/>
                </a:solidFill>
                <a:latin typeface="Arial MT"/>
                <a:cs typeface="Arial MT"/>
              </a:rPr>
              <a:t> </a:t>
            </a:r>
            <a:r>
              <a:rPr sz="1800" dirty="0">
                <a:solidFill>
                  <a:srgbClr val="FF0000"/>
                </a:solidFill>
                <a:latin typeface="Arial MT"/>
                <a:cs typeface="Arial MT"/>
              </a:rPr>
              <a:t>registers’</a:t>
            </a:r>
            <a:r>
              <a:rPr sz="1800" spc="-95" dirty="0">
                <a:solidFill>
                  <a:srgbClr val="FF0000"/>
                </a:solidFill>
                <a:latin typeface="Arial MT"/>
                <a:cs typeface="Arial MT"/>
              </a:rPr>
              <a:t> </a:t>
            </a:r>
            <a:r>
              <a:rPr sz="1800" spc="-10" dirty="0">
                <a:solidFill>
                  <a:srgbClr val="FF0000"/>
                </a:solidFill>
                <a:latin typeface="Arial MT"/>
                <a:cs typeface="Arial MT"/>
              </a:rPr>
              <a:t>contents</a:t>
            </a:r>
            <a:endParaRPr sz="1800" dirty="0">
              <a:latin typeface="Arial MT"/>
              <a:cs typeface="Arial MT"/>
            </a:endParaRPr>
          </a:p>
          <a:p>
            <a:pPr marL="286385" marR="1692275" indent="-286385" algn="r">
              <a:lnSpc>
                <a:spcPct val="100000"/>
              </a:lnSpc>
              <a:spcBef>
                <a:spcPts val="960"/>
              </a:spcBef>
              <a:buChar char="•"/>
              <a:tabLst>
                <a:tab pos="286385" algn="l"/>
              </a:tabLst>
            </a:pPr>
            <a:r>
              <a:rPr sz="1800" dirty="0">
                <a:solidFill>
                  <a:srgbClr val="FF0000"/>
                </a:solidFill>
                <a:latin typeface="Arial MT"/>
                <a:cs typeface="Arial MT"/>
              </a:rPr>
              <a:t>OS</a:t>
            </a:r>
            <a:r>
              <a:rPr sz="1800" spc="-30" dirty="0">
                <a:solidFill>
                  <a:srgbClr val="FF0000"/>
                </a:solidFill>
                <a:latin typeface="Arial MT"/>
                <a:cs typeface="Arial MT"/>
              </a:rPr>
              <a:t> </a:t>
            </a:r>
            <a:r>
              <a:rPr sz="1800" dirty="0">
                <a:solidFill>
                  <a:srgbClr val="FF0000"/>
                </a:solidFill>
                <a:latin typeface="Arial MT"/>
                <a:cs typeface="Arial MT"/>
              </a:rPr>
              <a:t>has</a:t>
            </a:r>
            <a:r>
              <a:rPr sz="1800" spc="-10" dirty="0">
                <a:solidFill>
                  <a:srgbClr val="FF0000"/>
                </a:solidFill>
                <a:latin typeface="Arial MT"/>
                <a:cs typeface="Arial MT"/>
              </a:rPr>
              <a:t> </a:t>
            </a:r>
            <a:r>
              <a:rPr sz="1800" dirty="0">
                <a:solidFill>
                  <a:srgbClr val="FF0000"/>
                </a:solidFill>
                <a:latin typeface="Arial MT"/>
                <a:cs typeface="Arial MT"/>
              </a:rPr>
              <a:t>unrestricted</a:t>
            </a:r>
            <a:r>
              <a:rPr sz="1800" spc="-15" dirty="0">
                <a:solidFill>
                  <a:srgbClr val="FF0000"/>
                </a:solidFill>
                <a:latin typeface="Arial MT"/>
                <a:cs typeface="Arial MT"/>
              </a:rPr>
              <a:t> </a:t>
            </a:r>
            <a:r>
              <a:rPr sz="1800" dirty="0">
                <a:solidFill>
                  <a:srgbClr val="FF0000"/>
                </a:solidFill>
                <a:latin typeface="Arial MT"/>
                <a:cs typeface="Arial MT"/>
              </a:rPr>
              <a:t>access</a:t>
            </a:r>
            <a:r>
              <a:rPr sz="1800" spc="-20" dirty="0">
                <a:solidFill>
                  <a:srgbClr val="FF0000"/>
                </a:solidFill>
                <a:latin typeface="Arial MT"/>
                <a:cs typeface="Arial MT"/>
              </a:rPr>
              <a:t> </a:t>
            </a:r>
            <a:r>
              <a:rPr sz="1800" dirty="0">
                <a:solidFill>
                  <a:srgbClr val="FF0000"/>
                </a:solidFill>
                <a:latin typeface="Arial MT"/>
                <a:cs typeface="Arial MT"/>
              </a:rPr>
              <a:t>to</a:t>
            </a:r>
            <a:r>
              <a:rPr sz="1800" spc="-20" dirty="0">
                <a:solidFill>
                  <a:srgbClr val="FF0000"/>
                </a:solidFill>
                <a:latin typeface="Arial MT"/>
                <a:cs typeface="Arial MT"/>
              </a:rPr>
              <a:t> </a:t>
            </a:r>
            <a:r>
              <a:rPr sz="1800" dirty="0">
                <a:solidFill>
                  <a:srgbClr val="FF0000"/>
                </a:solidFill>
                <a:latin typeface="Arial MT"/>
                <a:cs typeface="Arial MT"/>
              </a:rPr>
              <a:t>OS</a:t>
            </a:r>
            <a:r>
              <a:rPr sz="1800" spc="-30" dirty="0">
                <a:solidFill>
                  <a:srgbClr val="FF0000"/>
                </a:solidFill>
                <a:latin typeface="Arial MT"/>
                <a:cs typeface="Arial MT"/>
              </a:rPr>
              <a:t> </a:t>
            </a:r>
            <a:r>
              <a:rPr sz="1800" dirty="0">
                <a:solidFill>
                  <a:srgbClr val="FF0000"/>
                </a:solidFill>
                <a:latin typeface="Arial MT"/>
                <a:cs typeface="Arial MT"/>
              </a:rPr>
              <a:t>memory</a:t>
            </a:r>
            <a:r>
              <a:rPr sz="1800" spc="-20" dirty="0">
                <a:solidFill>
                  <a:srgbClr val="FF0000"/>
                </a:solidFill>
                <a:latin typeface="Arial MT"/>
                <a:cs typeface="Arial MT"/>
              </a:rPr>
              <a:t> </a:t>
            </a:r>
            <a:r>
              <a:rPr sz="1800" dirty="0">
                <a:solidFill>
                  <a:srgbClr val="FF0000"/>
                </a:solidFill>
                <a:latin typeface="Arial MT"/>
                <a:cs typeface="Arial MT"/>
              </a:rPr>
              <a:t>and</a:t>
            </a:r>
            <a:r>
              <a:rPr sz="1800" spc="-15" dirty="0">
                <a:solidFill>
                  <a:srgbClr val="FF0000"/>
                </a:solidFill>
                <a:latin typeface="Arial MT"/>
                <a:cs typeface="Arial MT"/>
              </a:rPr>
              <a:t> </a:t>
            </a:r>
            <a:r>
              <a:rPr sz="1800" dirty="0">
                <a:solidFill>
                  <a:srgbClr val="FF0000"/>
                </a:solidFill>
                <a:latin typeface="Arial MT"/>
                <a:cs typeface="Arial MT"/>
              </a:rPr>
              <a:t>user</a:t>
            </a:r>
            <a:r>
              <a:rPr sz="1800" spc="-20" dirty="0">
                <a:solidFill>
                  <a:srgbClr val="FF0000"/>
                </a:solidFill>
                <a:latin typeface="Arial MT"/>
                <a:cs typeface="Arial MT"/>
              </a:rPr>
              <a:t> </a:t>
            </a:r>
            <a:r>
              <a:rPr sz="1800" spc="-10" dirty="0">
                <a:solidFill>
                  <a:srgbClr val="FF0000"/>
                </a:solidFill>
                <a:latin typeface="Arial MT"/>
                <a:cs typeface="Arial MT"/>
              </a:rPr>
              <a:t>memory</a:t>
            </a:r>
            <a:endParaRPr sz="1800" dirty="0">
              <a:latin typeface="Arial MT"/>
              <a:cs typeface="Arial MT"/>
            </a:endParaRPr>
          </a:p>
          <a:p>
            <a:pPr marL="756285" lvl="1" indent="-286385">
              <a:lnSpc>
                <a:spcPct val="100000"/>
              </a:lnSpc>
              <a:buChar char="•"/>
              <a:tabLst>
                <a:tab pos="756285" algn="l"/>
              </a:tabLst>
            </a:pPr>
            <a:r>
              <a:rPr sz="1800" dirty="0">
                <a:solidFill>
                  <a:srgbClr val="FF0000"/>
                </a:solidFill>
                <a:latin typeface="Arial MT"/>
                <a:cs typeface="Arial MT"/>
              </a:rPr>
              <a:t>Load</a:t>
            </a:r>
            <a:r>
              <a:rPr sz="1800" spc="-45" dirty="0">
                <a:solidFill>
                  <a:srgbClr val="FF0000"/>
                </a:solidFill>
                <a:latin typeface="Arial MT"/>
                <a:cs typeface="Arial MT"/>
              </a:rPr>
              <a:t> </a:t>
            </a:r>
            <a:r>
              <a:rPr sz="1800" dirty="0">
                <a:solidFill>
                  <a:srgbClr val="FF0000"/>
                </a:solidFill>
                <a:latin typeface="Arial MT"/>
                <a:cs typeface="Arial MT"/>
              </a:rPr>
              <a:t>users’</a:t>
            </a:r>
            <a:r>
              <a:rPr sz="1800" spc="-105" dirty="0">
                <a:solidFill>
                  <a:srgbClr val="FF0000"/>
                </a:solidFill>
                <a:latin typeface="Arial MT"/>
                <a:cs typeface="Arial MT"/>
              </a:rPr>
              <a:t> </a:t>
            </a:r>
            <a:r>
              <a:rPr sz="1800" dirty="0">
                <a:solidFill>
                  <a:srgbClr val="FF0000"/>
                </a:solidFill>
                <a:latin typeface="Arial MT"/>
                <a:cs typeface="Arial MT"/>
              </a:rPr>
              <a:t>programs</a:t>
            </a:r>
            <a:r>
              <a:rPr sz="1800" spc="-35" dirty="0">
                <a:solidFill>
                  <a:srgbClr val="FF0000"/>
                </a:solidFill>
                <a:latin typeface="Arial MT"/>
                <a:cs typeface="Arial MT"/>
              </a:rPr>
              <a:t> </a:t>
            </a:r>
            <a:r>
              <a:rPr sz="1800" dirty="0">
                <a:solidFill>
                  <a:srgbClr val="FF0000"/>
                </a:solidFill>
                <a:latin typeface="Arial MT"/>
                <a:cs typeface="Arial MT"/>
              </a:rPr>
              <a:t>into</a:t>
            </a:r>
            <a:r>
              <a:rPr sz="1800" spc="-50" dirty="0">
                <a:solidFill>
                  <a:srgbClr val="FF0000"/>
                </a:solidFill>
                <a:latin typeface="Arial MT"/>
                <a:cs typeface="Arial MT"/>
              </a:rPr>
              <a:t> </a:t>
            </a:r>
            <a:r>
              <a:rPr sz="1800" dirty="0">
                <a:solidFill>
                  <a:srgbClr val="FF0000"/>
                </a:solidFill>
                <a:latin typeface="Arial MT"/>
                <a:cs typeface="Arial MT"/>
              </a:rPr>
              <a:t>users’</a:t>
            </a:r>
            <a:r>
              <a:rPr sz="1800" spc="-95" dirty="0">
                <a:solidFill>
                  <a:srgbClr val="FF0000"/>
                </a:solidFill>
                <a:latin typeface="Arial MT"/>
                <a:cs typeface="Arial MT"/>
              </a:rPr>
              <a:t> </a:t>
            </a:r>
            <a:r>
              <a:rPr sz="1800" spc="-10" dirty="0">
                <a:solidFill>
                  <a:srgbClr val="FF0000"/>
                </a:solidFill>
                <a:latin typeface="Arial MT"/>
                <a:cs typeface="Arial MT"/>
              </a:rPr>
              <a:t>memory,</a:t>
            </a:r>
            <a:r>
              <a:rPr sz="1800" spc="-35" dirty="0">
                <a:solidFill>
                  <a:srgbClr val="FF0000"/>
                </a:solidFill>
                <a:latin typeface="Arial MT"/>
                <a:cs typeface="Arial MT"/>
              </a:rPr>
              <a:t> </a:t>
            </a:r>
            <a:r>
              <a:rPr sz="1800" dirty="0">
                <a:solidFill>
                  <a:srgbClr val="FF0000"/>
                </a:solidFill>
                <a:latin typeface="Arial MT"/>
                <a:cs typeface="Arial MT"/>
              </a:rPr>
              <a:t>…</a:t>
            </a:r>
            <a:r>
              <a:rPr sz="1800" spc="-30" dirty="0">
                <a:solidFill>
                  <a:srgbClr val="FF0000"/>
                </a:solidFill>
                <a:latin typeface="Arial MT"/>
                <a:cs typeface="Arial MT"/>
              </a:rPr>
              <a:t> </a:t>
            </a:r>
            <a:r>
              <a:rPr sz="1800" spc="-25" dirty="0">
                <a:solidFill>
                  <a:srgbClr val="FF0000"/>
                </a:solidFill>
                <a:latin typeface="Arial MT"/>
                <a:cs typeface="Arial MT"/>
              </a:rPr>
              <a:t>etc</a:t>
            </a:r>
            <a:endParaRPr sz="1800" dirty="0">
              <a:latin typeface="Arial MT"/>
              <a:cs typeface="Arial MT"/>
            </a:endParaRPr>
          </a:p>
          <a:p>
            <a:pPr marL="756285" lvl="1" indent="-286385">
              <a:lnSpc>
                <a:spcPct val="100000"/>
              </a:lnSpc>
              <a:buChar char="•"/>
              <a:tabLst>
                <a:tab pos="756285" algn="l"/>
              </a:tabLst>
            </a:pPr>
            <a:r>
              <a:rPr sz="1800" dirty="0">
                <a:solidFill>
                  <a:srgbClr val="FF0000"/>
                </a:solidFill>
                <a:latin typeface="Arial MT"/>
                <a:cs typeface="Arial MT"/>
              </a:rPr>
              <a:t>Access</a:t>
            </a:r>
            <a:r>
              <a:rPr sz="1800" spc="-35" dirty="0">
                <a:solidFill>
                  <a:srgbClr val="FF0000"/>
                </a:solidFill>
                <a:latin typeface="Arial MT"/>
                <a:cs typeface="Arial MT"/>
              </a:rPr>
              <a:t> </a:t>
            </a:r>
            <a:r>
              <a:rPr sz="1800" dirty="0">
                <a:solidFill>
                  <a:srgbClr val="FF0000"/>
                </a:solidFill>
                <a:latin typeface="Arial MT"/>
                <a:cs typeface="Arial MT"/>
              </a:rPr>
              <a:t>and</a:t>
            </a:r>
            <a:r>
              <a:rPr sz="1800" spc="-15" dirty="0">
                <a:solidFill>
                  <a:srgbClr val="FF0000"/>
                </a:solidFill>
                <a:latin typeface="Arial MT"/>
                <a:cs typeface="Arial MT"/>
              </a:rPr>
              <a:t> </a:t>
            </a:r>
            <a:r>
              <a:rPr sz="1800" dirty="0">
                <a:solidFill>
                  <a:srgbClr val="FF0000"/>
                </a:solidFill>
                <a:latin typeface="Arial MT"/>
                <a:cs typeface="Arial MT"/>
              </a:rPr>
              <a:t>modify</a:t>
            </a:r>
            <a:r>
              <a:rPr sz="1800" spc="-25" dirty="0">
                <a:solidFill>
                  <a:srgbClr val="FF0000"/>
                </a:solidFill>
                <a:latin typeface="Arial MT"/>
                <a:cs typeface="Arial MT"/>
              </a:rPr>
              <a:t> </a:t>
            </a:r>
            <a:r>
              <a:rPr sz="1800" spc="-10" dirty="0">
                <a:solidFill>
                  <a:srgbClr val="FF0000"/>
                </a:solidFill>
                <a:latin typeface="Arial MT"/>
                <a:cs typeface="Arial MT"/>
              </a:rPr>
              <a:t>system-</a:t>
            </a:r>
            <a:r>
              <a:rPr sz="1800" dirty="0">
                <a:solidFill>
                  <a:srgbClr val="FF0000"/>
                </a:solidFill>
                <a:latin typeface="Arial MT"/>
                <a:cs typeface="Arial MT"/>
              </a:rPr>
              <a:t>calls’</a:t>
            </a:r>
            <a:r>
              <a:rPr sz="1800" spc="-60" dirty="0">
                <a:solidFill>
                  <a:srgbClr val="FF0000"/>
                </a:solidFill>
                <a:latin typeface="Arial MT"/>
                <a:cs typeface="Arial MT"/>
              </a:rPr>
              <a:t> </a:t>
            </a:r>
            <a:r>
              <a:rPr sz="1800" spc="-10" dirty="0">
                <a:solidFill>
                  <a:srgbClr val="FF0000"/>
                </a:solidFill>
                <a:latin typeface="Arial MT"/>
                <a:cs typeface="Arial MT"/>
              </a:rPr>
              <a:t>parameter,</a:t>
            </a:r>
            <a:r>
              <a:rPr sz="1800" spc="-5" dirty="0">
                <a:solidFill>
                  <a:srgbClr val="FF0000"/>
                </a:solidFill>
                <a:latin typeface="Arial MT"/>
                <a:cs typeface="Arial MT"/>
              </a:rPr>
              <a:t> </a:t>
            </a:r>
            <a:r>
              <a:rPr sz="1800" dirty="0">
                <a:solidFill>
                  <a:srgbClr val="FF0000"/>
                </a:solidFill>
                <a:latin typeface="Arial MT"/>
                <a:cs typeface="Arial MT"/>
              </a:rPr>
              <a:t>…</a:t>
            </a:r>
            <a:r>
              <a:rPr sz="1800" spc="-25" dirty="0">
                <a:solidFill>
                  <a:srgbClr val="FF0000"/>
                </a:solidFill>
                <a:latin typeface="Arial MT"/>
                <a:cs typeface="Arial MT"/>
              </a:rPr>
              <a:t> etc</a:t>
            </a:r>
            <a:endParaRPr sz="1800" dirty="0">
              <a:latin typeface="Arial MT"/>
              <a:cs typeface="Arial MT"/>
            </a:endParaRPr>
          </a:p>
        </p:txBody>
      </p:sp>
      <p:sp>
        <p:nvSpPr>
          <p:cNvPr id="73" name="object 73"/>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74" name="object 74"/>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8</a:t>
            </a:fld>
            <a:endParaRPr spc="-20" dirty="0"/>
          </a:p>
        </p:txBody>
      </p:sp>
      <p:sp>
        <p:nvSpPr>
          <p:cNvPr id="75" name="object 75"/>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8148" rIns="0" bIns="0" rtlCol="0">
            <a:spAutoFit/>
          </a:bodyPr>
          <a:lstStyle/>
          <a:p>
            <a:pPr marL="1643380">
              <a:lnSpc>
                <a:spcPct val="100000"/>
              </a:lnSpc>
              <a:spcBef>
                <a:spcPts val="100"/>
              </a:spcBef>
            </a:pPr>
            <a:r>
              <a:rPr dirty="0">
                <a:solidFill>
                  <a:srgbClr val="006699"/>
                </a:solidFill>
              </a:rPr>
              <a:t>Logical</a:t>
            </a:r>
            <a:r>
              <a:rPr spc="-55" dirty="0">
                <a:solidFill>
                  <a:srgbClr val="006699"/>
                </a:solidFill>
              </a:rPr>
              <a:t> </a:t>
            </a:r>
            <a:r>
              <a:rPr dirty="0">
                <a:solidFill>
                  <a:srgbClr val="006699"/>
                </a:solidFill>
              </a:rPr>
              <a:t>vs.</a:t>
            </a:r>
            <a:r>
              <a:rPr spc="-15" dirty="0">
                <a:solidFill>
                  <a:srgbClr val="006699"/>
                </a:solidFill>
              </a:rPr>
              <a:t> </a:t>
            </a:r>
            <a:r>
              <a:rPr dirty="0">
                <a:solidFill>
                  <a:srgbClr val="006699"/>
                </a:solidFill>
              </a:rPr>
              <a:t>Physical</a:t>
            </a:r>
            <a:r>
              <a:rPr spc="-40" dirty="0">
                <a:solidFill>
                  <a:srgbClr val="006699"/>
                </a:solidFill>
              </a:rPr>
              <a:t> </a:t>
            </a:r>
            <a:r>
              <a:rPr dirty="0">
                <a:solidFill>
                  <a:srgbClr val="006699"/>
                </a:solidFill>
              </a:rPr>
              <a:t>Address</a:t>
            </a:r>
            <a:r>
              <a:rPr spc="-35" dirty="0">
                <a:solidFill>
                  <a:srgbClr val="006699"/>
                </a:solidFill>
              </a:rPr>
              <a:t> </a:t>
            </a:r>
            <a:r>
              <a:rPr spc="-10" dirty="0">
                <a:solidFill>
                  <a:srgbClr val="006699"/>
                </a:solidFill>
              </a:rPr>
              <a:t>Space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9</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36016" y="1070228"/>
            <a:ext cx="8402320" cy="5527040"/>
          </a:xfrm>
          <a:prstGeom prst="rect">
            <a:avLst/>
          </a:prstGeom>
        </p:spPr>
        <p:txBody>
          <a:bodyPr vert="horz" wrap="square" lIns="0" tIns="12700" rIns="0" bIns="0" rtlCol="0">
            <a:spAutoFit/>
          </a:bodyPr>
          <a:lstStyle/>
          <a:p>
            <a:pPr marL="355600" marR="330200" indent="-342900">
              <a:lnSpc>
                <a:spcPct val="100000"/>
              </a:lnSpc>
              <a:spcBef>
                <a:spcPts val="100"/>
              </a:spcBef>
              <a:buClr>
                <a:srgbClr val="993300"/>
              </a:buClr>
              <a:buSzPct val="88888"/>
              <a:buFont typeface="Wingdings"/>
              <a:buChar char=""/>
              <a:tabLst>
                <a:tab pos="355600" algn="l"/>
              </a:tabLst>
            </a:pPr>
            <a:r>
              <a:rPr sz="1800" dirty="0">
                <a:latin typeface="Arial MT"/>
                <a:cs typeface="Arial MT"/>
              </a:rPr>
              <a:t>The</a:t>
            </a:r>
            <a:r>
              <a:rPr sz="1800" spc="-50" dirty="0">
                <a:latin typeface="Arial MT"/>
                <a:cs typeface="Arial MT"/>
              </a:rPr>
              <a:t> </a:t>
            </a:r>
            <a:r>
              <a:rPr sz="1800" dirty="0">
                <a:latin typeface="Arial MT"/>
                <a:cs typeface="Arial MT"/>
              </a:rPr>
              <a:t>concept</a:t>
            </a:r>
            <a:r>
              <a:rPr sz="1800" spc="-5"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address</a:t>
            </a:r>
            <a:r>
              <a:rPr sz="1800" spc="-10" dirty="0">
                <a:latin typeface="Arial MT"/>
                <a:cs typeface="Arial MT"/>
              </a:rPr>
              <a:t> </a:t>
            </a:r>
            <a:r>
              <a:rPr sz="1800" dirty="0">
                <a:latin typeface="Arial MT"/>
                <a:cs typeface="Arial MT"/>
              </a:rPr>
              <a:t>space</a:t>
            </a:r>
            <a:r>
              <a:rPr sz="1800" spc="-15" dirty="0">
                <a:latin typeface="Arial MT"/>
                <a:cs typeface="Arial MT"/>
              </a:rPr>
              <a:t> </a:t>
            </a:r>
            <a:r>
              <a:rPr sz="1800" dirty="0">
                <a:latin typeface="Arial MT"/>
                <a:cs typeface="Arial MT"/>
              </a:rPr>
              <a:t>that</a:t>
            </a:r>
            <a:r>
              <a:rPr sz="1800" spc="-2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bound to</a:t>
            </a:r>
            <a:r>
              <a:rPr sz="1800" spc="-30"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separate</a:t>
            </a:r>
            <a:r>
              <a:rPr sz="1800" spc="5" dirty="0">
                <a:latin typeface="Arial MT"/>
                <a:cs typeface="Arial MT"/>
              </a:rPr>
              <a:t> </a:t>
            </a:r>
            <a:r>
              <a:rPr sz="1800" b="1" spc="-10" dirty="0">
                <a:solidFill>
                  <a:srgbClr val="3366FF"/>
                </a:solidFill>
                <a:latin typeface="Arial"/>
                <a:cs typeface="Arial"/>
              </a:rPr>
              <a:t>physical </a:t>
            </a:r>
            <a:r>
              <a:rPr sz="1800" b="1" dirty="0">
                <a:solidFill>
                  <a:srgbClr val="3366FF"/>
                </a:solidFill>
                <a:latin typeface="Arial"/>
                <a:cs typeface="Arial"/>
              </a:rPr>
              <a:t>address</a:t>
            </a:r>
            <a:r>
              <a:rPr sz="1800" b="1" spc="-20" dirty="0">
                <a:solidFill>
                  <a:srgbClr val="3366FF"/>
                </a:solidFill>
                <a:latin typeface="Arial"/>
                <a:cs typeface="Arial"/>
              </a:rPr>
              <a:t> </a:t>
            </a:r>
            <a:r>
              <a:rPr sz="1800" b="1" dirty="0">
                <a:solidFill>
                  <a:srgbClr val="3366FF"/>
                </a:solidFill>
                <a:latin typeface="Arial"/>
                <a:cs typeface="Arial"/>
              </a:rPr>
              <a:t>space</a:t>
            </a:r>
            <a:r>
              <a:rPr sz="1800" b="1" spc="-25" dirty="0">
                <a:solidFill>
                  <a:srgbClr val="3366FF"/>
                </a:solidFill>
                <a:latin typeface="Arial"/>
                <a:cs typeface="Arial"/>
              </a:rPr>
              <a:t> </a:t>
            </a:r>
            <a:r>
              <a:rPr sz="1800" dirty="0">
                <a:latin typeface="Arial MT"/>
                <a:cs typeface="Arial MT"/>
              </a:rPr>
              <a:t>is</a:t>
            </a:r>
            <a:r>
              <a:rPr sz="1800" spc="-20" dirty="0">
                <a:latin typeface="Arial MT"/>
                <a:cs typeface="Arial MT"/>
              </a:rPr>
              <a:t> </a:t>
            </a:r>
            <a:r>
              <a:rPr sz="1800" dirty="0">
                <a:latin typeface="Arial MT"/>
                <a:cs typeface="Arial MT"/>
              </a:rPr>
              <a:t>central</a:t>
            </a:r>
            <a:r>
              <a:rPr sz="1800" spc="-1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proper</a:t>
            </a:r>
            <a:r>
              <a:rPr sz="1800" spc="-10" dirty="0">
                <a:latin typeface="Arial MT"/>
                <a:cs typeface="Arial MT"/>
              </a:rPr>
              <a:t> </a:t>
            </a:r>
            <a:r>
              <a:rPr sz="1800" dirty="0">
                <a:latin typeface="Arial MT"/>
                <a:cs typeface="Arial MT"/>
              </a:rPr>
              <a:t>memory</a:t>
            </a:r>
            <a:r>
              <a:rPr sz="1800" spc="-20" dirty="0">
                <a:latin typeface="Arial MT"/>
                <a:cs typeface="Arial MT"/>
              </a:rPr>
              <a:t> </a:t>
            </a:r>
            <a:r>
              <a:rPr sz="1800" spc="-10" dirty="0">
                <a:latin typeface="Arial MT"/>
                <a:cs typeface="Arial MT"/>
              </a:rPr>
              <a:t>management</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b="1" dirty="0">
                <a:solidFill>
                  <a:srgbClr val="3366FF"/>
                </a:solidFill>
                <a:latin typeface="Arial"/>
                <a:cs typeface="Arial"/>
              </a:rPr>
              <a:t>Logical</a:t>
            </a:r>
            <a:r>
              <a:rPr sz="1800" b="1" spc="-35" dirty="0">
                <a:solidFill>
                  <a:srgbClr val="3366FF"/>
                </a:solidFill>
                <a:latin typeface="Arial"/>
                <a:cs typeface="Arial"/>
              </a:rPr>
              <a:t> </a:t>
            </a:r>
            <a:r>
              <a:rPr sz="1800" b="1" dirty="0">
                <a:solidFill>
                  <a:srgbClr val="3366FF"/>
                </a:solidFill>
                <a:latin typeface="Arial"/>
                <a:cs typeface="Arial"/>
              </a:rPr>
              <a:t>address</a:t>
            </a:r>
            <a:r>
              <a:rPr sz="1800" b="1" spc="-25" dirty="0">
                <a:solidFill>
                  <a:srgbClr val="3366FF"/>
                </a:solidFill>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generated</a:t>
            </a:r>
            <a:r>
              <a:rPr sz="1800" spc="-5" dirty="0">
                <a:latin typeface="Arial MT"/>
                <a:cs typeface="Arial MT"/>
              </a:rPr>
              <a:t> </a:t>
            </a:r>
            <a:r>
              <a:rPr sz="1800" dirty="0">
                <a:latin typeface="Arial MT"/>
                <a:cs typeface="Arial MT"/>
              </a:rPr>
              <a:t>by</a:t>
            </a:r>
            <a:r>
              <a:rPr sz="1800" spc="-30" dirty="0">
                <a:latin typeface="Arial MT"/>
                <a:cs typeface="Arial MT"/>
              </a:rPr>
              <a:t> </a:t>
            </a:r>
            <a:r>
              <a:rPr sz="1800" dirty="0">
                <a:latin typeface="Arial MT"/>
                <a:cs typeface="Arial MT"/>
              </a:rPr>
              <a:t>the</a:t>
            </a:r>
            <a:r>
              <a:rPr sz="1800" spc="-30" dirty="0">
                <a:latin typeface="Arial MT"/>
                <a:cs typeface="Arial MT"/>
              </a:rPr>
              <a:t> </a:t>
            </a:r>
            <a:r>
              <a:rPr sz="1800" spc="-20" dirty="0">
                <a:latin typeface="Arial MT"/>
                <a:cs typeface="Arial MT"/>
              </a:rPr>
              <a:t>CPU;</a:t>
            </a:r>
            <a:endParaRPr sz="1800">
              <a:latin typeface="Arial MT"/>
              <a:cs typeface="Arial MT"/>
            </a:endParaRPr>
          </a:p>
          <a:p>
            <a:pPr marL="870585">
              <a:lnSpc>
                <a:spcPct val="100000"/>
              </a:lnSpc>
              <a:spcBef>
                <a:spcPts val="760"/>
              </a:spcBef>
            </a:pPr>
            <a:r>
              <a:rPr sz="1350" dirty="0">
                <a:solidFill>
                  <a:srgbClr val="009900"/>
                </a:solidFill>
                <a:latin typeface="Webdings"/>
                <a:cs typeface="Webdings"/>
              </a:rPr>
              <a:t></a:t>
            </a:r>
            <a:r>
              <a:rPr sz="1350" spc="70" dirty="0">
                <a:solidFill>
                  <a:srgbClr val="009900"/>
                </a:solidFill>
                <a:latin typeface="Times New Roman"/>
                <a:cs typeface="Times New Roman"/>
              </a:rPr>
              <a:t> </a:t>
            </a:r>
            <a:r>
              <a:rPr sz="1800" dirty="0">
                <a:latin typeface="Arial MT"/>
                <a:cs typeface="Arial MT"/>
              </a:rPr>
              <a:t>Also</a:t>
            </a:r>
            <a:r>
              <a:rPr sz="1800" spc="-30" dirty="0">
                <a:latin typeface="Arial MT"/>
                <a:cs typeface="Arial MT"/>
              </a:rPr>
              <a:t> </a:t>
            </a:r>
            <a:r>
              <a:rPr sz="1800" dirty="0">
                <a:latin typeface="Arial MT"/>
                <a:cs typeface="Arial MT"/>
              </a:rPr>
              <a:t>referred</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as</a:t>
            </a:r>
            <a:r>
              <a:rPr sz="1800" spc="-15" dirty="0">
                <a:latin typeface="Arial MT"/>
                <a:cs typeface="Arial MT"/>
              </a:rPr>
              <a:t> </a:t>
            </a:r>
            <a:r>
              <a:rPr sz="1800" b="1" dirty="0">
                <a:solidFill>
                  <a:srgbClr val="3366FF"/>
                </a:solidFill>
                <a:latin typeface="Arial"/>
                <a:cs typeface="Arial"/>
              </a:rPr>
              <a:t>virtual</a:t>
            </a:r>
            <a:r>
              <a:rPr sz="1800" b="1" spc="5" dirty="0">
                <a:solidFill>
                  <a:srgbClr val="3366FF"/>
                </a:solidFill>
                <a:latin typeface="Arial"/>
                <a:cs typeface="Arial"/>
              </a:rPr>
              <a:t> </a:t>
            </a:r>
            <a:r>
              <a:rPr sz="1800" b="1" spc="-10" dirty="0">
                <a:solidFill>
                  <a:srgbClr val="3366FF"/>
                </a:solidFill>
                <a:latin typeface="Arial"/>
                <a:cs typeface="Arial"/>
              </a:rPr>
              <a:t>address</a:t>
            </a:r>
            <a:endParaRPr sz="1800">
              <a:latin typeface="Arial"/>
              <a:cs typeface="Arial"/>
            </a:endParaRPr>
          </a:p>
          <a:p>
            <a:pPr marL="756285" lvl="1" indent="-286385">
              <a:lnSpc>
                <a:spcPct val="100000"/>
              </a:lnSpc>
              <a:spcBef>
                <a:spcPts val="2050"/>
              </a:spcBef>
              <a:buClr>
                <a:srgbClr val="CC6600"/>
              </a:buClr>
              <a:buSzPct val="80555"/>
              <a:buFont typeface="Wingdings"/>
              <a:buChar char=""/>
              <a:tabLst>
                <a:tab pos="756285" algn="l"/>
              </a:tabLst>
            </a:pPr>
            <a:r>
              <a:rPr sz="1800" b="1" dirty="0">
                <a:solidFill>
                  <a:srgbClr val="3366FF"/>
                </a:solidFill>
                <a:latin typeface="Arial"/>
                <a:cs typeface="Arial"/>
              </a:rPr>
              <a:t>Physical</a:t>
            </a:r>
            <a:r>
              <a:rPr sz="1800" b="1" spc="-5" dirty="0">
                <a:solidFill>
                  <a:srgbClr val="3366FF"/>
                </a:solidFill>
                <a:latin typeface="Arial"/>
                <a:cs typeface="Arial"/>
              </a:rPr>
              <a:t> </a:t>
            </a:r>
            <a:r>
              <a:rPr sz="1800" b="1" dirty="0">
                <a:solidFill>
                  <a:srgbClr val="3366FF"/>
                </a:solidFill>
                <a:latin typeface="Arial"/>
                <a:cs typeface="Arial"/>
              </a:rPr>
              <a:t>address</a:t>
            </a:r>
            <a:r>
              <a:rPr sz="1800" b="1" spc="-10" dirty="0">
                <a:solidFill>
                  <a:srgbClr val="3366FF"/>
                </a:solidFill>
                <a:latin typeface="Arial"/>
                <a:cs typeface="Arial"/>
              </a:rPr>
              <a:t> </a:t>
            </a:r>
            <a:r>
              <a:rPr sz="1800" dirty="0">
                <a:latin typeface="Arial MT"/>
                <a:cs typeface="Arial MT"/>
              </a:rPr>
              <a:t>–</a:t>
            </a:r>
            <a:r>
              <a:rPr sz="1800" spc="-15" dirty="0">
                <a:latin typeface="Arial MT"/>
                <a:cs typeface="Arial MT"/>
              </a:rPr>
              <a:t> </a:t>
            </a:r>
            <a:r>
              <a:rPr sz="1800" dirty="0">
                <a:latin typeface="Arial MT"/>
                <a:cs typeface="Arial MT"/>
              </a:rPr>
              <a:t>address</a:t>
            </a:r>
            <a:r>
              <a:rPr sz="1800" spc="-5" dirty="0">
                <a:latin typeface="Arial MT"/>
                <a:cs typeface="Arial MT"/>
              </a:rPr>
              <a:t> </a:t>
            </a:r>
            <a:r>
              <a:rPr sz="1800" dirty="0">
                <a:latin typeface="Arial MT"/>
                <a:cs typeface="Arial MT"/>
              </a:rPr>
              <a:t>seen</a:t>
            </a:r>
            <a:r>
              <a:rPr sz="1800" spc="-10" dirty="0">
                <a:latin typeface="Arial MT"/>
                <a:cs typeface="Arial MT"/>
              </a:rPr>
              <a:t> </a:t>
            </a:r>
            <a:r>
              <a:rPr sz="1800" dirty="0">
                <a:latin typeface="Arial MT"/>
                <a:cs typeface="Arial MT"/>
              </a:rPr>
              <a:t>by</a:t>
            </a:r>
            <a:r>
              <a:rPr sz="1800" spc="-15" dirty="0">
                <a:latin typeface="Arial MT"/>
                <a:cs typeface="Arial MT"/>
              </a:rPr>
              <a:t> </a:t>
            </a:r>
            <a:r>
              <a:rPr sz="1800" dirty="0">
                <a:latin typeface="Arial MT"/>
                <a:cs typeface="Arial MT"/>
              </a:rPr>
              <a:t>the</a:t>
            </a:r>
            <a:r>
              <a:rPr sz="1800" spc="-10" dirty="0">
                <a:latin typeface="Arial MT"/>
                <a:cs typeface="Arial MT"/>
              </a:rPr>
              <a:t> </a:t>
            </a:r>
            <a:r>
              <a:rPr sz="1800" b="1" spc="-10" dirty="0">
                <a:solidFill>
                  <a:srgbClr val="FF0000"/>
                </a:solidFill>
                <a:latin typeface="Arial"/>
                <a:cs typeface="Arial"/>
              </a:rPr>
              <a:t>memory-</a:t>
            </a:r>
            <a:r>
              <a:rPr sz="1800" b="1" dirty="0">
                <a:solidFill>
                  <a:srgbClr val="FF0000"/>
                </a:solidFill>
                <a:latin typeface="Arial"/>
                <a:cs typeface="Arial"/>
              </a:rPr>
              <a:t>management</a:t>
            </a:r>
            <a:r>
              <a:rPr sz="1800" b="1" spc="20" dirty="0">
                <a:solidFill>
                  <a:srgbClr val="FF0000"/>
                </a:solidFill>
                <a:latin typeface="Arial"/>
                <a:cs typeface="Arial"/>
              </a:rPr>
              <a:t> </a:t>
            </a:r>
            <a:r>
              <a:rPr sz="1800" b="1" dirty="0">
                <a:solidFill>
                  <a:srgbClr val="FF0000"/>
                </a:solidFill>
                <a:latin typeface="Arial"/>
                <a:cs typeface="Arial"/>
              </a:rPr>
              <a:t>unit</a:t>
            </a:r>
            <a:r>
              <a:rPr sz="1800" b="1" spc="-15" dirty="0">
                <a:solidFill>
                  <a:srgbClr val="FF0000"/>
                </a:solidFill>
                <a:latin typeface="Arial"/>
                <a:cs typeface="Arial"/>
              </a:rPr>
              <a:t> </a:t>
            </a:r>
            <a:r>
              <a:rPr sz="1800" dirty="0">
                <a:latin typeface="Arial MT"/>
                <a:cs typeface="Arial MT"/>
              </a:rPr>
              <a:t>in</a:t>
            </a:r>
            <a:r>
              <a:rPr sz="1800" spc="-20" dirty="0">
                <a:latin typeface="Arial MT"/>
                <a:cs typeface="Arial MT"/>
              </a:rPr>
              <a:t> </a:t>
            </a:r>
            <a:r>
              <a:rPr sz="1800" spc="-25" dirty="0">
                <a:latin typeface="Arial MT"/>
                <a:cs typeface="Arial MT"/>
              </a:rPr>
              <a:t>its</a:t>
            </a:r>
            <a:endParaRPr sz="1800">
              <a:latin typeface="Arial MT"/>
              <a:cs typeface="Arial MT"/>
            </a:endParaRPr>
          </a:p>
          <a:p>
            <a:pPr marL="756285">
              <a:lnSpc>
                <a:spcPct val="100000"/>
              </a:lnSpc>
            </a:pPr>
            <a:r>
              <a:rPr sz="1800" b="1" i="1" spc="-10" dirty="0">
                <a:solidFill>
                  <a:srgbClr val="FF0000"/>
                </a:solidFill>
                <a:latin typeface="Arial"/>
                <a:cs typeface="Arial"/>
              </a:rPr>
              <a:t>memory-</a:t>
            </a:r>
            <a:r>
              <a:rPr sz="1800" b="1" i="1" dirty="0">
                <a:solidFill>
                  <a:srgbClr val="FF0000"/>
                </a:solidFill>
                <a:latin typeface="Arial"/>
                <a:cs typeface="Arial"/>
              </a:rPr>
              <a:t>address</a:t>
            </a:r>
            <a:r>
              <a:rPr sz="1800" b="1" i="1" spc="45" dirty="0">
                <a:solidFill>
                  <a:srgbClr val="FF0000"/>
                </a:solidFill>
                <a:latin typeface="Arial"/>
                <a:cs typeface="Arial"/>
              </a:rPr>
              <a:t> </a:t>
            </a:r>
            <a:r>
              <a:rPr sz="1800" b="1" i="1" spc="-10" dirty="0">
                <a:solidFill>
                  <a:srgbClr val="FF0000"/>
                </a:solidFill>
                <a:latin typeface="Arial"/>
                <a:cs typeface="Arial"/>
              </a:rPr>
              <a:t>register</a:t>
            </a:r>
            <a:endParaRPr sz="1800">
              <a:latin typeface="Arial"/>
              <a:cs typeface="Arial"/>
            </a:endParaRPr>
          </a:p>
          <a:p>
            <a:pPr marL="355600" marR="242570" indent="-342900">
              <a:lnSpc>
                <a:spcPct val="100000"/>
              </a:lnSpc>
              <a:spcBef>
                <a:spcPts val="2055"/>
              </a:spcBef>
              <a:buClr>
                <a:srgbClr val="993300"/>
              </a:buClr>
              <a:buSzPct val="88888"/>
              <a:buFont typeface="Wingdings"/>
              <a:buChar char=""/>
              <a:tabLst>
                <a:tab pos="355600" algn="l"/>
                <a:tab pos="6348730" algn="l"/>
              </a:tabLst>
            </a:pPr>
            <a:r>
              <a:rPr sz="1800" dirty="0">
                <a:solidFill>
                  <a:srgbClr val="FF0000"/>
                </a:solidFill>
                <a:latin typeface="Arial MT"/>
                <a:cs typeface="Arial MT"/>
              </a:rPr>
              <a:t>The</a:t>
            </a:r>
            <a:r>
              <a:rPr sz="1800" spc="-25" dirty="0">
                <a:solidFill>
                  <a:srgbClr val="FF0000"/>
                </a:solidFill>
                <a:latin typeface="Arial MT"/>
                <a:cs typeface="Arial MT"/>
              </a:rPr>
              <a:t> </a:t>
            </a:r>
            <a:r>
              <a:rPr sz="1800" spc="-10" dirty="0">
                <a:solidFill>
                  <a:srgbClr val="FF0000"/>
                </a:solidFill>
                <a:latin typeface="Arial MT"/>
                <a:cs typeface="Arial MT"/>
              </a:rPr>
              <a:t>compile-</a:t>
            </a:r>
            <a:r>
              <a:rPr sz="1800" dirty="0">
                <a:solidFill>
                  <a:srgbClr val="FF0000"/>
                </a:solidFill>
                <a:latin typeface="Arial MT"/>
                <a:cs typeface="Arial MT"/>
              </a:rPr>
              <a:t>time</a:t>
            </a:r>
            <a:r>
              <a:rPr sz="1800" spc="15" dirty="0">
                <a:solidFill>
                  <a:srgbClr val="FF0000"/>
                </a:solidFill>
                <a:latin typeface="Arial MT"/>
                <a:cs typeface="Arial MT"/>
              </a:rPr>
              <a:t> </a:t>
            </a:r>
            <a:r>
              <a:rPr sz="1800" dirty="0">
                <a:solidFill>
                  <a:srgbClr val="FF0000"/>
                </a:solidFill>
                <a:latin typeface="Arial MT"/>
                <a:cs typeface="Arial MT"/>
              </a:rPr>
              <a:t>and</a:t>
            </a:r>
            <a:r>
              <a:rPr sz="1800" spc="-5" dirty="0">
                <a:solidFill>
                  <a:srgbClr val="FF0000"/>
                </a:solidFill>
                <a:latin typeface="Arial MT"/>
                <a:cs typeface="Arial MT"/>
              </a:rPr>
              <a:t> </a:t>
            </a:r>
            <a:r>
              <a:rPr sz="1800" spc="-10" dirty="0">
                <a:solidFill>
                  <a:srgbClr val="FF0000"/>
                </a:solidFill>
                <a:latin typeface="Arial MT"/>
                <a:cs typeface="Arial MT"/>
              </a:rPr>
              <a:t>load-</a:t>
            </a:r>
            <a:r>
              <a:rPr sz="1800" dirty="0">
                <a:solidFill>
                  <a:srgbClr val="FF0000"/>
                </a:solidFill>
                <a:latin typeface="Arial MT"/>
                <a:cs typeface="Arial MT"/>
              </a:rPr>
              <a:t>time</a:t>
            </a:r>
            <a:r>
              <a:rPr sz="1800" spc="15" dirty="0">
                <a:solidFill>
                  <a:srgbClr val="FF0000"/>
                </a:solidFill>
                <a:latin typeface="Arial MT"/>
                <a:cs typeface="Arial MT"/>
              </a:rPr>
              <a:t> </a:t>
            </a:r>
            <a:r>
              <a:rPr sz="1800" spc="-10" dirty="0">
                <a:solidFill>
                  <a:srgbClr val="FF0000"/>
                </a:solidFill>
                <a:latin typeface="Arial MT"/>
                <a:cs typeface="Arial MT"/>
              </a:rPr>
              <a:t>address-</a:t>
            </a:r>
            <a:r>
              <a:rPr sz="1800" dirty="0">
                <a:solidFill>
                  <a:srgbClr val="FF0000"/>
                </a:solidFill>
                <a:latin typeface="Arial MT"/>
                <a:cs typeface="Arial MT"/>
              </a:rPr>
              <a:t>binding</a:t>
            </a:r>
            <a:r>
              <a:rPr sz="1800" spc="25" dirty="0">
                <a:solidFill>
                  <a:srgbClr val="FF0000"/>
                </a:solidFill>
                <a:latin typeface="Arial MT"/>
                <a:cs typeface="Arial MT"/>
              </a:rPr>
              <a:t> </a:t>
            </a:r>
            <a:r>
              <a:rPr sz="1800" spc="-10" dirty="0">
                <a:solidFill>
                  <a:srgbClr val="FF0000"/>
                </a:solidFill>
                <a:latin typeface="Arial MT"/>
                <a:cs typeface="Arial MT"/>
              </a:rPr>
              <a:t>schemes</a:t>
            </a:r>
            <a:r>
              <a:rPr sz="1800" dirty="0">
                <a:solidFill>
                  <a:srgbClr val="FF0000"/>
                </a:solidFill>
                <a:latin typeface="Arial MT"/>
                <a:cs typeface="Arial MT"/>
              </a:rPr>
              <a:t>	generate</a:t>
            </a:r>
            <a:r>
              <a:rPr sz="1800" spc="-40" dirty="0">
                <a:solidFill>
                  <a:srgbClr val="FF0000"/>
                </a:solidFill>
                <a:latin typeface="Arial MT"/>
                <a:cs typeface="Arial MT"/>
              </a:rPr>
              <a:t> </a:t>
            </a:r>
            <a:r>
              <a:rPr sz="1800" spc="-10" dirty="0">
                <a:solidFill>
                  <a:srgbClr val="FF0000"/>
                </a:solidFill>
                <a:latin typeface="Arial MT"/>
                <a:cs typeface="Arial MT"/>
              </a:rPr>
              <a:t>identical </a:t>
            </a:r>
            <a:r>
              <a:rPr sz="1800" dirty="0">
                <a:solidFill>
                  <a:srgbClr val="FF0000"/>
                </a:solidFill>
                <a:latin typeface="Arial MT"/>
                <a:cs typeface="Arial MT"/>
              </a:rPr>
              <a:t>logical</a:t>
            </a:r>
            <a:r>
              <a:rPr sz="1800" spc="-30" dirty="0">
                <a:solidFill>
                  <a:srgbClr val="FF0000"/>
                </a:solidFill>
                <a:latin typeface="Arial MT"/>
                <a:cs typeface="Arial MT"/>
              </a:rPr>
              <a:t> </a:t>
            </a:r>
            <a:r>
              <a:rPr sz="1800" dirty="0">
                <a:solidFill>
                  <a:srgbClr val="FF0000"/>
                </a:solidFill>
                <a:latin typeface="Arial MT"/>
                <a:cs typeface="Arial MT"/>
              </a:rPr>
              <a:t>and</a:t>
            </a:r>
            <a:r>
              <a:rPr sz="1800" spc="-40" dirty="0">
                <a:solidFill>
                  <a:srgbClr val="FF0000"/>
                </a:solidFill>
                <a:latin typeface="Arial MT"/>
                <a:cs typeface="Arial MT"/>
              </a:rPr>
              <a:t> </a:t>
            </a:r>
            <a:r>
              <a:rPr sz="1800" dirty="0">
                <a:solidFill>
                  <a:srgbClr val="FF0000"/>
                </a:solidFill>
                <a:latin typeface="Arial MT"/>
                <a:cs typeface="Arial MT"/>
              </a:rPr>
              <a:t>physical</a:t>
            </a:r>
            <a:r>
              <a:rPr sz="1800" spc="5" dirty="0">
                <a:solidFill>
                  <a:srgbClr val="FF0000"/>
                </a:solidFill>
                <a:latin typeface="Arial MT"/>
                <a:cs typeface="Arial MT"/>
              </a:rPr>
              <a:t> </a:t>
            </a:r>
            <a:r>
              <a:rPr sz="1800" spc="-10" dirty="0">
                <a:solidFill>
                  <a:srgbClr val="FF0000"/>
                </a:solidFill>
                <a:latin typeface="Arial MT"/>
                <a:cs typeface="Arial MT"/>
              </a:rPr>
              <a:t>addresses;</a:t>
            </a:r>
            <a:endParaRPr sz="1800">
              <a:latin typeface="Arial MT"/>
              <a:cs typeface="Arial MT"/>
            </a:endParaRPr>
          </a:p>
          <a:p>
            <a:pPr marL="756285" marR="17145" lvl="1" indent="-287020">
              <a:lnSpc>
                <a:spcPct val="100000"/>
              </a:lnSpc>
              <a:spcBef>
                <a:spcPts val="2055"/>
              </a:spcBef>
              <a:buClr>
                <a:srgbClr val="CC6600"/>
              </a:buClr>
              <a:buSzPct val="80555"/>
              <a:buFont typeface="Wingdings"/>
              <a:buChar char=""/>
              <a:tabLst>
                <a:tab pos="756285" algn="l"/>
              </a:tabLst>
            </a:pPr>
            <a:r>
              <a:rPr sz="1800" dirty="0">
                <a:solidFill>
                  <a:srgbClr val="FF0000"/>
                </a:solidFill>
                <a:latin typeface="Arial MT"/>
                <a:cs typeface="Arial MT"/>
              </a:rPr>
              <a:t>The</a:t>
            </a:r>
            <a:r>
              <a:rPr sz="1800" spc="-40" dirty="0">
                <a:solidFill>
                  <a:srgbClr val="FF0000"/>
                </a:solidFill>
                <a:latin typeface="Arial MT"/>
                <a:cs typeface="Arial MT"/>
              </a:rPr>
              <a:t> </a:t>
            </a:r>
            <a:r>
              <a:rPr sz="1800" spc="-10" dirty="0">
                <a:solidFill>
                  <a:srgbClr val="FF0000"/>
                </a:solidFill>
                <a:latin typeface="Arial MT"/>
                <a:cs typeface="Arial MT"/>
              </a:rPr>
              <a:t>execution-</a:t>
            </a:r>
            <a:r>
              <a:rPr sz="1800" dirty="0">
                <a:solidFill>
                  <a:srgbClr val="FF0000"/>
                </a:solidFill>
                <a:latin typeface="Arial MT"/>
                <a:cs typeface="Arial MT"/>
              </a:rPr>
              <a:t>time</a:t>
            </a:r>
            <a:r>
              <a:rPr sz="1800" spc="10" dirty="0">
                <a:solidFill>
                  <a:srgbClr val="FF0000"/>
                </a:solidFill>
                <a:latin typeface="Arial MT"/>
                <a:cs typeface="Arial MT"/>
              </a:rPr>
              <a:t> </a:t>
            </a:r>
            <a:r>
              <a:rPr sz="1800" spc="-10" dirty="0">
                <a:solidFill>
                  <a:srgbClr val="FF0000"/>
                </a:solidFill>
                <a:latin typeface="Arial MT"/>
                <a:cs typeface="Arial MT"/>
              </a:rPr>
              <a:t>address-</a:t>
            </a:r>
            <a:r>
              <a:rPr sz="1800" dirty="0">
                <a:solidFill>
                  <a:srgbClr val="FF0000"/>
                </a:solidFill>
                <a:latin typeface="Arial MT"/>
                <a:cs typeface="Arial MT"/>
              </a:rPr>
              <a:t>binding</a:t>
            </a:r>
            <a:r>
              <a:rPr sz="1800" spc="10" dirty="0">
                <a:solidFill>
                  <a:srgbClr val="FF0000"/>
                </a:solidFill>
                <a:latin typeface="Arial MT"/>
                <a:cs typeface="Arial MT"/>
              </a:rPr>
              <a:t> </a:t>
            </a:r>
            <a:r>
              <a:rPr sz="1800" dirty="0">
                <a:solidFill>
                  <a:srgbClr val="FF0000"/>
                </a:solidFill>
                <a:latin typeface="Arial MT"/>
                <a:cs typeface="Arial MT"/>
              </a:rPr>
              <a:t>scheme</a:t>
            </a:r>
            <a:r>
              <a:rPr sz="1800" spc="-10" dirty="0">
                <a:solidFill>
                  <a:srgbClr val="FF0000"/>
                </a:solidFill>
                <a:latin typeface="Arial MT"/>
                <a:cs typeface="Arial MT"/>
              </a:rPr>
              <a:t> </a:t>
            </a:r>
            <a:r>
              <a:rPr sz="1800" dirty="0">
                <a:solidFill>
                  <a:srgbClr val="FF0000"/>
                </a:solidFill>
                <a:latin typeface="Arial MT"/>
                <a:cs typeface="Arial MT"/>
              </a:rPr>
              <a:t>results</a:t>
            </a:r>
            <a:r>
              <a:rPr sz="1800" spc="-20"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differing</a:t>
            </a:r>
            <a:r>
              <a:rPr sz="1800" spc="-10" dirty="0">
                <a:solidFill>
                  <a:srgbClr val="FF0000"/>
                </a:solidFill>
                <a:latin typeface="Arial MT"/>
                <a:cs typeface="Arial MT"/>
              </a:rPr>
              <a:t> </a:t>
            </a:r>
            <a:r>
              <a:rPr sz="1800" dirty="0">
                <a:solidFill>
                  <a:srgbClr val="FF0000"/>
                </a:solidFill>
                <a:latin typeface="Arial MT"/>
                <a:cs typeface="Arial MT"/>
              </a:rPr>
              <a:t>logical</a:t>
            </a:r>
            <a:r>
              <a:rPr sz="1800" spc="-5" dirty="0">
                <a:solidFill>
                  <a:srgbClr val="FF0000"/>
                </a:solidFill>
                <a:latin typeface="Arial MT"/>
                <a:cs typeface="Arial MT"/>
              </a:rPr>
              <a:t> </a:t>
            </a:r>
            <a:r>
              <a:rPr sz="1800" spc="-25" dirty="0">
                <a:solidFill>
                  <a:srgbClr val="FF0000"/>
                </a:solidFill>
                <a:latin typeface="Arial MT"/>
                <a:cs typeface="Arial MT"/>
              </a:rPr>
              <a:t>and </a:t>
            </a:r>
            <a:r>
              <a:rPr sz="1800" dirty="0">
                <a:solidFill>
                  <a:srgbClr val="FF0000"/>
                </a:solidFill>
                <a:latin typeface="Arial MT"/>
                <a:cs typeface="Arial MT"/>
              </a:rPr>
              <a:t>physical addresses;</a:t>
            </a:r>
            <a:r>
              <a:rPr sz="1800" spc="-20" dirty="0">
                <a:solidFill>
                  <a:srgbClr val="FF0000"/>
                </a:solidFill>
                <a:latin typeface="Arial MT"/>
                <a:cs typeface="Arial MT"/>
              </a:rPr>
              <a:t> </a:t>
            </a:r>
            <a:r>
              <a:rPr sz="1800" dirty="0">
                <a:solidFill>
                  <a:srgbClr val="FF0000"/>
                </a:solidFill>
                <a:latin typeface="Arial MT"/>
                <a:cs typeface="Arial MT"/>
              </a:rPr>
              <a:t>hence,</a:t>
            </a:r>
            <a:r>
              <a:rPr sz="1800" spc="-15" dirty="0">
                <a:solidFill>
                  <a:srgbClr val="FF0000"/>
                </a:solidFill>
                <a:latin typeface="Arial MT"/>
                <a:cs typeface="Arial MT"/>
              </a:rPr>
              <a:t> </a:t>
            </a:r>
            <a:r>
              <a:rPr sz="1800" dirty="0">
                <a:solidFill>
                  <a:srgbClr val="FF0000"/>
                </a:solidFill>
                <a:latin typeface="Arial MT"/>
                <a:cs typeface="Arial MT"/>
              </a:rPr>
              <a:t>we refer</a:t>
            </a:r>
            <a:r>
              <a:rPr sz="1800" spc="-25" dirty="0">
                <a:solidFill>
                  <a:srgbClr val="FF0000"/>
                </a:solidFill>
                <a:latin typeface="Arial MT"/>
                <a:cs typeface="Arial MT"/>
              </a:rPr>
              <a:t> </a:t>
            </a:r>
            <a:r>
              <a:rPr sz="1800" dirty="0">
                <a:solidFill>
                  <a:srgbClr val="FF0000"/>
                </a:solidFill>
                <a:latin typeface="Arial MT"/>
                <a:cs typeface="Arial MT"/>
              </a:rPr>
              <a:t>to</a:t>
            </a:r>
            <a:r>
              <a:rPr sz="1800" spc="-20" dirty="0">
                <a:solidFill>
                  <a:srgbClr val="FF0000"/>
                </a:solidFill>
                <a:latin typeface="Arial MT"/>
                <a:cs typeface="Arial MT"/>
              </a:rPr>
              <a:t> </a:t>
            </a:r>
            <a:r>
              <a:rPr sz="1800" b="1" i="1" dirty="0">
                <a:solidFill>
                  <a:srgbClr val="FF0000"/>
                </a:solidFill>
                <a:latin typeface="Arial"/>
                <a:cs typeface="Arial"/>
              </a:rPr>
              <a:t>logical</a:t>
            </a:r>
            <a:r>
              <a:rPr sz="1800" b="1" i="1" spc="-30" dirty="0">
                <a:solidFill>
                  <a:srgbClr val="FF0000"/>
                </a:solidFill>
                <a:latin typeface="Arial"/>
                <a:cs typeface="Arial"/>
              </a:rPr>
              <a:t> </a:t>
            </a:r>
            <a:r>
              <a:rPr sz="1800" b="1" i="1" dirty="0">
                <a:solidFill>
                  <a:srgbClr val="FF0000"/>
                </a:solidFill>
                <a:latin typeface="Arial"/>
                <a:cs typeface="Arial"/>
              </a:rPr>
              <a:t>address</a:t>
            </a:r>
            <a:r>
              <a:rPr sz="1800" b="1" i="1" spc="-25" dirty="0">
                <a:solidFill>
                  <a:srgbClr val="FF0000"/>
                </a:solidFill>
                <a:latin typeface="Arial"/>
                <a:cs typeface="Arial"/>
              </a:rPr>
              <a:t> </a:t>
            </a:r>
            <a:r>
              <a:rPr sz="1800" dirty="0">
                <a:solidFill>
                  <a:srgbClr val="FF0000"/>
                </a:solidFill>
                <a:latin typeface="Arial MT"/>
                <a:cs typeface="Arial MT"/>
              </a:rPr>
              <a:t>as</a:t>
            </a:r>
            <a:r>
              <a:rPr sz="1800" spc="-35" dirty="0">
                <a:solidFill>
                  <a:srgbClr val="FF0000"/>
                </a:solidFill>
                <a:latin typeface="Arial MT"/>
                <a:cs typeface="Arial MT"/>
              </a:rPr>
              <a:t> </a:t>
            </a:r>
            <a:r>
              <a:rPr sz="1800" b="1" i="1" dirty="0">
                <a:solidFill>
                  <a:srgbClr val="FF0000"/>
                </a:solidFill>
                <a:latin typeface="Arial"/>
                <a:cs typeface="Arial"/>
              </a:rPr>
              <a:t>virtual</a:t>
            </a:r>
            <a:r>
              <a:rPr sz="1800" b="1" i="1" spc="-20" dirty="0">
                <a:solidFill>
                  <a:srgbClr val="FF0000"/>
                </a:solidFill>
                <a:latin typeface="Arial"/>
                <a:cs typeface="Arial"/>
              </a:rPr>
              <a:t> </a:t>
            </a:r>
            <a:r>
              <a:rPr sz="1800" b="1" i="1" spc="-10" dirty="0">
                <a:solidFill>
                  <a:srgbClr val="FF0000"/>
                </a:solidFill>
                <a:latin typeface="Arial"/>
                <a:cs typeface="Arial"/>
              </a:rPr>
              <a:t>address</a:t>
            </a:r>
            <a:endParaRPr sz="1800">
              <a:latin typeface="Arial"/>
              <a:cs typeface="Arial"/>
            </a:endParaRPr>
          </a:p>
          <a:p>
            <a:pPr marL="354965" indent="-342265">
              <a:lnSpc>
                <a:spcPct val="100000"/>
              </a:lnSpc>
              <a:spcBef>
                <a:spcPts val="2050"/>
              </a:spcBef>
              <a:buClr>
                <a:srgbClr val="993300"/>
              </a:buClr>
              <a:buSzPct val="88888"/>
              <a:buFont typeface="Wingdings"/>
              <a:buChar char=""/>
              <a:tabLst>
                <a:tab pos="354965" algn="l"/>
              </a:tabLst>
            </a:pPr>
            <a:r>
              <a:rPr sz="1800" b="1" dirty="0">
                <a:solidFill>
                  <a:srgbClr val="3366FF"/>
                </a:solidFill>
                <a:latin typeface="Arial"/>
                <a:cs typeface="Arial"/>
              </a:rPr>
              <a:t>Logical</a:t>
            </a:r>
            <a:r>
              <a:rPr sz="1800" b="1" spc="-40" dirty="0">
                <a:solidFill>
                  <a:srgbClr val="3366FF"/>
                </a:solidFill>
                <a:latin typeface="Arial"/>
                <a:cs typeface="Arial"/>
              </a:rPr>
              <a:t> </a:t>
            </a:r>
            <a:r>
              <a:rPr sz="1800" b="1" dirty="0">
                <a:solidFill>
                  <a:srgbClr val="3366FF"/>
                </a:solidFill>
                <a:latin typeface="Arial"/>
                <a:cs typeface="Arial"/>
              </a:rPr>
              <a:t>address</a:t>
            </a:r>
            <a:r>
              <a:rPr sz="1800" b="1" spc="-30" dirty="0">
                <a:solidFill>
                  <a:srgbClr val="3366FF"/>
                </a:solidFill>
                <a:latin typeface="Arial"/>
                <a:cs typeface="Arial"/>
              </a:rPr>
              <a:t> </a:t>
            </a:r>
            <a:r>
              <a:rPr sz="1800" b="1" dirty="0">
                <a:solidFill>
                  <a:srgbClr val="3366FF"/>
                </a:solidFill>
                <a:latin typeface="Arial"/>
                <a:cs typeface="Arial"/>
              </a:rPr>
              <a:t>space</a:t>
            </a:r>
            <a:r>
              <a:rPr sz="1800" b="1" spc="-15" dirty="0">
                <a:solidFill>
                  <a:srgbClr val="3366FF"/>
                </a:solidFill>
                <a:latin typeface="Arial"/>
                <a:cs typeface="Arial"/>
              </a:rPr>
              <a:t> </a:t>
            </a:r>
            <a:r>
              <a:rPr sz="1800" dirty="0">
                <a:latin typeface="Arial MT"/>
                <a:cs typeface="Arial MT"/>
              </a:rPr>
              <a:t>is</a:t>
            </a:r>
            <a:r>
              <a:rPr sz="1800" spc="-2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set</a:t>
            </a:r>
            <a:r>
              <a:rPr sz="1800" spc="-25"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all</a:t>
            </a:r>
            <a:r>
              <a:rPr sz="1800" spc="-25"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addresses</a:t>
            </a:r>
            <a:r>
              <a:rPr sz="1800" spc="-15" dirty="0">
                <a:latin typeface="Arial MT"/>
                <a:cs typeface="Arial MT"/>
              </a:rPr>
              <a:t> </a:t>
            </a:r>
            <a:r>
              <a:rPr sz="1800" dirty="0">
                <a:latin typeface="Arial MT"/>
                <a:cs typeface="Arial MT"/>
              </a:rPr>
              <a:t>generated</a:t>
            </a:r>
            <a:r>
              <a:rPr sz="1800" spc="-15" dirty="0">
                <a:latin typeface="Arial MT"/>
                <a:cs typeface="Arial MT"/>
              </a:rPr>
              <a:t> </a:t>
            </a:r>
            <a:r>
              <a:rPr sz="1800" dirty="0">
                <a:latin typeface="Arial MT"/>
                <a:cs typeface="Arial MT"/>
              </a:rPr>
              <a:t>by</a:t>
            </a:r>
            <a:r>
              <a:rPr sz="1800" spc="-20" dirty="0">
                <a:latin typeface="Arial MT"/>
                <a:cs typeface="Arial MT"/>
              </a:rPr>
              <a:t> </a:t>
            </a:r>
            <a:r>
              <a:rPr sz="1800" spc="-50" dirty="0">
                <a:latin typeface="Arial MT"/>
                <a:cs typeface="Arial MT"/>
              </a:rPr>
              <a:t>a</a:t>
            </a:r>
            <a:endParaRPr sz="1800">
              <a:latin typeface="Arial MT"/>
              <a:cs typeface="Arial MT"/>
            </a:endParaRPr>
          </a:p>
          <a:p>
            <a:pPr marL="355600">
              <a:lnSpc>
                <a:spcPct val="100000"/>
              </a:lnSpc>
            </a:pPr>
            <a:r>
              <a:rPr sz="1800" spc="-10" dirty="0">
                <a:latin typeface="Arial MT"/>
                <a:cs typeface="Arial MT"/>
              </a:rPr>
              <a:t>program</a:t>
            </a:r>
            <a:endParaRPr sz="1800">
              <a:latin typeface="Arial MT"/>
              <a:cs typeface="Arial MT"/>
            </a:endParaRPr>
          </a:p>
          <a:p>
            <a:pPr marL="355600" marR="163195" indent="-342900">
              <a:lnSpc>
                <a:spcPct val="100000"/>
              </a:lnSpc>
              <a:spcBef>
                <a:spcPts val="2055"/>
              </a:spcBef>
              <a:buClr>
                <a:srgbClr val="993300"/>
              </a:buClr>
              <a:buSzPct val="88888"/>
              <a:buFont typeface="Wingdings"/>
              <a:buChar char=""/>
              <a:tabLst>
                <a:tab pos="355600" algn="l"/>
              </a:tabLst>
            </a:pPr>
            <a:r>
              <a:rPr sz="1800" b="1" dirty="0">
                <a:solidFill>
                  <a:srgbClr val="3366FF"/>
                </a:solidFill>
                <a:latin typeface="Arial"/>
                <a:cs typeface="Arial"/>
              </a:rPr>
              <a:t>Physical</a:t>
            </a:r>
            <a:r>
              <a:rPr sz="1800" b="1" spc="-15" dirty="0">
                <a:solidFill>
                  <a:srgbClr val="3366FF"/>
                </a:solidFill>
                <a:latin typeface="Arial"/>
                <a:cs typeface="Arial"/>
              </a:rPr>
              <a:t> </a:t>
            </a:r>
            <a:r>
              <a:rPr sz="1800" b="1" dirty="0">
                <a:solidFill>
                  <a:srgbClr val="3366FF"/>
                </a:solidFill>
                <a:latin typeface="Arial"/>
                <a:cs typeface="Arial"/>
              </a:rPr>
              <a:t>address</a:t>
            </a:r>
            <a:r>
              <a:rPr sz="1800" b="1" spc="-20" dirty="0">
                <a:solidFill>
                  <a:srgbClr val="3366FF"/>
                </a:solidFill>
                <a:latin typeface="Arial"/>
                <a:cs typeface="Arial"/>
              </a:rPr>
              <a:t> </a:t>
            </a:r>
            <a:r>
              <a:rPr sz="1800" b="1" dirty="0">
                <a:solidFill>
                  <a:srgbClr val="3366FF"/>
                </a:solidFill>
                <a:latin typeface="Arial"/>
                <a:cs typeface="Arial"/>
              </a:rPr>
              <a:t>space</a:t>
            </a:r>
            <a:r>
              <a:rPr sz="1800" b="1" spc="-25" dirty="0">
                <a:solidFill>
                  <a:srgbClr val="3366FF"/>
                </a:solidFill>
                <a:latin typeface="Arial"/>
                <a:cs typeface="Arial"/>
              </a:rPr>
              <a:t> </a:t>
            </a:r>
            <a:r>
              <a:rPr sz="1800" dirty="0">
                <a:latin typeface="Arial MT"/>
                <a:cs typeface="Arial MT"/>
              </a:rPr>
              <a:t>is</a:t>
            </a:r>
            <a:r>
              <a:rPr sz="1800" spc="-25"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set</a:t>
            </a:r>
            <a:r>
              <a:rPr sz="1800" spc="-20"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all</a:t>
            </a:r>
            <a:r>
              <a:rPr sz="1800" spc="-20" dirty="0">
                <a:latin typeface="Arial MT"/>
                <a:cs typeface="Arial MT"/>
              </a:rPr>
              <a:t> </a:t>
            </a:r>
            <a:r>
              <a:rPr sz="1800" dirty="0">
                <a:latin typeface="Arial MT"/>
                <a:cs typeface="Arial MT"/>
              </a:rPr>
              <a:t>physical</a:t>
            </a:r>
            <a:r>
              <a:rPr sz="1800" spc="20" dirty="0">
                <a:latin typeface="Arial MT"/>
                <a:cs typeface="Arial MT"/>
              </a:rPr>
              <a:t> </a:t>
            </a:r>
            <a:r>
              <a:rPr sz="1800" dirty="0">
                <a:latin typeface="Arial MT"/>
                <a:cs typeface="Arial MT"/>
              </a:rPr>
              <a:t>addresses</a:t>
            </a:r>
            <a:r>
              <a:rPr sz="1800" spc="-10" dirty="0">
                <a:latin typeface="Arial MT"/>
                <a:cs typeface="Arial MT"/>
              </a:rPr>
              <a:t> </a:t>
            </a:r>
            <a:r>
              <a:rPr sz="1800" dirty="0">
                <a:solidFill>
                  <a:srgbClr val="FF0000"/>
                </a:solidFill>
                <a:latin typeface="Arial MT"/>
                <a:cs typeface="Arial MT"/>
              </a:rPr>
              <a:t>corresponding</a:t>
            </a:r>
            <a:r>
              <a:rPr sz="1800" spc="5" dirty="0">
                <a:solidFill>
                  <a:srgbClr val="FF0000"/>
                </a:solidFill>
                <a:latin typeface="Arial MT"/>
                <a:cs typeface="Arial MT"/>
              </a:rPr>
              <a:t> </a:t>
            </a:r>
            <a:r>
              <a:rPr sz="1800" spc="-25" dirty="0">
                <a:solidFill>
                  <a:srgbClr val="FF0000"/>
                </a:solidFill>
                <a:latin typeface="Arial MT"/>
                <a:cs typeface="Arial MT"/>
              </a:rPr>
              <a:t>to </a:t>
            </a:r>
            <a:r>
              <a:rPr sz="1800" dirty="0">
                <a:solidFill>
                  <a:srgbClr val="FF0000"/>
                </a:solidFill>
                <a:latin typeface="Arial MT"/>
                <a:cs typeface="Arial MT"/>
              </a:rPr>
              <a:t>these</a:t>
            </a:r>
            <a:r>
              <a:rPr sz="1800" spc="-35" dirty="0">
                <a:solidFill>
                  <a:srgbClr val="FF0000"/>
                </a:solidFill>
                <a:latin typeface="Arial MT"/>
                <a:cs typeface="Arial MT"/>
              </a:rPr>
              <a:t> </a:t>
            </a:r>
            <a:r>
              <a:rPr sz="1800" dirty="0">
                <a:solidFill>
                  <a:srgbClr val="FF0000"/>
                </a:solidFill>
                <a:latin typeface="Arial MT"/>
                <a:cs typeface="Arial MT"/>
              </a:rPr>
              <a:t>logical</a:t>
            </a:r>
            <a:r>
              <a:rPr sz="1800" spc="-15" dirty="0">
                <a:solidFill>
                  <a:srgbClr val="FF0000"/>
                </a:solidFill>
                <a:latin typeface="Arial MT"/>
                <a:cs typeface="Arial MT"/>
              </a:rPr>
              <a:t> </a:t>
            </a:r>
            <a:r>
              <a:rPr sz="1800" spc="-10" dirty="0">
                <a:solidFill>
                  <a:srgbClr val="FF0000"/>
                </a:solidFill>
                <a:latin typeface="Arial MT"/>
                <a:cs typeface="Arial MT"/>
              </a:rPr>
              <a:t>addresses</a:t>
            </a:r>
            <a:endParaRPr sz="180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623" rIns="0" bIns="0" rtlCol="0">
            <a:spAutoFit/>
          </a:bodyPr>
          <a:lstStyle/>
          <a:p>
            <a:pPr marL="2890520">
              <a:lnSpc>
                <a:spcPct val="100000"/>
              </a:lnSpc>
              <a:spcBef>
                <a:spcPts val="100"/>
              </a:spcBef>
            </a:pPr>
            <a:r>
              <a:rPr dirty="0">
                <a:solidFill>
                  <a:srgbClr val="006699"/>
                </a:solidFill>
              </a:rPr>
              <a:t>Address</a:t>
            </a:r>
            <a:r>
              <a:rPr spc="-30" dirty="0">
                <a:solidFill>
                  <a:srgbClr val="006699"/>
                </a:solidFill>
              </a:rPr>
              <a:t> </a:t>
            </a:r>
            <a:r>
              <a:rPr spc="-10" dirty="0">
                <a:solidFill>
                  <a:srgbClr val="006699"/>
                </a:solidFill>
              </a:rPr>
              <a:t>Binding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10</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562340" cy="5348605"/>
          </a:xfrm>
          <a:prstGeom prst="rect">
            <a:avLst/>
          </a:prstGeom>
        </p:spPr>
        <p:txBody>
          <a:bodyPr vert="horz" wrap="square" lIns="0" tIns="12700" rIns="0" bIns="0" rtlCol="0">
            <a:spAutoFit/>
          </a:bodyPr>
          <a:lstStyle/>
          <a:p>
            <a:pPr marL="355600" marR="5080" indent="-342900">
              <a:lnSpc>
                <a:spcPct val="100000"/>
              </a:lnSpc>
              <a:spcBef>
                <a:spcPts val="100"/>
              </a:spcBef>
              <a:buClr>
                <a:srgbClr val="993300"/>
              </a:buClr>
              <a:buSzPct val="88888"/>
              <a:buFont typeface="Wingdings"/>
              <a:buChar char=""/>
              <a:tabLst>
                <a:tab pos="355600" algn="l"/>
              </a:tabLst>
            </a:pPr>
            <a:r>
              <a:rPr sz="1800" dirty="0">
                <a:latin typeface="Arial MT"/>
                <a:cs typeface="Arial MT"/>
              </a:rPr>
              <a:t>Processes</a:t>
            </a:r>
            <a:r>
              <a:rPr sz="1800" spc="-30" dirty="0">
                <a:latin typeface="Arial MT"/>
                <a:cs typeface="Arial MT"/>
              </a:rPr>
              <a:t> </a:t>
            </a:r>
            <a:r>
              <a:rPr sz="1800" dirty="0">
                <a:latin typeface="Arial MT"/>
                <a:cs typeface="Arial MT"/>
              </a:rPr>
              <a:t>on</a:t>
            </a:r>
            <a:r>
              <a:rPr sz="1800" spc="-30" dirty="0">
                <a:latin typeface="Arial MT"/>
                <a:cs typeface="Arial MT"/>
              </a:rPr>
              <a:t> </a:t>
            </a:r>
            <a:r>
              <a:rPr sz="1800" dirty="0">
                <a:latin typeface="Arial MT"/>
                <a:cs typeface="Arial MT"/>
              </a:rPr>
              <a:t>disk</a:t>
            </a:r>
            <a:r>
              <a:rPr sz="1800" spc="-20" dirty="0">
                <a:latin typeface="Arial MT"/>
                <a:cs typeface="Arial MT"/>
              </a:rPr>
              <a:t> </a:t>
            </a:r>
            <a:r>
              <a:rPr sz="1800" dirty="0">
                <a:latin typeface="Arial MT"/>
                <a:cs typeface="Arial MT"/>
              </a:rPr>
              <a:t>waiting</a:t>
            </a:r>
            <a:r>
              <a:rPr sz="1800" spc="30"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be</a:t>
            </a:r>
            <a:r>
              <a:rPr sz="1800" spc="-15" dirty="0">
                <a:latin typeface="Arial MT"/>
                <a:cs typeface="Arial MT"/>
              </a:rPr>
              <a:t> </a:t>
            </a:r>
            <a:r>
              <a:rPr sz="1800" dirty="0">
                <a:latin typeface="Arial MT"/>
                <a:cs typeface="Arial MT"/>
              </a:rPr>
              <a:t>brought</a:t>
            </a:r>
            <a:r>
              <a:rPr sz="1800" spc="-15" dirty="0">
                <a:latin typeface="Arial MT"/>
                <a:cs typeface="Arial MT"/>
              </a:rPr>
              <a:t> </a:t>
            </a:r>
            <a:r>
              <a:rPr sz="1800" dirty="0">
                <a:latin typeface="Arial MT"/>
                <a:cs typeface="Arial MT"/>
              </a:rPr>
              <a:t>into</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for</a:t>
            </a:r>
            <a:r>
              <a:rPr sz="1800" spc="-20" dirty="0">
                <a:latin typeface="Arial MT"/>
                <a:cs typeface="Arial MT"/>
              </a:rPr>
              <a:t> </a:t>
            </a:r>
            <a:r>
              <a:rPr sz="1800" dirty="0">
                <a:latin typeface="Arial MT"/>
                <a:cs typeface="Arial MT"/>
              </a:rPr>
              <a:t>execution</a:t>
            </a:r>
            <a:r>
              <a:rPr sz="1800" spc="-5" dirty="0">
                <a:latin typeface="Arial MT"/>
                <a:cs typeface="Arial MT"/>
              </a:rPr>
              <a:t> </a:t>
            </a:r>
            <a:r>
              <a:rPr sz="1800" dirty="0">
                <a:latin typeface="Arial MT"/>
                <a:cs typeface="Arial MT"/>
              </a:rPr>
              <a:t>form</a:t>
            </a:r>
            <a:r>
              <a:rPr sz="1800" spc="-20" dirty="0">
                <a:latin typeface="Arial MT"/>
                <a:cs typeface="Arial MT"/>
              </a:rPr>
              <a:t> </a:t>
            </a:r>
            <a:r>
              <a:rPr sz="1800" dirty="0">
                <a:latin typeface="Arial MT"/>
                <a:cs typeface="Arial MT"/>
              </a:rPr>
              <a:t>an</a:t>
            </a:r>
            <a:r>
              <a:rPr sz="1800" spc="-5" dirty="0">
                <a:latin typeface="Arial MT"/>
                <a:cs typeface="Arial MT"/>
              </a:rPr>
              <a:t> </a:t>
            </a:r>
            <a:r>
              <a:rPr sz="1800" b="1" spc="-10" dirty="0">
                <a:solidFill>
                  <a:srgbClr val="0000FF"/>
                </a:solidFill>
                <a:latin typeface="Arial"/>
                <a:cs typeface="Arial"/>
              </a:rPr>
              <a:t>input queue</a:t>
            </a:r>
            <a:endParaRPr sz="1800">
              <a:latin typeface="Arial"/>
              <a:cs typeface="Arial"/>
            </a:endParaRPr>
          </a:p>
          <a:p>
            <a:pPr>
              <a:lnSpc>
                <a:spcPct val="100000"/>
              </a:lnSpc>
              <a:spcBef>
                <a:spcPts val="1610"/>
              </a:spcBef>
              <a:buClr>
                <a:srgbClr val="993300"/>
              </a:buClr>
              <a:buFont typeface="Wingdings"/>
              <a:buChar char=""/>
            </a:pPr>
            <a:endParaRPr sz="1800">
              <a:latin typeface="Arial"/>
              <a:cs typeface="Arial"/>
            </a:endParaRPr>
          </a:p>
          <a:p>
            <a:pPr marL="354965" indent="-342265">
              <a:lnSpc>
                <a:spcPct val="100000"/>
              </a:lnSpc>
              <a:spcBef>
                <a:spcPts val="5"/>
              </a:spcBef>
              <a:buClr>
                <a:srgbClr val="993300"/>
              </a:buClr>
              <a:buSzPct val="88888"/>
              <a:buFont typeface="Wingdings"/>
              <a:buChar char=""/>
              <a:tabLst>
                <a:tab pos="354965" algn="l"/>
              </a:tabLst>
            </a:pPr>
            <a:r>
              <a:rPr sz="1800" dirty="0">
                <a:latin typeface="Arial MT"/>
                <a:cs typeface="Arial MT"/>
              </a:rPr>
              <a:t>Addresses</a:t>
            </a:r>
            <a:r>
              <a:rPr sz="1800" spc="-30" dirty="0">
                <a:latin typeface="Arial MT"/>
                <a:cs typeface="Arial MT"/>
              </a:rPr>
              <a:t> </a:t>
            </a:r>
            <a:r>
              <a:rPr sz="1800" dirty="0">
                <a:latin typeface="Arial MT"/>
                <a:cs typeface="Arial MT"/>
              </a:rPr>
              <a:t>represented</a:t>
            </a:r>
            <a:r>
              <a:rPr sz="1800" spc="-10"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different</a:t>
            </a:r>
            <a:r>
              <a:rPr sz="1800" spc="-30" dirty="0">
                <a:latin typeface="Arial MT"/>
                <a:cs typeface="Arial MT"/>
              </a:rPr>
              <a:t> </a:t>
            </a:r>
            <a:r>
              <a:rPr sz="1800" dirty="0">
                <a:latin typeface="Arial MT"/>
                <a:cs typeface="Arial MT"/>
              </a:rPr>
              <a:t>ways</a:t>
            </a:r>
            <a:r>
              <a:rPr sz="1800" spc="30" dirty="0">
                <a:latin typeface="Arial MT"/>
                <a:cs typeface="Arial MT"/>
              </a:rPr>
              <a:t> </a:t>
            </a:r>
            <a:r>
              <a:rPr sz="1800" dirty="0">
                <a:latin typeface="Arial MT"/>
                <a:cs typeface="Arial MT"/>
              </a:rPr>
              <a:t>at</a:t>
            </a:r>
            <a:r>
              <a:rPr sz="1800" spc="-40" dirty="0">
                <a:latin typeface="Arial MT"/>
                <a:cs typeface="Arial MT"/>
              </a:rPr>
              <a:t> </a:t>
            </a:r>
            <a:r>
              <a:rPr sz="1800" dirty="0">
                <a:latin typeface="Arial MT"/>
                <a:cs typeface="Arial MT"/>
              </a:rPr>
              <a:t>different</a:t>
            </a:r>
            <a:r>
              <a:rPr sz="1800" spc="-20" dirty="0">
                <a:latin typeface="Arial MT"/>
                <a:cs typeface="Arial MT"/>
              </a:rPr>
              <a:t> </a:t>
            </a:r>
            <a:r>
              <a:rPr sz="1800" dirty="0">
                <a:latin typeface="Arial MT"/>
                <a:cs typeface="Arial MT"/>
              </a:rPr>
              <a:t>stages</a:t>
            </a:r>
            <a:r>
              <a:rPr sz="1800" spc="-30"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a</a:t>
            </a:r>
            <a:r>
              <a:rPr sz="1800" spc="-30" dirty="0">
                <a:latin typeface="Arial MT"/>
                <a:cs typeface="Arial MT"/>
              </a:rPr>
              <a:t> </a:t>
            </a:r>
            <a:r>
              <a:rPr sz="1800" dirty="0">
                <a:latin typeface="Arial MT"/>
                <a:cs typeface="Arial MT"/>
              </a:rPr>
              <a:t>program</a:t>
            </a:r>
            <a:r>
              <a:rPr sz="1800" dirty="0">
                <a:latin typeface="MS PGothic"/>
                <a:cs typeface="MS PGothic"/>
              </a:rPr>
              <a:t>’</a:t>
            </a:r>
            <a:r>
              <a:rPr sz="1800" dirty="0">
                <a:latin typeface="Arial MT"/>
                <a:cs typeface="Arial MT"/>
              </a:rPr>
              <a:t>s</a:t>
            </a:r>
            <a:r>
              <a:rPr sz="1800" spc="-25" dirty="0">
                <a:latin typeface="Arial MT"/>
                <a:cs typeface="Arial MT"/>
              </a:rPr>
              <a:t> </a:t>
            </a:r>
            <a:r>
              <a:rPr sz="1800" spc="-10" dirty="0">
                <a:latin typeface="Arial MT"/>
                <a:cs typeface="Arial MT"/>
              </a:rPr>
              <a:t>life.</a:t>
            </a:r>
            <a:endParaRPr sz="1800">
              <a:latin typeface="Arial MT"/>
              <a:cs typeface="Arial MT"/>
            </a:endParaRPr>
          </a:p>
          <a:p>
            <a:pPr>
              <a:lnSpc>
                <a:spcPct val="100000"/>
              </a:lnSpc>
              <a:spcBef>
                <a:spcPts val="159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solidFill>
                  <a:srgbClr val="FF0000"/>
                </a:solidFill>
                <a:latin typeface="Arial MT"/>
                <a:cs typeface="Arial MT"/>
              </a:rPr>
              <a:t>Addresses</a:t>
            </a:r>
            <a:r>
              <a:rPr sz="1800" spc="-15" dirty="0">
                <a:solidFill>
                  <a:srgbClr val="FF0000"/>
                </a:solidFill>
                <a:latin typeface="Arial MT"/>
                <a:cs typeface="Arial MT"/>
              </a:rPr>
              <a:t> </a:t>
            </a:r>
            <a:r>
              <a:rPr sz="1800" dirty="0">
                <a:solidFill>
                  <a:srgbClr val="FF0000"/>
                </a:solidFill>
                <a:latin typeface="Arial MT"/>
                <a:cs typeface="Arial MT"/>
              </a:rPr>
              <a:t>in</a:t>
            </a:r>
            <a:r>
              <a:rPr sz="1800" spc="-30" dirty="0">
                <a:solidFill>
                  <a:srgbClr val="FF0000"/>
                </a:solidFill>
                <a:latin typeface="Arial MT"/>
                <a:cs typeface="Arial MT"/>
              </a:rPr>
              <a:t> </a:t>
            </a:r>
            <a:r>
              <a:rPr sz="1800" dirty="0">
                <a:solidFill>
                  <a:srgbClr val="FF0000"/>
                </a:solidFill>
                <a:latin typeface="Arial MT"/>
                <a:cs typeface="Arial MT"/>
              </a:rPr>
              <a:t>source</a:t>
            </a:r>
            <a:r>
              <a:rPr sz="1800" spc="-15" dirty="0">
                <a:solidFill>
                  <a:srgbClr val="FF0000"/>
                </a:solidFill>
                <a:latin typeface="Arial MT"/>
                <a:cs typeface="Arial MT"/>
              </a:rPr>
              <a:t> </a:t>
            </a:r>
            <a:r>
              <a:rPr sz="1800" dirty="0">
                <a:solidFill>
                  <a:srgbClr val="FF0000"/>
                </a:solidFill>
                <a:latin typeface="Arial MT"/>
                <a:cs typeface="Arial MT"/>
              </a:rPr>
              <a:t>codes</a:t>
            </a:r>
            <a:r>
              <a:rPr sz="1800" spc="-15" dirty="0">
                <a:solidFill>
                  <a:srgbClr val="FF0000"/>
                </a:solidFill>
                <a:latin typeface="Arial MT"/>
                <a:cs typeface="Arial MT"/>
              </a:rPr>
              <a:t> </a:t>
            </a:r>
            <a:r>
              <a:rPr sz="1800" dirty="0">
                <a:solidFill>
                  <a:srgbClr val="FF0000"/>
                </a:solidFill>
                <a:latin typeface="Arial MT"/>
                <a:cs typeface="Arial MT"/>
              </a:rPr>
              <a:t>are</a:t>
            </a:r>
            <a:r>
              <a:rPr sz="1800" spc="-30" dirty="0">
                <a:solidFill>
                  <a:srgbClr val="FF0000"/>
                </a:solidFill>
                <a:latin typeface="Arial MT"/>
                <a:cs typeface="Arial MT"/>
              </a:rPr>
              <a:t> </a:t>
            </a:r>
            <a:r>
              <a:rPr sz="1800" dirty="0">
                <a:solidFill>
                  <a:srgbClr val="FF0000"/>
                </a:solidFill>
                <a:latin typeface="Arial MT"/>
                <a:cs typeface="Arial MT"/>
              </a:rPr>
              <a:t>symbolic.</a:t>
            </a:r>
            <a:r>
              <a:rPr sz="1800" spc="15" dirty="0">
                <a:solidFill>
                  <a:srgbClr val="FF0000"/>
                </a:solidFill>
                <a:latin typeface="Arial MT"/>
                <a:cs typeface="Arial MT"/>
              </a:rPr>
              <a:t> </a:t>
            </a:r>
            <a:r>
              <a:rPr sz="1800" dirty="0">
                <a:solidFill>
                  <a:srgbClr val="FF0000"/>
                </a:solidFill>
                <a:latin typeface="Arial MT"/>
                <a:cs typeface="Arial MT"/>
              </a:rPr>
              <a:t>They</a:t>
            </a:r>
            <a:r>
              <a:rPr sz="1800" spc="-25" dirty="0">
                <a:solidFill>
                  <a:srgbClr val="FF0000"/>
                </a:solidFill>
                <a:latin typeface="Arial MT"/>
                <a:cs typeface="Arial MT"/>
              </a:rPr>
              <a:t> </a:t>
            </a:r>
            <a:r>
              <a:rPr sz="1800" dirty="0">
                <a:solidFill>
                  <a:srgbClr val="FF0000"/>
                </a:solidFill>
                <a:latin typeface="Arial MT"/>
                <a:cs typeface="Arial MT"/>
              </a:rPr>
              <a:t>are</a:t>
            </a:r>
            <a:r>
              <a:rPr sz="1800" spc="-10" dirty="0">
                <a:solidFill>
                  <a:srgbClr val="FF0000"/>
                </a:solidFill>
                <a:latin typeface="Arial MT"/>
                <a:cs typeface="Arial MT"/>
              </a:rPr>
              <a:t> </a:t>
            </a:r>
            <a:r>
              <a:rPr sz="1800" b="1" i="1" dirty="0">
                <a:solidFill>
                  <a:srgbClr val="FF0000"/>
                </a:solidFill>
                <a:latin typeface="Arial"/>
                <a:cs typeface="Arial"/>
              </a:rPr>
              <a:t>names</a:t>
            </a:r>
            <a:r>
              <a:rPr sz="1800" b="1" i="1" spc="-15" dirty="0">
                <a:solidFill>
                  <a:srgbClr val="FF0000"/>
                </a:solidFill>
                <a:latin typeface="Arial"/>
                <a:cs typeface="Arial"/>
              </a:rPr>
              <a:t> </a:t>
            </a:r>
            <a:r>
              <a:rPr sz="1800" dirty="0">
                <a:solidFill>
                  <a:srgbClr val="FF0000"/>
                </a:solidFill>
                <a:latin typeface="Arial MT"/>
                <a:cs typeface="Arial MT"/>
              </a:rPr>
              <a:t>of</a:t>
            </a:r>
            <a:r>
              <a:rPr sz="1800" spc="-30" dirty="0">
                <a:solidFill>
                  <a:srgbClr val="FF0000"/>
                </a:solidFill>
                <a:latin typeface="Arial MT"/>
                <a:cs typeface="Arial MT"/>
              </a:rPr>
              <a:t> </a:t>
            </a:r>
            <a:r>
              <a:rPr sz="1800" spc="-10" dirty="0">
                <a:solidFill>
                  <a:srgbClr val="FF0000"/>
                </a:solidFill>
                <a:latin typeface="Arial MT"/>
                <a:cs typeface="Arial MT"/>
              </a:rPr>
              <a:t>variable</a:t>
            </a:r>
            <a:endParaRPr sz="1800">
              <a:latin typeface="Arial MT"/>
              <a:cs typeface="Arial MT"/>
            </a:endParaRPr>
          </a:p>
          <a:p>
            <a:pPr lvl="1">
              <a:lnSpc>
                <a:spcPct val="100000"/>
              </a:lnSpc>
              <a:spcBef>
                <a:spcPts val="1600"/>
              </a:spcBef>
              <a:buClr>
                <a:srgbClr val="CC6600"/>
              </a:buClr>
              <a:buFont typeface="Wingdings"/>
              <a:buChar char=""/>
            </a:pPr>
            <a:endParaRPr sz="1800">
              <a:latin typeface="Arial MT"/>
              <a:cs typeface="Arial MT"/>
            </a:endParaRPr>
          </a:p>
          <a:p>
            <a:pPr marL="756285" lvl="1" indent="-286385">
              <a:lnSpc>
                <a:spcPct val="100000"/>
              </a:lnSpc>
              <a:spcBef>
                <a:spcPts val="5"/>
              </a:spcBef>
              <a:buClr>
                <a:srgbClr val="CC6600"/>
              </a:buClr>
              <a:buSzPct val="80555"/>
              <a:buFont typeface="Wingdings"/>
              <a:buChar char=""/>
              <a:tabLst>
                <a:tab pos="756285" algn="l"/>
              </a:tabLst>
            </a:pPr>
            <a:r>
              <a:rPr sz="1800" dirty="0">
                <a:solidFill>
                  <a:srgbClr val="FF0000"/>
                </a:solidFill>
                <a:latin typeface="Arial MT"/>
                <a:cs typeface="Arial MT"/>
              </a:rPr>
              <a:t>Compilers</a:t>
            </a:r>
            <a:r>
              <a:rPr sz="1800" spc="-20" dirty="0">
                <a:solidFill>
                  <a:srgbClr val="FF0000"/>
                </a:solidFill>
                <a:latin typeface="Arial MT"/>
                <a:cs typeface="Arial MT"/>
              </a:rPr>
              <a:t> </a:t>
            </a:r>
            <a:r>
              <a:rPr sz="1800" b="1" dirty="0">
                <a:solidFill>
                  <a:srgbClr val="0000FF"/>
                </a:solidFill>
                <a:latin typeface="Arial"/>
                <a:cs typeface="Arial"/>
              </a:rPr>
              <a:t>bind</a:t>
            </a:r>
            <a:r>
              <a:rPr sz="1800" b="1" spc="-65" dirty="0">
                <a:solidFill>
                  <a:srgbClr val="0000FF"/>
                </a:solidFill>
                <a:latin typeface="Arial"/>
                <a:cs typeface="Arial"/>
              </a:rPr>
              <a:t> </a:t>
            </a:r>
            <a:r>
              <a:rPr sz="1800" dirty="0">
                <a:solidFill>
                  <a:srgbClr val="FF0000"/>
                </a:solidFill>
                <a:latin typeface="Arial MT"/>
                <a:cs typeface="Arial MT"/>
              </a:rPr>
              <a:t>symbolic</a:t>
            </a:r>
            <a:r>
              <a:rPr sz="1800" spc="-10" dirty="0">
                <a:solidFill>
                  <a:srgbClr val="FF0000"/>
                </a:solidFill>
                <a:latin typeface="Arial MT"/>
                <a:cs typeface="Arial MT"/>
              </a:rPr>
              <a:t> </a:t>
            </a:r>
            <a:r>
              <a:rPr sz="1800" dirty="0">
                <a:solidFill>
                  <a:srgbClr val="FF0000"/>
                </a:solidFill>
                <a:latin typeface="Arial MT"/>
                <a:cs typeface="Arial MT"/>
              </a:rPr>
              <a:t>addresses</a:t>
            </a:r>
            <a:r>
              <a:rPr sz="1800" spc="-40" dirty="0">
                <a:solidFill>
                  <a:srgbClr val="FF0000"/>
                </a:solidFill>
                <a:latin typeface="Arial MT"/>
                <a:cs typeface="Arial MT"/>
              </a:rPr>
              <a:t> </a:t>
            </a:r>
            <a:r>
              <a:rPr sz="1800" dirty="0">
                <a:solidFill>
                  <a:srgbClr val="FF0000"/>
                </a:solidFill>
                <a:latin typeface="Arial MT"/>
                <a:cs typeface="Arial MT"/>
              </a:rPr>
              <a:t>to</a:t>
            </a:r>
            <a:r>
              <a:rPr sz="1800" spc="-45" dirty="0">
                <a:solidFill>
                  <a:srgbClr val="FF0000"/>
                </a:solidFill>
                <a:latin typeface="Arial MT"/>
                <a:cs typeface="Arial MT"/>
              </a:rPr>
              <a:t> </a:t>
            </a:r>
            <a:r>
              <a:rPr sz="1800" dirty="0">
                <a:solidFill>
                  <a:srgbClr val="FF0000"/>
                </a:solidFill>
                <a:latin typeface="Arial MT"/>
                <a:cs typeface="Arial MT"/>
              </a:rPr>
              <a:t>relocatable</a:t>
            </a:r>
            <a:r>
              <a:rPr sz="1800" spc="-35" dirty="0">
                <a:solidFill>
                  <a:srgbClr val="FF0000"/>
                </a:solidFill>
                <a:latin typeface="Arial MT"/>
                <a:cs typeface="Arial MT"/>
              </a:rPr>
              <a:t> </a:t>
            </a:r>
            <a:r>
              <a:rPr sz="1800" spc="-10" dirty="0">
                <a:solidFill>
                  <a:srgbClr val="FF0000"/>
                </a:solidFill>
                <a:latin typeface="Arial MT"/>
                <a:cs typeface="Arial MT"/>
              </a:rPr>
              <a:t>addresses</a:t>
            </a:r>
            <a:endParaRPr sz="1800">
              <a:latin typeface="Arial MT"/>
              <a:cs typeface="Arial MT"/>
            </a:endParaRPr>
          </a:p>
          <a:p>
            <a:pPr marL="1098550" lvl="2" indent="-227965">
              <a:lnSpc>
                <a:spcPct val="100000"/>
              </a:lnSpc>
              <a:spcBef>
                <a:spcPts val="2065"/>
              </a:spcBef>
              <a:buClr>
                <a:srgbClr val="009900"/>
              </a:buClr>
              <a:buSzPct val="75000"/>
              <a:buFont typeface="Webdings"/>
              <a:buChar char=""/>
              <a:tabLst>
                <a:tab pos="1098550" algn="l"/>
              </a:tabLst>
            </a:pPr>
            <a:r>
              <a:rPr sz="1800" dirty="0">
                <a:solidFill>
                  <a:srgbClr val="FF0000"/>
                </a:solidFill>
                <a:latin typeface="Arial MT"/>
                <a:cs typeface="Arial MT"/>
              </a:rPr>
              <a:t>i.e.</a:t>
            </a:r>
            <a:r>
              <a:rPr sz="1800" spc="-25" dirty="0">
                <a:solidFill>
                  <a:srgbClr val="FF0000"/>
                </a:solidFill>
                <a:latin typeface="Arial MT"/>
                <a:cs typeface="Arial MT"/>
              </a:rPr>
              <a:t> </a:t>
            </a:r>
            <a:r>
              <a:rPr sz="1800" dirty="0">
                <a:solidFill>
                  <a:srgbClr val="FF0000"/>
                </a:solidFill>
                <a:latin typeface="MS PGothic"/>
                <a:cs typeface="MS PGothic"/>
              </a:rPr>
              <a:t>“</a:t>
            </a:r>
            <a:r>
              <a:rPr sz="1800" dirty="0">
                <a:solidFill>
                  <a:srgbClr val="FF0000"/>
                </a:solidFill>
                <a:latin typeface="Arial MT"/>
                <a:cs typeface="Arial MT"/>
              </a:rPr>
              <a:t>14</a:t>
            </a:r>
            <a:r>
              <a:rPr sz="1800" spc="-25" dirty="0">
                <a:solidFill>
                  <a:srgbClr val="FF0000"/>
                </a:solidFill>
                <a:latin typeface="Arial MT"/>
                <a:cs typeface="Arial MT"/>
              </a:rPr>
              <a:t> </a:t>
            </a:r>
            <a:r>
              <a:rPr sz="1800" dirty="0">
                <a:solidFill>
                  <a:srgbClr val="FF0000"/>
                </a:solidFill>
                <a:latin typeface="Arial MT"/>
                <a:cs typeface="Arial MT"/>
              </a:rPr>
              <a:t>bytes</a:t>
            </a:r>
            <a:r>
              <a:rPr sz="1800" spc="10" dirty="0">
                <a:solidFill>
                  <a:srgbClr val="FF0000"/>
                </a:solidFill>
                <a:latin typeface="Arial MT"/>
                <a:cs typeface="Arial MT"/>
              </a:rPr>
              <a:t> </a:t>
            </a:r>
            <a:r>
              <a:rPr sz="1800" dirty="0">
                <a:solidFill>
                  <a:srgbClr val="FF0000"/>
                </a:solidFill>
                <a:latin typeface="Arial MT"/>
                <a:cs typeface="Arial MT"/>
              </a:rPr>
              <a:t>from</a:t>
            </a:r>
            <a:r>
              <a:rPr sz="1800" spc="-15" dirty="0">
                <a:solidFill>
                  <a:srgbClr val="FF0000"/>
                </a:solidFill>
                <a:latin typeface="Arial MT"/>
                <a:cs typeface="Arial MT"/>
              </a:rPr>
              <a:t> </a:t>
            </a:r>
            <a:r>
              <a:rPr sz="1800" dirty="0">
                <a:solidFill>
                  <a:srgbClr val="FF0000"/>
                </a:solidFill>
                <a:latin typeface="Arial MT"/>
                <a:cs typeface="Arial MT"/>
              </a:rPr>
              <a:t>beginning of</a:t>
            </a:r>
            <a:r>
              <a:rPr sz="1800" spc="-15" dirty="0">
                <a:solidFill>
                  <a:srgbClr val="FF0000"/>
                </a:solidFill>
                <a:latin typeface="Arial MT"/>
                <a:cs typeface="Arial MT"/>
              </a:rPr>
              <a:t> </a:t>
            </a:r>
            <a:r>
              <a:rPr sz="1800" dirty="0">
                <a:solidFill>
                  <a:srgbClr val="FF0000"/>
                </a:solidFill>
                <a:latin typeface="Arial MT"/>
                <a:cs typeface="Arial MT"/>
              </a:rPr>
              <a:t>this</a:t>
            </a:r>
            <a:r>
              <a:rPr sz="1800" spc="-10" dirty="0">
                <a:solidFill>
                  <a:srgbClr val="FF0000"/>
                </a:solidFill>
                <a:latin typeface="Arial MT"/>
                <a:cs typeface="Arial MT"/>
              </a:rPr>
              <a:t> module</a:t>
            </a:r>
            <a:r>
              <a:rPr sz="1800" spc="-10" dirty="0">
                <a:solidFill>
                  <a:srgbClr val="FF0000"/>
                </a:solidFill>
                <a:latin typeface="MS PGothic"/>
                <a:cs typeface="MS PGothic"/>
              </a:rPr>
              <a:t>”</a:t>
            </a:r>
            <a:endParaRPr sz="1800">
              <a:latin typeface="MS PGothic"/>
              <a:cs typeface="MS PGothic"/>
            </a:endParaRPr>
          </a:p>
          <a:p>
            <a:pPr lvl="2">
              <a:lnSpc>
                <a:spcPct val="100000"/>
              </a:lnSpc>
              <a:spcBef>
                <a:spcPts val="1350"/>
              </a:spcBef>
              <a:buClr>
                <a:srgbClr val="009900"/>
              </a:buClr>
              <a:buFont typeface="Webdings"/>
              <a:buChar char=""/>
            </a:pPr>
            <a:endParaRPr sz="1800">
              <a:latin typeface="MS PGothic"/>
              <a:cs typeface="MS PGothic"/>
            </a:endParaRPr>
          </a:p>
          <a:p>
            <a:pPr marL="756285" lvl="1" indent="-286385">
              <a:lnSpc>
                <a:spcPct val="100000"/>
              </a:lnSpc>
              <a:spcBef>
                <a:spcPts val="5"/>
              </a:spcBef>
              <a:buClr>
                <a:srgbClr val="CC6600"/>
              </a:buClr>
              <a:buSzPct val="80555"/>
              <a:buFont typeface="Wingdings"/>
              <a:buChar char=""/>
              <a:tabLst>
                <a:tab pos="756285" algn="l"/>
              </a:tabLst>
            </a:pPr>
            <a:r>
              <a:rPr sz="1800" dirty="0">
                <a:solidFill>
                  <a:srgbClr val="FF0000"/>
                </a:solidFill>
                <a:latin typeface="Arial MT"/>
                <a:cs typeface="Arial MT"/>
              </a:rPr>
              <a:t>Linkers</a:t>
            </a:r>
            <a:r>
              <a:rPr sz="1800" spc="-30" dirty="0">
                <a:solidFill>
                  <a:srgbClr val="FF0000"/>
                </a:solidFill>
                <a:latin typeface="Arial MT"/>
                <a:cs typeface="Arial MT"/>
              </a:rPr>
              <a:t> </a:t>
            </a:r>
            <a:r>
              <a:rPr sz="1800" dirty="0">
                <a:solidFill>
                  <a:srgbClr val="FF0000"/>
                </a:solidFill>
                <a:latin typeface="Arial MT"/>
                <a:cs typeface="Arial MT"/>
              </a:rPr>
              <a:t>or</a:t>
            </a:r>
            <a:r>
              <a:rPr sz="1800" spc="-30" dirty="0">
                <a:solidFill>
                  <a:srgbClr val="FF0000"/>
                </a:solidFill>
                <a:latin typeface="Arial MT"/>
                <a:cs typeface="Arial MT"/>
              </a:rPr>
              <a:t> </a:t>
            </a:r>
            <a:r>
              <a:rPr sz="1800" dirty="0">
                <a:solidFill>
                  <a:srgbClr val="FF0000"/>
                </a:solidFill>
                <a:latin typeface="Arial MT"/>
                <a:cs typeface="Arial MT"/>
              </a:rPr>
              <a:t>loaders</a:t>
            </a:r>
            <a:r>
              <a:rPr sz="1800" spc="-30" dirty="0">
                <a:solidFill>
                  <a:srgbClr val="FF0000"/>
                </a:solidFill>
                <a:latin typeface="Arial MT"/>
                <a:cs typeface="Arial MT"/>
              </a:rPr>
              <a:t> </a:t>
            </a:r>
            <a:r>
              <a:rPr sz="1800" dirty="0">
                <a:solidFill>
                  <a:srgbClr val="FF0000"/>
                </a:solidFill>
                <a:latin typeface="Arial MT"/>
                <a:cs typeface="Arial MT"/>
              </a:rPr>
              <a:t>will</a:t>
            </a:r>
            <a:r>
              <a:rPr sz="1800" spc="5" dirty="0">
                <a:solidFill>
                  <a:srgbClr val="FF0000"/>
                </a:solidFill>
                <a:latin typeface="Arial MT"/>
                <a:cs typeface="Arial MT"/>
              </a:rPr>
              <a:t> </a:t>
            </a:r>
            <a:r>
              <a:rPr sz="1800" dirty="0">
                <a:solidFill>
                  <a:srgbClr val="FF0000"/>
                </a:solidFill>
                <a:latin typeface="Arial MT"/>
                <a:cs typeface="Arial MT"/>
              </a:rPr>
              <a:t>bind</a:t>
            </a:r>
            <a:r>
              <a:rPr sz="1800" spc="-30" dirty="0">
                <a:solidFill>
                  <a:srgbClr val="FF0000"/>
                </a:solidFill>
                <a:latin typeface="Arial MT"/>
                <a:cs typeface="Arial MT"/>
              </a:rPr>
              <a:t> </a:t>
            </a:r>
            <a:r>
              <a:rPr sz="1800" dirty="0">
                <a:solidFill>
                  <a:srgbClr val="FF0000"/>
                </a:solidFill>
                <a:latin typeface="Arial MT"/>
                <a:cs typeface="Arial MT"/>
              </a:rPr>
              <a:t>relocatable</a:t>
            </a:r>
            <a:r>
              <a:rPr sz="1800" spc="-20" dirty="0">
                <a:solidFill>
                  <a:srgbClr val="FF0000"/>
                </a:solidFill>
                <a:latin typeface="Arial MT"/>
                <a:cs typeface="Arial MT"/>
              </a:rPr>
              <a:t> </a:t>
            </a:r>
            <a:r>
              <a:rPr sz="1800" dirty="0">
                <a:solidFill>
                  <a:srgbClr val="FF0000"/>
                </a:solidFill>
                <a:latin typeface="Arial MT"/>
                <a:cs typeface="Arial MT"/>
              </a:rPr>
              <a:t>addresses</a:t>
            </a:r>
            <a:r>
              <a:rPr sz="1800" spc="-15" dirty="0">
                <a:solidFill>
                  <a:srgbClr val="FF0000"/>
                </a:solidFill>
                <a:latin typeface="Arial MT"/>
                <a:cs typeface="Arial MT"/>
              </a:rPr>
              <a:t> </a:t>
            </a:r>
            <a:r>
              <a:rPr sz="1800" dirty="0">
                <a:solidFill>
                  <a:srgbClr val="FF0000"/>
                </a:solidFill>
                <a:latin typeface="Arial MT"/>
                <a:cs typeface="Arial MT"/>
              </a:rPr>
              <a:t>to</a:t>
            </a:r>
            <a:r>
              <a:rPr sz="1800" spc="-45" dirty="0">
                <a:solidFill>
                  <a:srgbClr val="FF0000"/>
                </a:solidFill>
                <a:latin typeface="Arial MT"/>
                <a:cs typeface="Arial MT"/>
              </a:rPr>
              <a:t> </a:t>
            </a:r>
            <a:r>
              <a:rPr sz="1800" dirty="0">
                <a:solidFill>
                  <a:srgbClr val="FF0000"/>
                </a:solidFill>
                <a:latin typeface="Arial MT"/>
                <a:cs typeface="Arial MT"/>
              </a:rPr>
              <a:t>absolute</a:t>
            </a:r>
            <a:r>
              <a:rPr sz="1800" spc="-20" dirty="0">
                <a:solidFill>
                  <a:srgbClr val="FF0000"/>
                </a:solidFill>
                <a:latin typeface="Arial MT"/>
                <a:cs typeface="Arial MT"/>
              </a:rPr>
              <a:t> </a:t>
            </a:r>
            <a:r>
              <a:rPr sz="1800" spc="-10" dirty="0">
                <a:solidFill>
                  <a:srgbClr val="FF0000"/>
                </a:solidFill>
                <a:latin typeface="Arial MT"/>
                <a:cs typeface="Arial MT"/>
              </a:rPr>
              <a:t>addresses</a:t>
            </a:r>
            <a:endParaRPr sz="1800">
              <a:latin typeface="Arial MT"/>
              <a:cs typeface="Arial MT"/>
            </a:endParaRPr>
          </a:p>
          <a:p>
            <a:pPr marL="1098550" lvl="2" indent="-227965">
              <a:lnSpc>
                <a:spcPct val="100000"/>
              </a:lnSpc>
              <a:spcBef>
                <a:spcPts val="2050"/>
              </a:spcBef>
              <a:buClr>
                <a:srgbClr val="009900"/>
              </a:buClr>
              <a:buSzPct val="75000"/>
              <a:buFont typeface="Webdings"/>
              <a:buChar char=""/>
              <a:tabLst>
                <a:tab pos="1098550" algn="l"/>
              </a:tabLst>
            </a:pPr>
            <a:r>
              <a:rPr sz="1800" dirty="0">
                <a:solidFill>
                  <a:srgbClr val="FF0000"/>
                </a:solidFill>
                <a:latin typeface="Arial MT"/>
                <a:cs typeface="Arial MT"/>
              </a:rPr>
              <a:t>i.e. </a:t>
            </a:r>
            <a:r>
              <a:rPr sz="1800" spc="-10" dirty="0">
                <a:solidFill>
                  <a:srgbClr val="FF0000"/>
                </a:solidFill>
                <a:latin typeface="Arial MT"/>
                <a:cs typeface="Arial MT"/>
              </a:rPr>
              <a:t>74014</a:t>
            </a:r>
            <a:endParaRPr sz="1800">
              <a:latin typeface="Arial MT"/>
              <a:cs typeface="Arial MT"/>
            </a:endParaRPr>
          </a:p>
          <a:p>
            <a:pPr lvl="2">
              <a:lnSpc>
                <a:spcPct val="100000"/>
              </a:lnSpc>
              <a:spcBef>
                <a:spcPts val="1605"/>
              </a:spcBef>
              <a:buClr>
                <a:srgbClr val="009900"/>
              </a:buClr>
              <a:buFont typeface="Web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solidFill>
                  <a:srgbClr val="FF0000"/>
                </a:solidFill>
                <a:latin typeface="Arial MT"/>
                <a:cs typeface="Arial MT"/>
              </a:rPr>
              <a:t>Each</a:t>
            </a:r>
            <a:r>
              <a:rPr sz="1800" spc="-30" dirty="0">
                <a:solidFill>
                  <a:srgbClr val="FF0000"/>
                </a:solidFill>
                <a:latin typeface="Arial MT"/>
                <a:cs typeface="Arial MT"/>
              </a:rPr>
              <a:t> </a:t>
            </a:r>
            <a:r>
              <a:rPr sz="1800" dirty="0">
                <a:solidFill>
                  <a:srgbClr val="FF0000"/>
                </a:solidFill>
                <a:latin typeface="Arial MT"/>
                <a:cs typeface="Arial MT"/>
              </a:rPr>
              <a:t>binding</a:t>
            </a:r>
            <a:r>
              <a:rPr sz="1800" spc="-5"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a</a:t>
            </a:r>
            <a:r>
              <a:rPr sz="1800" spc="-20" dirty="0">
                <a:solidFill>
                  <a:srgbClr val="FF0000"/>
                </a:solidFill>
                <a:latin typeface="Arial MT"/>
                <a:cs typeface="Arial MT"/>
              </a:rPr>
              <a:t> </a:t>
            </a:r>
            <a:r>
              <a:rPr sz="1800" dirty="0">
                <a:solidFill>
                  <a:srgbClr val="FF0000"/>
                </a:solidFill>
                <a:latin typeface="Arial MT"/>
                <a:cs typeface="Arial MT"/>
              </a:rPr>
              <a:t>mapping from</a:t>
            </a:r>
            <a:r>
              <a:rPr sz="1800" spc="-15" dirty="0">
                <a:solidFill>
                  <a:srgbClr val="FF0000"/>
                </a:solidFill>
                <a:latin typeface="Arial MT"/>
                <a:cs typeface="Arial MT"/>
              </a:rPr>
              <a:t> </a:t>
            </a:r>
            <a:r>
              <a:rPr sz="1800" dirty="0">
                <a:solidFill>
                  <a:srgbClr val="FF0000"/>
                </a:solidFill>
                <a:latin typeface="Arial MT"/>
                <a:cs typeface="Arial MT"/>
              </a:rPr>
              <a:t>one</a:t>
            </a:r>
            <a:r>
              <a:rPr sz="1800" spc="-20" dirty="0">
                <a:solidFill>
                  <a:srgbClr val="FF0000"/>
                </a:solidFill>
                <a:latin typeface="Arial MT"/>
                <a:cs typeface="Arial MT"/>
              </a:rPr>
              <a:t> </a:t>
            </a:r>
            <a:r>
              <a:rPr sz="1800" dirty="0">
                <a:solidFill>
                  <a:srgbClr val="FF0000"/>
                </a:solidFill>
                <a:latin typeface="Arial MT"/>
                <a:cs typeface="Arial MT"/>
              </a:rPr>
              <a:t>address</a:t>
            </a:r>
            <a:r>
              <a:rPr sz="1800" spc="-10" dirty="0">
                <a:solidFill>
                  <a:srgbClr val="FF0000"/>
                </a:solidFill>
                <a:latin typeface="Arial MT"/>
                <a:cs typeface="Arial MT"/>
              </a:rPr>
              <a:t> </a:t>
            </a:r>
            <a:r>
              <a:rPr sz="1800" dirty="0">
                <a:solidFill>
                  <a:srgbClr val="FF0000"/>
                </a:solidFill>
                <a:latin typeface="Arial MT"/>
                <a:cs typeface="Arial MT"/>
              </a:rPr>
              <a:t>space</a:t>
            </a:r>
            <a:r>
              <a:rPr sz="1800" spc="-15"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spc="-10" dirty="0">
                <a:solidFill>
                  <a:srgbClr val="FF0000"/>
                </a:solidFill>
                <a:latin typeface="Arial MT"/>
                <a:cs typeface="Arial MT"/>
              </a:rPr>
              <a:t>another</a:t>
            </a:r>
            <a:endParaRPr sz="18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4419" rIns="0" bIns="0" rtlCol="0">
            <a:spAutoFit/>
          </a:bodyPr>
          <a:lstStyle/>
          <a:p>
            <a:pPr marL="1439545">
              <a:lnSpc>
                <a:spcPct val="100000"/>
              </a:lnSpc>
              <a:spcBef>
                <a:spcPts val="95"/>
              </a:spcBef>
            </a:pPr>
            <a:r>
              <a:rPr sz="2800" dirty="0">
                <a:solidFill>
                  <a:srgbClr val="006699"/>
                </a:solidFill>
              </a:rPr>
              <a:t>Binding</a:t>
            </a:r>
            <a:r>
              <a:rPr sz="2800" spc="-65" dirty="0">
                <a:solidFill>
                  <a:srgbClr val="006699"/>
                </a:solidFill>
              </a:rPr>
              <a:t> </a:t>
            </a:r>
            <a:r>
              <a:rPr sz="2800" dirty="0">
                <a:solidFill>
                  <a:srgbClr val="006699"/>
                </a:solidFill>
              </a:rPr>
              <a:t>of</a:t>
            </a:r>
            <a:r>
              <a:rPr sz="2800" spc="-70" dirty="0">
                <a:solidFill>
                  <a:srgbClr val="006699"/>
                </a:solidFill>
              </a:rPr>
              <a:t> </a:t>
            </a:r>
            <a:r>
              <a:rPr sz="2800" dirty="0">
                <a:solidFill>
                  <a:srgbClr val="006699"/>
                </a:solidFill>
              </a:rPr>
              <a:t>Instructions</a:t>
            </a:r>
            <a:r>
              <a:rPr sz="2800" spc="-50" dirty="0">
                <a:solidFill>
                  <a:srgbClr val="006699"/>
                </a:solidFill>
              </a:rPr>
              <a:t> </a:t>
            </a:r>
            <a:r>
              <a:rPr sz="2800" dirty="0">
                <a:solidFill>
                  <a:srgbClr val="006699"/>
                </a:solidFill>
              </a:rPr>
              <a:t>and</a:t>
            </a:r>
            <a:r>
              <a:rPr sz="2800" spc="-75" dirty="0">
                <a:solidFill>
                  <a:srgbClr val="006699"/>
                </a:solidFill>
              </a:rPr>
              <a:t> </a:t>
            </a:r>
            <a:r>
              <a:rPr sz="2800" dirty="0">
                <a:solidFill>
                  <a:srgbClr val="006699"/>
                </a:solidFill>
              </a:rPr>
              <a:t>Data</a:t>
            </a:r>
            <a:r>
              <a:rPr sz="2800" spc="-65" dirty="0">
                <a:solidFill>
                  <a:srgbClr val="006699"/>
                </a:solidFill>
              </a:rPr>
              <a:t> </a:t>
            </a:r>
            <a:r>
              <a:rPr sz="2800" dirty="0">
                <a:solidFill>
                  <a:srgbClr val="006699"/>
                </a:solidFill>
              </a:rPr>
              <a:t>to</a:t>
            </a:r>
            <a:r>
              <a:rPr sz="2800" spc="-70" dirty="0">
                <a:solidFill>
                  <a:srgbClr val="006699"/>
                </a:solidFill>
              </a:rPr>
              <a:t> </a:t>
            </a:r>
            <a:r>
              <a:rPr sz="2800" spc="-10" dirty="0">
                <a:solidFill>
                  <a:srgbClr val="006699"/>
                </a:solidFill>
              </a:rPr>
              <a:t>Memory</a:t>
            </a:r>
            <a:endParaRPr sz="2800" dirty="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11</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55878"/>
            <a:ext cx="8643620" cy="5142865"/>
          </a:xfrm>
          <a:prstGeom prst="rect">
            <a:avLst/>
          </a:prstGeom>
        </p:spPr>
        <p:txBody>
          <a:bodyPr vert="horz" wrap="square" lIns="0" tIns="12700" rIns="0" bIns="0" rtlCol="0">
            <a:spAutoFit/>
          </a:bodyPr>
          <a:lstStyle/>
          <a:p>
            <a:pPr marL="355600" marR="445134" indent="-342900">
              <a:lnSpc>
                <a:spcPct val="100000"/>
              </a:lnSpc>
              <a:spcBef>
                <a:spcPts val="100"/>
              </a:spcBef>
              <a:buClr>
                <a:srgbClr val="993300"/>
              </a:buClr>
              <a:buSzPct val="88888"/>
              <a:buFont typeface="Wingdings"/>
              <a:buChar char=""/>
              <a:tabLst>
                <a:tab pos="355600" algn="l"/>
              </a:tabLst>
            </a:pPr>
            <a:r>
              <a:rPr sz="1800" dirty="0">
                <a:latin typeface="Arial MT"/>
                <a:cs typeface="Arial MT"/>
              </a:rPr>
              <a:t>Address</a:t>
            </a:r>
            <a:r>
              <a:rPr sz="1800" spc="-20" dirty="0">
                <a:latin typeface="Arial MT"/>
                <a:cs typeface="Arial MT"/>
              </a:rPr>
              <a:t> </a:t>
            </a:r>
            <a:r>
              <a:rPr sz="1800" dirty="0">
                <a:latin typeface="Arial MT"/>
                <a:cs typeface="Arial MT"/>
              </a:rPr>
              <a:t>binding</a:t>
            </a:r>
            <a:r>
              <a:rPr sz="1800" spc="-10"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instructions</a:t>
            </a:r>
            <a:r>
              <a:rPr sz="1800" spc="-25" dirty="0">
                <a:latin typeface="Arial MT"/>
                <a:cs typeface="Arial MT"/>
              </a:rPr>
              <a:t> </a:t>
            </a:r>
            <a:r>
              <a:rPr sz="1800" dirty="0">
                <a:latin typeface="Arial MT"/>
                <a:cs typeface="Arial MT"/>
              </a:rPr>
              <a:t>and</a:t>
            </a:r>
            <a:r>
              <a:rPr sz="1800" spc="-25" dirty="0">
                <a:latin typeface="Arial MT"/>
                <a:cs typeface="Arial MT"/>
              </a:rPr>
              <a:t> </a:t>
            </a:r>
            <a:r>
              <a:rPr sz="1800" dirty="0">
                <a:latin typeface="Arial MT"/>
                <a:cs typeface="Arial MT"/>
              </a:rPr>
              <a:t>data</a:t>
            </a:r>
            <a:r>
              <a:rPr sz="1800" spc="-25"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memory</a:t>
            </a:r>
            <a:r>
              <a:rPr sz="1800" spc="-35" dirty="0">
                <a:latin typeface="Arial MT"/>
                <a:cs typeface="Arial MT"/>
              </a:rPr>
              <a:t> </a:t>
            </a:r>
            <a:r>
              <a:rPr sz="1800" dirty="0">
                <a:latin typeface="Arial MT"/>
                <a:cs typeface="Arial MT"/>
              </a:rPr>
              <a:t>addresses</a:t>
            </a:r>
            <a:r>
              <a:rPr sz="1800" spc="-10" dirty="0">
                <a:latin typeface="Arial MT"/>
                <a:cs typeface="Arial MT"/>
              </a:rPr>
              <a:t> </a:t>
            </a:r>
            <a:r>
              <a:rPr sz="1800" dirty="0">
                <a:latin typeface="Arial MT"/>
                <a:cs typeface="Arial MT"/>
              </a:rPr>
              <a:t>can</a:t>
            </a:r>
            <a:r>
              <a:rPr sz="1800" spc="-40" dirty="0">
                <a:latin typeface="Arial MT"/>
                <a:cs typeface="Arial MT"/>
              </a:rPr>
              <a:t> </a:t>
            </a:r>
            <a:r>
              <a:rPr sz="1800" dirty="0">
                <a:latin typeface="Arial MT"/>
                <a:cs typeface="Arial MT"/>
              </a:rPr>
              <a:t>happen</a:t>
            </a:r>
            <a:r>
              <a:rPr sz="1800" spc="-10" dirty="0">
                <a:latin typeface="Arial MT"/>
                <a:cs typeface="Arial MT"/>
              </a:rPr>
              <a:t> </a:t>
            </a:r>
            <a:r>
              <a:rPr sz="1800" spc="-25" dirty="0">
                <a:latin typeface="Arial MT"/>
                <a:cs typeface="Arial MT"/>
              </a:rPr>
              <a:t>at </a:t>
            </a:r>
            <a:r>
              <a:rPr sz="1800" dirty="0">
                <a:latin typeface="Arial MT"/>
                <a:cs typeface="Arial MT"/>
              </a:rPr>
              <a:t>three</a:t>
            </a:r>
            <a:r>
              <a:rPr sz="1800" spc="-35" dirty="0">
                <a:latin typeface="Arial MT"/>
                <a:cs typeface="Arial MT"/>
              </a:rPr>
              <a:t> </a:t>
            </a:r>
            <a:r>
              <a:rPr sz="1800" dirty="0">
                <a:latin typeface="Arial MT"/>
                <a:cs typeface="Arial MT"/>
              </a:rPr>
              <a:t>different</a:t>
            </a:r>
            <a:r>
              <a:rPr sz="1800" spc="-25" dirty="0">
                <a:latin typeface="Arial MT"/>
                <a:cs typeface="Arial MT"/>
              </a:rPr>
              <a:t> </a:t>
            </a:r>
            <a:r>
              <a:rPr sz="1800" spc="-10" dirty="0">
                <a:latin typeface="Arial MT"/>
                <a:cs typeface="Arial MT"/>
              </a:rPr>
              <a:t>stages</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 pos="2381885" algn="l"/>
              </a:tabLst>
            </a:pPr>
            <a:r>
              <a:rPr sz="1800" b="1" dirty="0">
                <a:latin typeface="Arial"/>
                <a:cs typeface="Arial"/>
              </a:rPr>
              <a:t>Compile</a:t>
            </a:r>
            <a:r>
              <a:rPr sz="1800" b="1" spc="-20" dirty="0">
                <a:latin typeface="Arial"/>
                <a:cs typeface="Arial"/>
              </a:rPr>
              <a:t> time</a:t>
            </a:r>
            <a:r>
              <a:rPr sz="1800" spc="-20" dirty="0">
                <a:latin typeface="Arial MT"/>
                <a:cs typeface="Arial MT"/>
              </a:rPr>
              <a:t>:</a:t>
            </a:r>
            <a:r>
              <a:rPr sz="1800" dirty="0">
                <a:latin typeface="Arial MT"/>
                <a:cs typeface="Arial MT"/>
              </a:rPr>
              <a:t>	If</a:t>
            </a:r>
            <a:r>
              <a:rPr sz="1800" spc="-30" dirty="0">
                <a:latin typeface="Arial MT"/>
                <a:cs typeface="Arial MT"/>
              </a:rPr>
              <a:t> </a:t>
            </a:r>
            <a:r>
              <a:rPr sz="1800" dirty="0">
                <a:latin typeface="Arial MT"/>
                <a:cs typeface="Arial MT"/>
              </a:rPr>
              <a:t>memory</a:t>
            </a:r>
            <a:r>
              <a:rPr sz="1800" spc="-35" dirty="0">
                <a:latin typeface="Arial MT"/>
                <a:cs typeface="Arial MT"/>
              </a:rPr>
              <a:t> </a:t>
            </a:r>
            <a:r>
              <a:rPr sz="1800" dirty="0">
                <a:latin typeface="Arial MT"/>
                <a:cs typeface="Arial MT"/>
              </a:rPr>
              <a:t>location</a:t>
            </a:r>
            <a:r>
              <a:rPr sz="1800" spc="-2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known</a:t>
            </a:r>
            <a:r>
              <a:rPr sz="1800" spc="1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priori</a:t>
            </a:r>
            <a:r>
              <a:rPr sz="1800" spc="-15" dirty="0">
                <a:latin typeface="Arial MT"/>
                <a:cs typeface="Arial MT"/>
              </a:rPr>
              <a:t> </a:t>
            </a:r>
            <a:r>
              <a:rPr sz="1800" dirty="0">
                <a:latin typeface="Arial MT"/>
                <a:cs typeface="Arial MT"/>
              </a:rPr>
              <a:t>at</a:t>
            </a:r>
            <a:r>
              <a:rPr sz="1800" spc="-25" dirty="0">
                <a:latin typeface="Arial MT"/>
                <a:cs typeface="Arial MT"/>
              </a:rPr>
              <a:t> </a:t>
            </a:r>
            <a:r>
              <a:rPr sz="1800" dirty="0">
                <a:latin typeface="Arial MT"/>
                <a:cs typeface="Arial MT"/>
              </a:rPr>
              <a:t>compile</a:t>
            </a:r>
            <a:r>
              <a:rPr sz="1800" spc="-20" dirty="0">
                <a:latin typeface="Arial MT"/>
                <a:cs typeface="Arial MT"/>
              </a:rPr>
              <a:t> </a:t>
            </a:r>
            <a:r>
              <a:rPr sz="1800" dirty="0">
                <a:latin typeface="Arial MT"/>
                <a:cs typeface="Arial MT"/>
              </a:rPr>
              <a:t>time,</a:t>
            </a:r>
            <a:r>
              <a:rPr sz="1800" spc="-10" dirty="0">
                <a:latin typeface="Arial MT"/>
                <a:cs typeface="Arial MT"/>
              </a:rPr>
              <a:t> </a:t>
            </a:r>
            <a:r>
              <a:rPr sz="1800" b="1" spc="-10" dirty="0">
                <a:solidFill>
                  <a:srgbClr val="3366FF"/>
                </a:solidFill>
                <a:latin typeface="Arial"/>
                <a:cs typeface="Arial"/>
              </a:rPr>
              <a:t>absolute</a:t>
            </a:r>
            <a:endParaRPr sz="1800">
              <a:latin typeface="Arial"/>
              <a:cs typeface="Arial"/>
            </a:endParaRPr>
          </a:p>
          <a:p>
            <a:pPr marL="756285">
              <a:lnSpc>
                <a:spcPct val="100000"/>
              </a:lnSpc>
              <a:spcBef>
                <a:spcPts val="5"/>
              </a:spcBef>
            </a:pPr>
            <a:r>
              <a:rPr sz="1800" b="1" dirty="0">
                <a:solidFill>
                  <a:srgbClr val="3366FF"/>
                </a:solidFill>
                <a:latin typeface="Arial"/>
                <a:cs typeface="Arial"/>
              </a:rPr>
              <a:t>code</a:t>
            </a:r>
            <a:r>
              <a:rPr sz="1800" b="1" spc="-45" dirty="0">
                <a:solidFill>
                  <a:srgbClr val="3366FF"/>
                </a:solidFill>
                <a:latin typeface="Arial"/>
                <a:cs typeface="Arial"/>
              </a:rPr>
              <a:t> </a:t>
            </a:r>
            <a:r>
              <a:rPr sz="1800" dirty="0">
                <a:latin typeface="Arial MT"/>
                <a:cs typeface="Arial MT"/>
              </a:rPr>
              <a:t>can</a:t>
            </a:r>
            <a:r>
              <a:rPr sz="1800" spc="-35" dirty="0">
                <a:latin typeface="Arial MT"/>
                <a:cs typeface="Arial MT"/>
              </a:rPr>
              <a:t> </a:t>
            </a:r>
            <a:r>
              <a:rPr sz="1800" dirty="0">
                <a:latin typeface="Arial MT"/>
                <a:cs typeface="Arial MT"/>
              </a:rPr>
              <a:t>be</a:t>
            </a:r>
            <a:r>
              <a:rPr sz="1800" spc="-40" dirty="0">
                <a:latin typeface="Arial MT"/>
                <a:cs typeface="Arial MT"/>
              </a:rPr>
              <a:t> </a:t>
            </a:r>
            <a:r>
              <a:rPr sz="1800" dirty="0">
                <a:latin typeface="Arial MT"/>
                <a:cs typeface="Arial MT"/>
              </a:rPr>
              <a:t>generated;</a:t>
            </a:r>
            <a:r>
              <a:rPr sz="1800" spc="-5" dirty="0">
                <a:latin typeface="Arial MT"/>
                <a:cs typeface="Arial MT"/>
              </a:rPr>
              <a:t> </a:t>
            </a:r>
            <a:r>
              <a:rPr sz="1800" dirty="0">
                <a:latin typeface="Arial MT"/>
                <a:cs typeface="Arial MT"/>
              </a:rPr>
              <a:t>must</a:t>
            </a:r>
            <a:r>
              <a:rPr sz="1800" spc="-40" dirty="0">
                <a:latin typeface="Arial MT"/>
                <a:cs typeface="Arial MT"/>
              </a:rPr>
              <a:t> </a:t>
            </a:r>
            <a:r>
              <a:rPr sz="1800" dirty="0">
                <a:latin typeface="Arial MT"/>
                <a:cs typeface="Arial MT"/>
              </a:rPr>
              <a:t>recompile</a:t>
            </a:r>
            <a:r>
              <a:rPr sz="1800" spc="-15" dirty="0">
                <a:latin typeface="Arial MT"/>
                <a:cs typeface="Arial MT"/>
              </a:rPr>
              <a:t> </a:t>
            </a:r>
            <a:r>
              <a:rPr sz="1800" dirty="0">
                <a:latin typeface="Arial MT"/>
                <a:cs typeface="Arial MT"/>
              </a:rPr>
              <a:t>code</a:t>
            </a:r>
            <a:r>
              <a:rPr sz="1800" spc="-25" dirty="0">
                <a:latin typeface="Arial MT"/>
                <a:cs typeface="Arial MT"/>
              </a:rPr>
              <a:t> </a:t>
            </a:r>
            <a:r>
              <a:rPr sz="1800" dirty="0">
                <a:latin typeface="Arial MT"/>
                <a:cs typeface="Arial MT"/>
              </a:rPr>
              <a:t>if</a:t>
            </a:r>
            <a:r>
              <a:rPr sz="1800" spc="-35" dirty="0">
                <a:latin typeface="Arial MT"/>
                <a:cs typeface="Arial MT"/>
              </a:rPr>
              <a:t> </a:t>
            </a:r>
            <a:r>
              <a:rPr sz="1800" dirty="0">
                <a:latin typeface="Arial MT"/>
                <a:cs typeface="Arial MT"/>
              </a:rPr>
              <a:t>starting</a:t>
            </a:r>
            <a:r>
              <a:rPr sz="1800" spc="-25" dirty="0">
                <a:latin typeface="Arial MT"/>
                <a:cs typeface="Arial MT"/>
              </a:rPr>
              <a:t> </a:t>
            </a:r>
            <a:r>
              <a:rPr sz="1800" dirty="0">
                <a:latin typeface="Arial MT"/>
                <a:cs typeface="Arial MT"/>
              </a:rPr>
              <a:t>location</a:t>
            </a:r>
            <a:r>
              <a:rPr sz="1800" spc="-25" dirty="0">
                <a:latin typeface="Arial MT"/>
                <a:cs typeface="Arial MT"/>
              </a:rPr>
              <a:t> </a:t>
            </a:r>
            <a:r>
              <a:rPr sz="1800" spc="-10" dirty="0">
                <a:latin typeface="Arial MT"/>
                <a:cs typeface="Arial MT"/>
              </a:rPr>
              <a:t>changes</a:t>
            </a:r>
            <a:endParaRPr sz="1800">
              <a:latin typeface="Arial MT"/>
              <a:cs typeface="Arial MT"/>
            </a:endParaRPr>
          </a:p>
          <a:p>
            <a:pPr marL="1098550" lvl="2" indent="-227965">
              <a:lnSpc>
                <a:spcPct val="100000"/>
              </a:lnSpc>
              <a:spcBef>
                <a:spcPts val="2050"/>
              </a:spcBef>
              <a:buClr>
                <a:srgbClr val="009900"/>
              </a:buClr>
              <a:buSzPct val="75000"/>
              <a:buFont typeface="Webdings"/>
              <a:buChar char=""/>
              <a:tabLst>
                <a:tab pos="1098550" algn="l"/>
              </a:tabLst>
            </a:pPr>
            <a:r>
              <a:rPr sz="1800" dirty="0">
                <a:solidFill>
                  <a:srgbClr val="FF0000"/>
                </a:solidFill>
                <a:latin typeface="Arial MT"/>
                <a:cs typeface="Arial MT"/>
              </a:rPr>
              <a:t>If</a:t>
            </a:r>
            <a:r>
              <a:rPr sz="1800" spc="-30" dirty="0">
                <a:solidFill>
                  <a:srgbClr val="FF0000"/>
                </a:solidFill>
                <a:latin typeface="Arial MT"/>
                <a:cs typeface="Arial MT"/>
              </a:rPr>
              <a:t> </a:t>
            </a:r>
            <a:r>
              <a:rPr sz="1800" dirty="0">
                <a:solidFill>
                  <a:srgbClr val="FF0000"/>
                </a:solidFill>
                <a:latin typeface="Arial MT"/>
                <a:cs typeface="Arial MT"/>
              </a:rPr>
              <a:t>a</a:t>
            </a:r>
            <a:r>
              <a:rPr sz="1800" spc="-20" dirty="0">
                <a:solidFill>
                  <a:srgbClr val="FF0000"/>
                </a:solidFill>
                <a:latin typeface="Arial MT"/>
                <a:cs typeface="Arial MT"/>
              </a:rPr>
              <a:t> </a:t>
            </a:r>
            <a:r>
              <a:rPr sz="1800" dirty="0">
                <a:solidFill>
                  <a:srgbClr val="FF0000"/>
                </a:solidFill>
                <a:latin typeface="Arial MT"/>
                <a:cs typeface="Arial MT"/>
              </a:rPr>
              <a:t>process</a:t>
            </a:r>
            <a:r>
              <a:rPr sz="1800" spc="-15" dirty="0">
                <a:solidFill>
                  <a:srgbClr val="FF0000"/>
                </a:solidFill>
                <a:latin typeface="Arial MT"/>
                <a:cs typeface="Arial MT"/>
              </a:rPr>
              <a:t> </a:t>
            </a:r>
            <a:r>
              <a:rPr sz="1800" dirty="0">
                <a:solidFill>
                  <a:srgbClr val="FF0000"/>
                </a:solidFill>
                <a:latin typeface="Arial MT"/>
                <a:cs typeface="Arial MT"/>
              </a:rPr>
              <a:t>will</a:t>
            </a:r>
            <a:r>
              <a:rPr sz="1800" spc="25" dirty="0">
                <a:solidFill>
                  <a:srgbClr val="FF0000"/>
                </a:solidFill>
                <a:latin typeface="Arial MT"/>
                <a:cs typeface="Arial MT"/>
              </a:rPr>
              <a:t> </a:t>
            </a:r>
            <a:r>
              <a:rPr sz="1800" dirty="0">
                <a:solidFill>
                  <a:srgbClr val="FF0000"/>
                </a:solidFill>
                <a:latin typeface="Arial MT"/>
                <a:cs typeface="Arial MT"/>
              </a:rPr>
              <a:t>reside</a:t>
            </a:r>
            <a:r>
              <a:rPr sz="1800" spc="-20" dirty="0">
                <a:solidFill>
                  <a:srgbClr val="FF0000"/>
                </a:solidFill>
                <a:latin typeface="Arial MT"/>
                <a:cs typeface="Arial MT"/>
              </a:rPr>
              <a:t> </a:t>
            </a:r>
            <a:r>
              <a:rPr sz="1800" dirty="0">
                <a:solidFill>
                  <a:srgbClr val="FF0000"/>
                </a:solidFill>
                <a:latin typeface="Arial MT"/>
                <a:cs typeface="Arial MT"/>
              </a:rPr>
              <a:t>at</a:t>
            </a:r>
            <a:r>
              <a:rPr sz="1800" spc="-30" dirty="0">
                <a:solidFill>
                  <a:srgbClr val="FF0000"/>
                </a:solidFill>
                <a:latin typeface="Arial MT"/>
                <a:cs typeface="Arial MT"/>
              </a:rPr>
              <a:t> </a:t>
            </a:r>
            <a:r>
              <a:rPr sz="1800" dirty="0">
                <a:solidFill>
                  <a:srgbClr val="FF0000"/>
                </a:solidFill>
                <a:latin typeface="Arial MT"/>
                <a:cs typeface="Arial MT"/>
              </a:rPr>
              <a:t>location</a:t>
            </a:r>
            <a:r>
              <a:rPr sz="1800" spc="5" dirty="0">
                <a:solidFill>
                  <a:srgbClr val="FF0000"/>
                </a:solidFill>
                <a:latin typeface="Arial MT"/>
                <a:cs typeface="Arial MT"/>
              </a:rPr>
              <a:t> </a:t>
            </a:r>
            <a:r>
              <a:rPr sz="1800" i="1" dirty="0">
                <a:solidFill>
                  <a:srgbClr val="FF0000"/>
                </a:solidFill>
                <a:latin typeface="Arial"/>
                <a:cs typeface="Arial"/>
              </a:rPr>
              <a:t>L</a:t>
            </a:r>
            <a:r>
              <a:rPr sz="1800" i="1" spc="-25" dirty="0">
                <a:solidFill>
                  <a:srgbClr val="FF0000"/>
                </a:solidFill>
                <a:latin typeface="Arial"/>
                <a:cs typeface="Arial"/>
              </a:rPr>
              <a:t> </a:t>
            </a:r>
            <a:r>
              <a:rPr sz="1800" dirty="0">
                <a:solidFill>
                  <a:srgbClr val="FF0000"/>
                </a:solidFill>
                <a:latin typeface="Arial MT"/>
                <a:cs typeface="Arial MT"/>
              </a:rPr>
              <a:t>then</a:t>
            </a:r>
            <a:r>
              <a:rPr sz="1800" spc="-20" dirty="0">
                <a:solidFill>
                  <a:srgbClr val="FF0000"/>
                </a:solidFill>
                <a:latin typeface="Arial MT"/>
                <a:cs typeface="Arial MT"/>
              </a:rPr>
              <a:t> </a:t>
            </a:r>
            <a:r>
              <a:rPr sz="1800" dirty="0">
                <a:solidFill>
                  <a:srgbClr val="FF0000"/>
                </a:solidFill>
                <a:latin typeface="Arial MT"/>
                <a:cs typeface="Arial MT"/>
              </a:rPr>
              <a:t>its</a:t>
            </a:r>
            <a:r>
              <a:rPr sz="1800" spc="-25" dirty="0">
                <a:solidFill>
                  <a:srgbClr val="FF0000"/>
                </a:solidFill>
                <a:latin typeface="Arial MT"/>
                <a:cs typeface="Arial MT"/>
              </a:rPr>
              <a:t> </a:t>
            </a:r>
            <a:r>
              <a:rPr sz="1800" dirty="0">
                <a:solidFill>
                  <a:srgbClr val="FF0000"/>
                </a:solidFill>
                <a:latin typeface="Arial MT"/>
                <a:cs typeface="Arial MT"/>
              </a:rPr>
              <a:t>compile</a:t>
            </a:r>
            <a:r>
              <a:rPr sz="1800" spc="-15" dirty="0">
                <a:solidFill>
                  <a:srgbClr val="FF0000"/>
                </a:solidFill>
                <a:latin typeface="Arial MT"/>
                <a:cs typeface="Arial MT"/>
              </a:rPr>
              <a:t> </a:t>
            </a:r>
            <a:r>
              <a:rPr sz="1800" dirty="0">
                <a:solidFill>
                  <a:srgbClr val="FF0000"/>
                </a:solidFill>
                <a:latin typeface="Arial MT"/>
                <a:cs typeface="Arial MT"/>
              </a:rPr>
              <a:t>code</a:t>
            </a:r>
            <a:r>
              <a:rPr sz="1800" spc="-15" dirty="0">
                <a:solidFill>
                  <a:srgbClr val="FF0000"/>
                </a:solidFill>
                <a:latin typeface="Arial MT"/>
                <a:cs typeface="Arial MT"/>
              </a:rPr>
              <a:t> </a:t>
            </a:r>
            <a:r>
              <a:rPr sz="1800" dirty="0">
                <a:solidFill>
                  <a:srgbClr val="FF0000"/>
                </a:solidFill>
                <a:latin typeface="Arial MT"/>
                <a:cs typeface="Arial MT"/>
              </a:rPr>
              <a:t>will</a:t>
            </a:r>
            <a:r>
              <a:rPr sz="1800" spc="20" dirty="0">
                <a:solidFill>
                  <a:srgbClr val="FF0000"/>
                </a:solidFill>
                <a:latin typeface="Arial MT"/>
                <a:cs typeface="Arial MT"/>
              </a:rPr>
              <a:t> </a:t>
            </a:r>
            <a:r>
              <a:rPr sz="1800" dirty="0">
                <a:solidFill>
                  <a:srgbClr val="FF0000"/>
                </a:solidFill>
                <a:latin typeface="Arial MT"/>
                <a:cs typeface="Arial MT"/>
              </a:rPr>
              <a:t>start</a:t>
            </a:r>
            <a:r>
              <a:rPr sz="1800" spc="-25" dirty="0">
                <a:solidFill>
                  <a:srgbClr val="FF0000"/>
                </a:solidFill>
                <a:latin typeface="Arial MT"/>
                <a:cs typeface="Arial MT"/>
              </a:rPr>
              <a:t> </a:t>
            </a:r>
            <a:r>
              <a:rPr sz="1800" dirty="0">
                <a:solidFill>
                  <a:srgbClr val="FF0000"/>
                </a:solidFill>
                <a:latin typeface="Arial MT"/>
                <a:cs typeface="Arial MT"/>
              </a:rPr>
              <a:t>at</a:t>
            </a:r>
            <a:r>
              <a:rPr sz="1800" spc="-15" dirty="0">
                <a:solidFill>
                  <a:srgbClr val="FF0000"/>
                </a:solidFill>
                <a:latin typeface="Arial MT"/>
                <a:cs typeface="Arial MT"/>
              </a:rPr>
              <a:t> </a:t>
            </a:r>
            <a:r>
              <a:rPr sz="1800" i="1" spc="-50" dirty="0">
                <a:solidFill>
                  <a:srgbClr val="FF0000"/>
                </a:solidFill>
                <a:latin typeface="Arial"/>
                <a:cs typeface="Arial"/>
              </a:rPr>
              <a:t>L</a:t>
            </a:r>
            <a:endParaRPr sz="1800">
              <a:latin typeface="Arial"/>
              <a:cs typeface="Arial"/>
            </a:endParaRPr>
          </a:p>
          <a:p>
            <a:pPr marL="1098550" lvl="2" indent="-227965">
              <a:lnSpc>
                <a:spcPct val="100000"/>
              </a:lnSpc>
              <a:spcBef>
                <a:spcPts val="2050"/>
              </a:spcBef>
              <a:buClr>
                <a:srgbClr val="009900"/>
              </a:buClr>
              <a:buSzPct val="75000"/>
              <a:buFont typeface="Webdings"/>
              <a:buChar char=""/>
              <a:tabLst>
                <a:tab pos="1098550" algn="l"/>
              </a:tabLst>
            </a:pPr>
            <a:r>
              <a:rPr sz="1800" dirty="0">
                <a:solidFill>
                  <a:srgbClr val="FF0000"/>
                </a:solidFill>
                <a:latin typeface="Arial MT"/>
                <a:cs typeface="Arial MT"/>
              </a:rPr>
              <a:t>Source</a:t>
            </a:r>
            <a:r>
              <a:rPr sz="1800" spc="-15" dirty="0">
                <a:solidFill>
                  <a:srgbClr val="FF0000"/>
                </a:solidFill>
                <a:latin typeface="Arial MT"/>
                <a:cs typeface="Arial MT"/>
              </a:rPr>
              <a:t> </a:t>
            </a:r>
            <a:r>
              <a:rPr sz="1800" dirty="0">
                <a:solidFill>
                  <a:srgbClr val="FF0000"/>
                </a:solidFill>
                <a:latin typeface="Arial MT"/>
                <a:cs typeface="Arial MT"/>
              </a:rPr>
              <a:t>code</a:t>
            </a:r>
            <a:r>
              <a:rPr sz="1800" spc="-15" dirty="0">
                <a:solidFill>
                  <a:srgbClr val="FF0000"/>
                </a:solidFill>
                <a:latin typeface="Arial MT"/>
                <a:cs typeface="Arial MT"/>
              </a:rPr>
              <a:t> </a:t>
            </a:r>
            <a:r>
              <a:rPr sz="1800" dirty="0">
                <a:solidFill>
                  <a:srgbClr val="FF0000"/>
                </a:solidFill>
                <a:latin typeface="Arial MT"/>
                <a:cs typeface="Arial MT"/>
              </a:rPr>
              <a:t>should</a:t>
            </a:r>
            <a:r>
              <a:rPr sz="1800" spc="-5" dirty="0">
                <a:solidFill>
                  <a:srgbClr val="FF0000"/>
                </a:solidFill>
                <a:latin typeface="Arial MT"/>
                <a:cs typeface="Arial MT"/>
              </a:rPr>
              <a:t> </a:t>
            </a:r>
            <a:r>
              <a:rPr sz="1800" dirty="0">
                <a:solidFill>
                  <a:srgbClr val="FF0000"/>
                </a:solidFill>
                <a:latin typeface="Arial MT"/>
                <a:cs typeface="Arial MT"/>
              </a:rPr>
              <a:t>be</a:t>
            </a:r>
            <a:r>
              <a:rPr sz="1800" spc="-25" dirty="0">
                <a:solidFill>
                  <a:srgbClr val="FF0000"/>
                </a:solidFill>
                <a:latin typeface="Arial MT"/>
                <a:cs typeface="Arial MT"/>
              </a:rPr>
              <a:t> </a:t>
            </a:r>
            <a:r>
              <a:rPr sz="1800" spc="-10" dirty="0">
                <a:solidFill>
                  <a:srgbClr val="FF0000"/>
                </a:solidFill>
                <a:latin typeface="Arial MT"/>
                <a:cs typeface="Arial MT"/>
              </a:rPr>
              <a:t>re-</a:t>
            </a:r>
            <a:r>
              <a:rPr sz="1800" dirty="0">
                <a:solidFill>
                  <a:srgbClr val="FF0000"/>
                </a:solidFill>
                <a:latin typeface="Arial MT"/>
                <a:cs typeface="Arial MT"/>
              </a:rPr>
              <a:t>compiled</a:t>
            </a:r>
            <a:r>
              <a:rPr sz="1800" spc="-5" dirty="0">
                <a:solidFill>
                  <a:srgbClr val="FF0000"/>
                </a:solidFill>
                <a:latin typeface="Arial MT"/>
                <a:cs typeface="Arial MT"/>
              </a:rPr>
              <a:t> </a:t>
            </a:r>
            <a:r>
              <a:rPr sz="1800" dirty="0">
                <a:solidFill>
                  <a:srgbClr val="FF0000"/>
                </a:solidFill>
                <a:latin typeface="Arial MT"/>
                <a:cs typeface="Arial MT"/>
              </a:rPr>
              <a:t>if</a:t>
            </a:r>
            <a:r>
              <a:rPr sz="1800" spc="-10" dirty="0">
                <a:solidFill>
                  <a:srgbClr val="FF0000"/>
                </a:solidFill>
                <a:latin typeface="Arial MT"/>
                <a:cs typeface="Arial MT"/>
              </a:rPr>
              <a:t> </a:t>
            </a:r>
            <a:r>
              <a:rPr sz="1800" i="1" dirty="0">
                <a:solidFill>
                  <a:srgbClr val="FF0000"/>
                </a:solidFill>
                <a:latin typeface="Arial"/>
                <a:cs typeface="Arial"/>
              </a:rPr>
              <a:t>L</a:t>
            </a:r>
            <a:r>
              <a:rPr sz="1800" i="1" spc="-20" dirty="0">
                <a:solidFill>
                  <a:srgbClr val="FF0000"/>
                </a:solidFill>
                <a:latin typeface="Arial"/>
                <a:cs typeface="Arial"/>
              </a:rPr>
              <a:t> </a:t>
            </a:r>
            <a:r>
              <a:rPr sz="1800" spc="-10" dirty="0">
                <a:solidFill>
                  <a:srgbClr val="FF0000"/>
                </a:solidFill>
                <a:latin typeface="Arial MT"/>
                <a:cs typeface="Arial MT"/>
              </a:rPr>
              <a:t>changes</a:t>
            </a:r>
            <a:endParaRPr sz="1800">
              <a:latin typeface="Arial MT"/>
              <a:cs typeface="Arial MT"/>
            </a:endParaRPr>
          </a:p>
          <a:p>
            <a:pPr marL="756285" marR="132080" lvl="1" indent="-287020">
              <a:lnSpc>
                <a:spcPct val="100000"/>
              </a:lnSpc>
              <a:spcBef>
                <a:spcPts val="2055"/>
              </a:spcBef>
              <a:buClr>
                <a:srgbClr val="CC6600"/>
              </a:buClr>
              <a:buSzPct val="80555"/>
              <a:buFont typeface="Wingdings"/>
              <a:buChar char=""/>
              <a:tabLst>
                <a:tab pos="756285" algn="l"/>
              </a:tabLst>
            </a:pPr>
            <a:r>
              <a:rPr sz="1800" b="1" dirty="0">
                <a:latin typeface="Arial"/>
                <a:cs typeface="Arial"/>
              </a:rPr>
              <a:t>Load</a:t>
            </a:r>
            <a:r>
              <a:rPr sz="1800" b="1" spc="-30" dirty="0">
                <a:latin typeface="Arial"/>
                <a:cs typeface="Arial"/>
              </a:rPr>
              <a:t> </a:t>
            </a:r>
            <a:r>
              <a:rPr sz="1800" b="1" dirty="0">
                <a:latin typeface="Arial"/>
                <a:cs typeface="Arial"/>
              </a:rPr>
              <a:t>time</a:t>
            </a:r>
            <a:r>
              <a:rPr sz="1800" dirty="0">
                <a:latin typeface="Arial MT"/>
                <a:cs typeface="Arial MT"/>
              </a:rPr>
              <a:t>:</a:t>
            </a:r>
            <a:r>
              <a:rPr sz="1800" spc="459" dirty="0">
                <a:latin typeface="Arial MT"/>
                <a:cs typeface="Arial MT"/>
              </a:rPr>
              <a:t> </a:t>
            </a:r>
            <a:r>
              <a:rPr sz="1800" dirty="0">
                <a:latin typeface="Arial MT"/>
                <a:cs typeface="Arial MT"/>
              </a:rPr>
              <a:t>Compiler</a:t>
            </a:r>
            <a:r>
              <a:rPr sz="1800" spc="5" dirty="0">
                <a:latin typeface="Arial MT"/>
                <a:cs typeface="Arial MT"/>
              </a:rPr>
              <a:t> </a:t>
            </a:r>
            <a:r>
              <a:rPr sz="1800" dirty="0">
                <a:latin typeface="Arial MT"/>
                <a:cs typeface="Arial MT"/>
              </a:rPr>
              <a:t>must</a:t>
            </a:r>
            <a:r>
              <a:rPr sz="1800" spc="-20" dirty="0">
                <a:latin typeface="Arial MT"/>
                <a:cs typeface="Arial MT"/>
              </a:rPr>
              <a:t> </a:t>
            </a:r>
            <a:r>
              <a:rPr sz="1800" dirty="0">
                <a:latin typeface="Arial MT"/>
                <a:cs typeface="Arial MT"/>
              </a:rPr>
              <a:t>generate </a:t>
            </a:r>
            <a:r>
              <a:rPr sz="1800" b="1" dirty="0">
                <a:solidFill>
                  <a:srgbClr val="3366FF"/>
                </a:solidFill>
                <a:latin typeface="Arial"/>
                <a:cs typeface="Arial"/>
              </a:rPr>
              <a:t>relocatable</a:t>
            </a:r>
            <a:r>
              <a:rPr sz="1800" b="1" spc="-20" dirty="0">
                <a:solidFill>
                  <a:srgbClr val="3366FF"/>
                </a:solidFill>
                <a:latin typeface="Arial"/>
                <a:cs typeface="Arial"/>
              </a:rPr>
              <a:t> </a:t>
            </a:r>
            <a:r>
              <a:rPr sz="1800" b="1" dirty="0">
                <a:solidFill>
                  <a:srgbClr val="3366FF"/>
                </a:solidFill>
                <a:latin typeface="Arial"/>
                <a:cs typeface="Arial"/>
              </a:rPr>
              <a:t>code</a:t>
            </a:r>
            <a:r>
              <a:rPr sz="1800" b="1" spc="-15" dirty="0">
                <a:solidFill>
                  <a:srgbClr val="3366FF"/>
                </a:solidFill>
                <a:latin typeface="Arial"/>
                <a:cs typeface="Arial"/>
              </a:rPr>
              <a:t> </a:t>
            </a:r>
            <a:r>
              <a:rPr sz="1800" dirty="0">
                <a:latin typeface="Arial MT"/>
                <a:cs typeface="Arial MT"/>
              </a:rPr>
              <a:t>if</a:t>
            </a:r>
            <a:r>
              <a:rPr sz="1800" spc="-20"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location</a:t>
            </a:r>
            <a:r>
              <a:rPr sz="1800" spc="-10" dirty="0">
                <a:latin typeface="Arial MT"/>
                <a:cs typeface="Arial MT"/>
              </a:rPr>
              <a:t> </a:t>
            </a:r>
            <a:r>
              <a:rPr sz="1800" spc="-25" dirty="0">
                <a:latin typeface="Arial MT"/>
                <a:cs typeface="Arial MT"/>
              </a:rPr>
              <a:t>of </a:t>
            </a:r>
            <a:r>
              <a:rPr sz="1800" dirty="0">
                <a:latin typeface="Arial MT"/>
                <a:cs typeface="Arial MT"/>
              </a:rPr>
              <a:t>the</a:t>
            </a:r>
            <a:r>
              <a:rPr sz="1800" spc="-35" dirty="0">
                <a:latin typeface="Arial MT"/>
                <a:cs typeface="Arial MT"/>
              </a:rPr>
              <a:t> </a:t>
            </a:r>
            <a:r>
              <a:rPr sz="1800" dirty="0">
                <a:latin typeface="Arial MT"/>
                <a:cs typeface="Arial MT"/>
              </a:rPr>
              <a:t>process</a:t>
            </a:r>
            <a:r>
              <a:rPr sz="1800" spc="-2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not</a:t>
            </a:r>
            <a:r>
              <a:rPr sz="1800" spc="-20" dirty="0">
                <a:latin typeface="Arial MT"/>
                <a:cs typeface="Arial MT"/>
              </a:rPr>
              <a:t> </a:t>
            </a:r>
            <a:r>
              <a:rPr sz="1800" dirty="0">
                <a:latin typeface="Arial MT"/>
                <a:cs typeface="Arial MT"/>
              </a:rPr>
              <a:t>known</a:t>
            </a:r>
            <a:r>
              <a:rPr sz="1800" spc="20" dirty="0">
                <a:latin typeface="Arial MT"/>
                <a:cs typeface="Arial MT"/>
              </a:rPr>
              <a:t> </a:t>
            </a:r>
            <a:r>
              <a:rPr sz="1800" dirty="0">
                <a:latin typeface="Arial MT"/>
                <a:cs typeface="Arial MT"/>
              </a:rPr>
              <a:t>at</a:t>
            </a:r>
            <a:r>
              <a:rPr sz="1800" spc="-35" dirty="0">
                <a:latin typeface="Arial MT"/>
                <a:cs typeface="Arial MT"/>
              </a:rPr>
              <a:t> </a:t>
            </a:r>
            <a:r>
              <a:rPr sz="1800" dirty="0">
                <a:latin typeface="Arial MT"/>
                <a:cs typeface="Arial MT"/>
              </a:rPr>
              <a:t>compile</a:t>
            </a:r>
            <a:r>
              <a:rPr sz="1800" spc="-5" dirty="0">
                <a:latin typeface="Arial MT"/>
                <a:cs typeface="Arial MT"/>
              </a:rPr>
              <a:t> </a:t>
            </a:r>
            <a:r>
              <a:rPr sz="1800" spc="-20" dirty="0">
                <a:latin typeface="Arial MT"/>
                <a:cs typeface="Arial MT"/>
              </a:rPr>
              <a:t>time</a:t>
            </a:r>
            <a:endParaRPr sz="1800">
              <a:latin typeface="Arial MT"/>
              <a:cs typeface="Arial MT"/>
            </a:endParaRPr>
          </a:p>
          <a:p>
            <a:pPr marL="1098550" lvl="2" indent="-227965">
              <a:lnSpc>
                <a:spcPct val="100000"/>
              </a:lnSpc>
              <a:spcBef>
                <a:spcPts val="2055"/>
              </a:spcBef>
              <a:buClr>
                <a:srgbClr val="009900"/>
              </a:buClr>
              <a:buSzPct val="75000"/>
              <a:buFont typeface="Webdings"/>
              <a:buChar char=""/>
              <a:tabLst>
                <a:tab pos="1098550" algn="l"/>
              </a:tabLst>
            </a:pPr>
            <a:r>
              <a:rPr sz="1800" dirty="0">
                <a:solidFill>
                  <a:srgbClr val="FF0000"/>
                </a:solidFill>
                <a:latin typeface="Arial MT"/>
                <a:cs typeface="Arial MT"/>
              </a:rPr>
              <a:t>That</a:t>
            </a:r>
            <a:r>
              <a:rPr sz="1800" spc="-30" dirty="0">
                <a:solidFill>
                  <a:srgbClr val="FF0000"/>
                </a:solidFill>
                <a:latin typeface="Arial MT"/>
                <a:cs typeface="Arial MT"/>
              </a:rPr>
              <a:t> </a:t>
            </a:r>
            <a:r>
              <a:rPr sz="1800" dirty="0">
                <a:solidFill>
                  <a:srgbClr val="FF0000"/>
                </a:solidFill>
                <a:latin typeface="Arial MT"/>
                <a:cs typeface="Arial MT"/>
              </a:rPr>
              <a:t>is,</a:t>
            </a:r>
            <a:r>
              <a:rPr sz="1800" spc="-25" dirty="0">
                <a:solidFill>
                  <a:srgbClr val="FF0000"/>
                </a:solidFill>
                <a:latin typeface="Arial MT"/>
                <a:cs typeface="Arial MT"/>
              </a:rPr>
              <a:t> </a:t>
            </a:r>
            <a:r>
              <a:rPr sz="1800" dirty="0">
                <a:solidFill>
                  <a:srgbClr val="FF0000"/>
                </a:solidFill>
                <a:latin typeface="Arial MT"/>
                <a:cs typeface="Arial MT"/>
              </a:rPr>
              <a:t>final</a:t>
            </a:r>
            <a:r>
              <a:rPr sz="1800" spc="-25" dirty="0">
                <a:solidFill>
                  <a:srgbClr val="FF0000"/>
                </a:solidFill>
                <a:latin typeface="Arial MT"/>
                <a:cs typeface="Arial MT"/>
              </a:rPr>
              <a:t> </a:t>
            </a:r>
            <a:r>
              <a:rPr sz="1800" dirty="0">
                <a:solidFill>
                  <a:srgbClr val="FF0000"/>
                </a:solidFill>
                <a:latin typeface="Arial MT"/>
                <a:cs typeface="Arial MT"/>
              </a:rPr>
              <a:t>binding</a:t>
            </a:r>
            <a:r>
              <a:rPr sz="1800" spc="-5" dirty="0">
                <a:solidFill>
                  <a:srgbClr val="FF0000"/>
                </a:solidFill>
                <a:latin typeface="Arial MT"/>
                <a:cs typeface="Arial MT"/>
              </a:rPr>
              <a:t> </a:t>
            </a:r>
            <a:r>
              <a:rPr sz="1800" dirty="0">
                <a:solidFill>
                  <a:srgbClr val="FF0000"/>
                </a:solidFill>
                <a:latin typeface="Arial MT"/>
                <a:cs typeface="Arial MT"/>
              </a:rPr>
              <a:t>is</a:t>
            </a:r>
            <a:r>
              <a:rPr sz="1800" spc="-30" dirty="0">
                <a:solidFill>
                  <a:srgbClr val="FF0000"/>
                </a:solidFill>
                <a:latin typeface="Arial MT"/>
                <a:cs typeface="Arial MT"/>
              </a:rPr>
              <a:t> </a:t>
            </a:r>
            <a:r>
              <a:rPr sz="1800" dirty="0">
                <a:solidFill>
                  <a:srgbClr val="FF0000"/>
                </a:solidFill>
                <a:latin typeface="Arial MT"/>
                <a:cs typeface="Arial MT"/>
              </a:rPr>
              <a:t>delayed</a:t>
            </a:r>
            <a:r>
              <a:rPr sz="1800" spc="15" dirty="0">
                <a:solidFill>
                  <a:srgbClr val="FF0000"/>
                </a:solidFill>
                <a:latin typeface="Arial MT"/>
                <a:cs typeface="Arial MT"/>
              </a:rPr>
              <a:t> </a:t>
            </a:r>
            <a:r>
              <a:rPr sz="1800" dirty="0">
                <a:solidFill>
                  <a:srgbClr val="FF0000"/>
                </a:solidFill>
                <a:latin typeface="Arial MT"/>
                <a:cs typeface="Arial MT"/>
              </a:rPr>
              <a:t>until</a:t>
            </a:r>
            <a:r>
              <a:rPr sz="1800" spc="-35" dirty="0">
                <a:solidFill>
                  <a:srgbClr val="FF0000"/>
                </a:solidFill>
                <a:latin typeface="Arial MT"/>
                <a:cs typeface="Arial MT"/>
              </a:rPr>
              <a:t> </a:t>
            </a:r>
            <a:r>
              <a:rPr sz="1800" dirty="0">
                <a:solidFill>
                  <a:srgbClr val="FF0000"/>
                </a:solidFill>
                <a:latin typeface="Arial MT"/>
                <a:cs typeface="Arial MT"/>
              </a:rPr>
              <a:t>load</a:t>
            </a:r>
            <a:r>
              <a:rPr sz="1800" spc="-20" dirty="0">
                <a:solidFill>
                  <a:srgbClr val="FF0000"/>
                </a:solidFill>
                <a:latin typeface="Arial MT"/>
                <a:cs typeface="Arial MT"/>
              </a:rPr>
              <a:t> time</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 pos="2572385" algn="l"/>
              </a:tabLst>
            </a:pPr>
            <a:r>
              <a:rPr sz="1800" b="1" dirty="0">
                <a:latin typeface="Arial"/>
                <a:cs typeface="Arial"/>
              </a:rPr>
              <a:t>Execution</a:t>
            </a:r>
            <a:r>
              <a:rPr sz="1800" b="1" spc="-35" dirty="0">
                <a:latin typeface="Arial"/>
                <a:cs typeface="Arial"/>
              </a:rPr>
              <a:t> </a:t>
            </a:r>
            <a:r>
              <a:rPr sz="1800" b="1" spc="-10" dirty="0">
                <a:latin typeface="Arial"/>
                <a:cs typeface="Arial"/>
              </a:rPr>
              <a:t>time</a:t>
            </a:r>
            <a:r>
              <a:rPr sz="1800" spc="-10" dirty="0">
                <a:latin typeface="Arial MT"/>
                <a:cs typeface="Arial MT"/>
              </a:rPr>
              <a:t>:</a:t>
            </a:r>
            <a:r>
              <a:rPr sz="1800" dirty="0">
                <a:latin typeface="Arial MT"/>
                <a:cs typeface="Arial MT"/>
              </a:rPr>
              <a:t>	Binding</a:t>
            </a:r>
            <a:r>
              <a:rPr sz="1800" spc="-35" dirty="0">
                <a:latin typeface="Arial MT"/>
                <a:cs typeface="Arial MT"/>
              </a:rPr>
              <a:t> </a:t>
            </a:r>
            <a:r>
              <a:rPr sz="1800" dirty="0">
                <a:latin typeface="Arial MT"/>
                <a:cs typeface="Arial MT"/>
              </a:rPr>
              <a:t>delayed</a:t>
            </a:r>
            <a:r>
              <a:rPr sz="1800" spc="15" dirty="0">
                <a:latin typeface="Arial MT"/>
                <a:cs typeface="Arial MT"/>
              </a:rPr>
              <a:t> </a:t>
            </a:r>
            <a:r>
              <a:rPr sz="1800" dirty="0">
                <a:latin typeface="Arial MT"/>
                <a:cs typeface="Arial MT"/>
              </a:rPr>
              <a:t>until</a:t>
            </a:r>
            <a:r>
              <a:rPr sz="1800" spc="-20" dirty="0">
                <a:latin typeface="Arial MT"/>
                <a:cs typeface="Arial MT"/>
              </a:rPr>
              <a:t> </a:t>
            </a:r>
            <a:r>
              <a:rPr sz="1800" dirty="0">
                <a:latin typeface="Arial MT"/>
                <a:cs typeface="Arial MT"/>
              </a:rPr>
              <a:t>run</a:t>
            </a:r>
            <a:r>
              <a:rPr sz="1800" spc="-30" dirty="0">
                <a:latin typeface="Arial MT"/>
                <a:cs typeface="Arial MT"/>
              </a:rPr>
              <a:t> </a:t>
            </a:r>
            <a:r>
              <a:rPr sz="1800" dirty="0">
                <a:latin typeface="Arial MT"/>
                <a:cs typeface="Arial MT"/>
              </a:rPr>
              <a:t>time</a:t>
            </a:r>
            <a:r>
              <a:rPr sz="1800" spc="-30" dirty="0">
                <a:latin typeface="Arial MT"/>
                <a:cs typeface="Arial MT"/>
              </a:rPr>
              <a:t> </a:t>
            </a:r>
            <a:r>
              <a:rPr sz="1800" dirty="0">
                <a:latin typeface="Arial MT"/>
                <a:cs typeface="Arial MT"/>
              </a:rPr>
              <a:t>if</a:t>
            </a:r>
            <a:r>
              <a:rPr sz="1800" spc="-2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process</a:t>
            </a:r>
            <a:r>
              <a:rPr sz="1800" spc="-25" dirty="0">
                <a:latin typeface="Arial MT"/>
                <a:cs typeface="Arial MT"/>
              </a:rPr>
              <a:t> </a:t>
            </a:r>
            <a:r>
              <a:rPr sz="1800" dirty="0">
                <a:latin typeface="Arial MT"/>
                <a:cs typeface="Arial MT"/>
              </a:rPr>
              <a:t>can</a:t>
            </a:r>
            <a:r>
              <a:rPr sz="1800" spc="-20" dirty="0">
                <a:latin typeface="Arial MT"/>
                <a:cs typeface="Arial MT"/>
              </a:rPr>
              <a:t> </a:t>
            </a:r>
            <a:r>
              <a:rPr sz="1800" dirty="0">
                <a:latin typeface="Arial MT"/>
                <a:cs typeface="Arial MT"/>
              </a:rPr>
              <a:t>be</a:t>
            </a:r>
            <a:r>
              <a:rPr sz="1800" spc="-25" dirty="0">
                <a:latin typeface="Arial MT"/>
                <a:cs typeface="Arial MT"/>
              </a:rPr>
              <a:t> </a:t>
            </a:r>
            <a:r>
              <a:rPr sz="1800" spc="-10" dirty="0">
                <a:latin typeface="Arial MT"/>
                <a:cs typeface="Arial MT"/>
              </a:rPr>
              <a:t>moved</a:t>
            </a:r>
            <a:endParaRPr sz="1800">
              <a:latin typeface="Arial MT"/>
              <a:cs typeface="Arial MT"/>
            </a:endParaRPr>
          </a:p>
          <a:p>
            <a:pPr marL="756285">
              <a:lnSpc>
                <a:spcPct val="100000"/>
              </a:lnSpc>
            </a:pPr>
            <a:r>
              <a:rPr sz="1800" dirty="0">
                <a:latin typeface="Arial MT"/>
                <a:cs typeface="Arial MT"/>
              </a:rPr>
              <a:t>during</a:t>
            </a:r>
            <a:r>
              <a:rPr sz="1800" spc="-30" dirty="0">
                <a:latin typeface="Arial MT"/>
                <a:cs typeface="Arial MT"/>
              </a:rPr>
              <a:t> </a:t>
            </a:r>
            <a:r>
              <a:rPr sz="1800" dirty="0">
                <a:latin typeface="Arial MT"/>
                <a:cs typeface="Arial MT"/>
              </a:rPr>
              <a:t>its</a:t>
            </a:r>
            <a:r>
              <a:rPr sz="1800" spc="-25" dirty="0">
                <a:latin typeface="Arial MT"/>
                <a:cs typeface="Arial MT"/>
              </a:rPr>
              <a:t> </a:t>
            </a:r>
            <a:r>
              <a:rPr sz="1800" dirty="0">
                <a:latin typeface="Arial MT"/>
                <a:cs typeface="Arial MT"/>
              </a:rPr>
              <a:t>execution</a:t>
            </a:r>
            <a:r>
              <a:rPr sz="1800" spc="-5" dirty="0">
                <a:latin typeface="Arial MT"/>
                <a:cs typeface="Arial MT"/>
              </a:rPr>
              <a:t> </a:t>
            </a:r>
            <a:r>
              <a:rPr sz="1800" dirty="0">
                <a:latin typeface="Arial MT"/>
                <a:cs typeface="Arial MT"/>
              </a:rPr>
              <a:t>from</a:t>
            </a:r>
            <a:r>
              <a:rPr sz="1800" spc="-25" dirty="0">
                <a:latin typeface="Arial MT"/>
                <a:cs typeface="Arial MT"/>
              </a:rPr>
              <a:t> </a:t>
            </a:r>
            <a:r>
              <a:rPr sz="1800" dirty="0">
                <a:latin typeface="Arial MT"/>
                <a:cs typeface="Arial MT"/>
              </a:rPr>
              <a:t>one</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segment</a:t>
            </a:r>
            <a:r>
              <a:rPr sz="1800" spc="-10" dirty="0">
                <a:latin typeface="Arial MT"/>
                <a:cs typeface="Arial MT"/>
              </a:rPr>
              <a:t> </a:t>
            </a:r>
            <a:r>
              <a:rPr sz="1800" dirty="0">
                <a:latin typeface="Arial MT"/>
                <a:cs typeface="Arial MT"/>
              </a:rPr>
              <a:t>to</a:t>
            </a:r>
            <a:r>
              <a:rPr sz="1800" spc="-30" dirty="0">
                <a:latin typeface="Arial MT"/>
                <a:cs typeface="Arial MT"/>
              </a:rPr>
              <a:t> </a:t>
            </a:r>
            <a:r>
              <a:rPr sz="1800" spc="-10" dirty="0">
                <a:latin typeface="Arial MT"/>
                <a:cs typeface="Arial MT"/>
              </a:rPr>
              <a:t>another</a:t>
            </a:r>
            <a:endParaRPr sz="1800">
              <a:latin typeface="Arial MT"/>
              <a:cs typeface="Arial MT"/>
            </a:endParaRPr>
          </a:p>
          <a:p>
            <a:pPr marL="1098550" lvl="2" indent="-227965">
              <a:lnSpc>
                <a:spcPct val="100000"/>
              </a:lnSpc>
              <a:spcBef>
                <a:spcPts val="2050"/>
              </a:spcBef>
              <a:buClr>
                <a:srgbClr val="009900"/>
              </a:buClr>
              <a:buSzPct val="75000"/>
              <a:buFont typeface="Webdings"/>
              <a:buChar char=""/>
              <a:tabLst>
                <a:tab pos="1098550" algn="l"/>
              </a:tabLst>
            </a:pPr>
            <a:r>
              <a:rPr sz="1800" dirty="0">
                <a:latin typeface="Arial MT"/>
                <a:cs typeface="Arial MT"/>
              </a:rPr>
              <a:t>Need</a:t>
            </a:r>
            <a:r>
              <a:rPr sz="1800" spc="-25" dirty="0">
                <a:latin typeface="Arial MT"/>
                <a:cs typeface="Arial MT"/>
              </a:rPr>
              <a:t> </a:t>
            </a:r>
            <a:r>
              <a:rPr sz="1800" dirty="0">
                <a:latin typeface="Arial MT"/>
                <a:cs typeface="Arial MT"/>
              </a:rPr>
              <a:t>hardware</a:t>
            </a:r>
            <a:r>
              <a:rPr sz="1800" spc="20" dirty="0">
                <a:latin typeface="Arial MT"/>
                <a:cs typeface="Arial MT"/>
              </a:rPr>
              <a:t> </a:t>
            </a:r>
            <a:r>
              <a:rPr sz="1800" dirty="0">
                <a:latin typeface="Arial MT"/>
                <a:cs typeface="Arial MT"/>
              </a:rPr>
              <a:t>support</a:t>
            </a:r>
            <a:r>
              <a:rPr sz="1800" spc="-25"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address</a:t>
            </a:r>
            <a:r>
              <a:rPr sz="1800" spc="-20" dirty="0">
                <a:latin typeface="Arial MT"/>
                <a:cs typeface="Arial MT"/>
              </a:rPr>
              <a:t> </a:t>
            </a:r>
            <a:r>
              <a:rPr sz="1800" dirty="0">
                <a:latin typeface="Arial MT"/>
                <a:cs typeface="Arial MT"/>
              </a:rPr>
              <a:t>maps</a:t>
            </a:r>
            <a:r>
              <a:rPr sz="1800" spc="-30" dirty="0">
                <a:latin typeface="Arial MT"/>
                <a:cs typeface="Arial MT"/>
              </a:rPr>
              <a:t> </a:t>
            </a:r>
            <a:r>
              <a:rPr sz="1800" dirty="0">
                <a:latin typeface="Arial MT"/>
                <a:cs typeface="Arial MT"/>
              </a:rPr>
              <a:t>(e.g.,</a:t>
            </a:r>
            <a:r>
              <a:rPr sz="1800" spc="-25" dirty="0">
                <a:latin typeface="Arial MT"/>
                <a:cs typeface="Arial MT"/>
              </a:rPr>
              <a:t> </a:t>
            </a:r>
            <a:r>
              <a:rPr sz="1800" dirty="0">
                <a:latin typeface="Arial MT"/>
                <a:cs typeface="Arial MT"/>
              </a:rPr>
              <a:t>base</a:t>
            </a:r>
            <a:r>
              <a:rPr sz="1800" spc="-30"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limit</a:t>
            </a:r>
            <a:r>
              <a:rPr sz="1800" spc="-10" dirty="0">
                <a:latin typeface="Arial MT"/>
                <a:cs typeface="Arial MT"/>
              </a:rPr>
              <a:t> registers)</a:t>
            </a:r>
            <a:endParaRPr sz="180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042987"/>
            <a:ext cx="8786749" cy="5629275"/>
          </a:xfrm>
          <a:prstGeom prst="rect">
            <a:avLst/>
          </a:prstGeom>
        </p:spPr>
      </p:pic>
      <p:sp>
        <p:nvSpPr>
          <p:cNvPr id="3" name="object 3"/>
          <p:cNvSpPr txBox="1">
            <a:spLocks noGrp="1"/>
          </p:cNvSpPr>
          <p:nvPr>
            <p:ph type="title"/>
          </p:nvPr>
        </p:nvSpPr>
        <p:spPr>
          <a:prstGeom prst="rect">
            <a:avLst/>
          </a:prstGeom>
        </p:spPr>
        <p:txBody>
          <a:bodyPr vert="horz" wrap="square" lIns="0" tIns="133096" rIns="0" bIns="0" rtlCol="0">
            <a:spAutoFit/>
          </a:bodyPr>
          <a:lstStyle/>
          <a:p>
            <a:pPr marL="1631950">
              <a:lnSpc>
                <a:spcPct val="100000"/>
              </a:lnSpc>
              <a:spcBef>
                <a:spcPts val="95"/>
              </a:spcBef>
            </a:pPr>
            <a:r>
              <a:rPr sz="2800" dirty="0">
                <a:solidFill>
                  <a:srgbClr val="006699"/>
                </a:solidFill>
              </a:rPr>
              <a:t>Multistep</a:t>
            </a:r>
            <a:r>
              <a:rPr sz="2800" spc="-60" dirty="0">
                <a:solidFill>
                  <a:srgbClr val="006699"/>
                </a:solidFill>
              </a:rPr>
              <a:t> </a:t>
            </a:r>
            <a:r>
              <a:rPr sz="2800" dirty="0">
                <a:solidFill>
                  <a:srgbClr val="006699"/>
                </a:solidFill>
              </a:rPr>
              <a:t>Processing</a:t>
            </a:r>
            <a:r>
              <a:rPr sz="2800" spc="-50" dirty="0">
                <a:solidFill>
                  <a:srgbClr val="006699"/>
                </a:solidFill>
              </a:rPr>
              <a:t> </a:t>
            </a:r>
            <a:r>
              <a:rPr sz="2800" dirty="0">
                <a:solidFill>
                  <a:srgbClr val="006699"/>
                </a:solidFill>
              </a:rPr>
              <a:t>of</a:t>
            </a:r>
            <a:r>
              <a:rPr sz="2800" spc="-70" dirty="0">
                <a:solidFill>
                  <a:srgbClr val="006699"/>
                </a:solidFill>
              </a:rPr>
              <a:t> </a:t>
            </a:r>
            <a:r>
              <a:rPr sz="2800" dirty="0">
                <a:solidFill>
                  <a:srgbClr val="006699"/>
                </a:solidFill>
              </a:rPr>
              <a:t>a</a:t>
            </a:r>
            <a:r>
              <a:rPr sz="2800" spc="-65" dirty="0">
                <a:solidFill>
                  <a:srgbClr val="006699"/>
                </a:solidFill>
              </a:rPr>
              <a:t> </a:t>
            </a:r>
            <a:r>
              <a:rPr sz="2800" dirty="0">
                <a:solidFill>
                  <a:srgbClr val="006699"/>
                </a:solidFill>
              </a:rPr>
              <a:t>User</a:t>
            </a:r>
            <a:r>
              <a:rPr sz="2800" spc="-75" dirty="0">
                <a:solidFill>
                  <a:srgbClr val="006699"/>
                </a:solidFill>
              </a:rPr>
              <a:t> </a:t>
            </a:r>
            <a:r>
              <a:rPr sz="2800" spc="-10" dirty="0">
                <a:solidFill>
                  <a:srgbClr val="006699"/>
                </a:solidFill>
              </a:rPr>
              <a:t>Program</a:t>
            </a:r>
            <a:endParaRPr sz="28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12</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1455" rIns="0" bIns="0" rtlCol="0">
            <a:spAutoFit/>
          </a:bodyPr>
          <a:lstStyle/>
          <a:p>
            <a:pPr marL="1590040">
              <a:lnSpc>
                <a:spcPct val="100000"/>
              </a:lnSpc>
              <a:spcBef>
                <a:spcPts val="105"/>
              </a:spcBef>
            </a:pPr>
            <a:r>
              <a:rPr spc="-10" dirty="0">
                <a:solidFill>
                  <a:srgbClr val="006699"/>
                </a:solidFill>
              </a:rPr>
              <a:t>Memory-</a:t>
            </a:r>
            <a:r>
              <a:rPr dirty="0">
                <a:solidFill>
                  <a:srgbClr val="006699"/>
                </a:solidFill>
              </a:rPr>
              <a:t>Management</a:t>
            </a:r>
            <a:r>
              <a:rPr spc="-45" dirty="0">
                <a:solidFill>
                  <a:srgbClr val="006699"/>
                </a:solidFill>
              </a:rPr>
              <a:t> </a:t>
            </a:r>
            <a:r>
              <a:rPr dirty="0">
                <a:solidFill>
                  <a:srgbClr val="006699"/>
                </a:solidFill>
              </a:rPr>
              <a:t>Unit</a:t>
            </a:r>
            <a:r>
              <a:rPr spc="-25" dirty="0">
                <a:solidFill>
                  <a:srgbClr val="006699"/>
                </a:solidFill>
              </a:rPr>
              <a:t> </a:t>
            </a:r>
            <a:r>
              <a:rPr spc="-10" dirty="0">
                <a:solidFill>
                  <a:srgbClr val="006699"/>
                </a:solidFill>
              </a:rPr>
              <a:t>(</a:t>
            </a:r>
            <a:r>
              <a:rPr sz="2800" spc="-10" dirty="0">
                <a:solidFill>
                  <a:srgbClr val="006699"/>
                </a:solidFill>
              </a:rPr>
              <a:t>MMU</a:t>
            </a:r>
            <a:r>
              <a:rPr spc="-10" dirty="0">
                <a:solidFill>
                  <a:srgbClr val="006699"/>
                </a:solidFill>
              </a:rPr>
              <a:t>)</a:t>
            </a:r>
            <a:endParaRPr sz="2800"/>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13</a:t>
            </a:fld>
            <a:endParaRPr spc="-20" dirty="0"/>
          </a:p>
        </p:txBody>
      </p:sp>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994410"/>
            <a:ext cx="8552815" cy="4278630"/>
          </a:xfrm>
          <a:prstGeom prst="rect">
            <a:avLst/>
          </a:prstGeom>
        </p:spPr>
        <p:txBody>
          <a:bodyPr vert="horz" wrap="square" lIns="0" tIns="108585" rIns="0" bIns="0" rtlCol="0">
            <a:spAutoFit/>
          </a:bodyPr>
          <a:lstStyle/>
          <a:p>
            <a:pPr marL="354965" indent="-342265">
              <a:lnSpc>
                <a:spcPct val="100000"/>
              </a:lnSpc>
              <a:spcBef>
                <a:spcPts val="855"/>
              </a:spcBef>
              <a:buClr>
                <a:srgbClr val="993300"/>
              </a:buClr>
              <a:buSzPct val="88888"/>
              <a:buFont typeface="Wingdings"/>
              <a:buChar char=""/>
              <a:tabLst>
                <a:tab pos="354965" algn="l"/>
              </a:tabLst>
            </a:pPr>
            <a:r>
              <a:rPr sz="1800" b="1" i="1" dirty="0">
                <a:solidFill>
                  <a:srgbClr val="FF0000"/>
                </a:solidFill>
                <a:latin typeface="Arial"/>
                <a:cs typeface="Arial"/>
              </a:rPr>
              <a:t>MMU</a:t>
            </a:r>
            <a:r>
              <a:rPr sz="1800" b="1" i="1" spc="-30" dirty="0">
                <a:solidFill>
                  <a:srgbClr val="FF0000"/>
                </a:solidFill>
                <a:latin typeface="Arial"/>
                <a:cs typeface="Arial"/>
              </a:rPr>
              <a:t> </a:t>
            </a:r>
            <a:r>
              <a:rPr sz="1800" dirty="0">
                <a:solidFill>
                  <a:srgbClr val="FF0000"/>
                </a:solidFill>
                <a:latin typeface="Arial MT"/>
                <a:cs typeface="Arial MT"/>
              </a:rPr>
              <a:t>is</a:t>
            </a:r>
            <a:r>
              <a:rPr sz="1800" spc="-20"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hardware</a:t>
            </a:r>
            <a:r>
              <a:rPr sz="1800" spc="30" dirty="0">
                <a:solidFill>
                  <a:srgbClr val="FF0000"/>
                </a:solidFill>
                <a:latin typeface="Arial MT"/>
                <a:cs typeface="Arial MT"/>
              </a:rPr>
              <a:t> </a:t>
            </a:r>
            <a:r>
              <a:rPr sz="1800" dirty="0">
                <a:solidFill>
                  <a:srgbClr val="FF0000"/>
                </a:solidFill>
                <a:latin typeface="Arial MT"/>
                <a:cs typeface="Arial MT"/>
              </a:rPr>
              <a:t>that</a:t>
            </a:r>
            <a:r>
              <a:rPr sz="1800" spc="-20" dirty="0">
                <a:solidFill>
                  <a:srgbClr val="FF0000"/>
                </a:solidFill>
                <a:latin typeface="Arial MT"/>
                <a:cs typeface="Arial MT"/>
              </a:rPr>
              <a:t> </a:t>
            </a:r>
            <a:r>
              <a:rPr sz="1800" dirty="0">
                <a:solidFill>
                  <a:srgbClr val="FF0000"/>
                </a:solidFill>
                <a:latin typeface="Arial MT"/>
                <a:cs typeface="Arial MT"/>
              </a:rPr>
              <a:t>does </a:t>
            </a:r>
            <a:r>
              <a:rPr sz="1800" b="1" i="1" spc="-10" dirty="0">
                <a:solidFill>
                  <a:srgbClr val="FF0000"/>
                </a:solidFill>
                <a:latin typeface="Arial"/>
                <a:cs typeface="Arial"/>
              </a:rPr>
              <a:t>virtual-to-</a:t>
            </a:r>
            <a:r>
              <a:rPr sz="1800" b="1" i="1" dirty="0">
                <a:solidFill>
                  <a:srgbClr val="FF0000"/>
                </a:solidFill>
                <a:latin typeface="Arial"/>
                <a:cs typeface="Arial"/>
              </a:rPr>
              <a:t>physical</a:t>
            </a:r>
            <a:r>
              <a:rPr sz="1800" b="1" i="1" spc="-20" dirty="0">
                <a:solidFill>
                  <a:srgbClr val="FF0000"/>
                </a:solidFill>
                <a:latin typeface="Arial"/>
                <a:cs typeface="Arial"/>
              </a:rPr>
              <a:t> </a:t>
            </a:r>
            <a:r>
              <a:rPr sz="1800" b="1" i="1" dirty="0">
                <a:solidFill>
                  <a:srgbClr val="FF0000"/>
                </a:solidFill>
                <a:latin typeface="Arial"/>
                <a:cs typeface="Arial"/>
              </a:rPr>
              <a:t>addr</a:t>
            </a:r>
            <a:r>
              <a:rPr sz="1800" b="1" i="1" spc="-20" dirty="0">
                <a:solidFill>
                  <a:srgbClr val="FF0000"/>
                </a:solidFill>
                <a:latin typeface="Arial"/>
                <a:cs typeface="Arial"/>
              </a:rPr>
              <a:t> </a:t>
            </a:r>
            <a:r>
              <a:rPr sz="1800" b="1" i="1" dirty="0">
                <a:solidFill>
                  <a:srgbClr val="FF0000"/>
                </a:solidFill>
                <a:latin typeface="Arial"/>
                <a:cs typeface="Arial"/>
              </a:rPr>
              <a:t>mappings</a:t>
            </a:r>
            <a:r>
              <a:rPr sz="1800" b="1" i="1" spc="-20" dirty="0">
                <a:solidFill>
                  <a:srgbClr val="FF0000"/>
                </a:solidFill>
                <a:latin typeface="Arial"/>
                <a:cs typeface="Arial"/>
              </a:rPr>
              <a:t> </a:t>
            </a:r>
            <a:r>
              <a:rPr sz="1800" dirty="0">
                <a:solidFill>
                  <a:srgbClr val="FF0000"/>
                </a:solidFill>
                <a:latin typeface="Arial MT"/>
                <a:cs typeface="Arial MT"/>
              </a:rPr>
              <a:t>at</a:t>
            </a:r>
            <a:r>
              <a:rPr sz="1800" spc="-15" dirty="0">
                <a:solidFill>
                  <a:srgbClr val="FF0000"/>
                </a:solidFill>
                <a:latin typeface="Arial MT"/>
                <a:cs typeface="Arial MT"/>
              </a:rPr>
              <a:t> </a:t>
            </a:r>
            <a:r>
              <a:rPr sz="1800" spc="-10" dirty="0">
                <a:solidFill>
                  <a:srgbClr val="FF0000"/>
                </a:solidFill>
                <a:latin typeface="Arial MT"/>
                <a:cs typeface="Arial MT"/>
              </a:rPr>
              <a:t>run-</a:t>
            </a:r>
            <a:r>
              <a:rPr sz="1800" spc="-20" dirty="0">
                <a:solidFill>
                  <a:srgbClr val="FF0000"/>
                </a:solidFill>
                <a:latin typeface="Arial MT"/>
                <a:cs typeface="Arial MT"/>
              </a:rPr>
              <a:t>time</a:t>
            </a:r>
            <a:endParaRPr sz="1800">
              <a:latin typeface="Arial MT"/>
              <a:cs typeface="Arial MT"/>
            </a:endParaRPr>
          </a:p>
          <a:p>
            <a:pPr marL="354965" indent="-342265">
              <a:lnSpc>
                <a:spcPct val="100000"/>
              </a:lnSpc>
              <a:spcBef>
                <a:spcPts val="760"/>
              </a:spcBef>
              <a:buClr>
                <a:srgbClr val="993300"/>
              </a:buClr>
              <a:buSzPct val="88888"/>
              <a:buFont typeface="Wingdings"/>
              <a:buChar char=""/>
              <a:tabLst>
                <a:tab pos="354965" algn="l"/>
              </a:tabLst>
            </a:pPr>
            <a:r>
              <a:rPr sz="1800" dirty="0">
                <a:latin typeface="Arial MT"/>
                <a:cs typeface="Arial MT"/>
              </a:rPr>
              <a:t>Many</a:t>
            </a:r>
            <a:r>
              <a:rPr sz="1800" spc="-30" dirty="0">
                <a:latin typeface="Arial MT"/>
                <a:cs typeface="Arial MT"/>
              </a:rPr>
              <a:t> </a:t>
            </a:r>
            <a:r>
              <a:rPr sz="1800" dirty="0">
                <a:latin typeface="Arial MT"/>
                <a:cs typeface="Arial MT"/>
              </a:rPr>
              <a:t>possible</a:t>
            </a:r>
            <a:r>
              <a:rPr sz="1800" spc="-10" dirty="0">
                <a:latin typeface="Arial MT"/>
                <a:cs typeface="Arial MT"/>
              </a:rPr>
              <a:t> </a:t>
            </a:r>
            <a:r>
              <a:rPr sz="1800" dirty="0">
                <a:latin typeface="Arial MT"/>
                <a:cs typeface="Arial MT"/>
              </a:rPr>
              <a:t>mapping</a:t>
            </a:r>
            <a:r>
              <a:rPr sz="1800" spc="-5" dirty="0">
                <a:latin typeface="Arial MT"/>
                <a:cs typeface="Arial MT"/>
              </a:rPr>
              <a:t> </a:t>
            </a:r>
            <a:r>
              <a:rPr sz="1800" dirty="0">
                <a:latin typeface="Arial MT"/>
                <a:cs typeface="Arial MT"/>
              </a:rPr>
              <a:t>method;</a:t>
            </a:r>
            <a:r>
              <a:rPr sz="1800" spc="-15" dirty="0">
                <a:latin typeface="Arial MT"/>
                <a:cs typeface="Arial MT"/>
              </a:rPr>
              <a:t> </a:t>
            </a:r>
            <a:r>
              <a:rPr sz="1800" dirty="0">
                <a:latin typeface="Arial MT"/>
                <a:cs typeface="Arial MT"/>
              </a:rPr>
              <a:t>covered</a:t>
            </a:r>
            <a:r>
              <a:rPr sz="1800" spc="-1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rest</a:t>
            </a:r>
            <a:r>
              <a:rPr sz="1800" spc="-15"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this</a:t>
            </a:r>
            <a:r>
              <a:rPr sz="1800" spc="-15" dirty="0">
                <a:latin typeface="Arial MT"/>
                <a:cs typeface="Arial MT"/>
              </a:rPr>
              <a:t> </a:t>
            </a:r>
            <a:r>
              <a:rPr sz="1800" spc="-10" dirty="0">
                <a:latin typeface="Arial MT"/>
                <a:cs typeface="Arial MT"/>
              </a:rPr>
              <a:t>chapter</a:t>
            </a:r>
            <a:endParaRPr sz="1800">
              <a:latin typeface="Arial MT"/>
              <a:cs typeface="Arial MT"/>
            </a:endParaRPr>
          </a:p>
          <a:p>
            <a:pPr marL="355600" marR="151765" indent="-342900">
              <a:lnSpc>
                <a:spcPct val="100000"/>
              </a:lnSpc>
              <a:spcBef>
                <a:spcPts val="755"/>
              </a:spcBef>
              <a:buClr>
                <a:srgbClr val="993300"/>
              </a:buClr>
              <a:buSzPct val="88888"/>
              <a:buFont typeface="Wingdings"/>
              <a:buChar char=""/>
              <a:tabLst>
                <a:tab pos="355600" algn="l"/>
              </a:tabLst>
            </a:pPr>
            <a:r>
              <a:rPr sz="1800" b="1" dirty="0">
                <a:solidFill>
                  <a:srgbClr val="FF0000"/>
                </a:solidFill>
                <a:latin typeface="Arial"/>
                <a:cs typeface="Arial"/>
              </a:rPr>
              <a:t>Example</a:t>
            </a:r>
            <a:r>
              <a:rPr sz="1800" dirty="0">
                <a:solidFill>
                  <a:srgbClr val="FF0000"/>
                </a:solidFill>
                <a:latin typeface="Arial MT"/>
                <a:cs typeface="Arial MT"/>
              </a:rPr>
              <a:t>:</a:t>
            </a:r>
            <a:r>
              <a:rPr sz="1800" spc="-20" dirty="0">
                <a:solidFill>
                  <a:srgbClr val="FF0000"/>
                </a:solidFill>
                <a:latin typeface="Arial MT"/>
                <a:cs typeface="Arial MT"/>
              </a:rPr>
              <a:t> </a:t>
            </a:r>
            <a:r>
              <a:rPr sz="1800" dirty="0">
                <a:solidFill>
                  <a:srgbClr val="FF0000"/>
                </a:solidFill>
                <a:latin typeface="Arial MT"/>
                <a:cs typeface="Arial MT"/>
              </a:rPr>
              <a:t>a</a:t>
            </a:r>
            <a:r>
              <a:rPr sz="1800" spc="-20" dirty="0">
                <a:solidFill>
                  <a:srgbClr val="FF0000"/>
                </a:solidFill>
                <a:latin typeface="Arial MT"/>
                <a:cs typeface="Arial MT"/>
              </a:rPr>
              <a:t> </a:t>
            </a:r>
            <a:r>
              <a:rPr sz="1800" dirty="0">
                <a:solidFill>
                  <a:srgbClr val="FF0000"/>
                </a:solidFill>
                <a:latin typeface="Arial MT"/>
                <a:cs typeface="Arial MT"/>
              </a:rPr>
              <a:t>simple</a:t>
            </a:r>
            <a:r>
              <a:rPr sz="1800" spc="-20" dirty="0">
                <a:solidFill>
                  <a:srgbClr val="FF0000"/>
                </a:solidFill>
                <a:latin typeface="Arial MT"/>
                <a:cs typeface="Arial MT"/>
              </a:rPr>
              <a:t> </a:t>
            </a:r>
            <a:r>
              <a:rPr sz="1800" dirty="0">
                <a:solidFill>
                  <a:srgbClr val="FF0000"/>
                </a:solidFill>
                <a:latin typeface="Arial MT"/>
                <a:cs typeface="Arial MT"/>
              </a:rPr>
              <a:t>a</a:t>
            </a:r>
            <a:r>
              <a:rPr sz="1800" spc="-20" dirty="0">
                <a:solidFill>
                  <a:srgbClr val="FF0000"/>
                </a:solidFill>
                <a:latin typeface="Arial MT"/>
                <a:cs typeface="Arial MT"/>
              </a:rPr>
              <a:t> </a:t>
            </a:r>
            <a:r>
              <a:rPr sz="1800" dirty="0">
                <a:solidFill>
                  <a:srgbClr val="FF0000"/>
                </a:solidFill>
                <a:latin typeface="Arial MT"/>
                <a:cs typeface="Arial MT"/>
              </a:rPr>
              <a:t>MMU</a:t>
            </a:r>
            <a:r>
              <a:rPr sz="1800" spc="-25" dirty="0">
                <a:solidFill>
                  <a:srgbClr val="FF0000"/>
                </a:solidFill>
                <a:latin typeface="Arial MT"/>
                <a:cs typeface="Arial MT"/>
              </a:rPr>
              <a:t> </a:t>
            </a:r>
            <a:r>
              <a:rPr sz="1800" dirty="0">
                <a:solidFill>
                  <a:srgbClr val="FF0000"/>
                </a:solidFill>
                <a:latin typeface="Arial MT"/>
                <a:cs typeface="Arial MT"/>
              </a:rPr>
              <a:t>scheme</a:t>
            </a:r>
            <a:r>
              <a:rPr sz="1800" spc="-15" dirty="0">
                <a:solidFill>
                  <a:srgbClr val="FF0000"/>
                </a:solidFill>
                <a:latin typeface="Arial MT"/>
                <a:cs typeface="Arial MT"/>
              </a:rPr>
              <a:t> </a:t>
            </a:r>
            <a:r>
              <a:rPr sz="1800" dirty="0">
                <a:solidFill>
                  <a:srgbClr val="FF0000"/>
                </a:solidFill>
                <a:latin typeface="Arial MT"/>
                <a:cs typeface="Arial MT"/>
              </a:rPr>
              <a:t>which</a:t>
            </a:r>
            <a:r>
              <a:rPr sz="1800" spc="20" dirty="0">
                <a:solidFill>
                  <a:srgbClr val="FF0000"/>
                </a:solidFill>
                <a:latin typeface="Arial MT"/>
                <a:cs typeface="Arial MT"/>
              </a:rPr>
              <a:t> </a:t>
            </a:r>
            <a:r>
              <a:rPr sz="1800" dirty="0">
                <a:solidFill>
                  <a:srgbClr val="FF0000"/>
                </a:solidFill>
                <a:latin typeface="Arial MT"/>
                <a:cs typeface="Arial MT"/>
              </a:rPr>
              <a:t>adds</a:t>
            </a:r>
            <a:r>
              <a:rPr sz="1800" spc="-25"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value</a:t>
            </a:r>
            <a:r>
              <a:rPr sz="1800" spc="-15"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base</a:t>
            </a:r>
            <a:r>
              <a:rPr sz="1800" spc="-25" dirty="0">
                <a:solidFill>
                  <a:srgbClr val="FF0000"/>
                </a:solidFill>
                <a:latin typeface="Arial MT"/>
                <a:cs typeface="Arial MT"/>
              </a:rPr>
              <a:t> </a:t>
            </a:r>
            <a:r>
              <a:rPr sz="1800" dirty="0">
                <a:solidFill>
                  <a:srgbClr val="FF0000"/>
                </a:solidFill>
                <a:latin typeface="Arial MT"/>
                <a:cs typeface="Arial MT"/>
              </a:rPr>
              <a:t>register</a:t>
            </a:r>
            <a:r>
              <a:rPr sz="1800" spc="-10" dirty="0">
                <a:solidFill>
                  <a:srgbClr val="FF0000"/>
                </a:solidFill>
                <a:latin typeface="Arial MT"/>
                <a:cs typeface="Arial MT"/>
              </a:rPr>
              <a:t> </a:t>
            </a:r>
            <a:r>
              <a:rPr sz="1800" spc="-25" dirty="0">
                <a:solidFill>
                  <a:srgbClr val="FF0000"/>
                </a:solidFill>
                <a:latin typeface="Arial MT"/>
                <a:cs typeface="Arial MT"/>
              </a:rPr>
              <a:t>to </a:t>
            </a:r>
            <a:r>
              <a:rPr sz="1800" dirty="0">
                <a:solidFill>
                  <a:srgbClr val="FF0000"/>
                </a:solidFill>
                <a:latin typeface="Arial MT"/>
                <a:cs typeface="Arial MT"/>
              </a:rPr>
              <a:t>every</a:t>
            </a:r>
            <a:r>
              <a:rPr sz="1800" spc="-20" dirty="0">
                <a:solidFill>
                  <a:srgbClr val="FF0000"/>
                </a:solidFill>
                <a:latin typeface="Arial MT"/>
                <a:cs typeface="Arial MT"/>
              </a:rPr>
              <a:t> </a:t>
            </a:r>
            <a:r>
              <a:rPr sz="1800" dirty="0">
                <a:solidFill>
                  <a:srgbClr val="FF0000"/>
                </a:solidFill>
                <a:latin typeface="Arial MT"/>
                <a:cs typeface="Arial MT"/>
              </a:rPr>
              <a:t>address</a:t>
            </a:r>
            <a:r>
              <a:rPr sz="1800" spc="-5" dirty="0">
                <a:solidFill>
                  <a:srgbClr val="FF0000"/>
                </a:solidFill>
                <a:latin typeface="Arial MT"/>
                <a:cs typeface="Arial MT"/>
              </a:rPr>
              <a:t> </a:t>
            </a:r>
            <a:r>
              <a:rPr sz="1800" dirty="0">
                <a:solidFill>
                  <a:srgbClr val="FF0000"/>
                </a:solidFill>
                <a:latin typeface="Arial MT"/>
                <a:cs typeface="Arial MT"/>
              </a:rPr>
              <a:t>generated</a:t>
            </a:r>
            <a:r>
              <a:rPr sz="1800" spc="5" dirty="0">
                <a:solidFill>
                  <a:srgbClr val="FF0000"/>
                </a:solidFill>
                <a:latin typeface="Arial MT"/>
                <a:cs typeface="Arial MT"/>
              </a:rPr>
              <a:t> </a:t>
            </a:r>
            <a:r>
              <a:rPr sz="1800" dirty="0">
                <a:solidFill>
                  <a:srgbClr val="FF0000"/>
                </a:solidFill>
                <a:latin typeface="Arial MT"/>
                <a:cs typeface="Arial MT"/>
              </a:rPr>
              <a:t>by</a:t>
            </a:r>
            <a:r>
              <a:rPr sz="1800" spc="-20" dirty="0">
                <a:solidFill>
                  <a:srgbClr val="FF0000"/>
                </a:solidFill>
                <a:latin typeface="Arial MT"/>
                <a:cs typeface="Arial MT"/>
              </a:rPr>
              <a:t> </a:t>
            </a:r>
            <a:r>
              <a:rPr sz="1800" dirty="0">
                <a:solidFill>
                  <a:srgbClr val="FF0000"/>
                </a:solidFill>
                <a:latin typeface="Arial MT"/>
                <a:cs typeface="Arial MT"/>
              </a:rPr>
              <a:t>a</a:t>
            </a:r>
            <a:r>
              <a:rPr sz="1800" spc="-15" dirty="0">
                <a:solidFill>
                  <a:srgbClr val="FF0000"/>
                </a:solidFill>
                <a:latin typeface="Arial MT"/>
                <a:cs typeface="Arial MT"/>
              </a:rPr>
              <a:t> </a:t>
            </a:r>
            <a:r>
              <a:rPr sz="1800" dirty="0">
                <a:solidFill>
                  <a:srgbClr val="FF0000"/>
                </a:solidFill>
                <a:latin typeface="Arial MT"/>
                <a:cs typeface="Arial MT"/>
              </a:rPr>
              <a:t>user</a:t>
            </a:r>
            <a:r>
              <a:rPr sz="1800" spc="-15" dirty="0">
                <a:solidFill>
                  <a:srgbClr val="FF0000"/>
                </a:solidFill>
                <a:latin typeface="Arial MT"/>
                <a:cs typeface="Arial MT"/>
              </a:rPr>
              <a:t> </a:t>
            </a:r>
            <a:r>
              <a:rPr sz="1800" dirty="0">
                <a:solidFill>
                  <a:srgbClr val="FF0000"/>
                </a:solidFill>
                <a:latin typeface="Arial MT"/>
                <a:cs typeface="Arial MT"/>
              </a:rPr>
              <a:t>process</a:t>
            </a:r>
            <a:r>
              <a:rPr sz="1800" spc="-10" dirty="0">
                <a:solidFill>
                  <a:srgbClr val="FF0000"/>
                </a:solidFill>
                <a:latin typeface="Arial MT"/>
                <a:cs typeface="Arial MT"/>
              </a:rPr>
              <a:t> </a:t>
            </a:r>
            <a:r>
              <a:rPr sz="1800" dirty="0">
                <a:solidFill>
                  <a:srgbClr val="FF0000"/>
                </a:solidFill>
                <a:latin typeface="Arial MT"/>
                <a:cs typeface="Arial MT"/>
              </a:rPr>
              <a:t>at</a:t>
            </a:r>
            <a:r>
              <a:rPr sz="1800" spc="-15"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time</a:t>
            </a:r>
            <a:r>
              <a:rPr sz="1800" spc="-25" dirty="0">
                <a:solidFill>
                  <a:srgbClr val="FF0000"/>
                </a:solidFill>
                <a:latin typeface="Arial MT"/>
                <a:cs typeface="Arial MT"/>
              </a:rPr>
              <a:t> </a:t>
            </a:r>
            <a:r>
              <a:rPr sz="1800" dirty="0">
                <a:solidFill>
                  <a:srgbClr val="FF0000"/>
                </a:solidFill>
                <a:latin typeface="Arial MT"/>
                <a:cs typeface="Arial MT"/>
              </a:rPr>
              <a:t>it</a:t>
            </a:r>
            <a:r>
              <a:rPr sz="1800" spc="-15"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sent</a:t>
            </a:r>
            <a:r>
              <a:rPr sz="1800" spc="-10"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marL="870585">
              <a:lnSpc>
                <a:spcPct val="100000"/>
              </a:lnSpc>
              <a:spcBef>
                <a:spcPts val="755"/>
              </a:spcBef>
            </a:pPr>
            <a:r>
              <a:rPr sz="1350" dirty="0">
                <a:solidFill>
                  <a:srgbClr val="009900"/>
                </a:solidFill>
                <a:latin typeface="Webdings"/>
                <a:cs typeface="Webdings"/>
              </a:rPr>
              <a:t></a:t>
            </a:r>
            <a:r>
              <a:rPr sz="1350" spc="75" dirty="0">
                <a:solidFill>
                  <a:srgbClr val="009900"/>
                </a:solidFill>
                <a:latin typeface="Times New Roman"/>
                <a:cs typeface="Times New Roman"/>
              </a:rPr>
              <a:t> </a:t>
            </a:r>
            <a:r>
              <a:rPr sz="1800" dirty="0">
                <a:solidFill>
                  <a:srgbClr val="FF0000"/>
                </a:solidFill>
                <a:latin typeface="Arial MT"/>
                <a:cs typeface="Arial MT"/>
              </a:rPr>
              <a:t>Generalizes the</a:t>
            </a:r>
            <a:r>
              <a:rPr sz="1800" spc="-15" dirty="0">
                <a:solidFill>
                  <a:srgbClr val="FF0000"/>
                </a:solidFill>
                <a:latin typeface="Arial MT"/>
                <a:cs typeface="Arial MT"/>
              </a:rPr>
              <a:t> </a:t>
            </a:r>
            <a:r>
              <a:rPr sz="1800" i="1" spc="-10" dirty="0">
                <a:solidFill>
                  <a:srgbClr val="FF0000"/>
                </a:solidFill>
                <a:latin typeface="Arial"/>
                <a:cs typeface="Arial"/>
              </a:rPr>
              <a:t>base-</a:t>
            </a:r>
            <a:r>
              <a:rPr sz="1800" i="1" dirty="0">
                <a:solidFill>
                  <a:srgbClr val="FF0000"/>
                </a:solidFill>
                <a:latin typeface="Arial"/>
                <a:cs typeface="Arial"/>
              </a:rPr>
              <a:t>register</a:t>
            </a:r>
            <a:r>
              <a:rPr sz="1800" i="1" spc="-15" dirty="0">
                <a:solidFill>
                  <a:srgbClr val="FF0000"/>
                </a:solidFill>
                <a:latin typeface="Arial"/>
                <a:cs typeface="Arial"/>
              </a:rPr>
              <a:t> </a:t>
            </a:r>
            <a:r>
              <a:rPr sz="1800" i="1" dirty="0">
                <a:solidFill>
                  <a:srgbClr val="FF0000"/>
                </a:solidFill>
                <a:latin typeface="Arial"/>
                <a:cs typeface="Arial"/>
              </a:rPr>
              <a:t>scheme </a:t>
            </a:r>
            <a:r>
              <a:rPr sz="1800" dirty="0">
                <a:solidFill>
                  <a:srgbClr val="FF0000"/>
                </a:solidFill>
                <a:latin typeface="Arial MT"/>
                <a:cs typeface="Arial MT"/>
              </a:rPr>
              <a:t>described</a:t>
            </a:r>
            <a:r>
              <a:rPr sz="1800" spc="-5" dirty="0">
                <a:solidFill>
                  <a:srgbClr val="FF0000"/>
                </a:solidFill>
                <a:latin typeface="Arial MT"/>
                <a:cs typeface="Arial MT"/>
              </a:rPr>
              <a:t> </a:t>
            </a:r>
            <a:r>
              <a:rPr sz="1800" dirty="0">
                <a:solidFill>
                  <a:srgbClr val="FF0000"/>
                </a:solidFill>
                <a:latin typeface="Arial MT"/>
                <a:cs typeface="Arial MT"/>
              </a:rPr>
              <a:t>in</a:t>
            </a:r>
            <a:r>
              <a:rPr sz="1800" spc="-25" dirty="0">
                <a:solidFill>
                  <a:srgbClr val="FF0000"/>
                </a:solidFill>
                <a:latin typeface="Arial MT"/>
                <a:cs typeface="Arial MT"/>
              </a:rPr>
              <a:t> </a:t>
            </a:r>
            <a:r>
              <a:rPr sz="1800" spc="-10" dirty="0">
                <a:solidFill>
                  <a:srgbClr val="FF0000"/>
                </a:solidFill>
                <a:latin typeface="Arial MT"/>
                <a:cs typeface="Arial MT"/>
              </a:rPr>
              <a:t>Slide-</a:t>
            </a:r>
            <a:r>
              <a:rPr sz="1800" spc="-50" dirty="0">
                <a:solidFill>
                  <a:srgbClr val="FF0000"/>
                </a:solidFill>
                <a:latin typeface="Arial MT"/>
                <a:cs typeface="Arial MT"/>
              </a:rPr>
              <a:t>6</a:t>
            </a:r>
            <a:endParaRPr sz="180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dirty="0">
                <a:latin typeface="Arial MT"/>
                <a:cs typeface="Arial MT"/>
              </a:rPr>
              <a:t>Base</a:t>
            </a:r>
            <a:r>
              <a:rPr sz="1800" spc="-55" dirty="0">
                <a:latin typeface="Arial MT"/>
                <a:cs typeface="Arial MT"/>
              </a:rPr>
              <a:t> </a:t>
            </a:r>
            <a:r>
              <a:rPr sz="1800" dirty="0">
                <a:latin typeface="Arial MT"/>
                <a:cs typeface="Arial MT"/>
              </a:rPr>
              <a:t>register</a:t>
            </a:r>
            <a:r>
              <a:rPr sz="1800" spc="-20" dirty="0">
                <a:latin typeface="Arial MT"/>
                <a:cs typeface="Arial MT"/>
              </a:rPr>
              <a:t> </a:t>
            </a:r>
            <a:r>
              <a:rPr sz="1800" dirty="0">
                <a:latin typeface="Arial MT"/>
                <a:cs typeface="Arial MT"/>
              </a:rPr>
              <a:t>now</a:t>
            </a:r>
            <a:r>
              <a:rPr sz="1800" spc="-30" dirty="0">
                <a:latin typeface="Arial MT"/>
                <a:cs typeface="Arial MT"/>
              </a:rPr>
              <a:t> </a:t>
            </a:r>
            <a:r>
              <a:rPr sz="1800" dirty="0">
                <a:latin typeface="Arial MT"/>
                <a:cs typeface="Arial MT"/>
              </a:rPr>
              <a:t>called</a:t>
            </a:r>
            <a:r>
              <a:rPr sz="1800" spc="-15" dirty="0">
                <a:latin typeface="Arial MT"/>
                <a:cs typeface="Arial MT"/>
              </a:rPr>
              <a:t> </a:t>
            </a:r>
            <a:r>
              <a:rPr sz="1800" b="1" dirty="0">
                <a:solidFill>
                  <a:srgbClr val="0000FF"/>
                </a:solidFill>
                <a:latin typeface="Arial"/>
                <a:cs typeface="Arial"/>
              </a:rPr>
              <a:t>relocation</a:t>
            </a:r>
            <a:r>
              <a:rPr sz="1800" b="1" spc="-40" dirty="0">
                <a:solidFill>
                  <a:srgbClr val="0000FF"/>
                </a:solidFill>
                <a:latin typeface="Arial"/>
                <a:cs typeface="Arial"/>
              </a:rPr>
              <a:t> </a:t>
            </a:r>
            <a:r>
              <a:rPr sz="1800" b="1" spc="-10" dirty="0">
                <a:solidFill>
                  <a:srgbClr val="0000FF"/>
                </a:solidFill>
                <a:latin typeface="Arial"/>
                <a:cs typeface="Arial"/>
              </a:rPr>
              <a:t>register</a:t>
            </a:r>
            <a:endParaRPr sz="1800">
              <a:latin typeface="Arial"/>
              <a:cs typeface="Arial"/>
            </a:endParaRPr>
          </a:p>
          <a:p>
            <a:pPr marL="756285" lvl="1" indent="-286385">
              <a:lnSpc>
                <a:spcPct val="100000"/>
              </a:lnSpc>
              <a:spcBef>
                <a:spcPts val="755"/>
              </a:spcBef>
              <a:buClr>
                <a:srgbClr val="CC6600"/>
              </a:buClr>
              <a:buSzPct val="80555"/>
              <a:buFont typeface="Wingdings"/>
              <a:buChar char=""/>
              <a:tabLst>
                <a:tab pos="756285" algn="l"/>
              </a:tabLst>
            </a:pPr>
            <a:r>
              <a:rPr sz="1800" spc="-10" dirty="0">
                <a:latin typeface="Arial MT"/>
                <a:cs typeface="Arial MT"/>
              </a:rPr>
              <a:t>MS-</a:t>
            </a:r>
            <a:r>
              <a:rPr sz="1800" dirty="0">
                <a:latin typeface="Arial MT"/>
                <a:cs typeface="Arial MT"/>
              </a:rPr>
              <a:t>DOS</a:t>
            </a:r>
            <a:r>
              <a:rPr sz="1800" spc="-15" dirty="0">
                <a:latin typeface="Arial MT"/>
                <a:cs typeface="Arial MT"/>
              </a:rPr>
              <a:t> </a:t>
            </a:r>
            <a:r>
              <a:rPr sz="1800" dirty="0">
                <a:latin typeface="Arial MT"/>
                <a:cs typeface="Arial MT"/>
              </a:rPr>
              <a:t>on</a:t>
            </a:r>
            <a:r>
              <a:rPr sz="1800" spc="-20" dirty="0">
                <a:latin typeface="Arial MT"/>
                <a:cs typeface="Arial MT"/>
              </a:rPr>
              <a:t> </a:t>
            </a:r>
            <a:r>
              <a:rPr sz="1800" dirty="0">
                <a:latin typeface="Arial MT"/>
                <a:cs typeface="Arial MT"/>
              </a:rPr>
              <a:t>Intel</a:t>
            </a:r>
            <a:r>
              <a:rPr sz="1800" spc="-10" dirty="0">
                <a:latin typeface="Arial MT"/>
                <a:cs typeface="Arial MT"/>
              </a:rPr>
              <a:t> </a:t>
            </a:r>
            <a:r>
              <a:rPr sz="1800" dirty="0">
                <a:latin typeface="Arial MT"/>
                <a:cs typeface="Arial MT"/>
              </a:rPr>
              <a:t>80x86 used</a:t>
            </a:r>
            <a:r>
              <a:rPr sz="1800" spc="-5" dirty="0">
                <a:latin typeface="Arial MT"/>
                <a:cs typeface="Arial MT"/>
              </a:rPr>
              <a:t> </a:t>
            </a:r>
            <a:r>
              <a:rPr sz="1800" dirty="0">
                <a:latin typeface="Arial MT"/>
                <a:cs typeface="Arial MT"/>
              </a:rPr>
              <a:t>4</a:t>
            </a:r>
            <a:r>
              <a:rPr sz="1800" spc="-15" dirty="0">
                <a:latin typeface="Arial MT"/>
                <a:cs typeface="Arial MT"/>
              </a:rPr>
              <a:t> </a:t>
            </a:r>
            <a:r>
              <a:rPr sz="1800" dirty="0">
                <a:latin typeface="Arial MT"/>
                <a:cs typeface="Arial MT"/>
              </a:rPr>
              <a:t>relocation</a:t>
            </a:r>
            <a:r>
              <a:rPr sz="1800" spc="-5" dirty="0">
                <a:latin typeface="Arial MT"/>
                <a:cs typeface="Arial MT"/>
              </a:rPr>
              <a:t> </a:t>
            </a:r>
            <a:r>
              <a:rPr sz="1800" dirty="0">
                <a:latin typeface="Arial MT"/>
                <a:cs typeface="Arial MT"/>
              </a:rPr>
              <a:t>registers:</a:t>
            </a:r>
            <a:r>
              <a:rPr sz="1800" spc="20" dirty="0">
                <a:latin typeface="Arial MT"/>
                <a:cs typeface="Arial MT"/>
              </a:rPr>
              <a:t> </a:t>
            </a:r>
            <a:r>
              <a:rPr sz="1800" b="1" dirty="0">
                <a:solidFill>
                  <a:srgbClr val="FF0000"/>
                </a:solidFill>
                <a:latin typeface="Arial"/>
                <a:cs typeface="Arial"/>
              </a:rPr>
              <a:t>EBX,</a:t>
            </a:r>
            <a:r>
              <a:rPr sz="1800" b="1" spc="-25" dirty="0">
                <a:solidFill>
                  <a:srgbClr val="FF0000"/>
                </a:solidFill>
                <a:latin typeface="Arial"/>
                <a:cs typeface="Arial"/>
              </a:rPr>
              <a:t> </a:t>
            </a:r>
            <a:r>
              <a:rPr sz="1800" b="1" dirty="0">
                <a:solidFill>
                  <a:srgbClr val="FF0000"/>
                </a:solidFill>
                <a:latin typeface="Arial"/>
                <a:cs typeface="Arial"/>
              </a:rPr>
              <a:t>BX,</a:t>
            </a:r>
            <a:r>
              <a:rPr sz="1800" b="1" spc="-10" dirty="0">
                <a:solidFill>
                  <a:srgbClr val="FF0000"/>
                </a:solidFill>
                <a:latin typeface="Arial"/>
                <a:cs typeface="Arial"/>
              </a:rPr>
              <a:t> </a:t>
            </a:r>
            <a:r>
              <a:rPr sz="1800" b="1" dirty="0">
                <a:solidFill>
                  <a:srgbClr val="FF0000"/>
                </a:solidFill>
                <a:latin typeface="Arial"/>
                <a:cs typeface="Arial"/>
              </a:rPr>
              <a:t>BH,</a:t>
            </a:r>
            <a:r>
              <a:rPr sz="1800" b="1" spc="-10" dirty="0">
                <a:solidFill>
                  <a:srgbClr val="FF0000"/>
                </a:solidFill>
                <a:latin typeface="Arial"/>
                <a:cs typeface="Arial"/>
              </a:rPr>
              <a:t> </a:t>
            </a:r>
            <a:r>
              <a:rPr sz="1800" b="1" spc="-25" dirty="0">
                <a:solidFill>
                  <a:srgbClr val="FF0000"/>
                </a:solidFill>
                <a:latin typeface="Arial"/>
                <a:cs typeface="Arial"/>
              </a:rPr>
              <a:t>BL</a:t>
            </a:r>
            <a:endParaRPr sz="1800">
              <a:latin typeface="Arial"/>
              <a:cs typeface="Arial"/>
            </a:endParaRPr>
          </a:p>
          <a:p>
            <a:pPr marL="355600" marR="330835" indent="-342900">
              <a:lnSpc>
                <a:spcPct val="100000"/>
              </a:lnSpc>
              <a:spcBef>
                <a:spcPts val="755"/>
              </a:spcBef>
              <a:buClr>
                <a:srgbClr val="993300"/>
              </a:buClr>
              <a:buSzPct val="88888"/>
              <a:buFont typeface="Wingdings"/>
              <a:buChar char=""/>
              <a:tabLst>
                <a:tab pos="355600" algn="l"/>
              </a:tabLst>
            </a:pPr>
            <a:r>
              <a:rPr sz="1800" dirty="0">
                <a:latin typeface="Arial MT"/>
                <a:cs typeface="Arial MT"/>
              </a:rPr>
              <a:t>The</a:t>
            </a:r>
            <a:r>
              <a:rPr sz="1800" spc="-45" dirty="0">
                <a:latin typeface="Arial MT"/>
                <a:cs typeface="Arial MT"/>
              </a:rPr>
              <a:t> </a:t>
            </a:r>
            <a:r>
              <a:rPr sz="1800" dirty="0">
                <a:latin typeface="Arial MT"/>
                <a:cs typeface="Arial MT"/>
              </a:rPr>
              <a:t>user</a:t>
            </a:r>
            <a:r>
              <a:rPr sz="1800" spc="-20" dirty="0">
                <a:latin typeface="Arial MT"/>
                <a:cs typeface="Arial MT"/>
              </a:rPr>
              <a:t> </a:t>
            </a:r>
            <a:r>
              <a:rPr sz="1800" dirty="0">
                <a:latin typeface="Arial MT"/>
                <a:cs typeface="Arial MT"/>
              </a:rPr>
              <a:t>program</a:t>
            </a:r>
            <a:r>
              <a:rPr sz="1800" spc="-20" dirty="0">
                <a:latin typeface="Arial MT"/>
                <a:cs typeface="Arial MT"/>
              </a:rPr>
              <a:t> </a:t>
            </a:r>
            <a:r>
              <a:rPr sz="1800" dirty="0">
                <a:latin typeface="Arial MT"/>
                <a:cs typeface="Arial MT"/>
              </a:rPr>
              <a:t>deals</a:t>
            </a:r>
            <a:r>
              <a:rPr sz="1800" spc="-10" dirty="0">
                <a:latin typeface="Arial MT"/>
                <a:cs typeface="Arial MT"/>
              </a:rPr>
              <a:t> </a:t>
            </a:r>
            <a:r>
              <a:rPr sz="1800" dirty="0">
                <a:latin typeface="Arial MT"/>
                <a:cs typeface="Arial MT"/>
              </a:rPr>
              <a:t>with</a:t>
            </a:r>
            <a:r>
              <a:rPr sz="1800" spc="25" dirty="0">
                <a:latin typeface="Arial MT"/>
                <a:cs typeface="Arial MT"/>
              </a:rPr>
              <a:t> </a:t>
            </a:r>
            <a:r>
              <a:rPr sz="1800" i="1" dirty="0">
                <a:latin typeface="Arial"/>
                <a:cs typeface="Arial"/>
              </a:rPr>
              <a:t>logical</a:t>
            </a:r>
            <a:r>
              <a:rPr sz="1800" i="1" spc="-20" dirty="0">
                <a:latin typeface="Arial"/>
                <a:cs typeface="Arial"/>
              </a:rPr>
              <a:t> </a:t>
            </a:r>
            <a:r>
              <a:rPr sz="1800" dirty="0">
                <a:latin typeface="Arial MT"/>
                <a:cs typeface="Arial MT"/>
              </a:rPr>
              <a:t>addresses;</a:t>
            </a:r>
            <a:r>
              <a:rPr sz="1800" spc="-10" dirty="0">
                <a:latin typeface="Arial MT"/>
                <a:cs typeface="Arial MT"/>
              </a:rPr>
              <a:t> </a:t>
            </a:r>
            <a:r>
              <a:rPr sz="1800" dirty="0">
                <a:latin typeface="Arial MT"/>
                <a:cs typeface="Arial MT"/>
              </a:rPr>
              <a:t>it</a:t>
            </a:r>
            <a:r>
              <a:rPr sz="1800" spc="-25" dirty="0">
                <a:latin typeface="Arial MT"/>
                <a:cs typeface="Arial MT"/>
              </a:rPr>
              <a:t> </a:t>
            </a:r>
            <a:r>
              <a:rPr sz="1800" dirty="0">
                <a:latin typeface="Arial MT"/>
                <a:cs typeface="Arial MT"/>
              </a:rPr>
              <a:t>never</a:t>
            </a:r>
            <a:r>
              <a:rPr sz="1800" spc="-15" dirty="0">
                <a:latin typeface="Arial MT"/>
                <a:cs typeface="Arial MT"/>
              </a:rPr>
              <a:t> </a:t>
            </a:r>
            <a:r>
              <a:rPr sz="1800" dirty="0">
                <a:latin typeface="Arial MT"/>
                <a:cs typeface="Arial MT"/>
              </a:rPr>
              <a:t>sees</a:t>
            </a:r>
            <a:r>
              <a:rPr sz="1800" spc="-25" dirty="0">
                <a:latin typeface="Arial MT"/>
                <a:cs typeface="Arial MT"/>
              </a:rPr>
              <a:t> </a:t>
            </a:r>
            <a:r>
              <a:rPr sz="1800" dirty="0">
                <a:latin typeface="Arial MT"/>
                <a:cs typeface="Arial MT"/>
              </a:rPr>
              <a:t>the</a:t>
            </a:r>
            <a:r>
              <a:rPr sz="1800" spc="-25" dirty="0">
                <a:latin typeface="Arial MT"/>
                <a:cs typeface="Arial MT"/>
              </a:rPr>
              <a:t> </a:t>
            </a:r>
            <a:r>
              <a:rPr sz="1800" i="1" dirty="0">
                <a:latin typeface="Arial"/>
                <a:cs typeface="Arial"/>
              </a:rPr>
              <a:t>real</a:t>
            </a:r>
            <a:r>
              <a:rPr sz="1800" i="1" spc="-15" dirty="0">
                <a:latin typeface="Arial"/>
                <a:cs typeface="Arial"/>
              </a:rPr>
              <a:t> </a:t>
            </a:r>
            <a:r>
              <a:rPr sz="1800" spc="-10" dirty="0">
                <a:latin typeface="Arial MT"/>
                <a:cs typeface="Arial MT"/>
              </a:rPr>
              <a:t>physical addresses</a:t>
            </a:r>
            <a:endParaRPr sz="180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spc="-10" dirty="0">
                <a:latin typeface="Arial MT"/>
                <a:cs typeface="Arial MT"/>
              </a:rPr>
              <a:t>Execution-</a:t>
            </a:r>
            <a:r>
              <a:rPr sz="1800" dirty="0">
                <a:latin typeface="Arial MT"/>
                <a:cs typeface="Arial MT"/>
              </a:rPr>
              <a:t>time</a:t>
            </a:r>
            <a:r>
              <a:rPr sz="1800" spc="-25" dirty="0">
                <a:latin typeface="Arial MT"/>
                <a:cs typeface="Arial MT"/>
              </a:rPr>
              <a:t> </a:t>
            </a:r>
            <a:r>
              <a:rPr sz="1800" dirty="0">
                <a:latin typeface="Arial MT"/>
                <a:cs typeface="Arial MT"/>
              </a:rPr>
              <a:t>binding</a:t>
            </a:r>
            <a:r>
              <a:rPr sz="1800" spc="-10" dirty="0">
                <a:latin typeface="Arial MT"/>
                <a:cs typeface="Arial MT"/>
              </a:rPr>
              <a:t> </a:t>
            </a:r>
            <a:r>
              <a:rPr sz="1800" dirty="0">
                <a:latin typeface="Arial MT"/>
                <a:cs typeface="Arial MT"/>
              </a:rPr>
              <a:t>occurs</a:t>
            </a:r>
            <a:r>
              <a:rPr sz="1800" spc="-20" dirty="0">
                <a:latin typeface="Arial MT"/>
                <a:cs typeface="Arial MT"/>
              </a:rPr>
              <a:t> </a:t>
            </a:r>
            <a:r>
              <a:rPr sz="1800" dirty="0">
                <a:latin typeface="Arial MT"/>
                <a:cs typeface="Arial MT"/>
              </a:rPr>
              <a:t>when</a:t>
            </a:r>
            <a:r>
              <a:rPr sz="1800" spc="10" dirty="0">
                <a:latin typeface="Arial MT"/>
                <a:cs typeface="Arial MT"/>
              </a:rPr>
              <a:t> </a:t>
            </a:r>
            <a:r>
              <a:rPr sz="1800" dirty="0">
                <a:latin typeface="Arial MT"/>
                <a:cs typeface="Arial MT"/>
              </a:rPr>
              <a:t>reference</a:t>
            </a:r>
            <a:r>
              <a:rPr sz="1800" spc="-2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made</a:t>
            </a:r>
            <a:r>
              <a:rPr sz="1800" spc="-35"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location</a:t>
            </a:r>
            <a:r>
              <a:rPr sz="1800" spc="-25" dirty="0">
                <a:latin typeface="Arial MT"/>
                <a:cs typeface="Arial MT"/>
              </a:rPr>
              <a:t> </a:t>
            </a:r>
            <a:r>
              <a:rPr sz="1800" dirty="0">
                <a:latin typeface="Arial MT"/>
                <a:cs typeface="Arial MT"/>
              </a:rPr>
              <a:t>in</a:t>
            </a:r>
            <a:r>
              <a:rPr sz="1800" spc="-25" dirty="0">
                <a:latin typeface="Arial MT"/>
                <a:cs typeface="Arial MT"/>
              </a:rPr>
              <a:t> </a:t>
            </a:r>
            <a:r>
              <a:rPr sz="1800" spc="-10" dirty="0">
                <a:latin typeface="Arial MT"/>
                <a:cs typeface="Arial MT"/>
              </a:rPr>
              <a:t>memory</a:t>
            </a:r>
            <a:endParaRPr sz="1800">
              <a:latin typeface="Arial MT"/>
              <a:cs typeface="Arial MT"/>
            </a:endParaRPr>
          </a:p>
          <a:p>
            <a:pPr marL="870585">
              <a:lnSpc>
                <a:spcPct val="100000"/>
              </a:lnSpc>
              <a:spcBef>
                <a:spcPts val="755"/>
              </a:spcBef>
            </a:pPr>
            <a:r>
              <a:rPr sz="1350" dirty="0">
                <a:solidFill>
                  <a:srgbClr val="009900"/>
                </a:solidFill>
                <a:latin typeface="Webdings"/>
                <a:cs typeface="Webdings"/>
              </a:rPr>
              <a:t></a:t>
            </a:r>
            <a:r>
              <a:rPr sz="1350" spc="105" dirty="0">
                <a:solidFill>
                  <a:srgbClr val="009900"/>
                </a:solidFill>
                <a:latin typeface="Times New Roman"/>
                <a:cs typeface="Times New Roman"/>
              </a:rPr>
              <a:t> </a:t>
            </a:r>
            <a:r>
              <a:rPr sz="1800" dirty="0">
                <a:solidFill>
                  <a:srgbClr val="FF0000"/>
                </a:solidFill>
                <a:latin typeface="Arial MT"/>
                <a:cs typeface="Arial MT"/>
              </a:rPr>
              <a:t>See </a:t>
            </a:r>
            <a:r>
              <a:rPr sz="1800" spc="-10" dirty="0">
                <a:solidFill>
                  <a:srgbClr val="FF0000"/>
                </a:solidFill>
                <a:latin typeface="Arial MT"/>
                <a:cs typeface="Arial MT"/>
              </a:rPr>
              <a:t>Slide-</a:t>
            </a:r>
            <a:r>
              <a:rPr sz="1800" spc="-50" dirty="0">
                <a:solidFill>
                  <a:srgbClr val="FF0000"/>
                </a:solidFill>
                <a:latin typeface="Arial MT"/>
                <a:cs typeface="Arial MT"/>
              </a:rPr>
              <a:t>8</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Logical</a:t>
            </a:r>
            <a:r>
              <a:rPr sz="1800" spc="-25" dirty="0">
                <a:latin typeface="Arial MT"/>
                <a:cs typeface="Arial MT"/>
              </a:rPr>
              <a:t> </a:t>
            </a:r>
            <a:r>
              <a:rPr sz="1800" dirty="0">
                <a:latin typeface="Arial MT"/>
                <a:cs typeface="Arial MT"/>
              </a:rPr>
              <a:t>address</a:t>
            </a:r>
            <a:r>
              <a:rPr sz="1800" spc="-15" dirty="0">
                <a:latin typeface="Arial MT"/>
                <a:cs typeface="Arial MT"/>
              </a:rPr>
              <a:t> </a:t>
            </a:r>
            <a:r>
              <a:rPr sz="1800" dirty="0">
                <a:solidFill>
                  <a:srgbClr val="FF0000"/>
                </a:solidFill>
                <a:latin typeface="Arial MT"/>
                <a:cs typeface="Arial MT"/>
              </a:rPr>
              <a:t>mapped</a:t>
            </a:r>
            <a:r>
              <a:rPr sz="1800" spc="-25" dirty="0">
                <a:solidFill>
                  <a:srgbClr val="FF0000"/>
                </a:solidFill>
                <a:latin typeface="Arial MT"/>
                <a:cs typeface="Arial MT"/>
              </a:rPr>
              <a:t> </a:t>
            </a:r>
            <a:r>
              <a:rPr sz="1800" dirty="0">
                <a:latin typeface="Arial MT"/>
                <a:cs typeface="Arial MT"/>
              </a:rPr>
              <a:t>to</a:t>
            </a:r>
            <a:r>
              <a:rPr sz="1800" spc="-35" dirty="0">
                <a:latin typeface="Arial MT"/>
                <a:cs typeface="Arial MT"/>
              </a:rPr>
              <a:t> </a:t>
            </a:r>
            <a:r>
              <a:rPr sz="1800" dirty="0">
                <a:latin typeface="Arial MT"/>
                <a:cs typeface="Arial MT"/>
              </a:rPr>
              <a:t>physical</a:t>
            </a:r>
            <a:r>
              <a:rPr sz="1800" spc="-5" dirty="0">
                <a:latin typeface="Arial MT"/>
                <a:cs typeface="Arial MT"/>
              </a:rPr>
              <a:t> </a:t>
            </a:r>
            <a:r>
              <a:rPr sz="1800" dirty="0">
                <a:latin typeface="Arial MT"/>
                <a:cs typeface="Arial MT"/>
              </a:rPr>
              <a:t>addresses</a:t>
            </a:r>
            <a:r>
              <a:rPr sz="1800" spc="-20" dirty="0">
                <a:latin typeface="Arial MT"/>
                <a:cs typeface="Arial MT"/>
              </a:rPr>
              <a:t> </a:t>
            </a:r>
            <a:r>
              <a:rPr sz="1800" dirty="0">
                <a:solidFill>
                  <a:srgbClr val="FF0000"/>
                </a:solidFill>
                <a:latin typeface="Arial MT"/>
                <a:cs typeface="Arial MT"/>
              </a:rPr>
              <a:t>before</a:t>
            </a:r>
            <a:r>
              <a:rPr sz="1800" spc="-30" dirty="0">
                <a:solidFill>
                  <a:srgbClr val="FF0000"/>
                </a:solidFill>
                <a:latin typeface="Arial MT"/>
                <a:cs typeface="Arial MT"/>
              </a:rPr>
              <a:t> </a:t>
            </a:r>
            <a:r>
              <a:rPr sz="1800" spc="-25" dirty="0">
                <a:solidFill>
                  <a:srgbClr val="FF0000"/>
                </a:solidFill>
                <a:latin typeface="Arial MT"/>
                <a:cs typeface="Arial MT"/>
              </a:rPr>
              <a:t>use</a:t>
            </a:r>
            <a:endParaRPr sz="1800">
              <a:latin typeface="Arial MT"/>
              <a:cs typeface="Arial MT"/>
            </a:endParaRPr>
          </a:p>
        </p:txBody>
      </p:sp>
      <p:sp>
        <p:nvSpPr>
          <p:cNvPr id="4" name="object 4"/>
          <p:cNvSpPr txBox="1"/>
          <p:nvPr/>
        </p:nvSpPr>
        <p:spPr>
          <a:xfrm>
            <a:off x="1108354" y="5247615"/>
            <a:ext cx="3173095" cy="766445"/>
          </a:xfrm>
          <a:prstGeom prst="rect">
            <a:avLst/>
          </a:prstGeom>
        </p:spPr>
        <p:txBody>
          <a:bodyPr vert="horz" wrap="square" lIns="0" tIns="108585" rIns="0" bIns="0" rtlCol="0">
            <a:spAutoFit/>
          </a:bodyPr>
          <a:lstStyle/>
          <a:p>
            <a:pPr marL="240665" indent="-227965">
              <a:lnSpc>
                <a:spcPct val="100000"/>
              </a:lnSpc>
              <a:spcBef>
                <a:spcPts val="855"/>
              </a:spcBef>
              <a:buClr>
                <a:srgbClr val="009900"/>
              </a:buClr>
              <a:buSzPct val="75000"/>
              <a:buFont typeface="Webdings"/>
              <a:buChar char=""/>
              <a:tabLst>
                <a:tab pos="240665" algn="l"/>
              </a:tabLst>
            </a:pPr>
            <a:r>
              <a:rPr sz="1800" dirty="0">
                <a:solidFill>
                  <a:srgbClr val="FF0000"/>
                </a:solidFill>
                <a:latin typeface="Arial MT"/>
                <a:cs typeface="Arial MT"/>
              </a:rPr>
              <a:t>Logical</a:t>
            </a:r>
            <a:r>
              <a:rPr sz="1800" spc="-15" dirty="0">
                <a:solidFill>
                  <a:srgbClr val="FF0000"/>
                </a:solidFill>
                <a:latin typeface="Arial MT"/>
                <a:cs typeface="Arial MT"/>
              </a:rPr>
              <a:t> </a:t>
            </a:r>
            <a:r>
              <a:rPr sz="1800" dirty="0">
                <a:solidFill>
                  <a:srgbClr val="FF0000"/>
                </a:solidFill>
                <a:latin typeface="Arial MT"/>
                <a:cs typeface="Arial MT"/>
              </a:rPr>
              <a:t>addresses:</a:t>
            </a:r>
            <a:r>
              <a:rPr sz="1800" spc="-15" dirty="0">
                <a:solidFill>
                  <a:srgbClr val="FF0000"/>
                </a:solidFill>
                <a:latin typeface="Arial MT"/>
                <a:cs typeface="Arial MT"/>
              </a:rPr>
              <a:t> </a:t>
            </a:r>
            <a:r>
              <a:rPr sz="1800" dirty="0">
                <a:solidFill>
                  <a:srgbClr val="FF0000"/>
                </a:solidFill>
                <a:latin typeface="Arial MT"/>
                <a:cs typeface="Arial MT"/>
              </a:rPr>
              <a:t>in</a:t>
            </a:r>
            <a:r>
              <a:rPr sz="1800" spc="-35" dirty="0">
                <a:solidFill>
                  <a:srgbClr val="FF0000"/>
                </a:solidFill>
                <a:latin typeface="Arial MT"/>
                <a:cs typeface="Arial MT"/>
              </a:rPr>
              <a:t> </a:t>
            </a:r>
            <a:r>
              <a:rPr sz="1800" spc="-20" dirty="0">
                <a:solidFill>
                  <a:srgbClr val="FF0000"/>
                </a:solidFill>
                <a:latin typeface="Arial MT"/>
                <a:cs typeface="Arial MT"/>
              </a:rPr>
              <a:t>range</a:t>
            </a:r>
            <a:endParaRPr sz="1800">
              <a:latin typeface="Arial MT"/>
              <a:cs typeface="Arial MT"/>
            </a:endParaRPr>
          </a:p>
          <a:p>
            <a:pPr marL="240665" indent="-227965">
              <a:lnSpc>
                <a:spcPct val="100000"/>
              </a:lnSpc>
              <a:spcBef>
                <a:spcPts val="755"/>
              </a:spcBef>
              <a:buClr>
                <a:srgbClr val="009900"/>
              </a:buClr>
              <a:buSzPct val="75000"/>
              <a:buFont typeface="Webdings"/>
              <a:buChar char=""/>
              <a:tabLst>
                <a:tab pos="240665" algn="l"/>
              </a:tabLst>
            </a:pPr>
            <a:r>
              <a:rPr sz="1800" dirty="0">
                <a:solidFill>
                  <a:srgbClr val="FF0000"/>
                </a:solidFill>
                <a:latin typeface="Arial MT"/>
                <a:cs typeface="Arial MT"/>
              </a:rPr>
              <a:t>Physical</a:t>
            </a:r>
            <a:r>
              <a:rPr sz="1800" spc="-20" dirty="0">
                <a:solidFill>
                  <a:srgbClr val="FF0000"/>
                </a:solidFill>
                <a:latin typeface="Arial MT"/>
                <a:cs typeface="Arial MT"/>
              </a:rPr>
              <a:t> </a:t>
            </a:r>
            <a:r>
              <a:rPr sz="1800" dirty="0">
                <a:solidFill>
                  <a:srgbClr val="FF0000"/>
                </a:solidFill>
                <a:latin typeface="Arial MT"/>
                <a:cs typeface="Arial MT"/>
              </a:rPr>
              <a:t>addresses:</a:t>
            </a:r>
            <a:r>
              <a:rPr sz="1800" spc="-30" dirty="0">
                <a:solidFill>
                  <a:srgbClr val="FF0000"/>
                </a:solidFill>
                <a:latin typeface="Arial MT"/>
                <a:cs typeface="Arial MT"/>
              </a:rPr>
              <a:t> </a:t>
            </a:r>
            <a:r>
              <a:rPr sz="1800" dirty="0">
                <a:solidFill>
                  <a:srgbClr val="FF0000"/>
                </a:solidFill>
                <a:latin typeface="Arial MT"/>
                <a:cs typeface="Arial MT"/>
              </a:rPr>
              <a:t>in</a:t>
            </a:r>
            <a:r>
              <a:rPr sz="1800" spc="-55" dirty="0">
                <a:solidFill>
                  <a:srgbClr val="FF0000"/>
                </a:solidFill>
                <a:latin typeface="Arial MT"/>
                <a:cs typeface="Arial MT"/>
              </a:rPr>
              <a:t> </a:t>
            </a:r>
            <a:r>
              <a:rPr sz="1800" spc="-20" dirty="0">
                <a:solidFill>
                  <a:srgbClr val="FF0000"/>
                </a:solidFill>
                <a:latin typeface="Arial MT"/>
                <a:cs typeface="Arial MT"/>
              </a:rPr>
              <a:t>range</a:t>
            </a:r>
            <a:endParaRPr sz="1800">
              <a:latin typeface="Arial MT"/>
              <a:cs typeface="Arial MT"/>
            </a:endParaRPr>
          </a:p>
        </p:txBody>
      </p:sp>
      <p:sp>
        <p:nvSpPr>
          <p:cNvPr id="5" name="object 5"/>
          <p:cNvSpPr txBox="1"/>
          <p:nvPr/>
        </p:nvSpPr>
        <p:spPr>
          <a:xfrm>
            <a:off x="4886959" y="5247615"/>
            <a:ext cx="1092200" cy="766445"/>
          </a:xfrm>
          <a:prstGeom prst="rect">
            <a:avLst/>
          </a:prstGeom>
        </p:spPr>
        <p:txBody>
          <a:bodyPr vert="horz" wrap="square" lIns="0" tIns="108585" rIns="0" bIns="0" rtlCol="0">
            <a:spAutoFit/>
          </a:bodyPr>
          <a:lstStyle/>
          <a:p>
            <a:pPr marL="12700">
              <a:lnSpc>
                <a:spcPct val="100000"/>
              </a:lnSpc>
              <a:spcBef>
                <a:spcPts val="855"/>
              </a:spcBef>
              <a:tabLst>
                <a:tab pos="862965" algn="l"/>
              </a:tabLst>
            </a:pPr>
            <a:r>
              <a:rPr sz="1800" b="1" spc="-50" dirty="0">
                <a:solidFill>
                  <a:srgbClr val="FF0000"/>
                </a:solidFill>
                <a:latin typeface="Arial"/>
                <a:cs typeface="Arial"/>
              </a:rPr>
              <a:t>0</a:t>
            </a:r>
            <a:r>
              <a:rPr sz="1800" b="1" dirty="0">
                <a:solidFill>
                  <a:srgbClr val="FF0000"/>
                </a:solidFill>
                <a:latin typeface="Arial"/>
                <a:cs typeface="Arial"/>
              </a:rPr>
              <a:t>	</a:t>
            </a:r>
            <a:r>
              <a:rPr sz="1800" b="1" spc="-25" dirty="0">
                <a:solidFill>
                  <a:srgbClr val="FF0000"/>
                </a:solidFill>
                <a:latin typeface="Arial"/>
                <a:cs typeface="Arial"/>
              </a:rPr>
              <a:t>to</a:t>
            </a:r>
            <a:endParaRPr sz="1800">
              <a:latin typeface="Arial"/>
              <a:cs typeface="Arial"/>
            </a:endParaRPr>
          </a:p>
          <a:p>
            <a:pPr marL="12700">
              <a:lnSpc>
                <a:spcPct val="100000"/>
              </a:lnSpc>
              <a:spcBef>
                <a:spcPts val="755"/>
              </a:spcBef>
              <a:tabLst>
                <a:tab pos="862965" algn="l"/>
              </a:tabLst>
            </a:pPr>
            <a:r>
              <a:rPr sz="1800" b="1" i="1" dirty="0">
                <a:solidFill>
                  <a:srgbClr val="FF0000"/>
                </a:solidFill>
                <a:latin typeface="Arial"/>
                <a:cs typeface="Arial"/>
              </a:rPr>
              <a:t>R</a:t>
            </a:r>
            <a:r>
              <a:rPr sz="1800" b="1" i="1" spc="-5" dirty="0">
                <a:solidFill>
                  <a:srgbClr val="FF0000"/>
                </a:solidFill>
                <a:latin typeface="Arial"/>
                <a:cs typeface="Arial"/>
              </a:rPr>
              <a:t> </a:t>
            </a:r>
            <a:r>
              <a:rPr sz="1800" b="1" dirty="0">
                <a:solidFill>
                  <a:srgbClr val="FF0000"/>
                </a:solidFill>
                <a:latin typeface="Arial"/>
                <a:cs typeface="Arial"/>
              </a:rPr>
              <a:t>+</a:t>
            </a:r>
            <a:r>
              <a:rPr sz="1800" b="1" spc="-5" dirty="0">
                <a:solidFill>
                  <a:srgbClr val="FF0000"/>
                </a:solidFill>
                <a:latin typeface="Arial"/>
                <a:cs typeface="Arial"/>
              </a:rPr>
              <a:t> </a:t>
            </a:r>
            <a:r>
              <a:rPr sz="1800" b="1" spc="-50" dirty="0">
                <a:solidFill>
                  <a:srgbClr val="FF0000"/>
                </a:solidFill>
                <a:latin typeface="Arial"/>
                <a:cs typeface="Arial"/>
              </a:rPr>
              <a:t>0</a:t>
            </a:r>
            <a:r>
              <a:rPr sz="1800" b="1" dirty="0">
                <a:solidFill>
                  <a:srgbClr val="FF0000"/>
                </a:solidFill>
                <a:latin typeface="Arial"/>
                <a:cs typeface="Arial"/>
              </a:rPr>
              <a:t>	</a:t>
            </a:r>
            <a:r>
              <a:rPr sz="1800" b="1" spc="-25" dirty="0">
                <a:solidFill>
                  <a:srgbClr val="FF0000"/>
                </a:solidFill>
                <a:latin typeface="Arial"/>
                <a:cs typeface="Arial"/>
              </a:rPr>
              <a:t>to</a:t>
            </a:r>
            <a:endParaRPr sz="1800">
              <a:latin typeface="Arial"/>
              <a:cs typeface="Arial"/>
            </a:endParaRPr>
          </a:p>
        </p:txBody>
      </p:sp>
      <p:sp>
        <p:nvSpPr>
          <p:cNvPr id="6" name="object 6"/>
          <p:cNvSpPr txBox="1"/>
          <p:nvPr/>
        </p:nvSpPr>
        <p:spPr>
          <a:xfrm>
            <a:off x="6652006" y="5247615"/>
            <a:ext cx="906780" cy="766445"/>
          </a:xfrm>
          <a:prstGeom prst="rect">
            <a:avLst/>
          </a:prstGeom>
        </p:spPr>
        <p:txBody>
          <a:bodyPr vert="horz" wrap="square" lIns="0" tIns="108585" rIns="0" bIns="0" rtlCol="0">
            <a:spAutoFit/>
          </a:bodyPr>
          <a:lstStyle/>
          <a:p>
            <a:pPr marL="12700">
              <a:lnSpc>
                <a:spcPct val="100000"/>
              </a:lnSpc>
              <a:spcBef>
                <a:spcPts val="855"/>
              </a:spcBef>
            </a:pPr>
            <a:r>
              <a:rPr sz="1800" b="1" i="1" spc="-25" dirty="0">
                <a:solidFill>
                  <a:srgbClr val="FF0000"/>
                </a:solidFill>
                <a:latin typeface="Arial"/>
                <a:cs typeface="Arial"/>
              </a:rPr>
              <a:t>max</a:t>
            </a:r>
            <a:endParaRPr sz="1800">
              <a:latin typeface="Arial"/>
              <a:cs typeface="Arial"/>
            </a:endParaRPr>
          </a:p>
          <a:p>
            <a:pPr marL="12700">
              <a:lnSpc>
                <a:spcPct val="100000"/>
              </a:lnSpc>
              <a:spcBef>
                <a:spcPts val="755"/>
              </a:spcBef>
            </a:pPr>
            <a:r>
              <a:rPr sz="1800" b="1" i="1" dirty="0">
                <a:solidFill>
                  <a:srgbClr val="FF0000"/>
                </a:solidFill>
                <a:latin typeface="Arial"/>
                <a:cs typeface="Arial"/>
              </a:rPr>
              <a:t>R</a:t>
            </a:r>
            <a:r>
              <a:rPr sz="1800" b="1" i="1" spc="-5" dirty="0">
                <a:solidFill>
                  <a:srgbClr val="FF0000"/>
                </a:solidFill>
                <a:latin typeface="Arial"/>
                <a:cs typeface="Arial"/>
              </a:rPr>
              <a:t> </a:t>
            </a:r>
            <a:r>
              <a:rPr sz="1800" b="1" dirty="0">
                <a:solidFill>
                  <a:srgbClr val="FF0000"/>
                </a:solidFill>
                <a:latin typeface="Arial"/>
                <a:cs typeface="Arial"/>
              </a:rPr>
              <a:t>+</a:t>
            </a:r>
            <a:r>
              <a:rPr sz="1800" b="1" spc="-5" dirty="0">
                <a:solidFill>
                  <a:srgbClr val="FF0000"/>
                </a:solidFill>
                <a:latin typeface="Arial"/>
                <a:cs typeface="Arial"/>
              </a:rPr>
              <a:t> </a:t>
            </a:r>
            <a:r>
              <a:rPr sz="1800" b="1" i="1" spc="-25" dirty="0">
                <a:solidFill>
                  <a:srgbClr val="FF0000"/>
                </a:solidFill>
                <a:latin typeface="Arial"/>
                <a:cs typeface="Arial"/>
              </a:rPr>
              <a:t>max</a:t>
            </a:r>
            <a:endParaRPr sz="1800">
              <a:latin typeface="Arial"/>
              <a:cs typeface="Arial"/>
            </a:endParaRPr>
          </a:p>
        </p:txBody>
      </p:sp>
      <p:sp>
        <p:nvSpPr>
          <p:cNvPr id="7" name="object 7"/>
          <p:cNvSpPr txBox="1"/>
          <p:nvPr/>
        </p:nvSpPr>
        <p:spPr>
          <a:xfrm>
            <a:off x="1451228" y="6084519"/>
            <a:ext cx="4685030" cy="299720"/>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sz="1350" spc="-50" dirty="0">
                <a:solidFill>
                  <a:srgbClr val="FFCC00"/>
                </a:solidFill>
                <a:latin typeface="Arial MT"/>
                <a:cs typeface="Arial MT"/>
              </a:rPr>
              <a:t>–</a:t>
            </a:r>
            <a:r>
              <a:rPr sz="1350" dirty="0">
                <a:solidFill>
                  <a:srgbClr val="FFCC00"/>
                </a:solidFill>
                <a:latin typeface="Arial MT"/>
                <a:cs typeface="Arial MT"/>
              </a:rPr>
              <a:t>	</a:t>
            </a:r>
            <a:r>
              <a:rPr sz="1800" dirty="0">
                <a:solidFill>
                  <a:srgbClr val="FF0000"/>
                </a:solidFill>
                <a:latin typeface="Arial MT"/>
                <a:cs typeface="Arial MT"/>
              </a:rPr>
              <a:t>For</a:t>
            </a:r>
            <a:r>
              <a:rPr sz="1800" spc="-15" dirty="0">
                <a:solidFill>
                  <a:srgbClr val="FF0000"/>
                </a:solidFill>
                <a:latin typeface="Arial MT"/>
                <a:cs typeface="Arial MT"/>
              </a:rPr>
              <a:t> </a:t>
            </a:r>
            <a:r>
              <a:rPr sz="1800" dirty="0">
                <a:solidFill>
                  <a:srgbClr val="FF0000"/>
                </a:solidFill>
                <a:latin typeface="Arial MT"/>
                <a:cs typeface="Arial MT"/>
              </a:rPr>
              <a:t>a</a:t>
            </a:r>
            <a:r>
              <a:rPr sz="1800" spc="-15" dirty="0">
                <a:solidFill>
                  <a:srgbClr val="FF0000"/>
                </a:solidFill>
                <a:latin typeface="Arial MT"/>
                <a:cs typeface="Arial MT"/>
              </a:rPr>
              <a:t> </a:t>
            </a:r>
            <a:r>
              <a:rPr sz="1800" dirty="0">
                <a:solidFill>
                  <a:srgbClr val="FF0000"/>
                </a:solidFill>
                <a:latin typeface="Arial MT"/>
                <a:cs typeface="Arial MT"/>
              </a:rPr>
              <a:t>base</a:t>
            </a:r>
            <a:r>
              <a:rPr sz="1800" spc="-15" dirty="0">
                <a:solidFill>
                  <a:srgbClr val="FF0000"/>
                </a:solidFill>
                <a:latin typeface="Arial MT"/>
                <a:cs typeface="Arial MT"/>
              </a:rPr>
              <a:t> </a:t>
            </a:r>
            <a:r>
              <a:rPr sz="1800" dirty="0">
                <a:solidFill>
                  <a:srgbClr val="FF0000"/>
                </a:solidFill>
                <a:latin typeface="Arial MT"/>
                <a:cs typeface="Arial MT"/>
              </a:rPr>
              <a:t>value</a:t>
            </a:r>
            <a:r>
              <a:rPr sz="1800" spc="-10" dirty="0">
                <a:solidFill>
                  <a:srgbClr val="FF0000"/>
                </a:solidFill>
                <a:latin typeface="Arial MT"/>
                <a:cs typeface="Arial MT"/>
              </a:rPr>
              <a:t> </a:t>
            </a:r>
            <a:r>
              <a:rPr sz="1800" i="1" dirty="0">
                <a:solidFill>
                  <a:srgbClr val="FF0000"/>
                </a:solidFill>
                <a:latin typeface="Arial"/>
                <a:cs typeface="Arial"/>
              </a:rPr>
              <a:t>R</a:t>
            </a:r>
            <a:r>
              <a:rPr sz="1800" i="1" spc="-15" dirty="0">
                <a:solidFill>
                  <a:srgbClr val="FF0000"/>
                </a:solidFill>
                <a:latin typeface="Arial"/>
                <a:cs typeface="Arial"/>
              </a:rPr>
              <a:t> </a:t>
            </a:r>
            <a:r>
              <a:rPr sz="1800" dirty="0">
                <a:solidFill>
                  <a:srgbClr val="FF0000"/>
                </a:solidFill>
                <a:latin typeface="Arial MT"/>
                <a:cs typeface="Arial MT"/>
              </a:rPr>
              <a:t>in</a:t>
            </a:r>
            <a:r>
              <a:rPr sz="1800" spc="-10" dirty="0">
                <a:solidFill>
                  <a:srgbClr val="FF0000"/>
                </a:solidFill>
                <a:latin typeface="Arial MT"/>
                <a:cs typeface="Arial MT"/>
              </a:rPr>
              <a:t> </a:t>
            </a:r>
            <a:r>
              <a:rPr sz="1800" dirty="0">
                <a:solidFill>
                  <a:srgbClr val="FF0000"/>
                </a:solidFill>
                <a:latin typeface="Arial MT"/>
                <a:cs typeface="Arial MT"/>
              </a:rPr>
              <a:t>the</a:t>
            </a:r>
            <a:r>
              <a:rPr sz="1800" spc="-20" dirty="0">
                <a:solidFill>
                  <a:srgbClr val="FF0000"/>
                </a:solidFill>
                <a:latin typeface="Arial MT"/>
                <a:cs typeface="Arial MT"/>
              </a:rPr>
              <a:t> </a:t>
            </a:r>
            <a:r>
              <a:rPr sz="1800" dirty="0">
                <a:solidFill>
                  <a:srgbClr val="FF0000"/>
                </a:solidFill>
                <a:latin typeface="Arial MT"/>
                <a:cs typeface="Arial MT"/>
              </a:rPr>
              <a:t>relocation</a:t>
            </a:r>
            <a:r>
              <a:rPr sz="1800" spc="-10" dirty="0">
                <a:solidFill>
                  <a:srgbClr val="FF0000"/>
                </a:solidFill>
                <a:latin typeface="Arial MT"/>
                <a:cs typeface="Arial MT"/>
              </a:rPr>
              <a:t> register</a:t>
            </a:r>
            <a:endParaRPr sz="18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68926" y="1063625"/>
            <a:ext cx="4117975" cy="5622925"/>
          </a:xfrm>
          <a:prstGeom prst="rect">
            <a:avLst/>
          </a:prstGeom>
        </p:spPr>
      </p:pic>
      <p:sp>
        <p:nvSpPr>
          <p:cNvPr id="3" name="object 3"/>
          <p:cNvSpPr txBox="1">
            <a:spLocks noGrp="1"/>
          </p:cNvSpPr>
          <p:nvPr>
            <p:ph type="title"/>
          </p:nvPr>
        </p:nvSpPr>
        <p:spPr>
          <a:xfrm>
            <a:off x="2225420" y="61086"/>
            <a:ext cx="5611495" cy="635635"/>
          </a:xfrm>
          <a:prstGeom prst="rect">
            <a:avLst/>
          </a:prstGeom>
        </p:spPr>
        <p:txBody>
          <a:bodyPr vert="horz" wrap="square" lIns="0" tIns="12700" rIns="0" bIns="0" rtlCol="0">
            <a:spAutoFit/>
          </a:bodyPr>
          <a:lstStyle/>
          <a:p>
            <a:pPr marL="1661795" marR="5080" indent="-1649730">
              <a:lnSpc>
                <a:spcPct val="100000"/>
              </a:lnSpc>
              <a:spcBef>
                <a:spcPts val="100"/>
              </a:spcBef>
            </a:pPr>
            <a:r>
              <a:rPr sz="2000" dirty="0">
                <a:solidFill>
                  <a:srgbClr val="006699"/>
                </a:solidFill>
              </a:rPr>
              <a:t>Dynamic relocation</a:t>
            </a:r>
            <a:r>
              <a:rPr sz="2000" spc="-60" dirty="0">
                <a:solidFill>
                  <a:srgbClr val="006699"/>
                </a:solidFill>
              </a:rPr>
              <a:t> </a:t>
            </a:r>
            <a:r>
              <a:rPr sz="2000" dirty="0">
                <a:solidFill>
                  <a:srgbClr val="006699"/>
                </a:solidFill>
              </a:rPr>
              <a:t>using</a:t>
            </a:r>
            <a:r>
              <a:rPr sz="2000" spc="-25" dirty="0">
                <a:solidFill>
                  <a:srgbClr val="006699"/>
                </a:solidFill>
              </a:rPr>
              <a:t> </a:t>
            </a:r>
            <a:r>
              <a:rPr sz="2000" dirty="0">
                <a:solidFill>
                  <a:srgbClr val="006699"/>
                </a:solidFill>
              </a:rPr>
              <a:t>a</a:t>
            </a:r>
            <a:r>
              <a:rPr sz="2000" spc="-30" dirty="0">
                <a:solidFill>
                  <a:srgbClr val="006699"/>
                </a:solidFill>
              </a:rPr>
              <a:t> </a:t>
            </a:r>
            <a:r>
              <a:rPr sz="2000" dirty="0">
                <a:solidFill>
                  <a:srgbClr val="006699"/>
                </a:solidFill>
              </a:rPr>
              <a:t>relocation</a:t>
            </a:r>
            <a:r>
              <a:rPr sz="2000" spc="-45" dirty="0">
                <a:solidFill>
                  <a:srgbClr val="006699"/>
                </a:solidFill>
              </a:rPr>
              <a:t> </a:t>
            </a:r>
            <a:r>
              <a:rPr sz="2000" spc="-10" dirty="0">
                <a:solidFill>
                  <a:srgbClr val="006699"/>
                </a:solidFill>
              </a:rPr>
              <a:t>register </a:t>
            </a:r>
            <a:r>
              <a:rPr sz="2000" dirty="0">
                <a:solidFill>
                  <a:srgbClr val="006699"/>
                </a:solidFill>
              </a:rPr>
              <a:t>(Dynamic</a:t>
            </a:r>
            <a:r>
              <a:rPr sz="2000" spc="-35" dirty="0">
                <a:solidFill>
                  <a:srgbClr val="006699"/>
                </a:solidFill>
              </a:rPr>
              <a:t> </a:t>
            </a:r>
            <a:r>
              <a:rPr sz="2000" spc="-10" dirty="0">
                <a:solidFill>
                  <a:srgbClr val="006699"/>
                </a:solidFill>
              </a:rPr>
              <a:t>Loading)</a:t>
            </a:r>
            <a:endParaRPr sz="2000"/>
          </a:p>
        </p:txBody>
      </p:sp>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14</a:t>
            </a:fld>
            <a:endParaRPr spc="-20" dirty="0"/>
          </a:p>
        </p:txBody>
      </p:sp>
      <p:sp>
        <p:nvSpPr>
          <p:cNvPr id="7" name="object 7"/>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4" name="object 4"/>
          <p:cNvSpPr txBox="1"/>
          <p:nvPr/>
        </p:nvSpPr>
        <p:spPr>
          <a:xfrm>
            <a:off x="222910" y="1076959"/>
            <a:ext cx="4589145" cy="5593715"/>
          </a:xfrm>
          <a:prstGeom prst="rect">
            <a:avLst/>
          </a:prstGeom>
        </p:spPr>
        <p:txBody>
          <a:bodyPr vert="horz" wrap="square" lIns="0" tIns="12700" rIns="0" bIns="0" rtlCol="0">
            <a:spAutoFit/>
          </a:bodyPr>
          <a:lstStyle/>
          <a:p>
            <a:pPr marL="500380" marR="128905" indent="-488315" algn="just">
              <a:lnSpc>
                <a:spcPct val="100000"/>
              </a:lnSpc>
              <a:spcBef>
                <a:spcPts val="100"/>
              </a:spcBef>
              <a:buClr>
                <a:srgbClr val="993300"/>
              </a:buClr>
              <a:buSzPct val="88888"/>
              <a:buFont typeface="Wingdings"/>
              <a:buChar char=""/>
              <a:tabLst>
                <a:tab pos="501650" algn="l"/>
              </a:tabLst>
            </a:pPr>
            <a:r>
              <a:rPr sz="1800" dirty="0">
                <a:latin typeface="Arial MT"/>
                <a:cs typeface="Arial MT"/>
              </a:rPr>
              <a:t>A</a:t>
            </a:r>
            <a:r>
              <a:rPr sz="1800" spc="-125" dirty="0">
                <a:latin typeface="Arial MT"/>
                <a:cs typeface="Arial MT"/>
              </a:rPr>
              <a:t> </a:t>
            </a:r>
            <a:r>
              <a:rPr sz="1800" dirty="0">
                <a:solidFill>
                  <a:srgbClr val="FF0000"/>
                </a:solidFill>
                <a:latin typeface="Arial MT"/>
                <a:cs typeface="Arial MT"/>
              </a:rPr>
              <a:t>user</a:t>
            </a:r>
            <a:r>
              <a:rPr sz="1800" spc="-5" dirty="0">
                <a:solidFill>
                  <a:srgbClr val="FF0000"/>
                </a:solidFill>
                <a:latin typeface="Arial MT"/>
                <a:cs typeface="Arial MT"/>
              </a:rPr>
              <a:t> </a:t>
            </a:r>
            <a:r>
              <a:rPr sz="1800" dirty="0">
                <a:latin typeface="Arial MT"/>
                <a:cs typeface="Arial MT"/>
              </a:rPr>
              <a:t>routine</a:t>
            </a:r>
            <a:r>
              <a:rPr sz="1800" spc="-15"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loaded</a:t>
            </a:r>
            <a:r>
              <a:rPr sz="1800" spc="-15" dirty="0">
                <a:latin typeface="Arial MT"/>
                <a:cs typeface="Arial MT"/>
              </a:rPr>
              <a:t> </a:t>
            </a:r>
            <a:r>
              <a:rPr sz="1800" dirty="0">
                <a:latin typeface="Arial MT"/>
                <a:cs typeface="Arial MT"/>
              </a:rPr>
              <a:t>until</a:t>
            </a:r>
            <a:r>
              <a:rPr sz="1800" spc="-15" dirty="0">
                <a:latin typeface="Arial MT"/>
                <a:cs typeface="Arial MT"/>
              </a:rPr>
              <a:t> </a:t>
            </a:r>
            <a:r>
              <a:rPr sz="1800" dirty="0">
                <a:latin typeface="Arial MT"/>
                <a:cs typeface="Arial MT"/>
              </a:rPr>
              <a:t>it</a:t>
            </a:r>
            <a:r>
              <a:rPr sz="1800" spc="-25" dirty="0">
                <a:latin typeface="Arial MT"/>
                <a:cs typeface="Arial MT"/>
              </a:rPr>
              <a:t> is 	</a:t>
            </a:r>
            <a:r>
              <a:rPr sz="1800" dirty="0">
                <a:latin typeface="Arial MT"/>
                <a:cs typeface="Arial MT"/>
              </a:rPr>
              <a:t>called</a:t>
            </a:r>
            <a:r>
              <a:rPr sz="1800" spc="-25" dirty="0">
                <a:latin typeface="Arial MT"/>
                <a:cs typeface="Arial MT"/>
              </a:rPr>
              <a:t> </a:t>
            </a:r>
            <a:r>
              <a:rPr sz="1800" dirty="0">
                <a:solidFill>
                  <a:srgbClr val="FF0000"/>
                </a:solidFill>
                <a:latin typeface="Arial MT"/>
                <a:cs typeface="Arial MT"/>
              </a:rPr>
              <a:t>Loading</a:t>
            </a:r>
            <a:r>
              <a:rPr sz="1800" spc="-10" dirty="0">
                <a:solidFill>
                  <a:srgbClr val="FF0000"/>
                </a:solidFill>
                <a:latin typeface="Arial MT"/>
                <a:cs typeface="Arial MT"/>
              </a:rPr>
              <a:t> </a:t>
            </a:r>
            <a:r>
              <a:rPr sz="1800" dirty="0">
                <a:solidFill>
                  <a:srgbClr val="FF0000"/>
                </a:solidFill>
                <a:latin typeface="Arial MT"/>
                <a:cs typeface="Arial MT"/>
              </a:rPr>
              <a:t>is</a:t>
            </a:r>
            <a:r>
              <a:rPr sz="1800" spc="-30" dirty="0">
                <a:solidFill>
                  <a:srgbClr val="FF0000"/>
                </a:solidFill>
                <a:latin typeface="Arial MT"/>
                <a:cs typeface="Arial MT"/>
              </a:rPr>
              <a:t> </a:t>
            </a:r>
            <a:r>
              <a:rPr sz="1800" dirty="0">
                <a:solidFill>
                  <a:srgbClr val="FF0000"/>
                </a:solidFill>
                <a:latin typeface="Arial MT"/>
                <a:cs typeface="Arial MT"/>
              </a:rPr>
              <a:t>delayed</a:t>
            </a:r>
            <a:r>
              <a:rPr sz="1800" spc="5" dirty="0">
                <a:solidFill>
                  <a:srgbClr val="FF0000"/>
                </a:solidFill>
                <a:latin typeface="Arial MT"/>
                <a:cs typeface="Arial MT"/>
              </a:rPr>
              <a:t> </a:t>
            </a:r>
            <a:r>
              <a:rPr sz="1800" dirty="0">
                <a:solidFill>
                  <a:srgbClr val="FF0000"/>
                </a:solidFill>
                <a:latin typeface="Arial MT"/>
                <a:cs typeface="Arial MT"/>
              </a:rPr>
              <a:t>until</a:t>
            </a:r>
            <a:r>
              <a:rPr sz="1800" spc="-25" dirty="0">
                <a:solidFill>
                  <a:srgbClr val="FF0000"/>
                </a:solidFill>
                <a:latin typeface="Arial MT"/>
                <a:cs typeface="Arial MT"/>
              </a:rPr>
              <a:t> </a:t>
            </a:r>
            <a:r>
              <a:rPr sz="1800" spc="-10" dirty="0">
                <a:solidFill>
                  <a:srgbClr val="FF0000"/>
                </a:solidFill>
                <a:latin typeface="Arial MT"/>
                <a:cs typeface="Arial MT"/>
              </a:rPr>
              <a:t>run-</a:t>
            </a:r>
            <a:r>
              <a:rPr sz="1800" spc="-20" dirty="0">
                <a:solidFill>
                  <a:srgbClr val="FF0000"/>
                </a:solidFill>
                <a:latin typeface="Arial MT"/>
                <a:cs typeface="Arial MT"/>
              </a:rPr>
              <a:t>time</a:t>
            </a:r>
            <a:endParaRPr sz="1800">
              <a:latin typeface="Arial MT"/>
              <a:cs typeface="Arial MT"/>
            </a:endParaRPr>
          </a:p>
          <a:p>
            <a:pPr marL="500380" marR="5080" indent="-488315" algn="just">
              <a:lnSpc>
                <a:spcPct val="100000"/>
              </a:lnSpc>
              <a:spcBef>
                <a:spcPts val="2055"/>
              </a:spcBef>
              <a:buClr>
                <a:srgbClr val="993300"/>
              </a:buClr>
              <a:buSzPct val="88888"/>
              <a:buFont typeface="Wingdings"/>
              <a:buChar char=""/>
              <a:tabLst>
                <a:tab pos="501650" algn="l"/>
              </a:tabLst>
            </a:pPr>
            <a:r>
              <a:rPr sz="1800" dirty="0">
                <a:latin typeface="Arial MT"/>
                <a:cs typeface="Arial MT"/>
              </a:rPr>
              <a:t>Better</a:t>
            </a:r>
            <a:r>
              <a:rPr sz="1800" spc="-35" dirty="0">
                <a:latin typeface="Arial MT"/>
                <a:cs typeface="Arial MT"/>
              </a:rPr>
              <a:t> </a:t>
            </a:r>
            <a:r>
              <a:rPr sz="1800" spc="-10" dirty="0">
                <a:latin typeface="Arial MT"/>
                <a:cs typeface="Arial MT"/>
              </a:rPr>
              <a:t>memory-</a:t>
            </a:r>
            <a:r>
              <a:rPr sz="1800" dirty="0">
                <a:latin typeface="Arial MT"/>
                <a:cs typeface="Arial MT"/>
              </a:rPr>
              <a:t>space</a:t>
            </a:r>
            <a:r>
              <a:rPr sz="1800" spc="-5" dirty="0">
                <a:latin typeface="Arial MT"/>
                <a:cs typeface="Arial MT"/>
              </a:rPr>
              <a:t> </a:t>
            </a:r>
            <a:r>
              <a:rPr sz="1800" dirty="0">
                <a:latin typeface="Arial MT"/>
                <a:cs typeface="Arial MT"/>
              </a:rPr>
              <a:t>utilization;</a:t>
            </a:r>
            <a:r>
              <a:rPr sz="1800" spc="-20" dirty="0">
                <a:latin typeface="Arial MT"/>
                <a:cs typeface="Arial MT"/>
              </a:rPr>
              <a:t> </a:t>
            </a:r>
            <a:r>
              <a:rPr sz="1800" spc="-10" dirty="0">
                <a:latin typeface="Arial MT"/>
                <a:cs typeface="Arial MT"/>
              </a:rPr>
              <a:t>unused 	</a:t>
            </a:r>
            <a:r>
              <a:rPr sz="1800" dirty="0">
                <a:latin typeface="Arial MT"/>
                <a:cs typeface="Arial MT"/>
              </a:rPr>
              <a:t>routine</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never</a:t>
            </a:r>
            <a:r>
              <a:rPr sz="1800" spc="-10" dirty="0">
                <a:latin typeface="Arial MT"/>
                <a:cs typeface="Arial MT"/>
              </a:rPr>
              <a:t> loaded</a:t>
            </a:r>
            <a:endParaRPr sz="1800">
              <a:latin typeface="Arial MT"/>
              <a:cs typeface="Arial MT"/>
            </a:endParaRPr>
          </a:p>
          <a:p>
            <a:pPr marL="501650" indent="-488950">
              <a:lnSpc>
                <a:spcPct val="100000"/>
              </a:lnSpc>
              <a:spcBef>
                <a:spcPts val="2055"/>
              </a:spcBef>
              <a:buClr>
                <a:srgbClr val="993300"/>
              </a:buClr>
              <a:buSzPct val="88888"/>
              <a:buFont typeface="Wingdings"/>
              <a:buChar char=""/>
              <a:tabLst>
                <a:tab pos="501650" algn="l"/>
              </a:tabLst>
            </a:pPr>
            <a:r>
              <a:rPr sz="1800" dirty="0">
                <a:latin typeface="Arial MT"/>
                <a:cs typeface="Arial MT"/>
              </a:rPr>
              <a:t>All</a:t>
            </a:r>
            <a:r>
              <a:rPr sz="1800" spc="-20" dirty="0">
                <a:latin typeface="Arial MT"/>
                <a:cs typeface="Arial MT"/>
              </a:rPr>
              <a:t> </a:t>
            </a:r>
            <a:r>
              <a:rPr sz="1800" dirty="0">
                <a:latin typeface="Arial MT"/>
                <a:cs typeface="Arial MT"/>
              </a:rPr>
              <a:t>routines</a:t>
            </a:r>
            <a:r>
              <a:rPr sz="1800" spc="-15" dirty="0">
                <a:latin typeface="Arial MT"/>
                <a:cs typeface="Arial MT"/>
              </a:rPr>
              <a:t> </a:t>
            </a:r>
            <a:r>
              <a:rPr sz="1800" dirty="0">
                <a:latin typeface="Arial MT"/>
                <a:cs typeface="Arial MT"/>
              </a:rPr>
              <a:t>kept</a:t>
            </a:r>
            <a:r>
              <a:rPr sz="1800" spc="-20" dirty="0">
                <a:latin typeface="Arial MT"/>
                <a:cs typeface="Arial MT"/>
              </a:rPr>
              <a:t> </a:t>
            </a:r>
            <a:r>
              <a:rPr sz="1800" dirty="0">
                <a:latin typeface="Arial MT"/>
                <a:cs typeface="Arial MT"/>
              </a:rPr>
              <a:t>on</a:t>
            </a:r>
            <a:r>
              <a:rPr sz="1800" spc="-15" dirty="0">
                <a:latin typeface="Arial MT"/>
                <a:cs typeface="Arial MT"/>
              </a:rPr>
              <a:t> </a:t>
            </a:r>
            <a:r>
              <a:rPr sz="1800" dirty="0">
                <a:latin typeface="Arial MT"/>
                <a:cs typeface="Arial MT"/>
              </a:rPr>
              <a:t>disk</a:t>
            </a:r>
            <a:r>
              <a:rPr sz="1800" spc="-30" dirty="0">
                <a:latin typeface="Arial MT"/>
                <a:cs typeface="Arial MT"/>
              </a:rPr>
              <a:t> </a:t>
            </a:r>
            <a:r>
              <a:rPr sz="1800" dirty="0">
                <a:latin typeface="Arial MT"/>
                <a:cs typeface="Arial MT"/>
              </a:rPr>
              <a:t>in</a:t>
            </a:r>
            <a:r>
              <a:rPr sz="1800" spc="-25" dirty="0">
                <a:latin typeface="Arial MT"/>
                <a:cs typeface="Arial MT"/>
              </a:rPr>
              <a:t> </a:t>
            </a:r>
            <a:r>
              <a:rPr sz="1800" spc="-10" dirty="0">
                <a:latin typeface="Arial MT"/>
                <a:cs typeface="Arial MT"/>
              </a:rPr>
              <a:t>relocatable</a:t>
            </a:r>
            <a:endParaRPr sz="1800">
              <a:latin typeface="Arial MT"/>
              <a:cs typeface="Arial MT"/>
            </a:endParaRPr>
          </a:p>
          <a:p>
            <a:pPr marL="501650">
              <a:lnSpc>
                <a:spcPct val="100000"/>
              </a:lnSpc>
            </a:pPr>
            <a:r>
              <a:rPr sz="1800" dirty="0">
                <a:latin typeface="Arial MT"/>
                <a:cs typeface="Arial MT"/>
              </a:rPr>
              <a:t>load</a:t>
            </a:r>
            <a:r>
              <a:rPr sz="1800" spc="-15" dirty="0">
                <a:latin typeface="Arial MT"/>
                <a:cs typeface="Arial MT"/>
              </a:rPr>
              <a:t> </a:t>
            </a:r>
            <a:r>
              <a:rPr sz="1800" spc="-10" dirty="0">
                <a:latin typeface="Arial MT"/>
                <a:cs typeface="Arial MT"/>
              </a:rPr>
              <a:t>format</a:t>
            </a:r>
            <a:endParaRPr sz="1800">
              <a:latin typeface="Arial MT"/>
              <a:cs typeface="Arial MT"/>
            </a:endParaRPr>
          </a:p>
          <a:p>
            <a:pPr marL="500380" marR="65405" indent="-488315" algn="just">
              <a:lnSpc>
                <a:spcPct val="100000"/>
              </a:lnSpc>
              <a:spcBef>
                <a:spcPts val="2050"/>
              </a:spcBef>
              <a:buClr>
                <a:srgbClr val="993300"/>
              </a:buClr>
              <a:buSzPct val="88888"/>
              <a:buFont typeface="Wingdings"/>
              <a:buChar char=""/>
              <a:tabLst>
                <a:tab pos="501650" algn="l"/>
              </a:tabLst>
            </a:pPr>
            <a:r>
              <a:rPr sz="1800" dirty="0">
                <a:latin typeface="Arial MT"/>
                <a:cs typeface="Arial MT"/>
              </a:rPr>
              <a:t>Useful</a:t>
            </a:r>
            <a:r>
              <a:rPr sz="1800" spc="-35" dirty="0">
                <a:latin typeface="Arial MT"/>
                <a:cs typeface="Arial MT"/>
              </a:rPr>
              <a:t> </a:t>
            </a:r>
            <a:r>
              <a:rPr sz="1800" dirty="0">
                <a:latin typeface="Arial MT"/>
                <a:cs typeface="Arial MT"/>
              </a:rPr>
              <a:t>when</a:t>
            </a:r>
            <a:r>
              <a:rPr sz="1800" spc="15" dirty="0">
                <a:latin typeface="Arial MT"/>
                <a:cs typeface="Arial MT"/>
              </a:rPr>
              <a:t> </a:t>
            </a:r>
            <a:r>
              <a:rPr sz="1800" dirty="0">
                <a:latin typeface="Arial MT"/>
                <a:cs typeface="Arial MT"/>
              </a:rPr>
              <a:t>large</a:t>
            </a:r>
            <a:r>
              <a:rPr sz="1800" spc="-20" dirty="0">
                <a:latin typeface="Arial MT"/>
                <a:cs typeface="Arial MT"/>
              </a:rPr>
              <a:t> </a:t>
            </a:r>
            <a:r>
              <a:rPr sz="1800" dirty="0">
                <a:latin typeface="Arial MT"/>
                <a:cs typeface="Arial MT"/>
              </a:rPr>
              <a:t>amounts</a:t>
            </a:r>
            <a:r>
              <a:rPr sz="1800" spc="-2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code</a:t>
            </a:r>
            <a:r>
              <a:rPr sz="1800" spc="-20" dirty="0">
                <a:latin typeface="Arial MT"/>
                <a:cs typeface="Arial MT"/>
              </a:rPr>
              <a:t> </a:t>
            </a:r>
            <a:r>
              <a:rPr sz="1800" spc="-25" dirty="0">
                <a:latin typeface="Arial MT"/>
                <a:cs typeface="Arial MT"/>
              </a:rPr>
              <a:t>are 	</a:t>
            </a:r>
            <a:r>
              <a:rPr sz="1800" dirty="0">
                <a:latin typeface="Arial MT"/>
                <a:cs typeface="Arial MT"/>
              </a:rPr>
              <a:t>needed</a:t>
            </a:r>
            <a:r>
              <a:rPr sz="1800" spc="-30" dirty="0">
                <a:latin typeface="Arial MT"/>
                <a:cs typeface="Arial MT"/>
              </a:rPr>
              <a:t> </a:t>
            </a:r>
            <a:r>
              <a:rPr sz="1800" dirty="0">
                <a:latin typeface="Arial MT"/>
                <a:cs typeface="Arial MT"/>
              </a:rPr>
              <a:t>to</a:t>
            </a:r>
            <a:r>
              <a:rPr sz="1800" spc="-40" dirty="0">
                <a:latin typeface="Arial MT"/>
                <a:cs typeface="Arial MT"/>
              </a:rPr>
              <a:t> </a:t>
            </a:r>
            <a:r>
              <a:rPr sz="1800" dirty="0">
                <a:latin typeface="Arial MT"/>
                <a:cs typeface="Arial MT"/>
              </a:rPr>
              <a:t>handle</a:t>
            </a:r>
            <a:r>
              <a:rPr sz="1800" spc="-20" dirty="0">
                <a:latin typeface="Arial MT"/>
                <a:cs typeface="Arial MT"/>
              </a:rPr>
              <a:t> </a:t>
            </a:r>
            <a:r>
              <a:rPr sz="1800" dirty="0">
                <a:latin typeface="Arial MT"/>
                <a:cs typeface="Arial MT"/>
              </a:rPr>
              <a:t>infrequently</a:t>
            </a:r>
            <a:r>
              <a:rPr sz="1800" spc="-10" dirty="0">
                <a:latin typeface="Arial MT"/>
                <a:cs typeface="Arial MT"/>
              </a:rPr>
              <a:t> occurring 	</a:t>
            </a:r>
            <a:r>
              <a:rPr sz="1800" dirty="0">
                <a:latin typeface="Arial MT"/>
                <a:cs typeface="Arial MT"/>
              </a:rPr>
              <a:t>cases.</a:t>
            </a:r>
            <a:r>
              <a:rPr sz="1800" spc="-30" dirty="0">
                <a:latin typeface="Arial MT"/>
                <a:cs typeface="Arial MT"/>
              </a:rPr>
              <a:t> </a:t>
            </a:r>
            <a:r>
              <a:rPr sz="1800" dirty="0">
                <a:solidFill>
                  <a:srgbClr val="FF0000"/>
                </a:solidFill>
                <a:latin typeface="Arial MT"/>
                <a:cs typeface="Arial MT"/>
              </a:rPr>
              <a:t>Loaded</a:t>
            </a:r>
            <a:r>
              <a:rPr sz="1800" spc="-20" dirty="0">
                <a:solidFill>
                  <a:srgbClr val="FF0000"/>
                </a:solidFill>
                <a:latin typeface="Arial MT"/>
                <a:cs typeface="Arial MT"/>
              </a:rPr>
              <a:t> </a:t>
            </a:r>
            <a:r>
              <a:rPr sz="1800" dirty="0">
                <a:solidFill>
                  <a:srgbClr val="FF0000"/>
                </a:solidFill>
                <a:latin typeface="Arial MT"/>
                <a:cs typeface="Arial MT"/>
              </a:rPr>
              <a:t>program</a:t>
            </a:r>
            <a:r>
              <a:rPr sz="1800" spc="-25" dirty="0">
                <a:solidFill>
                  <a:srgbClr val="FF0000"/>
                </a:solidFill>
                <a:latin typeface="Arial MT"/>
                <a:cs typeface="Arial MT"/>
              </a:rPr>
              <a:t> </a:t>
            </a:r>
            <a:r>
              <a:rPr sz="1800" dirty="0">
                <a:solidFill>
                  <a:srgbClr val="FF0000"/>
                </a:solidFill>
                <a:latin typeface="Arial MT"/>
                <a:cs typeface="Arial MT"/>
              </a:rPr>
              <a:t>portion</a:t>
            </a:r>
            <a:r>
              <a:rPr sz="1800" spc="-30" dirty="0">
                <a:solidFill>
                  <a:srgbClr val="FF0000"/>
                </a:solidFill>
                <a:latin typeface="Arial MT"/>
                <a:cs typeface="Arial MT"/>
              </a:rPr>
              <a:t> </a:t>
            </a:r>
            <a:r>
              <a:rPr sz="1800" dirty="0">
                <a:solidFill>
                  <a:srgbClr val="FF0000"/>
                </a:solidFill>
                <a:latin typeface="Arial MT"/>
                <a:cs typeface="Arial MT"/>
              </a:rPr>
              <a:t>is</a:t>
            </a:r>
            <a:r>
              <a:rPr sz="1800" spc="-30" dirty="0">
                <a:solidFill>
                  <a:srgbClr val="FF0000"/>
                </a:solidFill>
                <a:latin typeface="Arial MT"/>
                <a:cs typeface="Arial MT"/>
              </a:rPr>
              <a:t> </a:t>
            </a:r>
            <a:r>
              <a:rPr sz="1800" spc="-20" dirty="0">
                <a:solidFill>
                  <a:srgbClr val="FF0000"/>
                </a:solidFill>
                <a:latin typeface="Arial MT"/>
                <a:cs typeface="Arial MT"/>
              </a:rPr>
              <a:t>much 	</a:t>
            </a:r>
            <a:r>
              <a:rPr sz="1800" dirty="0">
                <a:solidFill>
                  <a:srgbClr val="FF0000"/>
                </a:solidFill>
                <a:latin typeface="Arial MT"/>
                <a:cs typeface="Arial MT"/>
              </a:rPr>
              <a:t>smaller</a:t>
            </a:r>
            <a:r>
              <a:rPr sz="1800" spc="-20" dirty="0">
                <a:solidFill>
                  <a:srgbClr val="FF0000"/>
                </a:solidFill>
                <a:latin typeface="Arial MT"/>
                <a:cs typeface="Arial MT"/>
              </a:rPr>
              <a:t> </a:t>
            </a:r>
            <a:r>
              <a:rPr sz="1800" dirty="0">
                <a:solidFill>
                  <a:srgbClr val="FF0000"/>
                </a:solidFill>
                <a:latin typeface="Arial MT"/>
                <a:cs typeface="Arial MT"/>
              </a:rPr>
              <a:t>than</a:t>
            </a:r>
            <a:r>
              <a:rPr sz="1800" spc="-30" dirty="0">
                <a:solidFill>
                  <a:srgbClr val="FF0000"/>
                </a:solidFill>
                <a:latin typeface="Arial MT"/>
                <a:cs typeface="Arial MT"/>
              </a:rPr>
              <a:t> </a:t>
            </a:r>
            <a:r>
              <a:rPr sz="1800" dirty="0">
                <a:solidFill>
                  <a:srgbClr val="FF0000"/>
                </a:solidFill>
                <a:latin typeface="Arial MT"/>
                <a:cs typeface="Arial MT"/>
              </a:rPr>
              <a:t>total</a:t>
            </a:r>
            <a:r>
              <a:rPr sz="1800" spc="-40" dirty="0">
                <a:solidFill>
                  <a:srgbClr val="FF0000"/>
                </a:solidFill>
                <a:latin typeface="Arial MT"/>
                <a:cs typeface="Arial MT"/>
              </a:rPr>
              <a:t> </a:t>
            </a:r>
            <a:r>
              <a:rPr sz="1800" spc="-10" dirty="0">
                <a:solidFill>
                  <a:srgbClr val="FF0000"/>
                </a:solidFill>
                <a:latin typeface="Arial MT"/>
                <a:cs typeface="Arial MT"/>
              </a:rPr>
              <a:t>program</a:t>
            </a:r>
            <a:endParaRPr sz="1800">
              <a:latin typeface="Arial MT"/>
              <a:cs typeface="Arial MT"/>
            </a:endParaRPr>
          </a:p>
          <a:p>
            <a:pPr marL="501650" marR="271780" indent="-489584">
              <a:lnSpc>
                <a:spcPct val="100000"/>
              </a:lnSpc>
              <a:spcBef>
                <a:spcPts val="2055"/>
              </a:spcBef>
              <a:buClr>
                <a:srgbClr val="993300"/>
              </a:buClr>
              <a:buSzPct val="88888"/>
              <a:buFont typeface="Wingdings"/>
              <a:buChar char=""/>
              <a:tabLst>
                <a:tab pos="501650" algn="l"/>
              </a:tabLst>
            </a:pPr>
            <a:r>
              <a:rPr sz="1800" dirty="0">
                <a:latin typeface="Arial MT"/>
                <a:cs typeface="Arial MT"/>
              </a:rPr>
              <a:t>No</a:t>
            </a:r>
            <a:r>
              <a:rPr sz="1800" spc="-30" dirty="0">
                <a:latin typeface="Arial MT"/>
                <a:cs typeface="Arial MT"/>
              </a:rPr>
              <a:t> </a:t>
            </a:r>
            <a:r>
              <a:rPr sz="1800" dirty="0">
                <a:latin typeface="Arial MT"/>
                <a:cs typeface="Arial MT"/>
              </a:rPr>
              <a:t>special support</a:t>
            </a:r>
            <a:r>
              <a:rPr sz="1800" spc="-15" dirty="0">
                <a:latin typeface="Arial MT"/>
                <a:cs typeface="Arial MT"/>
              </a:rPr>
              <a:t> </a:t>
            </a:r>
            <a:r>
              <a:rPr sz="1800" dirty="0">
                <a:latin typeface="Arial MT"/>
                <a:cs typeface="Arial MT"/>
              </a:rPr>
              <a:t>from</a:t>
            </a:r>
            <a:r>
              <a:rPr sz="1800" spc="-20" dirty="0">
                <a:latin typeface="Arial MT"/>
                <a:cs typeface="Arial MT"/>
              </a:rPr>
              <a:t> </a:t>
            </a:r>
            <a:r>
              <a:rPr sz="1800" dirty="0">
                <a:latin typeface="Arial MT"/>
                <a:cs typeface="Arial MT"/>
              </a:rPr>
              <a:t>the</a:t>
            </a:r>
            <a:r>
              <a:rPr sz="1800" spc="-25" dirty="0">
                <a:latin typeface="Arial MT"/>
                <a:cs typeface="Arial MT"/>
              </a:rPr>
              <a:t> </a:t>
            </a:r>
            <a:r>
              <a:rPr sz="1800" spc="-10" dirty="0">
                <a:latin typeface="Arial MT"/>
                <a:cs typeface="Arial MT"/>
              </a:rPr>
              <a:t>operating </a:t>
            </a:r>
            <a:r>
              <a:rPr sz="1800" dirty="0">
                <a:latin typeface="Arial MT"/>
                <a:cs typeface="Arial MT"/>
              </a:rPr>
              <a:t>system</a:t>
            </a:r>
            <a:r>
              <a:rPr sz="1800" spc="10" dirty="0">
                <a:latin typeface="Arial MT"/>
                <a:cs typeface="Arial MT"/>
              </a:rPr>
              <a:t> </a:t>
            </a:r>
            <a:r>
              <a:rPr sz="1800" dirty="0">
                <a:latin typeface="Arial MT"/>
                <a:cs typeface="Arial MT"/>
              </a:rPr>
              <a:t>is</a:t>
            </a:r>
            <a:r>
              <a:rPr sz="1800" spc="-10" dirty="0">
                <a:latin typeface="Arial MT"/>
                <a:cs typeface="Arial MT"/>
              </a:rPr>
              <a:t> required</a:t>
            </a:r>
            <a:endParaRPr sz="1800">
              <a:latin typeface="Arial MT"/>
              <a:cs typeface="Arial MT"/>
            </a:endParaRPr>
          </a:p>
          <a:p>
            <a:pPr marL="1073150" lvl="1" indent="-408305">
              <a:lnSpc>
                <a:spcPct val="100000"/>
              </a:lnSpc>
              <a:spcBef>
                <a:spcPts val="1975"/>
              </a:spcBef>
              <a:buClr>
                <a:srgbClr val="CC6600"/>
              </a:buClr>
              <a:buSzPct val="78125"/>
              <a:buFont typeface="Wingdings"/>
              <a:buChar char=""/>
              <a:tabLst>
                <a:tab pos="1073150" algn="l"/>
              </a:tabLst>
            </a:pPr>
            <a:r>
              <a:rPr sz="1600" spc="-10" dirty="0">
                <a:latin typeface="Arial MT"/>
                <a:cs typeface="Arial MT"/>
              </a:rPr>
              <a:t>Implemented</a:t>
            </a:r>
            <a:r>
              <a:rPr sz="1600" spc="-40" dirty="0">
                <a:latin typeface="Arial MT"/>
                <a:cs typeface="Arial MT"/>
              </a:rPr>
              <a:t> </a:t>
            </a:r>
            <a:r>
              <a:rPr sz="1600" dirty="0">
                <a:latin typeface="Arial MT"/>
                <a:cs typeface="Arial MT"/>
              </a:rPr>
              <a:t>through</a:t>
            </a:r>
            <a:r>
              <a:rPr sz="1600" spc="-35" dirty="0">
                <a:latin typeface="Arial MT"/>
                <a:cs typeface="Arial MT"/>
              </a:rPr>
              <a:t> </a:t>
            </a:r>
            <a:r>
              <a:rPr sz="1600" dirty="0">
                <a:latin typeface="Arial MT"/>
                <a:cs typeface="Arial MT"/>
              </a:rPr>
              <a:t>program</a:t>
            </a:r>
            <a:r>
              <a:rPr sz="1600" spc="-30" dirty="0">
                <a:latin typeface="Arial MT"/>
                <a:cs typeface="Arial MT"/>
              </a:rPr>
              <a:t> </a:t>
            </a:r>
            <a:r>
              <a:rPr sz="1600" spc="-10" dirty="0">
                <a:latin typeface="Arial MT"/>
                <a:cs typeface="Arial MT"/>
              </a:rPr>
              <a:t>design</a:t>
            </a:r>
            <a:endParaRPr sz="1600">
              <a:latin typeface="Arial MT"/>
              <a:cs typeface="Arial MT"/>
            </a:endParaRPr>
          </a:p>
          <a:p>
            <a:pPr lvl="1">
              <a:lnSpc>
                <a:spcPct val="100000"/>
              </a:lnSpc>
              <a:spcBef>
                <a:spcPts val="130"/>
              </a:spcBef>
              <a:buClr>
                <a:srgbClr val="CC6600"/>
              </a:buClr>
              <a:buFont typeface="Wingdings"/>
              <a:buChar char=""/>
            </a:pPr>
            <a:endParaRPr sz="1600">
              <a:latin typeface="Arial MT"/>
              <a:cs typeface="Arial MT"/>
            </a:endParaRPr>
          </a:p>
          <a:p>
            <a:pPr marL="1073150" marR="53340" lvl="1" indent="-408940">
              <a:lnSpc>
                <a:spcPct val="100000"/>
              </a:lnSpc>
              <a:buClr>
                <a:srgbClr val="CC6600"/>
              </a:buClr>
              <a:buSzPct val="78125"/>
              <a:buFont typeface="Wingdings"/>
              <a:buChar char=""/>
              <a:tabLst>
                <a:tab pos="1073150" algn="l"/>
              </a:tabLst>
            </a:pPr>
            <a:r>
              <a:rPr sz="1600" dirty="0">
                <a:latin typeface="Arial MT"/>
                <a:cs typeface="Arial MT"/>
              </a:rPr>
              <a:t>OS</a:t>
            </a:r>
            <a:r>
              <a:rPr sz="1600" spc="-10" dirty="0">
                <a:latin typeface="Arial MT"/>
                <a:cs typeface="Arial MT"/>
              </a:rPr>
              <a:t> </a:t>
            </a:r>
            <a:r>
              <a:rPr sz="1600" dirty="0">
                <a:latin typeface="Arial MT"/>
                <a:cs typeface="Arial MT"/>
              </a:rPr>
              <a:t>can</a:t>
            </a:r>
            <a:r>
              <a:rPr sz="1600" spc="-25" dirty="0">
                <a:latin typeface="Arial MT"/>
                <a:cs typeface="Arial MT"/>
              </a:rPr>
              <a:t> </a:t>
            </a:r>
            <a:r>
              <a:rPr sz="1600" dirty="0">
                <a:latin typeface="Arial MT"/>
                <a:cs typeface="Arial MT"/>
              </a:rPr>
              <a:t>help</a:t>
            </a:r>
            <a:r>
              <a:rPr sz="1600" spc="-15" dirty="0">
                <a:latin typeface="Arial MT"/>
                <a:cs typeface="Arial MT"/>
              </a:rPr>
              <a:t> </a:t>
            </a:r>
            <a:r>
              <a:rPr sz="1600" dirty="0">
                <a:solidFill>
                  <a:srgbClr val="FF0000"/>
                </a:solidFill>
                <a:latin typeface="Arial MT"/>
                <a:cs typeface="Arial MT"/>
              </a:rPr>
              <a:t>users</a:t>
            </a:r>
            <a:r>
              <a:rPr sz="1600" spc="-20" dirty="0">
                <a:solidFill>
                  <a:srgbClr val="FF0000"/>
                </a:solidFill>
                <a:latin typeface="Arial MT"/>
                <a:cs typeface="Arial MT"/>
              </a:rPr>
              <a:t> </a:t>
            </a:r>
            <a:r>
              <a:rPr sz="1600" dirty="0">
                <a:latin typeface="Arial MT"/>
                <a:cs typeface="Arial MT"/>
              </a:rPr>
              <a:t>by</a:t>
            </a:r>
            <a:r>
              <a:rPr sz="1600" spc="-5" dirty="0">
                <a:latin typeface="Arial MT"/>
                <a:cs typeface="Arial MT"/>
              </a:rPr>
              <a:t> </a:t>
            </a:r>
            <a:r>
              <a:rPr sz="1600" spc="-10" dirty="0">
                <a:latin typeface="Arial MT"/>
                <a:cs typeface="Arial MT"/>
              </a:rPr>
              <a:t>providing </a:t>
            </a:r>
            <a:r>
              <a:rPr sz="1600" dirty="0">
                <a:latin typeface="Arial MT"/>
                <a:cs typeface="Arial MT"/>
              </a:rPr>
              <a:t>libraries</a:t>
            </a:r>
            <a:r>
              <a:rPr sz="1600" spc="-65" dirty="0">
                <a:latin typeface="Arial MT"/>
                <a:cs typeface="Arial MT"/>
              </a:rPr>
              <a:t> </a:t>
            </a:r>
            <a:r>
              <a:rPr sz="1600" dirty="0">
                <a:latin typeface="Arial MT"/>
                <a:cs typeface="Arial MT"/>
              </a:rPr>
              <a:t>to</a:t>
            </a:r>
            <a:r>
              <a:rPr sz="1600" spc="-50" dirty="0">
                <a:latin typeface="Arial MT"/>
                <a:cs typeface="Arial MT"/>
              </a:rPr>
              <a:t> </a:t>
            </a:r>
            <a:r>
              <a:rPr sz="1600" dirty="0">
                <a:latin typeface="Arial MT"/>
                <a:cs typeface="Arial MT"/>
              </a:rPr>
              <a:t>implement</a:t>
            </a:r>
            <a:r>
              <a:rPr sz="1600" spc="-55" dirty="0">
                <a:latin typeface="Arial MT"/>
                <a:cs typeface="Arial MT"/>
              </a:rPr>
              <a:t> </a:t>
            </a:r>
            <a:r>
              <a:rPr sz="1600" dirty="0">
                <a:latin typeface="Arial MT"/>
                <a:cs typeface="Arial MT"/>
              </a:rPr>
              <a:t>dynamic</a:t>
            </a:r>
            <a:r>
              <a:rPr sz="1600" spc="-30" dirty="0">
                <a:latin typeface="Arial MT"/>
                <a:cs typeface="Arial MT"/>
              </a:rPr>
              <a:t> </a:t>
            </a:r>
            <a:r>
              <a:rPr sz="1600" spc="-10" dirty="0">
                <a:latin typeface="Arial MT"/>
                <a:cs typeface="Arial MT"/>
              </a:rPr>
              <a:t>loading</a:t>
            </a:r>
            <a:endParaRPr sz="16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5471" rIns="0" bIns="0" rtlCol="0">
            <a:spAutoFit/>
          </a:bodyPr>
          <a:lstStyle/>
          <a:p>
            <a:pPr marL="2890520">
              <a:lnSpc>
                <a:spcPct val="100000"/>
              </a:lnSpc>
              <a:spcBef>
                <a:spcPts val="100"/>
              </a:spcBef>
            </a:pPr>
            <a:r>
              <a:rPr dirty="0">
                <a:solidFill>
                  <a:srgbClr val="006699"/>
                </a:solidFill>
              </a:rPr>
              <a:t>Dynamic</a:t>
            </a:r>
            <a:r>
              <a:rPr spc="-40" dirty="0">
                <a:solidFill>
                  <a:srgbClr val="006699"/>
                </a:solidFill>
              </a:rPr>
              <a:t> </a:t>
            </a:r>
            <a:r>
              <a:rPr spc="-10" dirty="0">
                <a:solidFill>
                  <a:srgbClr val="006699"/>
                </a:solidFill>
              </a:rPr>
              <a:t>Linking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15</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55878"/>
            <a:ext cx="8528050" cy="5540375"/>
          </a:xfrm>
          <a:prstGeom prst="rect">
            <a:avLst/>
          </a:prstGeom>
        </p:spPr>
        <p:txBody>
          <a:bodyPr vert="horz" wrap="square" lIns="0" tIns="12700" rIns="0" bIns="0" rtlCol="0">
            <a:spAutoFit/>
          </a:bodyPr>
          <a:lstStyle/>
          <a:p>
            <a:pPr marL="355600" marR="114300" indent="-342900">
              <a:lnSpc>
                <a:spcPct val="100000"/>
              </a:lnSpc>
              <a:spcBef>
                <a:spcPts val="100"/>
              </a:spcBef>
              <a:buClr>
                <a:srgbClr val="993300"/>
              </a:buClr>
              <a:buSzPct val="88888"/>
              <a:buFont typeface="Wingdings"/>
              <a:buChar char=""/>
              <a:tabLst>
                <a:tab pos="355600" algn="l"/>
              </a:tabLst>
            </a:pPr>
            <a:r>
              <a:rPr sz="1800" b="1" dirty="0">
                <a:solidFill>
                  <a:srgbClr val="3366FF"/>
                </a:solidFill>
                <a:latin typeface="Arial"/>
                <a:cs typeface="Arial"/>
              </a:rPr>
              <a:t>Static</a:t>
            </a:r>
            <a:r>
              <a:rPr sz="1800" b="1" spc="-35" dirty="0">
                <a:solidFill>
                  <a:srgbClr val="3366FF"/>
                </a:solidFill>
                <a:latin typeface="Arial"/>
                <a:cs typeface="Arial"/>
              </a:rPr>
              <a:t> </a:t>
            </a:r>
            <a:r>
              <a:rPr sz="1800" b="1" dirty="0">
                <a:solidFill>
                  <a:srgbClr val="3366FF"/>
                </a:solidFill>
                <a:latin typeface="Arial"/>
                <a:cs typeface="Arial"/>
              </a:rPr>
              <a:t>linking</a:t>
            </a:r>
            <a:r>
              <a:rPr sz="1800" b="1" spc="-35" dirty="0">
                <a:solidFill>
                  <a:srgbClr val="3366FF"/>
                </a:solidFill>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system libraries</a:t>
            </a:r>
            <a:r>
              <a:rPr sz="1800" spc="-15"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program</a:t>
            </a:r>
            <a:r>
              <a:rPr sz="1800" spc="-15"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combined</a:t>
            </a:r>
            <a:r>
              <a:rPr sz="1800" spc="-20" dirty="0">
                <a:latin typeface="Arial MT"/>
                <a:cs typeface="Arial MT"/>
              </a:rPr>
              <a:t> </a:t>
            </a:r>
            <a:r>
              <a:rPr sz="1800" dirty="0">
                <a:latin typeface="Arial MT"/>
                <a:cs typeface="Arial MT"/>
              </a:rPr>
              <a:t>by</a:t>
            </a:r>
            <a:r>
              <a:rPr sz="1800" spc="-25"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loader</a:t>
            </a:r>
            <a:r>
              <a:rPr sz="1800" spc="5" dirty="0">
                <a:latin typeface="Arial MT"/>
                <a:cs typeface="Arial MT"/>
              </a:rPr>
              <a:t> </a:t>
            </a:r>
            <a:r>
              <a:rPr sz="1800" spc="-20" dirty="0">
                <a:latin typeface="Arial MT"/>
                <a:cs typeface="Arial MT"/>
              </a:rPr>
              <a:t>into </a:t>
            </a:r>
            <a:r>
              <a:rPr sz="1800" dirty="0">
                <a:latin typeface="Arial MT"/>
                <a:cs typeface="Arial MT"/>
              </a:rPr>
              <a:t>the</a:t>
            </a:r>
            <a:r>
              <a:rPr sz="1800" spc="-40" dirty="0">
                <a:latin typeface="Arial MT"/>
                <a:cs typeface="Arial MT"/>
              </a:rPr>
              <a:t> </a:t>
            </a:r>
            <a:r>
              <a:rPr sz="1800" dirty="0">
                <a:latin typeface="Arial MT"/>
                <a:cs typeface="Arial MT"/>
              </a:rPr>
              <a:t>binary</a:t>
            </a:r>
            <a:r>
              <a:rPr sz="1800" spc="-25" dirty="0">
                <a:latin typeface="Arial MT"/>
                <a:cs typeface="Arial MT"/>
              </a:rPr>
              <a:t> </a:t>
            </a:r>
            <a:r>
              <a:rPr sz="1800" dirty="0">
                <a:latin typeface="Arial MT"/>
                <a:cs typeface="Arial MT"/>
              </a:rPr>
              <a:t>program</a:t>
            </a:r>
            <a:r>
              <a:rPr sz="1800" spc="-15" dirty="0">
                <a:latin typeface="Arial MT"/>
                <a:cs typeface="Arial MT"/>
              </a:rPr>
              <a:t> </a:t>
            </a:r>
            <a:r>
              <a:rPr sz="1800" dirty="0">
                <a:latin typeface="Arial MT"/>
                <a:cs typeface="Arial MT"/>
              </a:rPr>
              <a:t>image</a:t>
            </a:r>
            <a:r>
              <a:rPr sz="1800" spc="-25" dirty="0">
                <a:latin typeface="Arial MT"/>
                <a:cs typeface="Arial MT"/>
              </a:rPr>
              <a:t> </a:t>
            </a:r>
            <a:r>
              <a:rPr sz="1800" dirty="0">
                <a:latin typeface="Arial MT"/>
                <a:cs typeface="Arial MT"/>
              </a:rPr>
              <a:t>(</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final</a:t>
            </a:r>
            <a:r>
              <a:rPr sz="1800" spc="-20" dirty="0">
                <a:solidFill>
                  <a:srgbClr val="FF0000"/>
                </a:solidFill>
                <a:latin typeface="Arial MT"/>
                <a:cs typeface="Arial MT"/>
              </a:rPr>
              <a:t> </a:t>
            </a:r>
            <a:r>
              <a:rPr sz="1800" b="1" i="1" dirty="0">
                <a:solidFill>
                  <a:srgbClr val="FF0000"/>
                </a:solidFill>
                <a:latin typeface="Arial"/>
                <a:cs typeface="Arial"/>
              </a:rPr>
              <a:t>executable</a:t>
            </a:r>
            <a:r>
              <a:rPr sz="1800" b="1" i="1" spc="-30" dirty="0">
                <a:solidFill>
                  <a:srgbClr val="FF0000"/>
                </a:solidFill>
                <a:latin typeface="Arial"/>
                <a:cs typeface="Arial"/>
              </a:rPr>
              <a:t> </a:t>
            </a:r>
            <a:r>
              <a:rPr sz="1800" spc="-10" dirty="0">
                <a:solidFill>
                  <a:srgbClr val="FF0000"/>
                </a:solidFill>
                <a:latin typeface="Arial MT"/>
                <a:cs typeface="Arial MT"/>
              </a:rPr>
              <a:t>file</a:t>
            </a:r>
            <a:r>
              <a:rPr sz="1800" spc="-10" dirty="0">
                <a:latin typeface="Arial MT"/>
                <a:cs typeface="Arial MT"/>
              </a:rPr>
              <a:t>)</a:t>
            </a:r>
            <a:endParaRPr sz="1800" dirty="0">
              <a:latin typeface="Arial MT"/>
              <a:cs typeface="Arial MT"/>
            </a:endParaRPr>
          </a:p>
          <a:p>
            <a:pPr marL="354965" indent="-342265">
              <a:lnSpc>
                <a:spcPct val="100000"/>
              </a:lnSpc>
              <a:spcBef>
                <a:spcPts val="2050"/>
              </a:spcBef>
              <a:buClr>
                <a:srgbClr val="993300"/>
              </a:buClr>
              <a:buSzPct val="88888"/>
              <a:buFont typeface="Wingdings"/>
              <a:buChar char=""/>
              <a:tabLst>
                <a:tab pos="354965" algn="l"/>
              </a:tabLst>
            </a:pPr>
            <a:r>
              <a:rPr sz="1800" dirty="0">
                <a:latin typeface="Arial MT"/>
                <a:cs typeface="Arial MT"/>
              </a:rPr>
              <a:t>Dynamic</a:t>
            </a:r>
            <a:r>
              <a:rPr sz="1800" spc="-5" dirty="0">
                <a:latin typeface="Arial MT"/>
                <a:cs typeface="Arial MT"/>
              </a:rPr>
              <a:t> </a:t>
            </a:r>
            <a:r>
              <a:rPr sz="1800" dirty="0">
                <a:latin typeface="Arial MT"/>
                <a:cs typeface="Arial MT"/>
              </a:rPr>
              <a:t>linking</a:t>
            </a:r>
            <a:r>
              <a:rPr sz="1800" spc="-15" dirty="0">
                <a:latin typeface="Arial MT"/>
                <a:cs typeface="Arial MT"/>
              </a:rPr>
              <a:t> </a:t>
            </a:r>
            <a:r>
              <a:rPr sz="1800" dirty="0">
                <a:latin typeface="Arial MT"/>
                <a:cs typeface="Arial MT"/>
              </a:rPr>
              <a:t>–</a:t>
            </a:r>
            <a:r>
              <a:rPr sz="1800" spc="-35"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linking</a:t>
            </a:r>
            <a:r>
              <a:rPr sz="1800" spc="-2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postponed</a:t>
            </a:r>
            <a:r>
              <a:rPr sz="1800" spc="-15" dirty="0">
                <a:latin typeface="Arial MT"/>
                <a:cs typeface="Arial MT"/>
              </a:rPr>
              <a:t> </a:t>
            </a:r>
            <a:r>
              <a:rPr sz="1800" dirty="0">
                <a:latin typeface="Arial MT"/>
                <a:cs typeface="Arial MT"/>
              </a:rPr>
              <a:t>until</a:t>
            </a:r>
            <a:r>
              <a:rPr sz="1800" spc="-25" dirty="0">
                <a:latin typeface="Arial MT"/>
                <a:cs typeface="Arial MT"/>
              </a:rPr>
              <a:t> </a:t>
            </a:r>
            <a:r>
              <a:rPr sz="1800" spc="-10" dirty="0">
                <a:latin typeface="Arial MT"/>
                <a:cs typeface="Arial MT"/>
              </a:rPr>
              <a:t>execution-</a:t>
            </a:r>
            <a:r>
              <a:rPr sz="1800" spc="-20" dirty="0">
                <a:latin typeface="Arial MT"/>
                <a:cs typeface="Arial MT"/>
              </a:rPr>
              <a:t>time</a:t>
            </a:r>
            <a:endParaRPr sz="1800" dirty="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i="1" dirty="0">
                <a:solidFill>
                  <a:srgbClr val="FF0000"/>
                </a:solidFill>
                <a:latin typeface="Arial"/>
                <a:cs typeface="Arial"/>
              </a:rPr>
              <a:t>The</a:t>
            </a:r>
            <a:r>
              <a:rPr sz="1800" i="1" spc="-50" dirty="0">
                <a:solidFill>
                  <a:srgbClr val="FF0000"/>
                </a:solidFill>
                <a:latin typeface="Arial"/>
                <a:cs typeface="Arial"/>
              </a:rPr>
              <a:t> </a:t>
            </a:r>
            <a:r>
              <a:rPr sz="1800" b="1" i="1" dirty="0">
                <a:solidFill>
                  <a:srgbClr val="FF0000"/>
                </a:solidFill>
                <a:latin typeface="Arial"/>
                <a:cs typeface="Arial"/>
              </a:rPr>
              <a:t>executing</a:t>
            </a:r>
            <a:r>
              <a:rPr sz="1800" b="1" i="1" spc="-20" dirty="0">
                <a:solidFill>
                  <a:srgbClr val="FF0000"/>
                </a:solidFill>
                <a:latin typeface="Arial"/>
                <a:cs typeface="Arial"/>
              </a:rPr>
              <a:t> </a:t>
            </a:r>
            <a:r>
              <a:rPr sz="1800" i="1" dirty="0">
                <a:solidFill>
                  <a:srgbClr val="FF0000"/>
                </a:solidFill>
                <a:latin typeface="Arial"/>
                <a:cs typeface="Arial"/>
              </a:rPr>
              <a:t>program</a:t>
            </a:r>
            <a:r>
              <a:rPr sz="1800" i="1" spc="-20" dirty="0">
                <a:solidFill>
                  <a:srgbClr val="FF0000"/>
                </a:solidFill>
                <a:latin typeface="Arial"/>
                <a:cs typeface="Arial"/>
              </a:rPr>
              <a:t> </a:t>
            </a: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running</a:t>
            </a:r>
            <a:r>
              <a:rPr sz="1800" spc="-25" dirty="0">
                <a:solidFill>
                  <a:srgbClr val="FF0000"/>
                </a:solidFill>
                <a:latin typeface="Arial MT"/>
                <a:cs typeface="Arial MT"/>
              </a:rPr>
              <a:t> </a:t>
            </a:r>
            <a:r>
              <a:rPr sz="1800" spc="-10" dirty="0">
                <a:solidFill>
                  <a:srgbClr val="FF0000"/>
                </a:solidFill>
                <a:latin typeface="Arial MT"/>
                <a:cs typeface="Arial MT"/>
              </a:rPr>
              <a:t>process)</a:t>
            </a:r>
            <a:endParaRPr sz="1800" dirty="0">
              <a:latin typeface="Arial MT"/>
              <a:cs typeface="Arial MT"/>
            </a:endParaRPr>
          </a:p>
          <a:p>
            <a:pPr marL="355600" marR="26670" indent="-342900">
              <a:lnSpc>
                <a:spcPct val="100000"/>
              </a:lnSpc>
              <a:spcBef>
                <a:spcPts val="2050"/>
              </a:spcBef>
              <a:buClr>
                <a:srgbClr val="993300"/>
              </a:buClr>
              <a:buSzPct val="88888"/>
              <a:buFont typeface="Wingdings"/>
              <a:buChar char=""/>
              <a:tabLst>
                <a:tab pos="355600" algn="l"/>
              </a:tabLst>
            </a:pPr>
            <a:r>
              <a:rPr sz="1800" dirty="0">
                <a:latin typeface="Arial MT"/>
                <a:cs typeface="Arial MT"/>
              </a:rPr>
              <a:t>Small</a:t>
            </a:r>
            <a:r>
              <a:rPr sz="1800" spc="-20" dirty="0">
                <a:latin typeface="Arial MT"/>
                <a:cs typeface="Arial MT"/>
              </a:rPr>
              <a:t> </a:t>
            </a:r>
            <a:r>
              <a:rPr sz="1800" dirty="0">
                <a:latin typeface="Arial MT"/>
                <a:cs typeface="Arial MT"/>
              </a:rPr>
              <a:t>piece</a:t>
            </a:r>
            <a:r>
              <a:rPr sz="1800" spc="-20"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code,</a:t>
            </a:r>
            <a:r>
              <a:rPr sz="1800" spc="-15" dirty="0">
                <a:latin typeface="Arial MT"/>
                <a:cs typeface="Arial MT"/>
              </a:rPr>
              <a:t> </a:t>
            </a:r>
            <a:r>
              <a:rPr sz="1800" dirty="0">
                <a:latin typeface="Arial MT"/>
                <a:cs typeface="Arial MT"/>
              </a:rPr>
              <a:t>the</a:t>
            </a:r>
            <a:r>
              <a:rPr sz="1800" spc="-25" dirty="0">
                <a:latin typeface="Arial MT"/>
                <a:cs typeface="Arial MT"/>
              </a:rPr>
              <a:t> </a:t>
            </a:r>
            <a:r>
              <a:rPr sz="1800" b="1" dirty="0">
                <a:solidFill>
                  <a:srgbClr val="3366FF"/>
                </a:solidFill>
                <a:latin typeface="Arial"/>
                <a:cs typeface="Arial"/>
              </a:rPr>
              <a:t>stub</a:t>
            </a:r>
            <a:r>
              <a:rPr sz="1800" dirty="0">
                <a:latin typeface="Arial MT"/>
                <a:cs typeface="Arial MT"/>
              </a:rPr>
              <a:t>,</a:t>
            </a:r>
            <a:r>
              <a:rPr sz="1800" spc="-25" dirty="0">
                <a:latin typeface="Arial MT"/>
                <a:cs typeface="Arial MT"/>
              </a:rPr>
              <a:t> </a:t>
            </a:r>
            <a:r>
              <a:rPr sz="1800" dirty="0">
                <a:latin typeface="Arial MT"/>
                <a:cs typeface="Arial MT"/>
              </a:rPr>
              <a:t>indicates</a:t>
            </a:r>
            <a:r>
              <a:rPr sz="1800" spc="-20" dirty="0">
                <a:latin typeface="Arial MT"/>
                <a:cs typeface="Arial MT"/>
              </a:rPr>
              <a:t> </a:t>
            </a:r>
            <a:r>
              <a:rPr sz="1800" dirty="0">
                <a:latin typeface="Arial MT"/>
                <a:cs typeface="Arial MT"/>
              </a:rPr>
              <a:t>how</a:t>
            </a:r>
            <a:r>
              <a:rPr sz="1800" spc="-20" dirty="0">
                <a:latin typeface="Arial MT"/>
                <a:cs typeface="Arial MT"/>
              </a:rPr>
              <a:t> </a:t>
            </a:r>
            <a:r>
              <a:rPr sz="1800" dirty="0">
                <a:latin typeface="Arial MT"/>
                <a:cs typeface="Arial MT"/>
              </a:rPr>
              <a:t>to</a:t>
            </a:r>
            <a:r>
              <a:rPr sz="1800" spc="-35" dirty="0">
                <a:latin typeface="Arial MT"/>
                <a:cs typeface="Arial MT"/>
              </a:rPr>
              <a:t> </a:t>
            </a:r>
            <a:r>
              <a:rPr sz="1800" dirty="0">
                <a:latin typeface="Arial MT"/>
                <a:cs typeface="Arial MT"/>
              </a:rPr>
              <a:t>locate</a:t>
            </a:r>
            <a:r>
              <a:rPr sz="1800" spc="-20"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appropriate</a:t>
            </a:r>
            <a:r>
              <a:rPr sz="1800" spc="-10" dirty="0">
                <a:latin typeface="Arial MT"/>
                <a:cs typeface="Arial MT"/>
              </a:rPr>
              <a:t> memory- </a:t>
            </a:r>
            <a:r>
              <a:rPr sz="1800" dirty="0">
                <a:latin typeface="Arial MT"/>
                <a:cs typeface="Arial MT"/>
              </a:rPr>
              <a:t>resident</a:t>
            </a:r>
            <a:r>
              <a:rPr sz="1800" spc="-20" dirty="0">
                <a:latin typeface="Arial MT"/>
                <a:cs typeface="Arial MT"/>
              </a:rPr>
              <a:t> </a:t>
            </a:r>
            <a:r>
              <a:rPr sz="1800" dirty="0">
                <a:latin typeface="Arial MT"/>
                <a:cs typeface="Arial MT"/>
              </a:rPr>
              <a:t>library</a:t>
            </a:r>
            <a:r>
              <a:rPr sz="1800" spc="-15" dirty="0">
                <a:latin typeface="Arial MT"/>
                <a:cs typeface="Arial MT"/>
              </a:rPr>
              <a:t> </a:t>
            </a:r>
            <a:r>
              <a:rPr sz="1800" dirty="0">
                <a:latin typeface="Arial MT"/>
                <a:cs typeface="Arial MT"/>
              </a:rPr>
              <a:t>routine,</a:t>
            </a:r>
            <a:r>
              <a:rPr sz="1800" spc="-10" dirty="0">
                <a:latin typeface="Arial MT"/>
                <a:cs typeface="Arial MT"/>
              </a:rPr>
              <a:t> </a:t>
            </a:r>
            <a:r>
              <a:rPr sz="1800" dirty="0">
                <a:latin typeface="Arial MT"/>
                <a:cs typeface="Arial MT"/>
              </a:rPr>
              <a:t>or,</a:t>
            </a:r>
            <a:r>
              <a:rPr sz="1800" spc="-35" dirty="0">
                <a:latin typeface="Arial MT"/>
                <a:cs typeface="Arial MT"/>
              </a:rPr>
              <a:t> </a:t>
            </a:r>
            <a:r>
              <a:rPr sz="1800" dirty="0">
                <a:latin typeface="Arial MT"/>
                <a:cs typeface="Arial MT"/>
              </a:rPr>
              <a:t>how</a:t>
            </a:r>
            <a:r>
              <a:rPr sz="1800" spc="-2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load</a:t>
            </a:r>
            <a:r>
              <a:rPr sz="1800" spc="-20"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library</a:t>
            </a:r>
            <a:r>
              <a:rPr sz="1800" spc="-20" dirty="0">
                <a:latin typeface="Arial MT"/>
                <a:cs typeface="Arial MT"/>
              </a:rPr>
              <a:t> </a:t>
            </a:r>
            <a:r>
              <a:rPr sz="1800" dirty="0">
                <a:latin typeface="Arial MT"/>
                <a:cs typeface="Arial MT"/>
              </a:rPr>
              <a:t>if</a:t>
            </a:r>
            <a:r>
              <a:rPr sz="1800" spc="-35" dirty="0">
                <a:latin typeface="Arial MT"/>
                <a:cs typeface="Arial MT"/>
              </a:rPr>
              <a:t> </a:t>
            </a:r>
            <a:r>
              <a:rPr sz="1800" dirty="0">
                <a:latin typeface="Arial MT"/>
                <a:cs typeface="Arial MT"/>
              </a:rPr>
              <a:t>routine</a:t>
            </a:r>
            <a:r>
              <a:rPr sz="1800" spc="-2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not</a:t>
            </a:r>
            <a:r>
              <a:rPr sz="1800" spc="-25" dirty="0">
                <a:latin typeface="Arial MT"/>
                <a:cs typeface="Arial MT"/>
              </a:rPr>
              <a:t> </a:t>
            </a:r>
            <a:r>
              <a:rPr sz="1800" dirty="0">
                <a:latin typeface="Arial MT"/>
                <a:cs typeface="Arial MT"/>
              </a:rPr>
              <a:t>already</a:t>
            </a:r>
            <a:r>
              <a:rPr sz="1800" spc="-5" dirty="0">
                <a:latin typeface="Arial MT"/>
                <a:cs typeface="Arial MT"/>
              </a:rPr>
              <a:t> </a:t>
            </a:r>
            <a:r>
              <a:rPr sz="1800" spc="-10" dirty="0">
                <a:latin typeface="Arial MT"/>
                <a:cs typeface="Arial MT"/>
              </a:rPr>
              <a:t>present</a:t>
            </a:r>
            <a:endParaRPr sz="1800" dirty="0">
              <a:latin typeface="Arial MT"/>
              <a:cs typeface="Arial MT"/>
            </a:endParaRPr>
          </a:p>
          <a:p>
            <a:pPr marL="342265" marR="10795" indent="-342265" algn="r">
              <a:lnSpc>
                <a:spcPct val="100000"/>
              </a:lnSpc>
              <a:spcBef>
                <a:spcPts val="2055"/>
              </a:spcBef>
              <a:buClr>
                <a:srgbClr val="993300"/>
              </a:buClr>
              <a:buSzPct val="88888"/>
              <a:buFont typeface="Wingdings"/>
              <a:buChar char=""/>
              <a:tabLst>
                <a:tab pos="342265" algn="l"/>
              </a:tabLst>
            </a:pPr>
            <a:r>
              <a:rPr sz="1800" dirty="0">
                <a:latin typeface="Arial MT"/>
                <a:cs typeface="Arial MT"/>
              </a:rPr>
              <a:t>Operating</a:t>
            </a:r>
            <a:r>
              <a:rPr sz="1800" spc="-35" dirty="0">
                <a:latin typeface="Arial MT"/>
                <a:cs typeface="Arial MT"/>
              </a:rPr>
              <a:t> </a:t>
            </a:r>
            <a:r>
              <a:rPr sz="1800" dirty="0">
                <a:latin typeface="Arial MT"/>
                <a:cs typeface="Arial MT"/>
              </a:rPr>
              <a:t>system</a:t>
            </a:r>
            <a:r>
              <a:rPr sz="1800" spc="-5" dirty="0">
                <a:latin typeface="Arial MT"/>
                <a:cs typeface="Arial MT"/>
              </a:rPr>
              <a:t> </a:t>
            </a:r>
            <a:r>
              <a:rPr sz="1800" dirty="0">
                <a:latin typeface="Arial MT"/>
                <a:cs typeface="Arial MT"/>
              </a:rPr>
              <a:t>checks</a:t>
            </a:r>
            <a:r>
              <a:rPr sz="1800" spc="-30" dirty="0">
                <a:latin typeface="Arial MT"/>
                <a:cs typeface="Arial MT"/>
              </a:rPr>
              <a:t> </a:t>
            </a:r>
            <a:r>
              <a:rPr sz="1800" dirty="0">
                <a:latin typeface="Arial MT"/>
                <a:cs typeface="Arial MT"/>
              </a:rPr>
              <a:t>if</a:t>
            </a:r>
            <a:r>
              <a:rPr sz="1800" spc="-25"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needed</a:t>
            </a:r>
            <a:r>
              <a:rPr sz="1800" spc="-20" dirty="0">
                <a:latin typeface="Arial MT"/>
                <a:cs typeface="Arial MT"/>
              </a:rPr>
              <a:t> </a:t>
            </a:r>
            <a:r>
              <a:rPr sz="1800" dirty="0">
                <a:latin typeface="Arial MT"/>
                <a:cs typeface="Arial MT"/>
              </a:rPr>
              <a:t>routine</a:t>
            </a:r>
            <a:r>
              <a:rPr sz="1800" spc="-2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process’s</a:t>
            </a:r>
            <a:r>
              <a:rPr sz="1800" spc="5" dirty="0">
                <a:latin typeface="Arial MT"/>
                <a:cs typeface="Arial MT"/>
              </a:rPr>
              <a:t> </a:t>
            </a:r>
            <a:r>
              <a:rPr sz="1800" dirty="0">
                <a:latin typeface="Arial MT"/>
                <a:cs typeface="Arial MT"/>
              </a:rPr>
              <a:t>memory</a:t>
            </a:r>
            <a:r>
              <a:rPr sz="1800" spc="-25" dirty="0">
                <a:latin typeface="Arial MT"/>
                <a:cs typeface="Arial MT"/>
              </a:rPr>
              <a:t> </a:t>
            </a:r>
            <a:r>
              <a:rPr sz="1800" spc="-10" dirty="0">
                <a:latin typeface="Arial MT"/>
                <a:cs typeface="Arial MT"/>
              </a:rPr>
              <a:t>space</a:t>
            </a:r>
            <a:endParaRPr sz="1800" dirty="0">
              <a:latin typeface="Arial MT"/>
              <a:cs typeface="Arial MT"/>
            </a:endParaRPr>
          </a:p>
          <a:p>
            <a:pPr marL="286385" marR="5080" lvl="1" indent="-286385" algn="r">
              <a:lnSpc>
                <a:spcPct val="100000"/>
              </a:lnSpc>
              <a:spcBef>
                <a:spcPts val="755"/>
              </a:spcBef>
              <a:buClr>
                <a:srgbClr val="CC6600"/>
              </a:buClr>
              <a:buSzPct val="80555"/>
              <a:buFont typeface="Wingdings"/>
              <a:buChar char=""/>
              <a:tabLst>
                <a:tab pos="286385" algn="l"/>
              </a:tabLst>
            </a:pPr>
            <a:r>
              <a:rPr sz="1800" dirty="0">
                <a:latin typeface="Arial MT"/>
                <a:cs typeface="Arial MT"/>
              </a:rPr>
              <a:t>If</a:t>
            </a:r>
            <a:r>
              <a:rPr sz="1800" spc="-25" dirty="0">
                <a:latin typeface="Arial MT"/>
                <a:cs typeface="Arial MT"/>
              </a:rPr>
              <a:t> </a:t>
            </a:r>
            <a:r>
              <a:rPr sz="1800" dirty="0">
                <a:latin typeface="Arial MT"/>
                <a:cs typeface="Arial MT"/>
              </a:rPr>
              <a:t>not</a:t>
            </a:r>
            <a:r>
              <a:rPr sz="1800" spc="-1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address</a:t>
            </a:r>
            <a:r>
              <a:rPr sz="1800" spc="-5" dirty="0">
                <a:latin typeface="Arial MT"/>
                <a:cs typeface="Arial MT"/>
              </a:rPr>
              <a:t> </a:t>
            </a:r>
            <a:r>
              <a:rPr sz="1800" dirty="0">
                <a:latin typeface="Arial MT"/>
                <a:cs typeface="Arial MT"/>
              </a:rPr>
              <a:t>space, </a:t>
            </a:r>
            <a:r>
              <a:rPr sz="1800" dirty="0">
                <a:solidFill>
                  <a:srgbClr val="FF0000"/>
                </a:solidFill>
                <a:latin typeface="Arial MT"/>
                <a:cs typeface="Arial MT"/>
              </a:rPr>
              <a:t>then</a:t>
            </a:r>
            <a:r>
              <a:rPr sz="1800" spc="-15" dirty="0">
                <a:solidFill>
                  <a:srgbClr val="FF0000"/>
                </a:solidFill>
                <a:latin typeface="Arial MT"/>
                <a:cs typeface="Arial MT"/>
              </a:rPr>
              <a:t> </a:t>
            </a:r>
            <a:r>
              <a:rPr sz="1800" dirty="0">
                <a:solidFill>
                  <a:srgbClr val="FF0000"/>
                </a:solidFill>
                <a:latin typeface="Arial MT"/>
                <a:cs typeface="Arial MT"/>
              </a:rPr>
              <a:t>load</a:t>
            </a:r>
            <a:r>
              <a:rPr sz="1800" spc="-15"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library</a:t>
            </a:r>
            <a:r>
              <a:rPr sz="1800" spc="-15" dirty="0">
                <a:solidFill>
                  <a:srgbClr val="FF0000"/>
                </a:solidFill>
                <a:latin typeface="Arial MT"/>
                <a:cs typeface="Arial MT"/>
              </a:rPr>
              <a:t> </a:t>
            </a:r>
            <a:r>
              <a:rPr sz="1800" dirty="0">
                <a:solidFill>
                  <a:srgbClr val="FF0000"/>
                </a:solidFill>
                <a:latin typeface="Arial MT"/>
                <a:cs typeface="Arial MT"/>
              </a:rPr>
              <a:t>routine;</a:t>
            </a:r>
            <a:r>
              <a:rPr sz="1800" spc="-5" dirty="0">
                <a:solidFill>
                  <a:srgbClr val="FF0000"/>
                </a:solidFill>
                <a:latin typeface="Arial MT"/>
                <a:cs typeface="Arial MT"/>
              </a:rPr>
              <a:t> </a:t>
            </a:r>
            <a:r>
              <a:rPr sz="1800" b="1" dirty="0">
                <a:solidFill>
                  <a:srgbClr val="FF0000"/>
                </a:solidFill>
                <a:latin typeface="Arial"/>
                <a:cs typeface="Arial"/>
              </a:rPr>
              <a:t>when</a:t>
            </a:r>
            <a:r>
              <a:rPr sz="1800" b="1" spc="-45" dirty="0">
                <a:solidFill>
                  <a:srgbClr val="FF0000"/>
                </a:solidFill>
                <a:latin typeface="Arial"/>
                <a:cs typeface="Arial"/>
              </a:rPr>
              <a:t> </a:t>
            </a:r>
            <a:r>
              <a:rPr sz="1800" b="1" dirty="0">
                <a:solidFill>
                  <a:srgbClr val="FF0000"/>
                </a:solidFill>
                <a:latin typeface="Arial"/>
                <a:cs typeface="Arial"/>
              </a:rPr>
              <a:t>stub</a:t>
            </a:r>
            <a:r>
              <a:rPr sz="1800" b="1" spc="-20" dirty="0">
                <a:solidFill>
                  <a:srgbClr val="FF0000"/>
                </a:solidFill>
                <a:latin typeface="Arial"/>
                <a:cs typeface="Arial"/>
              </a:rPr>
              <a:t> </a:t>
            </a:r>
            <a:r>
              <a:rPr sz="1800" b="1" dirty="0">
                <a:solidFill>
                  <a:srgbClr val="FF0000"/>
                </a:solidFill>
                <a:latin typeface="Arial"/>
                <a:cs typeface="Arial"/>
              </a:rPr>
              <a:t>is</a:t>
            </a:r>
            <a:r>
              <a:rPr sz="1800" b="1" spc="-25" dirty="0">
                <a:solidFill>
                  <a:srgbClr val="FF0000"/>
                </a:solidFill>
                <a:latin typeface="Arial"/>
                <a:cs typeface="Arial"/>
              </a:rPr>
              <a:t> </a:t>
            </a:r>
            <a:r>
              <a:rPr sz="1800" b="1" spc="-10" dirty="0">
                <a:solidFill>
                  <a:srgbClr val="FF0000"/>
                </a:solidFill>
                <a:latin typeface="Arial"/>
                <a:cs typeface="Arial"/>
              </a:rPr>
              <a:t>executed</a:t>
            </a:r>
            <a:endParaRPr sz="1800" dirty="0">
              <a:latin typeface="Arial"/>
              <a:cs typeface="Arial"/>
            </a:endParaRPr>
          </a:p>
          <a:p>
            <a:pPr marL="354965" indent="-342265">
              <a:lnSpc>
                <a:spcPct val="100000"/>
              </a:lnSpc>
              <a:spcBef>
                <a:spcPts val="2055"/>
              </a:spcBef>
              <a:buClr>
                <a:srgbClr val="993300"/>
              </a:buClr>
              <a:buSzPct val="88888"/>
              <a:buFont typeface="Wingdings"/>
              <a:buChar char=""/>
              <a:tabLst>
                <a:tab pos="354965" algn="l"/>
              </a:tabLst>
            </a:pPr>
            <a:r>
              <a:rPr sz="1800" dirty="0">
                <a:latin typeface="Arial MT"/>
                <a:cs typeface="Arial MT"/>
              </a:rPr>
              <a:t>Stub</a:t>
            </a:r>
            <a:r>
              <a:rPr sz="1800" spc="-45" dirty="0">
                <a:latin typeface="Arial MT"/>
                <a:cs typeface="Arial MT"/>
              </a:rPr>
              <a:t> </a:t>
            </a:r>
            <a:r>
              <a:rPr sz="1800" dirty="0">
                <a:latin typeface="Arial MT"/>
                <a:cs typeface="Arial MT"/>
              </a:rPr>
              <a:t>replaces</a:t>
            </a:r>
            <a:r>
              <a:rPr sz="1800" spc="-20" dirty="0">
                <a:latin typeface="Arial MT"/>
                <a:cs typeface="Arial MT"/>
              </a:rPr>
              <a:t> </a:t>
            </a:r>
            <a:r>
              <a:rPr sz="1800" dirty="0">
                <a:latin typeface="Arial MT"/>
                <a:cs typeface="Arial MT"/>
              </a:rPr>
              <a:t>itself</a:t>
            </a:r>
            <a:r>
              <a:rPr sz="1800" spc="-20" dirty="0">
                <a:latin typeface="Arial MT"/>
                <a:cs typeface="Arial MT"/>
              </a:rPr>
              <a:t> </a:t>
            </a:r>
            <a:r>
              <a:rPr sz="1800" dirty="0">
                <a:latin typeface="Arial MT"/>
                <a:cs typeface="Arial MT"/>
              </a:rPr>
              <a:t>with</a:t>
            </a:r>
            <a:r>
              <a:rPr sz="1800" spc="2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address</a:t>
            </a:r>
            <a:r>
              <a:rPr sz="1800" spc="-15"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routine</a:t>
            </a:r>
            <a:r>
              <a:rPr sz="1800" spc="-20"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executes the</a:t>
            </a:r>
            <a:r>
              <a:rPr sz="1800" spc="-30" dirty="0">
                <a:latin typeface="Arial MT"/>
                <a:cs typeface="Arial MT"/>
              </a:rPr>
              <a:t> </a:t>
            </a:r>
            <a:r>
              <a:rPr sz="1800" spc="-10" dirty="0">
                <a:latin typeface="Arial MT"/>
                <a:cs typeface="Arial MT"/>
              </a:rPr>
              <a:t>routine</a:t>
            </a:r>
            <a:endParaRPr sz="1800" dirty="0">
              <a:latin typeface="Arial MT"/>
              <a:cs typeface="Arial MT"/>
            </a:endParaRPr>
          </a:p>
          <a:p>
            <a:pPr marL="354965" indent="-342265">
              <a:lnSpc>
                <a:spcPct val="100000"/>
              </a:lnSpc>
              <a:spcBef>
                <a:spcPts val="2055"/>
              </a:spcBef>
              <a:buClr>
                <a:srgbClr val="993300"/>
              </a:buClr>
              <a:buSzPct val="88888"/>
              <a:buFont typeface="Wingdings"/>
              <a:buChar char=""/>
              <a:tabLst>
                <a:tab pos="354965" algn="l"/>
              </a:tabLst>
            </a:pPr>
            <a:r>
              <a:rPr sz="1800" dirty="0">
                <a:latin typeface="Arial MT"/>
                <a:cs typeface="Arial MT"/>
              </a:rPr>
              <a:t>Dynamic</a:t>
            </a:r>
            <a:r>
              <a:rPr sz="1800" spc="-10" dirty="0">
                <a:latin typeface="Arial MT"/>
                <a:cs typeface="Arial MT"/>
              </a:rPr>
              <a:t> </a:t>
            </a:r>
            <a:r>
              <a:rPr sz="1800" dirty="0">
                <a:latin typeface="Arial MT"/>
                <a:cs typeface="Arial MT"/>
              </a:rPr>
              <a:t>linking</a:t>
            </a:r>
            <a:r>
              <a:rPr sz="1800" spc="-1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particularly</a:t>
            </a:r>
            <a:r>
              <a:rPr sz="1800" spc="-25" dirty="0">
                <a:latin typeface="Arial MT"/>
                <a:cs typeface="Arial MT"/>
              </a:rPr>
              <a:t> </a:t>
            </a:r>
            <a:r>
              <a:rPr sz="1800" dirty="0">
                <a:latin typeface="Arial MT"/>
                <a:cs typeface="Arial MT"/>
              </a:rPr>
              <a:t>useful</a:t>
            </a:r>
            <a:r>
              <a:rPr sz="1800" spc="-25" dirty="0">
                <a:latin typeface="Arial MT"/>
                <a:cs typeface="Arial MT"/>
              </a:rPr>
              <a:t> </a:t>
            </a:r>
            <a:r>
              <a:rPr sz="1800" dirty="0">
                <a:latin typeface="Arial MT"/>
                <a:cs typeface="Arial MT"/>
              </a:rPr>
              <a:t>for</a:t>
            </a:r>
            <a:r>
              <a:rPr sz="1800" spc="-35" dirty="0">
                <a:latin typeface="Arial MT"/>
                <a:cs typeface="Arial MT"/>
              </a:rPr>
              <a:t> </a:t>
            </a:r>
            <a:r>
              <a:rPr sz="1800" dirty="0">
                <a:latin typeface="Arial MT"/>
                <a:cs typeface="Arial MT"/>
              </a:rPr>
              <a:t>[</a:t>
            </a:r>
            <a:r>
              <a:rPr sz="1800" b="1" dirty="0">
                <a:solidFill>
                  <a:srgbClr val="FF0000"/>
                </a:solidFill>
                <a:latin typeface="Arial"/>
                <a:cs typeface="Arial"/>
              </a:rPr>
              <a:t>large</a:t>
            </a:r>
            <a:r>
              <a:rPr sz="1800" dirty="0">
                <a:latin typeface="Arial MT"/>
                <a:cs typeface="Arial MT"/>
              </a:rPr>
              <a:t>]</a:t>
            </a:r>
            <a:r>
              <a:rPr sz="1800" spc="-35" dirty="0">
                <a:latin typeface="Arial MT"/>
                <a:cs typeface="Arial MT"/>
              </a:rPr>
              <a:t> </a:t>
            </a:r>
            <a:r>
              <a:rPr sz="1800" dirty="0">
                <a:latin typeface="Arial MT"/>
                <a:cs typeface="Arial MT"/>
              </a:rPr>
              <a:t>system</a:t>
            </a:r>
            <a:r>
              <a:rPr sz="1800" spc="-10" dirty="0">
                <a:latin typeface="Arial MT"/>
                <a:cs typeface="Arial MT"/>
              </a:rPr>
              <a:t> libraries</a:t>
            </a:r>
            <a:endParaRPr sz="1800" dirty="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Very</a:t>
            </a:r>
            <a:r>
              <a:rPr sz="1800" spc="-30" dirty="0">
                <a:latin typeface="Arial MT"/>
                <a:cs typeface="Arial MT"/>
              </a:rPr>
              <a:t> </a:t>
            </a:r>
            <a:r>
              <a:rPr sz="1800" dirty="0">
                <a:latin typeface="Arial MT"/>
                <a:cs typeface="Arial MT"/>
              </a:rPr>
              <a:t>useful</a:t>
            </a:r>
            <a:r>
              <a:rPr sz="1800" spc="-20" dirty="0">
                <a:latin typeface="Arial MT"/>
                <a:cs typeface="Arial MT"/>
              </a:rPr>
              <a:t> </a:t>
            </a:r>
            <a:r>
              <a:rPr sz="1800" dirty="0">
                <a:latin typeface="Arial MT"/>
                <a:cs typeface="Arial MT"/>
              </a:rPr>
              <a:t>also</a:t>
            </a:r>
            <a:r>
              <a:rPr sz="1800" spc="-25" dirty="0">
                <a:latin typeface="Arial MT"/>
                <a:cs typeface="Arial MT"/>
              </a:rPr>
              <a:t> </a:t>
            </a:r>
            <a:r>
              <a:rPr sz="1800" dirty="0">
                <a:latin typeface="Arial MT"/>
                <a:cs typeface="Arial MT"/>
              </a:rPr>
              <a:t>for</a:t>
            </a:r>
            <a:r>
              <a:rPr sz="1800" spc="-15" dirty="0">
                <a:latin typeface="Arial MT"/>
                <a:cs typeface="Arial MT"/>
              </a:rPr>
              <a:t> </a:t>
            </a:r>
            <a:r>
              <a:rPr sz="1800" b="1" dirty="0">
                <a:solidFill>
                  <a:srgbClr val="3366FF"/>
                </a:solidFill>
                <a:latin typeface="Arial"/>
                <a:cs typeface="Arial"/>
              </a:rPr>
              <a:t>shared</a:t>
            </a:r>
            <a:r>
              <a:rPr sz="1800" b="1" spc="-20" dirty="0">
                <a:solidFill>
                  <a:srgbClr val="3366FF"/>
                </a:solidFill>
                <a:latin typeface="Arial"/>
                <a:cs typeface="Arial"/>
              </a:rPr>
              <a:t> </a:t>
            </a:r>
            <a:r>
              <a:rPr sz="1800" b="1" dirty="0">
                <a:solidFill>
                  <a:srgbClr val="3366FF"/>
                </a:solidFill>
                <a:latin typeface="Arial"/>
                <a:cs typeface="Arial"/>
              </a:rPr>
              <a:t>libraries</a:t>
            </a:r>
            <a:r>
              <a:rPr sz="1800" b="1" spc="-25" dirty="0">
                <a:solidFill>
                  <a:srgbClr val="3366FF"/>
                </a:solidFill>
                <a:latin typeface="Arial"/>
                <a:cs typeface="Arial"/>
              </a:rPr>
              <a:t> </a:t>
            </a:r>
            <a:r>
              <a:rPr sz="1800" dirty="0">
                <a:solidFill>
                  <a:srgbClr val="FF0000"/>
                </a:solidFill>
                <a:latin typeface="Arial MT"/>
                <a:cs typeface="Arial MT"/>
              </a:rPr>
              <a:t>with</a:t>
            </a:r>
            <a:r>
              <a:rPr sz="1800" spc="15" dirty="0">
                <a:solidFill>
                  <a:srgbClr val="FF0000"/>
                </a:solidFill>
                <a:latin typeface="Arial MT"/>
                <a:cs typeface="Arial MT"/>
              </a:rPr>
              <a:t> </a:t>
            </a:r>
            <a:r>
              <a:rPr sz="1800" dirty="0">
                <a:solidFill>
                  <a:srgbClr val="FF0000"/>
                </a:solidFill>
                <a:latin typeface="Arial MT"/>
                <a:cs typeface="Arial MT"/>
              </a:rPr>
              <a:t>different</a:t>
            </a:r>
            <a:r>
              <a:rPr sz="1800" spc="-25" dirty="0">
                <a:solidFill>
                  <a:srgbClr val="FF0000"/>
                </a:solidFill>
                <a:latin typeface="Arial MT"/>
                <a:cs typeface="Arial MT"/>
              </a:rPr>
              <a:t> </a:t>
            </a:r>
            <a:r>
              <a:rPr sz="1800" dirty="0">
                <a:solidFill>
                  <a:srgbClr val="FF0000"/>
                </a:solidFill>
                <a:latin typeface="Arial MT"/>
                <a:cs typeface="Arial MT"/>
              </a:rPr>
              <a:t>version</a:t>
            </a:r>
            <a:r>
              <a:rPr sz="1800" spc="-20" dirty="0">
                <a:solidFill>
                  <a:srgbClr val="FF0000"/>
                </a:solidFill>
                <a:latin typeface="Arial MT"/>
                <a:cs typeface="Arial MT"/>
              </a:rPr>
              <a:t> </a:t>
            </a:r>
            <a:r>
              <a:rPr sz="1800" spc="-10" dirty="0">
                <a:solidFill>
                  <a:srgbClr val="FF0000"/>
                </a:solidFill>
                <a:latin typeface="Arial MT"/>
                <a:cs typeface="Arial MT"/>
              </a:rPr>
              <a:t>numbers</a:t>
            </a:r>
            <a:endParaRPr sz="1800" dirty="0">
              <a:latin typeface="Arial MT"/>
              <a:cs typeface="Arial MT"/>
            </a:endParaRPr>
          </a:p>
          <a:p>
            <a:pPr marL="354965" indent="-342265">
              <a:lnSpc>
                <a:spcPct val="100000"/>
              </a:lnSpc>
              <a:spcBef>
                <a:spcPts val="2050"/>
              </a:spcBef>
              <a:buClr>
                <a:srgbClr val="993300"/>
              </a:buClr>
              <a:buSzPct val="88888"/>
              <a:buFont typeface="Wingdings"/>
              <a:buChar char=""/>
              <a:tabLst>
                <a:tab pos="354965" algn="l"/>
              </a:tabLst>
            </a:pPr>
            <a:r>
              <a:rPr sz="1800" dirty="0">
                <a:latin typeface="Arial MT"/>
                <a:cs typeface="Arial MT"/>
              </a:rPr>
              <a:t>Consider</a:t>
            </a:r>
            <a:r>
              <a:rPr sz="1800" spc="-20" dirty="0">
                <a:latin typeface="Arial MT"/>
                <a:cs typeface="Arial MT"/>
              </a:rPr>
              <a:t> </a:t>
            </a:r>
            <a:r>
              <a:rPr sz="1800" dirty="0">
                <a:latin typeface="Arial MT"/>
                <a:cs typeface="Arial MT"/>
              </a:rPr>
              <a:t>applicability</a:t>
            </a:r>
            <a:r>
              <a:rPr sz="1800" spc="-15" dirty="0">
                <a:latin typeface="Arial MT"/>
                <a:cs typeface="Arial MT"/>
              </a:rPr>
              <a:t> </a:t>
            </a:r>
            <a:r>
              <a:rPr sz="1800" dirty="0">
                <a:latin typeface="Arial MT"/>
                <a:cs typeface="Arial MT"/>
              </a:rPr>
              <a:t>to</a:t>
            </a:r>
            <a:r>
              <a:rPr sz="1800" spc="-45" dirty="0">
                <a:latin typeface="Arial MT"/>
                <a:cs typeface="Arial MT"/>
              </a:rPr>
              <a:t> </a:t>
            </a:r>
            <a:r>
              <a:rPr sz="1800" dirty="0">
                <a:latin typeface="Arial MT"/>
                <a:cs typeface="Arial MT"/>
              </a:rPr>
              <a:t>patching</a:t>
            </a:r>
            <a:r>
              <a:rPr sz="1800" spc="-35" dirty="0">
                <a:latin typeface="Arial MT"/>
                <a:cs typeface="Arial MT"/>
              </a:rPr>
              <a:t> </a:t>
            </a:r>
            <a:r>
              <a:rPr sz="1800" dirty="0">
                <a:latin typeface="Arial MT"/>
                <a:cs typeface="Arial MT"/>
              </a:rPr>
              <a:t>system</a:t>
            </a:r>
            <a:r>
              <a:rPr sz="1800" spc="-20" dirty="0">
                <a:latin typeface="Arial MT"/>
                <a:cs typeface="Arial MT"/>
              </a:rPr>
              <a:t> </a:t>
            </a:r>
            <a:r>
              <a:rPr sz="1800" spc="-10" dirty="0">
                <a:latin typeface="Arial MT"/>
                <a:cs typeface="Arial MT"/>
              </a:rPr>
              <a:t>libraries</a:t>
            </a:r>
            <a:endParaRPr sz="1800" dirty="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Versioning</a:t>
            </a:r>
            <a:r>
              <a:rPr sz="1800" spc="-10" dirty="0">
                <a:latin typeface="Arial MT"/>
                <a:cs typeface="Arial MT"/>
              </a:rPr>
              <a:t> </a:t>
            </a:r>
            <a:r>
              <a:rPr sz="1800" dirty="0">
                <a:latin typeface="Arial MT"/>
                <a:cs typeface="Arial MT"/>
              </a:rPr>
              <a:t>may</a:t>
            </a:r>
            <a:r>
              <a:rPr sz="1800" spc="-25" dirty="0">
                <a:latin typeface="Arial MT"/>
                <a:cs typeface="Arial MT"/>
              </a:rPr>
              <a:t> </a:t>
            </a:r>
            <a:r>
              <a:rPr sz="1800" dirty="0">
                <a:latin typeface="Arial MT"/>
                <a:cs typeface="Arial MT"/>
              </a:rPr>
              <a:t>be</a:t>
            </a:r>
            <a:r>
              <a:rPr sz="1800" spc="-30" dirty="0">
                <a:latin typeface="Arial MT"/>
                <a:cs typeface="Arial MT"/>
              </a:rPr>
              <a:t> </a:t>
            </a:r>
            <a:r>
              <a:rPr sz="1800" spc="-10" dirty="0">
                <a:latin typeface="Arial MT"/>
                <a:cs typeface="Arial MT"/>
              </a:rPr>
              <a:t>needed</a:t>
            </a:r>
            <a:endParaRPr sz="1800" dirty="0">
              <a:latin typeface="Arial MT"/>
              <a:cs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6398" rIns="0" bIns="0" rtlCol="0">
            <a:spAutoFit/>
          </a:bodyPr>
          <a:lstStyle/>
          <a:p>
            <a:pPr marL="2554605">
              <a:lnSpc>
                <a:spcPct val="100000"/>
              </a:lnSpc>
              <a:spcBef>
                <a:spcPts val="100"/>
              </a:spcBef>
            </a:pPr>
            <a:r>
              <a:rPr dirty="0">
                <a:solidFill>
                  <a:srgbClr val="006699"/>
                </a:solidFill>
              </a:rPr>
              <a:t>Contiguous</a:t>
            </a:r>
            <a:r>
              <a:rPr spc="-50" dirty="0">
                <a:solidFill>
                  <a:srgbClr val="006699"/>
                </a:solidFill>
              </a:rPr>
              <a:t> </a:t>
            </a:r>
            <a:r>
              <a:rPr spc="-10" dirty="0">
                <a:solidFill>
                  <a:srgbClr val="006699"/>
                </a:solidFill>
              </a:rPr>
              <a:t>Allocation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16</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449310" cy="5485765"/>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Main</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must</a:t>
            </a:r>
            <a:r>
              <a:rPr sz="1800" spc="-20" dirty="0">
                <a:latin typeface="Arial MT"/>
                <a:cs typeface="Arial MT"/>
              </a:rPr>
              <a:t> </a:t>
            </a:r>
            <a:r>
              <a:rPr sz="1800" dirty="0">
                <a:latin typeface="Arial MT"/>
                <a:cs typeface="Arial MT"/>
              </a:rPr>
              <a:t>support</a:t>
            </a:r>
            <a:r>
              <a:rPr sz="1800" spc="-15" dirty="0">
                <a:latin typeface="Arial MT"/>
                <a:cs typeface="Arial MT"/>
              </a:rPr>
              <a:t> </a:t>
            </a:r>
            <a:r>
              <a:rPr sz="1800" dirty="0">
                <a:latin typeface="Arial MT"/>
                <a:cs typeface="Arial MT"/>
              </a:rPr>
              <a:t>both</a:t>
            </a:r>
            <a:r>
              <a:rPr sz="1800" spc="-10" dirty="0">
                <a:latin typeface="Arial MT"/>
                <a:cs typeface="Arial MT"/>
              </a:rPr>
              <a:t> </a:t>
            </a:r>
            <a:r>
              <a:rPr sz="1800" dirty="0">
                <a:latin typeface="Arial MT"/>
                <a:cs typeface="Arial MT"/>
              </a:rPr>
              <a:t>OS</a:t>
            </a:r>
            <a:r>
              <a:rPr sz="1800" spc="-35"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user</a:t>
            </a:r>
            <a:r>
              <a:rPr sz="1800" spc="-20" dirty="0">
                <a:latin typeface="Arial MT"/>
                <a:cs typeface="Arial MT"/>
              </a:rPr>
              <a:t> </a:t>
            </a:r>
            <a:r>
              <a:rPr sz="1800" spc="-10" dirty="0">
                <a:latin typeface="Arial MT"/>
                <a:cs typeface="Arial MT"/>
              </a:rPr>
              <a:t>processes</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latin typeface="Arial MT"/>
                <a:cs typeface="Arial MT"/>
              </a:rPr>
              <a:t>Limited</a:t>
            </a:r>
            <a:r>
              <a:rPr sz="1800" spc="-40"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resource;</a:t>
            </a:r>
            <a:r>
              <a:rPr sz="1800" spc="-20" dirty="0">
                <a:latin typeface="Arial MT"/>
                <a:cs typeface="Arial MT"/>
              </a:rPr>
              <a:t> </a:t>
            </a:r>
            <a:r>
              <a:rPr sz="1800" dirty="0">
                <a:latin typeface="Arial MT"/>
                <a:cs typeface="Arial MT"/>
              </a:rPr>
              <a:t>thus,</a:t>
            </a:r>
            <a:r>
              <a:rPr sz="1800" spc="-25" dirty="0">
                <a:latin typeface="Arial MT"/>
                <a:cs typeface="Arial MT"/>
              </a:rPr>
              <a:t> </a:t>
            </a:r>
            <a:r>
              <a:rPr sz="1800" dirty="0">
                <a:latin typeface="Arial MT"/>
                <a:cs typeface="Arial MT"/>
              </a:rPr>
              <a:t>must</a:t>
            </a:r>
            <a:r>
              <a:rPr sz="1800" spc="-40" dirty="0">
                <a:latin typeface="Arial MT"/>
                <a:cs typeface="Arial MT"/>
              </a:rPr>
              <a:t> </a:t>
            </a:r>
            <a:r>
              <a:rPr sz="1800" dirty="0">
                <a:latin typeface="Arial MT"/>
                <a:cs typeface="Arial MT"/>
              </a:rPr>
              <a:t>allocate</a:t>
            </a:r>
            <a:r>
              <a:rPr sz="1800" spc="-15" dirty="0">
                <a:latin typeface="Arial MT"/>
                <a:cs typeface="Arial MT"/>
              </a:rPr>
              <a:t> </a:t>
            </a:r>
            <a:r>
              <a:rPr sz="1800" spc="-10" dirty="0">
                <a:latin typeface="Arial MT"/>
                <a:cs typeface="Arial MT"/>
              </a:rPr>
              <a:t>efficiently</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Main</a:t>
            </a:r>
            <a:r>
              <a:rPr sz="1800" spc="-30"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usually</a:t>
            </a:r>
            <a:r>
              <a:rPr sz="1800" spc="-25" dirty="0">
                <a:latin typeface="Arial MT"/>
                <a:cs typeface="Arial MT"/>
              </a:rPr>
              <a:t> </a:t>
            </a:r>
            <a:r>
              <a:rPr sz="1800" dirty="0">
                <a:latin typeface="Arial MT"/>
                <a:cs typeface="Arial MT"/>
              </a:rPr>
              <a:t>divided</a:t>
            </a:r>
            <a:r>
              <a:rPr sz="1800" spc="-20" dirty="0">
                <a:latin typeface="Arial MT"/>
                <a:cs typeface="Arial MT"/>
              </a:rPr>
              <a:t> </a:t>
            </a:r>
            <a:r>
              <a:rPr sz="1800" dirty="0">
                <a:latin typeface="Arial MT"/>
                <a:cs typeface="Arial MT"/>
              </a:rPr>
              <a:t>into</a:t>
            </a:r>
            <a:r>
              <a:rPr sz="1800" spc="-30" dirty="0">
                <a:latin typeface="Arial MT"/>
                <a:cs typeface="Arial MT"/>
              </a:rPr>
              <a:t> </a:t>
            </a:r>
            <a:r>
              <a:rPr sz="1800" dirty="0">
                <a:latin typeface="Arial MT"/>
                <a:cs typeface="Arial MT"/>
              </a:rPr>
              <a:t>two</a:t>
            </a:r>
            <a:r>
              <a:rPr sz="1800" spc="15" dirty="0">
                <a:latin typeface="Arial MT"/>
                <a:cs typeface="Arial MT"/>
              </a:rPr>
              <a:t> </a:t>
            </a:r>
            <a:r>
              <a:rPr sz="1800" b="1" spc="-10" dirty="0">
                <a:solidFill>
                  <a:srgbClr val="0000FF"/>
                </a:solidFill>
                <a:latin typeface="Arial"/>
                <a:cs typeface="Arial"/>
              </a:rPr>
              <a:t>partitions</a:t>
            </a:r>
            <a:r>
              <a:rPr sz="1800" spc="-10" dirty="0">
                <a:latin typeface="Arial MT"/>
                <a:cs typeface="Arial MT"/>
              </a:rPr>
              <a:t>:</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756285" lvl="1" indent="-286385">
              <a:lnSpc>
                <a:spcPct val="100000"/>
              </a:lnSpc>
              <a:spcBef>
                <a:spcPts val="5"/>
              </a:spcBef>
              <a:buClr>
                <a:srgbClr val="CC6600"/>
              </a:buClr>
              <a:buSzPct val="80555"/>
              <a:buFont typeface="Wingdings"/>
              <a:buChar char=""/>
              <a:tabLst>
                <a:tab pos="756285" algn="l"/>
              </a:tabLst>
            </a:pPr>
            <a:r>
              <a:rPr sz="1800" dirty="0">
                <a:latin typeface="Arial MT"/>
                <a:cs typeface="Arial MT"/>
              </a:rPr>
              <a:t>Resident</a:t>
            </a:r>
            <a:r>
              <a:rPr sz="1800" spc="-20" dirty="0">
                <a:latin typeface="Arial MT"/>
                <a:cs typeface="Arial MT"/>
              </a:rPr>
              <a:t> </a:t>
            </a:r>
            <a:r>
              <a:rPr sz="1800" dirty="0">
                <a:latin typeface="Arial MT"/>
                <a:cs typeface="Arial MT"/>
              </a:rPr>
              <a:t>OS</a:t>
            </a:r>
            <a:r>
              <a:rPr sz="1800" spc="-30" dirty="0">
                <a:latin typeface="Arial MT"/>
                <a:cs typeface="Arial MT"/>
              </a:rPr>
              <a:t> </a:t>
            </a:r>
            <a:r>
              <a:rPr sz="1800" dirty="0">
                <a:latin typeface="Arial MT"/>
                <a:cs typeface="Arial MT"/>
              </a:rPr>
              <a:t>usually</a:t>
            </a:r>
            <a:r>
              <a:rPr sz="1800" spc="-25" dirty="0">
                <a:latin typeface="Arial MT"/>
                <a:cs typeface="Arial MT"/>
              </a:rPr>
              <a:t> </a:t>
            </a:r>
            <a:r>
              <a:rPr sz="1800" dirty="0">
                <a:latin typeface="Arial MT"/>
                <a:cs typeface="Arial MT"/>
              </a:rPr>
              <a:t>placed</a:t>
            </a:r>
            <a:r>
              <a:rPr sz="1800" spc="-2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low</a:t>
            </a:r>
            <a:r>
              <a:rPr sz="1800" spc="-40"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together</a:t>
            </a:r>
            <a:r>
              <a:rPr sz="1800" spc="-30" dirty="0">
                <a:latin typeface="Arial MT"/>
                <a:cs typeface="Arial MT"/>
              </a:rPr>
              <a:t> </a:t>
            </a:r>
            <a:r>
              <a:rPr sz="1800" dirty="0">
                <a:latin typeface="Arial MT"/>
                <a:cs typeface="Arial MT"/>
              </a:rPr>
              <a:t>with</a:t>
            </a:r>
            <a:r>
              <a:rPr sz="1800" spc="10"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interrupt</a:t>
            </a:r>
            <a:r>
              <a:rPr sz="1800" spc="-30" dirty="0">
                <a:latin typeface="Arial MT"/>
                <a:cs typeface="Arial MT"/>
              </a:rPr>
              <a:t> </a:t>
            </a:r>
            <a:r>
              <a:rPr sz="1800" spc="-10" dirty="0">
                <a:latin typeface="Arial MT"/>
                <a:cs typeface="Arial MT"/>
              </a:rPr>
              <a:t>vector</a:t>
            </a:r>
            <a:endParaRPr sz="1800">
              <a:latin typeface="Arial MT"/>
              <a:cs typeface="Arial MT"/>
            </a:endParaRPr>
          </a:p>
          <a:p>
            <a:pPr lvl="1">
              <a:lnSpc>
                <a:spcPct val="100000"/>
              </a:lnSpc>
              <a:spcBef>
                <a:spcPts val="1600"/>
              </a:spcBef>
              <a:buClr>
                <a:srgbClr val="CC66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latin typeface="Arial MT"/>
                <a:cs typeface="Arial MT"/>
              </a:rPr>
              <a:t>User</a:t>
            </a:r>
            <a:r>
              <a:rPr sz="1800" spc="-25" dirty="0">
                <a:latin typeface="Arial MT"/>
                <a:cs typeface="Arial MT"/>
              </a:rPr>
              <a:t> </a:t>
            </a:r>
            <a:r>
              <a:rPr sz="1800" dirty="0">
                <a:latin typeface="Arial MT"/>
                <a:cs typeface="Arial MT"/>
              </a:rPr>
              <a:t>processes</a:t>
            </a:r>
            <a:r>
              <a:rPr sz="1800" spc="-15" dirty="0">
                <a:latin typeface="Arial MT"/>
                <a:cs typeface="Arial MT"/>
              </a:rPr>
              <a:t> </a:t>
            </a:r>
            <a:r>
              <a:rPr sz="1800" dirty="0">
                <a:latin typeface="Arial MT"/>
                <a:cs typeface="Arial MT"/>
              </a:rPr>
              <a:t>then</a:t>
            </a:r>
            <a:r>
              <a:rPr sz="1800" spc="-15" dirty="0">
                <a:latin typeface="Arial MT"/>
                <a:cs typeface="Arial MT"/>
              </a:rPr>
              <a:t> </a:t>
            </a:r>
            <a:r>
              <a:rPr sz="1800" dirty="0">
                <a:latin typeface="Arial MT"/>
                <a:cs typeface="Arial MT"/>
              </a:rPr>
              <a:t>held</a:t>
            </a:r>
            <a:r>
              <a:rPr sz="1800" spc="-1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high</a:t>
            </a:r>
            <a:r>
              <a:rPr sz="1800" spc="-15" dirty="0">
                <a:latin typeface="Arial MT"/>
                <a:cs typeface="Arial MT"/>
              </a:rPr>
              <a:t> </a:t>
            </a:r>
            <a:r>
              <a:rPr sz="1800" spc="-10" dirty="0">
                <a:latin typeface="Arial MT"/>
                <a:cs typeface="Arial MT"/>
              </a:rPr>
              <a:t>memory</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latin typeface="Arial MT"/>
                <a:cs typeface="Arial MT"/>
              </a:rPr>
              <a:t>Each</a:t>
            </a:r>
            <a:r>
              <a:rPr sz="1800" spc="-35"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contained</a:t>
            </a:r>
            <a:r>
              <a:rPr sz="1800" spc="-1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single</a:t>
            </a:r>
            <a:r>
              <a:rPr sz="1800" spc="-20" dirty="0">
                <a:latin typeface="Arial MT"/>
                <a:cs typeface="Arial MT"/>
              </a:rPr>
              <a:t> </a:t>
            </a:r>
            <a:r>
              <a:rPr sz="1800" dirty="0">
                <a:latin typeface="Arial MT"/>
                <a:cs typeface="Arial MT"/>
              </a:rPr>
              <a:t>contiguous section</a:t>
            </a:r>
            <a:r>
              <a:rPr sz="1800" spc="-20" dirty="0">
                <a:latin typeface="Arial MT"/>
                <a:cs typeface="Arial MT"/>
              </a:rPr>
              <a:t> </a:t>
            </a:r>
            <a:r>
              <a:rPr sz="1800" dirty="0">
                <a:latin typeface="Arial MT"/>
                <a:cs typeface="Arial MT"/>
              </a:rPr>
              <a:t>of</a:t>
            </a:r>
            <a:r>
              <a:rPr sz="1800" spc="-30" dirty="0">
                <a:latin typeface="Arial MT"/>
                <a:cs typeface="Arial MT"/>
              </a:rPr>
              <a:t> </a:t>
            </a:r>
            <a:r>
              <a:rPr sz="1800" spc="-10" dirty="0">
                <a:latin typeface="Arial MT"/>
                <a:cs typeface="Arial MT"/>
              </a:rPr>
              <a:t>memory</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b="1" i="1" dirty="0">
                <a:solidFill>
                  <a:srgbClr val="FF0000"/>
                </a:solidFill>
                <a:latin typeface="Arial"/>
                <a:cs typeface="Arial"/>
              </a:rPr>
              <a:t>Contiguous</a:t>
            </a:r>
            <a:r>
              <a:rPr sz="1800" b="1" i="1" spc="-50" dirty="0">
                <a:solidFill>
                  <a:srgbClr val="FF0000"/>
                </a:solidFill>
                <a:latin typeface="Arial"/>
                <a:cs typeface="Arial"/>
              </a:rPr>
              <a:t> </a:t>
            </a:r>
            <a:r>
              <a:rPr sz="1800" b="1" i="1" dirty="0">
                <a:solidFill>
                  <a:srgbClr val="FF0000"/>
                </a:solidFill>
                <a:latin typeface="Arial"/>
                <a:cs typeface="Arial"/>
              </a:rPr>
              <a:t>memory</a:t>
            </a:r>
            <a:r>
              <a:rPr sz="1800" b="1" i="1" spc="-25" dirty="0">
                <a:solidFill>
                  <a:srgbClr val="FF0000"/>
                </a:solidFill>
                <a:latin typeface="Arial"/>
                <a:cs typeface="Arial"/>
              </a:rPr>
              <a:t> </a:t>
            </a:r>
            <a:r>
              <a:rPr sz="1800" b="1" i="1" dirty="0">
                <a:solidFill>
                  <a:srgbClr val="FF0000"/>
                </a:solidFill>
                <a:latin typeface="Arial"/>
                <a:cs typeface="Arial"/>
              </a:rPr>
              <a:t>allocation</a:t>
            </a:r>
            <a:r>
              <a:rPr sz="1800" b="1" i="1" spc="-15" dirty="0">
                <a:solidFill>
                  <a:srgbClr val="FF0000"/>
                </a:solidFill>
                <a:latin typeface="Arial"/>
                <a:cs typeface="Arial"/>
              </a:rPr>
              <a:t> </a:t>
            </a:r>
            <a:r>
              <a:rPr sz="1800" dirty="0">
                <a:latin typeface="Arial MT"/>
                <a:cs typeface="Arial MT"/>
              </a:rPr>
              <a:t>is</a:t>
            </a:r>
            <a:r>
              <a:rPr sz="1800" spc="-25" dirty="0">
                <a:latin typeface="Arial MT"/>
                <a:cs typeface="Arial MT"/>
              </a:rPr>
              <a:t> </a:t>
            </a:r>
            <a:r>
              <a:rPr sz="1800" dirty="0">
                <a:latin typeface="Arial MT"/>
                <a:cs typeface="Arial MT"/>
              </a:rPr>
              <a:t>one</a:t>
            </a:r>
            <a:r>
              <a:rPr sz="1800" spc="-30" dirty="0">
                <a:latin typeface="Arial MT"/>
                <a:cs typeface="Arial MT"/>
              </a:rPr>
              <a:t> </a:t>
            </a:r>
            <a:r>
              <a:rPr sz="1800" dirty="0">
                <a:latin typeface="Arial MT"/>
                <a:cs typeface="Arial MT"/>
              </a:rPr>
              <a:t>early</a:t>
            </a:r>
            <a:r>
              <a:rPr sz="1800" spc="-15" dirty="0">
                <a:latin typeface="Arial MT"/>
                <a:cs typeface="Arial MT"/>
              </a:rPr>
              <a:t> </a:t>
            </a:r>
            <a:r>
              <a:rPr sz="1800" spc="-10" dirty="0">
                <a:latin typeface="Arial MT"/>
                <a:cs typeface="Arial MT"/>
              </a:rPr>
              <a:t>method</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solidFill>
                  <a:srgbClr val="FF0000"/>
                </a:solidFill>
                <a:latin typeface="Arial MT"/>
                <a:cs typeface="Arial MT"/>
              </a:rPr>
              <a:t>Each</a:t>
            </a:r>
            <a:r>
              <a:rPr sz="1800" spc="-25" dirty="0">
                <a:solidFill>
                  <a:srgbClr val="FF0000"/>
                </a:solidFill>
                <a:latin typeface="Arial MT"/>
                <a:cs typeface="Arial MT"/>
              </a:rPr>
              <a:t> </a:t>
            </a:r>
            <a:r>
              <a:rPr sz="1800" dirty="0">
                <a:solidFill>
                  <a:srgbClr val="FF0000"/>
                </a:solidFill>
                <a:latin typeface="Arial MT"/>
                <a:cs typeface="Arial MT"/>
              </a:rPr>
              <a:t>process</a:t>
            </a:r>
            <a:r>
              <a:rPr sz="1800" spc="-15" dirty="0">
                <a:solidFill>
                  <a:srgbClr val="FF0000"/>
                </a:solidFill>
                <a:latin typeface="Arial MT"/>
                <a:cs typeface="Arial MT"/>
              </a:rPr>
              <a:t> </a:t>
            </a:r>
            <a:r>
              <a:rPr sz="1800" dirty="0">
                <a:solidFill>
                  <a:srgbClr val="FF0000"/>
                </a:solidFill>
                <a:latin typeface="Arial MT"/>
                <a:cs typeface="Arial MT"/>
              </a:rPr>
              <a:t>is</a:t>
            </a:r>
            <a:r>
              <a:rPr sz="1800" spc="-25" dirty="0">
                <a:solidFill>
                  <a:srgbClr val="FF0000"/>
                </a:solidFill>
                <a:latin typeface="Arial MT"/>
                <a:cs typeface="Arial MT"/>
              </a:rPr>
              <a:t> </a:t>
            </a:r>
            <a:r>
              <a:rPr sz="1800" dirty="0">
                <a:solidFill>
                  <a:srgbClr val="FF0000"/>
                </a:solidFill>
                <a:latin typeface="Arial MT"/>
                <a:cs typeface="Arial MT"/>
              </a:rPr>
              <a:t>placed</a:t>
            </a:r>
            <a:r>
              <a:rPr sz="1800" spc="-20" dirty="0">
                <a:solidFill>
                  <a:srgbClr val="FF0000"/>
                </a:solidFill>
                <a:latin typeface="Arial MT"/>
                <a:cs typeface="Arial MT"/>
              </a:rPr>
              <a:t> </a:t>
            </a:r>
            <a:r>
              <a:rPr sz="1800" dirty="0">
                <a:solidFill>
                  <a:srgbClr val="FF0000"/>
                </a:solidFill>
                <a:latin typeface="Arial MT"/>
                <a:cs typeface="Arial MT"/>
              </a:rPr>
              <a:t>contiguous to</a:t>
            </a:r>
            <a:r>
              <a:rPr sz="1800" spc="-20" dirty="0">
                <a:solidFill>
                  <a:srgbClr val="FF0000"/>
                </a:solidFill>
                <a:latin typeface="Arial MT"/>
                <a:cs typeface="Arial MT"/>
              </a:rPr>
              <a:t> </a:t>
            </a:r>
            <a:r>
              <a:rPr sz="1800" dirty="0">
                <a:solidFill>
                  <a:srgbClr val="FF0000"/>
                </a:solidFill>
                <a:latin typeface="Arial MT"/>
                <a:cs typeface="Arial MT"/>
              </a:rPr>
              <a:t>each</a:t>
            </a:r>
            <a:r>
              <a:rPr sz="1800" spc="-25" dirty="0">
                <a:solidFill>
                  <a:srgbClr val="FF0000"/>
                </a:solidFill>
                <a:latin typeface="Arial MT"/>
                <a:cs typeface="Arial MT"/>
              </a:rPr>
              <a:t> </a:t>
            </a:r>
            <a:r>
              <a:rPr sz="1800" dirty="0">
                <a:solidFill>
                  <a:srgbClr val="FF0000"/>
                </a:solidFill>
                <a:latin typeface="Arial MT"/>
                <a:cs typeface="Arial MT"/>
              </a:rPr>
              <a:t>other</a:t>
            </a:r>
            <a:r>
              <a:rPr sz="1800" spc="-15" dirty="0">
                <a:solidFill>
                  <a:srgbClr val="FF0000"/>
                </a:solidFill>
                <a:latin typeface="Arial MT"/>
                <a:cs typeface="Arial MT"/>
              </a:rPr>
              <a:t> </a:t>
            </a:r>
            <a:r>
              <a:rPr sz="1800" dirty="0">
                <a:solidFill>
                  <a:srgbClr val="FF0000"/>
                </a:solidFill>
                <a:latin typeface="Arial MT"/>
                <a:cs typeface="Arial MT"/>
              </a:rPr>
              <a:t>in</a:t>
            </a:r>
            <a:r>
              <a:rPr sz="1800" spc="-3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p:txBody>
      </p:sp>
    </p:spTree>
    <p:extLst>
      <p:ext uri="{BB962C8B-B14F-4D97-AF65-F5344CB8AC3E}">
        <p14:creationId xmlns:p14="http://schemas.microsoft.com/office/powerpoint/2010/main" val="2118805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3421" rIns="0" bIns="0" rtlCol="0">
            <a:spAutoFit/>
          </a:bodyPr>
          <a:lstStyle/>
          <a:p>
            <a:pPr marL="995044">
              <a:lnSpc>
                <a:spcPct val="100000"/>
              </a:lnSpc>
              <a:spcBef>
                <a:spcPts val="100"/>
              </a:spcBef>
            </a:pPr>
            <a:r>
              <a:rPr dirty="0">
                <a:solidFill>
                  <a:srgbClr val="006699"/>
                </a:solidFill>
              </a:rPr>
              <a:t>Contiguous</a:t>
            </a:r>
            <a:r>
              <a:rPr spc="-70" dirty="0">
                <a:solidFill>
                  <a:srgbClr val="006699"/>
                </a:solidFill>
              </a:rPr>
              <a:t> </a:t>
            </a:r>
            <a:r>
              <a:rPr dirty="0">
                <a:solidFill>
                  <a:srgbClr val="006699"/>
                </a:solidFill>
              </a:rPr>
              <a:t>Allocation</a:t>
            </a:r>
            <a:r>
              <a:rPr spc="-80" dirty="0">
                <a:solidFill>
                  <a:srgbClr val="006699"/>
                </a:solidFill>
              </a:rPr>
              <a:t> </a:t>
            </a:r>
            <a:r>
              <a:rPr dirty="0">
                <a:solidFill>
                  <a:srgbClr val="006699"/>
                </a:solidFill>
              </a:rPr>
              <a:t>-</a:t>
            </a:r>
            <a:r>
              <a:rPr spc="-40" dirty="0">
                <a:solidFill>
                  <a:srgbClr val="006699"/>
                </a:solidFill>
              </a:rPr>
              <a:t> </a:t>
            </a:r>
            <a:r>
              <a:rPr sz="2400" dirty="0">
                <a:solidFill>
                  <a:srgbClr val="006699"/>
                </a:solidFill>
              </a:rPr>
              <a:t>Memory</a:t>
            </a:r>
            <a:r>
              <a:rPr sz="2400" spc="-20" dirty="0">
                <a:solidFill>
                  <a:srgbClr val="006699"/>
                </a:solidFill>
              </a:rPr>
              <a:t> </a:t>
            </a:r>
            <a:r>
              <a:rPr sz="2400" spc="-10" dirty="0">
                <a:solidFill>
                  <a:srgbClr val="006699"/>
                </a:solidFill>
              </a:rPr>
              <a:t>Protection</a:t>
            </a:r>
            <a:endParaRPr sz="24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17</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21691" y="974216"/>
            <a:ext cx="8604250" cy="5719445"/>
          </a:xfrm>
          <a:prstGeom prst="rect">
            <a:avLst/>
          </a:prstGeom>
        </p:spPr>
        <p:txBody>
          <a:bodyPr vert="horz" wrap="square" lIns="0" tIns="108585" rIns="0" bIns="0" rtlCol="0">
            <a:spAutoFit/>
          </a:bodyPr>
          <a:lstStyle/>
          <a:p>
            <a:pPr marL="354965" indent="-342265">
              <a:lnSpc>
                <a:spcPct val="100000"/>
              </a:lnSpc>
              <a:spcBef>
                <a:spcPts val="855"/>
              </a:spcBef>
              <a:buClr>
                <a:srgbClr val="993300"/>
              </a:buClr>
              <a:buSzPct val="88888"/>
              <a:buFont typeface="Wingdings"/>
              <a:buChar char=""/>
              <a:tabLst>
                <a:tab pos="354965" algn="l"/>
              </a:tabLst>
            </a:pPr>
            <a:r>
              <a:rPr sz="1800" dirty="0">
                <a:solidFill>
                  <a:srgbClr val="FF0000"/>
                </a:solidFill>
                <a:latin typeface="Arial MT"/>
                <a:cs typeface="Arial MT"/>
              </a:rPr>
              <a:t>We</a:t>
            </a:r>
            <a:r>
              <a:rPr sz="1800" spc="-20" dirty="0">
                <a:solidFill>
                  <a:srgbClr val="FF0000"/>
                </a:solidFill>
                <a:latin typeface="Arial MT"/>
                <a:cs typeface="Arial MT"/>
              </a:rPr>
              <a:t> </a:t>
            </a:r>
            <a:r>
              <a:rPr sz="1800" dirty="0">
                <a:solidFill>
                  <a:srgbClr val="FF0000"/>
                </a:solidFill>
                <a:latin typeface="Arial MT"/>
                <a:cs typeface="Arial MT"/>
              </a:rPr>
              <a:t>can</a:t>
            </a:r>
            <a:r>
              <a:rPr sz="1800" spc="-25" dirty="0">
                <a:solidFill>
                  <a:srgbClr val="FF0000"/>
                </a:solidFill>
                <a:latin typeface="Arial MT"/>
                <a:cs typeface="Arial MT"/>
              </a:rPr>
              <a:t> </a:t>
            </a:r>
            <a:r>
              <a:rPr sz="1800" dirty="0">
                <a:solidFill>
                  <a:srgbClr val="FF0000"/>
                </a:solidFill>
                <a:latin typeface="Arial MT"/>
                <a:cs typeface="Arial MT"/>
              </a:rPr>
              <a:t>protect</a:t>
            </a:r>
            <a:r>
              <a:rPr sz="1800" spc="-15" dirty="0">
                <a:solidFill>
                  <a:srgbClr val="FF0000"/>
                </a:solidFill>
                <a:latin typeface="Arial MT"/>
                <a:cs typeface="Arial MT"/>
              </a:rPr>
              <a:t> </a:t>
            </a:r>
            <a:r>
              <a:rPr sz="1800" dirty="0">
                <a:solidFill>
                  <a:srgbClr val="FF0000"/>
                </a:solidFill>
                <a:latin typeface="Arial MT"/>
                <a:cs typeface="Arial MT"/>
              </a:rPr>
              <a:t>a</a:t>
            </a:r>
            <a:r>
              <a:rPr sz="1800" spc="-15" dirty="0">
                <a:solidFill>
                  <a:srgbClr val="FF0000"/>
                </a:solidFill>
                <a:latin typeface="Arial MT"/>
                <a:cs typeface="Arial MT"/>
              </a:rPr>
              <a:t> </a:t>
            </a:r>
            <a:r>
              <a:rPr sz="1800" dirty="0">
                <a:solidFill>
                  <a:srgbClr val="FF0000"/>
                </a:solidFill>
                <a:latin typeface="Arial MT"/>
                <a:cs typeface="Arial MT"/>
              </a:rPr>
              <a:t>process’s</a:t>
            </a:r>
            <a:r>
              <a:rPr sz="1800" spc="-10" dirty="0">
                <a:solidFill>
                  <a:srgbClr val="FF0000"/>
                </a:solidFill>
                <a:latin typeface="Arial MT"/>
                <a:cs typeface="Arial MT"/>
              </a:rPr>
              <a:t> </a:t>
            </a:r>
            <a:r>
              <a:rPr sz="1800" dirty="0">
                <a:solidFill>
                  <a:srgbClr val="FF0000"/>
                </a:solidFill>
                <a:latin typeface="Arial MT"/>
                <a:cs typeface="Arial MT"/>
              </a:rPr>
              <a:t>memory</a:t>
            </a:r>
            <a:r>
              <a:rPr sz="1800" spc="-15" dirty="0">
                <a:solidFill>
                  <a:srgbClr val="FF0000"/>
                </a:solidFill>
                <a:latin typeface="Arial MT"/>
                <a:cs typeface="Arial MT"/>
              </a:rPr>
              <a:t> </a:t>
            </a:r>
            <a:r>
              <a:rPr sz="1800" dirty="0">
                <a:solidFill>
                  <a:srgbClr val="FF0000"/>
                </a:solidFill>
                <a:latin typeface="Arial MT"/>
                <a:cs typeface="Arial MT"/>
              </a:rPr>
              <a:t>by</a:t>
            </a:r>
            <a:r>
              <a:rPr sz="1800" spc="-20" dirty="0">
                <a:solidFill>
                  <a:srgbClr val="FF0000"/>
                </a:solidFill>
                <a:latin typeface="Arial MT"/>
                <a:cs typeface="Arial MT"/>
              </a:rPr>
              <a:t> </a:t>
            </a:r>
            <a:r>
              <a:rPr sz="1800" dirty="0">
                <a:solidFill>
                  <a:srgbClr val="FF0000"/>
                </a:solidFill>
                <a:latin typeface="Arial MT"/>
                <a:cs typeface="Arial MT"/>
              </a:rPr>
              <a:t>combining</a:t>
            </a:r>
            <a:r>
              <a:rPr sz="1800" spc="5" dirty="0">
                <a:solidFill>
                  <a:srgbClr val="FF0000"/>
                </a:solidFill>
                <a:latin typeface="Arial MT"/>
                <a:cs typeface="Arial MT"/>
              </a:rPr>
              <a:t> </a:t>
            </a:r>
            <a:r>
              <a:rPr sz="1800" dirty="0">
                <a:solidFill>
                  <a:srgbClr val="FF0000"/>
                </a:solidFill>
                <a:latin typeface="Arial MT"/>
                <a:cs typeface="Arial MT"/>
              </a:rPr>
              <a:t>ideas</a:t>
            </a:r>
            <a:r>
              <a:rPr sz="1800" spc="-10" dirty="0">
                <a:solidFill>
                  <a:srgbClr val="FF0000"/>
                </a:solidFill>
                <a:latin typeface="Arial MT"/>
                <a:cs typeface="Arial MT"/>
              </a:rPr>
              <a:t> </a:t>
            </a:r>
            <a:r>
              <a:rPr sz="1800" dirty="0">
                <a:solidFill>
                  <a:srgbClr val="FF0000"/>
                </a:solidFill>
                <a:latin typeface="Arial MT"/>
                <a:cs typeface="Arial MT"/>
              </a:rPr>
              <a:t>in</a:t>
            </a:r>
            <a:r>
              <a:rPr sz="1800" spc="-10" dirty="0">
                <a:solidFill>
                  <a:srgbClr val="FF0000"/>
                </a:solidFill>
                <a:latin typeface="Arial MT"/>
                <a:cs typeface="Arial MT"/>
              </a:rPr>
              <a:t> Slide-</a:t>
            </a:r>
            <a:r>
              <a:rPr sz="1800" dirty="0">
                <a:solidFill>
                  <a:srgbClr val="FF0000"/>
                </a:solidFill>
                <a:latin typeface="Arial MT"/>
                <a:cs typeface="Arial MT"/>
              </a:rPr>
              <a:t>5</a:t>
            </a:r>
            <a:r>
              <a:rPr sz="1800" spc="-10" dirty="0">
                <a:solidFill>
                  <a:srgbClr val="FF0000"/>
                </a:solidFill>
                <a:latin typeface="Arial MT"/>
                <a:cs typeface="Arial MT"/>
              </a:rPr>
              <a:t> </a:t>
            </a:r>
            <a:r>
              <a:rPr sz="1800" dirty="0">
                <a:solidFill>
                  <a:srgbClr val="FF0000"/>
                </a:solidFill>
                <a:latin typeface="Arial MT"/>
                <a:cs typeface="Arial MT"/>
              </a:rPr>
              <a:t>and</a:t>
            </a:r>
            <a:r>
              <a:rPr sz="1800" spc="-10" dirty="0">
                <a:solidFill>
                  <a:srgbClr val="FF0000"/>
                </a:solidFill>
                <a:latin typeface="Arial MT"/>
                <a:cs typeface="Arial MT"/>
              </a:rPr>
              <a:t> Slide-</a:t>
            </a:r>
            <a:r>
              <a:rPr sz="1800" spc="-25" dirty="0">
                <a:solidFill>
                  <a:srgbClr val="FF0000"/>
                </a:solidFill>
                <a:latin typeface="Arial MT"/>
                <a:cs typeface="Arial MT"/>
              </a:rPr>
              <a:t>11</a:t>
            </a:r>
            <a:endParaRPr sz="1800">
              <a:latin typeface="Arial MT"/>
              <a:cs typeface="Arial MT"/>
            </a:endParaRPr>
          </a:p>
          <a:p>
            <a:pPr marL="355600" marR="113664" indent="-342900">
              <a:lnSpc>
                <a:spcPct val="100000"/>
              </a:lnSpc>
              <a:spcBef>
                <a:spcPts val="755"/>
              </a:spcBef>
              <a:buClr>
                <a:srgbClr val="993300"/>
              </a:buClr>
              <a:buSzPct val="88888"/>
              <a:buFont typeface="Wingdings"/>
              <a:buChar char=""/>
              <a:tabLst>
                <a:tab pos="355600" algn="l"/>
              </a:tabLst>
            </a:pPr>
            <a:r>
              <a:rPr sz="1800" dirty="0">
                <a:latin typeface="Arial MT"/>
                <a:cs typeface="Arial MT"/>
              </a:rPr>
              <a:t>Relocation</a:t>
            </a:r>
            <a:r>
              <a:rPr sz="1800" spc="-5" dirty="0">
                <a:latin typeface="Arial MT"/>
                <a:cs typeface="Arial MT"/>
              </a:rPr>
              <a:t> </a:t>
            </a:r>
            <a:r>
              <a:rPr sz="1800" dirty="0">
                <a:latin typeface="Arial MT"/>
                <a:cs typeface="Arial MT"/>
              </a:rPr>
              <a:t>registers</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used</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protect</a:t>
            </a:r>
            <a:r>
              <a:rPr sz="1800" spc="-20" dirty="0">
                <a:latin typeface="Arial MT"/>
                <a:cs typeface="Arial MT"/>
              </a:rPr>
              <a:t> </a:t>
            </a:r>
            <a:r>
              <a:rPr sz="1800" dirty="0">
                <a:latin typeface="Arial MT"/>
                <a:cs typeface="Arial MT"/>
              </a:rPr>
              <a:t>user</a:t>
            </a:r>
            <a:r>
              <a:rPr sz="1800" spc="-20" dirty="0">
                <a:latin typeface="Arial MT"/>
                <a:cs typeface="Arial MT"/>
              </a:rPr>
              <a:t> </a:t>
            </a:r>
            <a:r>
              <a:rPr sz="1800" dirty="0">
                <a:latin typeface="Arial MT"/>
                <a:cs typeface="Arial MT"/>
              </a:rPr>
              <a:t>processes</a:t>
            </a:r>
            <a:r>
              <a:rPr sz="1800" spc="-15" dirty="0">
                <a:latin typeface="Arial MT"/>
                <a:cs typeface="Arial MT"/>
              </a:rPr>
              <a:t> </a:t>
            </a:r>
            <a:r>
              <a:rPr sz="1800" dirty="0">
                <a:latin typeface="Arial MT"/>
                <a:cs typeface="Arial MT"/>
              </a:rPr>
              <a:t>from</a:t>
            </a:r>
            <a:r>
              <a:rPr sz="1800" spc="-20"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other,</a:t>
            </a:r>
            <a:r>
              <a:rPr sz="1800" spc="-20" dirty="0">
                <a:latin typeface="Arial MT"/>
                <a:cs typeface="Arial MT"/>
              </a:rPr>
              <a:t> </a:t>
            </a:r>
            <a:r>
              <a:rPr sz="1800" dirty="0">
                <a:latin typeface="Arial MT"/>
                <a:cs typeface="Arial MT"/>
              </a:rPr>
              <a:t>and</a:t>
            </a:r>
            <a:r>
              <a:rPr sz="1800" spc="-20" dirty="0">
                <a:latin typeface="Arial MT"/>
                <a:cs typeface="Arial MT"/>
              </a:rPr>
              <a:t> from </a:t>
            </a:r>
            <a:r>
              <a:rPr sz="1800" dirty="0">
                <a:latin typeface="Arial MT"/>
                <a:cs typeface="Arial MT"/>
              </a:rPr>
              <a:t>changing </a:t>
            </a:r>
            <a:r>
              <a:rPr sz="1800" spc="-10" dirty="0">
                <a:latin typeface="Arial MT"/>
                <a:cs typeface="Arial MT"/>
              </a:rPr>
              <a:t>operating-</a:t>
            </a:r>
            <a:r>
              <a:rPr sz="1800" dirty="0">
                <a:latin typeface="Arial MT"/>
                <a:cs typeface="Arial MT"/>
              </a:rPr>
              <a:t>system</a:t>
            </a:r>
            <a:r>
              <a:rPr sz="1800" spc="25"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and</a:t>
            </a:r>
            <a:r>
              <a:rPr sz="1800" spc="-15" dirty="0">
                <a:latin typeface="Arial MT"/>
                <a:cs typeface="Arial MT"/>
              </a:rPr>
              <a:t> </a:t>
            </a:r>
            <a:r>
              <a:rPr sz="1800" spc="-10" dirty="0">
                <a:latin typeface="Arial MT"/>
                <a:cs typeface="Arial MT"/>
              </a:rPr>
              <a:t>data.</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solidFill>
                  <a:srgbClr val="FF0000"/>
                </a:solidFill>
                <a:latin typeface="Arial MT"/>
                <a:cs typeface="Arial MT"/>
              </a:rPr>
              <a:t>For</a:t>
            </a:r>
            <a:r>
              <a:rPr sz="1800" spc="-10" dirty="0">
                <a:solidFill>
                  <a:srgbClr val="FF0000"/>
                </a:solidFill>
                <a:latin typeface="Arial MT"/>
                <a:cs typeface="Arial MT"/>
              </a:rPr>
              <a:t> </a:t>
            </a:r>
            <a:r>
              <a:rPr sz="1800" dirty="0">
                <a:solidFill>
                  <a:srgbClr val="FF0000"/>
                </a:solidFill>
                <a:latin typeface="Arial MT"/>
                <a:cs typeface="Arial MT"/>
              </a:rPr>
              <a:t>each</a:t>
            </a:r>
            <a:r>
              <a:rPr sz="1800" spc="-10" dirty="0">
                <a:solidFill>
                  <a:srgbClr val="FF0000"/>
                </a:solidFill>
                <a:latin typeface="Arial MT"/>
                <a:cs typeface="Arial MT"/>
              </a:rPr>
              <a:t> process:</a:t>
            </a:r>
            <a:endParaRPr sz="1800">
              <a:latin typeface="Arial MT"/>
              <a:cs typeface="Arial MT"/>
            </a:endParaRPr>
          </a:p>
          <a:p>
            <a:pPr marL="1098550" lvl="2" indent="-227965">
              <a:lnSpc>
                <a:spcPct val="100000"/>
              </a:lnSpc>
              <a:spcBef>
                <a:spcPts val="760"/>
              </a:spcBef>
              <a:buClr>
                <a:srgbClr val="009900"/>
              </a:buClr>
              <a:buSzPct val="75000"/>
              <a:buFont typeface="Webdings"/>
              <a:buChar char=""/>
              <a:tabLst>
                <a:tab pos="1098550" algn="l"/>
              </a:tabLst>
            </a:pPr>
            <a:r>
              <a:rPr sz="1800" dirty="0">
                <a:latin typeface="Arial MT"/>
                <a:cs typeface="Arial MT"/>
              </a:rPr>
              <a:t>Relocation</a:t>
            </a:r>
            <a:r>
              <a:rPr sz="1800" spc="-30" dirty="0">
                <a:latin typeface="Arial MT"/>
                <a:cs typeface="Arial MT"/>
              </a:rPr>
              <a:t> </a:t>
            </a:r>
            <a:r>
              <a:rPr sz="1800" dirty="0">
                <a:latin typeface="Arial MT"/>
                <a:cs typeface="Arial MT"/>
              </a:rPr>
              <a:t>register</a:t>
            </a:r>
            <a:r>
              <a:rPr sz="1800" spc="-25" dirty="0">
                <a:latin typeface="Arial MT"/>
                <a:cs typeface="Arial MT"/>
              </a:rPr>
              <a:t> </a:t>
            </a:r>
            <a:r>
              <a:rPr sz="1800" dirty="0">
                <a:latin typeface="Arial MT"/>
                <a:cs typeface="Arial MT"/>
              </a:rPr>
              <a:t>contains</a:t>
            </a:r>
            <a:r>
              <a:rPr sz="1800" spc="-25" dirty="0">
                <a:latin typeface="Arial MT"/>
                <a:cs typeface="Arial MT"/>
              </a:rPr>
              <a:t> </a:t>
            </a:r>
            <a:r>
              <a:rPr sz="1800" dirty="0">
                <a:latin typeface="Arial MT"/>
                <a:cs typeface="Arial MT"/>
              </a:rPr>
              <a:t>value</a:t>
            </a:r>
            <a:r>
              <a:rPr sz="1800" spc="-30" dirty="0">
                <a:latin typeface="Arial MT"/>
                <a:cs typeface="Arial MT"/>
              </a:rPr>
              <a:t> </a:t>
            </a:r>
            <a:r>
              <a:rPr sz="1800" dirty="0">
                <a:latin typeface="Arial MT"/>
                <a:cs typeface="Arial MT"/>
              </a:rPr>
              <a:t>of</a:t>
            </a:r>
            <a:r>
              <a:rPr sz="1800" spc="-45" dirty="0">
                <a:latin typeface="Arial MT"/>
                <a:cs typeface="Arial MT"/>
              </a:rPr>
              <a:t> </a:t>
            </a:r>
            <a:r>
              <a:rPr sz="1800" dirty="0">
                <a:latin typeface="Arial MT"/>
                <a:cs typeface="Arial MT"/>
              </a:rPr>
              <a:t>smallest</a:t>
            </a:r>
            <a:r>
              <a:rPr sz="1800" spc="-20" dirty="0">
                <a:latin typeface="Arial MT"/>
                <a:cs typeface="Arial MT"/>
              </a:rPr>
              <a:t> </a:t>
            </a:r>
            <a:r>
              <a:rPr sz="1800" dirty="0">
                <a:latin typeface="Arial MT"/>
                <a:cs typeface="Arial MT"/>
              </a:rPr>
              <a:t>physical</a:t>
            </a:r>
            <a:r>
              <a:rPr sz="1800" spc="-5" dirty="0">
                <a:latin typeface="Arial MT"/>
                <a:cs typeface="Arial MT"/>
              </a:rPr>
              <a:t> </a:t>
            </a:r>
            <a:r>
              <a:rPr sz="1800" dirty="0">
                <a:latin typeface="Arial MT"/>
                <a:cs typeface="Arial MT"/>
              </a:rPr>
              <a:t>address; </a:t>
            </a:r>
            <a:r>
              <a:rPr sz="1800" spc="-10" dirty="0">
                <a:solidFill>
                  <a:srgbClr val="FF0000"/>
                </a:solidFill>
                <a:latin typeface="Arial MT"/>
                <a:cs typeface="Arial MT"/>
              </a:rPr>
              <a:t>Slide-</a:t>
            </a:r>
            <a:r>
              <a:rPr sz="1800" spc="-25" dirty="0">
                <a:solidFill>
                  <a:srgbClr val="FF0000"/>
                </a:solidFill>
                <a:latin typeface="Arial MT"/>
                <a:cs typeface="Arial MT"/>
              </a:rPr>
              <a:t>11</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Limit</a:t>
            </a:r>
            <a:r>
              <a:rPr sz="1800" spc="-25" dirty="0">
                <a:latin typeface="Arial MT"/>
                <a:cs typeface="Arial MT"/>
              </a:rPr>
              <a:t> </a:t>
            </a:r>
            <a:r>
              <a:rPr sz="1800" dirty="0">
                <a:latin typeface="Arial MT"/>
                <a:cs typeface="Arial MT"/>
              </a:rPr>
              <a:t>register</a:t>
            </a:r>
            <a:r>
              <a:rPr sz="1800" spc="-15" dirty="0">
                <a:latin typeface="Arial MT"/>
                <a:cs typeface="Arial MT"/>
              </a:rPr>
              <a:t> </a:t>
            </a:r>
            <a:r>
              <a:rPr sz="1800" dirty="0">
                <a:latin typeface="Arial MT"/>
                <a:cs typeface="Arial MT"/>
              </a:rPr>
              <a:t>contains</a:t>
            </a:r>
            <a:r>
              <a:rPr sz="1800" spc="-15" dirty="0">
                <a:latin typeface="Arial MT"/>
                <a:cs typeface="Arial MT"/>
              </a:rPr>
              <a:t> </a:t>
            </a:r>
            <a:r>
              <a:rPr sz="1800" dirty="0">
                <a:latin typeface="Arial MT"/>
                <a:cs typeface="Arial MT"/>
              </a:rPr>
              <a:t>its</a:t>
            </a:r>
            <a:r>
              <a:rPr sz="1800" spc="-25" dirty="0">
                <a:latin typeface="Arial MT"/>
                <a:cs typeface="Arial MT"/>
              </a:rPr>
              <a:t> </a:t>
            </a:r>
            <a:r>
              <a:rPr sz="1800" dirty="0">
                <a:latin typeface="Arial MT"/>
                <a:cs typeface="Arial MT"/>
              </a:rPr>
              <a:t>range</a:t>
            </a:r>
            <a:r>
              <a:rPr sz="1800" spc="-20"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logical</a:t>
            </a:r>
            <a:r>
              <a:rPr sz="1800" spc="-10" dirty="0">
                <a:latin typeface="Arial MT"/>
                <a:cs typeface="Arial MT"/>
              </a:rPr>
              <a:t> addresses</a:t>
            </a:r>
            <a:endParaRPr sz="1800">
              <a:latin typeface="Arial MT"/>
              <a:cs typeface="Arial MT"/>
            </a:endParaRPr>
          </a:p>
          <a:p>
            <a:pPr marL="1442085" lvl="3" indent="-228600">
              <a:lnSpc>
                <a:spcPct val="100000"/>
              </a:lnSpc>
              <a:spcBef>
                <a:spcPts val="760"/>
              </a:spcBef>
              <a:buClr>
                <a:srgbClr val="FFCC00"/>
              </a:buClr>
              <a:buSzPct val="75000"/>
              <a:buChar char="–"/>
              <a:tabLst>
                <a:tab pos="1442085" algn="l"/>
              </a:tabLst>
            </a:pPr>
            <a:r>
              <a:rPr sz="1800" dirty="0">
                <a:latin typeface="Arial MT"/>
                <a:cs typeface="Arial MT"/>
              </a:rPr>
              <a:t>Each</a:t>
            </a:r>
            <a:r>
              <a:rPr sz="1800" spc="-25"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address</a:t>
            </a:r>
            <a:r>
              <a:rPr sz="1800" spc="-10" dirty="0">
                <a:latin typeface="Arial MT"/>
                <a:cs typeface="Arial MT"/>
              </a:rPr>
              <a:t> </a:t>
            </a:r>
            <a:r>
              <a:rPr sz="1800" dirty="0">
                <a:latin typeface="Arial MT"/>
                <a:cs typeface="Arial MT"/>
              </a:rPr>
              <a:t>must</a:t>
            </a:r>
            <a:r>
              <a:rPr sz="1800" spc="-20" dirty="0">
                <a:latin typeface="Arial MT"/>
                <a:cs typeface="Arial MT"/>
              </a:rPr>
              <a:t> </a:t>
            </a:r>
            <a:r>
              <a:rPr sz="1800" dirty="0">
                <a:latin typeface="Arial MT"/>
                <a:cs typeface="Arial MT"/>
              </a:rPr>
              <a:t>be</a:t>
            </a:r>
            <a:r>
              <a:rPr sz="1800" spc="-30" dirty="0">
                <a:latin typeface="Arial MT"/>
                <a:cs typeface="Arial MT"/>
              </a:rPr>
              <a:t> </a:t>
            </a:r>
            <a:r>
              <a:rPr sz="1800" dirty="0">
                <a:latin typeface="Arial MT"/>
                <a:cs typeface="Arial MT"/>
              </a:rPr>
              <a:t>less</a:t>
            </a:r>
            <a:r>
              <a:rPr sz="1800" spc="-20" dirty="0">
                <a:latin typeface="Arial MT"/>
                <a:cs typeface="Arial MT"/>
              </a:rPr>
              <a:t> </a:t>
            </a:r>
            <a:r>
              <a:rPr sz="1800" dirty="0">
                <a:latin typeface="Arial MT"/>
                <a:cs typeface="Arial MT"/>
              </a:rPr>
              <a:t>than</a:t>
            </a:r>
            <a:r>
              <a:rPr sz="1800" spc="-1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limit</a:t>
            </a:r>
            <a:r>
              <a:rPr sz="1800" spc="-15" dirty="0">
                <a:latin typeface="Arial MT"/>
                <a:cs typeface="Arial MT"/>
              </a:rPr>
              <a:t> </a:t>
            </a:r>
            <a:r>
              <a:rPr sz="1800" dirty="0">
                <a:latin typeface="Arial MT"/>
                <a:cs typeface="Arial MT"/>
              </a:rPr>
              <a:t>register</a:t>
            </a:r>
            <a:r>
              <a:rPr sz="1800" spc="-15" dirty="0">
                <a:latin typeface="Arial MT"/>
                <a:cs typeface="Arial MT"/>
              </a:rPr>
              <a:t> </a:t>
            </a:r>
            <a:r>
              <a:rPr sz="1800" dirty="0">
                <a:latin typeface="Arial MT"/>
                <a:cs typeface="Arial MT"/>
              </a:rPr>
              <a:t>value;</a:t>
            </a:r>
            <a:r>
              <a:rPr sz="1800" spc="5" dirty="0">
                <a:latin typeface="Arial MT"/>
                <a:cs typeface="Arial MT"/>
              </a:rPr>
              <a:t> </a:t>
            </a:r>
            <a:r>
              <a:rPr sz="1800" spc="-10" dirty="0">
                <a:solidFill>
                  <a:srgbClr val="FF0000"/>
                </a:solidFill>
                <a:latin typeface="Arial MT"/>
                <a:cs typeface="Arial MT"/>
              </a:rPr>
              <a:t>Slide-</a:t>
            </a:r>
            <a:r>
              <a:rPr sz="1800" spc="-50" dirty="0">
                <a:solidFill>
                  <a:srgbClr val="FF0000"/>
                </a:solidFill>
                <a:latin typeface="Arial MT"/>
                <a:cs typeface="Arial MT"/>
              </a:rPr>
              <a:t>5</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MMU</a:t>
            </a:r>
            <a:r>
              <a:rPr sz="1800" spc="-35" dirty="0">
                <a:latin typeface="Arial MT"/>
                <a:cs typeface="Arial MT"/>
              </a:rPr>
              <a:t> </a:t>
            </a:r>
            <a:r>
              <a:rPr sz="1800" dirty="0">
                <a:latin typeface="Arial MT"/>
                <a:cs typeface="Arial MT"/>
              </a:rPr>
              <a:t>maps</a:t>
            </a:r>
            <a:r>
              <a:rPr sz="1800" spc="-35" dirty="0">
                <a:latin typeface="Arial MT"/>
                <a:cs typeface="Arial MT"/>
              </a:rPr>
              <a:t> </a:t>
            </a:r>
            <a:r>
              <a:rPr sz="1800" dirty="0">
                <a:latin typeface="Arial MT"/>
                <a:cs typeface="Arial MT"/>
              </a:rPr>
              <a:t>logical</a:t>
            </a:r>
            <a:r>
              <a:rPr sz="1800" spc="-20" dirty="0">
                <a:latin typeface="Arial MT"/>
                <a:cs typeface="Arial MT"/>
              </a:rPr>
              <a:t> </a:t>
            </a:r>
            <a:r>
              <a:rPr sz="1800" dirty="0">
                <a:latin typeface="Arial MT"/>
                <a:cs typeface="Arial MT"/>
              </a:rPr>
              <a:t>addresses</a:t>
            </a:r>
            <a:r>
              <a:rPr sz="1800" spc="-20" dirty="0">
                <a:latin typeface="Arial MT"/>
                <a:cs typeface="Arial MT"/>
              </a:rPr>
              <a:t> </a:t>
            </a:r>
            <a:r>
              <a:rPr sz="1800" i="1" spc="-10" dirty="0">
                <a:latin typeface="Arial"/>
                <a:cs typeface="Arial"/>
              </a:rPr>
              <a:t>dynamically</a:t>
            </a:r>
            <a:endParaRPr sz="1800">
              <a:latin typeface="Arial"/>
              <a:cs typeface="Arial"/>
            </a:endParaRPr>
          </a:p>
          <a:p>
            <a:pPr marL="1442085" lvl="3" indent="-228600">
              <a:lnSpc>
                <a:spcPct val="100000"/>
              </a:lnSpc>
              <a:spcBef>
                <a:spcPts val="755"/>
              </a:spcBef>
              <a:buClr>
                <a:srgbClr val="FFCC00"/>
              </a:buClr>
              <a:buSzPct val="75000"/>
              <a:buChar char="–"/>
              <a:tabLst>
                <a:tab pos="1442085" algn="l"/>
              </a:tabLst>
            </a:pPr>
            <a:r>
              <a:rPr sz="1800" dirty="0">
                <a:latin typeface="Arial MT"/>
                <a:cs typeface="Arial MT"/>
              </a:rPr>
              <a:t>By</a:t>
            </a:r>
            <a:r>
              <a:rPr sz="1800" spc="-20" dirty="0">
                <a:latin typeface="Arial MT"/>
                <a:cs typeface="Arial MT"/>
              </a:rPr>
              <a:t> </a:t>
            </a:r>
            <a:r>
              <a:rPr sz="1800" dirty="0">
                <a:latin typeface="Arial MT"/>
                <a:cs typeface="Arial MT"/>
              </a:rPr>
              <a:t>adding</a:t>
            </a:r>
            <a:r>
              <a:rPr sz="1800" spc="-15"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address</a:t>
            </a:r>
            <a:r>
              <a:rPr sz="1800" spc="-1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relocation</a:t>
            </a:r>
            <a:r>
              <a:rPr sz="1800" spc="-15" dirty="0">
                <a:latin typeface="Arial MT"/>
                <a:cs typeface="Arial MT"/>
              </a:rPr>
              <a:t> </a:t>
            </a:r>
            <a:r>
              <a:rPr sz="1800" dirty="0">
                <a:latin typeface="Arial MT"/>
                <a:cs typeface="Arial MT"/>
              </a:rPr>
              <a:t>value;</a:t>
            </a:r>
            <a:r>
              <a:rPr sz="1800" spc="15" dirty="0">
                <a:latin typeface="Arial MT"/>
                <a:cs typeface="Arial MT"/>
              </a:rPr>
              <a:t> </a:t>
            </a:r>
            <a:r>
              <a:rPr sz="1800" b="1" i="1" dirty="0">
                <a:solidFill>
                  <a:srgbClr val="FF0000"/>
                </a:solidFill>
                <a:latin typeface="Arial"/>
                <a:cs typeface="Arial"/>
              </a:rPr>
              <a:t>see</a:t>
            </a:r>
            <a:r>
              <a:rPr sz="1800" b="1" i="1" spc="-15" dirty="0">
                <a:solidFill>
                  <a:srgbClr val="FF0000"/>
                </a:solidFill>
                <a:latin typeface="Arial"/>
                <a:cs typeface="Arial"/>
              </a:rPr>
              <a:t> </a:t>
            </a:r>
            <a:r>
              <a:rPr sz="1800" b="1" i="1" spc="-10" dirty="0">
                <a:solidFill>
                  <a:srgbClr val="FF0000"/>
                </a:solidFill>
                <a:latin typeface="Arial"/>
                <a:cs typeface="Arial"/>
              </a:rPr>
              <a:t>Slide-</a:t>
            </a:r>
            <a:r>
              <a:rPr sz="1800" b="1" i="1" spc="-25" dirty="0">
                <a:solidFill>
                  <a:srgbClr val="FF0000"/>
                </a:solidFill>
                <a:latin typeface="Arial"/>
                <a:cs typeface="Arial"/>
              </a:rPr>
              <a:t>22</a:t>
            </a:r>
            <a:endParaRPr sz="1800">
              <a:latin typeface="Arial"/>
              <a:cs typeface="Arial"/>
            </a:endParaRPr>
          </a:p>
          <a:p>
            <a:pPr marL="756285" lvl="1" indent="-286385">
              <a:lnSpc>
                <a:spcPct val="100000"/>
              </a:lnSpc>
              <a:spcBef>
                <a:spcPts val="760"/>
              </a:spcBef>
              <a:buClr>
                <a:srgbClr val="CC6600"/>
              </a:buClr>
              <a:buSzPct val="80555"/>
              <a:buFont typeface="Wingdings"/>
              <a:buChar char=""/>
              <a:tabLst>
                <a:tab pos="756285" algn="l"/>
              </a:tabLst>
            </a:pPr>
            <a:r>
              <a:rPr sz="1800" dirty="0">
                <a:solidFill>
                  <a:srgbClr val="FF0000"/>
                </a:solidFill>
                <a:latin typeface="Arial MT"/>
                <a:cs typeface="Arial MT"/>
              </a:rPr>
              <a:t>Dispatcher</a:t>
            </a:r>
            <a:r>
              <a:rPr sz="1800" spc="-35" dirty="0">
                <a:solidFill>
                  <a:srgbClr val="FF0000"/>
                </a:solidFill>
                <a:latin typeface="Arial MT"/>
                <a:cs typeface="Arial MT"/>
              </a:rPr>
              <a:t> </a:t>
            </a:r>
            <a:r>
              <a:rPr sz="1800" dirty="0">
                <a:solidFill>
                  <a:srgbClr val="FF0000"/>
                </a:solidFill>
                <a:latin typeface="Arial MT"/>
                <a:cs typeface="Arial MT"/>
              </a:rPr>
              <a:t>always</a:t>
            </a:r>
            <a:r>
              <a:rPr sz="1800" spc="5" dirty="0">
                <a:solidFill>
                  <a:srgbClr val="FF0000"/>
                </a:solidFill>
                <a:latin typeface="Arial MT"/>
                <a:cs typeface="Arial MT"/>
              </a:rPr>
              <a:t> </a:t>
            </a:r>
            <a:r>
              <a:rPr sz="1800" dirty="0">
                <a:solidFill>
                  <a:srgbClr val="FF0000"/>
                </a:solidFill>
                <a:latin typeface="Arial MT"/>
                <a:cs typeface="Arial MT"/>
              </a:rPr>
              <a:t>loads</a:t>
            </a:r>
            <a:r>
              <a:rPr sz="1800" spc="-35" dirty="0">
                <a:solidFill>
                  <a:srgbClr val="FF0000"/>
                </a:solidFill>
                <a:latin typeface="Arial MT"/>
                <a:cs typeface="Arial MT"/>
              </a:rPr>
              <a:t> </a:t>
            </a:r>
            <a:r>
              <a:rPr sz="1800" dirty="0">
                <a:solidFill>
                  <a:srgbClr val="FF0000"/>
                </a:solidFill>
                <a:latin typeface="Arial MT"/>
                <a:cs typeface="Arial MT"/>
              </a:rPr>
              <a:t>these</a:t>
            </a:r>
            <a:r>
              <a:rPr sz="1800" spc="-35" dirty="0">
                <a:solidFill>
                  <a:srgbClr val="FF0000"/>
                </a:solidFill>
                <a:latin typeface="Arial MT"/>
                <a:cs typeface="Arial MT"/>
              </a:rPr>
              <a:t> </a:t>
            </a:r>
            <a:r>
              <a:rPr sz="1800" dirty="0">
                <a:solidFill>
                  <a:srgbClr val="FF0000"/>
                </a:solidFill>
                <a:latin typeface="Arial MT"/>
                <a:cs typeface="Arial MT"/>
              </a:rPr>
              <a:t>two</a:t>
            </a:r>
            <a:r>
              <a:rPr sz="1800" spc="-15" dirty="0">
                <a:solidFill>
                  <a:srgbClr val="FF0000"/>
                </a:solidFill>
                <a:latin typeface="Arial MT"/>
                <a:cs typeface="Arial MT"/>
              </a:rPr>
              <a:t> </a:t>
            </a:r>
            <a:r>
              <a:rPr sz="1800" dirty="0">
                <a:solidFill>
                  <a:srgbClr val="FF0000"/>
                </a:solidFill>
                <a:latin typeface="Arial MT"/>
                <a:cs typeface="Arial MT"/>
              </a:rPr>
              <a:t>registers</a:t>
            </a:r>
            <a:r>
              <a:rPr sz="1800" spc="-45" dirty="0">
                <a:solidFill>
                  <a:srgbClr val="FF0000"/>
                </a:solidFill>
                <a:latin typeface="Arial MT"/>
                <a:cs typeface="Arial MT"/>
              </a:rPr>
              <a:t> </a:t>
            </a:r>
            <a:r>
              <a:rPr sz="1800" dirty="0">
                <a:solidFill>
                  <a:srgbClr val="FF0000"/>
                </a:solidFill>
                <a:latin typeface="Arial MT"/>
                <a:cs typeface="Arial MT"/>
              </a:rPr>
              <a:t>with their</a:t>
            </a:r>
            <a:r>
              <a:rPr sz="1800" spc="-40" dirty="0">
                <a:solidFill>
                  <a:srgbClr val="FF0000"/>
                </a:solidFill>
                <a:latin typeface="Arial MT"/>
                <a:cs typeface="Arial MT"/>
              </a:rPr>
              <a:t> </a:t>
            </a:r>
            <a:r>
              <a:rPr sz="1800" dirty="0">
                <a:solidFill>
                  <a:srgbClr val="FF0000"/>
                </a:solidFill>
                <a:latin typeface="Arial MT"/>
                <a:cs typeface="Arial MT"/>
              </a:rPr>
              <a:t>correct</a:t>
            </a:r>
            <a:r>
              <a:rPr sz="1800" spc="-40" dirty="0">
                <a:solidFill>
                  <a:srgbClr val="FF0000"/>
                </a:solidFill>
                <a:latin typeface="Arial MT"/>
                <a:cs typeface="Arial MT"/>
              </a:rPr>
              <a:t> </a:t>
            </a:r>
            <a:r>
              <a:rPr sz="1800" spc="-10" dirty="0">
                <a:solidFill>
                  <a:srgbClr val="FF0000"/>
                </a:solidFill>
                <a:latin typeface="Arial MT"/>
                <a:cs typeface="Arial MT"/>
              </a:rPr>
              <a:t>values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solidFill>
                  <a:srgbClr val="FF0000"/>
                </a:solidFill>
                <a:latin typeface="Arial MT"/>
                <a:cs typeface="Arial MT"/>
              </a:rPr>
              <a:t>All</a:t>
            </a:r>
            <a:r>
              <a:rPr sz="1800" spc="-40" dirty="0">
                <a:solidFill>
                  <a:srgbClr val="FF0000"/>
                </a:solidFill>
                <a:latin typeface="Arial MT"/>
                <a:cs typeface="Arial MT"/>
              </a:rPr>
              <a:t> </a:t>
            </a:r>
            <a:r>
              <a:rPr sz="1800" dirty="0">
                <a:solidFill>
                  <a:srgbClr val="FF0000"/>
                </a:solidFill>
                <a:latin typeface="Arial MT"/>
                <a:cs typeface="Arial MT"/>
              </a:rPr>
              <a:t>logical</a:t>
            </a:r>
            <a:r>
              <a:rPr sz="1800" spc="-10" dirty="0">
                <a:solidFill>
                  <a:srgbClr val="FF0000"/>
                </a:solidFill>
                <a:latin typeface="Arial MT"/>
                <a:cs typeface="Arial MT"/>
              </a:rPr>
              <a:t> </a:t>
            </a:r>
            <a:r>
              <a:rPr sz="1800" dirty="0">
                <a:solidFill>
                  <a:srgbClr val="FF0000"/>
                </a:solidFill>
                <a:latin typeface="Arial MT"/>
                <a:cs typeface="Arial MT"/>
              </a:rPr>
              <a:t>addresses</a:t>
            </a:r>
            <a:r>
              <a:rPr sz="1800" spc="-25" dirty="0">
                <a:solidFill>
                  <a:srgbClr val="FF0000"/>
                </a:solidFill>
                <a:latin typeface="Arial MT"/>
                <a:cs typeface="Arial MT"/>
              </a:rPr>
              <a:t> </a:t>
            </a:r>
            <a:r>
              <a:rPr sz="1800" dirty="0">
                <a:solidFill>
                  <a:srgbClr val="FF0000"/>
                </a:solidFill>
                <a:latin typeface="Arial MT"/>
                <a:cs typeface="Arial MT"/>
              </a:rPr>
              <a:t>are</a:t>
            </a:r>
            <a:r>
              <a:rPr sz="1800" spc="-25" dirty="0">
                <a:solidFill>
                  <a:srgbClr val="FF0000"/>
                </a:solidFill>
                <a:latin typeface="Arial MT"/>
                <a:cs typeface="Arial MT"/>
              </a:rPr>
              <a:t> </a:t>
            </a:r>
            <a:r>
              <a:rPr sz="1800" dirty="0">
                <a:solidFill>
                  <a:srgbClr val="FF0000"/>
                </a:solidFill>
                <a:latin typeface="Arial MT"/>
                <a:cs typeface="Arial MT"/>
              </a:rPr>
              <a:t>checked</a:t>
            </a:r>
            <a:r>
              <a:rPr sz="1800" spc="-25" dirty="0">
                <a:solidFill>
                  <a:srgbClr val="FF0000"/>
                </a:solidFill>
                <a:latin typeface="Arial MT"/>
                <a:cs typeface="Arial MT"/>
              </a:rPr>
              <a:t> </a:t>
            </a:r>
            <a:r>
              <a:rPr sz="1800" dirty="0">
                <a:solidFill>
                  <a:srgbClr val="FF0000"/>
                </a:solidFill>
                <a:latin typeface="Arial MT"/>
                <a:cs typeface="Arial MT"/>
              </a:rPr>
              <a:t>against</a:t>
            </a:r>
            <a:r>
              <a:rPr sz="1800" spc="-15" dirty="0">
                <a:solidFill>
                  <a:srgbClr val="FF0000"/>
                </a:solidFill>
                <a:latin typeface="Arial MT"/>
                <a:cs typeface="Arial MT"/>
              </a:rPr>
              <a:t> </a:t>
            </a:r>
            <a:r>
              <a:rPr sz="1800" dirty="0">
                <a:solidFill>
                  <a:srgbClr val="FF0000"/>
                </a:solidFill>
                <a:latin typeface="Arial MT"/>
                <a:cs typeface="Arial MT"/>
              </a:rPr>
              <a:t>these</a:t>
            </a:r>
            <a:r>
              <a:rPr sz="1800" spc="-30" dirty="0">
                <a:solidFill>
                  <a:srgbClr val="FF0000"/>
                </a:solidFill>
                <a:latin typeface="Arial MT"/>
                <a:cs typeface="Arial MT"/>
              </a:rPr>
              <a:t> </a:t>
            </a:r>
            <a:r>
              <a:rPr sz="1800" dirty="0">
                <a:solidFill>
                  <a:srgbClr val="FF0000"/>
                </a:solidFill>
                <a:latin typeface="Arial MT"/>
                <a:cs typeface="Arial MT"/>
              </a:rPr>
              <a:t>two </a:t>
            </a:r>
            <a:r>
              <a:rPr sz="1800" spc="-10" dirty="0">
                <a:solidFill>
                  <a:srgbClr val="FF0000"/>
                </a:solidFill>
                <a:latin typeface="Arial MT"/>
                <a:cs typeface="Arial MT"/>
              </a:rPr>
              <a:t>registers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solidFill>
                  <a:srgbClr val="FF0000"/>
                </a:solidFill>
                <a:latin typeface="Arial MT"/>
                <a:cs typeface="Arial MT"/>
              </a:rPr>
              <a:t>Thus,</a:t>
            </a:r>
            <a:r>
              <a:rPr sz="1800" spc="-25" dirty="0">
                <a:solidFill>
                  <a:srgbClr val="FF0000"/>
                </a:solidFill>
                <a:latin typeface="Arial MT"/>
                <a:cs typeface="Arial MT"/>
              </a:rPr>
              <a:t> </a:t>
            </a:r>
            <a:r>
              <a:rPr sz="1800" dirty="0">
                <a:solidFill>
                  <a:srgbClr val="FF0000"/>
                </a:solidFill>
                <a:latin typeface="Arial MT"/>
                <a:cs typeface="Arial MT"/>
              </a:rPr>
              <a:t>protecting</a:t>
            </a:r>
            <a:r>
              <a:rPr sz="1800" spc="-20" dirty="0">
                <a:solidFill>
                  <a:srgbClr val="FF0000"/>
                </a:solidFill>
                <a:latin typeface="Arial MT"/>
                <a:cs typeface="Arial MT"/>
              </a:rPr>
              <a:t> </a:t>
            </a:r>
            <a:r>
              <a:rPr sz="1800" dirty="0">
                <a:solidFill>
                  <a:srgbClr val="FF0000"/>
                </a:solidFill>
                <a:latin typeface="Arial MT"/>
                <a:cs typeface="Arial MT"/>
              </a:rPr>
              <a:t>both</a:t>
            </a:r>
            <a:r>
              <a:rPr sz="1800" spc="-20" dirty="0">
                <a:solidFill>
                  <a:srgbClr val="FF0000"/>
                </a:solidFill>
                <a:latin typeface="Arial MT"/>
                <a:cs typeface="Arial MT"/>
              </a:rPr>
              <a:t> </a:t>
            </a:r>
            <a:r>
              <a:rPr sz="1800" dirty="0">
                <a:solidFill>
                  <a:srgbClr val="FF0000"/>
                </a:solidFill>
                <a:latin typeface="Arial MT"/>
                <a:cs typeface="Arial MT"/>
              </a:rPr>
              <a:t>each</a:t>
            </a:r>
            <a:r>
              <a:rPr sz="1800" spc="-20" dirty="0">
                <a:solidFill>
                  <a:srgbClr val="FF0000"/>
                </a:solidFill>
                <a:latin typeface="Arial MT"/>
                <a:cs typeface="Arial MT"/>
              </a:rPr>
              <a:t> </a:t>
            </a:r>
            <a:r>
              <a:rPr sz="1800" dirty="0">
                <a:solidFill>
                  <a:srgbClr val="FF0000"/>
                </a:solidFill>
                <a:latin typeface="Arial MT"/>
                <a:cs typeface="Arial MT"/>
              </a:rPr>
              <a:t>OS</a:t>
            </a:r>
            <a:r>
              <a:rPr sz="1800" spc="-30"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dirty="0">
                <a:solidFill>
                  <a:srgbClr val="FF0000"/>
                </a:solidFill>
                <a:latin typeface="Arial MT"/>
                <a:cs typeface="Arial MT"/>
              </a:rPr>
              <a:t>each</a:t>
            </a:r>
            <a:r>
              <a:rPr sz="1800" spc="-20" dirty="0">
                <a:solidFill>
                  <a:srgbClr val="FF0000"/>
                </a:solidFill>
                <a:latin typeface="Arial MT"/>
                <a:cs typeface="Arial MT"/>
              </a:rPr>
              <a:t> </a:t>
            </a:r>
            <a:r>
              <a:rPr sz="1800" dirty="0">
                <a:solidFill>
                  <a:srgbClr val="FF0000"/>
                </a:solidFill>
                <a:latin typeface="Arial MT"/>
                <a:cs typeface="Arial MT"/>
              </a:rPr>
              <a:t>user</a:t>
            </a:r>
            <a:r>
              <a:rPr sz="1800" spc="-20" dirty="0">
                <a:solidFill>
                  <a:srgbClr val="FF0000"/>
                </a:solidFill>
                <a:latin typeface="Arial MT"/>
                <a:cs typeface="Arial MT"/>
              </a:rPr>
              <a:t> </a:t>
            </a:r>
            <a:r>
              <a:rPr sz="1800" dirty="0">
                <a:solidFill>
                  <a:srgbClr val="FF0000"/>
                </a:solidFill>
                <a:latin typeface="Arial MT"/>
                <a:cs typeface="Arial MT"/>
              </a:rPr>
              <a:t>program</a:t>
            </a:r>
            <a:r>
              <a:rPr sz="1800" spc="-10" dirty="0">
                <a:solidFill>
                  <a:srgbClr val="FF0000"/>
                </a:solidFill>
                <a:latin typeface="Arial MT"/>
                <a:cs typeface="Arial MT"/>
              </a:rPr>
              <a:t> </a:t>
            </a:r>
            <a:r>
              <a:rPr sz="1800" dirty="0">
                <a:solidFill>
                  <a:srgbClr val="FF0000"/>
                </a:solidFill>
                <a:latin typeface="Arial MT"/>
                <a:cs typeface="Arial MT"/>
              </a:rPr>
              <a:t>and</a:t>
            </a:r>
            <a:r>
              <a:rPr sz="1800" spc="-25" dirty="0">
                <a:solidFill>
                  <a:srgbClr val="FF0000"/>
                </a:solidFill>
                <a:latin typeface="Arial MT"/>
                <a:cs typeface="Arial MT"/>
              </a:rPr>
              <a:t> </a:t>
            </a:r>
            <a:r>
              <a:rPr sz="1800" spc="-20" dirty="0">
                <a:solidFill>
                  <a:srgbClr val="FF0000"/>
                </a:solidFill>
                <a:latin typeface="Arial MT"/>
                <a:cs typeface="Arial MT"/>
              </a:rPr>
              <a:t>data</a:t>
            </a:r>
            <a:endParaRPr sz="1800">
              <a:latin typeface="Arial MT"/>
              <a:cs typeface="Arial MT"/>
            </a:endParaRPr>
          </a:p>
          <a:p>
            <a:pPr marL="756285" marR="5080" lvl="1" indent="-287020">
              <a:lnSpc>
                <a:spcPct val="100000"/>
              </a:lnSpc>
              <a:spcBef>
                <a:spcPts val="760"/>
              </a:spcBef>
              <a:buClr>
                <a:srgbClr val="CC6600"/>
              </a:buClr>
              <a:buSzPct val="80555"/>
              <a:buFont typeface="Wingdings"/>
              <a:buChar char=""/>
              <a:tabLst>
                <a:tab pos="756285" algn="l"/>
              </a:tabLst>
            </a:pPr>
            <a:r>
              <a:rPr sz="1800" dirty="0">
                <a:latin typeface="Arial MT"/>
                <a:cs typeface="Arial MT"/>
              </a:rPr>
              <a:t>This</a:t>
            </a:r>
            <a:r>
              <a:rPr sz="1800" spc="-40" dirty="0">
                <a:latin typeface="Arial MT"/>
                <a:cs typeface="Arial MT"/>
              </a:rPr>
              <a:t> </a:t>
            </a:r>
            <a:r>
              <a:rPr sz="1800" spc="-10" dirty="0">
                <a:latin typeface="Arial MT"/>
                <a:cs typeface="Arial MT"/>
              </a:rPr>
              <a:t>relocation-</a:t>
            </a:r>
            <a:r>
              <a:rPr sz="1800" dirty="0">
                <a:latin typeface="Arial MT"/>
                <a:cs typeface="Arial MT"/>
              </a:rPr>
              <a:t>register protection</a:t>
            </a:r>
            <a:r>
              <a:rPr sz="1800" spc="-20" dirty="0">
                <a:latin typeface="Arial MT"/>
                <a:cs typeface="Arial MT"/>
              </a:rPr>
              <a:t> </a:t>
            </a:r>
            <a:r>
              <a:rPr sz="1800" dirty="0">
                <a:latin typeface="Arial MT"/>
                <a:cs typeface="Arial MT"/>
              </a:rPr>
              <a:t>scheme</a:t>
            </a:r>
            <a:r>
              <a:rPr sz="1800" spc="-30" dirty="0">
                <a:latin typeface="Arial MT"/>
                <a:cs typeface="Arial MT"/>
              </a:rPr>
              <a:t> </a:t>
            </a:r>
            <a:r>
              <a:rPr sz="1800" dirty="0">
                <a:latin typeface="Arial MT"/>
                <a:cs typeface="Arial MT"/>
              </a:rPr>
              <a:t>allows</a:t>
            </a:r>
            <a:r>
              <a:rPr sz="1800" spc="30" dirty="0">
                <a:latin typeface="Arial MT"/>
                <a:cs typeface="Arial MT"/>
              </a:rPr>
              <a:t> </a:t>
            </a:r>
            <a:r>
              <a:rPr sz="1800" dirty="0">
                <a:latin typeface="Arial MT"/>
                <a:cs typeface="Arial MT"/>
              </a:rPr>
              <a:t>actions</a:t>
            </a:r>
            <a:r>
              <a:rPr sz="1800" spc="-30" dirty="0">
                <a:latin typeface="Arial MT"/>
                <a:cs typeface="Arial MT"/>
              </a:rPr>
              <a:t> </a:t>
            </a:r>
            <a:r>
              <a:rPr sz="1800" dirty="0">
                <a:latin typeface="Arial MT"/>
                <a:cs typeface="Arial MT"/>
              </a:rPr>
              <a:t>such</a:t>
            </a:r>
            <a:r>
              <a:rPr sz="1800" spc="-20" dirty="0">
                <a:latin typeface="Arial MT"/>
                <a:cs typeface="Arial MT"/>
              </a:rPr>
              <a:t> </a:t>
            </a:r>
            <a:r>
              <a:rPr sz="1800" dirty="0">
                <a:latin typeface="Arial MT"/>
                <a:cs typeface="Arial MT"/>
              </a:rPr>
              <a:t>as</a:t>
            </a:r>
            <a:r>
              <a:rPr sz="1800" spc="-30" dirty="0">
                <a:latin typeface="Arial MT"/>
                <a:cs typeface="Arial MT"/>
              </a:rPr>
              <a:t> </a:t>
            </a:r>
            <a:r>
              <a:rPr sz="1800" dirty="0">
                <a:latin typeface="Arial MT"/>
                <a:cs typeface="Arial MT"/>
              </a:rPr>
              <a:t>kernel</a:t>
            </a:r>
            <a:r>
              <a:rPr sz="1800" spc="-15" dirty="0">
                <a:latin typeface="Arial MT"/>
                <a:cs typeface="Arial MT"/>
              </a:rPr>
              <a:t> </a:t>
            </a:r>
            <a:r>
              <a:rPr sz="1800" spc="-20" dirty="0">
                <a:latin typeface="Arial MT"/>
                <a:cs typeface="Arial MT"/>
              </a:rPr>
              <a:t>code </a:t>
            </a:r>
            <a:r>
              <a:rPr sz="1800" dirty="0">
                <a:latin typeface="Arial MT"/>
                <a:cs typeface="Arial MT"/>
              </a:rPr>
              <a:t>being</a:t>
            </a:r>
            <a:r>
              <a:rPr sz="1800" spc="-30" dirty="0">
                <a:latin typeface="Arial MT"/>
                <a:cs typeface="Arial MT"/>
              </a:rPr>
              <a:t> </a:t>
            </a:r>
            <a:r>
              <a:rPr sz="1800" b="1" dirty="0">
                <a:solidFill>
                  <a:srgbClr val="0000FF"/>
                </a:solidFill>
                <a:latin typeface="Arial"/>
                <a:cs typeface="Arial"/>
              </a:rPr>
              <a:t>transient</a:t>
            </a:r>
            <a:r>
              <a:rPr sz="1800" b="1" spc="-15" dirty="0">
                <a:solidFill>
                  <a:srgbClr val="0000FF"/>
                </a:solidFill>
                <a:latin typeface="Arial"/>
                <a:cs typeface="Arial"/>
              </a:rPr>
              <a:t> </a:t>
            </a:r>
            <a:r>
              <a:rPr sz="1800" dirty="0">
                <a:latin typeface="Arial MT"/>
                <a:cs typeface="Arial MT"/>
              </a:rPr>
              <a:t>and</a:t>
            </a:r>
            <a:r>
              <a:rPr sz="1800" spc="-20" dirty="0">
                <a:latin typeface="Arial MT"/>
                <a:cs typeface="Arial MT"/>
              </a:rPr>
              <a:t> </a:t>
            </a:r>
            <a:r>
              <a:rPr sz="1800" dirty="0">
                <a:latin typeface="Arial MT"/>
                <a:cs typeface="Arial MT"/>
              </a:rPr>
              <a:t>kernel</a:t>
            </a:r>
            <a:r>
              <a:rPr sz="1800" spc="-20" dirty="0">
                <a:latin typeface="Arial MT"/>
                <a:cs typeface="Arial MT"/>
              </a:rPr>
              <a:t> </a:t>
            </a:r>
            <a:r>
              <a:rPr sz="1800" dirty="0">
                <a:latin typeface="Arial MT"/>
                <a:cs typeface="Arial MT"/>
              </a:rPr>
              <a:t>changing</a:t>
            </a:r>
            <a:r>
              <a:rPr sz="1800" spc="-10" dirty="0">
                <a:latin typeface="Arial MT"/>
                <a:cs typeface="Arial MT"/>
              </a:rPr>
              <a:t> </a:t>
            </a:r>
            <a:r>
              <a:rPr sz="1800" dirty="0">
                <a:latin typeface="Arial MT"/>
                <a:cs typeface="Arial MT"/>
              </a:rPr>
              <a:t>size</a:t>
            </a:r>
            <a:r>
              <a:rPr sz="1800" spc="-15" dirty="0">
                <a:latin typeface="Arial MT"/>
                <a:cs typeface="Arial MT"/>
              </a:rPr>
              <a:t> </a:t>
            </a:r>
            <a:r>
              <a:rPr sz="1800" b="1" i="1" spc="-10" dirty="0">
                <a:solidFill>
                  <a:srgbClr val="FF0000"/>
                </a:solidFill>
                <a:latin typeface="Arial"/>
                <a:cs typeface="Arial"/>
              </a:rPr>
              <a:t>dynamically</a:t>
            </a:r>
            <a:endParaRPr sz="1800">
              <a:latin typeface="Arial"/>
              <a:cs typeface="Arial"/>
            </a:endParaRPr>
          </a:p>
          <a:p>
            <a:pPr marL="1097915" lvl="2" indent="-227965">
              <a:lnSpc>
                <a:spcPct val="100000"/>
              </a:lnSpc>
              <a:spcBef>
                <a:spcPts val="755"/>
              </a:spcBef>
              <a:buClr>
                <a:srgbClr val="009900"/>
              </a:buClr>
              <a:buSzPct val="75000"/>
              <a:buFont typeface="Webdings"/>
              <a:buChar char=""/>
              <a:tabLst>
                <a:tab pos="1097915" algn="l"/>
                <a:tab pos="1213485" algn="l"/>
              </a:tabLst>
            </a:pPr>
            <a:r>
              <a:rPr sz="1800" dirty="0">
                <a:solidFill>
                  <a:srgbClr val="FF0000"/>
                </a:solidFill>
                <a:latin typeface="Arial MT"/>
                <a:cs typeface="Arial MT"/>
              </a:rPr>
              <a:t>Unused</a:t>
            </a:r>
            <a:r>
              <a:rPr sz="1800" spc="-20" dirty="0">
                <a:solidFill>
                  <a:srgbClr val="FF0000"/>
                </a:solidFill>
                <a:latin typeface="Arial MT"/>
                <a:cs typeface="Arial MT"/>
              </a:rPr>
              <a:t> </a:t>
            </a:r>
            <a:r>
              <a:rPr sz="1800" dirty="0">
                <a:solidFill>
                  <a:srgbClr val="FF0000"/>
                </a:solidFill>
                <a:latin typeface="Arial MT"/>
                <a:cs typeface="Arial MT"/>
              </a:rPr>
              <a:t>kernel</a:t>
            </a:r>
            <a:r>
              <a:rPr sz="1800" spc="-15" dirty="0">
                <a:solidFill>
                  <a:srgbClr val="FF0000"/>
                </a:solidFill>
                <a:latin typeface="Arial MT"/>
                <a:cs typeface="Arial MT"/>
              </a:rPr>
              <a:t> </a:t>
            </a:r>
            <a:r>
              <a:rPr sz="1800" dirty="0">
                <a:solidFill>
                  <a:srgbClr val="FF0000"/>
                </a:solidFill>
                <a:latin typeface="Arial MT"/>
                <a:cs typeface="Arial MT"/>
              </a:rPr>
              <a:t>code</a:t>
            </a:r>
            <a:r>
              <a:rPr sz="1800" spc="-20" dirty="0">
                <a:solidFill>
                  <a:srgbClr val="FF0000"/>
                </a:solidFill>
                <a:latin typeface="Arial MT"/>
                <a:cs typeface="Arial MT"/>
              </a:rPr>
              <a:t> </a:t>
            </a:r>
            <a:r>
              <a:rPr sz="1800" dirty="0">
                <a:solidFill>
                  <a:srgbClr val="FF0000"/>
                </a:solidFill>
                <a:latin typeface="Arial MT"/>
                <a:cs typeface="Arial MT"/>
              </a:rPr>
              <a:t>and</a:t>
            </a:r>
            <a:r>
              <a:rPr sz="1800" spc="-15" dirty="0">
                <a:solidFill>
                  <a:srgbClr val="FF0000"/>
                </a:solidFill>
                <a:latin typeface="Arial MT"/>
                <a:cs typeface="Arial MT"/>
              </a:rPr>
              <a:t> </a:t>
            </a:r>
            <a:r>
              <a:rPr sz="1800" dirty="0">
                <a:solidFill>
                  <a:srgbClr val="FF0000"/>
                </a:solidFill>
                <a:latin typeface="Arial MT"/>
                <a:cs typeface="Arial MT"/>
              </a:rPr>
              <a:t>data</a:t>
            </a:r>
            <a:r>
              <a:rPr sz="1800" spc="-25" dirty="0">
                <a:solidFill>
                  <a:srgbClr val="FF0000"/>
                </a:solidFill>
                <a:latin typeface="Arial MT"/>
                <a:cs typeface="Arial MT"/>
              </a:rPr>
              <a:t> </a:t>
            </a:r>
            <a:r>
              <a:rPr sz="1800" dirty="0">
                <a:solidFill>
                  <a:srgbClr val="FF0000"/>
                </a:solidFill>
                <a:latin typeface="Arial MT"/>
                <a:cs typeface="Arial MT"/>
              </a:rPr>
              <a:t>need</a:t>
            </a:r>
            <a:r>
              <a:rPr sz="1800" spc="-15" dirty="0">
                <a:solidFill>
                  <a:srgbClr val="FF0000"/>
                </a:solidFill>
                <a:latin typeface="Arial MT"/>
                <a:cs typeface="Arial MT"/>
              </a:rPr>
              <a:t> </a:t>
            </a:r>
            <a:r>
              <a:rPr sz="1800" dirty="0">
                <a:solidFill>
                  <a:srgbClr val="FF0000"/>
                </a:solidFill>
                <a:latin typeface="Arial MT"/>
                <a:cs typeface="Arial MT"/>
              </a:rPr>
              <a:t>not</a:t>
            </a:r>
            <a:r>
              <a:rPr sz="1800" spc="-20" dirty="0">
                <a:solidFill>
                  <a:srgbClr val="FF0000"/>
                </a:solidFill>
                <a:latin typeface="Arial MT"/>
                <a:cs typeface="Arial MT"/>
              </a:rPr>
              <a:t> </a:t>
            </a:r>
            <a:r>
              <a:rPr sz="1800" dirty="0">
                <a:solidFill>
                  <a:srgbClr val="FF0000"/>
                </a:solidFill>
                <a:latin typeface="Arial MT"/>
                <a:cs typeface="Arial MT"/>
              </a:rPr>
              <a:t>be</a:t>
            </a:r>
            <a:r>
              <a:rPr sz="1800" spc="-30" dirty="0">
                <a:solidFill>
                  <a:srgbClr val="FF0000"/>
                </a:solidFill>
                <a:latin typeface="Arial MT"/>
                <a:cs typeface="Arial MT"/>
              </a:rPr>
              <a:t> </a:t>
            </a:r>
            <a:r>
              <a:rPr sz="1800" dirty="0">
                <a:solidFill>
                  <a:srgbClr val="FF0000"/>
                </a:solidFill>
                <a:latin typeface="Arial MT"/>
                <a:cs typeface="Arial MT"/>
              </a:rPr>
              <a:t>in</a:t>
            </a:r>
            <a:r>
              <a:rPr sz="1800" spc="-15" dirty="0">
                <a:solidFill>
                  <a:srgbClr val="FF0000"/>
                </a:solidFill>
                <a:latin typeface="Arial MT"/>
                <a:cs typeface="Arial MT"/>
              </a:rPr>
              <a:t> </a:t>
            </a:r>
            <a:r>
              <a:rPr sz="1800" dirty="0">
                <a:solidFill>
                  <a:srgbClr val="FF0000"/>
                </a:solidFill>
                <a:latin typeface="Arial MT"/>
                <a:cs typeface="Arial MT"/>
              </a:rPr>
              <a:t>memory</a:t>
            </a:r>
            <a:r>
              <a:rPr sz="1800" spc="-25" dirty="0">
                <a:solidFill>
                  <a:srgbClr val="FF0000"/>
                </a:solidFill>
                <a:latin typeface="Arial MT"/>
                <a:cs typeface="Arial MT"/>
              </a:rPr>
              <a:t> </a:t>
            </a:r>
            <a:r>
              <a:rPr sz="1800" dirty="0">
                <a:solidFill>
                  <a:srgbClr val="FF0000"/>
                </a:solidFill>
                <a:latin typeface="Arial MT"/>
                <a:cs typeface="Arial MT"/>
              </a:rPr>
              <a:t>until</a:t>
            </a:r>
            <a:r>
              <a:rPr sz="1800" spc="-15" dirty="0">
                <a:solidFill>
                  <a:srgbClr val="FF0000"/>
                </a:solidFill>
                <a:latin typeface="Arial MT"/>
                <a:cs typeface="Arial MT"/>
              </a:rPr>
              <a:t> </a:t>
            </a:r>
            <a:r>
              <a:rPr sz="1800" spc="-10" dirty="0">
                <a:solidFill>
                  <a:srgbClr val="FF0000"/>
                </a:solidFill>
                <a:latin typeface="Arial MT"/>
                <a:cs typeface="Arial MT"/>
              </a:rPr>
              <a:t>needed</a:t>
            </a:r>
            <a:endParaRPr sz="1800">
              <a:latin typeface="Arial MT"/>
              <a:cs typeface="Arial MT"/>
            </a:endParaRPr>
          </a:p>
          <a:p>
            <a:pPr marL="1442085" lvl="3" indent="-228600">
              <a:lnSpc>
                <a:spcPct val="100000"/>
              </a:lnSpc>
              <a:spcBef>
                <a:spcPts val="680"/>
              </a:spcBef>
              <a:buClr>
                <a:srgbClr val="FFCC00"/>
              </a:buClr>
              <a:buSzPct val="75000"/>
              <a:buChar char="–"/>
              <a:tabLst>
                <a:tab pos="1442085" algn="l"/>
              </a:tabLst>
            </a:pPr>
            <a:r>
              <a:rPr sz="1600" dirty="0">
                <a:solidFill>
                  <a:srgbClr val="FF0000"/>
                </a:solidFill>
                <a:latin typeface="Arial MT"/>
                <a:cs typeface="Arial MT"/>
              </a:rPr>
              <a:t>Example:</a:t>
            </a:r>
            <a:r>
              <a:rPr sz="1600" spc="-15" dirty="0">
                <a:solidFill>
                  <a:srgbClr val="FF0000"/>
                </a:solidFill>
                <a:latin typeface="Arial MT"/>
                <a:cs typeface="Arial MT"/>
              </a:rPr>
              <a:t> </a:t>
            </a:r>
            <a:r>
              <a:rPr sz="1600" spc="-10" dirty="0">
                <a:solidFill>
                  <a:srgbClr val="FF0000"/>
                </a:solidFill>
                <a:latin typeface="Arial MT"/>
                <a:cs typeface="Arial MT"/>
              </a:rPr>
              <a:t>un-</a:t>
            </a:r>
            <a:r>
              <a:rPr sz="1600" dirty="0">
                <a:solidFill>
                  <a:srgbClr val="FF0000"/>
                </a:solidFill>
                <a:latin typeface="Arial MT"/>
                <a:cs typeface="Arial MT"/>
              </a:rPr>
              <a:t>used</a:t>
            </a:r>
            <a:r>
              <a:rPr sz="1600" spc="-30" dirty="0">
                <a:solidFill>
                  <a:srgbClr val="FF0000"/>
                </a:solidFill>
                <a:latin typeface="Arial MT"/>
                <a:cs typeface="Arial MT"/>
              </a:rPr>
              <a:t> </a:t>
            </a:r>
            <a:r>
              <a:rPr sz="1600" dirty="0">
                <a:solidFill>
                  <a:srgbClr val="FF0000"/>
                </a:solidFill>
                <a:latin typeface="Arial MT"/>
                <a:cs typeface="Arial MT"/>
              </a:rPr>
              <a:t>device</a:t>
            </a:r>
            <a:r>
              <a:rPr sz="1600" spc="-40" dirty="0">
                <a:solidFill>
                  <a:srgbClr val="FF0000"/>
                </a:solidFill>
                <a:latin typeface="Arial MT"/>
                <a:cs typeface="Arial MT"/>
              </a:rPr>
              <a:t> </a:t>
            </a:r>
            <a:r>
              <a:rPr sz="1600" dirty="0">
                <a:solidFill>
                  <a:srgbClr val="FF0000"/>
                </a:solidFill>
                <a:latin typeface="Arial MT"/>
                <a:cs typeface="Arial MT"/>
              </a:rPr>
              <a:t>driver</a:t>
            </a:r>
            <a:r>
              <a:rPr sz="1600" spc="-20" dirty="0">
                <a:solidFill>
                  <a:srgbClr val="FF0000"/>
                </a:solidFill>
                <a:latin typeface="Arial MT"/>
                <a:cs typeface="Arial MT"/>
              </a:rPr>
              <a:t> </a:t>
            </a:r>
            <a:r>
              <a:rPr sz="1600" dirty="0">
                <a:solidFill>
                  <a:srgbClr val="FF0000"/>
                </a:solidFill>
                <a:latin typeface="Arial MT"/>
                <a:cs typeface="Arial MT"/>
              </a:rPr>
              <a:t>code</a:t>
            </a:r>
            <a:r>
              <a:rPr sz="1600" spc="-30" dirty="0">
                <a:solidFill>
                  <a:srgbClr val="FF0000"/>
                </a:solidFill>
                <a:latin typeface="Arial MT"/>
                <a:cs typeface="Arial MT"/>
              </a:rPr>
              <a:t> </a:t>
            </a:r>
            <a:r>
              <a:rPr sz="1600" dirty="0">
                <a:solidFill>
                  <a:srgbClr val="FF0000"/>
                </a:solidFill>
                <a:latin typeface="Arial MT"/>
                <a:cs typeface="Arial MT"/>
              </a:rPr>
              <a:t>need</a:t>
            </a:r>
            <a:r>
              <a:rPr sz="1600" spc="-15" dirty="0">
                <a:solidFill>
                  <a:srgbClr val="FF0000"/>
                </a:solidFill>
                <a:latin typeface="Arial MT"/>
                <a:cs typeface="Arial MT"/>
              </a:rPr>
              <a:t> </a:t>
            </a:r>
            <a:r>
              <a:rPr sz="1600" dirty="0">
                <a:solidFill>
                  <a:srgbClr val="FF0000"/>
                </a:solidFill>
                <a:latin typeface="Arial MT"/>
                <a:cs typeface="Arial MT"/>
              </a:rPr>
              <a:t>not</a:t>
            </a:r>
            <a:r>
              <a:rPr sz="1600" spc="-25" dirty="0">
                <a:solidFill>
                  <a:srgbClr val="FF0000"/>
                </a:solidFill>
                <a:latin typeface="Arial MT"/>
                <a:cs typeface="Arial MT"/>
              </a:rPr>
              <a:t> </a:t>
            </a:r>
            <a:r>
              <a:rPr sz="1600" dirty="0">
                <a:solidFill>
                  <a:srgbClr val="FF0000"/>
                </a:solidFill>
                <a:latin typeface="Arial MT"/>
                <a:cs typeface="Arial MT"/>
              </a:rPr>
              <a:t>be</a:t>
            </a:r>
            <a:r>
              <a:rPr sz="1600" spc="-15" dirty="0">
                <a:solidFill>
                  <a:srgbClr val="FF0000"/>
                </a:solidFill>
                <a:latin typeface="Arial MT"/>
                <a:cs typeface="Arial MT"/>
              </a:rPr>
              <a:t> </a:t>
            </a:r>
            <a:r>
              <a:rPr sz="1600" dirty="0">
                <a:solidFill>
                  <a:srgbClr val="FF0000"/>
                </a:solidFill>
                <a:latin typeface="Arial MT"/>
                <a:cs typeface="Arial MT"/>
              </a:rPr>
              <a:t>kept</a:t>
            </a:r>
            <a:r>
              <a:rPr sz="1600" spc="-30" dirty="0">
                <a:solidFill>
                  <a:srgbClr val="FF0000"/>
                </a:solidFill>
                <a:latin typeface="Arial MT"/>
                <a:cs typeface="Arial MT"/>
              </a:rPr>
              <a:t> </a:t>
            </a:r>
            <a:r>
              <a:rPr sz="1600" dirty="0">
                <a:solidFill>
                  <a:srgbClr val="FF0000"/>
                </a:solidFill>
                <a:latin typeface="Arial MT"/>
                <a:cs typeface="Arial MT"/>
              </a:rPr>
              <a:t>in</a:t>
            </a:r>
            <a:r>
              <a:rPr sz="1600" spc="-30" dirty="0">
                <a:solidFill>
                  <a:srgbClr val="FF0000"/>
                </a:solidFill>
                <a:latin typeface="Arial MT"/>
                <a:cs typeface="Arial MT"/>
              </a:rPr>
              <a:t> </a:t>
            </a:r>
            <a:r>
              <a:rPr sz="1600" spc="-10" dirty="0">
                <a:solidFill>
                  <a:srgbClr val="FF0000"/>
                </a:solidFill>
                <a:latin typeface="Arial MT"/>
                <a:cs typeface="Arial MT"/>
              </a:rPr>
              <a:t>memory</a:t>
            </a:r>
            <a:endParaRPr sz="1600">
              <a:latin typeface="Arial MT"/>
              <a:cs typeface="Arial MT"/>
            </a:endParaRPr>
          </a:p>
        </p:txBody>
      </p:sp>
    </p:spTree>
    <p:extLst>
      <p:ext uri="{BB962C8B-B14F-4D97-AF65-F5344CB8AC3E}">
        <p14:creationId xmlns:p14="http://schemas.microsoft.com/office/powerpoint/2010/main" val="3192473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028700"/>
            <a:ext cx="8801100" cy="5657850"/>
          </a:xfrm>
          <a:prstGeom prst="rect">
            <a:avLst/>
          </a:prstGeom>
        </p:spPr>
      </p:pic>
      <p:sp>
        <p:nvSpPr>
          <p:cNvPr id="3" name="object 3"/>
          <p:cNvSpPr txBox="1">
            <a:spLocks noGrp="1"/>
          </p:cNvSpPr>
          <p:nvPr>
            <p:ph type="title"/>
          </p:nvPr>
        </p:nvSpPr>
        <p:spPr>
          <a:prstGeom prst="rect">
            <a:avLst/>
          </a:prstGeom>
        </p:spPr>
        <p:txBody>
          <a:bodyPr vert="horz" wrap="square" lIns="0" tIns="262890" rIns="0" bIns="0" rtlCol="0">
            <a:spAutoFit/>
          </a:bodyPr>
          <a:lstStyle/>
          <a:p>
            <a:pPr marL="1327150">
              <a:lnSpc>
                <a:spcPct val="100000"/>
              </a:lnSpc>
              <a:spcBef>
                <a:spcPts val="100"/>
              </a:spcBef>
            </a:pPr>
            <a:r>
              <a:rPr sz="2400" dirty="0">
                <a:solidFill>
                  <a:srgbClr val="006699"/>
                </a:solidFill>
              </a:rPr>
              <a:t>Hardware</a:t>
            </a:r>
            <a:r>
              <a:rPr sz="2400" spc="-35" dirty="0">
                <a:solidFill>
                  <a:srgbClr val="006699"/>
                </a:solidFill>
              </a:rPr>
              <a:t> </a:t>
            </a:r>
            <a:r>
              <a:rPr sz="2400" dirty="0">
                <a:solidFill>
                  <a:srgbClr val="006699"/>
                </a:solidFill>
              </a:rPr>
              <a:t>Support</a:t>
            </a:r>
            <a:r>
              <a:rPr sz="2400" spc="-35" dirty="0">
                <a:solidFill>
                  <a:srgbClr val="006699"/>
                </a:solidFill>
              </a:rPr>
              <a:t> </a:t>
            </a:r>
            <a:r>
              <a:rPr sz="2400" dirty="0">
                <a:solidFill>
                  <a:srgbClr val="006699"/>
                </a:solidFill>
              </a:rPr>
              <a:t>for</a:t>
            </a:r>
            <a:r>
              <a:rPr sz="2400" spc="-45" dirty="0">
                <a:solidFill>
                  <a:srgbClr val="006699"/>
                </a:solidFill>
              </a:rPr>
              <a:t> </a:t>
            </a:r>
            <a:r>
              <a:rPr sz="2400" dirty="0">
                <a:solidFill>
                  <a:srgbClr val="006699"/>
                </a:solidFill>
              </a:rPr>
              <a:t>Relocation</a:t>
            </a:r>
            <a:r>
              <a:rPr sz="2400" spc="-25" dirty="0">
                <a:solidFill>
                  <a:srgbClr val="006699"/>
                </a:solidFill>
              </a:rPr>
              <a:t> </a:t>
            </a:r>
            <a:r>
              <a:rPr sz="2400" dirty="0">
                <a:solidFill>
                  <a:srgbClr val="006699"/>
                </a:solidFill>
              </a:rPr>
              <a:t>and</a:t>
            </a:r>
            <a:r>
              <a:rPr sz="2400" spc="-45" dirty="0">
                <a:solidFill>
                  <a:srgbClr val="006699"/>
                </a:solidFill>
              </a:rPr>
              <a:t> </a:t>
            </a:r>
            <a:r>
              <a:rPr sz="2400" dirty="0">
                <a:solidFill>
                  <a:srgbClr val="006699"/>
                </a:solidFill>
              </a:rPr>
              <a:t>Limit</a:t>
            </a:r>
            <a:r>
              <a:rPr sz="2400" spc="-55" dirty="0">
                <a:solidFill>
                  <a:srgbClr val="006699"/>
                </a:solidFill>
              </a:rPr>
              <a:t> </a:t>
            </a:r>
            <a:r>
              <a:rPr sz="2400" spc="-10" dirty="0">
                <a:solidFill>
                  <a:srgbClr val="006699"/>
                </a:solidFill>
              </a:rPr>
              <a:t>Registers</a:t>
            </a:r>
            <a:endParaRPr sz="24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18</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extLst>
      <p:ext uri="{BB962C8B-B14F-4D97-AF65-F5344CB8AC3E}">
        <p14:creationId xmlns:p14="http://schemas.microsoft.com/office/powerpoint/2010/main" val="1725658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269" rIns="0" bIns="0" rtlCol="0">
            <a:spAutoFit/>
          </a:bodyPr>
          <a:lstStyle/>
          <a:p>
            <a:pPr marL="2032000">
              <a:lnSpc>
                <a:spcPct val="100000"/>
              </a:lnSpc>
              <a:spcBef>
                <a:spcPts val="100"/>
              </a:spcBef>
            </a:pPr>
            <a:r>
              <a:rPr spc="-10" dirty="0">
                <a:solidFill>
                  <a:srgbClr val="006699"/>
                </a:solidFill>
              </a:rPr>
              <a:t>Multiple-</a:t>
            </a:r>
            <a:r>
              <a:rPr dirty="0">
                <a:solidFill>
                  <a:srgbClr val="006699"/>
                </a:solidFill>
              </a:rPr>
              <a:t>Partition</a:t>
            </a:r>
            <a:r>
              <a:rPr spc="5" dirty="0">
                <a:solidFill>
                  <a:srgbClr val="006699"/>
                </a:solidFill>
              </a:rPr>
              <a:t> </a:t>
            </a:r>
            <a:r>
              <a:rPr spc="-10" dirty="0">
                <a:solidFill>
                  <a:srgbClr val="006699"/>
                </a:solidFill>
              </a:rPr>
              <a:t>Allocation</a:t>
            </a:r>
          </a:p>
        </p:txBody>
      </p:sp>
      <p:sp>
        <p:nvSpPr>
          <p:cNvPr id="3" name="object 3"/>
          <p:cNvSpPr txBox="1"/>
          <p:nvPr/>
        </p:nvSpPr>
        <p:spPr>
          <a:xfrm>
            <a:off x="250342" y="934157"/>
            <a:ext cx="8311515" cy="3032760"/>
          </a:xfrm>
          <a:prstGeom prst="rect">
            <a:avLst/>
          </a:prstGeom>
        </p:spPr>
        <p:txBody>
          <a:bodyPr vert="horz" wrap="square" lIns="0" tIns="110489" rIns="0" bIns="0" rtlCol="0">
            <a:spAutoFit/>
          </a:bodyPr>
          <a:lstStyle/>
          <a:p>
            <a:pPr marL="354965" indent="-342265">
              <a:lnSpc>
                <a:spcPct val="100000"/>
              </a:lnSpc>
              <a:spcBef>
                <a:spcPts val="869"/>
              </a:spcBef>
              <a:buClr>
                <a:srgbClr val="993300"/>
              </a:buClr>
              <a:buSzPct val="88888"/>
              <a:buFont typeface="Wingdings"/>
              <a:buChar char=""/>
              <a:tabLst>
                <a:tab pos="354965" algn="l"/>
              </a:tabLst>
            </a:pPr>
            <a:r>
              <a:rPr sz="1800" b="1" spc="-10" dirty="0">
                <a:solidFill>
                  <a:srgbClr val="FF0000"/>
                </a:solidFill>
                <a:latin typeface="Arial"/>
                <a:cs typeface="Arial"/>
              </a:rPr>
              <a:t>Multiple-</a:t>
            </a:r>
            <a:r>
              <a:rPr sz="1800" b="1" dirty="0">
                <a:solidFill>
                  <a:srgbClr val="FF0000"/>
                </a:solidFill>
                <a:latin typeface="Arial"/>
                <a:cs typeface="Arial"/>
              </a:rPr>
              <a:t>partition</a:t>
            </a:r>
            <a:r>
              <a:rPr sz="1800" b="1" spc="-55" dirty="0">
                <a:solidFill>
                  <a:srgbClr val="FF0000"/>
                </a:solidFill>
                <a:latin typeface="Arial"/>
                <a:cs typeface="Arial"/>
              </a:rPr>
              <a:t> </a:t>
            </a:r>
            <a:r>
              <a:rPr sz="1800" dirty="0">
                <a:latin typeface="Arial MT"/>
                <a:cs typeface="Arial MT"/>
              </a:rPr>
              <a:t>allocation: </a:t>
            </a:r>
            <a:r>
              <a:rPr sz="1800" dirty="0">
                <a:solidFill>
                  <a:srgbClr val="FF0000"/>
                </a:solidFill>
                <a:latin typeface="Arial MT"/>
                <a:cs typeface="Arial MT"/>
              </a:rPr>
              <a:t>divide</a:t>
            </a:r>
            <a:r>
              <a:rPr sz="1800" spc="-25" dirty="0">
                <a:solidFill>
                  <a:srgbClr val="FF0000"/>
                </a:solidFill>
                <a:latin typeface="Arial MT"/>
                <a:cs typeface="Arial MT"/>
              </a:rPr>
              <a:t> </a:t>
            </a:r>
            <a:r>
              <a:rPr sz="1800" dirty="0">
                <a:solidFill>
                  <a:srgbClr val="FF0000"/>
                </a:solidFill>
                <a:latin typeface="Arial MT"/>
                <a:cs typeface="Arial MT"/>
              </a:rPr>
              <a:t>memory</a:t>
            </a:r>
            <a:r>
              <a:rPr sz="1800" spc="-15" dirty="0">
                <a:solidFill>
                  <a:srgbClr val="FF0000"/>
                </a:solidFill>
                <a:latin typeface="Arial MT"/>
                <a:cs typeface="Arial MT"/>
              </a:rPr>
              <a:t> </a:t>
            </a:r>
            <a:r>
              <a:rPr sz="1800" dirty="0">
                <a:solidFill>
                  <a:srgbClr val="FF0000"/>
                </a:solidFill>
                <a:latin typeface="Arial MT"/>
                <a:cs typeface="Arial MT"/>
              </a:rPr>
              <a:t>into</a:t>
            </a:r>
            <a:r>
              <a:rPr sz="1800" spc="-25" dirty="0">
                <a:solidFill>
                  <a:srgbClr val="FF0000"/>
                </a:solidFill>
                <a:latin typeface="Arial MT"/>
                <a:cs typeface="Arial MT"/>
              </a:rPr>
              <a:t> </a:t>
            </a:r>
            <a:r>
              <a:rPr sz="1800" dirty="0">
                <a:solidFill>
                  <a:srgbClr val="FF0000"/>
                </a:solidFill>
                <a:latin typeface="Arial MT"/>
                <a:cs typeface="Arial MT"/>
              </a:rPr>
              <a:t>many</a:t>
            </a:r>
            <a:r>
              <a:rPr sz="1800" spc="-15" dirty="0">
                <a:solidFill>
                  <a:srgbClr val="FF0000"/>
                </a:solidFill>
                <a:latin typeface="Arial MT"/>
                <a:cs typeface="Arial MT"/>
              </a:rPr>
              <a:t> </a:t>
            </a:r>
            <a:r>
              <a:rPr sz="1800" b="1" i="1" spc="-10" dirty="0">
                <a:solidFill>
                  <a:srgbClr val="FF0000"/>
                </a:solidFill>
                <a:latin typeface="Arial"/>
                <a:cs typeface="Arial"/>
              </a:rPr>
              <a:t>fixed-</a:t>
            </a:r>
            <a:r>
              <a:rPr sz="1800" b="1" i="1" dirty="0">
                <a:solidFill>
                  <a:srgbClr val="FF0000"/>
                </a:solidFill>
                <a:latin typeface="Arial"/>
                <a:cs typeface="Arial"/>
              </a:rPr>
              <a:t>sized</a:t>
            </a:r>
            <a:r>
              <a:rPr sz="1800" b="1" i="1" spc="-15" dirty="0">
                <a:solidFill>
                  <a:srgbClr val="FF0000"/>
                </a:solidFill>
                <a:latin typeface="Arial"/>
                <a:cs typeface="Arial"/>
              </a:rPr>
              <a:t> </a:t>
            </a:r>
            <a:r>
              <a:rPr sz="1800" b="1" spc="-10" dirty="0">
                <a:solidFill>
                  <a:srgbClr val="FF0000"/>
                </a:solidFill>
                <a:latin typeface="Arial"/>
                <a:cs typeface="Arial"/>
              </a:rPr>
              <a:t>partitions</a:t>
            </a:r>
            <a:endParaRPr sz="1800">
              <a:latin typeface="Arial"/>
              <a:cs typeface="Arial"/>
            </a:endParaRPr>
          </a:p>
          <a:p>
            <a:pPr marL="286385" marR="13970" lvl="1" indent="-286385" algn="r">
              <a:lnSpc>
                <a:spcPct val="100000"/>
              </a:lnSpc>
              <a:spcBef>
                <a:spcPts val="680"/>
              </a:spcBef>
              <a:buClr>
                <a:srgbClr val="CC6600"/>
              </a:buClr>
              <a:buSzPct val="78125"/>
              <a:buFont typeface="Wingdings"/>
              <a:buChar char=""/>
              <a:tabLst>
                <a:tab pos="286385" algn="l"/>
              </a:tabLst>
            </a:pPr>
            <a:r>
              <a:rPr sz="1600" b="1" dirty="0">
                <a:solidFill>
                  <a:srgbClr val="FF0000"/>
                </a:solidFill>
                <a:latin typeface="Arial"/>
                <a:cs typeface="Arial"/>
              </a:rPr>
              <a:t>One</a:t>
            </a:r>
            <a:r>
              <a:rPr sz="1600" b="1" spc="-5" dirty="0">
                <a:solidFill>
                  <a:srgbClr val="FF0000"/>
                </a:solidFill>
                <a:latin typeface="Arial"/>
                <a:cs typeface="Arial"/>
              </a:rPr>
              <a:t> </a:t>
            </a:r>
            <a:r>
              <a:rPr sz="1600" dirty="0">
                <a:solidFill>
                  <a:srgbClr val="FF0000"/>
                </a:solidFill>
                <a:latin typeface="Arial MT"/>
                <a:cs typeface="Arial MT"/>
              </a:rPr>
              <a:t>process</a:t>
            </a:r>
            <a:r>
              <a:rPr sz="1600" spc="-25" dirty="0">
                <a:solidFill>
                  <a:srgbClr val="FF0000"/>
                </a:solidFill>
                <a:latin typeface="Arial MT"/>
                <a:cs typeface="Arial MT"/>
              </a:rPr>
              <a:t> </a:t>
            </a:r>
            <a:r>
              <a:rPr sz="1600" dirty="0">
                <a:solidFill>
                  <a:srgbClr val="FF0000"/>
                </a:solidFill>
                <a:latin typeface="Arial MT"/>
                <a:cs typeface="Arial MT"/>
              </a:rPr>
              <a:t>in</a:t>
            </a:r>
            <a:r>
              <a:rPr sz="1600" spc="-25" dirty="0">
                <a:solidFill>
                  <a:srgbClr val="FF0000"/>
                </a:solidFill>
                <a:latin typeface="Arial MT"/>
                <a:cs typeface="Arial MT"/>
              </a:rPr>
              <a:t> </a:t>
            </a:r>
            <a:r>
              <a:rPr sz="1600" dirty="0">
                <a:solidFill>
                  <a:srgbClr val="FF0000"/>
                </a:solidFill>
                <a:latin typeface="Arial MT"/>
                <a:cs typeface="Arial MT"/>
              </a:rPr>
              <a:t>each</a:t>
            </a:r>
            <a:r>
              <a:rPr sz="1600" spc="-25" dirty="0">
                <a:solidFill>
                  <a:srgbClr val="FF0000"/>
                </a:solidFill>
                <a:latin typeface="Arial MT"/>
                <a:cs typeface="Arial MT"/>
              </a:rPr>
              <a:t> </a:t>
            </a:r>
            <a:r>
              <a:rPr sz="1600" dirty="0">
                <a:solidFill>
                  <a:srgbClr val="FF0000"/>
                </a:solidFill>
                <a:latin typeface="Arial MT"/>
                <a:cs typeface="Arial MT"/>
              </a:rPr>
              <a:t>partition</a:t>
            </a:r>
            <a:r>
              <a:rPr sz="1600" dirty="0">
                <a:latin typeface="Arial MT"/>
                <a:cs typeface="Arial MT"/>
              </a:rPr>
              <a:t>.</a:t>
            </a:r>
            <a:r>
              <a:rPr sz="1600" spc="-15" dirty="0">
                <a:latin typeface="Arial MT"/>
                <a:cs typeface="Arial MT"/>
              </a:rPr>
              <a:t> </a:t>
            </a:r>
            <a:r>
              <a:rPr sz="1600" dirty="0">
                <a:latin typeface="Arial MT"/>
                <a:cs typeface="Arial MT"/>
              </a:rPr>
              <a:t>Degree</a:t>
            </a:r>
            <a:r>
              <a:rPr sz="1600" spc="-15" dirty="0">
                <a:latin typeface="Arial MT"/>
                <a:cs typeface="Arial MT"/>
              </a:rPr>
              <a:t> </a:t>
            </a:r>
            <a:r>
              <a:rPr sz="1600" dirty="0">
                <a:latin typeface="Arial MT"/>
                <a:cs typeface="Arial MT"/>
              </a:rPr>
              <a:t>of</a:t>
            </a:r>
            <a:r>
              <a:rPr sz="1600" spc="-15" dirty="0">
                <a:latin typeface="Arial MT"/>
                <a:cs typeface="Arial MT"/>
              </a:rPr>
              <a:t> </a:t>
            </a:r>
            <a:r>
              <a:rPr sz="1600" spc="-10" dirty="0">
                <a:latin typeface="Arial MT"/>
                <a:cs typeface="Arial MT"/>
              </a:rPr>
              <a:t>multiprogramming </a:t>
            </a:r>
            <a:r>
              <a:rPr sz="1600" dirty="0">
                <a:latin typeface="Arial MT"/>
                <a:cs typeface="Arial MT"/>
              </a:rPr>
              <a:t>limited</a:t>
            </a:r>
            <a:r>
              <a:rPr sz="1600" spc="-40" dirty="0">
                <a:latin typeface="Arial MT"/>
                <a:cs typeface="Arial MT"/>
              </a:rPr>
              <a:t> </a:t>
            </a:r>
            <a:r>
              <a:rPr sz="1600" dirty="0">
                <a:latin typeface="Arial MT"/>
                <a:cs typeface="Arial MT"/>
              </a:rPr>
              <a:t>by</a:t>
            </a:r>
            <a:r>
              <a:rPr sz="1600" spc="-20" dirty="0">
                <a:latin typeface="Arial MT"/>
                <a:cs typeface="Arial MT"/>
              </a:rPr>
              <a:t> </a:t>
            </a:r>
            <a:r>
              <a:rPr sz="1600" dirty="0">
                <a:latin typeface="Arial MT"/>
                <a:cs typeface="Arial MT"/>
              </a:rPr>
              <a:t>#</a:t>
            </a:r>
            <a:r>
              <a:rPr sz="1600" spc="-25" dirty="0">
                <a:latin typeface="Arial MT"/>
                <a:cs typeface="Arial MT"/>
              </a:rPr>
              <a:t> </a:t>
            </a:r>
            <a:r>
              <a:rPr sz="1600" dirty="0">
                <a:latin typeface="Arial MT"/>
                <a:cs typeface="Arial MT"/>
              </a:rPr>
              <a:t>of</a:t>
            </a:r>
            <a:r>
              <a:rPr sz="1600" spc="-15" dirty="0">
                <a:latin typeface="Arial MT"/>
                <a:cs typeface="Arial MT"/>
              </a:rPr>
              <a:t> </a:t>
            </a:r>
            <a:r>
              <a:rPr sz="1600" spc="-10" dirty="0">
                <a:latin typeface="Arial MT"/>
                <a:cs typeface="Arial MT"/>
              </a:rPr>
              <a:t>partitions</a:t>
            </a:r>
            <a:endParaRPr sz="1600">
              <a:latin typeface="Arial MT"/>
              <a:cs typeface="Arial MT"/>
            </a:endParaRPr>
          </a:p>
          <a:p>
            <a:pPr marL="227965" marR="5080" lvl="2" indent="-227965" algn="r">
              <a:lnSpc>
                <a:spcPct val="100000"/>
              </a:lnSpc>
              <a:spcBef>
                <a:spcPts val="670"/>
              </a:spcBef>
              <a:buClr>
                <a:srgbClr val="009900"/>
              </a:buClr>
              <a:buSzPct val="75000"/>
              <a:buFont typeface="Webdings"/>
              <a:buChar char=""/>
              <a:tabLst>
                <a:tab pos="227965" algn="l"/>
              </a:tabLst>
            </a:pPr>
            <a:r>
              <a:rPr sz="1600" spc="-10" dirty="0">
                <a:solidFill>
                  <a:srgbClr val="FF0000"/>
                </a:solidFill>
                <a:latin typeface="Arial MT"/>
                <a:cs typeface="Arial MT"/>
              </a:rPr>
              <a:t>Fixed-</a:t>
            </a:r>
            <a:r>
              <a:rPr sz="1600" dirty="0">
                <a:solidFill>
                  <a:srgbClr val="FF0000"/>
                </a:solidFill>
                <a:latin typeface="Arial MT"/>
                <a:cs typeface="Arial MT"/>
              </a:rPr>
              <a:t>sized</a:t>
            </a:r>
            <a:r>
              <a:rPr sz="1600" spc="-40" dirty="0">
                <a:solidFill>
                  <a:srgbClr val="FF0000"/>
                </a:solidFill>
                <a:latin typeface="Arial MT"/>
                <a:cs typeface="Arial MT"/>
              </a:rPr>
              <a:t> </a:t>
            </a:r>
            <a:r>
              <a:rPr sz="1600" dirty="0">
                <a:solidFill>
                  <a:srgbClr val="FF0000"/>
                </a:solidFill>
                <a:latin typeface="Arial MT"/>
                <a:cs typeface="Arial MT"/>
              </a:rPr>
              <a:t>partitioning</a:t>
            </a:r>
            <a:r>
              <a:rPr sz="1600" spc="-40" dirty="0">
                <a:solidFill>
                  <a:srgbClr val="FF0000"/>
                </a:solidFill>
                <a:latin typeface="Arial MT"/>
                <a:cs typeface="Arial MT"/>
              </a:rPr>
              <a:t> </a:t>
            </a:r>
            <a:r>
              <a:rPr sz="1600" dirty="0">
                <a:solidFill>
                  <a:srgbClr val="FF0000"/>
                </a:solidFill>
                <a:latin typeface="Arial MT"/>
                <a:cs typeface="Arial MT"/>
              </a:rPr>
              <a:t>is</a:t>
            </a:r>
            <a:r>
              <a:rPr sz="1600" spc="-25" dirty="0">
                <a:solidFill>
                  <a:srgbClr val="FF0000"/>
                </a:solidFill>
                <a:latin typeface="Arial MT"/>
                <a:cs typeface="Arial MT"/>
              </a:rPr>
              <a:t> </a:t>
            </a:r>
            <a:r>
              <a:rPr sz="1600" dirty="0">
                <a:solidFill>
                  <a:srgbClr val="FF0000"/>
                </a:solidFill>
                <a:latin typeface="Arial MT"/>
                <a:cs typeface="Arial MT"/>
              </a:rPr>
              <a:t>simple</a:t>
            </a:r>
            <a:r>
              <a:rPr sz="1600" spc="-50" dirty="0">
                <a:solidFill>
                  <a:srgbClr val="FF0000"/>
                </a:solidFill>
                <a:latin typeface="Arial MT"/>
                <a:cs typeface="Arial MT"/>
              </a:rPr>
              <a:t> </a:t>
            </a:r>
            <a:r>
              <a:rPr sz="1600" dirty="0">
                <a:solidFill>
                  <a:srgbClr val="FF0000"/>
                </a:solidFill>
                <a:latin typeface="Arial MT"/>
                <a:cs typeface="Arial MT"/>
              </a:rPr>
              <a:t>but</a:t>
            </a:r>
            <a:r>
              <a:rPr sz="1600" spc="-15" dirty="0">
                <a:solidFill>
                  <a:srgbClr val="FF0000"/>
                </a:solidFill>
                <a:latin typeface="Arial MT"/>
                <a:cs typeface="Arial MT"/>
              </a:rPr>
              <a:t> </a:t>
            </a:r>
            <a:r>
              <a:rPr sz="1600" dirty="0">
                <a:solidFill>
                  <a:srgbClr val="FF0000"/>
                </a:solidFill>
                <a:latin typeface="Arial MT"/>
                <a:cs typeface="Arial MT"/>
              </a:rPr>
              <a:t>limited</a:t>
            </a:r>
            <a:r>
              <a:rPr sz="1600" spc="-40" dirty="0">
                <a:solidFill>
                  <a:srgbClr val="FF0000"/>
                </a:solidFill>
                <a:latin typeface="Arial MT"/>
                <a:cs typeface="Arial MT"/>
              </a:rPr>
              <a:t> </a:t>
            </a:r>
            <a:r>
              <a:rPr sz="1600" dirty="0">
                <a:solidFill>
                  <a:srgbClr val="FF0000"/>
                </a:solidFill>
                <a:latin typeface="Arial MT"/>
                <a:cs typeface="Arial MT"/>
              </a:rPr>
              <a:t>due</a:t>
            </a:r>
            <a:r>
              <a:rPr sz="1600" spc="-15" dirty="0">
                <a:solidFill>
                  <a:srgbClr val="FF0000"/>
                </a:solidFill>
                <a:latin typeface="Arial MT"/>
                <a:cs typeface="Arial MT"/>
              </a:rPr>
              <a:t> </a:t>
            </a:r>
            <a:r>
              <a:rPr sz="1600" dirty="0">
                <a:solidFill>
                  <a:srgbClr val="FF0000"/>
                </a:solidFill>
                <a:latin typeface="Arial MT"/>
                <a:cs typeface="Arial MT"/>
              </a:rPr>
              <a:t>to</a:t>
            </a:r>
            <a:r>
              <a:rPr sz="1600" spc="-15" dirty="0">
                <a:solidFill>
                  <a:srgbClr val="FF0000"/>
                </a:solidFill>
                <a:latin typeface="Arial MT"/>
                <a:cs typeface="Arial MT"/>
              </a:rPr>
              <a:t> </a:t>
            </a:r>
            <a:r>
              <a:rPr sz="1600" dirty="0">
                <a:solidFill>
                  <a:srgbClr val="FF0000"/>
                </a:solidFill>
                <a:latin typeface="Arial MT"/>
                <a:cs typeface="Arial MT"/>
              </a:rPr>
              <a:t>size</a:t>
            </a:r>
            <a:r>
              <a:rPr sz="1600" spc="-40" dirty="0">
                <a:solidFill>
                  <a:srgbClr val="FF0000"/>
                </a:solidFill>
                <a:latin typeface="Arial MT"/>
                <a:cs typeface="Arial MT"/>
              </a:rPr>
              <a:t> </a:t>
            </a:r>
            <a:r>
              <a:rPr sz="1600" dirty="0">
                <a:solidFill>
                  <a:srgbClr val="FF0000"/>
                </a:solidFill>
                <a:latin typeface="Arial MT"/>
                <a:cs typeface="Arial MT"/>
              </a:rPr>
              <a:t>and</a:t>
            </a:r>
            <a:r>
              <a:rPr sz="1600" spc="-30" dirty="0">
                <a:solidFill>
                  <a:srgbClr val="FF0000"/>
                </a:solidFill>
                <a:latin typeface="Arial MT"/>
                <a:cs typeface="Arial MT"/>
              </a:rPr>
              <a:t> </a:t>
            </a:r>
            <a:r>
              <a:rPr sz="1600" dirty="0">
                <a:solidFill>
                  <a:srgbClr val="FF0000"/>
                </a:solidFill>
                <a:latin typeface="Arial MT"/>
                <a:cs typeface="Arial MT"/>
              </a:rPr>
              <a:t>number</a:t>
            </a:r>
            <a:r>
              <a:rPr sz="1600" spc="-15" dirty="0">
                <a:solidFill>
                  <a:srgbClr val="FF0000"/>
                </a:solidFill>
                <a:latin typeface="Arial MT"/>
                <a:cs typeface="Arial MT"/>
              </a:rPr>
              <a:t> </a:t>
            </a:r>
            <a:r>
              <a:rPr sz="1600" dirty="0">
                <a:solidFill>
                  <a:srgbClr val="FF0000"/>
                </a:solidFill>
                <a:latin typeface="Arial MT"/>
                <a:cs typeface="Arial MT"/>
              </a:rPr>
              <a:t>of</a:t>
            </a:r>
            <a:r>
              <a:rPr sz="1600" spc="-25" dirty="0">
                <a:solidFill>
                  <a:srgbClr val="FF0000"/>
                </a:solidFill>
                <a:latin typeface="Arial MT"/>
                <a:cs typeface="Arial MT"/>
              </a:rPr>
              <a:t> </a:t>
            </a:r>
            <a:r>
              <a:rPr sz="1600" spc="-10" dirty="0">
                <a:solidFill>
                  <a:srgbClr val="FF0000"/>
                </a:solidFill>
                <a:latin typeface="Arial MT"/>
                <a:cs typeface="Arial MT"/>
              </a:rPr>
              <a:t>partitions</a:t>
            </a:r>
            <a:endParaRPr sz="1600">
              <a:latin typeface="Arial MT"/>
              <a:cs typeface="Arial MT"/>
            </a:endParaRPr>
          </a:p>
          <a:p>
            <a:pPr marL="286385" marR="67945" lvl="1" indent="-286385" algn="r">
              <a:lnSpc>
                <a:spcPct val="100000"/>
              </a:lnSpc>
              <a:spcBef>
                <a:spcPts val="675"/>
              </a:spcBef>
              <a:buClr>
                <a:srgbClr val="CC6600"/>
              </a:buClr>
              <a:buSzPct val="78125"/>
              <a:buFont typeface="Wingdings"/>
              <a:buChar char=""/>
              <a:tabLst>
                <a:tab pos="286385" algn="l"/>
              </a:tabLst>
            </a:pPr>
            <a:r>
              <a:rPr sz="1600" b="1" dirty="0">
                <a:solidFill>
                  <a:srgbClr val="FF0000"/>
                </a:solidFill>
                <a:latin typeface="Arial"/>
                <a:cs typeface="Arial"/>
              </a:rPr>
              <a:t>Better</a:t>
            </a:r>
            <a:r>
              <a:rPr sz="1600" dirty="0">
                <a:latin typeface="Arial MT"/>
                <a:cs typeface="Arial MT"/>
              </a:rPr>
              <a:t>:</a:t>
            </a:r>
            <a:r>
              <a:rPr sz="1600" spc="-10" dirty="0">
                <a:latin typeface="Arial MT"/>
                <a:cs typeface="Arial MT"/>
              </a:rPr>
              <a:t> </a:t>
            </a:r>
            <a:r>
              <a:rPr sz="1600" dirty="0">
                <a:latin typeface="Arial MT"/>
                <a:cs typeface="Arial MT"/>
              </a:rPr>
              <a:t>use</a:t>
            </a:r>
            <a:r>
              <a:rPr sz="1600" spc="-25" dirty="0">
                <a:latin typeface="Arial MT"/>
                <a:cs typeface="Arial MT"/>
              </a:rPr>
              <a:t> </a:t>
            </a:r>
            <a:r>
              <a:rPr sz="1600" b="1" spc="-20" dirty="0">
                <a:solidFill>
                  <a:srgbClr val="0000FF"/>
                </a:solidFill>
                <a:latin typeface="Arial"/>
                <a:cs typeface="Arial"/>
              </a:rPr>
              <a:t>variable-</a:t>
            </a:r>
            <a:r>
              <a:rPr sz="1600" b="1" dirty="0">
                <a:solidFill>
                  <a:srgbClr val="0000FF"/>
                </a:solidFill>
                <a:latin typeface="Arial"/>
                <a:cs typeface="Arial"/>
              </a:rPr>
              <a:t>partition</a:t>
            </a:r>
            <a:r>
              <a:rPr sz="1600" b="1" spc="25" dirty="0">
                <a:solidFill>
                  <a:srgbClr val="0000FF"/>
                </a:solidFill>
                <a:latin typeface="Arial"/>
                <a:cs typeface="Arial"/>
              </a:rPr>
              <a:t> </a:t>
            </a:r>
            <a:r>
              <a:rPr sz="1600" dirty="0">
                <a:latin typeface="Arial MT"/>
                <a:cs typeface="Arial MT"/>
              </a:rPr>
              <a:t>sizes</a:t>
            </a:r>
            <a:r>
              <a:rPr sz="1600" spc="-35" dirty="0">
                <a:latin typeface="Arial MT"/>
                <a:cs typeface="Arial MT"/>
              </a:rPr>
              <a:t> </a:t>
            </a:r>
            <a:r>
              <a:rPr sz="1600" dirty="0">
                <a:latin typeface="Arial MT"/>
                <a:cs typeface="Arial MT"/>
              </a:rPr>
              <a:t>for</a:t>
            </a:r>
            <a:r>
              <a:rPr sz="1600" spc="-10" dirty="0">
                <a:latin typeface="Arial MT"/>
                <a:cs typeface="Arial MT"/>
              </a:rPr>
              <a:t> </a:t>
            </a:r>
            <a:r>
              <a:rPr sz="1600" dirty="0">
                <a:latin typeface="Arial MT"/>
                <a:cs typeface="Arial MT"/>
              </a:rPr>
              <a:t>efficiency</a:t>
            </a:r>
            <a:r>
              <a:rPr sz="1600" spc="-50" dirty="0">
                <a:latin typeface="Arial MT"/>
                <a:cs typeface="Arial MT"/>
              </a:rPr>
              <a:t> </a:t>
            </a:r>
            <a:r>
              <a:rPr sz="1600" dirty="0">
                <a:latin typeface="Arial MT"/>
                <a:cs typeface="Arial MT"/>
              </a:rPr>
              <a:t>(sized</a:t>
            </a:r>
            <a:r>
              <a:rPr sz="1600" spc="-30" dirty="0">
                <a:latin typeface="Arial MT"/>
                <a:cs typeface="Arial MT"/>
              </a:rPr>
              <a:t> </a:t>
            </a:r>
            <a:r>
              <a:rPr sz="1600" dirty="0">
                <a:latin typeface="Arial MT"/>
                <a:cs typeface="Arial MT"/>
              </a:rPr>
              <a:t>to</a:t>
            </a:r>
            <a:r>
              <a:rPr sz="1600" spc="-15" dirty="0">
                <a:latin typeface="Arial MT"/>
                <a:cs typeface="Arial MT"/>
              </a:rPr>
              <a:t> </a:t>
            </a:r>
            <a:r>
              <a:rPr sz="1600" dirty="0">
                <a:latin typeface="Arial MT"/>
                <a:cs typeface="Arial MT"/>
              </a:rPr>
              <a:t>a</a:t>
            </a:r>
            <a:r>
              <a:rPr sz="1600" spc="-20" dirty="0">
                <a:latin typeface="Arial MT"/>
                <a:cs typeface="Arial MT"/>
              </a:rPr>
              <a:t> </a:t>
            </a:r>
            <a:r>
              <a:rPr sz="1600" dirty="0">
                <a:latin typeface="Arial MT"/>
                <a:cs typeface="Arial MT"/>
              </a:rPr>
              <a:t>given</a:t>
            </a:r>
            <a:r>
              <a:rPr sz="1600" spc="-40" dirty="0">
                <a:latin typeface="Arial MT"/>
                <a:cs typeface="Arial MT"/>
              </a:rPr>
              <a:t> </a:t>
            </a:r>
            <a:r>
              <a:rPr sz="1600" dirty="0">
                <a:latin typeface="Arial MT"/>
                <a:cs typeface="Arial MT"/>
              </a:rPr>
              <a:t>process’</a:t>
            </a:r>
            <a:r>
              <a:rPr sz="1600" spc="-35" dirty="0">
                <a:latin typeface="Arial MT"/>
                <a:cs typeface="Arial MT"/>
              </a:rPr>
              <a:t> </a:t>
            </a:r>
            <a:r>
              <a:rPr sz="1600" spc="-10" dirty="0">
                <a:latin typeface="Arial MT"/>
                <a:cs typeface="Arial MT"/>
              </a:rPr>
              <a:t>needs)</a:t>
            </a:r>
            <a:endParaRPr sz="1600">
              <a:latin typeface="Arial MT"/>
              <a:cs typeface="Arial MT"/>
            </a:endParaRPr>
          </a:p>
          <a:p>
            <a:pPr marL="227965" marR="18415" lvl="2" indent="-227965" algn="r">
              <a:lnSpc>
                <a:spcPct val="100000"/>
              </a:lnSpc>
              <a:spcBef>
                <a:spcPts val="675"/>
              </a:spcBef>
              <a:buClr>
                <a:srgbClr val="009900"/>
              </a:buClr>
              <a:buSzPct val="75000"/>
              <a:buFont typeface="Webdings"/>
              <a:buChar char=""/>
              <a:tabLst>
                <a:tab pos="227965" algn="l"/>
              </a:tabLst>
            </a:pPr>
            <a:r>
              <a:rPr sz="1600" b="1" dirty="0">
                <a:solidFill>
                  <a:srgbClr val="0000FF"/>
                </a:solidFill>
                <a:latin typeface="Arial"/>
                <a:cs typeface="Arial"/>
              </a:rPr>
              <a:t>Hole</a:t>
            </a:r>
            <a:r>
              <a:rPr sz="1600" b="1" spc="-15" dirty="0">
                <a:solidFill>
                  <a:srgbClr val="0000FF"/>
                </a:solidFill>
                <a:latin typeface="Arial"/>
                <a:cs typeface="Arial"/>
              </a:rPr>
              <a:t> </a:t>
            </a:r>
            <a:r>
              <a:rPr sz="1600" dirty="0">
                <a:latin typeface="Arial MT"/>
                <a:cs typeface="Arial MT"/>
              </a:rPr>
              <a:t>–</a:t>
            </a:r>
            <a:r>
              <a:rPr sz="1600" spc="-20" dirty="0">
                <a:latin typeface="Arial MT"/>
                <a:cs typeface="Arial MT"/>
              </a:rPr>
              <a:t> </a:t>
            </a:r>
            <a:r>
              <a:rPr sz="1600" dirty="0">
                <a:latin typeface="Arial MT"/>
                <a:cs typeface="Arial MT"/>
              </a:rPr>
              <a:t>block</a:t>
            </a:r>
            <a:r>
              <a:rPr sz="1600" spc="-35" dirty="0">
                <a:latin typeface="Arial MT"/>
                <a:cs typeface="Arial MT"/>
              </a:rPr>
              <a:t> </a:t>
            </a:r>
            <a:r>
              <a:rPr sz="1600" dirty="0">
                <a:latin typeface="Arial MT"/>
                <a:cs typeface="Arial MT"/>
              </a:rPr>
              <a:t>of</a:t>
            </a:r>
            <a:r>
              <a:rPr sz="1600" spc="-15" dirty="0">
                <a:latin typeface="Arial MT"/>
                <a:cs typeface="Arial MT"/>
              </a:rPr>
              <a:t> </a:t>
            </a:r>
            <a:r>
              <a:rPr sz="1600" dirty="0">
                <a:latin typeface="Arial MT"/>
                <a:cs typeface="Arial MT"/>
              </a:rPr>
              <a:t>free</a:t>
            </a:r>
            <a:r>
              <a:rPr sz="1600" spc="-5" dirty="0">
                <a:latin typeface="Arial MT"/>
                <a:cs typeface="Arial MT"/>
              </a:rPr>
              <a:t> </a:t>
            </a:r>
            <a:r>
              <a:rPr sz="1600" dirty="0">
                <a:latin typeface="Arial MT"/>
                <a:cs typeface="Arial MT"/>
              </a:rPr>
              <a:t>memory;</a:t>
            </a:r>
            <a:r>
              <a:rPr sz="1600" spc="30" dirty="0">
                <a:latin typeface="Arial MT"/>
                <a:cs typeface="Arial MT"/>
              </a:rPr>
              <a:t> </a:t>
            </a:r>
            <a:r>
              <a:rPr sz="1600" spc="-10" dirty="0">
                <a:solidFill>
                  <a:srgbClr val="FF0000"/>
                </a:solidFill>
                <a:latin typeface="Arial MT"/>
                <a:cs typeface="Arial MT"/>
              </a:rPr>
              <a:t>variable-</a:t>
            </a:r>
            <a:r>
              <a:rPr sz="1600" dirty="0">
                <a:solidFill>
                  <a:srgbClr val="FF0000"/>
                </a:solidFill>
                <a:latin typeface="Arial MT"/>
                <a:cs typeface="Arial MT"/>
              </a:rPr>
              <a:t>sized</a:t>
            </a:r>
            <a:r>
              <a:rPr sz="1600" spc="-30" dirty="0">
                <a:solidFill>
                  <a:srgbClr val="FF0000"/>
                </a:solidFill>
                <a:latin typeface="Arial MT"/>
                <a:cs typeface="Arial MT"/>
              </a:rPr>
              <a:t> </a:t>
            </a:r>
            <a:r>
              <a:rPr sz="1600" dirty="0">
                <a:latin typeface="Arial MT"/>
                <a:cs typeface="Arial MT"/>
              </a:rPr>
              <a:t>holes</a:t>
            </a:r>
            <a:r>
              <a:rPr sz="1600" spc="-30" dirty="0">
                <a:latin typeface="Arial MT"/>
                <a:cs typeface="Arial MT"/>
              </a:rPr>
              <a:t> </a:t>
            </a:r>
            <a:r>
              <a:rPr sz="1600" dirty="0">
                <a:latin typeface="Arial MT"/>
                <a:cs typeface="Arial MT"/>
              </a:rPr>
              <a:t>scattered</a:t>
            </a:r>
            <a:r>
              <a:rPr sz="1600" spc="-20" dirty="0">
                <a:latin typeface="Arial MT"/>
                <a:cs typeface="Arial MT"/>
              </a:rPr>
              <a:t> </a:t>
            </a:r>
            <a:r>
              <a:rPr sz="1600" dirty="0">
                <a:latin typeface="Arial MT"/>
                <a:cs typeface="Arial MT"/>
              </a:rPr>
              <a:t>throughout</a:t>
            </a:r>
            <a:r>
              <a:rPr sz="1600" spc="-5" dirty="0">
                <a:latin typeface="Arial MT"/>
                <a:cs typeface="Arial MT"/>
              </a:rPr>
              <a:t> </a:t>
            </a:r>
            <a:r>
              <a:rPr sz="1600" spc="-10" dirty="0">
                <a:latin typeface="Arial MT"/>
                <a:cs typeface="Arial MT"/>
              </a:rPr>
              <a:t>memory</a:t>
            </a:r>
            <a:endParaRPr sz="1600">
              <a:latin typeface="Arial MT"/>
              <a:cs typeface="Arial MT"/>
            </a:endParaRPr>
          </a:p>
          <a:p>
            <a:pPr marL="756285" lvl="1" indent="-286385">
              <a:lnSpc>
                <a:spcPct val="100000"/>
              </a:lnSpc>
              <a:spcBef>
                <a:spcPts val="670"/>
              </a:spcBef>
              <a:buClr>
                <a:srgbClr val="CC6600"/>
              </a:buClr>
              <a:buSzPct val="78125"/>
              <a:buFont typeface="Wingdings"/>
              <a:buChar char=""/>
              <a:tabLst>
                <a:tab pos="756285" algn="l"/>
              </a:tabLst>
            </a:pPr>
            <a:r>
              <a:rPr sz="1600" dirty="0">
                <a:latin typeface="Arial MT"/>
                <a:cs typeface="Arial MT"/>
              </a:rPr>
              <a:t>Operating</a:t>
            </a:r>
            <a:r>
              <a:rPr sz="1600" spc="-45" dirty="0">
                <a:latin typeface="Arial MT"/>
                <a:cs typeface="Arial MT"/>
              </a:rPr>
              <a:t> </a:t>
            </a:r>
            <a:r>
              <a:rPr sz="1600" dirty="0">
                <a:latin typeface="Arial MT"/>
                <a:cs typeface="Arial MT"/>
              </a:rPr>
              <a:t>system</a:t>
            </a:r>
            <a:r>
              <a:rPr sz="1600" spc="-40" dirty="0">
                <a:latin typeface="Arial MT"/>
                <a:cs typeface="Arial MT"/>
              </a:rPr>
              <a:t> </a:t>
            </a:r>
            <a:r>
              <a:rPr sz="1600" dirty="0">
                <a:latin typeface="Arial MT"/>
                <a:cs typeface="Arial MT"/>
              </a:rPr>
              <a:t>maintains</a:t>
            </a:r>
            <a:r>
              <a:rPr sz="1600" spc="-55" dirty="0">
                <a:latin typeface="Arial MT"/>
                <a:cs typeface="Arial MT"/>
              </a:rPr>
              <a:t> </a:t>
            </a:r>
            <a:r>
              <a:rPr sz="1600" dirty="0">
                <a:latin typeface="Arial MT"/>
                <a:cs typeface="Arial MT"/>
              </a:rPr>
              <a:t>information</a:t>
            </a:r>
            <a:r>
              <a:rPr sz="1600" spc="-50" dirty="0">
                <a:latin typeface="Arial MT"/>
                <a:cs typeface="Arial MT"/>
              </a:rPr>
              <a:t> </a:t>
            </a:r>
            <a:r>
              <a:rPr sz="1600" dirty="0">
                <a:latin typeface="Arial MT"/>
                <a:cs typeface="Arial MT"/>
              </a:rPr>
              <a:t>about:</a:t>
            </a:r>
            <a:r>
              <a:rPr sz="1600" spc="-50" dirty="0">
                <a:latin typeface="Arial MT"/>
                <a:cs typeface="Arial MT"/>
              </a:rPr>
              <a:t> </a:t>
            </a:r>
            <a:r>
              <a:rPr sz="1600" dirty="0">
                <a:latin typeface="Arial MT"/>
                <a:cs typeface="Arial MT"/>
              </a:rPr>
              <a:t>a)</a:t>
            </a:r>
            <a:r>
              <a:rPr sz="1600" spc="-55" dirty="0">
                <a:latin typeface="Arial MT"/>
                <a:cs typeface="Arial MT"/>
              </a:rPr>
              <a:t> </a:t>
            </a:r>
            <a:r>
              <a:rPr sz="1600" dirty="0">
                <a:latin typeface="Arial MT"/>
                <a:cs typeface="Arial MT"/>
              </a:rPr>
              <a:t>allocated</a:t>
            </a:r>
            <a:r>
              <a:rPr sz="1600" spc="-70" dirty="0">
                <a:latin typeface="Arial MT"/>
                <a:cs typeface="Arial MT"/>
              </a:rPr>
              <a:t> </a:t>
            </a:r>
            <a:r>
              <a:rPr sz="1600" dirty="0">
                <a:latin typeface="Arial MT"/>
                <a:cs typeface="Arial MT"/>
              </a:rPr>
              <a:t>partitions,</a:t>
            </a:r>
            <a:r>
              <a:rPr sz="1600" spc="-50" dirty="0">
                <a:latin typeface="Arial MT"/>
                <a:cs typeface="Arial MT"/>
              </a:rPr>
              <a:t> </a:t>
            </a:r>
            <a:r>
              <a:rPr sz="1600" dirty="0">
                <a:latin typeface="Arial MT"/>
                <a:cs typeface="Arial MT"/>
              </a:rPr>
              <a:t>and</a:t>
            </a:r>
            <a:r>
              <a:rPr sz="1600" spc="-60" dirty="0">
                <a:latin typeface="Arial MT"/>
                <a:cs typeface="Arial MT"/>
              </a:rPr>
              <a:t> </a:t>
            </a:r>
            <a:r>
              <a:rPr sz="1600" dirty="0">
                <a:latin typeface="Arial MT"/>
                <a:cs typeface="Arial MT"/>
              </a:rPr>
              <a:t>b)</a:t>
            </a:r>
            <a:r>
              <a:rPr sz="1600" spc="-55" dirty="0">
                <a:latin typeface="Arial MT"/>
                <a:cs typeface="Arial MT"/>
              </a:rPr>
              <a:t> </a:t>
            </a:r>
            <a:r>
              <a:rPr sz="1600" spc="-10" dirty="0">
                <a:latin typeface="Arial MT"/>
                <a:cs typeface="Arial MT"/>
              </a:rPr>
              <a:t>holes</a:t>
            </a:r>
            <a:endParaRPr sz="1600">
              <a:latin typeface="Arial MT"/>
              <a:cs typeface="Arial MT"/>
            </a:endParaRPr>
          </a:p>
          <a:p>
            <a:pPr marL="756285" lvl="1" indent="-286385">
              <a:lnSpc>
                <a:spcPct val="100000"/>
              </a:lnSpc>
              <a:spcBef>
                <a:spcPts val="675"/>
              </a:spcBef>
              <a:buClr>
                <a:srgbClr val="CC6600"/>
              </a:buClr>
              <a:buSzPct val="78125"/>
              <a:buFont typeface="Wingdings"/>
              <a:buChar char=""/>
              <a:tabLst>
                <a:tab pos="756285" algn="l"/>
              </a:tabLst>
            </a:pPr>
            <a:r>
              <a:rPr sz="1600" b="1" dirty="0">
                <a:solidFill>
                  <a:srgbClr val="FF0000"/>
                </a:solidFill>
                <a:latin typeface="Arial"/>
                <a:cs typeface="Arial"/>
              </a:rPr>
              <a:t>Job</a:t>
            </a:r>
            <a:r>
              <a:rPr sz="1600" b="1" spc="-30" dirty="0">
                <a:solidFill>
                  <a:srgbClr val="FF0000"/>
                </a:solidFill>
                <a:latin typeface="Arial"/>
                <a:cs typeface="Arial"/>
              </a:rPr>
              <a:t> </a:t>
            </a:r>
            <a:r>
              <a:rPr sz="1600" b="1" dirty="0">
                <a:solidFill>
                  <a:srgbClr val="FF0000"/>
                </a:solidFill>
                <a:latin typeface="Arial"/>
                <a:cs typeface="Arial"/>
              </a:rPr>
              <a:t>scheduling </a:t>
            </a:r>
            <a:r>
              <a:rPr sz="1600" dirty="0">
                <a:solidFill>
                  <a:srgbClr val="FF0000"/>
                </a:solidFill>
                <a:latin typeface="Arial MT"/>
                <a:cs typeface="Arial MT"/>
              </a:rPr>
              <a:t>algorithm</a:t>
            </a:r>
            <a:r>
              <a:rPr sz="1600" spc="-30" dirty="0">
                <a:solidFill>
                  <a:srgbClr val="FF0000"/>
                </a:solidFill>
                <a:latin typeface="Arial MT"/>
                <a:cs typeface="Arial MT"/>
              </a:rPr>
              <a:t> </a:t>
            </a:r>
            <a:r>
              <a:rPr sz="1600" dirty="0">
                <a:solidFill>
                  <a:srgbClr val="FF0000"/>
                </a:solidFill>
                <a:latin typeface="Arial MT"/>
                <a:cs typeface="Arial MT"/>
              </a:rPr>
              <a:t>considers</a:t>
            </a:r>
            <a:r>
              <a:rPr sz="1600" spc="-35" dirty="0">
                <a:solidFill>
                  <a:srgbClr val="FF0000"/>
                </a:solidFill>
                <a:latin typeface="Arial MT"/>
                <a:cs typeface="Arial MT"/>
              </a:rPr>
              <a:t> </a:t>
            </a:r>
            <a:r>
              <a:rPr sz="1600" dirty="0">
                <a:solidFill>
                  <a:srgbClr val="FF0000"/>
                </a:solidFill>
                <a:latin typeface="Arial MT"/>
                <a:cs typeface="Arial MT"/>
              </a:rPr>
              <a:t>holes</a:t>
            </a:r>
            <a:r>
              <a:rPr sz="1600" spc="-30" dirty="0">
                <a:solidFill>
                  <a:srgbClr val="FF0000"/>
                </a:solidFill>
                <a:latin typeface="Arial MT"/>
                <a:cs typeface="Arial MT"/>
              </a:rPr>
              <a:t> </a:t>
            </a:r>
            <a:r>
              <a:rPr sz="1600" dirty="0">
                <a:solidFill>
                  <a:srgbClr val="FF0000"/>
                </a:solidFill>
                <a:latin typeface="Arial MT"/>
                <a:cs typeface="Arial MT"/>
              </a:rPr>
              <a:t>and</a:t>
            </a:r>
            <a:r>
              <a:rPr sz="1600" spc="-35" dirty="0">
                <a:solidFill>
                  <a:srgbClr val="FF0000"/>
                </a:solidFill>
                <a:latin typeface="Arial MT"/>
                <a:cs typeface="Arial MT"/>
              </a:rPr>
              <a:t> </a:t>
            </a:r>
            <a:r>
              <a:rPr sz="1600" dirty="0">
                <a:solidFill>
                  <a:srgbClr val="FF0000"/>
                </a:solidFill>
                <a:latin typeface="Arial MT"/>
                <a:cs typeface="Arial MT"/>
              </a:rPr>
              <a:t>memory</a:t>
            </a:r>
            <a:r>
              <a:rPr sz="1600" spc="-5" dirty="0">
                <a:solidFill>
                  <a:srgbClr val="FF0000"/>
                </a:solidFill>
                <a:latin typeface="Arial MT"/>
                <a:cs typeface="Arial MT"/>
              </a:rPr>
              <a:t> </a:t>
            </a:r>
            <a:r>
              <a:rPr sz="1600" dirty="0">
                <a:solidFill>
                  <a:srgbClr val="FF0000"/>
                </a:solidFill>
                <a:latin typeface="Arial MT"/>
                <a:cs typeface="Arial MT"/>
              </a:rPr>
              <a:t>need</a:t>
            </a:r>
            <a:r>
              <a:rPr sz="1600" spc="-35" dirty="0">
                <a:solidFill>
                  <a:srgbClr val="FF0000"/>
                </a:solidFill>
                <a:latin typeface="Arial MT"/>
                <a:cs typeface="Arial MT"/>
              </a:rPr>
              <a:t> </a:t>
            </a:r>
            <a:r>
              <a:rPr sz="1600" dirty="0">
                <a:solidFill>
                  <a:srgbClr val="FF0000"/>
                </a:solidFill>
                <a:latin typeface="Arial MT"/>
                <a:cs typeface="Arial MT"/>
              </a:rPr>
              <a:t>of</a:t>
            </a:r>
            <a:r>
              <a:rPr sz="1600" spc="-20" dirty="0">
                <a:solidFill>
                  <a:srgbClr val="FF0000"/>
                </a:solidFill>
                <a:latin typeface="Arial MT"/>
                <a:cs typeface="Arial MT"/>
              </a:rPr>
              <a:t> </a:t>
            </a:r>
            <a:r>
              <a:rPr sz="1600" dirty="0">
                <a:solidFill>
                  <a:srgbClr val="FF0000"/>
                </a:solidFill>
                <a:latin typeface="Arial MT"/>
                <a:cs typeface="Arial MT"/>
              </a:rPr>
              <a:t>each</a:t>
            </a:r>
            <a:r>
              <a:rPr sz="1600" spc="-35" dirty="0">
                <a:solidFill>
                  <a:srgbClr val="FF0000"/>
                </a:solidFill>
                <a:latin typeface="Arial MT"/>
                <a:cs typeface="Arial MT"/>
              </a:rPr>
              <a:t> </a:t>
            </a:r>
            <a:r>
              <a:rPr sz="1600" spc="-10" dirty="0">
                <a:solidFill>
                  <a:srgbClr val="FF0000"/>
                </a:solidFill>
                <a:latin typeface="Arial MT"/>
                <a:cs typeface="Arial MT"/>
              </a:rPr>
              <a:t>process</a:t>
            </a:r>
            <a:endParaRPr sz="1600">
              <a:latin typeface="Arial MT"/>
              <a:cs typeface="Arial MT"/>
            </a:endParaRPr>
          </a:p>
          <a:p>
            <a:pPr marL="1098550" lvl="2" indent="-227965">
              <a:lnSpc>
                <a:spcPct val="100000"/>
              </a:lnSpc>
              <a:spcBef>
                <a:spcPts val="670"/>
              </a:spcBef>
              <a:buClr>
                <a:srgbClr val="009900"/>
              </a:buClr>
              <a:buSzPct val="75000"/>
              <a:buFont typeface="Webdings"/>
              <a:buChar char=""/>
              <a:tabLst>
                <a:tab pos="1098550" algn="l"/>
              </a:tabLst>
            </a:pPr>
            <a:r>
              <a:rPr sz="1600" dirty="0">
                <a:latin typeface="Arial MT"/>
                <a:cs typeface="Arial MT"/>
              </a:rPr>
              <a:t>Allocate</a:t>
            </a:r>
            <a:r>
              <a:rPr sz="1600" spc="-60" dirty="0">
                <a:latin typeface="Arial MT"/>
                <a:cs typeface="Arial MT"/>
              </a:rPr>
              <a:t> </a:t>
            </a:r>
            <a:r>
              <a:rPr sz="1600" dirty="0">
                <a:latin typeface="Arial MT"/>
                <a:cs typeface="Arial MT"/>
              </a:rPr>
              <a:t>memory</a:t>
            </a:r>
            <a:r>
              <a:rPr sz="1600" spc="-15" dirty="0">
                <a:latin typeface="Arial MT"/>
                <a:cs typeface="Arial MT"/>
              </a:rPr>
              <a:t> </a:t>
            </a:r>
            <a:r>
              <a:rPr sz="1600" dirty="0">
                <a:latin typeface="Arial MT"/>
                <a:cs typeface="Arial MT"/>
              </a:rPr>
              <a:t>to</a:t>
            </a:r>
            <a:r>
              <a:rPr sz="1600" spc="-20" dirty="0">
                <a:latin typeface="Arial MT"/>
                <a:cs typeface="Arial MT"/>
              </a:rPr>
              <a:t> </a:t>
            </a:r>
            <a:r>
              <a:rPr sz="1600" dirty="0">
                <a:latin typeface="Arial MT"/>
                <a:cs typeface="Arial MT"/>
              </a:rPr>
              <a:t>a</a:t>
            </a:r>
            <a:r>
              <a:rPr sz="1600" spc="-25" dirty="0">
                <a:latin typeface="Arial MT"/>
                <a:cs typeface="Arial MT"/>
              </a:rPr>
              <a:t> </a:t>
            </a:r>
            <a:r>
              <a:rPr sz="1600" dirty="0">
                <a:latin typeface="Arial MT"/>
                <a:cs typeface="Arial MT"/>
              </a:rPr>
              <a:t>new</a:t>
            </a:r>
            <a:r>
              <a:rPr sz="1600" spc="-40" dirty="0">
                <a:latin typeface="Arial MT"/>
                <a:cs typeface="Arial MT"/>
              </a:rPr>
              <a:t> </a:t>
            </a:r>
            <a:r>
              <a:rPr sz="1600" dirty="0">
                <a:latin typeface="Arial MT"/>
                <a:cs typeface="Arial MT"/>
              </a:rPr>
              <a:t>process</a:t>
            </a:r>
            <a:r>
              <a:rPr sz="1600" spc="-30" dirty="0">
                <a:latin typeface="Arial MT"/>
                <a:cs typeface="Arial MT"/>
              </a:rPr>
              <a:t> </a:t>
            </a:r>
            <a:r>
              <a:rPr sz="1600" dirty="0">
                <a:latin typeface="Arial MT"/>
                <a:cs typeface="Arial MT"/>
              </a:rPr>
              <a:t>from</a:t>
            </a:r>
            <a:r>
              <a:rPr sz="1600" spc="-15" dirty="0">
                <a:latin typeface="Arial MT"/>
                <a:cs typeface="Arial MT"/>
              </a:rPr>
              <a:t> </a:t>
            </a:r>
            <a:r>
              <a:rPr sz="1600" dirty="0">
                <a:latin typeface="Arial MT"/>
                <a:cs typeface="Arial MT"/>
              </a:rPr>
              <a:t>a</a:t>
            </a:r>
            <a:r>
              <a:rPr sz="1600" spc="-25" dirty="0">
                <a:latin typeface="Arial MT"/>
                <a:cs typeface="Arial MT"/>
              </a:rPr>
              <a:t> </a:t>
            </a:r>
            <a:r>
              <a:rPr sz="1600" dirty="0">
                <a:latin typeface="Arial MT"/>
                <a:cs typeface="Arial MT"/>
              </a:rPr>
              <a:t>hole</a:t>
            </a:r>
            <a:r>
              <a:rPr sz="1600" spc="-45" dirty="0">
                <a:latin typeface="Arial MT"/>
                <a:cs typeface="Arial MT"/>
              </a:rPr>
              <a:t> </a:t>
            </a:r>
            <a:r>
              <a:rPr sz="1600" dirty="0">
                <a:latin typeface="Arial MT"/>
                <a:cs typeface="Arial MT"/>
              </a:rPr>
              <a:t>large</a:t>
            </a:r>
            <a:r>
              <a:rPr sz="1600" spc="-30" dirty="0">
                <a:latin typeface="Arial MT"/>
                <a:cs typeface="Arial MT"/>
              </a:rPr>
              <a:t> </a:t>
            </a:r>
            <a:r>
              <a:rPr sz="1600" dirty="0">
                <a:latin typeface="Arial MT"/>
                <a:cs typeface="Arial MT"/>
              </a:rPr>
              <a:t>enough</a:t>
            </a:r>
            <a:r>
              <a:rPr sz="1600" spc="-35" dirty="0">
                <a:latin typeface="Arial MT"/>
                <a:cs typeface="Arial MT"/>
              </a:rPr>
              <a:t> </a:t>
            </a:r>
            <a:r>
              <a:rPr sz="1600" dirty="0">
                <a:latin typeface="Arial MT"/>
                <a:cs typeface="Arial MT"/>
              </a:rPr>
              <a:t>to</a:t>
            </a:r>
            <a:r>
              <a:rPr sz="1600" spc="-25" dirty="0">
                <a:latin typeface="Arial MT"/>
                <a:cs typeface="Arial MT"/>
              </a:rPr>
              <a:t> </a:t>
            </a:r>
            <a:r>
              <a:rPr sz="1600" dirty="0">
                <a:latin typeface="Arial MT"/>
                <a:cs typeface="Arial MT"/>
              </a:rPr>
              <a:t>accommodate</a:t>
            </a:r>
            <a:r>
              <a:rPr sz="1600" spc="-25" dirty="0">
                <a:latin typeface="Arial MT"/>
                <a:cs typeface="Arial MT"/>
              </a:rPr>
              <a:t> it</a:t>
            </a:r>
            <a:endParaRPr sz="1600">
              <a:latin typeface="Arial MT"/>
              <a:cs typeface="Arial MT"/>
            </a:endParaRPr>
          </a:p>
          <a:p>
            <a:pPr marL="1098550" lvl="2" indent="-227965">
              <a:lnSpc>
                <a:spcPct val="100000"/>
              </a:lnSpc>
              <a:spcBef>
                <a:spcPts val="675"/>
              </a:spcBef>
              <a:buClr>
                <a:srgbClr val="009900"/>
              </a:buClr>
              <a:buSzPct val="75000"/>
              <a:buFont typeface="Webdings"/>
              <a:buChar char=""/>
              <a:tabLst>
                <a:tab pos="1098550" algn="l"/>
              </a:tabLst>
            </a:pPr>
            <a:r>
              <a:rPr sz="1600" dirty="0">
                <a:latin typeface="Arial MT"/>
                <a:cs typeface="Arial MT"/>
              </a:rPr>
              <a:t>Terminating</a:t>
            </a:r>
            <a:r>
              <a:rPr sz="1600" spc="-55" dirty="0">
                <a:latin typeface="Arial MT"/>
                <a:cs typeface="Arial MT"/>
              </a:rPr>
              <a:t> </a:t>
            </a:r>
            <a:r>
              <a:rPr sz="1600" dirty="0">
                <a:latin typeface="Arial MT"/>
                <a:cs typeface="Arial MT"/>
              </a:rPr>
              <a:t>processes</a:t>
            </a:r>
            <a:r>
              <a:rPr sz="1600" spc="-70" dirty="0">
                <a:latin typeface="Arial MT"/>
                <a:cs typeface="Arial MT"/>
              </a:rPr>
              <a:t> </a:t>
            </a:r>
            <a:r>
              <a:rPr sz="1600" dirty="0">
                <a:latin typeface="Arial MT"/>
                <a:cs typeface="Arial MT"/>
              </a:rPr>
              <a:t>free</a:t>
            </a:r>
            <a:r>
              <a:rPr sz="1600" spc="-45" dirty="0">
                <a:latin typeface="Arial MT"/>
                <a:cs typeface="Arial MT"/>
              </a:rPr>
              <a:t> </a:t>
            </a:r>
            <a:r>
              <a:rPr sz="1600" dirty="0">
                <a:latin typeface="Arial MT"/>
                <a:cs typeface="Arial MT"/>
              </a:rPr>
              <a:t>their</a:t>
            </a:r>
            <a:r>
              <a:rPr sz="1600" spc="-55" dirty="0">
                <a:latin typeface="Arial MT"/>
                <a:cs typeface="Arial MT"/>
              </a:rPr>
              <a:t> </a:t>
            </a:r>
            <a:r>
              <a:rPr sz="1600" dirty="0">
                <a:latin typeface="Arial MT"/>
                <a:cs typeface="Arial MT"/>
              </a:rPr>
              <a:t>partition;</a:t>
            </a:r>
            <a:r>
              <a:rPr sz="1600" spc="-55" dirty="0">
                <a:latin typeface="Arial MT"/>
                <a:cs typeface="Arial MT"/>
              </a:rPr>
              <a:t> </a:t>
            </a:r>
            <a:r>
              <a:rPr sz="1600" dirty="0">
                <a:latin typeface="Arial MT"/>
                <a:cs typeface="Arial MT"/>
              </a:rPr>
              <a:t>adjacent</a:t>
            </a:r>
            <a:r>
              <a:rPr sz="1600" spc="-60" dirty="0">
                <a:latin typeface="Arial MT"/>
                <a:cs typeface="Arial MT"/>
              </a:rPr>
              <a:t> </a:t>
            </a:r>
            <a:r>
              <a:rPr sz="1600" dirty="0">
                <a:latin typeface="Arial MT"/>
                <a:cs typeface="Arial MT"/>
              </a:rPr>
              <a:t>free</a:t>
            </a:r>
            <a:r>
              <a:rPr sz="1600" spc="-55" dirty="0">
                <a:latin typeface="Arial MT"/>
                <a:cs typeface="Arial MT"/>
              </a:rPr>
              <a:t> </a:t>
            </a:r>
            <a:r>
              <a:rPr sz="1600" dirty="0">
                <a:latin typeface="Arial MT"/>
                <a:cs typeface="Arial MT"/>
              </a:rPr>
              <a:t>partitions</a:t>
            </a:r>
            <a:r>
              <a:rPr sz="1600" spc="-55" dirty="0">
                <a:latin typeface="Arial MT"/>
                <a:cs typeface="Arial MT"/>
              </a:rPr>
              <a:t> </a:t>
            </a:r>
            <a:r>
              <a:rPr sz="1600" dirty="0">
                <a:latin typeface="Arial MT"/>
                <a:cs typeface="Arial MT"/>
              </a:rPr>
              <a:t>are</a:t>
            </a:r>
            <a:r>
              <a:rPr sz="1600" spc="-45" dirty="0">
                <a:latin typeface="Arial MT"/>
                <a:cs typeface="Arial MT"/>
              </a:rPr>
              <a:t> </a:t>
            </a:r>
            <a:r>
              <a:rPr sz="1600" spc="-10" dirty="0">
                <a:latin typeface="Arial MT"/>
                <a:cs typeface="Arial MT"/>
              </a:rPr>
              <a:t>combined</a:t>
            </a:r>
            <a:endParaRPr sz="1600">
              <a:latin typeface="Arial MT"/>
              <a:cs typeface="Arial MT"/>
            </a:endParaRPr>
          </a:p>
        </p:txBody>
      </p:sp>
      <p:pic>
        <p:nvPicPr>
          <p:cNvPr id="4" name="object 4"/>
          <p:cNvPicPr/>
          <p:nvPr/>
        </p:nvPicPr>
        <p:blipFill>
          <a:blip r:embed="rId2" cstate="print"/>
          <a:stretch>
            <a:fillRect/>
          </a:stretch>
        </p:blipFill>
        <p:spPr>
          <a:xfrm>
            <a:off x="185737" y="4086288"/>
            <a:ext cx="8801100" cy="2582799"/>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19</a:t>
            </a:fld>
            <a:endParaRPr spc="-20" dirty="0"/>
          </a:p>
        </p:txBody>
      </p:sp>
      <p:sp>
        <p:nvSpPr>
          <p:cNvPr id="7" name="object 7"/>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extLst>
      <p:ext uri="{BB962C8B-B14F-4D97-AF65-F5344CB8AC3E}">
        <p14:creationId xmlns:p14="http://schemas.microsoft.com/office/powerpoint/2010/main" val="813023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8148" rIns="0" bIns="0" rtlCol="0">
            <a:spAutoFit/>
          </a:bodyPr>
          <a:lstStyle/>
          <a:p>
            <a:pPr marL="1513840">
              <a:lnSpc>
                <a:spcPct val="100000"/>
              </a:lnSpc>
              <a:spcBef>
                <a:spcPts val="100"/>
              </a:spcBef>
            </a:pPr>
            <a:r>
              <a:rPr dirty="0">
                <a:solidFill>
                  <a:srgbClr val="006699"/>
                </a:solidFill>
              </a:rPr>
              <a:t>Dynamic</a:t>
            </a:r>
            <a:r>
              <a:rPr spc="-5" dirty="0">
                <a:solidFill>
                  <a:srgbClr val="006699"/>
                </a:solidFill>
              </a:rPr>
              <a:t> </a:t>
            </a:r>
            <a:r>
              <a:rPr spc="-10" dirty="0">
                <a:solidFill>
                  <a:srgbClr val="006699"/>
                </a:solidFill>
              </a:rPr>
              <a:t>Storage-</a:t>
            </a:r>
            <a:r>
              <a:rPr dirty="0">
                <a:solidFill>
                  <a:srgbClr val="006699"/>
                </a:solidFill>
              </a:rPr>
              <a:t>Allocation</a:t>
            </a:r>
            <a:r>
              <a:rPr spc="-35" dirty="0">
                <a:solidFill>
                  <a:srgbClr val="006699"/>
                </a:solidFill>
              </a:rPr>
              <a:t> </a:t>
            </a:r>
            <a:r>
              <a:rPr spc="-10" dirty="0">
                <a:solidFill>
                  <a:srgbClr val="006699"/>
                </a:solidFill>
              </a:rPr>
              <a:t>Problem</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20</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28446"/>
            <a:ext cx="8618855" cy="5106526"/>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How</a:t>
            </a:r>
            <a:r>
              <a:rPr sz="1800" spc="-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satisfy</a:t>
            </a:r>
            <a:r>
              <a:rPr sz="1800" spc="-5"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request of</a:t>
            </a:r>
            <a:r>
              <a:rPr sz="1800" spc="-15" dirty="0">
                <a:latin typeface="Arial MT"/>
                <a:cs typeface="Arial MT"/>
              </a:rPr>
              <a:t> </a:t>
            </a:r>
            <a:r>
              <a:rPr sz="1800" dirty="0">
                <a:latin typeface="Arial MT"/>
                <a:cs typeface="Arial MT"/>
              </a:rPr>
              <a:t>size</a:t>
            </a:r>
            <a:r>
              <a:rPr sz="1800" spc="5" dirty="0">
                <a:latin typeface="Arial MT"/>
                <a:cs typeface="Arial MT"/>
              </a:rPr>
              <a:t> </a:t>
            </a:r>
            <a:r>
              <a:rPr sz="1800" b="1" i="1" dirty="0">
                <a:latin typeface="Arial"/>
                <a:cs typeface="Arial"/>
              </a:rPr>
              <a:t>n</a:t>
            </a:r>
            <a:r>
              <a:rPr sz="1800" b="1" i="1" spc="-10" dirty="0">
                <a:latin typeface="Arial"/>
                <a:cs typeface="Arial"/>
              </a:rPr>
              <a:t> </a:t>
            </a:r>
            <a:r>
              <a:rPr sz="1800" dirty="0">
                <a:latin typeface="Arial MT"/>
                <a:cs typeface="Arial MT"/>
              </a:rPr>
              <a:t>from</a:t>
            </a:r>
            <a:r>
              <a:rPr sz="1800" spc="-10"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list</a:t>
            </a:r>
            <a:r>
              <a:rPr sz="1800" spc="-5"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free</a:t>
            </a:r>
            <a:r>
              <a:rPr sz="1800" spc="-15" dirty="0">
                <a:latin typeface="Arial MT"/>
                <a:cs typeface="Arial MT"/>
              </a:rPr>
              <a:t> </a:t>
            </a:r>
            <a:r>
              <a:rPr sz="1800" spc="-10" dirty="0">
                <a:latin typeface="Arial MT"/>
                <a:cs typeface="Arial MT"/>
              </a:rPr>
              <a:t>holes?</a:t>
            </a:r>
            <a:endParaRPr sz="1800" dirty="0">
              <a:latin typeface="Arial MT"/>
              <a:cs typeface="Arial MT"/>
            </a:endParaRPr>
          </a:p>
          <a:p>
            <a:pPr>
              <a:lnSpc>
                <a:spcPct val="100000"/>
              </a:lnSpc>
              <a:spcBef>
                <a:spcPts val="1170"/>
              </a:spcBef>
              <a:buClr>
                <a:srgbClr val="993300"/>
              </a:buClr>
              <a:buFont typeface="Wingdings"/>
              <a:buChar char=""/>
            </a:pPr>
            <a:endParaRPr sz="1800" dirty="0">
              <a:latin typeface="Arial MT"/>
              <a:cs typeface="Arial MT"/>
            </a:endParaRPr>
          </a:p>
          <a:p>
            <a:pPr marL="756285" lvl="1" indent="-286385">
              <a:lnSpc>
                <a:spcPct val="100000"/>
              </a:lnSpc>
              <a:buClr>
                <a:srgbClr val="CC6600"/>
              </a:buClr>
              <a:buSzPct val="80555"/>
              <a:buFont typeface="Wingdings"/>
              <a:buChar char=""/>
              <a:tabLst>
                <a:tab pos="756285" algn="l"/>
                <a:tab pos="1734820" algn="l"/>
              </a:tabLst>
            </a:pPr>
            <a:r>
              <a:rPr sz="1800" b="1" spc="-10" dirty="0">
                <a:solidFill>
                  <a:srgbClr val="3366FF"/>
                </a:solidFill>
                <a:latin typeface="Arial"/>
                <a:cs typeface="Arial"/>
              </a:rPr>
              <a:t>First-</a:t>
            </a:r>
            <a:r>
              <a:rPr sz="1800" b="1" spc="-20" dirty="0">
                <a:solidFill>
                  <a:srgbClr val="3366FF"/>
                </a:solidFill>
                <a:latin typeface="Arial"/>
                <a:cs typeface="Arial"/>
              </a:rPr>
              <a:t>fit</a:t>
            </a:r>
            <a:r>
              <a:rPr sz="1800" spc="-20" dirty="0">
                <a:latin typeface="Arial MT"/>
                <a:cs typeface="Arial MT"/>
              </a:rPr>
              <a:t>:</a:t>
            </a:r>
            <a:r>
              <a:rPr sz="1800" dirty="0">
                <a:latin typeface="Arial MT"/>
                <a:cs typeface="Arial MT"/>
              </a:rPr>
              <a:t>	Allocate</a:t>
            </a:r>
            <a:r>
              <a:rPr sz="1800" spc="-10" dirty="0">
                <a:latin typeface="Arial MT"/>
                <a:cs typeface="Arial MT"/>
              </a:rPr>
              <a:t> </a:t>
            </a:r>
            <a:r>
              <a:rPr sz="1800" dirty="0">
                <a:latin typeface="Arial MT"/>
                <a:cs typeface="Arial MT"/>
              </a:rPr>
              <a:t>the</a:t>
            </a:r>
            <a:r>
              <a:rPr sz="1800" spc="-15" dirty="0">
                <a:latin typeface="Arial MT"/>
                <a:cs typeface="Arial MT"/>
              </a:rPr>
              <a:t> </a:t>
            </a:r>
            <a:r>
              <a:rPr sz="1800" b="1" i="1" dirty="0">
                <a:latin typeface="Arial"/>
                <a:cs typeface="Arial"/>
              </a:rPr>
              <a:t>first</a:t>
            </a:r>
            <a:r>
              <a:rPr sz="1800" b="1" i="1" spc="-20" dirty="0">
                <a:latin typeface="Arial"/>
                <a:cs typeface="Arial"/>
              </a:rPr>
              <a:t> </a:t>
            </a:r>
            <a:r>
              <a:rPr sz="1800" dirty="0">
                <a:latin typeface="Arial MT"/>
                <a:cs typeface="Arial MT"/>
              </a:rPr>
              <a:t>hole</a:t>
            </a:r>
            <a:r>
              <a:rPr sz="1800" spc="-10" dirty="0">
                <a:latin typeface="Arial MT"/>
                <a:cs typeface="Arial MT"/>
              </a:rPr>
              <a:t> </a:t>
            </a:r>
            <a:r>
              <a:rPr sz="1800" dirty="0">
                <a:latin typeface="Arial MT"/>
                <a:cs typeface="Arial MT"/>
              </a:rPr>
              <a:t>that</a:t>
            </a:r>
            <a:r>
              <a:rPr sz="1800" spc="-15"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big</a:t>
            </a:r>
            <a:r>
              <a:rPr sz="1800" spc="-10" dirty="0">
                <a:latin typeface="Arial MT"/>
                <a:cs typeface="Arial MT"/>
              </a:rPr>
              <a:t> enough</a:t>
            </a:r>
            <a:endParaRPr sz="1800" dirty="0">
              <a:latin typeface="Arial MT"/>
              <a:cs typeface="Arial MT"/>
            </a:endParaRPr>
          </a:p>
          <a:p>
            <a:pPr marL="756285" lvl="1" indent="-286385">
              <a:lnSpc>
                <a:spcPts val="2050"/>
              </a:lnSpc>
              <a:spcBef>
                <a:spcPts val="1739"/>
              </a:spcBef>
              <a:buClr>
                <a:srgbClr val="CC6600"/>
              </a:buClr>
              <a:buSzPct val="80555"/>
              <a:buFont typeface="Wingdings"/>
              <a:buChar char=""/>
              <a:tabLst>
                <a:tab pos="756285" algn="l"/>
                <a:tab pos="1733550" algn="l"/>
              </a:tabLst>
            </a:pPr>
            <a:r>
              <a:rPr sz="1800" b="1" spc="-10" dirty="0">
                <a:solidFill>
                  <a:srgbClr val="3366FF"/>
                </a:solidFill>
                <a:latin typeface="Arial"/>
                <a:cs typeface="Arial"/>
              </a:rPr>
              <a:t>Best-</a:t>
            </a:r>
            <a:r>
              <a:rPr sz="1800" b="1" spc="-20" dirty="0">
                <a:solidFill>
                  <a:srgbClr val="3366FF"/>
                </a:solidFill>
                <a:latin typeface="Arial"/>
                <a:cs typeface="Arial"/>
              </a:rPr>
              <a:t>fit</a:t>
            </a:r>
            <a:r>
              <a:rPr sz="1800" spc="-20" dirty="0">
                <a:latin typeface="Arial MT"/>
                <a:cs typeface="Arial MT"/>
              </a:rPr>
              <a:t>:</a:t>
            </a:r>
            <a:r>
              <a:rPr sz="1800" dirty="0">
                <a:latin typeface="Arial MT"/>
                <a:cs typeface="Arial MT"/>
              </a:rPr>
              <a:t>	Allocate</a:t>
            </a:r>
            <a:r>
              <a:rPr sz="1800" spc="-30" dirty="0">
                <a:latin typeface="Arial MT"/>
                <a:cs typeface="Arial MT"/>
              </a:rPr>
              <a:t> </a:t>
            </a:r>
            <a:r>
              <a:rPr sz="1800" dirty="0">
                <a:latin typeface="Arial MT"/>
                <a:cs typeface="Arial MT"/>
              </a:rPr>
              <a:t>the</a:t>
            </a:r>
            <a:r>
              <a:rPr sz="1800" spc="-30" dirty="0">
                <a:latin typeface="Arial MT"/>
                <a:cs typeface="Arial MT"/>
              </a:rPr>
              <a:t> </a:t>
            </a:r>
            <a:r>
              <a:rPr sz="1800" b="1" i="1" dirty="0">
                <a:latin typeface="Arial"/>
                <a:cs typeface="Arial"/>
              </a:rPr>
              <a:t>smallest</a:t>
            </a:r>
            <a:r>
              <a:rPr sz="1800" b="1" i="1" spc="-20" dirty="0">
                <a:latin typeface="Arial"/>
                <a:cs typeface="Arial"/>
              </a:rPr>
              <a:t> </a:t>
            </a:r>
            <a:r>
              <a:rPr sz="1800" dirty="0">
                <a:latin typeface="Arial MT"/>
                <a:cs typeface="Arial MT"/>
              </a:rPr>
              <a:t>hole</a:t>
            </a:r>
            <a:r>
              <a:rPr sz="1800" spc="-30" dirty="0">
                <a:latin typeface="Arial MT"/>
                <a:cs typeface="Arial MT"/>
              </a:rPr>
              <a:t> </a:t>
            </a:r>
            <a:r>
              <a:rPr sz="1800" dirty="0">
                <a:latin typeface="Arial MT"/>
                <a:cs typeface="Arial MT"/>
              </a:rPr>
              <a:t>that</a:t>
            </a:r>
            <a:r>
              <a:rPr sz="1800" spc="-2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big</a:t>
            </a:r>
            <a:r>
              <a:rPr sz="1800" spc="-25" dirty="0">
                <a:latin typeface="Arial MT"/>
                <a:cs typeface="Arial MT"/>
              </a:rPr>
              <a:t> </a:t>
            </a:r>
            <a:r>
              <a:rPr sz="1800" dirty="0">
                <a:latin typeface="Arial MT"/>
                <a:cs typeface="Arial MT"/>
              </a:rPr>
              <a:t>enough;</a:t>
            </a:r>
            <a:r>
              <a:rPr sz="1800" spc="-15" dirty="0">
                <a:latin typeface="Arial MT"/>
                <a:cs typeface="Arial MT"/>
              </a:rPr>
              <a:t> </a:t>
            </a:r>
            <a:endParaRPr lang="en-US" sz="1800" spc="-15" dirty="0">
              <a:latin typeface="Arial MT"/>
              <a:cs typeface="Arial MT"/>
            </a:endParaRPr>
          </a:p>
          <a:p>
            <a:pPr marL="469900" lvl="1">
              <a:lnSpc>
                <a:spcPts val="2050"/>
              </a:lnSpc>
              <a:spcBef>
                <a:spcPts val="1739"/>
              </a:spcBef>
              <a:buClr>
                <a:srgbClr val="CC6600"/>
              </a:buClr>
              <a:buSzPct val="80555"/>
              <a:tabLst>
                <a:tab pos="756285" algn="l"/>
                <a:tab pos="1733550" algn="l"/>
              </a:tabLst>
            </a:pPr>
            <a:r>
              <a:rPr sz="1800" dirty="0">
                <a:latin typeface="Arial MT"/>
                <a:cs typeface="Arial MT"/>
              </a:rPr>
              <a:t>must</a:t>
            </a:r>
            <a:r>
              <a:rPr sz="1800" spc="-25" dirty="0">
                <a:latin typeface="Arial MT"/>
                <a:cs typeface="Arial MT"/>
              </a:rPr>
              <a:t> </a:t>
            </a:r>
            <a:r>
              <a:rPr sz="1800" dirty="0">
                <a:latin typeface="Arial MT"/>
                <a:cs typeface="Arial MT"/>
              </a:rPr>
              <a:t>search</a:t>
            </a:r>
            <a:r>
              <a:rPr sz="1800" spc="-35" dirty="0">
                <a:latin typeface="Arial MT"/>
                <a:cs typeface="Arial MT"/>
              </a:rPr>
              <a:t> </a:t>
            </a:r>
            <a:r>
              <a:rPr sz="1800" spc="-10" dirty="0" err="1">
                <a:latin typeface="Arial MT"/>
                <a:cs typeface="Arial MT"/>
              </a:rPr>
              <a:t>entire</a:t>
            </a:r>
            <a:r>
              <a:rPr sz="1800" dirty="0" err="1">
                <a:latin typeface="Arial MT"/>
                <a:cs typeface="Arial MT"/>
              </a:rPr>
              <a:t>list</a:t>
            </a:r>
            <a:r>
              <a:rPr sz="1800" dirty="0">
                <a:latin typeface="Arial MT"/>
                <a:cs typeface="Arial MT"/>
              </a:rPr>
              <a:t>,</a:t>
            </a:r>
            <a:r>
              <a:rPr sz="1800" spc="-20" dirty="0">
                <a:latin typeface="Arial MT"/>
                <a:cs typeface="Arial MT"/>
              </a:rPr>
              <a:t> </a:t>
            </a:r>
            <a:r>
              <a:rPr sz="1800" dirty="0">
                <a:latin typeface="Arial MT"/>
                <a:cs typeface="Arial MT"/>
              </a:rPr>
              <a:t>unless</a:t>
            </a:r>
            <a:r>
              <a:rPr sz="1800" spc="-15" dirty="0">
                <a:latin typeface="Arial MT"/>
                <a:cs typeface="Arial MT"/>
              </a:rPr>
              <a:t> </a:t>
            </a:r>
            <a:r>
              <a:rPr sz="1800" dirty="0">
                <a:latin typeface="Arial MT"/>
                <a:cs typeface="Arial MT"/>
              </a:rPr>
              <a:t>ordered</a:t>
            </a:r>
            <a:r>
              <a:rPr sz="1800" spc="-20" dirty="0">
                <a:latin typeface="Arial MT"/>
                <a:cs typeface="Arial MT"/>
              </a:rPr>
              <a:t> </a:t>
            </a:r>
            <a:r>
              <a:rPr sz="1800" dirty="0">
                <a:latin typeface="Arial MT"/>
                <a:cs typeface="Arial MT"/>
              </a:rPr>
              <a:t>by</a:t>
            </a:r>
            <a:r>
              <a:rPr sz="1800" spc="-25" dirty="0">
                <a:latin typeface="Arial MT"/>
                <a:cs typeface="Arial MT"/>
              </a:rPr>
              <a:t> </a:t>
            </a:r>
            <a:r>
              <a:rPr sz="1800" spc="-20" dirty="0">
                <a:latin typeface="Arial MT"/>
                <a:cs typeface="Arial MT"/>
              </a:rPr>
              <a:t>size</a:t>
            </a:r>
            <a:endParaRPr sz="1800" dirty="0">
              <a:latin typeface="Arial MT"/>
              <a:cs typeface="Arial MT"/>
            </a:endParaRPr>
          </a:p>
          <a:p>
            <a:pPr marL="1098550" lvl="2" indent="-227965">
              <a:lnSpc>
                <a:spcPct val="100000"/>
              </a:lnSpc>
              <a:spcBef>
                <a:spcPts val="1739"/>
              </a:spcBef>
              <a:buClr>
                <a:srgbClr val="009900"/>
              </a:buClr>
              <a:buSzPct val="75000"/>
              <a:buFont typeface="Webdings"/>
              <a:buChar char=""/>
              <a:tabLst>
                <a:tab pos="1098550" algn="l"/>
              </a:tabLst>
            </a:pPr>
            <a:r>
              <a:rPr sz="1800" dirty="0">
                <a:latin typeface="Arial MT"/>
                <a:cs typeface="Arial MT"/>
              </a:rPr>
              <a:t>Produces</a:t>
            </a:r>
            <a:r>
              <a:rPr sz="1800" spc="-25"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smallest</a:t>
            </a:r>
            <a:r>
              <a:rPr sz="1800" spc="-20" dirty="0">
                <a:latin typeface="Arial MT"/>
                <a:cs typeface="Arial MT"/>
              </a:rPr>
              <a:t> </a:t>
            </a:r>
            <a:r>
              <a:rPr sz="1800" dirty="0">
                <a:latin typeface="Arial MT"/>
                <a:cs typeface="Arial MT"/>
              </a:rPr>
              <a:t>leftover</a:t>
            </a:r>
            <a:r>
              <a:rPr sz="1800" spc="-30" dirty="0">
                <a:latin typeface="Arial MT"/>
                <a:cs typeface="Arial MT"/>
              </a:rPr>
              <a:t> </a:t>
            </a:r>
            <a:r>
              <a:rPr sz="1800" spc="-20" dirty="0">
                <a:latin typeface="Arial MT"/>
                <a:cs typeface="Arial MT"/>
              </a:rPr>
              <a:t>hole</a:t>
            </a:r>
            <a:endParaRPr sz="1800" dirty="0">
              <a:latin typeface="Arial MT"/>
              <a:cs typeface="Arial MT"/>
            </a:endParaRPr>
          </a:p>
          <a:p>
            <a:pPr marL="756285" marR="237490" lvl="1" indent="-287020">
              <a:lnSpc>
                <a:spcPts val="1939"/>
              </a:lnSpc>
              <a:spcBef>
                <a:spcPts val="1989"/>
              </a:spcBef>
              <a:buClr>
                <a:srgbClr val="CC6600"/>
              </a:buClr>
              <a:buSzPct val="80555"/>
              <a:buFont typeface="Wingdings"/>
              <a:buChar char=""/>
              <a:tabLst>
                <a:tab pos="756285" algn="l"/>
                <a:tab pos="1887220" algn="l"/>
              </a:tabLst>
            </a:pPr>
            <a:r>
              <a:rPr sz="1800" b="1" spc="-10" dirty="0">
                <a:solidFill>
                  <a:srgbClr val="3366FF"/>
                </a:solidFill>
                <a:latin typeface="Arial"/>
                <a:cs typeface="Arial"/>
              </a:rPr>
              <a:t>Worst-</a:t>
            </a:r>
            <a:r>
              <a:rPr sz="1800" b="1" spc="-20" dirty="0">
                <a:solidFill>
                  <a:srgbClr val="3366FF"/>
                </a:solidFill>
                <a:latin typeface="Arial"/>
                <a:cs typeface="Arial"/>
              </a:rPr>
              <a:t>fit</a:t>
            </a:r>
            <a:r>
              <a:rPr sz="1800" spc="-20" dirty="0">
                <a:latin typeface="Arial MT"/>
                <a:cs typeface="Arial MT"/>
              </a:rPr>
              <a:t>:</a:t>
            </a:r>
            <a:r>
              <a:rPr sz="1800" dirty="0">
                <a:latin typeface="Arial MT"/>
                <a:cs typeface="Arial MT"/>
              </a:rPr>
              <a:t>	Allocate</a:t>
            </a:r>
            <a:r>
              <a:rPr sz="1800" spc="-20" dirty="0">
                <a:latin typeface="Arial MT"/>
                <a:cs typeface="Arial MT"/>
              </a:rPr>
              <a:t> </a:t>
            </a:r>
            <a:r>
              <a:rPr sz="1800" dirty="0">
                <a:latin typeface="Arial MT"/>
                <a:cs typeface="Arial MT"/>
              </a:rPr>
              <a:t>the</a:t>
            </a:r>
            <a:r>
              <a:rPr sz="1800" spc="-20" dirty="0">
                <a:latin typeface="Arial MT"/>
                <a:cs typeface="Arial MT"/>
              </a:rPr>
              <a:t> </a:t>
            </a:r>
            <a:r>
              <a:rPr sz="1800" b="1" i="1" dirty="0">
                <a:latin typeface="Arial"/>
                <a:cs typeface="Arial"/>
              </a:rPr>
              <a:t>largest</a:t>
            </a:r>
            <a:r>
              <a:rPr sz="1800" b="1" i="1" spc="-20" dirty="0">
                <a:latin typeface="Arial"/>
                <a:cs typeface="Arial"/>
              </a:rPr>
              <a:t> </a:t>
            </a:r>
            <a:r>
              <a:rPr sz="1800" dirty="0">
                <a:latin typeface="Arial MT"/>
                <a:cs typeface="Arial MT"/>
              </a:rPr>
              <a:t>hole;</a:t>
            </a:r>
            <a:r>
              <a:rPr sz="1800" spc="-15" dirty="0">
                <a:latin typeface="Arial MT"/>
                <a:cs typeface="Arial MT"/>
              </a:rPr>
              <a:t> </a:t>
            </a:r>
            <a:r>
              <a:rPr sz="1800" dirty="0">
                <a:latin typeface="Arial MT"/>
                <a:cs typeface="Arial MT"/>
              </a:rPr>
              <a:t>must</a:t>
            </a:r>
            <a:r>
              <a:rPr sz="1800" spc="-30" dirty="0">
                <a:latin typeface="Arial MT"/>
                <a:cs typeface="Arial MT"/>
              </a:rPr>
              <a:t> </a:t>
            </a:r>
            <a:r>
              <a:rPr sz="1800" dirty="0">
                <a:latin typeface="Arial MT"/>
                <a:cs typeface="Arial MT"/>
              </a:rPr>
              <a:t>search</a:t>
            </a:r>
            <a:r>
              <a:rPr sz="1800" spc="-20" dirty="0">
                <a:latin typeface="Arial MT"/>
                <a:cs typeface="Arial MT"/>
              </a:rPr>
              <a:t> </a:t>
            </a:r>
            <a:r>
              <a:rPr sz="1800" dirty="0">
                <a:latin typeface="Arial MT"/>
                <a:cs typeface="Arial MT"/>
              </a:rPr>
              <a:t>entire</a:t>
            </a:r>
            <a:r>
              <a:rPr sz="1800" spc="-20" dirty="0">
                <a:latin typeface="Arial MT"/>
                <a:cs typeface="Arial MT"/>
              </a:rPr>
              <a:t> </a:t>
            </a:r>
            <a:r>
              <a:rPr sz="1800" dirty="0">
                <a:latin typeface="Arial MT"/>
                <a:cs typeface="Arial MT"/>
              </a:rPr>
              <a:t>list,</a:t>
            </a:r>
            <a:endParaRPr lang="en-US" sz="1800" dirty="0">
              <a:latin typeface="Arial MT"/>
              <a:cs typeface="Arial MT"/>
            </a:endParaRPr>
          </a:p>
          <a:p>
            <a:pPr marL="469265" marR="237490" lvl="1">
              <a:lnSpc>
                <a:spcPts val="1939"/>
              </a:lnSpc>
              <a:spcBef>
                <a:spcPts val="1989"/>
              </a:spcBef>
              <a:buClr>
                <a:srgbClr val="CC6600"/>
              </a:buClr>
              <a:buSzPct val="80555"/>
              <a:tabLst>
                <a:tab pos="756285" algn="l"/>
                <a:tab pos="1887220" algn="l"/>
              </a:tabLst>
            </a:pPr>
            <a:r>
              <a:rPr sz="1800" spc="-30" dirty="0">
                <a:latin typeface="Arial MT"/>
                <a:cs typeface="Arial MT"/>
              </a:rPr>
              <a:t> </a:t>
            </a:r>
            <a:r>
              <a:rPr sz="1800" dirty="0">
                <a:latin typeface="Arial MT"/>
                <a:cs typeface="Arial MT"/>
              </a:rPr>
              <a:t>unless</a:t>
            </a:r>
            <a:r>
              <a:rPr sz="1800" spc="-15" dirty="0">
                <a:latin typeface="Arial MT"/>
                <a:cs typeface="Arial MT"/>
              </a:rPr>
              <a:t> </a:t>
            </a:r>
            <a:r>
              <a:rPr sz="1800" spc="-10" dirty="0">
                <a:latin typeface="Arial MT"/>
                <a:cs typeface="Arial MT"/>
              </a:rPr>
              <a:t>ordered </a:t>
            </a:r>
            <a:r>
              <a:rPr sz="1800" dirty="0">
                <a:latin typeface="Arial MT"/>
                <a:cs typeface="Arial MT"/>
              </a:rPr>
              <a:t>by</a:t>
            </a:r>
            <a:r>
              <a:rPr sz="1800" spc="-5" dirty="0">
                <a:latin typeface="Arial MT"/>
                <a:cs typeface="Arial MT"/>
              </a:rPr>
              <a:t> </a:t>
            </a:r>
            <a:r>
              <a:rPr sz="1800" spc="-20" dirty="0">
                <a:latin typeface="Arial MT"/>
                <a:cs typeface="Arial MT"/>
              </a:rPr>
              <a:t>size</a:t>
            </a:r>
            <a:endParaRPr sz="1800" dirty="0">
              <a:latin typeface="Arial MT"/>
              <a:cs typeface="Arial MT"/>
            </a:endParaRPr>
          </a:p>
          <a:p>
            <a:pPr marL="1098550" lvl="2" indent="-227965">
              <a:lnSpc>
                <a:spcPct val="100000"/>
              </a:lnSpc>
              <a:spcBef>
                <a:spcPts val="1720"/>
              </a:spcBef>
              <a:buClr>
                <a:srgbClr val="009900"/>
              </a:buClr>
              <a:buSzPct val="75000"/>
              <a:buFont typeface="Webdings"/>
              <a:buChar char=""/>
              <a:tabLst>
                <a:tab pos="1098550" algn="l"/>
              </a:tabLst>
            </a:pPr>
            <a:r>
              <a:rPr sz="1800" dirty="0">
                <a:latin typeface="Arial MT"/>
                <a:cs typeface="Arial MT"/>
              </a:rPr>
              <a:t>Produces</a:t>
            </a:r>
            <a:r>
              <a:rPr sz="1800" spc="-20"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largest</a:t>
            </a:r>
            <a:r>
              <a:rPr sz="1800" spc="-20" dirty="0">
                <a:latin typeface="Arial MT"/>
                <a:cs typeface="Arial MT"/>
              </a:rPr>
              <a:t> </a:t>
            </a:r>
            <a:r>
              <a:rPr sz="1800" dirty="0">
                <a:latin typeface="Arial MT"/>
                <a:cs typeface="Arial MT"/>
              </a:rPr>
              <a:t>leftover</a:t>
            </a:r>
            <a:r>
              <a:rPr sz="1800" spc="-30" dirty="0">
                <a:latin typeface="Arial MT"/>
                <a:cs typeface="Arial MT"/>
              </a:rPr>
              <a:t> </a:t>
            </a:r>
            <a:r>
              <a:rPr sz="1800" spc="-20" dirty="0">
                <a:latin typeface="Arial MT"/>
                <a:cs typeface="Arial MT"/>
              </a:rPr>
              <a:t>hole</a:t>
            </a:r>
            <a:endParaRPr sz="1800" dirty="0">
              <a:latin typeface="Arial MT"/>
              <a:cs typeface="Arial MT"/>
            </a:endParaRPr>
          </a:p>
          <a:p>
            <a:pPr marL="1442085" marR="5080" indent="-228600">
              <a:lnSpc>
                <a:spcPts val="1939"/>
              </a:lnSpc>
              <a:spcBef>
                <a:spcPts val="785"/>
              </a:spcBef>
              <a:tabLst>
                <a:tab pos="1442085" algn="l"/>
              </a:tabLst>
            </a:pPr>
            <a:r>
              <a:rPr sz="1350" spc="-50" dirty="0">
                <a:solidFill>
                  <a:srgbClr val="FFCC00"/>
                </a:solidFill>
                <a:latin typeface="Arial MT"/>
                <a:cs typeface="Arial MT"/>
              </a:rPr>
              <a:t>–</a:t>
            </a:r>
            <a:r>
              <a:rPr sz="1350" dirty="0">
                <a:solidFill>
                  <a:srgbClr val="FFCC00"/>
                </a:solidFill>
                <a:latin typeface="Arial MT"/>
                <a:cs typeface="Arial MT"/>
              </a:rPr>
              <a:t>	</a:t>
            </a:r>
            <a:r>
              <a:rPr sz="1800" dirty="0">
                <a:solidFill>
                  <a:srgbClr val="FF0000"/>
                </a:solidFill>
                <a:latin typeface="Arial MT"/>
                <a:cs typeface="Arial MT"/>
              </a:rPr>
              <a:t>Which</a:t>
            </a:r>
            <a:r>
              <a:rPr sz="1800" spc="-15" dirty="0">
                <a:solidFill>
                  <a:srgbClr val="FF0000"/>
                </a:solidFill>
                <a:latin typeface="Arial MT"/>
                <a:cs typeface="Arial MT"/>
              </a:rPr>
              <a:t> </a:t>
            </a:r>
            <a:r>
              <a:rPr sz="1800" dirty="0">
                <a:solidFill>
                  <a:srgbClr val="FF0000"/>
                </a:solidFill>
                <a:latin typeface="Arial MT"/>
                <a:cs typeface="Arial MT"/>
              </a:rPr>
              <a:t>may</a:t>
            </a:r>
            <a:r>
              <a:rPr sz="1800" spc="-15" dirty="0">
                <a:solidFill>
                  <a:srgbClr val="FF0000"/>
                </a:solidFill>
                <a:latin typeface="Arial MT"/>
                <a:cs typeface="Arial MT"/>
              </a:rPr>
              <a:t> </a:t>
            </a:r>
            <a:r>
              <a:rPr sz="1800" dirty="0">
                <a:solidFill>
                  <a:srgbClr val="FF0000"/>
                </a:solidFill>
                <a:latin typeface="Arial MT"/>
                <a:cs typeface="Arial MT"/>
              </a:rPr>
              <a:t>be</a:t>
            </a:r>
            <a:r>
              <a:rPr sz="1800" spc="-10" dirty="0">
                <a:solidFill>
                  <a:srgbClr val="FF0000"/>
                </a:solidFill>
                <a:latin typeface="Arial MT"/>
                <a:cs typeface="Arial MT"/>
              </a:rPr>
              <a:t> </a:t>
            </a:r>
            <a:r>
              <a:rPr sz="1800" dirty="0">
                <a:solidFill>
                  <a:srgbClr val="FF0000"/>
                </a:solidFill>
                <a:latin typeface="Arial MT"/>
                <a:cs typeface="Arial MT"/>
              </a:rPr>
              <a:t>more</a:t>
            </a:r>
            <a:r>
              <a:rPr sz="1800" spc="-20" dirty="0">
                <a:solidFill>
                  <a:srgbClr val="FF0000"/>
                </a:solidFill>
                <a:latin typeface="Arial MT"/>
                <a:cs typeface="Arial MT"/>
              </a:rPr>
              <a:t> </a:t>
            </a:r>
            <a:r>
              <a:rPr sz="1800" dirty="0">
                <a:solidFill>
                  <a:srgbClr val="FF0000"/>
                </a:solidFill>
                <a:latin typeface="Arial MT"/>
                <a:cs typeface="Arial MT"/>
              </a:rPr>
              <a:t>useful</a:t>
            </a:r>
            <a:r>
              <a:rPr sz="1800" spc="-10" dirty="0">
                <a:solidFill>
                  <a:srgbClr val="FF0000"/>
                </a:solidFill>
                <a:latin typeface="Arial MT"/>
                <a:cs typeface="Arial MT"/>
              </a:rPr>
              <a:t> </a:t>
            </a:r>
            <a:r>
              <a:rPr sz="1800" dirty="0">
                <a:solidFill>
                  <a:srgbClr val="FF0000"/>
                </a:solidFill>
                <a:latin typeface="Arial MT"/>
                <a:cs typeface="Arial MT"/>
              </a:rPr>
              <a:t>than</a:t>
            </a:r>
            <a:r>
              <a:rPr sz="1800" spc="-15"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smaller</a:t>
            </a:r>
            <a:r>
              <a:rPr sz="1800" spc="-5" dirty="0">
                <a:solidFill>
                  <a:srgbClr val="FF0000"/>
                </a:solidFill>
                <a:latin typeface="Arial MT"/>
                <a:cs typeface="Arial MT"/>
              </a:rPr>
              <a:t> </a:t>
            </a:r>
            <a:r>
              <a:rPr sz="1800" dirty="0">
                <a:solidFill>
                  <a:srgbClr val="FF0000"/>
                </a:solidFill>
                <a:latin typeface="Arial MT"/>
                <a:cs typeface="Arial MT"/>
              </a:rPr>
              <a:t>leftover</a:t>
            </a:r>
            <a:r>
              <a:rPr sz="1800" spc="-15" dirty="0">
                <a:solidFill>
                  <a:srgbClr val="FF0000"/>
                </a:solidFill>
                <a:latin typeface="Arial MT"/>
                <a:cs typeface="Arial MT"/>
              </a:rPr>
              <a:t> </a:t>
            </a:r>
            <a:r>
              <a:rPr sz="1800" dirty="0">
                <a:solidFill>
                  <a:srgbClr val="FF0000"/>
                </a:solidFill>
                <a:latin typeface="Arial MT"/>
                <a:cs typeface="Arial MT"/>
              </a:rPr>
              <a:t>hole</a:t>
            </a:r>
            <a:r>
              <a:rPr sz="1800" spc="-10" dirty="0">
                <a:solidFill>
                  <a:srgbClr val="FF0000"/>
                </a:solidFill>
                <a:latin typeface="Arial MT"/>
                <a:cs typeface="Arial MT"/>
              </a:rPr>
              <a:t> </a:t>
            </a:r>
            <a:r>
              <a:rPr sz="1800" dirty="0">
                <a:solidFill>
                  <a:srgbClr val="FF0000"/>
                </a:solidFill>
                <a:latin typeface="Arial MT"/>
                <a:cs typeface="Arial MT"/>
              </a:rPr>
              <a:t>from</a:t>
            </a:r>
            <a:r>
              <a:rPr sz="1800" spc="-15" dirty="0">
                <a:solidFill>
                  <a:srgbClr val="FF0000"/>
                </a:solidFill>
                <a:latin typeface="Arial MT"/>
                <a:cs typeface="Arial MT"/>
              </a:rPr>
              <a:t> </a:t>
            </a:r>
            <a:r>
              <a:rPr sz="1800" dirty="0">
                <a:solidFill>
                  <a:srgbClr val="FF0000"/>
                </a:solidFill>
                <a:latin typeface="Arial MT"/>
                <a:cs typeface="Arial MT"/>
              </a:rPr>
              <a:t>a</a:t>
            </a:r>
            <a:r>
              <a:rPr sz="1800" spc="-10" dirty="0">
                <a:solidFill>
                  <a:srgbClr val="FF0000"/>
                </a:solidFill>
                <a:latin typeface="Arial MT"/>
                <a:cs typeface="Arial MT"/>
              </a:rPr>
              <a:t> best-</a:t>
            </a:r>
            <a:r>
              <a:rPr sz="1800" spc="-25" dirty="0">
                <a:solidFill>
                  <a:srgbClr val="FF0000"/>
                </a:solidFill>
                <a:latin typeface="Arial MT"/>
                <a:cs typeface="Arial MT"/>
              </a:rPr>
              <a:t>fit </a:t>
            </a:r>
            <a:r>
              <a:rPr sz="1800" dirty="0">
                <a:solidFill>
                  <a:srgbClr val="FF0000"/>
                </a:solidFill>
                <a:latin typeface="Arial MT"/>
                <a:cs typeface="Arial MT"/>
              </a:rPr>
              <a:t>approach;</a:t>
            </a:r>
            <a:r>
              <a:rPr sz="1800" spc="-10" dirty="0">
                <a:solidFill>
                  <a:srgbClr val="FF0000"/>
                </a:solidFill>
                <a:latin typeface="Arial MT"/>
                <a:cs typeface="Arial MT"/>
              </a:rPr>
              <a:t> </a:t>
            </a:r>
            <a:r>
              <a:rPr sz="1800" dirty="0">
                <a:solidFill>
                  <a:srgbClr val="FF0000"/>
                </a:solidFill>
                <a:latin typeface="Arial MT"/>
                <a:cs typeface="Arial MT"/>
              </a:rPr>
              <a:t>see</a:t>
            </a:r>
            <a:r>
              <a:rPr sz="1800" spc="-20" dirty="0">
                <a:solidFill>
                  <a:srgbClr val="FF0000"/>
                </a:solidFill>
                <a:latin typeface="Arial MT"/>
                <a:cs typeface="Arial MT"/>
              </a:rPr>
              <a:t> </a:t>
            </a:r>
            <a:r>
              <a:rPr sz="1800" spc="-10" dirty="0">
                <a:solidFill>
                  <a:srgbClr val="FF0000"/>
                </a:solidFill>
                <a:latin typeface="Arial MT"/>
                <a:cs typeface="Arial MT"/>
              </a:rPr>
              <a:t>Slide-</a:t>
            </a:r>
            <a:r>
              <a:rPr sz="1800" spc="-25" dirty="0">
                <a:solidFill>
                  <a:srgbClr val="FF0000"/>
                </a:solidFill>
                <a:latin typeface="Arial MT"/>
                <a:cs typeface="Arial MT"/>
              </a:rPr>
              <a:t>25</a:t>
            </a:r>
            <a:endParaRPr sz="1800" dirty="0">
              <a:latin typeface="Arial MT"/>
              <a:cs typeface="Arial MT"/>
            </a:endParaRPr>
          </a:p>
          <a:p>
            <a:pPr marL="354965" indent="-342265">
              <a:lnSpc>
                <a:spcPct val="100000"/>
              </a:lnSpc>
              <a:buClr>
                <a:srgbClr val="993300"/>
              </a:buClr>
              <a:buSzPct val="88888"/>
              <a:buFont typeface="Wingdings"/>
              <a:buChar char=""/>
              <a:tabLst>
                <a:tab pos="354965" algn="l"/>
              </a:tabLst>
            </a:pPr>
            <a:r>
              <a:rPr sz="1800" spc="-10" dirty="0">
                <a:latin typeface="Arial MT"/>
                <a:cs typeface="Arial MT"/>
              </a:rPr>
              <a:t>First-</a:t>
            </a:r>
            <a:r>
              <a:rPr sz="1800" dirty="0">
                <a:latin typeface="Arial MT"/>
                <a:cs typeface="Arial MT"/>
              </a:rPr>
              <a:t>fit</a:t>
            </a:r>
            <a:r>
              <a:rPr sz="1800" spc="-5" dirty="0">
                <a:latin typeface="Arial MT"/>
                <a:cs typeface="Arial MT"/>
              </a:rPr>
              <a:t> </a:t>
            </a:r>
            <a:r>
              <a:rPr sz="1800" dirty="0">
                <a:latin typeface="Arial MT"/>
                <a:cs typeface="Arial MT"/>
              </a:rPr>
              <a:t>and </a:t>
            </a:r>
            <a:r>
              <a:rPr sz="1800" spc="-10" dirty="0">
                <a:latin typeface="Arial MT"/>
                <a:cs typeface="Arial MT"/>
              </a:rPr>
              <a:t>best-</a:t>
            </a:r>
            <a:r>
              <a:rPr sz="1800" dirty="0">
                <a:latin typeface="Arial MT"/>
                <a:cs typeface="Arial MT"/>
              </a:rPr>
              <a:t>fit</a:t>
            </a:r>
            <a:r>
              <a:rPr sz="1800" spc="-5" dirty="0">
                <a:latin typeface="Arial MT"/>
                <a:cs typeface="Arial MT"/>
              </a:rPr>
              <a:t> </a:t>
            </a:r>
            <a:r>
              <a:rPr sz="1800" dirty="0">
                <a:latin typeface="Arial MT"/>
                <a:cs typeface="Arial MT"/>
              </a:rPr>
              <a:t>better</a:t>
            </a:r>
            <a:r>
              <a:rPr sz="1800" spc="-5" dirty="0">
                <a:latin typeface="Arial MT"/>
                <a:cs typeface="Arial MT"/>
              </a:rPr>
              <a:t> </a:t>
            </a:r>
            <a:r>
              <a:rPr sz="1800" dirty="0">
                <a:latin typeface="Arial MT"/>
                <a:cs typeface="Arial MT"/>
              </a:rPr>
              <a:t>than </a:t>
            </a:r>
            <a:r>
              <a:rPr sz="1800" spc="-10" dirty="0">
                <a:latin typeface="Arial MT"/>
                <a:cs typeface="Arial MT"/>
              </a:rPr>
              <a:t>worst-</a:t>
            </a:r>
            <a:r>
              <a:rPr sz="1800" dirty="0">
                <a:latin typeface="Arial MT"/>
                <a:cs typeface="Arial MT"/>
              </a:rPr>
              <a:t>fit</a:t>
            </a:r>
            <a:r>
              <a:rPr sz="1800" spc="20" dirty="0">
                <a:latin typeface="Arial MT"/>
                <a:cs typeface="Arial MT"/>
              </a:rPr>
              <a:t> </a:t>
            </a:r>
            <a:r>
              <a:rPr sz="1800" dirty="0">
                <a:latin typeface="Arial MT"/>
                <a:cs typeface="Arial MT"/>
              </a:rPr>
              <a:t>in terms</a:t>
            </a:r>
            <a:r>
              <a:rPr sz="1800" spc="-15" dirty="0">
                <a:latin typeface="Arial MT"/>
                <a:cs typeface="Arial MT"/>
              </a:rPr>
              <a:t> </a:t>
            </a:r>
            <a:r>
              <a:rPr sz="1800" dirty="0">
                <a:latin typeface="Arial MT"/>
                <a:cs typeface="Arial MT"/>
              </a:rPr>
              <a:t>of speed and storage</a:t>
            </a:r>
            <a:r>
              <a:rPr sz="1800" spc="-15" dirty="0">
                <a:latin typeface="Arial MT"/>
                <a:cs typeface="Arial MT"/>
              </a:rPr>
              <a:t> </a:t>
            </a:r>
            <a:r>
              <a:rPr sz="1800" spc="-10" dirty="0">
                <a:latin typeface="Arial MT"/>
                <a:cs typeface="Arial MT"/>
              </a:rPr>
              <a:t>utilization</a:t>
            </a:r>
            <a:endParaRPr sz="1800" dirty="0">
              <a:latin typeface="Arial MT"/>
              <a:cs typeface="Arial MT"/>
            </a:endParaRPr>
          </a:p>
          <a:p>
            <a:pPr marL="697865" indent="-342265">
              <a:lnSpc>
                <a:spcPct val="100000"/>
              </a:lnSpc>
              <a:buClr>
                <a:srgbClr val="993300"/>
              </a:buClr>
              <a:buSzPct val="88888"/>
              <a:buFont typeface="Wingdings"/>
              <a:buChar char=""/>
              <a:tabLst>
                <a:tab pos="697865" algn="l"/>
              </a:tabLst>
            </a:pPr>
            <a:r>
              <a:rPr sz="1800" spc="-10" dirty="0">
                <a:solidFill>
                  <a:srgbClr val="FF0000"/>
                </a:solidFill>
                <a:latin typeface="Arial MT"/>
                <a:cs typeface="Arial MT"/>
              </a:rPr>
              <a:t>First-</a:t>
            </a:r>
            <a:r>
              <a:rPr sz="1800" dirty="0">
                <a:solidFill>
                  <a:srgbClr val="FF0000"/>
                </a:solidFill>
                <a:latin typeface="Arial MT"/>
                <a:cs typeface="Arial MT"/>
              </a:rPr>
              <a:t>fit</a:t>
            </a:r>
            <a:r>
              <a:rPr sz="1800" spc="-20"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generally</a:t>
            </a:r>
            <a:r>
              <a:rPr sz="1800" spc="-5"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spc="-10" dirty="0">
                <a:solidFill>
                  <a:srgbClr val="FF0000"/>
                </a:solidFill>
                <a:latin typeface="Arial MT"/>
                <a:cs typeface="Arial MT"/>
              </a:rPr>
              <a:t>fastest</a:t>
            </a:r>
            <a:endParaRPr sz="1800" dirty="0">
              <a:latin typeface="Arial MT"/>
              <a:cs typeface="Arial MT"/>
            </a:endParaRPr>
          </a:p>
        </p:txBody>
      </p:sp>
      <p:pic>
        <p:nvPicPr>
          <p:cNvPr id="8" name="Picture 7">
            <a:extLst>
              <a:ext uri="{FF2B5EF4-FFF2-40B4-BE49-F238E27FC236}">
                <a16:creationId xmlns:a16="http://schemas.microsoft.com/office/drawing/2014/main" id="{C7E28B06-4591-8CEB-4929-31C98AAA1AEE}"/>
              </a:ext>
            </a:extLst>
          </p:cNvPr>
          <p:cNvPicPr>
            <a:picLocks noChangeAspect="1"/>
          </p:cNvPicPr>
          <p:nvPr/>
        </p:nvPicPr>
        <p:blipFill>
          <a:blip r:embed="rId2"/>
          <a:stretch>
            <a:fillRect/>
          </a:stretch>
        </p:blipFill>
        <p:spPr>
          <a:xfrm>
            <a:off x="7162800" y="1028446"/>
            <a:ext cx="1554615" cy="3101609"/>
          </a:xfrm>
          <a:prstGeom prst="rect">
            <a:avLst/>
          </a:prstGeom>
        </p:spPr>
      </p:pic>
    </p:spTree>
    <p:extLst>
      <p:ext uri="{BB962C8B-B14F-4D97-AF65-F5344CB8AC3E}">
        <p14:creationId xmlns:p14="http://schemas.microsoft.com/office/powerpoint/2010/main" val="1909081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047" rIns="0" bIns="0" rtlCol="0">
            <a:spAutoFit/>
          </a:bodyPr>
          <a:lstStyle/>
          <a:p>
            <a:pPr marL="3303904">
              <a:lnSpc>
                <a:spcPct val="100000"/>
              </a:lnSpc>
              <a:spcBef>
                <a:spcPts val="100"/>
              </a:spcBef>
            </a:pPr>
            <a:r>
              <a:rPr spc="-10" dirty="0">
                <a:solidFill>
                  <a:srgbClr val="006699"/>
                </a:solidFill>
              </a:rPr>
              <a:t>Fragmentation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21</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64668" y="1070228"/>
            <a:ext cx="8418830" cy="5242461"/>
          </a:xfrm>
          <a:prstGeom prst="rect">
            <a:avLst/>
          </a:prstGeom>
        </p:spPr>
        <p:txBody>
          <a:bodyPr vert="horz" wrap="square" lIns="0" tIns="12700" rIns="0" bIns="0" rtlCol="0">
            <a:spAutoFit/>
          </a:bodyPr>
          <a:lstStyle/>
          <a:p>
            <a:pPr marL="355600" marR="5080" indent="-342900">
              <a:lnSpc>
                <a:spcPct val="100000"/>
              </a:lnSpc>
              <a:spcBef>
                <a:spcPts val="100"/>
              </a:spcBef>
              <a:buClr>
                <a:srgbClr val="993300"/>
              </a:buClr>
              <a:buSzPct val="88888"/>
              <a:buFont typeface="Wingdings"/>
              <a:buChar char=""/>
              <a:tabLst>
                <a:tab pos="355600" algn="l"/>
              </a:tabLst>
            </a:pPr>
            <a:r>
              <a:rPr sz="1800" b="1" dirty="0">
                <a:solidFill>
                  <a:srgbClr val="3366FF"/>
                </a:solidFill>
                <a:latin typeface="Arial"/>
                <a:cs typeface="Arial"/>
              </a:rPr>
              <a:t>External</a:t>
            </a:r>
            <a:r>
              <a:rPr sz="1800" b="1" spc="-25" dirty="0">
                <a:solidFill>
                  <a:srgbClr val="3366FF"/>
                </a:solidFill>
                <a:latin typeface="Arial"/>
                <a:cs typeface="Arial"/>
              </a:rPr>
              <a:t> </a:t>
            </a:r>
            <a:r>
              <a:rPr sz="1800" b="1" dirty="0">
                <a:solidFill>
                  <a:srgbClr val="3366FF"/>
                </a:solidFill>
                <a:latin typeface="Arial"/>
                <a:cs typeface="Arial"/>
              </a:rPr>
              <a:t>Fragmentation</a:t>
            </a:r>
            <a:r>
              <a:rPr sz="1800" b="1" spc="-5" dirty="0">
                <a:solidFill>
                  <a:srgbClr val="3366FF"/>
                </a:solidFill>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total</a:t>
            </a:r>
            <a:r>
              <a:rPr sz="1800" spc="-25"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space</a:t>
            </a:r>
            <a:r>
              <a:rPr sz="1800" spc="-10" dirty="0">
                <a:latin typeface="Arial MT"/>
                <a:cs typeface="Arial MT"/>
              </a:rPr>
              <a:t> </a:t>
            </a:r>
            <a:r>
              <a:rPr sz="1800" dirty="0">
                <a:latin typeface="Arial MT"/>
                <a:cs typeface="Arial MT"/>
              </a:rPr>
              <a:t>exists</a:t>
            </a:r>
            <a:r>
              <a:rPr sz="1800" spc="-1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satisfy</a:t>
            </a:r>
            <a:r>
              <a:rPr sz="1800" spc="-1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request,</a:t>
            </a:r>
            <a:r>
              <a:rPr sz="1800" spc="-15" dirty="0">
                <a:latin typeface="Arial MT"/>
                <a:cs typeface="Arial MT"/>
              </a:rPr>
              <a:t> </a:t>
            </a:r>
            <a:r>
              <a:rPr sz="1800" dirty="0">
                <a:latin typeface="Arial MT"/>
                <a:cs typeface="Arial MT"/>
              </a:rPr>
              <a:t>but</a:t>
            </a:r>
            <a:r>
              <a:rPr sz="1800" spc="-10" dirty="0">
                <a:latin typeface="Arial MT"/>
                <a:cs typeface="Arial MT"/>
              </a:rPr>
              <a:t> </a:t>
            </a:r>
            <a:r>
              <a:rPr sz="1800" spc="-25" dirty="0">
                <a:latin typeface="Arial MT"/>
                <a:cs typeface="Arial MT"/>
              </a:rPr>
              <a:t>it </a:t>
            </a:r>
            <a:r>
              <a:rPr sz="1800" dirty="0">
                <a:latin typeface="Arial MT"/>
                <a:cs typeface="Arial MT"/>
              </a:rPr>
              <a:t>is</a:t>
            </a:r>
            <a:r>
              <a:rPr sz="1800" spc="-10" dirty="0">
                <a:latin typeface="Arial MT"/>
                <a:cs typeface="Arial MT"/>
              </a:rPr>
              <a:t> </a:t>
            </a:r>
            <a:r>
              <a:rPr sz="1800" dirty="0">
                <a:latin typeface="Arial MT"/>
                <a:cs typeface="Arial MT"/>
              </a:rPr>
              <a:t>not </a:t>
            </a:r>
            <a:r>
              <a:rPr sz="1800" spc="-10" dirty="0">
                <a:latin typeface="Arial MT"/>
                <a:cs typeface="Arial MT"/>
              </a:rPr>
              <a:t>contiguous</a:t>
            </a:r>
            <a:endParaRPr lang="en-US" sz="1800" spc="-10" dirty="0">
              <a:latin typeface="Arial MT"/>
              <a:cs typeface="Arial MT"/>
            </a:endParaRPr>
          </a:p>
          <a:p>
            <a:pPr marL="355600" marR="5080" indent="-342900">
              <a:lnSpc>
                <a:spcPct val="100000"/>
              </a:lnSpc>
              <a:spcBef>
                <a:spcPts val="100"/>
              </a:spcBef>
              <a:buClr>
                <a:srgbClr val="993300"/>
              </a:buClr>
              <a:buSzPct val="88888"/>
              <a:buFont typeface="Wingdings"/>
              <a:buChar char=""/>
              <a:tabLst>
                <a:tab pos="355600" algn="l"/>
              </a:tabLst>
            </a:pPr>
            <a:r>
              <a:rPr sz="1800" dirty="0">
                <a:solidFill>
                  <a:srgbClr val="FF0000"/>
                </a:solidFill>
                <a:latin typeface="Arial MT"/>
                <a:cs typeface="Arial MT"/>
              </a:rPr>
              <a:t>Free</a:t>
            </a:r>
            <a:r>
              <a:rPr sz="1800" spc="-35" dirty="0">
                <a:solidFill>
                  <a:srgbClr val="FF0000"/>
                </a:solidFill>
                <a:latin typeface="Arial MT"/>
                <a:cs typeface="Arial MT"/>
              </a:rPr>
              <a:t> </a:t>
            </a:r>
            <a:r>
              <a:rPr sz="1800" dirty="0">
                <a:solidFill>
                  <a:srgbClr val="FF0000"/>
                </a:solidFill>
                <a:latin typeface="Arial MT"/>
                <a:cs typeface="Arial MT"/>
              </a:rPr>
              <a:t>memory</a:t>
            </a:r>
            <a:r>
              <a:rPr sz="1800" spc="-35" dirty="0">
                <a:solidFill>
                  <a:srgbClr val="FF0000"/>
                </a:solidFill>
                <a:latin typeface="Arial MT"/>
                <a:cs typeface="Arial MT"/>
              </a:rPr>
              <a:t> </a:t>
            </a:r>
            <a:r>
              <a:rPr sz="1800" dirty="0">
                <a:solidFill>
                  <a:srgbClr val="FF0000"/>
                </a:solidFill>
                <a:latin typeface="Arial MT"/>
                <a:cs typeface="Arial MT"/>
              </a:rPr>
              <a:t>space</a:t>
            </a:r>
            <a:r>
              <a:rPr sz="1800" spc="-20" dirty="0">
                <a:solidFill>
                  <a:srgbClr val="FF0000"/>
                </a:solidFill>
                <a:latin typeface="Arial MT"/>
                <a:cs typeface="Arial MT"/>
              </a:rPr>
              <a:t> </a:t>
            </a:r>
            <a:r>
              <a:rPr sz="1800" dirty="0">
                <a:solidFill>
                  <a:srgbClr val="FF0000"/>
                </a:solidFill>
                <a:latin typeface="Arial MT"/>
                <a:cs typeface="Arial MT"/>
              </a:rPr>
              <a:t>is</a:t>
            </a:r>
            <a:r>
              <a:rPr sz="1800" spc="-20" dirty="0">
                <a:solidFill>
                  <a:srgbClr val="FF0000"/>
                </a:solidFill>
                <a:latin typeface="Arial MT"/>
                <a:cs typeface="Arial MT"/>
              </a:rPr>
              <a:t> </a:t>
            </a:r>
            <a:r>
              <a:rPr sz="1800" dirty="0">
                <a:solidFill>
                  <a:srgbClr val="FF0000"/>
                </a:solidFill>
                <a:latin typeface="Arial MT"/>
                <a:cs typeface="Arial MT"/>
              </a:rPr>
              <a:t>broken</a:t>
            </a:r>
            <a:r>
              <a:rPr sz="1800" spc="-20" dirty="0">
                <a:solidFill>
                  <a:srgbClr val="FF0000"/>
                </a:solidFill>
                <a:latin typeface="Arial MT"/>
                <a:cs typeface="Arial MT"/>
              </a:rPr>
              <a:t> </a:t>
            </a:r>
            <a:r>
              <a:rPr sz="1800" dirty="0">
                <a:solidFill>
                  <a:srgbClr val="FF0000"/>
                </a:solidFill>
                <a:latin typeface="Arial MT"/>
                <a:cs typeface="Arial MT"/>
              </a:rPr>
              <a:t>into</a:t>
            </a:r>
            <a:r>
              <a:rPr sz="1800" spc="-25" dirty="0">
                <a:solidFill>
                  <a:srgbClr val="FF0000"/>
                </a:solidFill>
                <a:latin typeface="Arial MT"/>
                <a:cs typeface="Arial MT"/>
              </a:rPr>
              <a:t> </a:t>
            </a:r>
            <a:r>
              <a:rPr sz="1800" dirty="0">
                <a:solidFill>
                  <a:srgbClr val="FF0000"/>
                </a:solidFill>
                <a:latin typeface="Arial MT"/>
                <a:cs typeface="Arial MT"/>
              </a:rPr>
              <a:t>pieces</a:t>
            </a:r>
            <a:r>
              <a:rPr sz="1800" spc="-15" dirty="0">
                <a:solidFill>
                  <a:srgbClr val="FF0000"/>
                </a:solidFill>
                <a:latin typeface="Arial MT"/>
                <a:cs typeface="Arial MT"/>
              </a:rPr>
              <a:t> </a:t>
            </a:r>
            <a:r>
              <a:rPr sz="1800" dirty="0">
                <a:solidFill>
                  <a:srgbClr val="FF0000"/>
                </a:solidFill>
                <a:latin typeface="Arial MT"/>
                <a:cs typeface="Arial MT"/>
              </a:rPr>
              <a:t>as</a:t>
            </a:r>
            <a:r>
              <a:rPr sz="1800" spc="-20" dirty="0">
                <a:solidFill>
                  <a:srgbClr val="FF0000"/>
                </a:solidFill>
                <a:latin typeface="Arial MT"/>
                <a:cs typeface="Arial MT"/>
              </a:rPr>
              <a:t> </a:t>
            </a:r>
            <a:r>
              <a:rPr sz="1800" dirty="0">
                <a:solidFill>
                  <a:srgbClr val="FF0000"/>
                </a:solidFill>
                <a:latin typeface="Arial MT"/>
                <a:cs typeface="Arial MT"/>
              </a:rPr>
              <a:t>processes</a:t>
            </a:r>
            <a:r>
              <a:rPr sz="1800" spc="-20" dirty="0">
                <a:solidFill>
                  <a:srgbClr val="FF0000"/>
                </a:solidFill>
                <a:latin typeface="Arial MT"/>
                <a:cs typeface="Arial MT"/>
              </a:rPr>
              <a:t> </a:t>
            </a:r>
            <a:r>
              <a:rPr sz="1800" dirty="0">
                <a:solidFill>
                  <a:srgbClr val="FF0000"/>
                </a:solidFill>
                <a:latin typeface="Arial MT"/>
                <a:cs typeface="Arial MT"/>
              </a:rPr>
              <a:t>are</a:t>
            </a:r>
            <a:r>
              <a:rPr sz="1800" spc="-20" dirty="0">
                <a:solidFill>
                  <a:srgbClr val="FF0000"/>
                </a:solidFill>
                <a:latin typeface="Arial MT"/>
                <a:cs typeface="Arial MT"/>
              </a:rPr>
              <a:t> </a:t>
            </a:r>
            <a:endParaRPr lang="en-US" spc="-20" dirty="0">
              <a:solidFill>
                <a:srgbClr val="FF0000"/>
              </a:solidFill>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dirty="0">
                <a:solidFill>
                  <a:srgbClr val="FF0000"/>
                </a:solidFill>
                <a:latin typeface="Arial MT"/>
                <a:cs typeface="Arial MT"/>
              </a:rPr>
              <a:t>loaded</a:t>
            </a:r>
            <a:r>
              <a:rPr sz="1800" spc="-15" dirty="0">
                <a:solidFill>
                  <a:srgbClr val="FF0000"/>
                </a:solidFill>
                <a:latin typeface="Arial MT"/>
                <a:cs typeface="Arial MT"/>
              </a:rPr>
              <a:t> </a:t>
            </a:r>
            <a:r>
              <a:rPr sz="1800" spc="-25" dirty="0">
                <a:solidFill>
                  <a:srgbClr val="FF0000"/>
                </a:solidFill>
                <a:latin typeface="Arial MT"/>
                <a:cs typeface="Arial MT"/>
              </a:rPr>
              <a:t>and</a:t>
            </a:r>
            <a:r>
              <a:rPr lang="en-US" sz="1800" spc="-25" dirty="0">
                <a:solidFill>
                  <a:srgbClr val="FF0000"/>
                </a:solidFill>
                <a:latin typeface="Arial MT"/>
                <a:cs typeface="Arial MT"/>
              </a:rPr>
              <a:t> </a:t>
            </a:r>
            <a:r>
              <a:rPr sz="1800" dirty="0">
                <a:solidFill>
                  <a:srgbClr val="FF0000"/>
                </a:solidFill>
                <a:latin typeface="Arial MT"/>
                <a:cs typeface="Arial MT"/>
              </a:rPr>
              <a:t>removed</a:t>
            </a:r>
            <a:r>
              <a:rPr sz="1800" spc="-20" dirty="0">
                <a:solidFill>
                  <a:srgbClr val="FF0000"/>
                </a:solidFill>
                <a:latin typeface="Arial MT"/>
                <a:cs typeface="Arial MT"/>
              </a:rPr>
              <a:t> </a:t>
            </a:r>
            <a:r>
              <a:rPr sz="1800" dirty="0">
                <a:solidFill>
                  <a:srgbClr val="FF0000"/>
                </a:solidFill>
                <a:latin typeface="Arial MT"/>
                <a:cs typeface="Arial MT"/>
              </a:rPr>
              <a:t>from</a:t>
            </a:r>
            <a:r>
              <a:rPr sz="1800" spc="-20" dirty="0">
                <a:solidFill>
                  <a:srgbClr val="FF0000"/>
                </a:solidFill>
                <a:latin typeface="Arial MT"/>
                <a:cs typeface="Arial MT"/>
              </a:rPr>
              <a:t> </a:t>
            </a:r>
            <a:r>
              <a:rPr sz="1800" spc="-10" dirty="0">
                <a:solidFill>
                  <a:srgbClr val="FF0000"/>
                </a:solidFill>
                <a:latin typeface="Arial MT"/>
                <a:cs typeface="Arial MT"/>
              </a:rPr>
              <a:t>memory</a:t>
            </a:r>
            <a:endParaRPr sz="1800" dirty="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dirty="0">
                <a:solidFill>
                  <a:srgbClr val="FF0000"/>
                </a:solidFill>
                <a:latin typeface="Arial MT"/>
                <a:cs typeface="Arial MT"/>
              </a:rPr>
              <a:t>Both,</a:t>
            </a:r>
            <a:r>
              <a:rPr sz="1800" spc="-10" dirty="0">
                <a:solidFill>
                  <a:srgbClr val="FF0000"/>
                </a:solidFill>
                <a:latin typeface="Arial MT"/>
                <a:cs typeface="Arial MT"/>
              </a:rPr>
              <a:t> first-</a:t>
            </a:r>
            <a:r>
              <a:rPr sz="1800" dirty="0">
                <a:solidFill>
                  <a:srgbClr val="FF0000"/>
                </a:solidFill>
                <a:latin typeface="Arial MT"/>
                <a:cs typeface="Arial MT"/>
              </a:rPr>
              <a:t>fit</a:t>
            </a:r>
            <a:r>
              <a:rPr sz="1800" spc="-10"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spc="-10" dirty="0">
                <a:solidFill>
                  <a:srgbClr val="FF0000"/>
                </a:solidFill>
                <a:latin typeface="Arial MT"/>
                <a:cs typeface="Arial MT"/>
              </a:rPr>
              <a:t>best-</a:t>
            </a:r>
            <a:r>
              <a:rPr sz="1800" dirty="0">
                <a:solidFill>
                  <a:srgbClr val="FF0000"/>
                </a:solidFill>
                <a:latin typeface="Arial MT"/>
                <a:cs typeface="Arial MT"/>
              </a:rPr>
              <a:t>fit</a:t>
            </a:r>
            <a:r>
              <a:rPr sz="1800" spc="-5" dirty="0">
                <a:solidFill>
                  <a:srgbClr val="FF0000"/>
                </a:solidFill>
                <a:latin typeface="Arial MT"/>
                <a:cs typeface="Arial MT"/>
              </a:rPr>
              <a:t> </a:t>
            </a:r>
            <a:r>
              <a:rPr sz="1800" dirty="0">
                <a:solidFill>
                  <a:srgbClr val="FF0000"/>
                </a:solidFill>
                <a:latin typeface="Arial MT"/>
                <a:cs typeface="Arial MT"/>
              </a:rPr>
              <a:t>strategies</a:t>
            </a:r>
            <a:r>
              <a:rPr sz="1800" spc="5" dirty="0">
                <a:solidFill>
                  <a:srgbClr val="FF0000"/>
                </a:solidFill>
                <a:latin typeface="Arial MT"/>
                <a:cs typeface="Arial MT"/>
              </a:rPr>
              <a:t> </a:t>
            </a:r>
            <a:r>
              <a:rPr sz="1800" dirty="0">
                <a:solidFill>
                  <a:srgbClr val="FF0000"/>
                </a:solidFill>
                <a:latin typeface="Arial MT"/>
                <a:cs typeface="Arial MT"/>
              </a:rPr>
              <a:t>suffer</a:t>
            </a:r>
            <a:r>
              <a:rPr sz="1800" spc="-25" dirty="0">
                <a:solidFill>
                  <a:srgbClr val="FF0000"/>
                </a:solidFill>
                <a:latin typeface="Arial MT"/>
                <a:cs typeface="Arial MT"/>
              </a:rPr>
              <a:t> </a:t>
            </a:r>
            <a:r>
              <a:rPr sz="1800" dirty="0">
                <a:solidFill>
                  <a:srgbClr val="FF0000"/>
                </a:solidFill>
                <a:latin typeface="Arial MT"/>
                <a:cs typeface="Arial MT"/>
              </a:rPr>
              <a:t>from</a:t>
            </a:r>
            <a:r>
              <a:rPr sz="1800" spc="-10" dirty="0">
                <a:solidFill>
                  <a:srgbClr val="FF0000"/>
                </a:solidFill>
                <a:latin typeface="Arial MT"/>
                <a:cs typeface="Arial MT"/>
              </a:rPr>
              <a:t> </a:t>
            </a:r>
            <a:r>
              <a:rPr sz="1800" dirty="0">
                <a:solidFill>
                  <a:srgbClr val="FF0000"/>
                </a:solidFill>
                <a:latin typeface="Arial MT"/>
                <a:cs typeface="Arial MT"/>
              </a:rPr>
              <a:t>external</a:t>
            </a:r>
            <a:endParaRPr lang="en-US" sz="1800" dirty="0">
              <a:solidFill>
                <a:srgbClr val="FF0000"/>
              </a:solidFill>
              <a:latin typeface="Arial MT"/>
              <a:cs typeface="Arial MT"/>
            </a:endParaRPr>
          </a:p>
          <a:p>
            <a:pPr marL="469900" lvl="1">
              <a:lnSpc>
                <a:spcPct val="100000"/>
              </a:lnSpc>
              <a:spcBef>
                <a:spcPts val="2050"/>
              </a:spcBef>
              <a:buClr>
                <a:srgbClr val="CC6600"/>
              </a:buClr>
              <a:buSzPct val="80555"/>
              <a:tabLst>
                <a:tab pos="756285" algn="l"/>
              </a:tabLst>
            </a:pPr>
            <a:r>
              <a:rPr lang="en-US" spc="5" dirty="0">
                <a:solidFill>
                  <a:srgbClr val="FF0000"/>
                </a:solidFill>
                <a:latin typeface="Arial MT"/>
                <a:cs typeface="Arial MT"/>
              </a:rPr>
              <a:t>   </a:t>
            </a:r>
            <a:r>
              <a:rPr sz="1800" spc="5" dirty="0">
                <a:solidFill>
                  <a:srgbClr val="FF0000"/>
                </a:solidFill>
                <a:latin typeface="Arial MT"/>
                <a:cs typeface="Arial MT"/>
              </a:rPr>
              <a:t> </a:t>
            </a:r>
            <a:r>
              <a:rPr sz="1800" spc="-10" dirty="0">
                <a:solidFill>
                  <a:srgbClr val="FF0000"/>
                </a:solidFill>
                <a:latin typeface="Arial MT"/>
                <a:cs typeface="Arial MT"/>
              </a:rPr>
              <a:t>fragmentation</a:t>
            </a:r>
            <a:endParaRPr sz="1800" dirty="0">
              <a:latin typeface="Arial MT"/>
              <a:cs typeface="Arial MT"/>
            </a:endParaRPr>
          </a:p>
          <a:p>
            <a:pPr marL="756285" marR="465455" lvl="1" indent="-287020">
              <a:lnSpc>
                <a:spcPct val="100000"/>
              </a:lnSpc>
              <a:spcBef>
                <a:spcPts val="2050"/>
              </a:spcBef>
              <a:buClr>
                <a:srgbClr val="CC6600"/>
              </a:buClr>
              <a:buSzPct val="80555"/>
              <a:buFont typeface="Wingdings"/>
              <a:buChar char=""/>
              <a:tabLst>
                <a:tab pos="756285" algn="l"/>
              </a:tabLst>
            </a:pPr>
            <a:r>
              <a:rPr sz="1800" dirty="0">
                <a:latin typeface="Arial MT"/>
                <a:cs typeface="Arial MT"/>
              </a:rPr>
              <a:t>Statistical</a:t>
            </a:r>
            <a:r>
              <a:rPr sz="1800" spc="-25" dirty="0">
                <a:latin typeface="Arial MT"/>
                <a:cs typeface="Arial MT"/>
              </a:rPr>
              <a:t> </a:t>
            </a:r>
            <a:r>
              <a:rPr sz="1800" dirty="0">
                <a:latin typeface="Arial MT"/>
                <a:cs typeface="Arial MT"/>
              </a:rPr>
              <a:t>analysis</a:t>
            </a:r>
            <a:r>
              <a:rPr sz="1800" spc="15" dirty="0">
                <a:latin typeface="Arial MT"/>
                <a:cs typeface="Arial MT"/>
              </a:rPr>
              <a:t> </a:t>
            </a:r>
            <a:r>
              <a:rPr sz="1800" dirty="0">
                <a:latin typeface="Arial MT"/>
                <a:cs typeface="Arial MT"/>
              </a:rPr>
              <a:t>of</a:t>
            </a:r>
            <a:r>
              <a:rPr sz="1800" spc="-30" dirty="0">
                <a:latin typeface="Arial MT"/>
                <a:cs typeface="Arial MT"/>
              </a:rPr>
              <a:t> </a:t>
            </a:r>
            <a:r>
              <a:rPr sz="1800" spc="-10" dirty="0">
                <a:latin typeface="Arial MT"/>
                <a:cs typeface="Arial MT"/>
              </a:rPr>
              <a:t>first-</a:t>
            </a:r>
            <a:r>
              <a:rPr sz="1800" dirty="0">
                <a:latin typeface="Arial MT"/>
                <a:cs typeface="Arial MT"/>
              </a:rPr>
              <a:t>fit</a:t>
            </a:r>
            <a:r>
              <a:rPr sz="1800" spc="-25" dirty="0">
                <a:latin typeface="Arial MT"/>
                <a:cs typeface="Arial MT"/>
              </a:rPr>
              <a:t> </a:t>
            </a:r>
            <a:r>
              <a:rPr sz="1800" dirty="0">
                <a:latin typeface="Arial MT"/>
                <a:cs typeface="Arial MT"/>
              </a:rPr>
              <a:t>reveals</a:t>
            </a:r>
            <a:r>
              <a:rPr sz="1800" spc="-20" dirty="0">
                <a:latin typeface="Arial MT"/>
                <a:cs typeface="Arial MT"/>
              </a:rPr>
              <a:t> </a:t>
            </a:r>
            <a:r>
              <a:rPr sz="1800" dirty="0">
                <a:latin typeface="Arial MT"/>
                <a:cs typeface="Arial MT"/>
              </a:rPr>
              <a:t>that</a:t>
            </a:r>
            <a:r>
              <a:rPr sz="1800" spc="-20" dirty="0">
                <a:latin typeface="Arial MT"/>
                <a:cs typeface="Arial MT"/>
              </a:rPr>
              <a:t> </a:t>
            </a:r>
            <a:r>
              <a:rPr sz="1800" dirty="0">
                <a:latin typeface="Arial MT"/>
                <a:cs typeface="Arial MT"/>
              </a:rPr>
              <a:t>given</a:t>
            </a:r>
            <a:r>
              <a:rPr sz="1800" spc="-15" dirty="0">
                <a:latin typeface="Arial MT"/>
                <a:cs typeface="Arial MT"/>
              </a:rPr>
              <a:t> </a:t>
            </a:r>
            <a:r>
              <a:rPr sz="1800" i="1" dirty="0">
                <a:latin typeface="Arial"/>
                <a:cs typeface="Arial"/>
              </a:rPr>
              <a:t>N</a:t>
            </a:r>
            <a:r>
              <a:rPr sz="1800" i="1" spc="-25" dirty="0">
                <a:latin typeface="Arial"/>
                <a:cs typeface="Arial"/>
              </a:rPr>
              <a:t> </a:t>
            </a:r>
            <a:r>
              <a:rPr sz="1800" dirty="0">
                <a:latin typeface="Arial MT"/>
                <a:cs typeface="Arial MT"/>
              </a:rPr>
              <a:t>allocated</a:t>
            </a:r>
            <a:r>
              <a:rPr sz="1800" spc="-5" dirty="0">
                <a:latin typeface="Arial MT"/>
                <a:cs typeface="Arial MT"/>
              </a:rPr>
              <a:t> </a:t>
            </a:r>
            <a:r>
              <a:rPr sz="1800" dirty="0">
                <a:latin typeface="Arial MT"/>
                <a:cs typeface="Arial MT"/>
              </a:rPr>
              <a:t>blocks,</a:t>
            </a:r>
            <a:r>
              <a:rPr sz="1800" spc="-25" dirty="0">
                <a:latin typeface="Arial MT"/>
                <a:cs typeface="Arial MT"/>
              </a:rPr>
              <a:t> </a:t>
            </a:r>
            <a:r>
              <a:rPr sz="1800" spc="-20" dirty="0">
                <a:latin typeface="Arial MT"/>
                <a:cs typeface="Arial MT"/>
              </a:rPr>
              <a:t>0.5</a:t>
            </a:r>
            <a:r>
              <a:rPr sz="1800" i="1" spc="-20" dirty="0">
                <a:latin typeface="Arial"/>
                <a:cs typeface="Arial"/>
              </a:rPr>
              <a:t>N </a:t>
            </a:r>
            <a:r>
              <a:rPr sz="1800" dirty="0">
                <a:latin typeface="Arial MT"/>
                <a:cs typeface="Arial MT"/>
              </a:rPr>
              <a:t>blocks</a:t>
            </a:r>
            <a:r>
              <a:rPr sz="1800" spc="-15" dirty="0">
                <a:latin typeface="Arial MT"/>
                <a:cs typeface="Arial MT"/>
              </a:rPr>
              <a:t> </a:t>
            </a:r>
            <a:r>
              <a:rPr sz="1800" dirty="0">
                <a:latin typeface="Arial MT"/>
                <a:cs typeface="Arial MT"/>
              </a:rPr>
              <a:t>will</a:t>
            </a:r>
            <a:r>
              <a:rPr sz="1800" spc="25" dirty="0">
                <a:latin typeface="Arial MT"/>
                <a:cs typeface="Arial MT"/>
              </a:rPr>
              <a:t> </a:t>
            </a:r>
            <a:r>
              <a:rPr sz="1800" dirty="0">
                <a:latin typeface="Arial MT"/>
                <a:cs typeface="Arial MT"/>
              </a:rPr>
              <a:t>be</a:t>
            </a:r>
            <a:r>
              <a:rPr sz="1800" spc="-25" dirty="0">
                <a:latin typeface="Arial MT"/>
                <a:cs typeface="Arial MT"/>
              </a:rPr>
              <a:t> </a:t>
            </a:r>
            <a:r>
              <a:rPr sz="1800" dirty="0">
                <a:latin typeface="Arial MT"/>
                <a:cs typeface="Arial MT"/>
              </a:rPr>
              <a:t>lost</a:t>
            </a:r>
            <a:r>
              <a:rPr sz="1800" spc="-15" dirty="0">
                <a:latin typeface="Arial MT"/>
                <a:cs typeface="Arial MT"/>
              </a:rPr>
              <a:t> </a:t>
            </a:r>
            <a:r>
              <a:rPr sz="1800" dirty="0">
                <a:latin typeface="Arial MT"/>
                <a:cs typeface="Arial MT"/>
              </a:rPr>
              <a:t>to</a:t>
            </a:r>
            <a:r>
              <a:rPr sz="1800" spc="-20" dirty="0">
                <a:latin typeface="Arial MT"/>
                <a:cs typeface="Arial MT"/>
              </a:rPr>
              <a:t> </a:t>
            </a:r>
            <a:r>
              <a:rPr sz="1800" spc="-10" dirty="0">
                <a:latin typeface="Arial MT"/>
                <a:cs typeface="Arial MT"/>
              </a:rPr>
              <a:t>fragmentation</a:t>
            </a:r>
            <a:endParaRPr sz="1800" dirty="0">
              <a:latin typeface="Arial MT"/>
              <a:cs typeface="Arial MT"/>
            </a:endParaRPr>
          </a:p>
          <a:p>
            <a:pPr marL="870585">
              <a:lnSpc>
                <a:spcPct val="100000"/>
              </a:lnSpc>
              <a:spcBef>
                <a:spcPts val="2055"/>
              </a:spcBef>
            </a:pPr>
            <a:r>
              <a:rPr sz="1350" dirty="0">
                <a:solidFill>
                  <a:srgbClr val="009900"/>
                </a:solidFill>
                <a:latin typeface="Webdings"/>
                <a:cs typeface="Webdings"/>
              </a:rPr>
              <a:t></a:t>
            </a:r>
            <a:r>
              <a:rPr sz="1350" spc="90" dirty="0">
                <a:solidFill>
                  <a:srgbClr val="009900"/>
                </a:solidFill>
                <a:latin typeface="Times New Roman"/>
                <a:cs typeface="Times New Roman"/>
              </a:rPr>
              <a:t> </a:t>
            </a:r>
            <a:r>
              <a:rPr sz="1800" dirty="0">
                <a:latin typeface="Arial MT"/>
                <a:cs typeface="Arial MT"/>
              </a:rPr>
              <a:t>That</a:t>
            </a:r>
            <a:r>
              <a:rPr sz="1800" spc="-10"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1/3</a:t>
            </a:r>
            <a:r>
              <a:rPr sz="1800" spc="-10"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memory</a:t>
            </a:r>
            <a:r>
              <a:rPr sz="1800" spc="-10" dirty="0">
                <a:latin typeface="Arial MT"/>
                <a:cs typeface="Arial MT"/>
              </a:rPr>
              <a:t> </a:t>
            </a:r>
            <a:r>
              <a:rPr sz="1800" dirty="0">
                <a:latin typeface="Arial MT"/>
                <a:cs typeface="Arial MT"/>
              </a:rPr>
              <a:t>may</a:t>
            </a:r>
            <a:r>
              <a:rPr sz="1800" spc="-20" dirty="0">
                <a:latin typeface="Arial MT"/>
                <a:cs typeface="Arial MT"/>
              </a:rPr>
              <a:t> </a:t>
            </a:r>
            <a:r>
              <a:rPr sz="1800" dirty="0">
                <a:latin typeface="Arial MT"/>
                <a:cs typeface="Arial MT"/>
              </a:rPr>
              <a:t>be</a:t>
            </a:r>
            <a:r>
              <a:rPr sz="1800" spc="-5" dirty="0">
                <a:latin typeface="Arial MT"/>
                <a:cs typeface="Arial MT"/>
              </a:rPr>
              <a:t> </a:t>
            </a:r>
            <a:r>
              <a:rPr sz="1800" dirty="0">
                <a:latin typeface="Arial MT"/>
                <a:cs typeface="Arial MT"/>
              </a:rPr>
              <a:t>unusable</a:t>
            </a:r>
            <a:r>
              <a:rPr sz="1800" spc="20" dirty="0">
                <a:latin typeface="Arial MT"/>
                <a:cs typeface="Arial MT"/>
              </a:rPr>
              <a:t> </a:t>
            </a:r>
            <a:r>
              <a:rPr sz="1800" spc="-10" dirty="0">
                <a:latin typeface="Arial MT"/>
                <a:cs typeface="Arial MT"/>
              </a:rPr>
              <a:t>-</a:t>
            </a:r>
            <a:r>
              <a:rPr sz="1800" dirty="0">
                <a:latin typeface="Arial MT"/>
                <a:cs typeface="Arial MT"/>
              </a:rPr>
              <a:t>&gt;</a:t>
            </a:r>
            <a:r>
              <a:rPr sz="1800" spc="-15" dirty="0">
                <a:latin typeface="Arial MT"/>
                <a:cs typeface="Arial MT"/>
              </a:rPr>
              <a:t> </a:t>
            </a:r>
            <a:r>
              <a:rPr sz="1800" b="1" spc="-10" dirty="0">
                <a:solidFill>
                  <a:srgbClr val="3366FF"/>
                </a:solidFill>
                <a:latin typeface="Arial"/>
                <a:cs typeface="Arial"/>
              </a:rPr>
              <a:t>50-</a:t>
            </a:r>
            <a:r>
              <a:rPr sz="1800" b="1" dirty="0">
                <a:solidFill>
                  <a:srgbClr val="3366FF"/>
                </a:solidFill>
                <a:latin typeface="Arial"/>
                <a:cs typeface="Arial"/>
              </a:rPr>
              <a:t>percent</a:t>
            </a:r>
            <a:r>
              <a:rPr sz="1800" b="1" spc="-5" dirty="0">
                <a:solidFill>
                  <a:srgbClr val="3366FF"/>
                </a:solidFill>
                <a:latin typeface="Arial"/>
                <a:cs typeface="Arial"/>
              </a:rPr>
              <a:t> </a:t>
            </a:r>
            <a:r>
              <a:rPr sz="1800" b="1" spc="-20" dirty="0">
                <a:solidFill>
                  <a:srgbClr val="3366FF"/>
                </a:solidFill>
                <a:latin typeface="Arial"/>
                <a:cs typeface="Arial"/>
              </a:rPr>
              <a:t>rule</a:t>
            </a:r>
            <a:endParaRPr sz="1800" dirty="0">
              <a:latin typeface="Arial"/>
              <a:cs typeface="Arial"/>
            </a:endParaRPr>
          </a:p>
          <a:p>
            <a:pPr marL="355600" marR="57150" indent="-342900">
              <a:lnSpc>
                <a:spcPct val="100000"/>
              </a:lnSpc>
              <a:spcBef>
                <a:spcPts val="2055"/>
              </a:spcBef>
              <a:buClr>
                <a:srgbClr val="993300"/>
              </a:buClr>
              <a:buSzPct val="88888"/>
              <a:buFont typeface="Wingdings"/>
              <a:buChar char=""/>
              <a:tabLst>
                <a:tab pos="355600" algn="l"/>
              </a:tabLst>
            </a:pPr>
            <a:r>
              <a:rPr sz="1800" b="1" dirty="0">
                <a:solidFill>
                  <a:srgbClr val="3366FF"/>
                </a:solidFill>
                <a:latin typeface="Arial"/>
                <a:cs typeface="Arial"/>
              </a:rPr>
              <a:t>Internal</a:t>
            </a:r>
            <a:r>
              <a:rPr sz="1800" b="1" spc="-40" dirty="0">
                <a:solidFill>
                  <a:srgbClr val="3366FF"/>
                </a:solidFill>
                <a:latin typeface="Arial"/>
                <a:cs typeface="Arial"/>
              </a:rPr>
              <a:t> </a:t>
            </a:r>
            <a:r>
              <a:rPr sz="1800" b="1" dirty="0">
                <a:solidFill>
                  <a:srgbClr val="3366FF"/>
                </a:solidFill>
                <a:latin typeface="Arial"/>
                <a:cs typeface="Arial"/>
              </a:rPr>
              <a:t>Fragmentation</a:t>
            </a:r>
            <a:r>
              <a:rPr sz="1800" b="1" spc="-20" dirty="0">
                <a:solidFill>
                  <a:srgbClr val="3366FF"/>
                </a:solidFill>
                <a:latin typeface="Arial"/>
                <a:cs typeface="Arial"/>
              </a:rPr>
              <a:t> </a:t>
            </a:r>
            <a:r>
              <a:rPr sz="1800" dirty="0">
                <a:latin typeface="Arial MT"/>
                <a:cs typeface="Arial MT"/>
              </a:rPr>
              <a:t>–</a:t>
            </a:r>
            <a:r>
              <a:rPr sz="1800" spc="-30" dirty="0">
                <a:latin typeface="Arial MT"/>
                <a:cs typeface="Arial MT"/>
              </a:rPr>
              <a:t> </a:t>
            </a:r>
            <a:r>
              <a:rPr sz="1800" dirty="0">
                <a:latin typeface="Arial MT"/>
                <a:cs typeface="Arial MT"/>
              </a:rPr>
              <a:t>allocated</a:t>
            </a:r>
            <a:r>
              <a:rPr sz="1800" spc="-25"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may</a:t>
            </a:r>
            <a:r>
              <a:rPr sz="1800" spc="-30" dirty="0">
                <a:latin typeface="Arial MT"/>
                <a:cs typeface="Arial MT"/>
              </a:rPr>
              <a:t> </a:t>
            </a:r>
            <a:r>
              <a:rPr sz="1800" dirty="0">
                <a:latin typeface="Arial MT"/>
                <a:cs typeface="Arial MT"/>
              </a:rPr>
              <a:t>be</a:t>
            </a:r>
            <a:r>
              <a:rPr sz="1800" spc="-40" dirty="0">
                <a:latin typeface="Arial MT"/>
                <a:cs typeface="Arial MT"/>
              </a:rPr>
              <a:t> </a:t>
            </a:r>
            <a:r>
              <a:rPr sz="1800" dirty="0">
                <a:latin typeface="Arial MT"/>
                <a:cs typeface="Arial MT"/>
              </a:rPr>
              <a:t>slightly</a:t>
            </a:r>
            <a:r>
              <a:rPr sz="1800" spc="-20" dirty="0">
                <a:latin typeface="Arial MT"/>
                <a:cs typeface="Arial MT"/>
              </a:rPr>
              <a:t> </a:t>
            </a:r>
            <a:r>
              <a:rPr sz="1800" dirty="0">
                <a:latin typeface="Arial MT"/>
                <a:cs typeface="Arial MT"/>
              </a:rPr>
              <a:t>larger</a:t>
            </a:r>
            <a:r>
              <a:rPr sz="1800" spc="-20" dirty="0">
                <a:latin typeface="Arial MT"/>
                <a:cs typeface="Arial MT"/>
              </a:rPr>
              <a:t> than </a:t>
            </a:r>
            <a:r>
              <a:rPr sz="1800" dirty="0">
                <a:latin typeface="Arial MT"/>
                <a:cs typeface="Arial MT"/>
              </a:rPr>
              <a:t>requested</a:t>
            </a:r>
            <a:r>
              <a:rPr sz="1800" spc="-35" dirty="0">
                <a:latin typeface="Arial MT"/>
                <a:cs typeface="Arial MT"/>
              </a:rPr>
              <a:t> </a:t>
            </a:r>
            <a:r>
              <a:rPr sz="1800" dirty="0">
                <a:latin typeface="Arial MT"/>
                <a:cs typeface="Arial MT"/>
              </a:rPr>
              <a:t>memory;</a:t>
            </a:r>
            <a:r>
              <a:rPr sz="1800" spc="-5" dirty="0">
                <a:latin typeface="Arial MT"/>
                <a:cs typeface="Arial MT"/>
              </a:rPr>
              <a:t> </a:t>
            </a:r>
            <a:r>
              <a:rPr sz="1800" dirty="0">
                <a:latin typeface="Arial MT"/>
                <a:cs typeface="Arial MT"/>
              </a:rPr>
              <a:t>this</a:t>
            </a:r>
            <a:r>
              <a:rPr sz="1800" spc="-25" dirty="0">
                <a:latin typeface="Arial MT"/>
                <a:cs typeface="Arial MT"/>
              </a:rPr>
              <a:t> </a:t>
            </a:r>
            <a:r>
              <a:rPr sz="1800" dirty="0">
                <a:latin typeface="Arial MT"/>
                <a:cs typeface="Arial MT"/>
              </a:rPr>
              <a:t>size</a:t>
            </a:r>
            <a:r>
              <a:rPr sz="1800" spc="-25" dirty="0">
                <a:latin typeface="Arial MT"/>
                <a:cs typeface="Arial MT"/>
              </a:rPr>
              <a:t> </a:t>
            </a:r>
            <a:r>
              <a:rPr sz="1800" dirty="0">
                <a:latin typeface="Arial MT"/>
                <a:cs typeface="Arial MT"/>
              </a:rPr>
              <a:t>difference</a:t>
            </a:r>
            <a:r>
              <a:rPr sz="1800" spc="-2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internal</a:t>
            </a:r>
            <a:r>
              <a:rPr sz="1800" spc="-2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partition,</a:t>
            </a:r>
            <a:r>
              <a:rPr sz="1800" spc="-15" dirty="0">
                <a:latin typeface="Arial MT"/>
                <a:cs typeface="Arial MT"/>
              </a:rPr>
              <a:t> </a:t>
            </a:r>
            <a:r>
              <a:rPr sz="1800" dirty="0">
                <a:latin typeface="Arial MT"/>
                <a:cs typeface="Arial MT"/>
              </a:rPr>
              <a:t>but</a:t>
            </a:r>
            <a:r>
              <a:rPr sz="1800" spc="-20" dirty="0">
                <a:latin typeface="Arial MT"/>
                <a:cs typeface="Arial MT"/>
              </a:rPr>
              <a:t> </a:t>
            </a:r>
            <a:r>
              <a:rPr sz="1800" spc="-25" dirty="0">
                <a:latin typeface="Arial MT"/>
                <a:cs typeface="Arial MT"/>
              </a:rPr>
              <a:t>not </a:t>
            </a:r>
            <a:r>
              <a:rPr sz="1800" dirty="0">
                <a:latin typeface="Arial MT"/>
                <a:cs typeface="Arial MT"/>
              </a:rPr>
              <a:t>being</a:t>
            </a:r>
            <a:r>
              <a:rPr sz="1800" spc="-45" dirty="0">
                <a:latin typeface="Arial MT"/>
                <a:cs typeface="Arial MT"/>
              </a:rPr>
              <a:t> </a:t>
            </a:r>
            <a:r>
              <a:rPr sz="1800" spc="-20" dirty="0" err="1">
                <a:latin typeface="Arial MT"/>
                <a:cs typeface="Arial MT"/>
              </a:rPr>
              <a:t>used.</a:t>
            </a:r>
            <a:r>
              <a:rPr sz="1800" dirty="0" err="1">
                <a:solidFill>
                  <a:srgbClr val="FF0000"/>
                </a:solidFill>
                <a:latin typeface="Arial MT"/>
                <a:cs typeface="Arial MT"/>
              </a:rPr>
              <a:t>Example</a:t>
            </a:r>
            <a:r>
              <a:rPr sz="1800" dirty="0">
                <a:solidFill>
                  <a:srgbClr val="FF0000"/>
                </a:solidFill>
                <a:latin typeface="Arial MT"/>
                <a:cs typeface="Arial MT"/>
              </a:rPr>
              <a:t>:</a:t>
            </a:r>
            <a:r>
              <a:rPr sz="1800" spc="-5" dirty="0">
                <a:solidFill>
                  <a:srgbClr val="FF0000"/>
                </a:solidFill>
                <a:latin typeface="Arial MT"/>
                <a:cs typeface="Arial MT"/>
              </a:rPr>
              <a:t> </a:t>
            </a:r>
            <a:r>
              <a:rPr sz="1800" dirty="0">
                <a:solidFill>
                  <a:srgbClr val="FF0000"/>
                </a:solidFill>
                <a:latin typeface="Arial MT"/>
                <a:cs typeface="Arial MT"/>
              </a:rPr>
              <a:t>a</a:t>
            </a:r>
            <a:r>
              <a:rPr sz="1800" spc="-25" dirty="0">
                <a:solidFill>
                  <a:srgbClr val="FF0000"/>
                </a:solidFill>
                <a:latin typeface="Arial MT"/>
                <a:cs typeface="Arial MT"/>
              </a:rPr>
              <a:t> </a:t>
            </a:r>
            <a:r>
              <a:rPr sz="1800" dirty="0">
                <a:solidFill>
                  <a:srgbClr val="FF0000"/>
                </a:solidFill>
                <a:latin typeface="Arial MT"/>
                <a:cs typeface="Arial MT"/>
              </a:rPr>
              <a:t>process</a:t>
            </a:r>
            <a:r>
              <a:rPr sz="1800" spc="-30" dirty="0">
                <a:solidFill>
                  <a:srgbClr val="FF0000"/>
                </a:solidFill>
                <a:latin typeface="Arial MT"/>
                <a:cs typeface="Arial MT"/>
              </a:rPr>
              <a:t> </a:t>
            </a:r>
            <a:r>
              <a:rPr sz="1800" dirty="0">
                <a:solidFill>
                  <a:srgbClr val="FF0000"/>
                </a:solidFill>
                <a:latin typeface="Arial MT"/>
                <a:cs typeface="Arial MT"/>
              </a:rPr>
              <a:t>requests</a:t>
            </a:r>
            <a:r>
              <a:rPr sz="1800" spc="-10" dirty="0">
                <a:solidFill>
                  <a:srgbClr val="FF0000"/>
                </a:solidFill>
                <a:latin typeface="Arial MT"/>
                <a:cs typeface="Arial MT"/>
              </a:rPr>
              <a:t> </a:t>
            </a:r>
            <a:r>
              <a:rPr sz="1800" dirty="0">
                <a:solidFill>
                  <a:srgbClr val="FF0000"/>
                </a:solidFill>
                <a:latin typeface="Arial MT"/>
                <a:cs typeface="Arial MT"/>
              </a:rPr>
              <a:t>18,462</a:t>
            </a:r>
            <a:r>
              <a:rPr sz="1800" spc="-25" dirty="0">
                <a:solidFill>
                  <a:srgbClr val="FF0000"/>
                </a:solidFill>
                <a:latin typeface="Arial MT"/>
                <a:cs typeface="Arial MT"/>
              </a:rPr>
              <a:t> </a:t>
            </a:r>
            <a:r>
              <a:rPr sz="1800" dirty="0">
                <a:solidFill>
                  <a:srgbClr val="FF0000"/>
                </a:solidFill>
                <a:latin typeface="Arial MT"/>
                <a:cs typeface="Arial MT"/>
              </a:rPr>
              <a:t>bytes and</a:t>
            </a:r>
            <a:r>
              <a:rPr sz="1800" spc="-25" dirty="0">
                <a:solidFill>
                  <a:srgbClr val="FF0000"/>
                </a:solidFill>
                <a:latin typeface="Arial MT"/>
                <a:cs typeface="Arial MT"/>
              </a:rPr>
              <a:t> </a:t>
            </a:r>
            <a:r>
              <a:rPr sz="1800" dirty="0">
                <a:solidFill>
                  <a:srgbClr val="FF0000"/>
                </a:solidFill>
                <a:latin typeface="Arial MT"/>
                <a:cs typeface="Arial MT"/>
              </a:rPr>
              <a:t>is</a:t>
            </a:r>
            <a:r>
              <a:rPr sz="1800" spc="-25" dirty="0">
                <a:solidFill>
                  <a:srgbClr val="FF0000"/>
                </a:solidFill>
                <a:latin typeface="Arial MT"/>
                <a:cs typeface="Arial MT"/>
              </a:rPr>
              <a:t> </a:t>
            </a:r>
            <a:r>
              <a:rPr sz="1800" dirty="0">
                <a:solidFill>
                  <a:srgbClr val="FF0000"/>
                </a:solidFill>
                <a:latin typeface="Arial MT"/>
                <a:cs typeface="Arial MT"/>
              </a:rPr>
              <a:t>allocated</a:t>
            </a:r>
            <a:r>
              <a:rPr sz="1800" spc="-25" dirty="0">
                <a:solidFill>
                  <a:srgbClr val="FF0000"/>
                </a:solidFill>
                <a:latin typeface="Arial MT"/>
                <a:cs typeface="Arial MT"/>
              </a:rPr>
              <a:t> </a:t>
            </a:r>
            <a:r>
              <a:rPr sz="1800" dirty="0">
                <a:solidFill>
                  <a:srgbClr val="FF0000"/>
                </a:solidFill>
                <a:latin typeface="Arial MT"/>
                <a:cs typeface="Arial MT"/>
              </a:rPr>
              <a:t>memory</a:t>
            </a:r>
            <a:r>
              <a:rPr sz="1800" spc="-15" dirty="0">
                <a:solidFill>
                  <a:srgbClr val="FF0000"/>
                </a:solidFill>
                <a:latin typeface="Arial MT"/>
                <a:cs typeface="Arial MT"/>
              </a:rPr>
              <a:t> </a:t>
            </a:r>
            <a:r>
              <a:rPr sz="1800" dirty="0">
                <a:solidFill>
                  <a:srgbClr val="FF0000"/>
                </a:solidFill>
                <a:latin typeface="Arial MT"/>
                <a:cs typeface="Arial MT"/>
              </a:rPr>
              <a:t>hole</a:t>
            </a:r>
            <a:r>
              <a:rPr sz="1800" spc="-20" dirty="0">
                <a:solidFill>
                  <a:srgbClr val="FF0000"/>
                </a:solidFill>
                <a:latin typeface="Arial MT"/>
                <a:cs typeface="Arial MT"/>
              </a:rPr>
              <a:t> </a:t>
            </a:r>
            <a:r>
              <a:rPr sz="1800" spc="-25" dirty="0">
                <a:solidFill>
                  <a:srgbClr val="FF0000"/>
                </a:solidFill>
                <a:latin typeface="Arial MT"/>
                <a:cs typeface="Arial MT"/>
              </a:rPr>
              <a:t>of </a:t>
            </a:r>
            <a:r>
              <a:rPr sz="1800" dirty="0">
                <a:solidFill>
                  <a:srgbClr val="FF0000"/>
                </a:solidFill>
                <a:latin typeface="Arial MT"/>
                <a:cs typeface="Arial MT"/>
              </a:rPr>
              <a:t>18,464</a:t>
            </a:r>
            <a:r>
              <a:rPr sz="1800" spc="-15" dirty="0">
                <a:solidFill>
                  <a:srgbClr val="FF0000"/>
                </a:solidFill>
                <a:latin typeface="Arial MT"/>
                <a:cs typeface="Arial MT"/>
              </a:rPr>
              <a:t> </a:t>
            </a:r>
            <a:r>
              <a:rPr sz="1800" dirty="0">
                <a:solidFill>
                  <a:srgbClr val="FF0000"/>
                </a:solidFill>
                <a:latin typeface="Arial MT"/>
                <a:cs typeface="Arial MT"/>
              </a:rPr>
              <a:t>bytes;</a:t>
            </a:r>
            <a:r>
              <a:rPr sz="1800" spc="15" dirty="0">
                <a:solidFill>
                  <a:srgbClr val="FF0000"/>
                </a:solidFill>
                <a:latin typeface="Arial MT"/>
                <a:cs typeface="Arial MT"/>
              </a:rPr>
              <a:t> </a:t>
            </a:r>
            <a:r>
              <a:rPr sz="1800" b="1" i="1" dirty="0">
                <a:solidFill>
                  <a:srgbClr val="FF0000"/>
                </a:solidFill>
                <a:latin typeface="Arial"/>
                <a:cs typeface="Arial"/>
              </a:rPr>
              <a:t>we</a:t>
            </a:r>
            <a:r>
              <a:rPr sz="1800" b="1" i="1" spc="-25" dirty="0">
                <a:solidFill>
                  <a:srgbClr val="FF0000"/>
                </a:solidFill>
                <a:latin typeface="Arial"/>
                <a:cs typeface="Arial"/>
              </a:rPr>
              <a:t> </a:t>
            </a:r>
            <a:r>
              <a:rPr sz="1800" b="1" i="1" dirty="0">
                <a:solidFill>
                  <a:srgbClr val="FF0000"/>
                </a:solidFill>
                <a:latin typeface="Arial"/>
                <a:cs typeface="Arial"/>
              </a:rPr>
              <a:t>are</a:t>
            </a:r>
            <a:r>
              <a:rPr sz="1800" b="1" i="1" spc="-10" dirty="0">
                <a:solidFill>
                  <a:srgbClr val="FF0000"/>
                </a:solidFill>
                <a:latin typeface="Arial"/>
                <a:cs typeface="Arial"/>
              </a:rPr>
              <a:t> </a:t>
            </a:r>
            <a:r>
              <a:rPr sz="1800" b="1" i="1" dirty="0">
                <a:solidFill>
                  <a:srgbClr val="FF0000"/>
                </a:solidFill>
                <a:latin typeface="Arial"/>
                <a:cs typeface="Arial"/>
              </a:rPr>
              <a:t>then</a:t>
            </a:r>
            <a:r>
              <a:rPr sz="1800" b="1" i="1" spc="-15" dirty="0">
                <a:solidFill>
                  <a:srgbClr val="FF0000"/>
                </a:solidFill>
                <a:latin typeface="Arial"/>
                <a:cs typeface="Arial"/>
              </a:rPr>
              <a:t> </a:t>
            </a:r>
            <a:r>
              <a:rPr sz="1800" b="1" i="1" dirty="0">
                <a:solidFill>
                  <a:srgbClr val="FF0000"/>
                </a:solidFill>
                <a:latin typeface="Arial"/>
                <a:cs typeface="Arial"/>
              </a:rPr>
              <a:t>left</a:t>
            </a:r>
            <a:r>
              <a:rPr sz="1800" b="1" i="1" spc="-15" dirty="0">
                <a:solidFill>
                  <a:srgbClr val="FF0000"/>
                </a:solidFill>
                <a:latin typeface="Arial"/>
                <a:cs typeface="Arial"/>
              </a:rPr>
              <a:t> </a:t>
            </a:r>
            <a:r>
              <a:rPr sz="1800" b="1" i="1" dirty="0">
                <a:solidFill>
                  <a:srgbClr val="FF0000"/>
                </a:solidFill>
                <a:latin typeface="Arial"/>
                <a:cs typeface="Arial"/>
              </a:rPr>
              <a:t>with</a:t>
            </a:r>
            <a:r>
              <a:rPr sz="1800" b="1" i="1" spc="-20" dirty="0">
                <a:solidFill>
                  <a:srgbClr val="FF0000"/>
                </a:solidFill>
                <a:latin typeface="Arial"/>
                <a:cs typeface="Arial"/>
              </a:rPr>
              <a:t> </a:t>
            </a:r>
            <a:r>
              <a:rPr sz="1800" b="1" i="1" dirty="0">
                <a:solidFill>
                  <a:srgbClr val="FF0000"/>
                </a:solidFill>
                <a:latin typeface="Arial"/>
                <a:cs typeface="Arial"/>
              </a:rPr>
              <a:t>a</a:t>
            </a:r>
            <a:r>
              <a:rPr sz="1800" b="1" i="1" spc="-15" dirty="0">
                <a:solidFill>
                  <a:srgbClr val="FF0000"/>
                </a:solidFill>
                <a:latin typeface="Arial"/>
                <a:cs typeface="Arial"/>
              </a:rPr>
              <a:t> </a:t>
            </a:r>
            <a:r>
              <a:rPr sz="1800" b="1" i="1" dirty="0">
                <a:solidFill>
                  <a:srgbClr val="FF0000"/>
                </a:solidFill>
                <a:latin typeface="Arial"/>
                <a:cs typeface="Arial"/>
              </a:rPr>
              <a:t>hole</a:t>
            </a:r>
            <a:r>
              <a:rPr sz="1800" b="1" i="1" spc="-30" dirty="0">
                <a:solidFill>
                  <a:srgbClr val="FF0000"/>
                </a:solidFill>
                <a:latin typeface="Arial"/>
                <a:cs typeface="Arial"/>
              </a:rPr>
              <a:t> </a:t>
            </a:r>
            <a:r>
              <a:rPr sz="1800" b="1" i="1" dirty="0">
                <a:solidFill>
                  <a:srgbClr val="FF0000"/>
                </a:solidFill>
                <a:latin typeface="Arial"/>
                <a:cs typeface="Arial"/>
              </a:rPr>
              <a:t>of</a:t>
            </a:r>
            <a:r>
              <a:rPr sz="1800" b="1" i="1" spc="-15" dirty="0">
                <a:solidFill>
                  <a:srgbClr val="FF0000"/>
                </a:solidFill>
                <a:latin typeface="Arial"/>
                <a:cs typeface="Arial"/>
              </a:rPr>
              <a:t> </a:t>
            </a:r>
            <a:r>
              <a:rPr sz="1800" b="1" i="1" dirty="0">
                <a:solidFill>
                  <a:srgbClr val="FF0000"/>
                </a:solidFill>
                <a:latin typeface="Arial"/>
                <a:cs typeface="Arial"/>
              </a:rPr>
              <a:t>2</a:t>
            </a:r>
            <a:r>
              <a:rPr sz="1800" b="1" i="1" spc="-25" dirty="0">
                <a:solidFill>
                  <a:srgbClr val="FF0000"/>
                </a:solidFill>
                <a:latin typeface="Arial"/>
                <a:cs typeface="Arial"/>
              </a:rPr>
              <a:t> </a:t>
            </a:r>
            <a:r>
              <a:rPr sz="1800" b="1" i="1" spc="-10" dirty="0">
                <a:solidFill>
                  <a:srgbClr val="FF0000"/>
                </a:solidFill>
                <a:latin typeface="Arial"/>
                <a:cs typeface="Arial"/>
              </a:rPr>
              <a:t>bytes</a:t>
            </a:r>
            <a:endParaRPr sz="1800" dirty="0">
              <a:latin typeface="Arial"/>
              <a:cs typeface="Arial"/>
            </a:endParaRPr>
          </a:p>
        </p:txBody>
      </p:sp>
      <p:pic>
        <p:nvPicPr>
          <p:cNvPr id="8" name="Picture 7">
            <a:extLst>
              <a:ext uri="{FF2B5EF4-FFF2-40B4-BE49-F238E27FC236}">
                <a16:creationId xmlns:a16="http://schemas.microsoft.com/office/drawing/2014/main" id="{1832135B-894F-57C6-F662-4230D3A080F2}"/>
              </a:ext>
            </a:extLst>
          </p:cNvPr>
          <p:cNvPicPr>
            <a:picLocks noChangeAspect="1"/>
          </p:cNvPicPr>
          <p:nvPr/>
        </p:nvPicPr>
        <p:blipFill>
          <a:blip r:embed="rId2"/>
          <a:stretch>
            <a:fillRect/>
          </a:stretch>
        </p:blipFill>
        <p:spPr>
          <a:xfrm>
            <a:off x="7147601" y="1295401"/>
            <a:ext cx="1310599" cy="2404664"/>
          </a:xfrm>
          <a:prstGeom prst="rect">
            <a:avLst/>
          </a:prstGeom>
        </p:spPr>
      </p:pic>
    </p:spTree>
    <p:extLst>
      <p:ext uri="{BB962C8B-B14F-4D97-AF65-F5344CB8AC3E}">
        <p14:creationId xmlns:p14="http://schemas.microsoft.com/office/powerpoint/2010/main" val="37548000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6299" rIns="0" bIns="0" rtlCol="0">
            <a:spAutoFit/>
          </a:bodyPr>
          <a:lstStyle/>
          <a:p>
            <a:pPr marL="3103880">
              <a:lnSpc>
                <a:spcPct val="100000"/>
              </a:lnSpc>
              <a:spcBef>
                <a:spcPts val="100"/>
              </a:spcBef>
            </a:pPr>
            <a:r>
              <a:rPr spc="-10" dirty="0">
                <a:solidFill>
                  <a:srgbClr val="006699"/>
                </a:solidFill>
              </a:rPr>
              <a:t>Fragmentation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22</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959866"/>
            <a:ext cx="8551545" cy="5444490"/>
          </a:xfrm>
          <a:prstGeom prst="rect">
            <a:avLst/>
          </a:prstGeom>
        </p:spPr>
        <p:txBody>
          <a:bodyPr vert="horz" wrap="square" lIns="0" tIns="108585" rIns="0" bIns="0" rtlCol="0">
            <a:spAutoFit/>
          </a:bodyPr>
          <a:lstStyle/>
          <a:p>
            <a:pPr marL="354965" indent="-342265">
              <a:lnSpc>
                <a:spcPct val="100000"/>
              </a:lnSpc>
              <a:spcBef>
                <a:spcPts val="855"/>
              </a:spcBef>
              <a:buClr>
                <a:srgbClr val="993300"/>
              </a:buClr>
              <a:buSzPct val="88888"/>
              <a:buFont typeface="Wingdings"/>
              <a:buChar char=""/>
              <a:tabLst>
                <a:tab pos="354965" algn="l"/>
              </a:tabLst>
            </a:pPr>
            <a:r>
              <a:rPr sz="1800" dirty="0">
                <a:latin typeface="Arial MT"/>
                <a:cs typeface="Arial MT"/>
              </a:rPr>
              <a:t>Reduce</a:t>
            </a:r>
            <a:r>
              <a:rPr sz="1800" spc="-35" dirty="0">
                <a:latin typeface="Arial MT"/>
                <a:cs typeface="Arial MT"/>
              </a:rPr>
              <a:t> </a:t>
            </a:r>
            <a:r>
              <a:rPr sz="1800" dirty="0">
                <a:latin typeface="Arial MT"/>
                <a:cs typeface="Arial MT"/>
              </a:rPr>
              <a:t>external</a:t>
            </a:r>
            <a:r>
              <a:rPr sz="1800" spc="-25" dirty="0">
                <a:latin typeface="Arial MT"/>
                <a:cs typeface="Arial MT"/>
              </a:rPr>
              <a:t> </a:t>
            </a:r>
            <a:r>
              <a:rPr sz="1800" dirty="0">
                <a:latin typeface="Arial MT"/>
                <a:cs typeface="Arial MT"/>
              </a:rPr>
              <a:t>fragmentation</a:t>
            </a:r>
            <a:r>
              <a:rPr sz="1800" spc="-25" dirty="0">
                <a:latin typeface="Arial MT"/>
                <a:cs typeface="Arial MT"/>
              </a:rPr>
              <a:t> </a:t>
            </a:r>
            <a:r>
              <a:rPr sz="1800" dirty="0">
                <a:latin typeface="Arial MT"/>
                <a:cs typeface="Arial MT"/>
              </a:rPr>
              <a:t>by</a:t>
            </a:r>
            <a:r>
              <a:rPr sz="1800" spc="-25" dirty="0">
                <a:latin typeface="Arial MT"/>
                <a:cs typeface="Arial MT"/>
              </a:rPr>
              <a:t> </a:t>
            </a:r>
            <a:r>
              <a:rPr sz="1800" b="1" spc="-10" dirty="0">
                <a:solidFill>
                  <a:srgbClr val="3366FF"/>
                </a:solidFill>
                <a:latin typeface="Arial"/>
                <a:cs typeface="Arial"/>
              </a:rPr>
              <a:t>compaction</a:t>
            </a:r>
            <a:endParaRPr sz="1800">
              <a:latin typeface="Arial"/>
              <a:cs typeface="Arial"/>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Shuffle</a:t>
            </a:r>
            <a:r>
              <a:rPr sz="1800" spc="-30"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contents</a:t>
            </a:r>
            <a:r>
              <a:rPr sz="1800" spc="-1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place</a:t>
            </a:r>
            <a:r>
              <a:rPr sz="1800" spc="-15" dirty="0">
                <a:latin typeface="Arial MT"/>
                <a:cs typeface="Arial MT"/>
              </a:rPr>
              <a:t> </a:t>
            </a:r>
            <a:r>
              <a:rPr sz="1800" dirty="0">
                <a:latin typeface="Arial MT"/>
                <a:cs typeface="Arial MT"/>
              </a:rPr>
              <a:t>all</a:t>
            </a:r>
            <a:r>
              <a:rPr sz="1800" spc="-20" dirty="0">
                <a:latin typeface="Arial MT"/>
                <a:cs typeface="Arial MT"/>
              </a:rPr>
              <a:t> </a:t>
            </a:r>
            <a:r>
              <a:rPr sz="1800" dirty="0">
                <a:latin typeface="Arial MT"/>
                <a:cs typeface="Arial MT"/>
              </a:rPr>
              <a:t>free</a:t>
            </a:r>
            <a:r>
              <a:rPr sz="1800" spc="-30" dirty="0">
                <a:latin typeface="Arial MT"/>
                <a:cs typeface="Arial MT"/>
              </a:rPr>
              <a:t> </a:t>
            </a:r>
            <a:r>
              <a:rPr sz="1800" dirty="0">
                <a:latin typeface="Arial MT"/>
                <a:cs typeface="Arial MT"/>
              </a:rPr>
              <a:t>memory</a:t>
            </a:r>
            <a:r>
              <a:rPr sz="1800" spc="-10" dirty="0">
                <a:latin typeface="Arial MT"/>
                <a:cs typeface="Arial MT"/>
              </a:rPr>
              <a:t> </a:t>
            </a:r>
            <a:r>
              <a:rPr sz="1800" dirty="0">
                <a:latin typeface="Arial MT"/>
                <a:cs typeface="Arial MT"/>
              </a:rPr>
              <a:t>together</a:t>
            </a:r>
            <a:r>
              <a:rPr sz="1800" spc="-20" dirty="0">
                <a:latin typeface="Arial MT"/>
                <a:cs typeface="Arial MT"/>
              </a:rPr>
              <a:t> </a:t>
            </a:r>
            <a:r>
              <a:rPr sz="1800" dirty="0">
                <a:latin typeface="Arial MT"/>
                <a:cs typeface="Arial MT"/>
              </a:rPr>
              <a:t>in</a:t>
            </a:r>
            <a:r>
              <a:rPr sz="1800" spc="-15" dirty="0">
                <a:latin typeface="Arial MT"/>
                <a:cs typeface="Arial MT"/>
              </a:rPr>
              <a:t> </a:t>
            </a:r>
            <a:r>
              <a:rPr sz="1800" dirty="0">
                <a:latin typeface="Arial MT"/>
                <a:cs typeface="Arial MT"/>
              </a:rPr>
              <a:t>one</a:t>
            </a:r>
            <a:r>
              <a:rPr sz="1800" spc="-20" dirty="0">
                <a:latin typeface="Arial MT"/>
                <a:cs typeface="Arial MT"/>
              </a:rPr>
              <a:t> </a:t>
            </a:r>
            <a:r>
              <a:rPr sz="1800" dirty="0">
                <a:latin typeface="Arial MT"/>
                <a:cs typeface="Arial MT"/>
              </a:rPr>
              <a:t>large</a:t>
            </a:r>
            <a:r>
              <a:rPr sz="1800" spc="-10" dirty="0">
                <a:latin typeface="Arial MT"/>
                <a:cs typeface="Arial MT"/>
              </a:rPr>
              <a:t> block</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Compaction</a:t>
            </a:r>
            <a:r>
              <a:rPr sz="1800" spc="-25"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possible</a:t>
            </a:r>
            <a:r>
              <a:rPr sz="1800" spc="-15" dirty="0">
                <a:latin typeface="Arial MT"/>
                <a:cs typeface="Arial MT"/>
              </a:rPr>
              <a:t> </a:t>
            </a:r>
            <a:r>
              <a:rPr sz="1800" i="1" dirty="0">
                <a:latin typeface="Arial"/>
                <a:cs typeface="Arial"/>
              </a:rPr>
              <a:t>only</a:t>
            </a:r>
            <a:r>
              <a:rPr sz="1800" i="1" spc="-25" dirty="0">
                <a:latin typeface="Arial"/>
                <a:cs typeface="Arial"/>
              </a:rPr>
              <a:t> </a:t>
            </a:r>
            <a:r>
              <a:rPr sz="1800" dirty="0">
                <a:latin typeface="Arial MT"/>
                <a:cs typeface="Arial MT"/>
              </a:rPr>
              <a:t>if</a:t>
            </a:r>
            <a:r>
              <a:rPr sz="1800" spc="-30" dirty="0">
                <a:latin typeface="Arial MT"/>
                <a:cs typeface="Arial MT"/>
              </a:rPr>
              <a:t> </a:t>
            </a:r>
            <a:r>
              <a:rPr sz="1800" dirty="0">
                <a:latin typeface="Arial MT"/>
                <a:cs typeface="Arial MT"/>
              </a:rPr>
              <a:t>address</a:t>
            </a:r>
            <a:r>
              <a:rPr sz="1800" spc="-20" dirty="0">
                <a:latin typeface="Arial MT"/>
                <a:cs typeface="Arial MT"/>
              </a:rPr>
              <a:t> </a:t>
            </a:r>
            <a:r>
              <a:rPr sz="1800" dirty="0">
                <a:latin typeface="Arial MT"/>
                <a:cs typeface="Arial MT"/>
              </a:rPr>
              <a:t>relocation</a:t>
            </a:r>
            <a:r>
              <a:rPr sz="1800" spc="-2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dynamic, and</a:t>
            </a:r>
            <a:r>
              <a:rPr sz="1800" spc="-2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done</a:t>
            </a:r>
            <a:r>
              <a:rPr sz="1800" spc="-20" dirty="0">
                <a:latin typeface="Arial MT"/>
                <a:cs typeface="Arial MT"/>
              </a:rPr>
              <a:t> </a:t>
            </a:r>
            <a:r>
              <a:rPr sz="1800" spc="-25" dirty="0">
                <a:latin typeface="Arial MT"/>
                <a:cs typeface="Arial MT"/>
              </a:rPr>
              <a:t>at</a:t>
            </a:r>
            <a:endParaRPr sz="1800">
              <a:latin typeface="Arial MT"/>
              <a:cs typeface="Arial MT"/>
            </a:endParaRPr>
          </a:p>
          <a:p>
            <a:pPr marL="756285">
              <a:lnSpc>
                <a:spcPct val="100000"/>
              </a:lnSpc>
              <a:spcBef>
                <a:spcPts val="5"/>
              </a:spcBef>
            </a:pPr>
            <a:r>
              <a:rPr sz="1800" dirty="0">
                <a:latin typeface="Arial MT"/>
                <a:cs typeface="Arial MT"/>
              </a:rPr>
              <a:t>execution</a:t>
            </a:r>
            <a:r>
              <a:rPr sz="1800" spc="-50" dirty="0">
                <a:latin typeface="Arial MT"/>
                <a:cs typeface="Arial MT"/>
              </a:rPr>
              <a:t> </a:t>
            </a:r>
            <a:r>
              <a:rPr sz="1800" spc="-20" dirty="0">
                <a:latin typeface="Arial MT"/>
                <a:cs typeface="Arial MT"/>
              </a:rPr>
              <a:t>time</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I/O</a:t>
            </a:r>
            <a:r>
              <a:rPr sz="1800" spc="5" dirty="0">
                <a:latin typeface="Arial MT"/>
                <a:cs typeface="Arial MT"/>
              </a:rPr>
              <a:t> </a:t>
            </a:r>
            <a:r>
              <a:rPr sz="1800" spc="-10" dirty="0">
                <a:latin typeface="Arial MT"/>
                <a:cs typeface="Arial MT"/>
              </a:rPr>
              <a:t>problem</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Latch</a:t>
            </a:r>
            <a:r>
              <a:rPr sz="1800" spc="-20" dirty="0">
                <a:latin typeface="Arial MT"/>
                <a:cs typeface="Arial MT"/>
              </a:rPr>
              <a:t> </a:t>
            </a:r>
            <a:r>
              <a:rPr sz="1800" dirty="0">
                <a:latin typeface="Arial MT"/>
                <a:cs typeface="Arial MT"/>
              </a:rPr>
              <a:t>job</a:t>
            </a:r>
            <a:r>
              <a:rPr sz="1800" spc="-1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memory</a:t>
            </a:r>
            <a:r>
              <a:rPr sz="1800" spc="-10" dirty="0">
                <a:latin typeface="Arial MT"/>
                <a:cs typeface="Arial MT"/>
              </a:rPr>
              <a:t> </a:t>
            </a:r>
            <a:r>
              <a:rPr sz="1800" dirty="0">
                <a:latin typeface="Arial MT"/>
                <a:cs typeface="Arial MT"/>
              </a:rPr>
              <a:t>while</a:t>
            </a:r>
            <a:r>
              <a:rPr sz="1800" spc="20" dirty="0">
                <a:latin typeface="Arial MT"/>
                <a:cs typeface="Arial MT"/>
              </a:rPr>
              <a:t> </a:t>
            </a:r>
            <a:r>
              <a:rPr sz="1800" dirty="0">
                <a:latin typeface="Arial MT"/>
                <a:cs typeface="Arial MT"/>
              </a:rPr>
              <a:t>it</a:t>
            </a:r>
            <a:r>
              <a:rPr sz="1800" spc="-15"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involved</a:t>
            </a:r>
            <a:r>
              <a:rPr sz="1800" spc="-10" dirty="0">
                <a:latin typeface="Arial MT"/>
                <a:cs typeface="Arial MT"/>
              </a:rPr>
              <a:t> </a:t>
            </a:r>
            <a:r>
              <a:rPr sz="1800" dirty="0">
                <a:latin typeface="Arial MT"/>
                <a:cs typeface="Arial MT"/>
              </a:rPr>
              <a:t>in</a:t>
            </a:r>
            <a:r>
              <a:rPr sz="1800" spc="-10" dirty="0">
                <a:latin typeface="Arial MT"/>
                <a:cs typeface="Arial MT"/>
              </a:rPr>
              <a:t> </a:t>
            </a:r>
            <a:r>
              <a:rPr sz="1800" spc="-25" dirty="0">
                <a:latin typeface="Arial MT"/>
                <a:cs typeface="Arial MT"/>
              </a:rPr>
              <a:t>I/O</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Do</a:t>
            </a:r>
            <a:r>
              <a:rPr sz="1800" spc="-20" dirty="0">
                <a:latin typeface="Arial MT"/>
                <a:cs typeface="Arial MT"/>
              </a:rPr>
              <a:t> </a:t>
            </a:r>
            <a:r>
              <a:rPr sz="1800" dirty="0">
                <a:latin typeface="Arial MT"/>
                <a:cs typeface="Arial MT"/>
              </a:rPr>
              <a:t>I/O</a:t>
            </a:r>
            <a:r>
              <a:rPr sz="1800" spc="-15" dirty="0">
                <a:latin typeface="Arial MT"/>
                <a:cs typeface="Arial MT"/>
              </a:rPr>
              <a:t> </a:t>
            </a:r>
            <a:r>
              <a:rPr sz="1800" dirty="0">
                <a:latin typeface="Arial MT"/>
                <a:cs typeface="Arial MT"/>
              </a:rPr>
              <a:t>only</a:t>
            </a:r>
            <a:r>
              <a:rPr sz="1800" spc="-5" dirty="0">
                <a:latin typeface="Arial MT"/>
                <a:cs typeface="Arial MT"/>
              </a:rPr>
              <a:t> </a:t>
            </a:r>
            <a:r>
              <a:rPr sz="1800" dirty="0">
                <a:latin typeface="Arial MT"/>
                <a:cs typeface="Arial MT"/>
              </a:rPr>
              <a:t>into</a:t>
            </a:r>
            <a:r>
              <a:rPr sz="1800" spc="-10" dirty="0">
                <a:latin typeface="Arial MT"/>
                <a:cs typeface="Arial MT"/>
              </a:rPr>
              <a:t> </a:t>
            </a:r>
            <a:r>
              <a:rPr sz="1800" dirty="0">
                <a:latin typeface="Arial MT"/>
                <a:cs typeface="Arial MT"/>
              </a:rPr>
              <a:t>OS</a:t>
            </a:r>
            <a:r>
              <a:rPr sz="1800" spc="-20" dirty="0">
                <a:latin typeface="Arial MT"/>
                <a:cs typeface="Arial MT"/>
              </a:rPr>
              <a:t> </a:t>
            </a:r>
            <a:r>
              <a:rPr sz="1800" spc="-10" dirty="0">
                <a:latin typeface="Arial MT"/>
                <a:cs typeface="Arial MT"/>
              </a:rPr>
              <a:t>buffers</a:t>
            </a:r>
            <a:endParaRPr sz="180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dirty="0">
                <a:latin typeface="Arial MT"/>
                <a:cs typeface="Arial MT"/>
              </a:rPr>
              <a:t>Compaction</a:t>
            </a:r>
            <a:r>
              <a:rPr sz="1800" spc="-15"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be</a:t>
            </a:r>
            <a:r>
              <a:rPr sz="1800" spc="-30" dirty="0">
                <a:latin typeface="Arial MT"/>
                <a:cs typeface="Arial MT"/>
              </a:rPr>
              <a:t> </a:t>
            </a:r>
            <a:r>
              <a:rPr sz="1800" dirty="0">
                <a:latin typeface="Arial MT"/>
                <a:cs typeface="Arial MT"/>
              </a:rPr>
              <a:t>very</a:t>
            </a:r>
            <a:r>
              <a:rPr sz="1800" spc="-25" dirty="0">
                <a:latin typeface="Arial MT"/>
                <a:cs typeface="Arial MT"/>
              </a:rPr>
              <a:t> </a:t>
            </a:r>
            <a:r>
              <a:rPr sz="1800" dirty="0">
                <a:latin typeface="Arial MT"/>
                <a:cs typeface="Arial MT"/>
              </a:rPr>
              <a:t>expensive</a:t>
            </a:r>
            <a:r>
              <a:rPr sz="1800" spc="5"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terms</a:t>
            </a:r>
            <a:r>
              <a:rPr sz="1800" spc="-20" dirty="0">
                <a:latin typeface="Arial MT"/>
                <a:cs typeface="Arial MT"/>
              </a:rPr>
              <a:t> </a:t>
            </a:r>
            <a:r>
              <a:rPr sz="1800" dirty="0">
                <a:latin typeface="Arial MT"/>
                <a:cs typeface="Arial MT"/>
              </a:rPr>
              <a:t>of</a:t>
            </a:r>
            <a:r>
              <a:rPr sz="1800" spc="-20" dirty="0">
                <a:latin typeface="Arial MT"/>
                <a:cs typeface="Arial MT"/>
              </a:rPr>
              <a:t> time</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All</a:t>
            </a:r>
            <a:r>
              <a:rPr sz="1800" spc="-45" dirty="0">
                <a:latin typeface="Arial MT"/>
                <a:cs typeface="Arial MT"/>
              </a:rPr>
              <a:t> </a:t>
            </a:r>
            <a:r>
              <a:rPr sz="1800" dirty="0">
                <a:latin typeface="Arial MT"/>
                <a:cs typeface="Arial MT"/>
              </a:rPr>
              <a:t>processes</a:t>
            </a:r>
            <a:r>
              <a:rPr sz="1800" spc="-15" dirty="0">
                <a:latin typeface="Arial MT"/>
                <a:cs typeface="Arial MT"/>
              </a:rPr>
              <a:t> </a:t>
            </a:r>
            <a:r>
              <a:rPr sz="1800" dirty="0">
                <a:latin typeface="Arial MT"/>
                <a:cs typeface="Arial MT"/>
              </a:rPr>
              <a:t>are</a:t>
            </a:r>
            <a:r>
              <a:rPr sz="1800" spc="-20" dirty="0">
                <a:latin typeface="Arial MT"/>
                <a:cs typeface="Arial MT"/>
              </a:rPr>
              <a:t> </a:t>
            </a:r>
            <a:r>
              <a:rPr sz="1800" dirty="0">
                <a:latin typeface="Arial MT"/>
                <a:cs typeface="Arial MT"/>
              </a:rPr>
              <a:t>moved</a:t>
            </a:r>
            <a:r>
              <a:rPr sz="1800" spc="-25" dirty="0">
                <a:latin typeface="Arial MT"/>
                <a:cs typeface="Arial MT"/>
              </a:rPr>
              <a:t> </a:t>
            </a:r>
            <a:r>
              <a:rPr sz="1800" dirty="0">
                <a:latin typeface="Arial MT"/>
                <a:cs typeface="Arial MT"/>
              </a:rPr>
              <a:t>toward</a:t>
            </a:r>
            <a:r>
              <a:rPr sz="1800" spc="10" dirty="0">
                <a:latin typeface="Arial MT"/>
                <a:cs typeface="Arial MT"/>
              </a:rPr>
              <a:t> </a:t>
            </a:r>
            <a:r>
              <a:rPr sz="1800" dirty="0">
                <a:latin typeface="Arial MT"/>
                <a:cs typeface="Arial MT"/>
              </a:rPr>
              <a:t>one</a:t>
            </a:r>
            <a:r>
              <a:rPr sz="1800" spc="-20" dirty="0">
                <a:latin typeface="Arial MT"/>
                <a:cs typeface="Arial MT"/>
              </a:rPr>
              <a:t> </a:t>
            </a:r>
            <a:r>
              <a:rPr sz="1800" dirty="0">
                <a:latin typeface="Arial MT"/>
                <a:cs typeface="Arial MT"/>
              </a:rPr>
              <a:t>end</a:t>
            </a:r>
            <a:r>
              <a:rPr sz="1800" spc="-25" dirty="0">
                <a:latin typeface="Arial MT"/>
                <a:cs typeface="Arial MT"/>
              </a:rPr>
              <a:t> </a:t>
            </a:r>
            <a:r>
              <a:rPr sz="1800" dirty="0">
                <a:latin typeface="Arial MT"/>
                <a:cs typeface="Arial MT"/>
              </a:rPr>
              <a:t>of</a:t>
            </a:r>
            <a:r>
              <a:rPr sz="1800" spc="-15" dirty="0">
                <a:latin typeface="Arial MT"/>
                <a:cs typeface="Arial MT"/>
              </a:rPr>
              <a:t> </a:t>
            </a:r>
            <a:r>
              <a:rPr sz="1800" spc="-10" dirty="0">
                <a:latin typeface="Arial MT"/>
                <a:cs typeface="Arial MT"/>
              </a:rPr>
              <a:t>memory</a:t>
            </a:r>
            <a:endParaRPr sz="1800">
              <a:latin typeface="Arial MT"/>
              <a:cs typeface="Arial MT"/>
            </a:endParaRPr>
          </a:p>
          <a:p>
            <a:pPr marL="354965" indent="-342265">
              <a:lnSpc>
                <a:spcPct val="100000"/>
              </a:lnSpc>
              <a:spcBef>
                <a:spcPts val="2055"/>
              </a:spcBef>
              <a:buClr>
                <a:srgbClr val="993300"/>
              </a:buClr>
              <a:buSzPct val="88888"/>
              <a:buFont typeface="Wingdings"/>
              <a:buChar char=""/>
              <a:tabLst>
                <a:tab pos="354965" algn="l"/>
              </a:tabLst>
            </a:pPr>
            <a:r>
              <a:rPr sz="1800" dirty="0">
                <a:solidFill>
                  <a:srgbClr val="FF0000"/>
                </a:solidFill>
                <a:latin typeface="Arial MT"/>
                <a:cs typeface="Arial MT"/>
              </a:rPr>
              <a:t>Other</a:t>
            </a:r>
            <a:r>
              <a:rPr sz="1800" spc="-55" dirty="0">
                <a:solidFill>
                  <a:srgbClr val="FF0000"/>
                </a:solidFill>
                <a:latin typeface="Arial MT"/>
                <a:cs typeface="Arial MT"/>
              </a:rPr>
              <a:t> </a:t>
            </a:r>
            <a:r>
              <a:rPr sz="1800" dirty="0">
                <a:solidFill>
                  <a:srgbClr val="FF0000"/>
                </a:solidFill>
                <a:latin typeface="Arial MT"/>
                <a:cs typeface="Arial MT"/>
              </a:rPr>
              <a:t>solutions</a:t>
            </a:r>
            <a:r>
              <a:rPr sz="1800" spc="-40" dirty="0">
                <a:solidFill>
                  <a:srgbClr val="FF0000"/>
                </a:solidFill>
                <a:latin typeface="Arial MT"/>
                <a:cs typeface="Arial MT"/>
              </a:rPr>
              <a:t> </a:t>
            </a:r>
            <a:r>
              <a:rPr sz="1800" dirty="0">
                <a:solidFill>
                  <a:srgbClr val="FF0000"/>
                </a:solidFill>
                <a:latin typeface="Arial MT"/>
                <a:cs typeface="Arial MT"/>
              </a:rPr>
              <a:t>to</a:t>
            </a:r>
            <a:r>
              <a:rPr sz="1800" spc="-45" dirty="0">
                <a:solidFill>
                  <a:srgbClr val="FF0000"/>
                </a:solidFill>
                <a:latin typeface="Arial MT"/>
                <a:cs typeface="Arial MT"/>
              </a:rPr>
              <a:t> </a:t>
            </a:r>
            <a:r>
              <a:rPr sz="1800" dirty="0">
                <a:solidFill>
                  <a:srgbClr val="FF0000"/>
                </a:solidFill>
                <a:latin typeface="Arial MT"/>
                <a:cs typeface="Arial MT"/>
              </a:rPr>
              <a:t>external</a:t>
            </a:r>
            <a:r>
              <a:rPr sz="1800" spc="-30" dirty="0">
                <a:solidFill>
                  <a:srgbClr val="FF0000"/>
                </a:solidFill>
                <a:latin typeface="Arial MT"/>
                <a:cs typeface="Arial MT"/>
              </a:rPr>
              <a:t> </a:t>
            </a:r>
            <a:r>
              <a:rPr sz="1800" dirty="0">
                <a:solidFill>
                  <a:srgbClr val="FF0000"/>
                </a:solidFill>
                <a:latin typeface="Arial MT"/>
                <a:cs typeface="Arial MT"/>
              </a:rPr>
              <a:t>fragmentation</a:t>
            </a:r>
            <a:r>
              <a:rPr sz="1800" spc="-40" dirty="0">
                <a:solidFill>
                  <a:srgbClr val="FF0000"/>
                </a:solidFill>
                <a:latin typeface="Arial MT"/>
                <a:cs typeface="Arial MT"/>
              </a:rPr>
              <a:t> </a:t>
            </a:r>
            <a:r>
              <a:rPr sz="1800" dirty="0">
                <a:solidFill>
                  <a:srgbClr val="FF0000"/>
                </a:solidFill>
                <a:latin typeface="Arial MT"/>
                <a:cs typeface="Arial MT"/>
              </a:rPr>
              <a:t>problems:</a:t>
            </a:r>
            <a:r>
              <a:rPr sz="1800" spc="-20" dirty="0">
                <a:solidFill>
                  <a:srgbClr val="FF0000"/>
                </a:solidFill>
                <a:latin typeface="Arial MT"/>
                <a:cs typeface="Arial MT"/>
              </a:rPr>
              <a:t> </a:t>
            </a:r>
            <a:r>
              <a:rPr sz="1800" b="1" dirty="0">
                <a:solidFill>
                  <a:srgbClr val="FF0000"/>
                </a:solidFill>
                <a:latin typeface="Arial"/>
                <a:cs typeface="Arial"/>
              </a:rPr>
              <a:t>Segmentation</a:t>
            </a:r>
            <a:r>
              <a:rPr sz="1800" b="1" spc="-50" dirty="0">
                <a:solidFill>
                  <a:srgbClr val="FF0000"/>
                </a:solidFill>
                <a:latin typeface="Arial"/>
                <a:cs typeface="Arial"/>
              </a:rPr>
              <a:t> </a:t>
            </a:r>
            <a:r>
              <a:rPr sz="1800" b="1" dirty="0">
                <a:solidFill>
                  <a:srgbClr val="FF0000"/>
                </a:solidFill>
                <a:latin typeface="Arial"/>
                <a:cs typeface="Arial"/>
              </a:rPr>
              <a:t>and</a:t>
            </a:r>
            <a:r>
              <a:rPr sz="1800" b="1" spc="-40" dirty="0">
                <a:solidFill>
                  <a:srgbClr val="FF0000"/>
                </a:solidFill>
                <a:latin typeface="Arial"/>
                <a:cs typeface="Arial"/>
              </a:rPr>
              <a:t> </a:t>
            </a:r>
            <a:r>
              <a:rPr sz="1800" b="1" i="1" spc="-10" dirty="0">
                <a:solidFill>
                  <a:srgbClr val="FF0000"/>
                </a:solidFill>
                <a:latin typeface="Arial"/>
                <a:cs typeface="Arial"/>
              </a:rPr>
              <a:t>Paging</a:t>
            </a:r>
            <a:endParaRPr sz="1800">
              <a:latin typeface="Arial"/>
              <a:cs typeface="Arial"/>
            </a:endParaRPr>
          </a:p>
          <a:p>
            <a:pPr marL="286385" marR="615950" lvl="1" indent="-286385" algn="r">
              <a:lnSpc>
                <a:spcPct val="100000"/>
              </a:lnSpc>
              <a:spcBef>
                <a:spcPts val="755"/>
              </a:spcBef>
              <a:buClr>
                <a:srgbClr val="CC6600"/>
              </a:buClr>
              <a:buSzPct val="80555"/>
              <a:buFont typeface="Wingdings"/>
              <a:buChar char=""/>
              <a:tabLst>
                <a:tab pos="286385" algn="l"/>
              </a:tabLst>
            </a:pPr>
            <a:r>
              <a:rPr sz="1800" dirty="0">
                <a:solidFill>
                  <a:srgbClr val="FF0000"/>
                </a:solidFill>
                <a:latin typeface="Arial MT"/>
                <a:cs typeface="Arial MT"/>
              </a:rPr>
              <a:t>Permit</a:t>
            </a:r>
            <a:r>
              <a:rPr sz="1800" spc="-30"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logical address</a:t>
            </a:r>
            <a:r>
              <a:rPr sz="1800" spc="-5" dirty="0">
                <a:solidFill>
                  <a:srgbClr val="FF0000"/>
                </a:solidFill>
                <a:latin typeface="Arial MT"/>
                <a:cs typeface="Arial MT"/>
              </a:rPr>
              <a:t> </a:t>
            </a:r>
            <a:r>
              <a:rPr sz="1800" dirty="0">
                <a:solidFill>
                  <a:srgbClr val="FF0000"/>
                </a:solidFill>
                <a:latin typeface="Arial MT"/>
                <a:cs typeface="Arial MT"/>
              </a:rPr>
              <a:t>space</a:t>
            </a:r>
            <a:r>
              <a:rPr sz="1800" spc="-20" dirty="0">
                <a:solidFill>
                  <a:srgbClr val="FF0000"/>
                </a:solidFill>
                <a:latin typeface="Arial MT"/>
                <a:cs typeface="Arial MT"/>
              </a:rPr>
              <a:t> </a:t>
            </a:r>
            <a:r>
              <a:rPr sz="1800" dirty="0">
                <a:solidFill>
                  <a:srgbClr val="FF0000"/>
                </a:solidFill>
                <a:latin typeface="Arial MT"/>
                <a:cs typeface="Arial MT"/>
              </a:rPr>
              <a:t>of</a:t>
            </a:r>
            <a:r>
              <a:rPr sz="1800" spc="-15" dirty="0">
                <a:solidFill>
                  <a:srgbClr val="FF0000"/>
                </a:solidFill>
                <a:latin typeface="Arial MT"/>
                <a:cs typeface="Arial MT"/>
              </a:rPr>
              <a:t> </a:t>
            </a:r>
            <a:r>
              <a:rPr sz="1800" dirty="0">
                <a:solidFill>
                  <a:srgbClr val="FF0000"/>
                </a:solidFill>
                <a:latin typeface="Arial MT"/>
                <a:cs typeface="Arial MT"/>
              </a:rPr>
              <a:t>each</a:t>
            </a:r>
            <a:r>
              <a:rPr sz="1800" spc="-15" dirty="0">
                <a:solidFill>
                  <a:srgbClr val="FF0000"/>
                </a:solidFill>
                <a:latin typeface="Arial MT"/>
                <a:cs typeface="Arial MT"/>
              </a:rPr>
              <a:t> </a:t>
            </a:r>
            <a:r>
              <a:rPr sz="1800" dirty="0">
                <a:solidFill>
                  <a:srgbClr val="FF0000"/>
                </a:solidFill>
                <a:latin typeface="Arial MT"/>
                <a:cs typeface="Arial MT"/>
              </a:rPr>
              <a:t>process</a:t>
            </a:r>
            <a:r>
              <a:rPr sz="1800" spc="-15" dirty="0">
                <a:solidFill>
                  <a:srgbClr val="FF0000"/>
                </a:solidFill>
                <a:latin typeface="Arial MT"/>
                <a:cs typeface="Arial MT"/>
              </a:rPr>
              <a:t> </a:t>
            </a:r>
            <a:r>
              <a:rPr sz="1800" dirty="0">
                <a:solidFill>
                  <a:srgbClr val="FF0000"/>
                </a:solidFill>
                <a:latin typeface="Arial MT"/>
                <a:cs typeface="Arial MT"/>
              </a:rPr>
              <a:t>to</a:t>
            </a:r>
            <a:r>
              <a:rPr sz="1800" spc="-20" dirty="0">
                <a:solidFill>
                  <a:srgbClr val="FF0000"/>
                </a:solidFill>
                <a:latin typeface="Arial MT"/>
                <a:cs typeface="Arial MT"/>
              </a:rPr>
              <a:t> </a:t>
            </a:r>
            <a:r>
              <a:rPr sz="1800" dirty="0">
                <a:solidFill>
                  <a:srgbClr val="FF0000"/>
                </a:solidFill>
                <a:latin typeface="Arial MT"/>
                <a:cs typeface="Arial MT"/>
              </a:rPr>
              <a:t>be</a:t>
            </a:r>
            <a:r>
              <a:rPr sz="1800" spc="-25" dirty="0">
                <a:solidFill>
                  <a:srgbClr val="FF0000"/>
                </a:solidFill>
                <a:latin typeface="Arial MT"/>
                <a:cs typeface="Arial MT"/>
              </a:rPr>
              <a:t> </a:t>
            </a:r>
            <a:r>
              <a:rPr sz="1800" spc="-10" dirty="0">
                <a:solidFill>
                  <a:srgbClr val="FF0000"/>
                </a:solidFill>
                <a:latin typeface="Arial MT"/>
                <a:cs typeface="Arial MT"/>
              </a:rPr>
              <a:t>non-contiguous</a:t>
            </a:r>
            <a:endParaRPr sz="1800">
              <a:latin typeface="Arial MT"/>
              <a:cs typeface="Arial MT"/>
            </a:endParaRPr>
          </a:p>
          <a:p>
            <a:pPr marL="227965" marR="676910" lvl="2" indent="-227965" algn="r">
              <a:lnSpc>
                <a:spcPct val="100000"/>
              </a:lnSpc>
              <a:spcBef>
                <a:spcPts val="760"/>
              </a:spcBef>
              <a:buClr>
                <a:srgbClr val="009900"/>
              </a:buClr>
              <a:buSzPct val="75000"/>
              <a:buFont typeface="Webdings"/>
              <a:buChar char=""/>
              <a:tabLst>
                <a:tab pos="227965" algn="l"/>
              </a:tabLst>
            </a:pPr>
            <a:r>
              <a:rPr sz="1800" dirty="0">
                <a:solidFill>
                  <a:srgbClr val="FF0000"/>
                </a:solidFill>
                <a:latin typeface="Arial MT"/>
                <a:cs typeface="Arial MT"/>
              </a:rPr>
              <a:t>Process</a:t>
            </a:r>
            <a:r>
              <a:rPr sz="1800" spc="-30" dirty="0">
                <a:solidFill>
                  <a:srgbClr val="FF0000"/>
                </a:solidFill>
                <a:latin typeface="Arial MT"/>
                <a:cs typeface="Arial MT"/>
              </a:rPr>
              <a:t> </a:t>
            </a:r>
            <a:r>
              <a:rPr sz="1800" dirty="0">
                <a:solidFill>
                  <a:srgbClr val="FF0000"/>
                </a:solidFill>
                <a:latin typeface="Arial MT"/>
                <a:cs typeface="Arial MT"/>
              </a:rPr>
              <a:t>can</a:t>
            </a:r>
            <a:r>
              <a:rPr sz="1800" spc="-20" dirty="0">
                <a:solidFill>
                  <a:srgbClr val="FF0000"/>
                </a:solidFill>
                <a:latin typeface="Arial MT"/>
                <a:cs typeface="Arial MT"/>
              </a:rPr>
              <a:t> </a:t>
            </a:r>
            <a:r>
              <a:rPr sz="1800" dirty="0">
                <a:solidFill>
                  <a:srgbClr val="FF0000"/>
                </a:solidFill>
                <a:latin typeface="Arial MT"/>
                <a:cs typeface="Arial MT"/>
              </a:rPr>
              <a:t>be</a:t>
            </a:r>
            <a:r>
              <a:rPr sz="1800" spc="-35" dirty="0">
                <a:solidFill>
                  <a:srgbClr val="FF0000"/>
                </a:solidFill>
                <a:latin typeface="Arial MT"/>
                <a:cs typeface="Arial MT"/>
              </a:rPr>
              <a:t> </a:t>
            </a:r>
            <a:r>
              <a:rPr sz="1800" dirty="0">
                <a:solidFill>
                  <a:srgbClr val="FF0000"/>
                </a:solidFill>
                <a:latin typeface="Arial MT"/>
                <a:cs typeface="Arial MT"/>
              </a:rPr>
              <a:t>allocated</a:t>
            </a:r>
            <a:r>
              <a:rPr sz="1800" spc="-15" dirty="0">
                <a:solidFill>
                  <a:srgbClr val="FF0000"/>
                </a:solidFill>
                <a:latin typeface="Arial MT"/>
                <a:cs typeface="Arial MT"/>
              </a:rPr>
              <a:t> </a:t>
            </a:r>
            <a:r>
              <a:rPr sz="1800" dirty="0">
                <a:solidFill>
                  <a:srgbClr val="FF0000"/>
                </a:solidFill>
                <a:latin typeface="Arial MT"/>
                <a:cs typeface="Arial MT"/>
              </a:rPr>
              <a:t>physical memory</a:t>
            </a:r>
            <a:r>
              <a:rPr sz="1800" spc="-10" dirty="0">
                <a:solidFill>
                  <a:srgbClr val="FF0000"/>
                </a:solidFill>
                <a:latin typeface="Arial MT"/>
                <a:cs typeface="Arial MT"/>
              </a:rPr>
              <a:t> </a:t>
            </a:r>
            <a:r>
              <a:rPr sz="1800" b="1" i="1" dirty="0">
                <a:solidFill>
                  <a:srgbClr val="FF0000"/>
                </a:solidFill>
                <a:latin typeface="Arial"/>
                <a:cs typeface="Arial"/>
              </a:rPr>
              <a:t>wherever</a:t>
            </a:r>
            <a:r>
              <a:rPr sz="1800" b="1" i="1" spc="-25" dirty="0">
                <a:solidFill>
                  <a:srgbClr val="FF0000"/>
                </a:solidFill>
                <a:latin typeface="Arial"/>
                <a:cs typeface="Arial"/>
              </a:rPr>
              <a:t> </a:t>
            </a:r>
            <a:r>
              <a:rPr sz="1800" dirty="0">
                <a:solidFill>
                  <a:srgbClr val="FF0000"/>
                </a:solidFill>
                <a:latin typeface="Arial MT"/>
                <a:cs typeface="Arial MT"/>
              </a:rPr>
              <a:t>it</a:t>
            </a:r>
            <a:r>
              <a:rPr sz="1800" spc="-25" dirty="0">
                <a:solidFill>
                  <a:srgbClr val="FF0000"/>
                </a:solidFill>
                <a:latin typeface="Arial MT"/>
                <a:cs typeface="Arial MT"/>
              </a:rPr>
              <a:t> </a:t>
            </a:r>
            <a:r>
              <a:rPr sz="1800" dirty="0">
                <a:solidFill>
                  <a:srgbClr val="FF0000"/>
                </a:solidFill>
                <a:latin typeface="Arial MT"/>
                <a:cs typeface="Arial MT"/>
              </a:rPr>
              <a:t>is</a:t>
            </a:r>
            <a:r>
              <a:rPr sz="1800" spc="-25" dirty="0">
                <a:solidFill>
                  <a:srgbClr val="FF0000"/>
                </a:solidFill>
                <a:latin typeface="Arial MT"/>
                <a:cs typeface="Arial MT"/>
              </a:rPr>
              <a:t> </a:t>
            </a:r>
            <a:r>
              <a:rPr sz="1800" spc="-10" dirty="0">
                <a:solidFill>
                  <a:srgbClr val="FF0000"/>
                </a:solidFill>
                <a:latin typeface="Arial MT"/>
                <a:cs typeface="Arial MT"/>
              </a:rPr>
              <a:t>available</a:t>
            </a:r>
            <a:endParaRPr sz="1800">
              <a:latin typeface="Arial MT"/>
              <a:cs typeface="Arial MT"/>
            </a:endParaRPr>
          </a:p>
          <a:p>
            <a:pPr marL="354965" indent="-342265">
              <a:lnSpc>
                <a:spcPct val="100000"/>
              </a:lnSpc>
              <a:spcBef>
                <a:spcPts val="2050"/>
              </a:spcBef>
              <a:buClr>
                <a:srgbClr val="993300"/>
              </a:buClr>
              <a:buSzPct val="88888"/>
              <a:buFont typeface="Wingdings"/>
              <a:buChar char=""/>
              <a:tabLst>
                <a:tab pos="354965" algn="l"/>
              </a:tabLst>
            </a:pPr>
            <a:r>
              <a:rPr sz="1800" dirty="0">
                <a:latin typeface="Arial MT"/>
                <a:cs typeface="Arial MT"/>
              </a:rPr>
              <a:t>Now</a:t>
            </a:r>
            <a:r>
              <a:rPr sz="1800" spc="-30" dirty="0">
                <a:latin typeface="Arial MT"/>
                <a:cs typeface="Arial MT"/>
              </a:rPr>
              <a:t> </a:t>
            </a:r>
            <a:r>
              <a:rPr sz="1800" dirty="0">
                <a:latin typeface="Arial MT"/>
                <a:cs typeface="Arial MT"/>
              </a:rPr>
              <a:t>consider</a:t>
            </a:r>
            <a:r>
              <a:rPr sz="1800" spc="-25" dirty="0">
                <a:latin typeface="Arial MT"/>
                <a:cs typeface="Arial MT"/>
              </a:rPr>
              <a:t> </a:t>
            </a:r>
            <a:r>
              <a:rPr sz="1800" dirty="0">
                <a:latin typeface="Arial MT"/>
                <a:cs typeface="Arial MT"/>
              </a:rPr>
              <a:t>that</a:t>
            </a:r>
            <a:r>
              <a:rPr sz="1800" spc="-30" dirty="0">
                <a:latin typeface="Arial MT"/>
                <a:cs typeface="Arial MT"/>
              </a:rPr>
              <a:t> </a:t>
            </a:r>
            <a:r>
              <a:rPr sz="1800" dirty="0">
                <a:latin typeface="Arial MT"/>
                <a:cs typeface="Arial MT"/>
              </a:rPr>
              <a:t>backing</a:t>
            </a:r>
            <a:r>
              <a:rPr sz="1800" spc="-25" dirty="0">
                <a:latin typeface="Arial MT"/>
                <a:cs typeface="Arial MT"/>
              </a:rPr>
              <a:t> </a:t>
            </a:r>
            <a:r>
              <a:rPr sz="1800" dirty="0">
                <a:latin typeface="Arial MT"/>
                <a:cs typeface="Arial MT"/>
              </a:rPr>
              <a:t>store</a:t>
            </a:r>
            <a:r>
              <a:rPr sz="1800" spc="-40" dirty="0">
                <a:latin typeface="Arial MT"/>
                <a:cs typeface="Arial MT"/>
              </a:rPr>
              <a:t> </a:t>
            </a:r>
            <a:r>
              <a:rPr sz="1800" dirty="0">
                <a:latin typeface="Arial MT"/>
                <a:cs typeface="Arial MT"/>
              </a:rPr>
              <a:t>has</a:t>
            </a:r>
            <a:r>
              <a:rPr sz="1800" spc="-30" dirty="0">
                <a:latin typeface="Arial MT"/>
                <a:cs typeface="Arial MT"/>
              </a:rPr>
              <a:t> </a:t>
            </a:r>
            <a:r>
              <a:rPr sz="1800" dirty="0">
                <a:latin typeface="Arial MT"/>
                <a:cs typeface="Arial MT"/>
              </a:rPr>
              <a:t>same</a:t>
            </a:r>
            <a:r>
              <a:rPr sz="1800" spc="-30" dirty="0">
                <a:latin typeface="Arial MT"/>
                <a:cs typeface="Arial MT"/>
              </a:rPr>
              <a:t> </a:t>
            </a:r>
            <a:r>
              <a:rPr sz="1800" dirty="0">
                <a:latin typeface="Arial MT"/>
                <a:cs typeface="Arial MT"/>
              </a:rPr>
              <a:t>fragmentation</a:t>
            </a:r>
            <a:r>
              <a:rPr sz="1800" spc="-25" dirty="0">
                <a:latin typeface="Arial MT"/>
                <a:cs typeface="Arial MT"/>
              </a:rPr>
              <a:t> </a:t>
            </a:r>
            <a:r>
              <a:rPr sz="1800" spc="-10" dirty="0">
                <a:latin typeface="Arial MT"/>
                <a:cs typeface="Arial MT"/>
              </a:rPr>
              <a:t>problems</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solidFill>
                  <a:srgbClr val="FF0000"/>
                </a:solidFill>
                <a:latin typeface="Arial MT"/>
                <a:cs typeface="Arial MT"/>
              </a:rPr>
              <a:t>As</a:t>
            </a:r>
            <a:r>
              <a:rPr sz="1800" spc="-35" dirty="0">
                <a:solidFill>
                  <a:srgbClr val="FF0000"/>
                </a:solidFill>
                <a:latin typeface="Arial MT"/>
                <a:cs typeface="Arial MT"/>
              </a:rPr>
              <a:t> </a:t>
            </a:r>
            <a:r>
              <a:rPr sz="1800" dirty="0">
                <a:solidFill>
                  <a:srgbClr val="FF0000"/>
                </a:solidFill>
                <a:latin typeface="Arial MT"/>
                <a:cs typeface="Arial MT"/>
              </a:rPr>
              <a:t>processes</a:t>
            </a:r>
            <a:r>
              <a:rPr sz="1800" spc="-10" dirty="0">
                <a:solidFill>
                  <a:srgbClr val="FF0000"/>
                </a:solidFill>
                <a:latin typeface="Arial MT"/>
                <a:cs typeface="Arial MT"/>
              </a:rPr>
              <a:t> </a:t>
            </a:r>
            <a:r>
              <a:rPr sz="1800" dirty="0">
                <a:solidFill>
                  <a:srgbClr val="FF0000"/>
                </a:solidFill>
                <a:latin typeface="Arial MT"/>
                <a:cs typeface="Arial MT"/>
              </a:rPr>
              <a:t>are</a:t>
            </a:r>
            <a:r>
              <a:rPr sz="1800" spc="-30" dirty="0">
                <a:solidFill>
                  <a:srgbClr val="FF0000"/>
                </a:solidFill>
                <a:latin typeface="Arial MT"/>
                <a:cs typeface="Arial MT"/>
              </a:rPr>
              <a:t> </a:t>
            </a:r>
            <a:r>
              <a:rPr sz="1800" dirty="0">
                <a:solidFill>
                  <a:srgbClr val="FF0000"/>
                </a:solidFill>
                <a:latin typeface="Arial MT"/>
                <a:cs typeface="Arial MT"/>
              </a:rPr>
              <a:t>swapped</a:t>
            </a:r>
            <a:r>
              <a:rPr sz="1800" spc="35" dirty="0">
                <a:solidFill>
                  <a:srgbClr val="FF0000"/>
                </a:solidFill>
                <a:latin typeface="Arial MT"/>
                <a:cs typeface="Arial MT"/>
              </a:rPr>
              <a:t> </a:t>
            </a:r>
            <a:r>
              <a:rPr sz="1800" dirty="0">
                <a:solidFill>
                  <a:srgbClr val="FF0000"/>
                </a:solidFill>
                <a:latin typeface="Arial MT"/>
                <a:cs typeface="Arial MT"/>
              </a:rPr>
              <a:t>in</a:t>
            </a:r>
            <a:r>
              <a:rPr sz="1800" spc="-30" dirty="0">
                <a:solidFill>
                  <a:srgbClr val="FF0000"/>
                </a:solidFill>
                <a:latin typeface="Arial MT"/>
                <a:cs typeface="Arial MT"/>
              </a:rPr>
              <a:t> </a:t>
            </a:r>
            <a:r>
              <a:rPr sz="1800" dirty="0">
                <a:solidFill>
                  <a:srgbClr val="FF0000"/>
                </a:solidFill>
                <a:latin typeface="Arial MT"/>
                <a:cs typeface="Arial MT"/>
              </a:rPr>
              <a:t>and</a:t>
            </a:r>
            <a:r>
              <a:rPr sz="1800" spc="-15" dirty="0">
                <a:solidFill>
                  <a:srgbClr val="FF0000"/>
                </a:solidFill>
                <a:latin typeface="Arial MT"/>
                <a:cs typeface="Arial MT"/>
              </a:rPr>
              <a:t> </a:t>
            </a:r>
            <a:r>
              <a:rPr sz="1800" dirty="0">
                <a:solidFill>
                  <a:srgbClr val="FF0000"/>
                </a:solidFill>
                <a:latin typeface="Arial MT"/>
                <a:cs typeface="Arial MT"/>
              </a:rPr>
              <a:t>out.</a:t>
            </a:r>
            <a:r>
              <a:rPr sz="1800" spc="-25" dirty="0">
                <a:solidFill>
                  <a:srgbClr val="FF0000"/>
                </a:solidFill>
                <a:latin typeface="Arial MT"/>
                <a:cs typeface="Arial MT"/>
              </a:rPr>
              <a:t> </a:t>
            </a:r>
            <a:r>
              <a:rPr sz="1800" dirty="0">
                <a:solidFill>
                  <a:srgbClr val="FF0000"/>
                </a:solidFill>
                <a:latin typeface="Arial MT"/>
                <a:cs typeface="Arial MT"/>
              </a:rPr>
              <a:t>Also</a:t>
            </a:r>
            <a:r>
              <a:rPr sz="1800" spc="-15" dirty="0">
                <a:solidFill>
                  <a:srgbClr val="FF0000"/>
                </a:solidFill>
                <a:latin typeface="Arial MT"/>
                <a:cs typeface="Arial MT"/>
              </a:rPr>
              <a:t> </a:t>
            </a:r>
            <a:r>
              <a:rPr sz="1800" dirty="0">
                <a:solidFill>
                  <a:srgbClr val="FF0000"/>
                </a:solidFill>
                <a:latin typeface="Arial MT"/>
                <a:cs typeface="Arial MT"/>
              </a:rPr>
              <a:t>true</a:t>
            </a:r>
            <a:r>
              <a:rPr sz="1800" spc="-30" dirty="0">
                <a:solidFill>
                  <a:srgbClr val="FF0000"/>
                </a:solidFill>
                <a:latin typeface="Arial MT"/>
                <a:cs typeface="Arial MT"/>
              </a:rPr>
              <a:t> </a:t>
            </a:r>
            <a:r>
              <a:rPr sz="1800" dirty="0">
                <a:solidFill>
                  <a:srgbClr val="FF0000"/>
                </a:solidFill>
                <a:latin typeface="Arial MT"/>
                <a:cs typeface="Arial MT"/>
              </a:rPr>
              <a:t>for</a:t>
            </a:r>
            <a:r>
              <a:rPr sz="1800" spc="-35" dirty="0">
                <a:solidFill>
                  <a:srgbClr val="FF0000"/>
                </a:solidFill>
                <a:latin typeface="Arial MT"/>
                <a:cs typeface="Arial MT"/>
              </a:rPr>
              <a:t> </a:t>
            </a:r>
            <a:r>
              <a:rPr sz="1800" dirty="0">
                <a:solidFill>
                  <a:srgbClr val="FF0000"/>
                </a:solidFill>
                <a:latin typeface="Arial MT"/>
                <a:cs typeface="Arial MT"/>
              </a:rPr>
              <a:t>any</a:t>
            </a:r>
            <a:r>
              <a:rPr sz="1800" spc="-15" dirty="0">
                <a:solidFill>
                  <a:srgbClr val="FF0000"/>
                </a:solidFill>
                <a:latin typeface="Arial MT"/>
                <a:cs typeface="Arial MT"/>
              </a:rPr>
              <a:t> </a:t>
            </a:r>
            <a:r>
              <a:rPr sz="1800" dirty="0">
                <a:solidFill>
                  <a:srgbClr val="FF0000"/>
                </a:solidFill>
                <a:latin typeface="Arial MT"/>
                <a:cs typeface="Arial MT"/>
              </a:rPr>
              <a:t>storage</a:t>
            </a:r>
            <a:r>
              <a:rPr sz="1800" spc="-25" dirty="0">
                <a:solidFill>
                  <a:srgbClr val="FF0000"/>
                </a:solidFill>
                <a:latin typeface="Arial MT"/>
                <a:cs typeface="Arial MT"/>
              </a:rPr>
              <a:t> </a:t>
            </a:r>
            <a:r>
              <a:rPr sz="1800" spc="-10" dirty="0">
                <a:solidFill>
                  <a:srgbClr val="FF0000"/>
                </a:solidFill>
                <a:latin typeface="Arial MT"/>
                <a:cs typeface="Arial MT"/>
              </a:rPr>
              <a:t>device</a:t>
            </a:r>
            <a:endParaRPr sz="1800">
              <a:latin typeface="Arial MT"/>
              <a:cs typeface="Arial MT"/>
            </a:endParaRPr>
          </a:p>
        </p:txBody>
      </p:sp>
    </p:spTree>
    <p:extLst>
      <p:ext uri="{BB962C8B-B14F-4D97-AF65-F5344CB8AC3E}">
        <p14:creationId xmlns:p14="http://schemas.microsoft.com/office/powerpoint/2010/main" val="2042150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1D9C-AFC6-8F1C-8BCC-65692AFA3629}"/>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161B0BE9-088B-FCF5-0276-90F9090652EA}"/>
              </a:ext>
            </a:extLst>
          </p:cNvPr>
          <p:cNvSpPr txBox="1"/>
          <p:nvPr/>
        </p:nvSpPr>
        <p:spPr>
          <a:xfrm>
            <a:off x="457200" y="1066800"/>
            <a:ext cx="8534400" cy="646331"/>
          </a:xfrm>
          <a:prstGeom prst="rect">
            <a:avLst/>
          </a:prstGeom>
          <a:noFill/>
        </p:spPr>
        <p:txBody>
          <a:bodyPr wrap="square">
            <a:spAutoFit/>
          </a:bodyPr>
          <a:lstStyle/>
          <a:p>
            <a:r>
              <a:rPr lang="en-US" dirty="0"/>
              <a:t>A system is using a </a:t>
            </a:r>
            <a:r>
              <a:rPr lang="en-US" b="1" dirty="0"/>
              <a:t>dynamic partitioning memory allocation scheme</a:t>
            </a:r>
            <a:r>
              <a:rPr lang="en-US" dirty="0"/>
              <a:t>. At a given point in time, the memory is divided into 10 blocks as shown below:</a:t>
            </a:r>
          </a:p>
        </p:txBody>
      </p:sp>
      <p:graphicFrame>
        <p:nvGraphicFramePr>
          <p:cNvPr id="6" name="Table 5">
            <a:extLst>
              <a:ext uri="{FF2B5EF4-FFF2-40B4-BE49-F238E27FC236}">
                <a16:creationId xmlns:a16="http://schemas.microsoft.com/office/drawing/2014/main" id="{9A28F8A9-3AA2-6349-3740-366FB77D3F0F}"/>
              </a:ext>
            </a:extLst>
          </p:cNvPr>
          <p:cNvGraphicFramePr>
            <a:graphicFrameLocks noGrp="1"/>
          </p:cNvGraphicFramePr>
          <p:nvPr>
            <p:extLst>
              <p:ext uri="{D42A27DB-BD31-4B8C-83A1-F6EECF244321}">
                <p14:modId xmlns:p14="http://schemas.microsoft.com/office/powerpoint/2010/main" val="1814414653"/>
              </p:ext>
            </p:extLst>
          </p:nvPr>
        </p:nvGraphicFramePr>
        <p:xfrm>
          <a:off x="419097" y="1920876"/>
          <a:ext cx="8305803" cy="1508124"/>
        </p:xfrm>
        <a:graphic>
          <a:graphicData uri="http://schemas.openxmlformats.org/drawingml/2006/table">
            <a:tbl>
              <a:tblPr/>
              <a:tblGrid>
                <a:gridCol w="755073">
                  <a:extLst>
                    <a:ext uri="{9D8B030D-6E8A-4147-A177-3AD203B41FA5}">
                      <a16:colId xmlns:a16="http://schemas.microsoft.com/office/drawing/2014/main" val="1856431215"/>
                    </a:ext>
                  </a:extLst>
                </a:gridCol>
                <a:gridCol w="755073">
                  <a:extLst>
                    <a:ext uri="{9D8B030D-6E8A-4147-A177-3AD203B41FA5}">
                      <a16:colId xmlns:a16="http://schemas.microsoft.com/office/drawing/2014/main" val="1395432648"/>
                    </a:ext>
                  </a:extLst>
                </a:gridCol>
                <a:gridCol w="755073">
                  <a:extLst>
                    <a:ext uri="{9D8B030D-6E8A-4147-A177-3AD203B41FA5}">
                      <a16:colId xmlns:a16="http://schemas.microsoft.com/office/drawing/2014/main" val="1803288508"/>
                    </a:ext>
                  </a:extLst>
                </a:gridCol>
                <a:gridCol w="755073">
                  <a:extLst>
                    <a:ext uri="{9D8B030D-6E8A-4147-A177-3AD203B41FA5}">
                      <a16:colId xmlns:a16="http://schemas.microsoft.com/office/drawing/2014/main" val="409144897"/>
                    </a:ext>
                  </a:extLst>
                </a:gridCol>
                <a:gridCol w="755073">
                  <a:extLst>
                    <a:ext uri="{9D8B030D-6E8A-4147-A177-3AD203B41FA5}">
                      <a16:colId xmlns:a16="http://schemas.microsoft.com/office/drawing/2014/main" val="4139761010"/>
                    </a:ext>
                  </a:extLst>
                </a:gridCol>
                <a:gridCol w="755073">
                  <a:extLst>
                    <a:ext uri="{9D8B030D-6E8A-4147-A177-3AD203B41FA5}">
                      <a16:colId xmlns:a16="http://schemas.microsoft.com/office/drawing/2014/main" val="4128506916"/>
                    </a:ext>
                  </a:extLst>
                </a:gridCol>
                <a:gridCol w="755073">
                  <a:extLst>
                    <a:ext uri="{9D8B030D-6E8A-4147-A177-3AD203B41FA5}">
                      <a16:colId xmlns:a16="http://schemas.microsoft.com/office/drawing/2014/main" val="387344643"/>
                    </a:ext>
                  </a:extLst>
                </a:gridCol>
                <a:gridCol w="755073">
                  <a:extLst>
                    <a:ext uri="{9D8B030D-6E8A-4147-A177-3AD203B41FA5}">
                      <a16:colId xmlns:a16="http://schemas.microsoft.com/office/drawing/2014/main" val="1991440296"/>
                    </a:ext>
                  </a:extLst>
                </a:gridCol>
                <a:gridCol w="755073">
                  <a:extLst>
                    <a:ext uri="{9D8B030D-6E8A-4147-A177-3AD203B41FA5}">
                      <a16:colId xmlns:a16="http://schemas.microsoft.com/office/drawing/2014/main" val="848210423"/>
                    </a:ext>
                  </a:extLst>
                </a:gridCol>
                <a:gridCol w="755073">
                  <a:extLst>
                    <a:ext uri="{9D8B030D-6E8A-4147-A177-3AD203B41FA5}">
                      <a16:colId xmlns:a16="http://schemas.microsoft.com/office/drawing/2014/main" val="2086496389"/>
                    </a:ext>
                  </a:extLst>
                </a:gridCol>
                <a:gridCol w="755073">
                  <a:extLst>
                    <a:ext uri="{9D8B030D-6E8A-4147-A177-3AD203B41FA5}">
                      <a16:colId xmlns:a16="http://schemas.microsoft.com/office/drawing/2014/main" val="3675089693"/>
                    </a:ext>
                  </a:extLst>
                </a:gridCol>
              </a:tblGrid>
              <a:tr h="655706">
                <a:tc>
                  <a:txBody>
                    <a:bodyPr/>
                    <a:lstStyle/>
                    <a:p>
                      <a:pPr>
                        <a:buNone/>
                      </a:pPr>
                      <a:r>
                        <a:rPr lang="en-US" sz="1300"/>
                        <a:t>Block No.</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1</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2</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3</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4</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5</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6</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7</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8</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9</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10</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31552"/>
                  </a:ext>
                </a:extLst>
              </a:tr>
              <a:tr h="852418">
                <a:tc>
                  <a:txBody>
                    <a:bodyPr/>
                    <a:lstStyle/>
                    <a:p>
                      <a:pPr>
                        <a:buNone/>
                      </a:pPr>
                      <a:r>
                        <a:rPr lang="en-US" sz="1300"/>
                        <a:t>Size (MB)</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40</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50</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P1</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60</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P2</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P3</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26</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P4</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20</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dirty="0"/>
                        <a:t>P5</a:t>
                      </a:r>
                    </a:p>
                  </a:txBody>
                  <a:tcPr marL="65571" marR="65571" marT="32785" marB="327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5432166"/>
                  </a:ext>
                </a:extLst>
              </a:tr>
            </a:tbl>
          </a:graphicData>
        </a:graphic>
      </p:graphicFrame>
      <p:sp>
        <p:nvSpPr>
          <p:cNvPr id="8" name="TextBox 7">
            <a:extLst>
              <a:ext uri="{FF2B5EF4-FFF2-40B4-BE49-F238E27FC236}">
                <a16:creationId xmlns:a16="http://schemas.microsoft.com/office/drawing/2014/main" id="{62FE9F84-F556-606C-8D43-D2FDA3675920}"/>
              </a:ext>
            </a:extLst>
          </p:cNvPr>
          <p:cNvSpPr txBox="1"/>
          <p:nvPr/>
        </p:nvSpPr>
        <p:spPr>
          <a:xfrm>
            <a:off x="419096" y="3636745"/>
            <a:ext cx="8420103" cy="1477328"/>
          </a:xfrm>
          <a:prstGeom prst="rect">
            <a:avLst/>
          </a:prstGeom>
          <a:noFill/>
        </p:spPr>
        <p:txBody>
          <a:bodyPr wrap="square">
            <a:spAutoFit/>
          </a:bodyPr>
          <a:lstStyle/>
          <a:p>
            <a:pPr>
              <a:buNone/>
            </a:pPr>
            <a:r>
              <a:rPr lang="en-US" dirty="0"/>
              <a:t>The system receives the following sequence of memory requests:</a:t>
            </a:r>
          </a:p>
          <a:p>
            <a:pPr>
              <a:buFont typeface="Arial" panose="020B0604020202020204" pitchFamily="34" charset="0"/>
              <a:buChar char="•"/>
            </a:pPr>
            <a:r>
              <a:rPr lang="en-US" dirty="0"/>
              <a:t>16 MB </a:t>
            </a:r>
          </a:p>
          <a:p>
            <a:pPr>
              <a:buFont typeface="Arial" panose="020B0604020202020204" pitchFamily="34" charset="0"/>
              <a:buChar char="•"/>
            </a:pPr>
            <a:r>
              <a:rPr lang="en-US" dirty="0"/>
              <a:t>30 MB </a:t>
            </a:r>
          </a:p>
          <a:p>
            <a:pPr>
              <a:buFont typeface="Arial" panose="020B0604020202020204" pitchFamily="34" charset="0"/>
              <a:buChar char="•"/>
            </a:pPr>
            <a:r>
              <a:rPr lang="en-US" dirty="0"/>
              <a:t>20 MB </a:t>
            </a:r>
          </a:p>
          <a:p>
            <a:pPr>
              <a:buFont typeface="Arial" panose="020B0604020202020204" pitchFamily="34" charset="0"/>
              <a:buChar char="•"/>
            </a:pPr>
            <a:r>
              <a:rPr lang="en-US" dirty="0"/>
              <a:t>50 MB</a:t>
            </a:r>
          </a:p>
        </p:txBody>
      </p:sp>
      <p:sp>
        <p:nvSpPr>
          <p:cNvPr id="10" name="TextBox 9">
            <a:extLst>
              <a:ext uri="{FF2B5EF4-FFF2-40B4-BE49-F238E27FC236}">
                <a16:creationId xmlns:a16="http://schemas.microsoft.com/office/drawing/2014/main" id="{A2B46ABB-2E2E-612E-95C5-C7B60B0F6FDF}"/>
              </a:ext>
            </a:extLst>
          </p:cNvPr>
          <p:cNvSpPr txBox="1"/>
          <p:nvPr/>
        </p:nvSpPr>
        <p:spPr>
          <a:xfrm>
            <a:off x="483476" y="5321818"/>
            <a:ext cx="4666592" cy="1200329"/>
          </a:xfrm>
          <a:prstGeom prst="rect">
            <a:avLst/>
          </a:prstGeom>
          <a:noFill/>
        </p:spPr>
        <p:txBody>
          <a:bodyPr wrap="square">
            <a:spAutoFit/>
          </a:bodyPr>
          <a:lstStyle/>
          <a:p>
            <a:pPr>
              <a:buNone/>
            </a:pPr>
            <a:r>
              <a:rPr lang="en-US"/>
              <a:t>Apply the following </a:t>
            </a:r>
            <a:r>
              <a:rPr lang="en-US" b="1"/>
              <a:t>placement algorithms</a:t>
            </a:r>
            <a:r>
              <a:rPr lang="en-US"/>
              <a:t>:</a:t>
            </a:r>
          </a:p>
          <a:p>
            <a:pPr>
              <a:buFont typeface="+mj-lt"/>
              <a:buAutoNum type="arabicPeriod"/>
            </a:pPr>
            <a:r>
              <a:rPr lang="en-US"/>
              <a:t>First Fit </a:t>
            </a:r>
          </a:p>
          <a:p>
            <a:pPr>
              <a:buFont typeface="+mj-lt"/>
              <a:buAutoNum type="arabicPeriod"/>
            </a:pPr>
            <a:r>
              <a:rPr lang="en-US"/>
              <a:t>Best Fit </a:t>
            </a:r>
          </a:p>
          <a:p>
            <a:pPr>
              <a:buFont typeface="+mj-lt"/>
              <a:buAutoNum type="arabicPeriod"/>
            </a:pPr>
            <a:r>
              <a:rPr lang="en-US"/>
              <a:t>Worst Fit</a:t>
            </a:r>
            <a:endParaRPr lang="en-US" dirty="0"/>
          </a:p>
        </p:txBody>
      </p:sp>
      <p:sp>
        <p:nvSpPr>
          <p:cNvPr id="12" name="TextBox 11">
            <a:extLst>
              <a:ext uri="{FF2B5EF4-FFF2-40B4-BE49-F238E27FC236}">
                <a16:creationId xmlns:a16="http://schemas.microsoft.com/office/drawing/2014/main" id="{0BD94612-FBDB-5C86-9371-6A630CAEEEB7}"/>
              </a:ext>
            </a:extLst>
          </p:cNvPr>
          <p:cNvSpPr txBox="1"/>
          <p:nvPr/>
        </p:nvSpPr>
        <p:spPr>
          <a:xfrm>
            <a:off x="3581400" y="5657671"/>
            <a:ext cx="4666592" cy="1200329"/>
          </a:xfrm>
          <a:prstGeom prst="rect">
            <a:avLst/>
          </a:prstGeom>
          <a:noFill/>
        </p:spPr>
        <p:txBody>
          <a:bodyPr wrap="square">
            <a:spAutoFit/>
          </a:bodyPr>
          <a:lstStyle/>
          <a:p>
            <a:r>
              <a:rPr lang="en-US" dirty="0"/>
              <a:t>Which placement algorithm results in the </a:t>
            </a:r>
            <a:r>
              <a:rPr lang="en-US" b="1" dirty="0"/>
              <a:t>most efficient memory utilization</a:t>
            </a:r>
            <a:r>
              <a:rPr lang="en-US" dirty="0"/>
              <a:t> (i.e., minimum fragmentation)? Justify your answer.</a:t>
            </a:r>
          </a:p>
        </p:txBody>
      </p:sp>
    </p:spTree>
    <p:extLst>
      <p:ext uri="{BB962C8B-B14F-4D97-AF65-F5344CB8AC3E}">
        <p14:creationId xmlns:p14="http://schemas.microsoft.com/office/powerpoint/2010/main" val="2459295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D56D1-A905-95B8-121D-4DE4A629DD3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2496492-E9B4-4774-F7ED-DE6096A1B950}"/>
              </a:ext>
            </a:extLst>
          </p:cNvPr>
          <p:cNvSpPr>
            <a:spLocks noGrp="1"/>
          </p:cNvSpPr>
          <p:nvPr>
            <p:ph type="body" idx="1"/>
          </p:nvPr>
        </p:nvSpPr>
        <p:spPr>
          <a:xfrm>
            <a:off x="685800" y="1143000"/>
            <a:ext cx="7924800" cy="2492990"/>
          </a:xfrm>
        </p:spPr>
        <p:txBody>
          <a:bodyPr/>
          <a:lstStyle/>
          <a:p>
            <a:r>
              <a:rPr lang="en-US" dirty="0"/>
              <a:t>Consider six memory partitions of size 200 KB, 400 KB, 600 KB, 500 KB, 300 KB and 250 KB. These partitions need to be allocated to four processes of sizes 357 KB, 210 KB, 468 KB and 491 KB in that order.</a:t>
            </a:r>
          </a:p>
          <a:p>
            <a:endParaRPr lang="en-US" dirty="0"/>
          </a:p>
          <a:p>
            <a:r>
              <a:rPr lang="en-US" dirty="0"/>
              <a:t>Perform the allocation of processes using-</a:t>
            </a:r>
          </a:p>
          <a:p>
            <a:r>
              <a:rPr lang="en-US" dirty="0"/>
              <a:t>First Fit Algorithm</a:t>
            </a:r>
          </a:p>
          <a:p>
            <a:r>
              <a:rPr lang="en-US" dirty="0"/>
              <a:t>Best Fit Algorithm</a:t>
            </a:r>
          </a:p>
          <a:p>
            <a:r>
              <a:rPr lang="en-US" dirty="0"/>
              <a:t>Worst Fit Algorithm</a:t>
            </a:r>
          </a:p>
          <a:p>
            <a:endParaRPr lang="en-US" dirty="0"/>
          </a:p>
        </p:txBody>
      </p:sp>
    </p:spTree>
    <p:extLst>
      <p:ext uri="{BB962C8B-B14F-4D97-AF65-F5344CB8AC3E}">
        <p14:creationId xmlns:p14="http://schemas.microsoft.com/office/powerpoint/2010/main" val="3243034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047" rIns="0" bIns="0" rtlCol="0">
            <a:spAutoFit/>
          </a:bodyPr>
          <a:lstStyle/>
          <a:p>
            <a:pPr marL="3838575">
              <a:lnSpc>
                <a:spcPct val="100000"/>
              </a:lnSpc>
              <a:spcBef>
                <a:spcPts val="100"/>
              </a:spcBef>
            </a:pPr>
            <a:r>
              <a:rPr spc="-10" dirty="0">
                <a:solidFill>
                  <a:srgbClr val="006699"/>
                </a:solidFill>
              </a:rPr>
              <a:t>Paging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25</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399780" cy="5348605"/>
          </a:xfrm>
          <a:prstGeom prst="rect">
            <a:avLst/>
          </a:prstGeom>
        </p:spPr>
        <p:txBody>
          <a:bodyPr vert="horz" wrap="square" lIns="0" tIns="12700" rIns="0" bIns="0" rtlCol="0">
            <a:spAutoFit/>
          </a:bodyPr>
          <a:lstStyle/>
          <a:p>
            <a:pPr marL="355600" marR="732790" indent="-342900">
              <a:lnSpc>
                <a:spcPct val="100000"/>
              </a:lnSpc>
              <a:spcBef>
                <a:spcPts val="100"/>
              </a:spcBef>
              <a:buClr>
                <a:srgbClr val="993300"/>
              </a:buClr>
              <a:buSzPct val="88888"/>
              <a:buFont typeface="Wingdings"/>
              <a:buChar char=""/>
              <a:tabLst>
                <a:tab pos="355600" algn="l"/>
                <a:tab pos="1332865" algn="l"/>
              </a:tabLst>
            </a:pPr>
            <a:r>
              <a:rPr sz="1800" spc="-10" dirty="0">
                <a:latin typeface="Arial MT"/>
                <a:cs typeface="Arial MT"/>
              </a:rPr>
              <a:t>Physical</a:t>
            </a:r>
            <a:r>
              <a:rPr sz="1800" dirty="0">
                <a:latin typeface="Arial MT"/>
                <a:cs typeface="Arial MT"/>
              </a:rPr>
              <a:t>	address</a:t>
            </a:r>
            <a:r>
              <a:rPr sz="1800" spc="-15" dirty="0">
                <a:latin typeface="Arial MT"/>
                <a:cs typeface="Arial MT"/>
              </a:rPr>
              <a:t> </a:t>
            </a:r>
            <a:r>
              <a:rPr sz="1800" dirty="0">
                <a:latin typeface="Arial MT"/>
                <a:cs typeface="Arial MT"/>
              </a:rPr>
              <a:t>space</a:t>
            </a:r>
            <a:r>
              <a:rPr sz="1800" spc="-20"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process</a:t>
            </a:r>
            <a:r>
              <a:rPr sz="1800" spc="-10"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be</a:t>
            </a:r>
            <a:r>
              <a:rPr sz="1800" spc="-25" dirty="0">
                <a:latin typeface="Arial MT"/>
                <a:cs typeface="Arial MT"/>
              </a:rPr>
              <a:t> </a:t>
            </a:r>
            <a:r>
              <a:rPr sz="1800" spc="-10" dirty="0">
                <a:latin typeface="Arial MT"/>
                <a:cs typeface="Arial MT"/>
              </a:rPr>
              <a:t>non-</a:t>
            </a:r>
            <a:r>
              <a:rPr sz="1800" dirty="0">
                <a:latin typeface="Arial MT"/>
                <a:cs typeface="Arial MT"/>
              </a:rPr>
              <a:t>contiguous;</a:t>
            </a:r>
            <a:r>
              <a:rPr sz="1800" spc="15" dirty="0">
                <a:latin typeface="Arial MT"/>
                <a:cs typeface="Arial MT"/>
              </a:rPr>
              <a:t> </a:t>
            </a:r>
            <a:r>
              <a:rPr sz="1800" dirty="0">
                <a:latin typeface="Arial MT"/>
                <a:cs typeface="Arial MT"/>
              </a:rPr>
              <a:t>process</a:t>
            </a:r>
            <a:r>
              <a:rPr sz="1800" spc="-20" dirty="0">
                <a:latin typeface="Arial MT"/>
                <a:cs typeface="Arial MT"/>
              </a:rPr>
              <a:t> </a:t>
            </a:r>
            <a:r>
              <a:rPr sz="1800" spc="-25" dirty="0">
                <a:latin typeface="Arial MT"/>
                <a:cs typeface="Arial MT"/>
              </a:rPr>
              <a:t>is </a:t>
            </a:r>
            <a:r>
              <a:rPr sz="1800" dirty="0">
                <a:latin typeface="Arial MT"/>
                <a:cs typeface="Arial MT"/>
              </a:rPr>
              <a:t>allocated</a:t>
            </a:r>
            <a:r>
              <a:rPr sz="1800" spc="-20" dirty="0">
                <a:latin typeface="Arial MT"/>
                <a:cs typeface="Arial MT"/>
              </a:rPr>
              <a:t> </a:t>
            </a:r>
            <a:r>
              <a:rPr sz="1800" dirty="0">
                <a:latin typeface="Arial MT"/>
                <a:cs typeface="Arial MT"/>
              </a:rPr>
              <a:t>physical</a:t>
            </a:r>
            <a:r>
              <a:rPr sz="1800" spc="-5" dirty="0">
                <a:latin typeface="Arial MT"/>
                <a:cs typeface="Arial MT"/>
              </a:rPr>
              <a:t> </a:t>
            </a:r>
            <a:r>
              <a:rPr sz="1800" dirty="0">
                <a:latin typeface="Arial MT"/>
                <a:cs typeface="Arial MT"/>
              </a:rPr>
              <a:t>memory</a:t>
            </a:r>
            <a:r>
              <a:rPr sz="1800" spc="-35" dirty="0">
                <a:latin typeface="Arial MT"/>
                <a:cs typeface="Arial MT"/>
              </a:rPr>
              <a:t> </a:t>
            </a:r>
            <a:r>
              <a:rPr sz="1800" dirty="0">
                <a:latin typeface="Arial MT"/>
                <a:cs typeface="Arial MT"/>
              </a:rPr>
              <a:t>whenever</a:t>
            </a:r>
            <a:r>
              <a:rPr sz="1800" spc="20" dirty="0">
                <a:latin typeface="Arial MT"/>
                <a:cs typeface="Arial MT"/>
              </a:rPr>
              <a:t> </a:t>
            </a:r>
            <a:r>
              <a:rPr sz="1800" dirty="0">
                <a:latin typeface="Arial MT"/>
                <a:cs typeface="Arial MT"/>
              </a:rPr>
              <a:t>the</a:t>
            </a:r>
            <a:r>
              <a:rPr sz="1800" spc="-45" dirty="0">
                <a:latin typeface="Arial MT"/>
                <a:cs typeface="Arial MT"/>
              </a:rPr>
              <a:t> </a:t>
            </a:r>
            <a:r>
              <a:rPr sz="1800" dirty="0">
                <a:latin typeface="Arial MT"/>
                <a:cs typeface="Arial MT"/>
              </a:rPr>
              <a:t>latter</a:t>
            </a:r>
            <a:r>
              <a:rPr sz="1800" spc="-35" dirty="0">
                <a:latin typeface="Arial MT"/>
                <a:cs typeface="Arial MT"/>
              </a:rPr>
              <a:t> </a:t>
            </a:r>
            <a:r>
              <a:rPr sz="1800" dirty="0">
                <a:latin typeface="Arial MT"/>
                <a:cs typeface="Arial MT"/>
              </a:rPr>
              <a:t>is</a:t>
            </a:r>
            <a:r>
              <a:rPr sz="1800" spc="-30" dirty="0">
                <a:latin typeface="Arial MT"/>
                <a:cs typeface="Arial MT"/>
              </a:rPr>
              <a:t> </a:t>
            </a:r>
            <a:r>
              <a:rPr sz="1800" spc="-10" dirty="0">
                <a:latin typeface="Arial MT"/>
                <a:cs typeface="Arial MT"/>
              </a:rPr>
              <a:t>available</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Avoids</a:t>
            </a:r>
            <a:r>
              <a:rPr sz="1800" spc="-30" dirty="0">
                <a:latin typeface="Arial MT"/>
                <a:cs typeface="Arial MT"/>
              </a:rPr>
              <a:t> </a:t>
            </a:r>
            <a:r>
              <a:rPr sz="1800" dirty="0">
                <a:latin typeface="Arial MT"/>
                <a:cs typeface="Arial MT"/>
              </a:rPr>
              <a:t>external</a:t>
            </a:r>
            <a:r>
              <a:rPr sz="1800" spc="-15" dirty="0">
                <a:latin typeface="Arial MT"/>
                <a:cs typeface="Arial MT"/>
              </a:rPr>
              <a:t> </a:t>
            </a:r>
            <a:r>
              <a:rPr sz="1800" dirty="0">
                <a:latin typeface="Arial MT"/>
                <a:cs typeface="Arial MT"/>
              </a:rPr>
              <a:t>fragmentation</a:t>
            </a:r>
            <a:r>
              <a:rPr sz="1800" spc="-10" dirty="0">
                <a:latin typeface="Arial MT"/>
                <a:cs typeface="Arial MT"/>
              </a:rPr>
              <a:t> </a:t>
            </a:r>
            <a:r>
              <a:rPr sz="1800" dirty="0">
                <a:solidFill>
                  <a:srgbClr val="FF0000"/>
                </a:solidFill>
                <a:latin typeface="Arial MT"/>
                <a:cs typeface="Arial MT"/>
              </a:rPr>
              <a:t>and</a:t>
            </a:r>
            <a:r>
              <a:rPr sz="1800" spc="-25" dirty="0">
                <a:solidFill>
                  <a:srgbClr val="FF0000"/>
                </a:solidFill>
                <a:latin typeface="Arial MT"/>
                <a:cs typeface="Arial MT"/>
              </a:rPr>
              <a:t> </a:t>
            </a: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need</a:t>
            </a:r>
            <a:r>
              <a:rPr sz="1800" spc="-25" dirty="0">
                <a:solidFill>
                  <a:srgbClr val="FF0000"/>
                </a:solidFill>
                <a:latin typeface="Arial MT"/>
                <a:cs typeface="Arial MT"/>
              </a:rPr>
              <a:t> </a:t>
            </a:r>
            <a:r>
              <a:rPr sz="1800" dirty="0">
                <a:solidFill>
                  <a:srgbClr val="FF0000"/>
                </a:solidFill>
                <a:latin typeface="Arial MT"/>
                <a:cs typeface="Arial MT"/>
              </a:rPr>
              <a:t>for</a:t>
            </a:r>
            <a:r>
              <a:rPr sz="1800" spc="-35" dirty="0">
                <a:solidFill>
                  <a:srgbClr val="FF0000"/>
                </a:solidFill>
                <a:latin typeface="Arial MT"/>
                <a:cs typeface="Arial MT"/>
              </a:rPr>
              <a:t> </a:t>
            </a:r>
            <a:r>
              <a:rPr sz="1800" spc="-10" dirty="0">
                <a:solidFill>
                  <a:srgbClr val="FF0000"/>
                </a:solidFill>
                <a:latin typeface="Arial MT"/>
                <a:cs typeface="Arial MT"/>
              </a:rPr>
              <a:t>compaction</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Avoids</a:t>
            </a:r>
            <a:r>
              <a:rPr sz="1800" spc="-35" dirty="0">
                <a:latin typeface="Arial MT"/>
                <a:cs typeface="Arial MT"/>
              </a:rPr>
              <a:t> </a:t>
            </a:r>
            <a:r>
              <a:rPr sz="1800" dirty="0">
                <a:latin typeface="Arial MT"/>
                <a:cs typeface="Arial MT"/>
              </a:rPr>
              <a:t>problem</a:t>
            </a:r>
            <a:r>
              <a:rPr sz="1800" spc="-25" dirty="0">
                <a:latin typeface="Arial MT"/>
                <a:cs typeface="Arial MT"/>
              </a:rPr>
              <a:t> </a:t>
            </a:r>
            <a:r>
              <a:rPr sz="1800" dirty="0">
                <a:latin typeface="Arial MT"/>
                <a:cs typeface="Arial MT"/>
              </a:rPr>
              <a:t>of</a:t>
            </a:r>
            <a:r>
              <a:rPr sz="1800" spc="-35" dirty="0">
                <a:latin typeface="Arial MT"/>
                <a:cs typeface="Arial MT"/>
              </a:rPr>
              <a:t> </a:t>
            </a:r>
            <a:r>
              <a:rPr sz="1800" dirty="0">
                <a:latin typeface="Arial MT"/>
                <a:cs typeface="Arial MT"/>
              </a:rPr>
              <a:t>varying</a:t>
            </a:r>
            <a:r>
              <a:rPr sz="1800" spc="-5" dirty="0">
                <a:latin typeface="Arial MT"/>
                <a:cs typeface="Arial MT"/>
              </a:rPr>
              <a:t> </a:t>
            </a:r>
            <a:r>
              <a:rPr sz="1800" dirty="0">
                <a:latin typeface="Arial MT"/>
                <a:cs typeface="Arial MT"/>
              </a:rPr>
              <a:t>sized</a:t>
            </a:r>
            <a:r>
              <a:rPr sz="1800" spc="-30" dirty="0">
                <a:latin typeface="Arial MT"/>
                <a:cs typeface="Arial MT"/>
              </a:rPr>
              <a:t> </a:t>
            </a:r>
            <a:r>
              <a:rPr sz="1800" dirty="0">
                <a:latin typeface="Arial MT"/>
                <a:cs typeface="Arial MT"/>
              </a:rPr>
              <a:t>memory</a:t>
            </a:r>
            <a:r>
              <a:rPr sz="1800" spc="-25" dirty="0">
                <a:latin typeface="Arial MT"/>
                <a:cs typeface="Arial MT"/>
              </a:rPr>
              <a:t> </a:t>
            </a:r>
            <a:r>
              <a:rPr sz="1800" spc="-10" dirty="0">
                <a:latin typeface="Arial MT"/>
                <a:cs typeface="Arial MT"/>
              </a:rPr>
              <a:t>chunks</a:t>
            </a:r>
            <a:endParaRPr sz="1800">
              <a:latin typeface="Arial MT"/>
              <a:cs typeface="Arial MT"/>
            </a:endParaRPr>
          </a:p>
          <a:p>
            <a:pPr marL="354965" indent="-342265">
              <a:lnSpc>
                <a:spcPct val="100000"/>
              </a:lnSpc>
              <a:spcBef>
                <a:spcPts val="2055"/>
              </a:spcBef>
              <a:buClr>
                <a:srgbClr val="993300"/>
              </a:buClr>
              <a:buSzPct val="88888"/>
              <a:buFont typeface="Wingdings"/>
              <a:buChar char=""/>
              <a:tabLst>
                <a:tab pos="354965" algn="l"/>
              </a:tabLst>
            </a:pPr>
            <a:r>
              <a:rPr sz="1800" b="1" spc="-10" dirty="0">
                <a:solidFill>
                  <a:srgbClr val="FF0000"/>
                </a:solidFill>
                <a:latin typeface="Arial"/>
                <a:cs typeface="Arial"/>
              </a:rPr>
              <a:t>Paging</a:t>
            </a:r>
            <a:endParaRPr sz="1800">
              <a:latin typeface="Arial"/>
              <a:cs typeface="Arial"/>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Divide</a:t>
            </a:r>
            <a:r>
              <a:rPr sz="1800" spc="-30" dirty="0">
                <a:latin typeface="Arial MT"/>
                <a:cs typeface="Arial MT"/>
              </a:rPr>
              <a:t> </a:t>
            </a:r>
            <a:r>
              <a:rPr sz="1800" dirty="0">
                <a:latin typeface="Arial MT"/>
                <a:cs typeface="Arial MT"/>
              </a:rPr>
              <a:t>physical</a:t>
            </a:r>
            <a:r>
              <a:rPr sz="1800" spc="5"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into</a:t>
            </a:r>
            <a:r>
              <a:rPr sz="1800" spc="-35" dirty="0">
                <a:latin typeface="Arial MT"/>
                <a:cs typeface="Arial MT"/>
              </a:rPr>
              <a:t> </a:t>
            </a:r>
            <a:r>
              <a:rPr sz="1800" spc="-10" dirty="0">
                <a:latin typeface="Arial MT"/>
                <a:cs typeface="Arial MT"/>
              </a:rPr>
              <a:t>fixed-</a:t>
            </a:r>
            <a:r>
              <a:rPr sz="1800" dirty="0">
                <a:latin typeface="Arial MT"/>
                <a:cs typeface="Arial MT"/>
              </a:rPr>
              <a:t>sized</a:t>
            </a:r>
            <a:r>
              <a:rPr sz="1800" spc="-5" dirty="0">
                <a:latin typeface="Arial MT"/>
                <a:cs typeface="Arial MT"/>
              </a:rPr>
              <a:t> </a:t>
            </a:r>
            <a:r>
              <a:rPr sz="1800" dirty="0">
                <a:latin typeface="Arial MT"/>
                <a:cs typeface="Arial MT"/>
              </a:rPr>
              <a:t>blocks</a:t>
            </a:r>
            <a:r>
              <a:rPr sz="1800" spc="-35" dirty="0">
                <a:latin typeface="Arial MT"/>
                <a:cs typeface="Arial MT"/>
              </a:rPr>
              <a:t> </a:t>
            </a:r>
            <a:r>
              <a:rPr sz="1800" dirty="0">
                <a:latin typeface="Arial MT"/>
                <a:cs typeface="Arial MT"/>
              </a:rPr>
              <a:t>called</a:t>
            </a:r>
            <a:r>
              <a:rPr sz="1800" spc="-15" dirty="0">
                <a:latin typeface="Arial MT"/>
                <a:cs typeface="Arial MT"/>
              </a:rPr>
              <a:t> </a:t>
            </a:r>
            <a:r>
              <a:rPr sz="1800" b="1" spc="-10" dirty="0">
                <a:solidFill>
                  <a:srgbClr val="3366FF"/>
                </a:solidFill>
                <a:latin typeface="Arial"/>
                <a:cs typeface="Arial"/>
              </a:rPr>
              <a:t>frames</a:t>
            </a:r>
            <a:endParaRPr sz="1800">
              <a:latin typeface="Arial"/>
              <a:cs typeface="Arial"/>
            </a:endParaRPr>
          </a:p>
          <a:p>
            <a:pPr marL="870585">
              <a:lnSpc>
                <a:spcPct val="100000"/>
              </a:lnSpc>
              <a:spcBef>
                <a:spcPts val="760"/>
              </a:spcBef>
            </a:pPr>
            <a:r>
              <a:rPr sz="1350" dirty="0">
                <a:solidFill>
                  <a:srgbClr val="009900"/>
                </a:solidFill>
                <a:latin typeface="Webdings"/>
                <a:cs typeface="Webdings"/>
              </a:rPr>
              <a:t></a:t>
            </a:r>
            <a:r>
              <a:rPr sz="1350" spc="75" dirty="0">
                <a:solidFill>
                  <a:srgbClr val="009900"/>
                </a:solidFill>
                <a:latin typeface="Times New Roman"/>
                <a:cs typeface="Times New Roman"/>
              </a:rPr>
              <a:t> </a:t>
            </a:r>
            <a:r>
              <a:rPr sz="1800" dirty="0">
                <a:latin typeface="Arial MT"/>
                <a:cs typeface="Arial MT"/>
              </a:rPr>
              <a:t>Block</a:t>
            </a:r>
            <a:r>
              <a:rPr sz="1800" spc="-15" dirty="0">
                <a:latin typeface="Arial MT"/>
                <a:cs typeface="Arial MT"/>
              </a:rPr>
              <a:t> </a:t>
            </a:r>
            <a:r>
              <a:rPr sz="1800" dirty="0">
                <a:latin typeface="Arial MT"/>
                <a:cs typeface="Arial MT"/>
              </a:rPr>
              <a:t>size</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power</a:t>
            </a:r>
            <a:r>
              <a:rPr sz="1800" spc="30"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2;</a:t>
            </a:r>
            <a:r>
              <a:rPr sz="1800" spc="-15" dirty="0">
                <a:latin typeface="Arial MT"/>
                <a:cs typeface="Arial MT"/>
              </a:rPr>
              <a:t> </a:t>
            </a:r>
            <a:r>
              <a:rPr sz="1800" dirty="0">
                <a:latin typeface="Arial MT"/>
                <a:cs typeface="Arial MT"/>
              </a:rPr>
              <a:t>between</a:t>
            </a:r>
            <a:r>
              <a:rPr sz="1800" spc="25" dirty="0">
                <a:latin typeface="Arial MT"/>
                <a:cs typeface="Arial MT"/>
              </a:rPr>
              <a:t> </a:t>
            </a:r>
            <a:r>
              <a:rPr sz="1800" dirty="0">
                <a:latin typeface="Arial MT"/>
                <a:cs typeface="Arial MT"/>
              </a:rPr>
              <a:t>512</a:t>
            </a:r>
            <a:r>
              <a:rPr sz="1800" spc="-15" dirty="0">
                <a:latin typeface="Arial MT"/>
                <a:cs typeface="Arial MT"/>
              </a:rPr>
              <a:t> </a:t>
            </a:r>
            <a:r>
              <a:rPr sz="1800" dirty="0">
                <a:latin typeface="Arial MT"/>
                <a:cs typeface="Arial MT"/>
              </a:rPr>
              <a:t>bytes</a:t>
            </a:r>
            <a:r>
              <a:rPr sz="1800" spc="10"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1</a:t>
            </a:r>
            <a:r>
              <a:rPr sz="1800" spc="-15" dirty="0">
                <a:latin typeface="Arial MT"/>
                <a:cs typeface="Arial MT"/>
              </a:rPr>
              <a:t> </a:t>
            </a:r>
            <a:r>
              <a:rPr sz="1800" spc="-10" dirty="0">
                <a:latin typeface="Arial MT"/>
                <a:cs typeface="Arial MT"/>
              </a:rPr>
              <a:t>Gbytes</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Divide</a:t>
            </a:r>
            <a:r>
              <a:rPr sz="1800" spc="-35" dirty="0">
                <a:latin typeface="Arial MT"/>
                <a:cs typeface="Arial MT"/>
              </a:rPr>
              <a:t> </a:t>
            </a:r>
            <a:r>
              <a:rPr sz="1800" dirty="0">
                <a:latin typeface="Arial MT"/>
                <a:cs typeface="Arial MT"/>
              </a:rPr>
              <a:t>logical</a:t>
            </a:r>
            <a:r>
              <a:rPr sz="1800" spc="-5"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into</a:t>
            </a:r>
            <a:r>
              <a:rPr sz="1800" spc="-20" dirty="0">
                <a:latin typeface="Arial MT"/>
                <a:cs typeface="Arial MT"/>
              </a:rPr>
              <a:t> </a:t>
            </a:r>
            <a:r>
              <a:rPr sz="1800" dirty="0">
                <a:latin typeface="Arial MT"/>
                <a:cs typeface="Arial MT"/>
              </a:rPr>
              <a:t>blocks</a:t>
            </a:r>
            <a:r>
              <a:rPr sz="1800" spc="-2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same</a:t>
            </a:r>
            <a:r>
              <a:rPr sz="1800" spc="-35" dirty="0">
                <a:latin typeface="Arial MT"/>
                <a:cs typeface="Arial MT"/>
              </a:rPr>
              <a:t> </a:t>
            </a:r>
            <a:r>
              <a:rPr sz="1800" dirty="0">
                <a:latin typeface="Arial MT"/>
                <a:cs typeface="Arial MT"/>
              </a:rPr>
              <a:t>size</a:t>
            </a:r>
            <a:r>
              <a:rPr sz="1800" spc="-10" dirty="0">
                <a:latin typeface="Arial MT"/>
                <a:cs typeface="Arial MT"/>
              </a:rPr>
              <a:t> </a:t>
            </a:r>
            <a:r>
              <a:rPr sz="1800" dirty="0">
                <a:solidFill>
                  <a:srgbClr val="FF0000"/>
                </a:solidFill>
                <a:latin typeface="Arial MT"/>
                <a:cs typeface="Arial MT"/>
              </a:rPr>
              <a:t>as</a:t>
            </a:r>
            <a:r>
              <a:rPr sz="1800" spc="-25"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frames</a:t>
            </a:r>
            <a:r>
              <a:rPr sz="1800" spc="-20" dirty="0">
                <a:solidFill>
                  <a:srgbClr val="FF0000"/>
                </a:solidFill>
                <a:latin typeface="Arial MT"/>
                <a:cs typeface="Arial MT"/>
              </a:rPr>
              <a:t> </a:t>
            </a:r>
            <a:r>
              <a:rPr sz="1800" dirty="0">
                <a:latin typeface="Arial MT"/>
                <a:cs typeface="Arial MT"/>
              </a:rPr>
              <a:t>called</a:t>
            </a:r>
            <a:r>
              <a:rPr sz="1800" spc="-15" dirty="0">
                <a:latin typeface="Arial MT"/>
                <a:cs typeface="Arial MT"/>
              </a:rPr>
              <a:t> </a:t>
            </a:r>
            <a:r>
              <a:rPr sz="1800" b="1" spc="-10" dirty="0">
                <a:solidFill>
                  <a:srgbClr val="3366FF"/>
                </a:solidFill>
                <a:latin typeface="Arial"/>
                <a:cs typeface="Arial"/>
              </a:rPr>
              <a:t>pages</a:t>
            </a:r>
            <a:endParaRPr sz="1800">
              <a:latin typeface="Arial"/>
              <a:cs typeface="Arial"/>
            </a:endParaRPr>
          </a:p>
          <a:p>
            <a:pPr marL="756285" lvl="1" indent="-286385">
              <a:lnSpc>
                <a:spcPct val="100000"/>
              </a:lnSpc>
              <a:spcBef>
                <a:spcPts val="755"/>
              </a:spcBef>
              <a:buClr>
                <a:srgbClr val="CC6600"/>
              </a:buClr>
              <a:buSzPct val="80555"/>
              <a:buFont typeface="Wingdings"/>
              <a:buChar char=""/>
              <a:tabLst>
                <a:tab pos="756285" algn="l"/>
              </a:tabLst>
            </a:pP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size</a:t>
            </a:r>
            <a:r>
              <a:rPr sz="1800" spc="-25" dirty="0">
                <a:solidFill>
                  <a:srgbClr val="FF0000"/>
                </a:solidFill>
                <a:latin typeface="Arial MT"/>
                <a:cs typeface="Arial MT"/>
              </a:rPr>
              <a:t> </a:t>
            </a:r>
            <a:r>
              <a:rPr sz="1800" dirty="0">
                <a:solidFill>
                  <a:srgbClr val="FF0000"/>
                </a:solidFill>
                <a:latin typeface="Arial MT"/>
                <a:cs typeface="Arial MT"/>
              </a:rPr>
              <a:t>(like</a:t>
            </a:r>
            <a:r>
              <a:rPr sz="1800" spc="-10"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frame</a:t>
            </a:r>
            <a:r>
              <a:rPr sz="1800" spc="-25" dirty="0">
                <a:solidFill>
                  <a:srgbClr val="FF0000"/>
                </a:solidFill>
                <a:latin typeface="Arial MT"/>
                <a:cs typeface="Arial MT"/>
              </a:rPr>
              <a:t> </a:t>
            </a:r>
            <a:r>
              <a:rPr sz="1800" dirty="0">
                <a:solidFill>
                  <a:srgbClr val="FF0000"/>
                </a:solidFill>
                <a:latin typeface="Arial MT"/>
                <a:cs typeface="Arial MT"/>
              </a:rPr>
              <a:t>size)</a:t>
            </a:r>
            <a:r>
              <a:rPr sz="1800" spc="-15"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defined</a:t>
            </a:r>
            <a:r>
              <a:rPr sz="1800" spc="5" dirty="0">
                <a:solidFill>
                  <a:srgbClr val="FF0000"/>
                </a:solidFill>
                <a:latin typeface="Arial MT"/>
                <a:cs typeface="Arial MT"/>
              </a:rPr>
              <a:t> </a:t>
            </a:r>
            <a:r>
              <a:rPr sz="1800" dirty="0">
                <a:solidFill>
                  <a:srgbClr val="FF0000"/>
                </a:solidFill>
                <a:latin typeface="Arial MT"/>
                <a:cs typeface="Arial MT"/>
              </a:rPr>
              <a:t>by</a:t>
            </a:r>
            <a:r>
              <a:rPr sz="1800" spc="-20"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hardware;</a:t>
            </a:r>
            <a:r>
              <a:rPr sz="1800" spc="35" dirty="0">
                <a:solidFill>
                  <a:srgbClr val="FF0000"/>
                </a:solidFill>
                <a:latin typeface="Arial MT"/>
                <a:cs typeface="Arial MT"/>
              </a:rPr>
              <a:t> </a:t>
            </a:r>
            <a:r>
              <a:rPr sz="1800" dirty="0">
                <a:solidFill>
                  <a:srgbClr val="FF0000"/>
                </a:solidFill>
                <a:latin typeface="Arial MT"/>
                <a:cs typeface="Arial MT"/>
              </a:rPr>
              <a:t>see</a:t>
            </a:r>
            <a:r>
              <a:rPr sz="1800" spc="-25" dirty="0">
                <a:solidFill>
                  <a:srgbClr val="FF0000"/>
                </a:solidFill>
                <a:latin typeface="Arial MT"/>
                <a:cs typeface="Arial MT"/>
              </a:rPr>
              <a:t> </a:t>
            </a:r>
            <a:r>
              <a:rPr sz="1800" spc="-10" dirty="0">
                <a:solidFill>
                  <a:srgbClr val="FF0000"/>
                </a:solidFill>
                <a:latin typeface="Arial MT"/>
                <a:cs typeface="Arial MT"/>
              </a:rPr>
              <a:t>Slide-</a:t>
            </a:r>
            <a:r>
              <a:rPr sz="1800" spc="-25" dirty="0">
                <a:solidFill>
                  <a:srgbClr val="FF0000"/>
                </a:solidFill>
                <a:latin typeface="Arial MT"/>
                <a:cs typeface="Arial MT"/>
              </a:rPr>
              <a:t>29</a:t>
            </a:r>
            <a:endParaRPr sz="180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dirty="0">
                <a:latin typeface="Arial MT"/>
                <a:cs typeface="Arial MT"/>
              </a:rPr>
              <a:t>Divide</a:t>
            </a:r>
            <a:r>
              <a:rPr sz="1800" spc="-15" dirty="0">
                <a:latin typeface="Arial MT"/>
                <a:cs typeface="Arial MT"/>
              </a:rPr>
              <a:t> </a:t>
            </a:r>
            <a:r>
              <a:rPr sz="1800" dirty="0">
                <a:latin typeface="Arial MT"/>
                <a:cs typeface="Arial MT"/>
              </a:rPr>
              <a:t>backing</a:t>
            </a:r>
            <a:r>
              <a:rPr sz="1800" spc="5" dirty="0">
                <a:latin typeface="Arial MT"/>
                <a:cs typeface="Arial MT"/>
              </a:rPr>
              <a:t> </a:t>
            </a:r>
            <a:r>
              <a:rPr sz="1800" dirty="0">
                <a:latin typeface="Arial MT"/>
                <a:cs typeface="Arial MT"/>
              </a:rPr>
              <a:t>store</a:t>
            </a:r>
            <a:r>
              <a:rPr sz="1800" spc="-25" dirty="0">
                <a:latin typeface="Arial MT"/>
                <a:cs typeface="Arial MT"/>
              </a:rPr>
              <a:t> </a:t>
            </a:r>
            <a:r>
              <a:rPr sz="1800" dirty="0">
                <a:latin typeface="Arial MT"/>
                <a:cs typeface="Arial MT"/>
              </a:rPr>
              <a:t>into</a:t>
            </a:r>
            <a:r>
              <a:rPr sz="1800" spc="-30" dirty="0">
                <a:latin typeface="Arial MT"/>
                <a:cs typeface="Arial MT"/>
              </a:rPr>
              <a:t> </a:t>
            </a:r>
            <a:r>
              <a:rPr sz="1800" dirty="0">
                <a:latin typeface="Arial MT"/>
                <a:cs typeface="Arial MT"/>
              </a:rPr>
              <a:t>[</a:t>
            </a:r>
            <a:r>
              <a:rPr sz="1800" dirty="0">
                <a:solidFill>
                  <a:srgbClr val="FF0000"/>
                </a:solidFill>
                <a:latin typeface="Arial MT"/>
                <a:cs typeface="Arial MT"/>
              </a:rPr>
              <a:t>clusters</a:t>
            </a:r>
            <a:r>
              <a:rPr sz="1800" spc="-15" dirty="0">
                <a:solidFill>
                  <a:srgbClr val="FF0000"/>
                </a:solidFill>
                <a:latin typeface="Arial MT"/>
                <a:cs typeface="Arial MT"/>
              </a:rPr>
              <a:t> </a:t>
            </a:r>
            <a:r>
              <a:rPr sz="1800" dirty="0">
                <a:solidFill>
                  <a:srgbClr val="FF0000"/>
                </a:solidFill>
                <a:latin typeface="Arial MT"/>
                <a:cs typeface="Arial MT"/>
              </a:rPr>
              <a:t>of</a:t>
            </a:r>
            <a:r>
              <a:rPr sz="1800" dirty="0">
                <a:latin typeface="Arial MT"/>
                <a:cs typeface="Arial MT"/>
              </a:rPr>
              <a:t>]</a:t>
            </a:r>
            <a:r>
              <a:rPr sz="1800" spc="-15" dirty="0">
                <a:latin typeface="Arial MT"/>
                <a:cs typeface="Arial MT"/>
              </a:rPr>
              <a:t> </a:t>
            </a:r>
            <a:r>
              <a:rPr sz="1800" dirty="0">
                <a:latin typeface="Arial MT"/>
                <a:cs typeface="Arial MT"/>
              </a:rPr>
              <a:t>blocks</a:t>
            </a:r>
            <a:r>
              <a:rPr sz="1800" spc="-10"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same</a:t>
            </a:r>
            <a:r>
              <a:rPr sz="1800" spc="-25" dirty="0">
                <a:latin typeface="Arial MT"/>
                <a:cs typeface="Arial MT"/>
              </a:rPr>
              <a:t> </a:t>
            </a:r>
            <a:r>
              <a:rPr sz="1800" dirty="0">
                <a:latin typeface="Arial MT"/>
                <a:cs typeface="Arial MT"/>
              </a:rPr>
              <a:t>size</a:t>
            </a:r>
            <a:r>
              <a:rPr sz="1800" spc="-15" dirty="0">
                <a:latin typeface="Arial MT"/>
                <a:cs typeface="Arial MT"/>
              </a:rPr>
              <a:t> </a:t>
            </a:r>
            <a:r>
              <a:rPr sz="1800" dirty="0">
                <a:latin typeface="Arial MT"/>
                <a:cs typeface="Arial MT"/>
              </a:rPr>
              <a:t>as</a:t>
            </a:r>
            <a:r>
              <a:rPr sz="1800" spc="-20" dirty="0">
                <a:latin typeface="Arial MT"/>
                <a:cs typeface="Arial MT"/>
              </a:rPr>
              <a:t> </a:t>
            </a:r>
            <a:r>
              <a:rPr sz="1800" dirty="0">
                <a:latin typeface="Arial MT"/>
                <a:cs typeface="Arial MT"/>
              </a:rPr>
              <a:t>the</a:t>
            </a:r>
            <a:r>
              <a:rPr sz="1800" spc="-25" dirty="0">
                <a:latin typeface="Arial MT"/>
                <a:cs typeface="Arial MT"/>
              </a:rPr>
              <a:t> </a:t>
            </a:r>
            <a:r>
              <a:rPr sz="1800" spc="-10" dirty="0">
                <a:latin typeface="Arial MT"/>
                <a:cs typeface="Arial MT"/>
              </a:rPr>
              <a:t>frames</a:t>
            </a:r>
            <a:endParaRPr sz="1800">
              <a:latin typeface="Arial MT"/>
              <a:cs typeface="Arial MT"/>
            </a:endParaRPr>
          </a:p>
          <a:p>
            <a:pPr marL="354965" indent="-342265">
              <a:lnSpc>
                <a:spcPct val="100000"/>
              </a:lnSpc>
              <a:spcBef>
                <a:spcPts val="2050"/>
              </a:spcBef>
              <a:buClr>
                <a:srgbClr val="993300"/>
              </a:buClr>
              <a:buSzPct val="88888"/>
              <a:buFont typeface="Wingdings"/>
              <a:buChar char=""/>
              <a:tabLst>
                <a:tab pos="354965" algn="l"/>
              </a:tabLst>
            </a:pPr>
            <a:r>
              <a:rPr sz="1800" dirty="0">
                <a:latin typeface="Arial MT"/>
                <a:cs typeface="Arial MT"/>
              </a:rPr>
              <a:t>Keep</a:t>
            </a:r>
            <a:r>
              <a:rPr sz="1800" spc="-10" dirty="0">
                <a:latin typeface="Arial MT"/>
                <a:cs typeface="Arial MT"/>
              </a:rPr>
              <a:t> </a:t>
            </a:r>
            <a:r>
              <a:rPr sz="1800" dirty="0">
                <a:latin typeface="Arial MT"/>
                <a:cs typeface="Arial MT"/>
              </a:rPr>
              <a:t>track</a:t>
            </a:r>
            <a:r>
              <a:rPr sz="1800" spc="-2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all free</a:t>
            </a:r>
            <a:r>
              <a:rPr sz="1800" spc="-20" dirty="0">
                <a:latin typeface="Arial MT"/>
                <a:cs typeface="Arial MT"/>
              </a:rPr>
              <a:t> </a:t>
            </a:r>
            <a:r>
              <a:rPr sz="1800" spc="-10" dirty="0">
                <a:latin typeface="Arial MT"/>
                <a:cs typeface="Arial MT"/>
              </a:rPr>
              <a:t>frames</a:t>
            </a:r>
            <a:endParaRPr sz="1800">
              <a:latin typeface="Arial MT"/>
              <a:cs typeface="Arial MT"/>
            </a:endParaRPr>
          </a:p>
          <a:p>
            <a:pPr marL="354965" indent="-342265">
              <a:lnSpc>
                <a:spcPct val="100000"/>
              </a:lnSpc>
              <a:spcBef>
                <a:spcPts val="760"/>
              </a:spcBef>
              <a:buClr>
                <a:srgbClr val="993300"/>
              </a:buClr>
              <a:buSzPct val="88888"/>
              <a:buFont typeface="Wingdings"/>
              <a:buChar char=""/>
              <a:tabLst>
                <a:tab pos="354965" algn="l"/>
              </a:tabLst>
            </a:pPr>
            <a:r>
              <a:rPr sz="1800" dirty="0">
                <a:latin typeface="Arial MT"/>
                <a:cs typeface="Arial MT"/>
              </a:rPr>
              <a:t>To</a:t>
            </a:r>
            <a:r>
              <a:rPr sz="1800" spc="-30" dirty="0">
                <a:latin typeface="Arial MT"/>
                <a:cs typeface="Arial MT"/>
              </a:rPr>
              <a:t> </a:t>
            </a:r>
            <a:r>
              <a:rPr sz="1800" dirty="0">
                <a:latin typeface="Arial MT"/>
                <a:cs typeface="Arial MT"/>
              </a:rPr>
              <a:t>run</a:t>
            </a:r>
            <a:r>
              <a:rPr sz="1800" spc="-2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program of</a:t>
            </a:r>
            <a:r>
              <a:rPr sz="1800" spc="-15" dirty="0">
                <a:latin typeface="Arial MT"/>
                <a:cs typeface="Arial MT"/>
              </a:rPr>
              <a:t> </a:t>
            </a:r>
            <a:r>
              <a:rPr sz="1800" dirty="0">
                <a:latin typeface="Arial MT"/>
                <a:cs typeface="Arial MT"/>
              </a:rPr>
              <a:t>size</a:t>
            </a:r>
            <a:r>
              <a:rPr sz="1800" spc="-15" dirty="0">
                <a:latin typeface="Arial MT"/>
                <a:cs typeface="Arial MT"/>
              </a:rPr>
              <a:t> </a:t>
            </a:r>
            <a:r>
              <a:rPr sz="1800" b="1" i="1" dirty="0">
                <a:latin typeface="Arial"/>
                <a:cs typeface="Arial"/>
              </a:rPr>
              <a:t>N</a:t>
            </a:r>
            <a:r>
              <a:rPr sz="1800" b="1" i="1" spc="-15" dirty="0">
                <a:latin typeface="Arial"/>
                <a:cs typeface="Arial"/>
              </a:rPr>
              <a:t> </a:t>
            </a:r>
            <a:r>
              <a:rPr sz="1800" dirty="0">
                <a:latin typeface="Arial MT"/>
                <a:cs typeface="Arial MT"/>
              </a:rPr>
              <a:t>pages, need</a:t>
            </a:r>
            <a:r>
              <a:rPr sz="1800" spc="-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find</a:t>
            </a:r>
            <a:r>
              <a:rPr sz="1800" spc="-10" dirty="0">
                <a:latin typeface="Arial MT"/>
                <a:cs typeface="Arial MT"/>
              </a:rPr>
              <a:t> </a:t>
            </a:r>
            <a:r>
              <a:rPr sz="1800" b="1" i="1" dirty="0">
                <a:latin typeface="Arial"/>
                <a:cs typeface="Arial"/>
              </a:rPr>
              <a:t>N</a:t>
            </a:r>
            <a:r>
              <a:rPr sz="1800" b="1" i="1" spc="-15" dirty="0">
                <a:latin typeface="Arial"/>
                <a:cs typeface="Arial"/>
              </a:rPr>
              <a:t> </a:t>
            </a:r>
            <a:r>
              <a:rPr sz="1800" dirty="0">
                <a:latin typeface="Arial MT"/>
                <a:cs typeface="Arial MT"/>
              </a:rPr>
              <a:t>free</a:t>
            </a:r>
            <a:r>
              <a:rPr sz="1800" spc="-20" dirty="0">
                <a:latin typeface="Arial MT"/>
                <a:cs typeface="Arial MT"/>
              </a:rPr>
              <a:t> </a:t>
            </a:r>
            <a:r>
              <a:rPr sz="1800" dirty="0">
                <a:latin typeface="Arial MT"/>
                <a:cs typeface="Arial MT"/>
              </a:rPr>
              <a:t>frames</a:t>
            </a:r>
            <a:r>
              <a:rPr sz="1800" spc="-15" dirty="0">
                <a:latin typeface="Arial MT"/>
                <a:cs typeface="Arial MT"/>
              </a:rPr>
              <a:t> </a:t>
            </a:r>
            <a:r>
              <a:rPr sz="1800" dirty="0">
                <a:latin typeface="Arial MT"/>
                <a:cs typeface="Arial MT"/>
              </a:rPr>
              <a:t>and</a:t>
            </a:r>
            <a:r>
              <a:rPr sz="1800" spc="-15" dirty="0">
                <a:latin typeface="Arial MT"/>
                <a:cs typeface="Arial MT"/>
              </a:rPr>
              <a:t> </a:t>
            </a:r>
            <a:r>
              <a:rPr sz="1800" dirty="0">
                <a:latin typeface="Arial MT"/>
                <a:cs typeface="Arial MT"/>
              </a:rPr>
              <a:t>load</a:t>
            </a:r>
            <a:r>
              <a:rPr sz="1800" spc="-10" dirty="0">
                <a:latin typeface="Arial MT"/>
                <a:cs typeface="Arial MT"/>
              </a:rPr>
              <a:t> program</a:t>
            </a:r>
            <a:endParaRPr sz="180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Set</a:t>
            </a:r>
            <a:r>
              <a:rPr sz="1800" spc="-15" dirty="0">
                <a:latin typeface="Arial MT"/>
                <a:cs typeface="Arial MT"/>
              </a:rPr>
              <a:t> </a:t>
            </a:r>
            <a:r>
              <a:rPr sz="1800" dirty="0">
                <a:latin typeface="Arial MT"/>
                <a:cs typeface="Arial MT"/>
              </a:rPr>
              <a:t>up</a:t>
            </a:r>
            <a:r>
              <a:rPr sz="1800" spc="-30" dirty="0">
                <a:latin typeface="Arial MT"/>
                <a:cs typeface="Arial MT"/>
              </a:rPr>
              <a:t> </a:t>
            </a:r>
            <a:r>
              <a:rPr sz="1800" dirty="0">
                <a:latin typeface="Arial MT"/>
                <a:cs typeface="Arial MT"/>
              </a:rPr>
              <a:t>a</a:t>
            </a:r>
            <a:r>
              <a:rPr sz="1800" spc="-15" dirty="0">
                <a:latin typeface="Arial MT"/>
                <a:cs typeface="Arial MT"/>
              </a:rPr>
              <a:t> </a:t>
            </a:r>
            <a:r>
              <a:rPr sz="1800" b="1" dirty="0">
                <a:solidFill>
                  <a:srgbClr val="3366FF"/>
                </a:solidFill>
                <a:latin typeface="Arial"/>
                <a:cs typeface="Arial"/>
              </a:rPr>
              <a:t>page</a:t>
            </a:r>
            <a:r>
              <a:rPr sz="1800" b="1" spc="-20" dirty="0">
                <a:solidFill>
                  <a:srgbClr val="3366FF"/>
                </a:solidFill>
                <a:latin typeface="Arial"/>
                <a:cs typeface="Arial"/>
              </a:rPr>
              <a:t> </a:t>
            </a:r>
            <a:r>
              <a:rPr sz="1800" b="1" dirty="0">
                <a:solidFill>
                  <a:srgbClr val="3366FF"/>
                </a:solidFill>
                <a:latin typeface="Arial"/>
                <a:cs typeface="Arial"/>
              </a:rPr>
              <a:t>table</a:t>
            </a:r>
            <a:r>
              <a:rPr sz="1800" b="1" spc="-30" dirty="0">
                <a:solidFill>
                  <a:srgbClr val="3366FF"/>
                </a:solidFill>
                <a:latin typeface="Arial"/>
                <a:cs typeface="Arial"/>
              </a:rPr>
              <a:t> </a:t>
            </a:r>
            <a:r>
              <a:rPr sz="1800" dirty="0">
                <a:latin typeface="Arial MT"/>
                <a:cs typeface="Arial MT"/>
              </a:rPr>
              <a:t>to</a:t>
            </a:r>
            <a:r>
              <a:rPr sz="1800" spc="-15" dirty="0">
                <a:latin typeface="Arial MT"/>
                <a:cs typeface="Arial MT"/>
              </a:rPr>
              <a:t> </a:t>
            </a:r>
            <a:r>
              <a:rPr sz="1800" dirty="0">
                <a:latin typeface="Arial MT"/>
                <a:cs typeface="Arial MT"/>
              </a:rPr>
              <a:t>translate</a:t>
            </a:r>
            <a:r>
              <a:rPr sz="1800" spc="-10" dirty="0">
                <a:latin typeface="Arial MT"/>
                <a:cs typeface="Arial MT"/>
              </a:rPr>
              <a:t> </a:t>
            </a:r>
            <a:r>
              <a:rPr sz="1800" dirty="0">
                <a:latin typeface="Arial MT"/>
                <a:cs typeface="Arial MT"/>
              </a:rPr>
              <a:t>logical</a:t>
            </a:r>
            <a:r>
              <a:rPr sz="1800" spc="-1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physical</a:t>
            </a:r>
            <a:r>
              <a:rPr sz="1800" spc="10" dirty="0">
                <a:latin typeface="Arial MT"/>
                <a:cs typeface="Arial MT"/>
              </a:rPr>
              <a:t> </a:t>
            </a:r>
            <a:r>
              <a:rPr sz="1800" spc="-10" dirty="0">
                <a:latin typeface="Arial MT"/>
                <a:cs typeface="Arial MT"/>
              </a:rPr>
              <a:t>addresses</a:t>
            </a:r>
            <a:endParaRPr sz="180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Still</a:t>
            </a:r>
            <a:r>
              <a:rPr sz="1800" spc="-40" dirty="0">
                <a:latin typeface="Arial MT"/>
                <a:cs typeface="Arial MT"/>
              </a:rPr>
              <a:t> </a:t>
            </a:r>
            <a:r>
              <a:rPr sz="1800" dirty="0">
                <a:latin typeface="Arial MT"/>
                <a:cs typeface="Arial MT"/>
              </a:rPr>
              <a:t>have</a:t>
            </a:r>
            <a:r>
              <a:rPr sz="1800" spc="-20" dirty="0">
                <a:latin typeface="Arial MT"/>
                <a:cs typeface="Arial MT"/>
              </a:rPr>
              <a:t> </a:t>
            </a:r>
            <a:r>
              <a:rPr sz="1800" dirty="0">
                <a:latin typeface="Arial MT"/>
                <a:cs typeface="Arial MT"/>
              </a:rPr>
              <a:t>Internal</a:t>
            </a:r>
            <a:r>
              <a:rPr sz="1800" spc="-20" dirty="0">
                <a:latin typeface="Arial MT"/>
                <a:cs typeface="Arial MT"/>
              </a:rPr>
              <a:t> </a:t>
            </a:r>
            <a:r>
              <a:rPr sz="1800" spc="-10" dirty="0">
                <a:latin typeface="Arial MT"/>
                <a:cs typeface="Arial MT"/>
              </a:rPr>
              <a:t>fragmentation</a:t>
            </a:r>
            <a:endParaRPr sz="1800">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047" rIns="0" bIns="0" rtlCol="0">
            <a:spAutoFit/>
          </a:bodyPr>
          <a:lstStyle/>
          <a:p>
            <a:pPr marL="1913255">
              <a:lnSpc>
                <a:spcPct val="100000"/>
              </a:lnSpc>
              <a:spcBef>
                <a:spcPts val="100"/>
              </a:spcBef>
            </a:pPr>
            <a:r>
              <a:rPr dirty="0">
                <a:solidFill>
                  <a:srgbClr val="006699"/>
                </a:solidFill>
              </a:rPr>
              <a:t>Address</a:t>
            </a:r>
            <a:r>
              <a:rPr spc="-40" dirty="0">
                <a:solidFill>
                  <a:srgbClr val="006699"/>
                </a:solidFill>
              </a:rPr>
              <a:t> </a:t>
            </a:r>
            <a:r>
              <a:rPr dirty="0">
                <a:solidFill>
                  <a:srgbClr val="006699"/>
                </a:solidFill>
              </a:rPr>
              <a:t>Translation</a:t>
            </a:r>
            <a:r>
              <a:rPr spc="-55" dirty="0">
                <a:solidFill>
                  <a:srgbClr val="006699"/>
                </a:solidFill>
              </a:rPr>
              <a:t> </a:t>
            </a:r>
            <a:r>
              <a:rPr spc="-10" dirty="0">
                <a:solidFill>
                  <a:srgbClr val="006699"/>
                </a:solidFill>
              </a:rPr>
              <a:t>Scheme</a:t>
            </a:r>
          </a:p>
        </p:txBody>
      </p:sp>
      <p:sp>
        <p:nvSpPr>
          <p:cNvPr id="7" name="object 7"/>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26</a:t>
            </a:fld>
            <a:endParaRPr spc="-20" dirty="0"/>
          </a:p>
        </p:txBody>
      </p:sp>
      <p:sp>
        <p:nvSpPr>
          <p:cNvPr id="9" name="object 9"/>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37642" y="974216"/>
            <a:ext cx="8361680" cy="4168775"/>
          </a:xfrm>
          <a:prstGeom prst="rect">
            <a:avLst/>
          </a:prstGeom>
        </p:spPr>
        <p:txBody>
          <a:bodyPr vert="horz" wrap="square" lIns="0" tIns="108585" rIns="0" bIns="0" rtlCol="0">
            <a:spAutoFit/>
          </a:bodyPr>
          <a:lstStyle/>
          <a:p>
            <a:pPr marL="367665" indent="-342265">
              <a:lnSpc>
                <a:spcPct val="100000"/>
              </a:lnSpc>
              <a:spcBef>
                <a:spcPts val="855"/>
              </a:spcBef>
              <a:buClr>
                <a:srgbClr val="993300"/>
              </a:buClr>
              <a:buSzPct val="88888"/>
              <a:buFont typeface="Wingdings"/>
              <a:buChar char=""/>
              <a:tabLst>
                <a:tab pos="367665" algn="l"/>
              </a:tabLst>
            </a:pPr>
            <a:r>
              <a:rPr sz="1800" dirty="0">
                <a:latin typeface="Arial MT"/>
                <a:cs typeface="Arial MT"/>
              </a:rPr>
              <a:t>Each</a:t>
            </a:r>
            <a:r>
              <a:rPr sz="1800" spc="-25" dirty="0">
                <a:latin typeface="Arial MT"/>
                <a:cs typeface="Arial MT"/>
              </a:rPr>
              <a:t> </a:t>
            </a:r>
            <a:r>
              <a:rPr sz="1800" dirty="0">
                <a:latin typeface="Arial MT"/>
                <a:cs typeface="Arial MT"/>
              </a:rPr>
              <a:t>address</a:t>
            </a:r>
            <a:r>
              <a:rPr sz="1800" spc="-20" dirty="0">
                <a:latin typeface="Arial MT"/>
                <a:cs typeface="Arial MT"/>
              </a:rPr>
              <a:t> </a:t>
            </a:r>
            <a:r>
              <a:rPr sz="1800" dirty="0">
                <a:latin typeface="Arial MT"/>
                <a:cs typeface="Arial MT"/>
              </a:rPr>
              <a:t>generated</a:t>
            </a:r>
            <a:r>
              <a:rPr sz="1800" spc="-5" dirty="0">
                <a:latin typeface="Arial MT"/>
                <a:cs typeface="Arial MT"/>
              </a:rPr>
              <a:t> </a:t>
            </a:r>
            <a:r>
              <a:rPr sz="1800" dirty="0">
                <a:latin typeface="Arial MT"/>
                <a:cs typeface="Arial MT"/>
              </a:rPr>
              <a:t>by</a:t>
            </a:r>
            <a:r>
              <a:rPr sz="1800" spc="-25" dirty="0">
                <a:latin typeface="Arial MT"/>
                <a:cs typeface="Arial MT"/>
              </a:rPr>
              <a:t> </a:t>
            </a:r>
            <a:r>
              <a:rPr sz="1800" dirty="0">
                <a:latin typeface="Arial MT"/>
                <a:cs typeface="Arial MT"/>
              </a:rPr>
              <a:t>CPU</a:t>
            </a:r>
            <a:r>
              <a:rPr sz="1800" spc="-3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divided into</a:t>
            </a:r>
            <a:r>
              <a:rPr sz="1800" spc="-25" dirty="0">
                <a:latin typeface="Arial MT"/>
                <a:cs typeface="Arial MT"/>
              </a:rPr>
              <a:t> </a:t>
            </a:r>
            <a:r>
              <a:rPr sz="1800" dirty="0">
                <a:latin typeface="Arial MT"/>
                <a:cs typeface="Arial MT"/>
              </a:rPr>
              <a:t>two</a:t>
            </a:r>
            <a:r>
              <a:rPr sz="1800" spc="5" dirty="0">
                <a:latin typeface="Arial MT"/>
                <a:cs typeface="Arial MT"/>
              </a:rPr>
              <a:t> </a:t>
            </a:r>
            <a:r>
              <a:rPr sz="1800" spc="-10" dirty="0">
                <a:latin typeface="Arial MT"/>
                <a:cs typeface="Arial MT"/>
              </a:rPr>
              <a:t>parts:</a:t>
            </a:r>
            <a:endParaRPr sz="1800">
              <a:latin typeface="Arial MT"/>
              <a:cs typeface="Arial MT"/>
            </a:endParaRPr>
          </a:p>
          <a:p>
            <a:pPr marL="768985" lvl="1" indent="-286385">
              <a:lnSpc>
                <a:spcPct val="100000"/>
              </a:lnSpc>
              <a:spcBef>
                <a:spcPts val="755"/>
              </a:spcBef>
              <a:buClr>
                <a:srgbClr val="CC6600"/>
              </a:buClr>
              <a:buSzPct val="80555"/>
              <a:buFont typeface="Wingdings"/>
              <a:buChar char=""/>
              <a:tabLst>
                <a:tab pos="768985" algn="l"/>
              </a:tabLst>
            </a:pPr>
            <a:r>
              <a:rPr sz="1800" b="1" dirty="0">
                <a:solidFill>
                  <a:srgbClr val="3366FF"/>
                </a:solidFill>
                <a:latin typeface="Arial"/>
                <a:cs typeface="Arial"/>
              </a:rPr>
              <a:t>Page</a:t>
            </a:r>
            <a:r>
              <a:rPr sz="1800" b="1" spc="-15" dirty="0">
                <a:solidFill>
                  <a:srgbClr val="3366FF"/>
                </a:solidFill>
                <a:latin typeface="Arial"/>
                <a:cs typeface="Arial"/>
              </a:rPr>
              <a:t> </a:t>
            </a:r>
            <a:r>
              <a:rPr sz="1800" b="1" dirty="0">
                <a:solidFill>
                  <a:srgbClr val="3366FF"/>
                </a:solidFill>
                <a:latin typeface="Arial"/>
                <a:cs typeface="Arial"/>
              </a:rPr>
              <a:t>number</a:t>
            </a:r>
            <a:r>
              <a:rPr sz="1800" b="1" spc="-10" dirty="0">
                <a:solidFill>
                  <a:srgbClr val="3366FF"/>
                </a:solidFill>
                <a:latin typeface="Arial"/>
                <a:cs typeface="Arial"/>
              </a:rPr>
              <a:t> </a:t>
            </a:r>
            <a:r>
              <a:rPr sz="1800" dirty="0">
                <a:latin typeface="Arial MT"/>
                <a:cs typeface="Arial MT"/>
              </a:rPr>
              <a:t>(</a:t>
            </a:r>
            <a:r>
              <a:rPr sz="1800" b="1" i="1" dirty="0">
                <a:solidFill>
                  <a:srgbClr val="3366FF"/>
                </a:solidFill>
                <a:latin typeface="Arial"/>
                <a:cs typeface="Arial"/>
              </a:rPr>
              <a:t>p</a:t>
            </a:r>
            <a:r>
              <a:rPr sz="1800" dirty="0">
                <a:latin typeface="Arial MT"/>
                <a:cs typeface="Arial MT"/>
              </a:rPr>
              <a:t>)</a:t>
            </a:r>
            <a:r>
              <a:rPr sz="1800" spc="-20"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used</a:t>
            </a:r>
            <a:r>
              <a:rPr sz="1800" spc="-5" dirty="0">
                <a:latin typeface="Arial MT"/>
                <a:cs typeface="Arial MT"/>
              </a:rPr>
              <a:t> </a:t>
            </a:r>
            <a:r>
              <a:rPr sz="1800" dirty="0">
                <a:latin typeface="Arial MT"/>
                <a:cs typeface="Arial MT"/>
              </a:rPr>
              <a:t>as</a:t>
            </a:r>
            <a:r>
              <a:rPr sz="1800" spc="-10" dirty="0">
                <a:latin typeface="Arial MT"/>
                <a:cs typeface="Arial MT"/>
              </a:rPr>
              <a:t> </a:t>
            </a:r>
            <a:r>
              <a:rPr sz="1800" dirty="0">
                <a:latin typeface="Arial MT"/>
                <a:cs typeface="Arial MT"/>
              </a:rPr>
              <a:t>an</a:t>
            </a:r>
            <a:r>
              <a:rPr sz="1800" spc="-15" dirty="0">
                <a:latin typeface="Arial MT"/>
                <a:cs typeface="Arial MT"/>
              </a:rPr>
              <a:t> </a:t>
            </a:r>
            <a:r>
              <a:rPr sz="1800" dirty="0">
                <a:latin typeface="Arial MT"/>
                <a:cs typeface="Arial MT"/>
              </a:rPr>
              <a:t>index into</a:t>
            </a:r>
            <a:r>
              <a:rPr sz="1800" spc="-10" dirty="0">
                <a:latin typeface="Arial MT"/>
                <a:cs typeface="Arial MT"/>
              </a:rPr>
              <a:t> </a:t>
            </a:r>
            <a:r>
              <a:rPr sz="1800" dirty="0">
                <a:latin typeface="Arial MT"/>
                <a:cs typeface="Arial MT"/>
              </a:rPr>
              <a:t>a</a:t>
            </a:r>
            <a:r>
              <a:rPr sz="1800" spc="-5" dirty="0">
                <a:latin typeface="Arial MT"/>
                <a:cs typeface="Arial MT"/>
              </a:rPr>
              <a:t> </a:t>
            </a:r>
            <a:r>
              <a:rPr sz="1800" b="1" dirty="0">
                <a:solidFill>
                  <a:srgbClr val="3366FF"/>
                </a:solidFill>
                <a:latin typeface="Arial"/>
                <a:cs typeface="Arial"/>
              </a:rPr>
              <a:t>page</a:t>
            </a:r>
            <a:r>
              <a:rPr sz="1800" b="1" spc="-10" dirty="0">
                <a:solidFill>
                  <a:srgbClr val="3366FF"/>
                </a:solidFill>
                <a:latin typeface="Arial"/>
                <a:cs typeface="Arial"/>
              </a:rPr>
              <a:t> table</a:t>
            </a:r>
            <a:endParaRPr sz="1800">
              <a:latin typeface="Arial"/>
              <a:cs typeface="Arial"/>
            </a:endParaRPr>
          </a:p>
          <a:p>
            <a:pPr marL="1111250" lvl="2" indent="-227965">
              <a:lnSpc>
                <a:spcPct val="100000"/>
              </a:lnSpc>
              <a:spcBef>
                <a:spcPts val="755"/>
              </a:spcBef>
              <a:buClr>
                <a:srgbClr val="009900"/>
              </a:buClr>
              <a:buSzPct val="75000"/>
              <a:buFont typeface="Webdings"/>
              <a:buChar char=""/>
              <a:tabLst>
                <a:tab pos="1111250" algn="l"/>
              </a:tabLst>
            </a:pPr>
            <a:r>
              <a:rPr sz="1800" dirty="0">
                <a:solidFill>
                  <a:srgbClr val="FF0000"/>
                </a:solidFill>
                <a:latin typeface="Arial MT"/>
                <a:cs typeface="Arial MT"/>
              </a:rPr>
              <a:t>Page</a:t>
            </a:r>
            <a:r>
              <a:rPr sz="1800" spc="-20" dirty="0">
                <a:solidFill>
                  <a:srgbClr val="FF0000"/>
                </a:solidFill>
                <a:latin typeface="Arial MT"/>
                <a:cs typeface="Arial MT"/>
              </a:rPr>
              <a:t> </a:t>
            </a:r>
            <a:r>
              <a:rPr sz="1800" dirty="0">
                <a:solidFill>
                  <a:srgbClr val="FF0000"/>
                </a:solidFill>
                <a:latin typeface="Arial MT"/>
                <a:cs typeface="Arial MT"/>
              </a:rPr>
              <a:t>table</a:t>
            </a:r>
            <a:r>
              <a:rPr sz="1800" spc="-35" dirty="0">
                <a:solidFill>
                  <a:srgbClr val="FF0000"/>
                </a:solidFill>
                <a:latin typeface="Arial MT"/>
                <a:cs typeface="Arial MT"/>
              </a:rPr>
              <a:t> </a:t>
            </a:r>
            <a:r>
              <a:rPr sz="1800" dirty="0">
                <a:solidFill>
                  <a:srgbClr val="FF0000"/>
                </a:solidFill>
                <a:latin typeface="Arial MT"/>
                <a:cs typeface="Arial MT"/>
              </a:rPr>
              <a:t>contains</a:t>
            </a:r>
            <a:r>
              <a:rPr sz="1800" spc="-15"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base</a:t>
            </a:r>
            <a:r>
              <a:rPr sz="1800" spc="-20" dirty="0">
                <a:solidFill>
                  <a:srgbClr val="FF0000"/>
                </a:solidFill>
                <a:latin typeface="Arial MT"/>
                <a:cs typeface="Arial MT"/>
              </a:rPr>
              <a:t> </a:t>
            </a:r>
            <a:r>
              <a:rPr sz="1800" dirty="0">
                <a:solidFill>
                  <a:srgbClr val="FF0000"/>
                </a:solidFill>
                <a:latin typeface="Arial MT"/>
                <a:cs typeface="Arial MT"/>
              </a:rPr>
              <a:t>address</a:t>
            </a:r>
            <a:r>
              <a:rPr sz="1800" spc="-15" dirty="0">
                <a:solidFill>
                  <a:srgbClr val="FF0000"/>
                </a:solidFill>
                <a:latin typeface="Arial MT"/>
                <a:cs typeface="Arial MT"/>
              </a:rPr>
              <a:t> </a:t>
            </a:r>
            <a:r>
              <a:rPr sz="1800" dirty="0">
                <a:solidFill>
                  <a:srgbClr val="FF0000"/>
                </a:solidFill>
                <a:latin typeface="Arial MT"/>
                <a:cs typeface="Arial MT"/>
              </a:rPr>
              <a:t>of</a:t>
            </a:r>
            <a:r>
              <a:rPr sz="1800" spc="-25" dirty="0">
                <a:solidFill>
                  <a:srgbClr val="FF0000"/>
                </a:solidFill>
                <a:latin typeface="Arial MT"/>
                <a:cs typeface="Arial MT"/>
              </a:rPr>
              <a:t> </a:t>
            </a:r>
            <a:r>
              <a:rPr sz="1800" dirty="0">
                <a:solidFill>
                  <a:srgbClr val="FF0000"/>
                </a:solidFill>
                <a:latin typeface="Arial MT"/>
                <a:cs typeface="Arial MT"/>
              </a:rPr>
              <a:t>each</a:t>
            </a:r>
            <a:r>
              <a:rPr sz="1800" spc="-25" dirty="0">
                <a:solidFill>
                  <a:srgbClr val="FF0000"/>
                </a:solidFill>
                <a:latin typeface="Arial MT"/>
                <a:cs typeface="Arial MT"/>
              </a:rPr>
              <a:t> </a:t>
            </a:r>
            <a:r>
              <a:rPr sz="1800" dirty="0">
                <a:solidFill>
                  <a:srgbClr val="FF0000"/>
                </a:solidFill>
                <a:latin typeface="Arial MT"/>
                <a:cs typeface="Arial MT"/>
              </a:rPr>
              <a:t>page</a:t>
            </a:r>
            <a:r>
              <a:rPr sz="1800" spc="-20"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physical</a:t>
            </a:r>
            <a:r>
              <a:rPr sz="1800" spc="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marL="768985" marR="261620" lvl="1" indent="-287020">
              <a:lnSpc>
                <a:spcPct val="100000"/>
              </a:lnSpc>
              <a:spcBef>
                <a:spcPts val="760"/>
              </a:spcBef>
              <a:buClr>
                <a:srgbClr val="CC6600"/>
              </a:buClr>
              <a:buSzPct val="80555"/>
              <a:buFont typeface="Wingdings"/>
              <a:buChar char=""/>
              <a:tabLst>
                <a:tab pos="768985" algn="l"/>
              </a:tabLst>
            </a:pPr>
            <a:r>
              <a:rPr sz="1800" b="1" dirty="0">
                <a:solidFill>
                  <a:srgbClr val="3366FF"/>
                </a:solidFill>
                <a:latin typeface="Arial"/>
                <a:cs typeface="Arial"/>
              </a:rPr>
              <a:t>Page</a:t>
            </a:r>
            <a:r>
              <a:rPr sz="1800" b="1" spc="-35" dirty="0">
                <a:solidFill>
                  <a:srgbClr val="3366FF"/>
                </a:solidFill>
                <a:latin typeface="Arial"/>
                <a:cs typeface="Arial"/>
              </a:rPr>
              <a:t> </a:t>
            </a:r>
            <a:r>
              <a:rPr sz="1800" b="1" dirty="0">
                <a:solidFill>
                  <a:srgbClr val="3366FF"/>
                </a:solidFill>
                <a:latin typeface="Arial"/>
                <a:cs typeface="Arial"/>
              </a:rPr>
              <a:t>offset</a:t>
            </a:r>
            <a:r>
              <a:rPr sz="1800" b="1" spc="-15" dirty="0">
                <a:solidFill>
                  <a:srgbClr val="3366FF"/>
                </a:solidFill>
                <a:latin typeface="Arial"/>
                <a:cs typeface="Arial"/>
              </a:rPr>
              <a:t> </a:t>
            </a:r>
            <a:r>
              <a:rPr sz="1800" dirty="0">
                <a:latin typeface="Arial MT"/>
                <a:cs typeface="Arial MT"/>
              </a:rPr>
              <a:t>(</a:t>
            </a:r>
            <a:r>
              <a:rPr sz="1800" b="1" i="1" dirty="0">
                <a:solidFill>
                  <a:srgbClr val="3366FF"/>
                </a:solidFill>
                <a:latin typeface="Arial"/>
                <a:cs typeface="Arial"/>
              </a:rPr>
              <a:t>d</a:t>
            </a:r>
            <a:r>
              <a:rPr sz="1800" dirty="0">
                <a:latin typeface="Arial MT"/>
                <a:cs typeface="Arial MT"/>
              </a:rPr>
              <a:t>)</a:t>
            </a:r>
            <a:r>
              <a:rPr sz="1800" spc="-30" dirty="0">
                <a:latin typeface="Arial MT"/>
                <a:cs typeface="Arial MT"/>
              </a:rPr>
              <a:t> </a:t>
            </a:r>
            <a:r>
              <a:rPr sz="1800" dirty="0">
                <a:latin typeface="Arial MT"/>
                <a:cs typeface="Arial MT"/>
              </a:rPr>
              <a:t>–</a:t>
            </a:r>
            <a:r>
              <a:rPr sz="1800" spc="-30" dirty="0">
                <a:latin typeface="Arial MT"/>
                <a:cs typeface="Arial MT"/>
              </a:rPr>
              <a:t> </a:t>
            </a:r>
            <a:r>
              <a:rPr sz="1800" dirty="0">
                <a:latin typeface="Arial MT"/>
                <a:cs typeface="Arial MT"/>
              </a:rPr>
              <a:t>combined</a:t>
            </a:r>
            <a:r>
              <a:rPr sz="1800" spc="-5" dirty="0">
                <a:latin typeface="Arial MT"/>
                <a:cs typeface="Arial MT"/>
              </a:rPr>
              <a:t> </a:t>
            </a:r>
            <a:r>
              <a:rPr sz="1800" dirty="0">
                <a:latin typeface="Arial MT"/>
                <a:cs typeface="Arial MT"/>
              </a:rPr>
              <a:t>with</a:t>
            </a:r>
            <a:r>
              <a:rPr sz="1800" spc="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base</a:t>
            </a:r>
            <a:r>
              <a:rPr sz="1800" spc="-15" dirty="0">
                <a:latin typeface="Arial MT"/>
                <a:cs typeface="Arial MT"/>
              </a:rPr>
              <a:t> </a:t>
            </a:r>
            <a:r>
              <a:rPr sz="1800" dirty="0">
                <a:latin typeface="Arial MT"/>
                <a:cs typeface="Arial MT"/>
              </a:rPr>
              <a:t>address</a:t>
            </a:r>
            <a:r>
              <a:rPr sz="1800" spc="-1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define</a:t>
            </a:r>
            <a:r>
              <a:rPr sz="1800" spc="-15" dirty="0">
                <a:latin typeface="Arial MT"/>
                <a:cs typeface="Arial MT"/>
              </a:rPr>
              <a:t> </a:t>
            </a:r>
            <a:r>
              <a:rPr sz="1800" dirty="0">
                <a:latin typeface="Arial MT"/>
                <a:cs typeface="Arial MT"/>
              </a:rPr>
              <a:t>the</a:t>
            </a:r>
            <a:r>
              <a:rPr sz="1800" spc="-30" dirty="0">
                <a:latin typeface="Arial MT"/>
                <a:cs typeface="Arial MT"/>
              </a:rPr>
              <a:t> </a:t>
            </a:r>
            <a:r>
              <a:rPr sz="1800" spc="-10" dirty="0">
                <a:latin typeface="Arial MT"/>
                <a:cs typeface="Arial MT"/>
              </a:rPr>
              <a:t>physical </a:t>
            </a:r>
            <a:r>
              <a:rPr sz="1800" dirty="0">
                <a:latin typeface="Arial MT"/>
                <a:cs typeface="Arial MT"/>
              </a:rPr>
              <a:t>memory</a:t>
            </a:r>
            <a:r>
              <a:rPr sz="1800" spc="-20" dirty="0">
                <a:latin typeface="Arial MT"/>
                <a:cs typeface="Arial MT"/>
              </a:rPr>
              <a:t> </a:t>
            </a:r>
            <a:r>
              <a:rPr sz="1800" dirty="0">
                <a:latin typeface="Arial MT"/>
                <a:cs typeface="Arial MT"/>
              </a:rPr>
              <a:t>address</a:t>
            </a:r>
            <a:r>
              <a:rPr sz="1800" spc="-5" dirty="0">
                <a:latin typeface="Arial MT"/>
                <a:cs typeface="Arial MT"/>
              </a:rPr>
              <a:t> </a:t>
            </a:r>
            <a:r>
              <a:rPr sz="1800" dirty="0">
                <a:latin typeface="Arial MT"/>
                <a:cs typeface="Arial MT"/>
              </a:rPr>
              <a:t>that</a:t>
            </a:r>
            <a:r>
              <a:rPr sz="1800" spc="-10"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sent</a:t>
            </a:r>
            <a:r>
              <a:rPr sz="1800" spc="-10"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memory</a:t>
            </a:r>
            <a:r>
              <a:rPr sz="1800" spc="-20" dirty="0">
                <a:latin typeface="Arial MT"/>
                <a:cs typeface="Arial MT"/>
              </a:rPr>
              <a:t> unit</a:t>
            </a:r>
            <a:endParaRPr sz="1800">
              <a:latin typeface="Arial MT"/>
              <a:cs typeface="Arial MT"/>
            </a:endParaRPr>
          </a:p>
          <a:p>
            <a:pPr marL="768985" lvl="1" indent="-286385">
              <a:lnSpc>
                <a:spcPct val="100000"/>
              </a:lnSpc>
              <a:spcBef>
                <a:spcPts val="2055"/>
              </a:spcBef>
              <a:buClr>
                <a:srgbClr val="CC6600"/>
              </a:buClr>
              <a:buSzPct val="80555"/>
              <a:buFont typeface="Wingdings"/>
              <a:buChar char=""/>
              <a:tabLst>
                <a:tab pos="768985" algn="l"/>
              </a:tabLst>
            </a:pPr>
            <a:r>
              <a:rPr sz="1800" dirty="0">
                <a:solidFill>
                  <a:srgbClr val="FF0000"/>
                </a:solidFill>
                <a:latin typeface="Arial MT"/>
                <a:cs typeface="Arial MT"/>
              </a:rPr>
              <a:t>If</a:t>
            </a:r>
            <a:r>
              <a:rPr sz="1800" spc="-35"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logical</a:t>
            </a:r>
            <a:r>
              <a:rPr sz="1800" spc="5" dirty="0">
                <a:solidFill>
                  <a:srgbClr val="FF0000"/>
                </a:solidFill>
                <a:latin typeface="Arial MT"/>
                <a:cs typeface="Arial MT"/>
              </a:rPr>
              <a:t> </a:t>
            </a:r>
            <a:r>
              <a:rPr sz="1800" dirty="0">
                <a:solidFill>
                  <a:srgbClr val="FF0000"/>
                </a:solidFill>
                <a:latin typeface="Arial MT"/>
                <a:cs typeface="Arial MT"/>
              </a:rPr>
              <a:t>address</a:t>
            </a:r>
            <a:r>
              <a:rPr sz="1800" spc="-5" dirty="0">
                <a:solidFill>
                  <a:srgbClr val="FF0000"/>
                </a:solidFill>
                <a:latin typeface="Arial MT"/>
                <a:cs typeface="Arial MT"/>
              </a:rPr>
              <a:t> </a:t>
            </a:r>
            <a:r>
              <a:rPr sz="1800" dirty="0">
                <a:solidFill>
                  <a:srgbClr val="FF0000"/>
                </a:solidFill>
                <a:latin typeface="Arial MT"/>
                <a:cs typeface="Arial MT"/>
              </a:rPr>
              <a:t>space</a:t>
            </a:r>
            <a:r>
              <a:rPr sz="1800" spc="-15"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2</a:t>
            </a:r>
            <a:r>
              <a:rPr sz="1800" i="1" baseline="25462" dirty="0">
                <a:solidFill>
                  <a:srgbClr val="FF0000"/>
                </a:solidFill>
                <a:latin typeface="Arial"/>
                <a:cs typeface="Arial"/>
              </a:rPr>
              <a:t>m</a:t>
            </a:r>
            <a:r>
              <a:rPr sz="1800" i="1" spc="487" baseline="25462" dirty="0">
                <a:solidFill>
                  <a:srgbClr val="FF0000"/>
                </a:solidFill>
                <a:latin typeface="Arial"/>
                <a:cs typeface="Arial"/>
              </a:rPr>
              <a:t> </a:t>
            </a:r>
            <a:r>
              <a:rPr sz="1800" dirty="0">
                <a:solidFill>
                  <a:srgbClr val="FF0000"/>
                </a:solidFill>
                <a:latin typeface="Arial MT"/>
                <a:cs typeface="Arial MT"/>
              </a:rPr>
              <a:t>and</a:t>
            </a:r>
            <a:r>
              <a:rPr sz="1800" spc="-10"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size</a:t>
            </a:r>
            <a:r>
              <a:rPr sz="1800" spc="-25" dirty="0">
                <a:solidFill>
                  <a:srgbClr val="FF0000"/>
                </a:solidFill>
                <a:latin typeface="Arial MT"/>
                <a:cs typeface="Arial MT"/>
              </a:rPr>
              <a:t> </a:t>
            </a:r>
            <a:r>
              <a:rPr sz="1800" dirty="0">
                <a:solidFill>
                  <a:srgbClr val="FF0000"/>
                </a:solidFill>
                <a:latin typeface="Arial MT"/>
                <a:cs typeface="Arial MT"/>
              </a:rPr>
              <a:t>is</a:t>
            </a:r>
            <a:r>
              <a:rPr sz="1800" spc="-150" dirty="0">
                <a:solidFill>
                  <a:srgbClr val="FF0000"/>
                </a:solidFill>
                <a:latin typeface="Arial MT"/>
                <a:cs typeface="Arial MT"/>
              </a:rPr>
              <a:t> </a:t>
            </a:r>
            <a:r>
              <a:rPr sz="1800" i="1" spc="-25" dirty="0">
                <a:solidFill>
                  <a:srgbClr val="FF0000"/>
                </a:solidFill>
                <a:latin typeface="Arial"/>
                <a:cs typeface="Arial"/>
              </a:rPr>
              <a:t>2</a:t>
            </a:r>
            <a:r>
              <a:rPr sz="1800" spc="-37" baseline="25462" dirty="0">
                <a:solidFill>
                  <a:srgbClr val="FF0000"/>
                </a:solidFill>
                <a:latin typeface="Arial MT"/>
                <a:cs typeface="Arial MT"/>
              </a:rPr>
              <a:t>n</a:t>
            </a:r>
            <a:endParaRPr sz="1800" baseline="25462">
              <a:latin typeface="Arial MT"/>
              <a:cs typeface="Arial MT"/>
            </a:endParaRPr>
          </a:p>
          <a:p>
            <a:pPr marL="1111250" lvl="2" indent="-227965">
              <a:lnSpc>
                <a:spcPct val="100000"/>
              </a:lnSpc>
              <a:spcBef>
                <a:spcPts val="755"/>
              </a:spcBef>
              <a:buClr>
                <a:srgbClr val="009900"/>
              </a:buClr>
              <a:buSzPct val="75000"/>
              <a:buFont typeface="Webdings"/>
              <a:buChar char=""/>
              <a:tabLst>
                <a:tab pos="1111250" algn="l"/>
              </a:tabLst>
            </a:pPr>
            <a:r>
              <a:rPr sz="1800" dirty="0">
                <a:solidFill>
                  <a:srgbClr val="FF0000"/>
                </a:solidFill>
                <a:latin typeface="Arial MT"/>
                <a:cs typeface="Arial MT"/>
              </a:rPr>
              <a:t>The</a:t>
            </a:r>
            <a:r>
              <a:rPr sz="1800" spc="-55" dirty="0">
                <a:solidFill>
                  <a:srgbClr val="FF0000"/>
                </a:solidFill>
                <a:latin typeface="Arial MT"/>
                <a:cs typeface="Arial MT"/>
              </a:rPr>
              <a:t> </a:t>
            </a:r>
            <a:r>
              <a:rPr sz="1800" dirty="0">
                <a:solidFill>
                  <a:srgbClr val="FF0000"/>
                </a:solidFill>
                <a:latin typeface="Arial MT"/>
                <a:cs typeface="Arial MT"/>
              </a:rPr>
              <a:t>binary</a:t>
            </a:r>
            <a:r>
              <a:rPr sz="1800" spc="-15" dirty="0">
                <a:solidFill>
                  <a:srgbClr val="FF0000"/>
                </a:solidFill>
                <a:latin typeface="Arial MT"/>
                <a:cs typeface="Arial MT"/>
              </a:rPr>
              <a:t> </a:t>
            </a:r>
            <a:r>
              <a:rPr sz="1800" dirty="0">
                <a:solidFill>
                  <a:srgbClr val="FF0000"/>
                </a:solidFill>
                <a:latin typeface="Arial MT"/>
                <a:cs typeface="Arial MT"/>
              </a:rPr>
              <a:t>representation</a:t>
            </a:r>
            <a:r>
              <a:rPr sz="1800" spc="-10" dirty="0">
                <a:solidFill>
                  <a:srgbClr val="FF0000"/>
                </a:solidFill>
                <a:latin typeface="Arial MT"/>
                <a:cs typeface="Arial MT"/>
              </a:rPr>
              <a:t> </a:t>
            </a:r>
            <a:r>
              <a:rPr sz="1800" dirty="0">
                <a:solidFill>
                  <a:srgbClr val="FF0000"/>
                </a:solidFill>
                <a:latin typeface="Arial MT"/>
                <a:cs typeface="Arial MT"/>
              </a:rPr>
              <a:t>of</a:t>
            </a:r>
            <a:r>
              <a:rPr sz="1800" spc="-25"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logical</a:t>
            </a:r>
            <a:r>
              <a:rPr sz="1800" spc="-15" dirty="0">
                <a:solidFill>
                  <a:srgbClr val="FF0000"/>
                </a:solidFill>
                <a:latin typeface="Arial MT"/>
                <a:cs typeface="Arial MT"/>
              </a:rPr>
              <a:t> </a:t>
            </a:r>
            <a:r>
              <a:rPr sz="1800" dirty="0">
                <a:solidFill>
                  <a:srgbClr val="FF0000"/>
                </a:solidFill>
                <a:latin typeface="Arial MT"/>
                <a:cs typeface="Arial MT"/>
              </a:rPr>
              <a:t>address</a:t>
            </a:r>
            <a:r>
              <a:rPr sz="1800" spc="-15" dirty="0">
                <a:solidFill>
                  <a:srgbClr val="FF0000"/>
                </a:solidFill>
                <a:latin typeface="Arial MT"/>
                <a:cs typeface="Arial MT"/>
              </a:rPr>
              <a:t> </a:t>
            </a:r>
            <a:r>
              <a:rPr sz="1800" dirty="0">
                <a:solidFill>
                  <a:srgbClr val="FF0000"/>
                </a:solidFill>
                <a:latin typeface="Arial MT"/>
                <a:cs typeface="Arial MT"/>
              </a:rPr>
              <a:t>has </a:t>
            </a:r>
            <a:r>
              <a:rPr sz="1800" i="1" dirty="0">
                <a:solidFill>
                  <a:srgbClr val="FF0000"/>
                </a:solidFill>
                <a:latin typeface="Arial"/>
                <a:cs typeface="Arial"/>
              </a:rPr>
              <a:t>m</a:t>
            </a:r>
            <a:r>
              <a:rPr sz="1800" i="1" spc="-35" dirty="0">
                <a:solidFill>
                  <a:srgbClr val="FF0000"/>
                </a:solidFill>
                <a:latin typeface="Arial"/>
                <a:cs typeface="Arial"/>
              </a:rPr>
              <a:t> </a:t>
            </a:r>
            <a:r>
              <a:rPr sz="1800" dirty="0">
                <a:solidFill>
                  <a:srgbClr val="FF0000"/>
                </a:solidFill>
                <a:latin typeface="Arial MT"/>
                <a:cs typeface="Arial MT"/>
              </a:rPr>
              <a:t>bits,</a:t>
            </a:r>
            <a:r>
              <a:rPr sz="1800" spc="-20" dirty="0">
                <a:solidFill>
                  <a:srgbClr val="FF0000"/>
                </a:solidFill>
                <a:latin typeface="Arial MT"/>
                <a:cs typeface="Arial MT"/>
              </a:rPr>
              <a:t> </a:t>
            </a:r>
            <a:r>
              <a:rPr sz="1800" dirty="0">
                <a:solidFill>
                  <a:srgbClr val="FF0000"/>
                </a:solidFill>
                <a:latin typeface="Arial MT"/>
                <a:cs typeface="Arial MT"/>
              </a:rPr>
              <a:t>such</a:t>
            </a:r>
            <a:r>
              <a:rPr sz="1800" spc="-30" dirty="0">
                <a:solidFill>
                  <a:srgbClr val="FF0000"/>
                </a:solidFill>
                <a:latin typeface="Arial MT"/>
                <a:cs typeface="Arial MT"/>
              </a:rPr>
              <a:t> </a:t>
            </a:r>
            <a:r>
              <a:rPr sz="1800" spc="-20" dirty="0">
                <a:solidFill>
                  <a:srgbClr val="FF0000"/>
                </a:solidFill>
                <a:latin typeface="Arial MT"/>
                <a:cs typeface="Arial MT"/>
              </a:rPr>
              <a:t>that</a:t>
            </a:r>
            <a:endParaRPr sz="1800">
              <a:latin typeface="Arial MT"/>
              <a:cs typeface="Arial MT"/>
            </a:endParaRPr>
          </a:p>
          <a:p>
            <a:pPr marL="1454785" lvl="3" indent="-228600">
              <a:lnSpc>
                <a:spcPct val="100000"/>
              </a:lnSpc>
              <a:spcBef>
                <a:spcPts val="755"/>
              </a:spcBef>
              <a:buClr>
                <a:srgbClr val="FFCC00"/>
              </a:buClr>
              <a:buSzPct val="75000"/>
              <a:buChar char="–"/>
              <a:tabLst>
                <a:tab pos="1454785" algn="l"/>
              </a:tabLst>
            </a:pPr>
            <a:r>
              <a:rPr sz="1800" dirty="0">
                <a:solidFill>
                  <a:srgbClr val="FF0000"/>
                </a:solidFill>
                <a:latin typeface="Arial MT"/>
                <a:cs typeface="Arial MT"/>
              </a:rPr>
              <a:t>The</a:t>
            </a:r>
            <a:r>
              <a:rPr sz="1800" spc="-45" dirty="0">
                <a:solidFill>
                  <a:srgbClr val="FF0000"/>
                </a:solidFill>
                <a:latin typeface="Arial MT"/>
                <a:cs typeface="Arial MT"/>
              </a:rPr>
              <a:t> </a:t>
            </a:r>
            <a:r>
              <a:rPr sz="1800" i="1" dirty="0">
                <a:solidFill>
                  <a:srgbClr val="FF0000"/>
                </a:solidFill>
                <a:latin typeface="Arial"/>
                <a:cs typeface="Arial"/>
              </a:rPr>
              <a:t>m</a:t>
            </a:r>
            <a:r>
              <a:rPr sz="1800" i="1" spc="-20" dirty="0">
                <a:solidFill>
                  <a:srgbClr val="FF0000"/>
                </a:solidFill>
                <a:latin typeface="Arial"/>
                <a:cs typeface="Arial"/>
              </a:rPr>
              <a:t> </a:t>
            </a:r>
            <a:r>
              <a:rPr sz="1800" dirty="0">
                <a:solidFill>
                  <a:srgbClr val="FF0000"/>
                </a:solidFill>
                <a:latin typeface="Arial MT"/>
                <a:cs typeface="Arial MT"/>
              </a:rPr>
              <a:t>–</a:t>
            </a:r>
            <a:r>
              <a:rPr sz="1800" spc="-25" dirty="0">
                <a:solidFill>
                  <a:srgbClr val="FF0000"/>
                </a:solidFill>
                <a:latin typeface="Arial MT"/>
                <a:cs typeface="Arial MT"/>
              </a:rPr>
              <a:t> </a:t>
            </a:r>
            <a:r>
              <a:rPr sz="1800" i="1" dirty="0">
                <a:solidFill>
                  <a:srgbClr val="FF0000"/>
                </a:solidFill>
                <a:latin typeface="Arial"/>
                <a:cs typeface="Arial"/>
              </a:rPr>
              <a:t>n</a:t>
            </a:r>
            <a:r>
              <a:rPr sz="1800" i="1" spc="-25" dirty="0">
                <a:solidFill>
                  <a:srgbClr val="FF0000"/>
                </a:solidFill>
                <a:latin typeface="Arial"/>
                <a:cs typeface="Arial"/>
              </a:rPr>
              <a:t> </a:t>
            </a:r>
            <a:r>
              <a:rPr sz="1800" dirty="0">
                <a:solidFill>
                  <a:srgbClr val="FF0000"/>
                </a:solidFill>
                <a:latin typeface="Arial MT"/>
                <a:cs typeface="Arial MT"/>
              </a:rPr>
              <a:t>leftmost</a:t>
            </a:r>
            <a:r>
              <a:rPr sz="1800" spc="-30" dirty="0">
                <a:solidFill>
                  <a:srgbClr val="FF0000"/>
                </a:solidFill>
                <a:latin typeface="Arial MT"/>
                <a:cs typeface="Arial MT"/>
              </a:rPr>
              <a:t> </a:t>
            </a:r>
            <a:r>
              <a:rPr sz="1800" dirty="0">
                <a:solidFill>
                  <a:srgbClr val="FF0000"/>
                </a:solidFill>
                <a:latin typeface="Arial MT"/>
                <a:cs typeface="Arial MT"/>
              </a:rPr>
              <a:t>bits</a:t>
            </a:r>
            <a:r>
              <a:rPr sz="1800" spc="-20" dirty="0">
                <a:solidFill>
                  <a:srgbClr val="FF0000"/>
                </a:solidFill>
                <a:latin typeface="Arial MT"/>
                <a:cs typeface="Arial MT"/>
              </a:rPr>
              <a:t> </a:t>
            </a:r>
            <a:r>
              <a:rPr sz="1800" dirty="0">
                <a:solidFill>
                  <a:srgbClr val="FF0000"/>
                </a:solidFill>
                <a:latin typeface="Arial MT"/>
                <a:cs typeface="Arial MT"/>
              </a:rPr>
              <a:t>designate the</a:t>
            </a:r>
            <a:r>
              <a:rPr sz="1800" spc="-30"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number</a:t>
            </a:r>
            <a:r>
              <a:rPr sz="1800" spc="-5" dirty="0">
                <a:solidFill>
                  <a:srgbClr val="FF0000"/>
                </a:solidFill>
                <a:latin typeface="Arial MT"/>
                <a:cs typeface="Arial MT"/>
              </a:rPr>
              <a:t> </a:t>
            </a:r>
            <a:r>
              <a:rPr sz="1800" i="1" spc="-50" dirty="0">
                <a:solidFill>
                  <a:srgbClr val="FF0000"/>
                </a:solidFill>
                <a:latin typeface="Arial"/>
                <a:cs typeface="Arial"/>
              </a:rPr>
              <a:t>p</a:t>
            </a:r>
            <a:endParaRPr sz="1800">
              <a:latin typeface="Arial"/>
              <a:cs typeface="Arial"/>
            </a:endParaRPr>
          </a:p>
          <a:p>
            <a:pPr marL="1569085">
              <a:lnSpc>
                <a:spcPct val="100000"/>
              </a:lnSpc>
              <a:spcBef>
                <a:spcPts val="760"/>
              </a:spcBef>
              <a:tabLst>
                <a:tab pos="1797685" algn="l"/>
              </a:tabLst>
            </a:pPr>
            <a:r>
              <a:rPr sz="1350" spc="-50" dirty="0">
                <a:solidFill>
                  <a:srgbClr val="FF0066"/>
                </a:solidFill>
                <a:latin typeface="Arial MT"/>
                <a:cs typeface="Arial MT"/>
              </a:rPr>
              <a:t>»</a:t>
            </a:r>
            <a:r>
              <a:rPr sz="1350" dirty="0">
                <a:solidFill>
                  <a:srgbClr val="FF0066"/>
                </a:solidFill>
                <a:latin typeface="Arial MT"/>
                <a:cs typeface="Arial MT"/>
              </a:rPr>
              <a:t>	</a:t>
            </a:r>
            <a:r>
              <a:rPr sz="1800" b="1" i="1" dirty="0">
                <a:solidFill>
                  <a:srgbClr val="FF0000"/>
                </a:solidFill>
                <a:latin typeface="Arial"/>
                <a:cs typeface="Arial"/>
              </a:rPr>
              <a:t>p</a:t>
            </a:r>
            <a:r>
              <a:rPr sz="1800" b="1" i="1" spc="-15" dirty="0">
                <a:solidFill>
                  <a:srgbClr val="FF0000"/>
                </a:solidFill>
                <a:latin typeface="Arial"/>
                <a:cs typeface="Arial"/>
              </a:rPr>
              <a:t> </a:t>
            </a:r>
            <a:r>
              <a:rPr sz="1800" b="1" dirty="0">
                <a:solidFill>
                  <a:srgbClr val="FF0000"/>
                </a:solidFill>
                <a:latin typeface="Arial"/>
                <a:cs typeface="Arial"/>
              </a:rPr>
              <a:t>is</a:t>
            </a:r>
            <a:r>
              <a:rPr sz="1800" b="1" spc="-10" dirty="0">
                <a:solidFill>
                  <a:srgbClr val="FF0000"/>
                </a:solidFill>
                <a:latin typeface="Arial"/>
                <a:cs typeface="Arial"/>
              </a:rPr>
              <a:t> </a:t>
            </a:r>
            <a:r>
              <a:rPr sz="1800" b="1" dirty="0">
                <a:solidFill>
                  <a:srgbClr val="FF0000"/>
                </a:solidFill>
                <a:latin typeface="Arial"/>
                <a:cs typeface="Arial"/>
              </a:rPr>
              <a:t>index</a:t>
            </a:r>
            <a:r>
              <a:rPr sz="1800" b="1" spc="-30" dirty="0">
                <a:solidFill>
                  <a:srgbClr val="FF0000"/>
                </a:solidFill>
                <a:latin typeface="Arial"/>
                <a:cs typeface="Arial"/>
              </a:rPr>
              <a:t> </a:t>
            </a:r>
            <a:r>
              <a:rPr sz="1800" b="1" dirty="0">
                <a:solidFill>
                  <a:srgbClr val="FF0000"/>
                </a:solidFill>
                <a:latin typeface="Arial"/>
                <a:cs typeface="Arial"/>
              </a:rPr>
              <a:t>into</a:t>
            </a:r>
            <a:r>
              <a:rPr sz="1800" b="1" spc="-10" dirty="0">
                <a:solidFill>
                  <a:srgbClr val="FF0000"/>
                </a:solidFill>
                <a:latin typeface="Arial"/>
                <a:cs typeface="Arial"/>
              </a:rPr>
              <a:t> </a:t>
            </a:r>
            <a:r>
              <a:rPr sz="1800" b="1" dirty="0">
                <a:solidFill>
                  <a:srgbClr val="FF0000"/>
                </a:solidFill>
                <a:latin typeface="Arial"/>
                <a:cs typeface="Arial"/>
              </a:rPr>
              <a:t>the</a:t>
            </a:r>
            <a:r>
              <a:rPr sz="1800" b="1" spc="-10" dirty="0">
                <a:solidFill>
                  <a:srgbClr val="FF0000"/>
                </a:solidFill>
                <a:latin typeface="Arial"/>
                <a:cs typeface="Arial"/>
              </a:rPr>
              <a:t> </a:t>
            </a:r>
            <a:r>
              <a:rPr sz="1800" b="1" dirty="0">
                <a:solidFill>
                  <a:srgbClr val="FF0000"/>
                </a:solidFill>
                <a:latin typeface="Arial"/>
                <a:cs typeface="Arial"/>
              </a:rPr>
              <a:t>page</a:t>
            </a:r>
            <a:r>
              <a:rPr sz="1800" b="1" spc="-20" dirty="0">
                <a:solidFill>
                  <a:srgbClr val="FF0000"/>
                </a:solidFill>
                <a:latin typeface="Arial"/>
                <a:cs typeface="Arial"/>
              </a:rPr>
              <a:t> </a:t>
            </a:r>
            <a:r>
              <a:rPr sz="1800" b="1" spc="-10" dirty="0">
                <a:solidFill>
                  <a:srgbClr val="FF0000"/>
                </a:solidFill>
                <a:latin typeface="Arial"/>
                <a:cs typeface="Arial"/>
              </a:rPr>
              <a:t>table</a:t>
            </a:r>
            <a:endParaRPr sz="1800">
              <a:latin typeface="Arial"/>
              <a:cs typeface="Arial"/>
            </a:endParaRPr>
          </a:p>
          <a:p>
            <a:pPr marL="1454785" lvl="3" indent="-228600">
              <a:lnSpc>
                <a:spcPct val="100000"/>
              </a:lnSpc>
              <a:spcBef>
                <a:spcPts val="755"/>
              </a:spcBef>
              <a:buClr>
                <a:srgbClr val="FFCC00"/>
              </a:buClr>
              <a:buSzPct val="75000"/>
              <a:buChar char="–"/>
              <a:tabLst>
                <a:tab pos="1454785" algn="l"/>
              </a:tabLst>
            </a:pP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rightmost</a:t>
            </a:r>
            <a:r>
              <a:rPr sz="1800" spc="-10" dirty="0">
                <a:solidFill>
                  <a:srgbClr val="FF0000"/>
                </a:solidFill>
                <a:latin typeface="Arial MT"/>
                <a:cs typeface="Arial MT"/>
              </a:rPr>
              <a:t> </a:t>
            </a:r>
            <a:r>
              <a:rPr sz="1800" i="1" dirty="0">
                <a:solidFill>
                  <a:srgbClr val="FF0000"/>
                </a:solidFill>
                <a:latin typeface="Arial"/>
                <a:cs typeface="Arial"/>
              </a:rPr>
              <a:t>n</a:t>
            </a:r>
            <a:r>
              <a:rPr sz="1800" i="1" spc="-25" dirty="0">
                <a:solidFill>
                  <a:srgbClr val="FF0000"/>
                </a:solidFill>
                <a:latin typeface="Arial"/>
                <a:cs typeface="Arial"/>
              </a:rPr>
              <a:t> </a:t>
            </a:r>
            <a:r>
              <a:rPr sz="1800" dirty="0">
                <a:solidFill>
                  <a:srgbClr val="FF0000"/>
                </a:solidFill>
                <a:latin typeface="Arial MT"/>
                <a:cs typeface="Arial MT"/>
              </a:rPr>
              <a:t>bits</a:t>
            </a:r>
            <a:r>
              <a:rPr sz="1800" spc="-10" dirty="0">
                <a:solidFill>
                  <a:srgbClr val="FF0000"/>
                </a:solidFill>
                <a:latin typeface="Arial MT"/>
                <a:cs typeface="Arial MT"/>
              </a:rPr>
              <a:t> </a:t>
            </a:r>
            <a:r>
              <a:rPr sz="1800" dirty="0">
                <a:solidFill>
                  <a:srgbClr val="FF0000"/>
                </a:solidFill>
                <a:latin typeface="Arial MT"/>
                <a:cs typeface="Arial MT"/>
              </a:rPr>
              <a:t>designate</a:t>
            </a:r>
            <a:r>
              <a:rPr sz="1800" spc="5" dirty="0">
                <a:solidFill>
                  <a:srgbClr val="FF0000"/>
                </a:solidFill>
                <a:latin typeface="Arial MT"/>
                <a:cs typeface="Arial MT"/>
              </a:rPr>
              <a:t> </a:t>
            </a:r>
            <a:r>
              <a:rPr sz="1800" dirty="0">
                <a:solidFill>
                  <a:srgbClr val="FF0000"/>
                </a:solidFill>
                <a:latin typeface="Arial MT"/>
                <a:cs typeface="Arial MT"/>
              </a:rPr>
              <a:t>the</a:t>
            </a:r>
            <a:r>
              <a:rPr sz="1800" spc="-30" dirty="0">
                <a:solidFill>
                  <a:srgbClr val="FF0000"/>
                </a:solidFill>
                <a:latin typeface="Arial MT"/>
                <a:cs typeface="Arial MT"/>
              </a:rPr>
              <a:t> </a:t>
            </a:r>
            <a:r>
              <a:rPr sz="1800" dirty="0">
                <a:solidFill>
                  <a:srgbClr val="FF0000"/>
                </a:solidFill>
                <a:latin typeface="Arial MT"/>
                <a:cs typeface="Arial MT"/>
              </a:rPr>
              <a:t>page</a:t>
            </a:r>
            <a:r>
              <a:rPr sz="1800" spc="-15" dirty="0">
                <a:solidFill>
                  <a:srgbClr val="FF0000"/>
                </a:solidFill>
                <a:latin typeface="Arial MT"/>
                <a:cs typeface="Arial MT"/>
              </a:rPr>
              <a:t> </a:t>
            </a:r>
            <a:r>
              <a:rPr sz="1800" dirty="0">
                <a:solidFill>
                  <a:srgbClr val="FF0000"/>
                </a:solidFill>
                <a:latin typeface="Arial MT"/>
                <a:cs typeface="Arial MT"/>
              </a:rPr>
              <a:t>offset</a:t>
            </a:r>
            <a:r>
              <a:rPr sz="1800" spc="-20" dirty="0">
                <a:solidFill>
                  <a:srgbClr val="FF0000"/>
                </a:solidFill>
                <a:latin typeface="Arial MT"/>
                <a:cs typeface="Arial MT"/>
              </a:rPr>
              <a:t> </a:t>
            </a:r>
            <a:r>
              <a:rPr sz="1800" i="1" spc="-50" dirty="0">
                <a:solidFill>
                  <a:srgbClr val="FF0000"/>
                </a:solidFill>
                <a:latin typeface="Arial"/>
                <a:cs typeface="Arial"/>
              </a:rPr>
              <a:t>d</a:t>
            </a:r>
            <a:endParaRPr sz="1800">
              <a:latin typeface="Arial"/>
              <a:cs typeface="Arial"/>
            </a:endParaRPr>
          </a:p>
          <a:p>
            <a:pPr marL="1569085">
              <a:lnSpc>
                <a:spcPct val="100000"/>
              </a:lnSpc>
              <a:spcBef>
                <a:spcPts val="755"/>
              </a:spcBef>
              <a:tabLst>
                <a:tab pos="1797685" algn="l"/>
              </a:tabLst>
            </a:pPr>
            <a:r>
              <a:rPr sz="1350" spc="-50" dirty="0">
                <a:solidFill>
                  <a:srgbClr val="FF0066"/>
                </a:solidFill>
                <a:latin typeface="Arial MT"/>
                <a:cs typeface="Arial MT"/>
              </a:rPr>
              <a:t>»</a:t>
            </a:r>
            <a:r>
              <a:rPr sz="1350" dirty="0">
                <a:solidFill>
                  <a:srgbClr val="FF0066"/>
                </a:solidFill>
                <a:latin typeface="Arial MT"/>
                <a:cs typeface="Arial MT"/>
              </a:rPr>
              <a:t>	</a:t>
            </a:r>
            <a:r>
              <a:rPr sz="1800" b="1" i="1" dirty="0">
                <a:solidFill>
                  <a:srgbClr val="FF0000"/>
                </a:solidFill>
                <a:latin typeface="Arial"/>
                <a:cs typeface="Arial"/>
              </a:rPr>
              <a:t>d</a:t>
            </a:r>
            <a:r>
              <a:rPr sz="1800" b="1" i="1" spc="-15" dirty="0">
                <a:solidFill>
                  <a:srgbClr val="FF0000"/>
                </a:solidFill>
                <a:latin typeface="Arial"/>
                <a:cs typeface="Arial"/>
              </a:rPr>
              <a:t> </a:t>
            </a:r>
            <a:r>
              <a:rPr sz="1800" b="1" dirty="0">
                <a:solidFill>
                  <a:srgbClr val="FF0000"/>
                </a:solidFill>
                <a:latin typeface="Arial"/>
                <a:cs typeface="Arial"/>
              </a:rPr>
              <a:t>is</a:t>
            </a:r>
            <a:r>
              <a:rPr sz="1800" b="1" spc="-5" dirty="0">
                <a:solidFill>
                  <a:srgbClr val="FF0000"/>
                </a:solidFill>
                <a:latin typeface="Arial"/>
                <a:cs typeface="Arial"/>
              </a:rPr>
              <a:t> </a:t>
            </a:r>
            <a:r>
              <a:rPr sz="1800" b="1" dirty="0">
                <a:solidFill>
                  <a:srgbClr val="FF0000"/>
                </a:solidFill>
                <a:latin typeface="Arial"/>
                <a:cs typeface="Arial"/>
              </a:rPr>
              <a:t>displacement</a:t>
            </a:r>
            <a:r>
              <a:rPr sz="1800" b="1" spc="-5" dirty="0">
                <a:solidFill>
                  <a:srgbClr val="FF0000"/>
                </a:solidFill>
                <a:latin typeface="Arial"/>
                <a:cs typeface="Arial"/>
              </a:rPr>
              <a:t> </a:t>
            </a:r>
            <a:r>
              <a:rPr sz="1800" b="1" dirty="0">
                <a:solidFill>
                  <a:srgbClr val="FF0000"/>
                </a:solidFill>
                <a:latin typeface="Arial"/>
                <a:cs typeface="Arial"/>
              </a:rPr>
              <a:t>within</a:t>
            </a:r>
            <a:r>
              <a:rPr sz="1800" b="1" spc="-45" dirty="0">
                <a:solidFill>
                  <a:srgbClr val="FF0000"/>
                </a:solidFill>
                <a:latin typeface="Arial"/>
                <a:cs typeface="Arial"/>
              </a:rPr>
              <a:t> </a:t>
            </a:r>
            <a:r>
              <a:rPr sz="1800" b="1" dirty="0">
                <a:solidFill>
                  <a:srgbClr val="FF0000"/>
                </a:solidFill>
                <a:latin typeface="Arial"/>
                <a:cs typeface="Arial"/>
              </a:rPr>
              <a:t>the</a:t>
            </a:r>
            <a:r>
              <a:rPr sz="1800" b="1" spc="-5" dirty="0">
                <a:solidFill>
                  <a:srgbClr val="FF0000"/>
                </a:solidFill>
                <a:latin typeface="Arial"/>
                <a:cs typeface="Arial"/>
              </a:rPr>
              <a:t> </a:t>
            </a:r>
            <a:r>
              <a:rPr sz="1800" b="1" spc="-20" dirty="0">
                <a:solidFill>
                  <a:srgbClr val="FF0000"/>
                </a:solidFill>
                <a:latin typeface="Arial"/>
                <a:cs typeface="Arial"/>
              </a:rPr>
              <a:t>page</a:t>
            </a:r>
            <a:endParaRPr sz="1800">
              <a:latin typeface="Arial"/>
              <a:cs typeface="Arial"/>
            </a:endParaRPr>
          </a:p>
        </p:txBody>
      </p:sp>
      <p:graphicFrame>
        <p:nvGraphicFramePr>
          <p:cNvPr id="4" name="object 4"/>
          <p:cNvGraphicFramePr>
            <a:graphicFrameLocks noGrp="1"/>
          </p:cNvGraphicFramePr>
          <p:nvPr/>
        </p:nvGraphicFramePr>
        <p:xfrm>
          <a:off x="427161" y="5308926"/>
          <a:ext cx="8185784" cy="884555"/>
        </p:xfrm>
        <a:graphic>
          <a:graphicData uri="http://schemas.openxmlformats.org/drawingml/2006/table">
            <a:tbl>
              <a:tblPr firstRow="1" bandRow="1">
                <a:tableStyleId>{2D5ABB26-0587-4C30-8999-92F81FD0307C}</a:tableStyleId>
              </a:tblPr>
              <a:tblGrid>
                <a:gridCol w="4363720">
                  <a:extLst>
                    <a:ext uri="{9D8B030D-6E8A-4147-A177-3AD203B41FA5}">
                      <a16:colId xmlns:a16="http://schemas.microsoft.com/office/drawing/2014/main" val="20000"/>
                    </a:ext>
                  </a:extLst>
                </a:gridCol>
                <a:gridCol w="3822064">
                  <a:extLst>
                    <a:ext uri="{9D8B030D-6E8A-4147-A177-3AD203B41FA5}">
                      <a16:colId xmlns:a16="http://schemas.microsoft.com/office/drawing/2014/main" val="20001"/>
                    </a:ext>
                  </a:extLst>
                </a:gridCol>
              </a:tblGrid>
              <a:tr h="376555">
                <a:tc>
                  <a:txBody>
                    <a:bodyPr/>
                    <a:lstStyle/>
                    <a:p>
                      <a:pPr marL="530225">
                        <a:lnSpc>
                          <a:spcPct val="100000"/>
                        </a:lnSpc>
                        <a:spcBef>
                          <a:spcPts val="185"/>
                        </a:spcBef>
                        <a:tabLst>
                          <a:tab pos="2053589" algn="l"/>
                        </a:tabLst>
                      </a:pPr>
                      <a:r>
                        <a:rPr sz="2050" spc="1500" dirty="0">
                          <a:latin typeface="Arial MT"/>
                          <a:cs typeface="Arial MT"/>
                        </a:rPr>
                        <a:t>page</a:t>
                      </a:r>
                      <a:r>
                        <a:rPr sz="2050" dirty="0">
                          <a:latin typeface="Arial MT"/>
                          <a:cs typeface="Arial MT"/>
                        </a:rPr>
                        <a:t>	</a:t>
                      </a:r>
                      <a:r>
                        <a:rPr sz="2050" spc="1530" dirty="0">
                          <a:latin typeface="Arial MT"/>
                          <a:cs typeface="Arial MT"/>
                        </a:rPr>
                        <a:t>number</a:t>
                      </a:r>
                      <a:endParaRPr sz="2050">
                        <a:latin typeface="Arial MT"/>
                        <a:cs typeface="Arial MT"/>
                      </a:endParaRPr>
                    </a:p>
                  </a:txBody>
                  <a:tcPr marL="0" marR="0" marT="23495" marB="0">
                    <a:lnR w="38100">
                      <a:solidFill>
                        <a:srgbClr val="000000"/>
                      </a:solidFill>
                      <a:prstDash val="solid"/>
                    </a:lnR>
                    <a:lnB w="12700">
                      <a:solidFill>
                        <a:srgbClr val="000000"/>
                      </a:solidFill>
                      <a:prstDash val="solid"/>
                    </a:lnB>
                  </a:tcPr>
                </a:tc>
                <a:tc>
                  <a:txBody>
                    <a:bodyPr/>
                    <a:lstStyle/>
                    <a:p>
                      <a:pPr marL="340995">
                        <a:lnSpc>
                          <a:spcPct val="100000"/>
                        </a:lnSpc>
                        <a:spcBef>
                          <a:spcPts val="130"/>
                        </a:spcBef>
                        <a:tabLst>
                          <a:tab pos="1864360" algn="l"/>
                        </a:tabLst>
                      </a:pPr>
                      <a:r>
                        <a:rPr sz="2050" spc="1500" dirty="0">
                          <a:latin typeface="Arial MT"/>
                          <a:cs typeface="Arial MT"/>
                        </a:rPr>
                        <a:t>page</a:t>
                      </a:r>
                      <a:r>
                        <a:rPr sz="2050" dirty="0">
                          <a:latin typeface="Arial MT"/>
                          <a:cs typeface="Arial MT"/>
                        </a:rPr>
                        <a:t>	</a:t>
                      </a:r>
                      <a:r>
                        <a:rPr sz="2050" spc="1090" dirty="0">
                          <a:latin typeface="Arial MT"/>
                          <a:cs typeface="Arial MT"/>
                        </a:rPr>
                        <a:t>offset</a:t>
                      </a:r>
                      <a:endParaRPr sz="2050">
                        <a:latin typeface="Arial MT"/>
                        <a:cs typeface="Arial MT"/>
                      </a:endParaRPr>
                    </a:p>
                  </a:txBody>
                  <a:tcPr marL="0" marR="0" marT="16510" marB="0">
                    <a:lnL w="38100">
                      <a:solidFill>
                        <a:srgbClr val="000000"/>
                      </a:solidFill>
                      <a:prstDash val="solid"/>
                    </a:lnL>
                    <a:lnB w="12700">
                      <a:solidFill>
                        <a:srgbClr val="000000"/>
                      </a:solidFill>
                      <a:prstDash val="solid"/>
                    </a:lnB>
                  </a:tcPr>
                </a:tc>
                <a:extLst>
                  <a:ext uri="{0D108BD9-81ED-4DB2-BD59-A6C34878D82A}">
                    <a16:rowId xmlns:a16="http://schemas.microsoft.com/office/drawing/2014/main" val="10000"/>
                  </a:ext>
                </a:extLst>
              </a:tr>
              <a:tr h="508000">
                <a:tc>
                  <a:txBody>
                    <a:bodyPr/>
                    <a:lstStyle/>
                    <a:p>
                      <a:pPr marR="616585" algn="ctr">
                        <a:lnSpc>
                          <a:spcPct val="100000"/>
                        </a:lnSpc>
                        <a:spcBef>
                          <a:spcPts val="660"/>
                        </a:spcBef>
                      </a:pPr>
                      <a:r>
                        <a:rPr sz="2050" spc="1450" dirty="0">
                          <a:latin typeface="Arial MT"/>
                          <a:cs typeface="Arial MT"/>
                        </a:rPr>
                        <a:t>p</a:t>
                      </a:r>
                      <a:endParaRPr sz="2050">
                        <a:latin typeface="Arial MT"/>
                        <a:cs typeface="Arial MT"/>
                      </a:endParaRPr>
                    </a:p>
                  </a:txBody>
                  <a:tcPr marL="0" marR="0" marT="83820" marB="0">
                    <a:lnL w="28575">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R="491490" algn="ctr">
                        <a:lnSpc>
                          <a:spcPct val="100000"/>
                        </a:lnSpc>
                        <a:spcBef>
                          <a:spcPts val="925"/>
                        </a:spcBef>
                      </a:pPr>
                      <a:r>
                        <a:rPr sz="2050" spc="1450" dirty="0">
                          <a:latin typeface="Arial MT"/>
                          <a:cs typeface="Arial MT"/>
                        </a:rPr>
                        <a:t>d</a:t>
                      </a:r>
                      <a:endParaRPr sz="2050">
                        <a:latin typeface="Arial MT"/>
                        <a:cs typeface="Arial MT"/>
                      </a:endParaRPr>
                    </a:p>
                  </a:txBody>
                  <a:tcPr marL="0" marR="0" marT="117475" marB="0">
                    <a:lnL w="381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1"/>
                  </a:ext>
                </a:extLst>
              </a:tr>
            </a:tbl>
          </a:graphicData>
        </a:graphic>
      </p:graphicFrame>
      <p:sp>
        <p:nvSpPr>
          <p:cNvPr id="5" name="object 5"/>
          <p:cNvSpPr txBox="1"/>
          <p:nvPr/>
        </p:nvSpPr>
        <p:spPr>
          <a:xfrm>
            <a:off x="1736111" y="6276656"/>
            <a:ext cx="1233170" cy="344170"/>
          </a:xfrm>
          <a:prstGeom prst="rect">
            <a:avLst/>
          </a:prstGeom>
        </p:spPr>
        <p:txBody>
          <a:bodyPr vert="horz" wrap="square" lIns="0" tIns="17145" rIns="0" bIns="0" rtlCol="0">
            <a:spAutoFit/>
          </a:bodyPr>
          <a:lstStyle/>
          <a:p>
            <a:pPr marL="12700">
              <a:lnSpc>
                <a:spcPct val="100000"/>
              </a:lnSpc>
              <a:spcBef>
                <a:spcPts val="135"/>
              </a:spcBef>
              <a:tabLst>
                <a:tab pos="681990" algn="l"/>
              </a:tabLst>
            </a:pPr>
            <a:r>
              <a:rPr sz="2050" spc="2190" dirty="0">
                <a:latin typeface="Arial MT"/>
                <a:cs typeface="Arial MT"/>
              </a:rPr>
              <a:t>m</a:t>
            </a:r>
            <a:r>
              <a:rPr sz="2050" dirty="0">
                <a:latin typeface="Arial MT"/>
                <a:cs typeface="Arial MT"/>
              </a:rPr>
              <a:t>	</a:t>
            </a:r>
            <a:r>
              <a:rPr sz="2050" spc="900" dirty="0">
                <a:latin typeface="Arial MT"/>
                <a:cs typeface="Arial MT"/>
              </a:rPr>
              <a:t>-</a:t>
            </a:r>
            <a:r>
              <a:rPr sz="2050" spc="1450" dirty="0">
                <a:latin typeface="Arial MT"/>
                <a:cs typeface="Arial MT"/>
              </a:rPr>
              <a:t>n</a:t>
            </a:r>
            <a:endParaRPr sz="2050">
              <a:latin typeface="Arial MT"/>
              <a:cs typeface="Arial MT"/>
            </a:endParaRPr>
          </a:p>
        </p:txBody>
      </p:sp>
      <p:sp>
        <p:nvSpPr>
          <p:cNvPr id="6" name="object 6"/>
          <p:cNvSpPr txBox="1"/>
          <p:nvPr/>
        </p:nvSpPr>
        <p:spPr>
          <a:xfrm>
            <a:off x="6331860" y="6288419"/>
            <a:ext cx="361315" cy="344170"/>
          </a:xfrm>
          <a:prstGeom prst="rect">
            <a:avLst/>
          </a:prstGeom>
        </p:spPr>
        <p:txBody>
          <a:bodyPr vert="horz" wrap="square" lIns="0" tIns="17145" rIns="0" bIns="0" rtlCol="0">
            <a:spAutoFit/>
          </a:bodyPr>
          <a:lstStyle/>
          <a:p>
            <a:pPr marL="12700">
              <a:lnSpc>
                <a:spcPct val="100000"/>
              </a:lnSpc>
              <a:spcBef>
                <a:spcPts val="135"/>
              </a:spcBef>
            </a:pPr>
            <a:r>
              <a:rPr sz="2050" spc="1450" dirty="0">
                <a:latin typeface="Arial MT"/>
                <a:cs typeface="Arial MT"/>
              </a:rPr>
              <a:t>n</a:t>
            </a:r>
            <a:endParaRPr sz="205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EE75A-3C6E-3556-C1AF-5EE9B149358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2C656B5-2860-E17A-3CCB-CBB604AA67CA}"/>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FBE13B0F-35E9-9492-115F-12E2F02E417B}"/>
              </a:ext>
            </a:extLst>
          </p:cNvPr>
          <p:cNvPicPr>
            <a:picLocks noChangeAspect="1"/>
          </p:cNvPicPr>
          <p:nvPr/>
        </p:nvPicPr>
        <p:blipFill>
          <a:blip r:embed="rId2"/>
          <a:stretch>
            <a:fillRect/>
          </a:stretch>
        </p:blipFill>
        <p:spPr>
          <a:xfrm>
            <a:off x="99388" y="1395128"/>
            <a:ext cx="8945223" cy="4067743"/>
          </a:xfrm>
          <a:prstGeom prst="rect">
            <a:avLst/>
          </a:prstGeom>
        </p:spPr>
      </p:pic>
    </p:spTree>
    <p:extLst>
      <p:ext uri="{BB962C8B-B14F-4D97-AF65-F5344CB8AC3E}">
        <p14:creationId xmlns:p14="http://schemas.microsoft.com/office/powerpoint/2010/main" val="3205652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40FE-82EB-7FF4-376B-45E67FFE4E53}"/>
              </a:ext>
            </a:extLst>
          </p:cNvPr>
          <p:cNvSpPr>
            <a:spLocks noGrp="1"/>
          </p:cNvSpPr>
          <p:nvPr>
            <p:ph type="title"/>
          </p:nvPr>
        </p:nvSpPr>
        <p:spPr/>
        <p:txBody>
          <a:bodyPr/>
          <a:lstStyle/>
          <a:p>
            <a:endParaRPr lang="en-US"/>
          </a:p>
        </p:txBody>
      </p:sp>
      <p:sp>
        <p:nvSpPr>
          <p:cNvPr id="4" name="Rectangle 1">
            <a:extLst>
              <a:ext uri="{FF2B5EF4-FFF2-40B4-BE49-F238E27FC236}">
                <a16:creationId xmlns:a16="http://schemas.microsoft.com/office/drawing/2014/main" id="{0319261B-F4DD-812D-A889-F2485D4183FF}"/>
              </a:ext>
            </a:extLst>
          </p:cNvPr>
          <p:cNvSpPr>
            <a:spLocks noGrp="1" noChangeArrowheads="1"/>
          </p:cNvSpPr>
          <p:nvPr>
            <p:ph type="body" idx="1"/>
          </p:nvPr>
        </p:nvSpPr>
        <p:spPr bwMode="auto">
          <a:xfrm>
            <a:off x="609600" y="1467938"/>
            <a:ext cx="663409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logical address</a:t>
            </a:r>
            <a:r>
              <a:rPr kumimoji="0" lang="en-US" altLang="en-US" sz="1800" b="0" i="0" u="none" strike="noStrike" cap="none" normalizeH="0" baseline="0" dirty="0">
                <a:ln>
                  <a:noFill/>
                </a:ln>
                <a:solidFill>
                  <a:schemeClr val="tx1"/>
                </a:solidFill>
                <a:effectLst/>
                <a:latin typeface="Arial" panose="020B0604020202020204" pitchFamily="34" charset="0"/>
              </a:rPr>
              <a:t> (or virtual address) generated by the CPU is divided into: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Page number (p):</a:t>
            </a:r>
            <a:r>
              <a:rPr kumimoji="0" lang="en-US" altLang="en-US" sz="1800" b="0" i="0" u="none" strike="noStrike" cap="none" normalizeH="0" baseline="0" dirty="0">
                <a:ln>
                  <a:noFill/>
                </a:ln>
                <a:solidFill>
                  <a:schemeClr val="tx1"/>
                </a:solidFill>
                <a:effectLst/>
                <a:latin typeface="Arial" panose="020B0604020202020204" pitchFamily="34" charset="0"/>
              </a:rPr>
              <a:t> identifies which page the address refers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Page offset (d):</a:t>
            </a:r>
            <a:r>
              <a:rPr kumimoji="0" lang="en-US" altLang="en-US" sz="1800" b="0" i="0" u="none" strike="noStrike" cap="none" normalizeH="0" baseline="0" dirty="0">
                <a:ln>
                  <a:noFill/>
                </a:ln>
                <a:solidFill>
                  <a:schemeClr val="tx1"/>
                </a:solidFill>
                <a:effectLst/>
                <a:latin typeface="Arial" panose="020B0604020202020204" pitchFamily="34" charset="0"/>
              </a:rPr>
              <a:t> the offset within that page.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logical address space is assumed to be of size 2^m.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Page size is 2^n.</a:t>
            </a: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t>Number of pages = 2^m / 2^n = 2^{m-n}</a:t>
            </a:r>
          </a:p>
          <a:p>
            <a:pPr marL="0" marR="0" lvl="0" indent="0" algn="l" defTabSz="914400" rtl="0" eaLnBrk="0" fontAlgn="base" latinLnBrk="0" hangingPunct="0">
              <a:lnSpc>
                <a:spcPct val="100000"/>
              </a:lnSpc>
              <a:spcBef>
                <a:spcPct val="0"/>
              </a:spcBef>
              <a:spcAft>
                <a:spcPct val="0"/>
              </a:spcAft>
              <a:buClrTx/>
              <a:buSzTx/>
              <a:tabLst/>
            </a:pPr>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9B59A5A-97A8-D247-00D9-3F04F6C2051F}"/>
              </a:ext>
            </a:extLst>
          </p:cNvPr>
          <p:cNvSpPr>
            <a:spLocks noChangeArrowheads="1"/>
          </p:cNvSpPr>
          <p:nvPr/>
        </p:nvSpPr>
        <p:spPr bwMode="auto">
          <a:xfrm>
            <a:off x="685800" y="3798838"/>
            <a:ext cx="64267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Logical address space: 2^{10} → needs 10 bits to represent.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Page size: 2^3 → 3 bits for offset.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m−n=7 → 7 bits for </a:t>
            </a:r>
            <a:r>
              <a:rPr kumimoji="0" lang="en-US" altLang="en-US" sz="1800" b="1" i="0" u="none" strike="noStrike" cap="none" normalizeH="0" baseline="0" dirty="0">
                <a:ln>
                  <a:noFill/>
                </a:ln>
                <a:solidFill>
                  <a:schemeClr val="tx1"/>
                </a:solidFill>
                <a:effectLst/>
                <a:latin typeface="Arial" panose="020B0604020202020204" pitchFamily="34" charset="0"/>
              </a:rPr>
              <a:t>page number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Total number of pages = 2^7 = 128</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4953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128775"/>
            <a:ext cx="8801100" cy="5557774"/>
          </a:xfrm>
          <a:prstGeom prst="rect">
            <a:avLst/>
          </a:prstGeom>
        </p:spPr>
      </p:pic>
      <p:sp>
        <p:nvSpPr>
          <p:cNvPr id="3" name="object 3"/>
          <p:cNvSpPr txBox="1">
            <a:spLocks noGrp="1"/>
          </p:cNvSpPr>
          <p:nvPr>
            <p:ph type="title"/>
          </p:nvPr>
        </p:nvSpPr>
        <p:spPr>
          <a:prstGeom prst="rect">
            <a:avLst/>
          </a:prstGeom>
        </p:spPr>
        <p:txBody>
          <a:bodyPr vert="horz" wrap="square" lIns="0" tIns="90424" rIns="0" bIns="0" rtlCol="0">
            <a:spAutoFit/>
          </a:bodyPr>
          <a:lstStyle/>
          <a:p>
            <a:pPr marL="3002280">
              <a:lnSpc>
                <a:spcPct val="100000"/>
              </a:lnSpc>
              <a:spcBef>
                <a:spcPts val="100"/>
              </a:spcBef>
            </a:pPr>
            <a:r>
              <a:rPr dirty="0">
                <a:solidFill>
                  <a:srgbClr val="006699"/>
                </a:solidFill>
              </a:rPr>
              <a:t>Paging</a:t>
            </a:r>
            <a:r>
              <a:rPr spc="-40" dirty="0">
                <a:solidFill>
                  <a:srgbClr val="006699"/>
                </a:solidFill>
              </a:rPr>
              <a:t> </a:t>
            </a:r>
            <a:r>
              <a:rPr spc="-10" dirty="0">
                <a:solidFill>
                  <a:srgbClr val="006699"/>
                </a:solidFill>
              </a:rPr>
              <a:t>Hardware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29</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043050"/>
            <a:ext cx="8801100" cy="5643499"/>
          </a:xfrm>
          <a:prstGeom prst="rect">
            <a:avLst/>
          </a:prstGeom>
        </p:spPr>
      </p:pic>
      <p:sp>
        <p:nvSpPr>
          <p:cNvPr id="3" name="object 3"/>
          <p:cNvSpPr txBox="1">
            <a:spLocks noGrp="1"/>
          </p:cNvSpPr>
          <p:nvPr>
            <p:ph type="title"/>
          </p:nvPr>
        </p:nvSpPr>
        <p:spPr>
          <a:xfrm>
            <a:off x="1658239" y="258826"/>
            <a:ext cx="6806565" cy="391160"/>
          </a:xfrm>
          <a:prstGeom prst="rect">
            <a:avLst/>
          </a:prstGeom>
        </p:spPr>
        <p:txBody>
          <a:bodyPr vert="horz" wrap="square" lIns="0" tIns="12700" rIns="0" bIns="0" rtlCol="0">
            <a:spAutoFit/>
          </a:bodyPr>
          <a:lstStyle/>
          <a:p>
            <a:pPr marL="12700">
              <a:lnSpc>
                <a:spcPct val="100000"/>
              </a:lnSpc>
              <a:spcBef>
                <a:spcPts val="100"/>
              </a:spcBef>
              <a:tabLst>
                <a:tab pos="4305300" algn="l"/>
              </a:tabLst>
            </a:pPr>
            <a:r>
              <a:rPr sz="2400" dirty="0">
                <a:solidFill>
                  <a:srgbClr val="006699"/>
                </a:solidFill>
              </a:rPr>
              <a:t>Paging</a:t>
            </a:r>
            <a:r>
              <a:rPr sz="2400" spc="-25" dirty="0">
                <a:solidFill>
                  <a:srgbClr val="006699"/>
                </a:solidFill>
              </a:rPr>
              <a:t> </a:t>
            </a:r>
            <a:r>
              <a:rPr sz="2400" dirty="0">
                <a:solidFill>
                  <a:srgbClr val="006699"/>
                </a:solidFill>
              </a:rPr>
              <a:t>Model</a:t>
            </a:r>
            <a:r>
              <a:rPr sz="2400" spc="-30" dirty="0">
                <a:solidFill>
                  <a:srgbClr val="006699"/>
                </a:solidFill>
              </a:rPr>
              <a:t> </a:t>
            </a:r>
            <a:r>
              <a:rPr sz="2400" dirty="0">
                <a:solidFill>
                  <a:srgbClr val="006699"/>
                </a:solidFill>
              </a:rPr>
              <a:t>of</a:t>
            </a:r>
            <a:r>
              <a:rPr sz="2400" spc="-15" dirty="0">
                <a:solidFill>
                  <a:srgbClr val="006699"/>
                </a:solidFill>
              </a:rPr>
              <a:t> </a:t>
            </a:r>
            <a:r>
              <a:rPr sz="2400" dirty="0">
                <a:solidFill>
                  <a:srgbClr val="006699"/>
                </a:solidFill>
              </a:rPr>
              <a:t>Logical</a:t>
            </a:r>
            <a:r>
              <a:rPr sz="2400" spc="-30" dirty="0">
                <a:solidFill>
                  <a:srgbClr val="006699"/>
                </a:solidFill>
              </a:rPr>
              <a:t> </a:t>
            </a:r>
            <a:r>
              <a:rPr sz="2400" spc="-25" dirty="0">
                <a:solidFill>
                  <a:srgbClr val="006699"/>
                </a:solidFill>
              </a:rPr>
              <a:t>and</a:t>
            </a:r>
            <a:r>
              <a:rPr sz="2400" dirty="0">
                <a:solidFill>
                  <a:srgbClr val="006699"/>
                </a:solidFill>
              </a:rPr>
              <a:t>	Physical</a:t>
            </a:r>
            <a:r>
              <a:rPr sz="2400" spc="-35" dirty="0">
                <a:solidFill>
                  <a:srgbClr val="006699"/>
                </a:solidFill>
              </a:rPr>
              <a:t> </a:t>
            </a:r>
            <a:r>
              <a:rPr sz="2400" spc="-10" dirty="0">
                <a:solidFill>
                  <a:srgbClr val="006699"/>
                </a:solidFill>
              </a:rPr>
              <a:t>Memory</a:t>
            </a:r>
            <a:endParaRPr sz="24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30</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5737" y="2100262"/>
            <a:ext cx="8772525" cy="4518025"/>
          </a:xfrm>
          <a:prstGeom prst="rect">
            <a:avLst/>
          </a:prstGeom>
        </p:spPr>
      </p:pic>
      <p:sp>
        <p:nvSpPr>
          <p:cNvPr id="3" name="object 3"/>
          <p:cNvSpPr txBox="1">
            <a:spLocks noGrp="1"/>
          </p:cNvSpPr>
          <p:nvPr>
            <p:ph type="title"/>
          </p:nvPr>
        </p:nvSpPr>
        <p:spPr>
          <a:prstGeom prst="rect">
            <a:avLst/>
          </a:prstGeom>
        </p:spPr>
        <p:txBody>
          <a:bodyPr vert="horz" wrap="square" lIns="0" tIns="90424" rIns="0" bIns="0" rtlCol="0">
            <a:spAutoFit/>
          </a:bodyPr>
          <a:lstStyle/>
          <a:p>
            <a:pPr marL="2900680">
              <a:lnSpc>
                <a:spcPct val="100000"/>
              </a:lnSpc>
              <a:spcBef>
                <a:spcPts val="100"/>
              </a:spcBef>
            </a:pPr>
            <a:r>
              <a:rPr dirty="0">
                <a:solidFill>
                  <a:srgbClr val="006699"/>
                </a:solidFill>
              </a:rPr>
              <a:t>Paging</a:t>
            </a:r>
            <a:r>
              <a:rPr spc="-40" dirty="0">
                <a:solidFill>
                  <a:srgbClr val="006699"/>
                </a:solidFill>
              </a:rPr>
              <a:t> </a:t>
            </a:r>
            <a:r>
              <a:rPr spc="-10" dirty="0">
                <a:solidFill>
                  <a:srgbClr val="006699"/>
                </a:solidFill>
              </a:rPr>
              <a:t>Example</a:t>
            </a: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31</a:t>
            </a:fld>
            <a:endParaRPr spc="-20" dirty="0"/>
          </a:p>
        </p:txBody>
      </p:sp>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4" name="object 4"/>
          <p:cNvSpPr txBox="1"/>
          <p:nvPr/>
        </p:nvSpPr>
        <p:spPr>
          <a:xfrm>
            <a:off x="264668" y="933399"/>
            <a:ext cx="7842884" cy="269240"/>
          </a:xfrm>
          <a:prstGeom prst="rect">
            <a:avLst/>
          </a:prstGeom>
        </p:spPr>
        <p:txBody>
          <a:bodyPr vert="horz" wrap="square" lIns="0" tIns="12065" rIns="0" bIns="0" rtlCol="0">
            <a:spAutoFit/>
          </a:bodyPr>
          <a:lstStyle/>
          <a:p>
            <a:pPr marL="299085" indent="-286385">
              <a:lnSpc>
                <a:spcPct val="100000"/>
              </a:lnSpc>
              <a:spcBef>
                <a:spcPts val="95"/>
              </a:spcBef>
              <a:buFont typeface="Wingdings"/>
              <a:buChar char=""/>
              <a:tabLst>
                <a:tab pos="299085" algn="l"/>
              </a:tabLst>
            </a:pPr>
            <a:r>
              <a:rPr sz="1600" dirty="0">
                <a:latin typeface="Arial MT"/>
                <a:cs typeface="Arial MT"/>
              </a:rPr>
              <a:t>Example:</a:t>
            </a:r>
            <a:r>
              <a:rPr sz="1600" spc="-10" dirty="0">
                <a:latin typeface="Arial MT"/>
                <a:cs typeface="Arial MT"/>
              </a:rPr>
              <a:t> </a:t>
            </a:r>
            <a:r>
              <a:rPr sz="1600" i="1" dirty="0">
                <a:latin typeface="Arial"/>
                <a:cs typeface="Arial"/>
              </a:rPr>
              <a:t>n</a:t>
            </a:r>
            <a:r>
              <a:rPr sz="1600" i="1" spc="-20" dirty="0">
                <a:latin typeface="Arial"/>
                <a:cs typeface="Arial"/>
              </a:rPr>
              <a:t> </a:t>
            </a:r>
            <a:r>
              <a:rPr sz="1600" dirty="0">
                <a:latin typeface="Arial MT"/>
                <a:cs typeface="Arial MT"/>
              </a:rPr>
              <a:t>=</a:t>
            </a:r>
            <a:r>
              <a:rPr sz="1600" spc="-5" dirty="0">
                <a:latin typeface="Arial MT"/>
                <a:cs typeface="Arial MT"/>
              </a:rPr>
              <a:t> </a:t>
            </a:r>
            <a:r>
              <a:rPr sz="1600" dirty="0">
                <a:latin typeface="Arial MT"/>
                <a:cs typeface="Arial MT"/>
              </a:rPr>
              <a:t>2</a:t>
            </a:r>
            <a:r>
              <a:rPr sz="1600" spc="-20" dirty="0">
                <a:latin typeface="Arial MT"/>
                <a:cs typeface="Arial MT"/>
              </a:rPr>
              <a:t> </a:t>
            </a:r>
            <a:r>
              <a:rPr sz="1600" dirty="0">
                <a:latin typeface="Arial MT"/>
                <a:cs typeface="Arial MT"/>
              </a:rPr>
              <a:t>and</a:t>
            </a:r>
            <a:r>
              <a:rPr sz="1600" spc="-5" dirty="0">
                <a:latin typeface="Arial MT"/>
                <a:cs typeface="Arial MT"/>
              </a:rPr>
              <a:t> </a:t>
            </a:r>
            <a:r>
              <a:rPr sz="1600" i="1" dirty="0">
                <a:latin typeface="Arial"/>
                <a:cs typeface="Arial"/>
              </a:rPr>
              <a:t>m</a:t>
            </a:r>
            <a:r>
              <a:rPr sz="1600" i="1" spc="-5" dirty="0">
                <a:latin typeface="Arial"/>
                <a:cs typeface="Arial"/>
              </a:rPr>
              <a:t> </a:t>
            </a:r>
            <a:r>
              <a:rPr sz="1600" dirty="0">
                <a:latin typeface="Arial MT"/>
                <a:cs typeface="Arial MT"/>
              </a:rPr>
              <a:t>=</a:t>
            </a:r>
            <a:r>
              <a:rPr sz="1600" spc="-20" dirty="0">
                <a:latin typeface="Arial MT"/>
                <a:cs typeface="Arial MT"/>
              </a:rPr>
              <a:t> </a:t>
            </a:r>
            <a:r>
              <a:rPr sz="1600" dirty="0">
                <a:latin typeface="Arial MT"/>
                <a:cs typeface="Arial MT"/>
              </a:rPr>
              <a:t>4</a:t>
            </a:r>
            <a:r>
              <a:rPr sz="1600" spc="-5" dirty="0">
                <a:latin typeface="Arial MT"/>
                <a:cs typeface="Arial MT"/>
              </a:rPr>
              <a:t> </a:t>
            </a:r>
            <a:r>
              <a:rPr sz="1600" dirty="0">
                <a:latin typeface="Arial MT"/>
                <a:cs typeface="Arial MT"/>
              </a:rPr>
              <a:t>and</a:t>
            </a:r>
            <a:r>
              <a:rPr sz="1600" spc="-20" dirty="0">
                <a:latin typeface="Arial MT"/>
                <a:cs typeface="Arial MT"/>
              </a:rPr>
              <a:t> </a:t>
            </a:r>
            <a:r>
              <a:rPr sz="1600" dirty="0">
                <a:latin typeface="Arial MT"/>
                <a:cs typeface="Arial MT"/>
              </a:rPr>
              <a:t>using</a:t>
            </a:r>
            <a:r>
              <a:rPr sz="1600" spc="-30" dirty="0">
                <a:latin typeface="Arial MT"/>
                <a:cs typeface="Arial MT"/>
              </a:rPr>
              <a:t> </a:t>
            </a:r>
            <a:r>
              <a:rPr sz="1600" dirty="0">
                <a:latin typeface="Arial MT"/>
                <a:cs typeface="Arial MT"/>
              </a:rPr>
              <a:t>a</a:t>
            </a:r>
            <a:r>
              <a:rPr sz="1600" spc="-15" dirty="0">
                <a:latin typeface="Arial MT"/>
                <a:cs typeface="Arial MT"/>
              </a:rPr>
              <a:t> </a:t>
            </a:r>
            <a:r>
              <a:rPr sz="1600" spc="-10" dirty="0">
                <a:latin typeface="Arial MT"/>
                <a:cs typeface="Arial MT"/>
              </a:rPr>
              <a:t>32-</a:t>
            </a:r>
            <a:r>
              <a:rPr sz="1600" dirty="0">
                <a:latin typeface="Arial MT"/>
                <a:cs typeface="Arial MT"/>
              </a:rPr>
              <a:t>byte</a:t>
            </a:r>
            <a:r>
              <a:rPr sz="1600" spc="15" dirty="0">
                <a:latin typeface="Arial MT"/>
                <a:cs typeface="Arial MT"/>
              </a:rPr>
              <a:t> </a:t>
            </a:r>
            <a:r>
              <a:rPr sz="1600" dirty="0">
                <a:latin typeface="Arial MT"/>
                <a:cs typeface="Arial MT"/>
              </a:rPr>
              <a:t>memory</a:t>
            </a:r>
            <a:r>
              <a:rPr sz="1600" spc="5" dirty="0">
                <a:latin typeface="Arial MT"/>
                <a:cs typeface="Arial MT"/>
              </a:rPr>
              <a:t> </a:t>
            </a:r>
            <a:r>
              <a:rPr sz="1600" dirty="0">
                <a:latin typeface="Arial MT"/>
                <a:cs typeface="Arial MT"/>
              </a:rPr>
              <a:t>(</a:t>
            </a:r>
            <a:r>
              <a:rPr sz="1600" dirty="0">
                <a:solidFill>
                  <a:srgbClr val="FF0000"/>
                </a:solidFill>
                <a:latin typeface="Arial MT"/>
                <a:cs typeface="Arial MT"/>
              </a:rPr>
              <a:t>8</a:t>
            </a:r>
            <a:r>
              <a:rPr sz="1600" spc="-10" dirty="0">
                <a:solidFill>
                  <a:srgbClr val="FF0000"/>
                </a:solidFill>
                <a:latin typeface="Arial MT"/>
                <a:cs typeface="Arial MT"/>
              </a:rPr>
              <a:t> </a:t>
            </a:r>
            <a:r>
              <a:rPr sz="1600" dirty="0">
                <a:solidFill>
                  <a:srgbClr val="FF0000"/>
                </a:solidFill>
                <a:latin typeface="Arial MT"/>
                <a:cs typeface="Arial MT"/>
              </a:rPr>
              <a:t>pages</a:t>
            </a:r>
            <a:r>
              <a:rPr sz="1600" dirty="0">
                <a:latin typeface="Arial MT"/>
                <a:cs typeface="Arial MT"/>
              </a:rPr>
              <a:t>)</a:t>
            </a:r>
            <a:r>
              <a:rPr sz="1600" spc="-10" dirty="0">
                <a:latin typeface="Arial MT"/>
                <a:cs typeface="Arial MT"/>
              </a:rPr>
              <a:t> </a:t>
            </a:r>
            <a:r>
              <a:rPr sz="1600" dirty="0">
                <a:latin typeface="Arial MT"/>
                <a:cs typeface="Arial MT"/>
              </a:rPr>
              <a:t>with</a:t>
            </a:r>
            <a:r>
              <a:rPr sz="1600" spc="-10" dirty="0">
                <a:latin typeface="Arial MT"/>
                <a:cs typeface="Arial MT"/>
              </a:rPr>
              <a:t> 4-</a:t>
            </a:r>
            <a:r>
              <a:rPr sz="1600" dirty="0">
                <a:latin typeface="Arial MT"/>
                <a:cs typeface="Arial MT"/>
              </a:rPr>
              <a:t>byte</a:t>
            </a:r>
            <a:r>
              <a:rPr sz="1600" spc="10" dirty="0">
                <a:latin typeface="Arial MT"/>
                <a:cs typeface="Arial MT"/>
              </a:rPr>
              <a:t> </a:t>
            </a:r>
            <a:r>
              <a:rPr sz="1600" spc="-10" dirty="0">
                <a:latin typeface="Arial MT"/>
                <a:cs typeface="Arial MT"/>
              </a:rPr>
              <a:t>pages</a:t>
            </a:r>
            <a:endParaRPr sz="1600" dirty="0">
              <a:latin typeface="Arial MT"/>
              <a:cs typeface="Arial MT"/>
            </a:endParaRPr>
          </a:p>
        </p:txBody>
      </p:sp>
      <p:sp>
        <p:nvSpPr>
          <p:cNvPr id="5" name="object 5"/>
          <p:cNvSpPr txBox="1"/>
          <p:nvPr/>
        </p:nvSpPr>
        <p:spPr>
          <a:xfrm>
            <a:off x="1008380" y="1313179"/>
            <a:ext cx="6187440" cy="299720"/>
          </a:xfrm>
          <a:prstGeom prst="rect">
            <a:avLst/>
          </a:prstGeom>
        </p:spPr>
        <p:txBody>
          <a:bodyPr vert="horz" wrap="square" lIns="0" tIns="12700" rIns="0" bIns="0" rtlCol="0">
            <a:spAutoFit/>
          </a:bodyPr>
          <a:lstStyle/>
          <a:p>
            <a:pPr marL="297180" indent="-284480">
              <a:lnSpc>
                <a:spcPct val="100000"/>
              </a:lnSpc>
              <a:spcBef>
                <a:spcPts val="100"/>
              </a:spcBef>
              <a:buFont typeface="Wingdings"/>
              <a:buChar char=""/>
              <a:tabLst>
                <a:tab pos="297180" algn="l"/>
              </a:tabLst>
            </a:pPr>
            <a:r>
              <a:rPr sz="1600" dirty="0">
                <a:solidFill>
                  <a:srgbClr val="FF0000"/>
                </a:solidFill>
                <a:latin typeface="Arial MT"/>
                <a:cs typeface="Arial MT"/>
              </a:rPr>
              <a:t>Logical</a:t>
            </a:r>
            <a:r>
              <a:rPr sz="1600" spc="-50" dirty="0">
                <a:solidFill>
                  <a:srgbClr val="FF0000"/>
                </a:solidFill>
                <a:latin typeface="Arial MT"/>
                <a:cs typeface="Arial MT"/>
              </a:rPr>
              <a:t> </a:t>
            </a:r>
            <a:r>
              <a:rPr sz="1600" dirty="0">
                <a:solidFill>
                  <a:srgbClr val="FF0000"/>
                </a:solidFill>
                <a:latin typeface="Arial MT"/>
                <a:cs typeface="Arial MT"/>
              </a:rPr>
              <a:t>address</a:t>
            </a:r>
            <a:r>
              <a:rPr sz="1600" spc="-10" dirty="0">
                <a:solidFill>
                  <a:srgbClr val="FF0000"/>
                </a:solidFill>
                <a:latin typeface="Arial MT"/>
                <a:cs typeface="Arial MT"/>
              </a:rPr>
              <a:t> </a:t>
            </a:r>
            <a:r>
              <a:rPr sz="1600" dirty="0">
                <a:solidFill>
                  <a:srgbClr val="FF0000"/>
                </a:solidFill>
                <a:latin typeface="Arial MT"/>
                <a:cs typeface="Arial MT"/>
              </a:rPr>
              <a:t>0</a:t>
            </a:r>
            <a:r>
              <a:rPr sz="1600" spc="-25" dirty="0">
                <a:solidFill>
                  <a:srgbClr val="FF0000"/>
                </a:solidFill>
                <a:latin typeface="Arial MT"/>
                <a:cs typeface="Arial MT"/>
              </a:rPr>
              <a:t> </a:t>
            </a:r>
            <a:r>
              <a:rPr sz="1600" dirty="0">
                <a:solidFill>
                  <a:srgbClr val="FF0000"/>
                </a:solidFill>
                <a:latin typeface="Arial MT"/>
                <a:cs typeface="Arial MT"/>
              </a:rPr>
              <a:t>is</a:t>
            </a:r>
            <a:r>
              <a:rPr sz="1600" spc="-25" dirty="0">
                <a:solidFill>
                  <a:srgbClr val="FF0000"/>
                </a:solidFill>
                <a:latin typeface="Arial MT"/>
                <a:cs typeface="Arial MT"/>
              </a:rPr>
              <a:t> </a:t>
            </a:r>
            <a:r>
              <a:rPr sz="1600" dirty="0">
                <a:solidFill>
                  <a:srgbClr val="FF0000"/>
                </a:solidFill>
                <a:latin typeface="Arial MT"/>
                <a:cs typeface="Arial MT"/>
              </a:rPr>
              <a:t>page</a:t>
            </a:r>
            <a:r>
              <a:rPr sz="1600" spc="-15" dirty="0">
                <a:solidFill>
                  <a:srgbClr val="FF0000"/>
                </a:solidFill>
                <a:latin typeface="Arial MT"/>
                <a:cs typeface="Arial MT"/>
              </a:rPr>
              <a:t> </a:t>
            </a:r>
            <a:r>
              <a:rPr sz="1600" i="1" dirty="0">
                <a:solidFill>
                  <a:srgbClr val="FF0000"/>
                </a:solidFill>
                <a:latin typeface="Arial"/>
                <a:cs typeface="Arial"/>
              </a:rPr>
              <a:t>p</a:t>
            </a:r>
            <a:r>
              <a:rPr sz="1600" dirty="0">
                <a:solidFill>
                  <a:srgbClr val="FF0000"/>
                </a:solidFill>
                <a:latin typeface="Arial MT"/>
                <a:cs typeface="Arial MT"/>
              </a:rPr>
              <a:t>=0,</a:t>
            </a:r>
            <a:r>
              <a:rPr sz="1600" spc="-10" dirty="0">
                <a:solidFill>
                  <a:srgbClr val="FF0000"/>
                </a:solidFill>
                <a:latin typeface="Arial MT"/>
                <a:cs typeface="Arial MT"/>
              </a:rPr>
              <a:t> </a:t>
            </a:r>
            <a:r>
              <a:rPr sz="1600" dirty="0">
                <a:solidFill>
                  <a:srgbClr val="FF0000"/>
                </a:solidFill>
                <a:latin typeface="Arial MT"/>
                <a:cs typeface="Arial MT"/>
              </a:rPr>
              <a:t>offset</a:t>
            </a:r>
            <a:r>
              <a:rPr sz="1600" spc="-10" dirty="0">
                <a:solidFill>
                  <a:srgbClr val="FF0000"/>
                </a:solidFill>
                <a:latin typeface="Arial MT"/>
                <a:cs typeface="Arial MT"/>
              </a:rPr>
              <a:t> </a:t>
            </a:r>
            <a:r>
              <a:rPr sz="1600" i="1" dirty="0">
                <a:solidFill>
                  <a:srgbClr val="FF0000"/>
                </a:solidFill>
                <a:latin typeface="Arial"/>
                <a:cs typeface="Arial"/>
              </a:rPr>
              <a:t>d</a:t>
            </a:r>
            <a:r>
              <a:rPr sz="1600" dirty="0">
                <a:solidFill>
                  <a:srgbClr val="FF0000"/>
                </a:solidFill>
                <a:latin typeface="Arial MT"/>
                <a:cs typeface="Arial MT"/>
              </a:rPr>
              <a:t>=0;</a:t>
            </a:r>
            <a:r>
              <a:rPr sz="1600" spc="-15" dirty="0">
                <a:solidFill>
                  <a:srgbClr val="FF0000"/>
                </a:solidFill>
                <a:latin typeface="Arial MT"/>
                <a:cs typeface="Arial MT"/>
              </a:rPr>
              <a:t> </a:t>
            </a:r>
            <a:r>
              <a:rPr sz="1600" dirty="0">
                <a:solidFill>
                  <a:srgbClr val="FF0000"/>
                </a:solidFill>
                <a:latin typeface="Arial MT"/>
                <a:cs typeface="Arial MT"/>
              </a:rPr>
              <a:t>Page</a:t>
            </a:r>
            <a:r>
              <a:rPr sz="1600" spc="-20" dirty="0">
                <a:solidFill>
                  <a:srgbClr val="FF0000"/>
                </a:solidFill>
                <a:latin typeface="Arial MT"/>
                <a:cs typeface="Arial MT"/>
              </a:rPr>
              <a:t> </a:t>
            </a:r>
            <a:r>
              <a:rPr sz="1600" dirty="0">
                <a:solidFill>
                  <a:srgbClr val="FF0000"/>
                </a:solidFill>
                <a:latin typeface="Arial MT"/>
                <a:cs typeface="Arial MT"/>
              </a:rPr>
              <a:t>0</a:t>
            </a:r>
            <a:r>
              <a:rPr sz="1600" spc="-15" dirty="0">
                <a:solidFill>
                  <a:srgbClr val="FF0000"/>
                </a:solidFill>
                <a:latin typeface="Arial MT"/>
                <a:cs typeface="Arial MT"/>
              </a:rPr>
              <a:t> </a:t>
            </a:r>
            <a:r>
              <a:rPr sz="1600" dirty="0">
                <a:solidFill>
                  <a:srgbClr val="FF0000"/>
                </a:solidFill>
                <a:latin typeface="Arial MT"/>
                <a:cs typeface="Arial MT"/>
              </a:rPr>
              <a:t>is</a:t>
            </a:r>
            <a:r>
              <a:rPr sz="1600" spc="-35" dirty="0">
                <a:solidFill>
                  <a:srgbClr val="FF0000"/>
                </a:solidFill>
                <a:latin typeface="Arial MT"/>
                <a:cs typeface="Arial MT"/>
              </a:rPr>
              <a:t> </a:t>
            </a:r>
            <a:r>
              <a:rPr sz="1600" dirty="0">
                <a:solidFill>
                  <a:srgbClr val="FF0000"/>
                </a:solidFill>
                <a:latin typeface="Arial MT"/>
                <a:cs typeface="Arial MT"/>
              </a:rPr>
              <a:t>in</a:t>
            </a:r>
            <a:r>
              <a:rPr sz="1600" spc="-25" dirty="0">
                <a:solidFill>
                  <a:srgbClr val="FF0000"/>
                </a:solidFill>
                <a:latin typeface="Arial MT"/>
                <a:cs typeface="Arial MT"/>
              </a:rPr>
              <a:t> </a:t>
            </a:r>
            <a:r>
              <a:rPr sz="1600" dirty="0">
                <a:solidFill>
                  <a:srgbClr val="FF0000"/>
                </a:solidFill>
                <a:latin typeface="Arial MT"/>
                <a:cs typeface="Arial MT"/>
              </a:rPr>
              <a:t>frame</a:t>
            </a:r>
            <a:r>
              <a:rPr sz="1600" spc="10" dirty="0">
                <a:solidFill>
                  <a:srgbClr val="FF0000"/>
                </a:solidFill>
                <a:latin typeface="Arial MT"/>
                <a:cs typeface="Arial MT"/>
              </a:rPr>
              <a:t> </a:t>
            </a:r>
            <a:r>
              <a:rPr sz="1600" i="1" spc="-20" dirty="0">
                <a:solidFill>
                  <a:srgbClr val="FF0000"/>
                </a:solidFill>
                <a:latin typeface="Arial"/>
                <a:cs typeface="Arial"/>
              </a:rPr>
              <a:t>f</a:t>
            </a:r>
            <a:r>
              <a:rPr sz="1600" spc="-20" dirty="0">
                <a:solidFill>
                  <a:srgbClr val="FF0000"/>
                </a:solidFill>
                <a:latin typeface="Arial MT"/>
                <a:cs typeface="Arial MT"/>
              </a:rPr>
              <a:t>=5</a:t>
            </a:r>
            <a:r>
              <a:rPr sz="1800" spc="-20" dirty="0">
                <a:solidFill>
                  <a:srgbClr val="FF0000"/>
                </a:solidFill>
                <a:latin typeface="Arial MT"/>
                <a:cs typeface="Arial MT"/>
              </a:rPr>
              <a:t>;</a:t>
            </a:r>
            <a:endParaRPr sz="1800" dirty="0">
              <a:latin typeface="Arial MT"/>
              <a:cs typeface="Arial MT"/>
            </a:endParaRPr>
          </a:p>
        </p:txBody>
      </p:sp>
      <p:sp>
        <p:nvSpPr>
          <p:cNvPr id="6" name="object 6"/>
          <p:cNvSpPr txBox="1"/>
          <p:nvPr/>
        </p:nvSpPr>
        <p:spPr>
          <a:xfrm>
            <a:off x="7425308" y="1339087"/>
            <a:ext cx="1337310" cy="269240"/>
          </a:xfrm>
          <a:prstGeom prst="rect">
            <a:avLst/>
          </a:prstGeom>
        </p:spPr>
        <p:txBody>
          <a:bodyPr vert="horz" wrap="square" lIns="0" tIns="12065" rIns="0" bIns="0" rtlCol="0">
            <a:spAutoFit/>
          </a:bodyPr>
          <a:lstStyle/>
          <a:p>
            <a:pPr marL="12700">
              <a:lnSpc>
                <a:spcPct val="100000"/>
              </a:lnSpc>
              <a:spcBef>
                <a:spcPts val="95"/>
              </a:spcBef>
            </a:pPr>
            <a:r>
              <a:rPr sz="1600" b="1" dirty="0">
                <a:solidFill>
                  <a:srgbClr val="FF0000"/>
                </a:solidFill>
                <a:latin typeface="Arial"/>
                <a:cs typeface="Arial"/>
              </a:rPr>
              <a:t>[</a:t>
            </a:r>
            <a:r>
              <a:rPr sz="1600" b="1" spc="-15" dirty="0">
                <a:solidFill>
                  <a:srgbClr val="FF0000"/>
                </a:solidFill>
                <a:latin typeface="Arial"/>
                <a:cs typeface="Arial"/>
              </a:rPr>
              <a:t> </a:t>
            </a:r>
            <a:r>
              <a:rPr sz="1600" b="1" dirty="0">
                <a:solidFill>
                  <a:srgbClr val="FF0000"/>
                </a:solidFill>
                <a:latin typeface="Arial"/>
                <a:cs typeface="Arial"/>
              </a:rPr>
              <a:t>(</a:t>
            </a:r>
            <a:r>
              <a:rPr sz="1600" b="1" i="1" dirty="0">
                <a:solidFill>
                  <a:srgbClr val="FF0000"/>
                </a:solidFill>
                <a:latin typeface="Arial"/>
                <a:cs typeface="Arial"/>
              </a:rPr>
              <a:t>f</a:t>
            </a:r>
            <a:r>
              <a:rPr sz="1600" b="1" i="1" spc="5" dirty="0">
                <a:solidFill>
                  <a:srgbClr val="FF0000"/>
                </a:solidFill>
                <a:latin typeface="Arial"/>
                <a:cs typeface="Arial"/>
              </a:rPr>
              <a:t> </a:t>
            </a:r>
            <a:r>
              <a:rPr sz="1600" b="1" dirty="0">
                <a:solidFill>
                  <a:srgbClr val="FF0000"/>
                </a:solidFill>
                <a:latin typeface="Yu Gothic"/>
                <a:cs typeface="Yu Gothic"/>
              </a:rPr>
              <a:t>×</a:t>
            </a:r>
            <a:r>
              <a:rPr sz="1600" b="1" spc="-5" dirty="0">
                <a:solidFill>
                  <a:srgbClr val="FF0000"/>
                </a:solidFill>
                <a:latin typeface="Yu Gothic"/>
                <a:cs typeface="Yu Gothic"/>
              </a:rPr>
              <a:t> </a:t>
            </a:r>
            <a:r>
              <a:rPr sz="1600" b="1" dirty="0">
                <a:solidFill>
                  <a:srgbClr val="FF0000"/>
                </a:solidFill>
                <a:latin typeface="Arial"/>
                <a:cs typeface="Arial"/>
              </a:rPr>
              <a:t>m) +</a:t>
            </a:r>
            <a:r>
              <a:rPr sz="1600" b="1" spc="-5" dirty="0">
                <a:solidFill>
                  <a:srgbClr val="FF0000"/>
                </a:solidFill>
                <a:latin typeface="Arial"/>
                <a:cs typeface="Arial"/>
              </a:rPr>
              <a:t> </a:t>
            </a:r>
            <a:r>
              <a:rPr sz="1600" b="1" dirty="0">
                <a:solidFill>
                  <a:srgbClr val="FF0000"/>
                </a:solidFill>
                <a:latin typeface="Arial"/>
                <a:cs typeface="Arial"/>
              </a:rPr>
              <a:t>d</a:t>
            </a:r>
            <a:r>
              <a:rPr sz="1600" b="1" spc="-20" dirty="0">
                <a:solidFill>
                  <a:srgbClr val="FF0000"/>
                </a:solidFill>
                <a:latin typeface="Arial"/>
                <a:cs typeface="Arial"/>
              </a:rPr>
              <a:t> </a:t>
            </a:r>
            <a:r>
              <a:rPr sz="1600" b="1" spc="-50" dirty="0">
                <a:solidFill>
                  <a:srgbClr val="FF0000"/>
                </a:solidFill>
                <a:latin typeface="Arial"/>
                <a:cs typeface="Arial"/>
              </a:rPr>
              <a:t>]</a:t>
            </a:r>
            <a:endParaRPr sz="1600" dirty="0">
              <a:latin typeface="Arial"/>
              <a:cs typeface="Arial"/>
            </a:endParaRPr>
          </a:p>
        </p:txBody>
      </p:sp>
      <p:sp>
        <p:nvSpPr>
          <p:cNvPr id="7" name="object 7"/>
          <p:cNvSpPr txBox="1"/>
          <p:nvPr/>
        </p:nvSpPr>
        <p:spPr>
          <a:xfrm>
            <a:off x="1465580" y="1712467"/>
            <a:ext cx="6346190" cy="269240"/>
          </a:xfrm>
          <a:prstGeom prst="rect">
            <a:avLst/>
          </a:prstGeom>
        </p:spPr>
        <p:txBody>
          <a:bodyPr vert="horz" wrap="square" lIns="0" tIns="12065" rIns="0" bIns="0" rtlCol="0">
            <a:spAutoFit/>
          </a:bodyPr>
          <a:lstStyle/>
          <a:p>
            <a:pPr marL="12700">
              <a:lnSpc>
                <a:spcPct val="100000"/>
              </a:lnSpc>
              <a:spcBef>
                <a:spcPts val="95"/>
              </a:spcBef>
            </a:pPr>
            <a:r>
              <a:rPr sz="1600" spc="-25" dirty="0">
                <a:solidFill>
                  <a:srgbClr val="FF0000"/>
                </a:solidFill>
                <a:latin typeface="Webdings"/>
                <a:cs typeface="Webdings"/>
              </a:rPr>
              <a:t></a:t>
            </a:r>
            <a:r>
              <a:rPr sz="1600" spc="-200" dirty="0">
                <a:solidFill>
                  <a:srgbClr val="FF0000"/>
                </a:solidFill>
                <a:latin typeface="Times New Roman"/>
                <a:cs typeface="Times New Roman"/>
              </a:rPr>
              <a:t> </a:t>
            </a:r>
            <a:r>
              <a:rPr sz="1600" dirty="0">
                <a:solidFill>
                  <a:srgbClr val="FF0000"/>
                </a:solidFill>
                <a:latin typeface="Arial MT"/>
                <a:cs typeface="Arial MT"/>
              </a:rPr>
              <a:t>Thus</a:t>
            </a:r>
            <a:r>
              <a:rPr sz="1600" spc="-40" dirty="0">
                <a:solidFill>
                  <a:srgbClr val="FF0000"/>
                </a:solidFill>
                <a:latin typeface="Arial MT"/>
                <a:cs typeface="Arial MT"/>
              </a:rPr>
              <a:t> </a:t>
            </a:r>
            <a:r>
              <a:rPr sz="1600" dirty="0">
                <a:solidFill>
                  <a:srgbClr val="FF0000"/>
                </a:solidFill>
                <a:latin typeface="Arial MT"/>
                <a:cs typeface="Arial MT"/>
              </a:rPr>
              <a:t>logical</a:t>
            </a:r>
            <a:r>
              <a:rPr sz="1600" spc="-50" dirty="0">
                <a:solidFill>
                  <a:srgbClr val="FF0000"/>
                </a:solidFill>
                <a:latin typeface="Arial MT"/>
                <a:cs typeface="Arial MT"/>
              </a:rPr>
              <a:t> </a:t>
            </a:r>
            <a:r>
              <a:rPr sz="1600" dirty="0">
                <a:solidFill>
                  <a:srgbClr val="FF0000"/>
                </a:solidFill>
                <a:latin typeface="Arial MT"/>
                <a:cs typeface="Arial MT"/>
              </a:rPr>
              <a:t>address</a:t>
            </a:r>
            <a:r>
              <a:rPr sz="1600" spc="-10" dirty="0">
                <a:solidFill>
                  <a:srgbClr val="FF0000"/>
                </a:solidFill>
                <a:latin typeface="Arial MT"/>
                <a:cs typeface="Arial MT"/>
              </a:rPr>
              <a:t> </a:t>
            </a:r>
            <a:r>
              <a:rPr sz="1600" b="1" dirty="0">
                <a:solidFill>
                  <a:srgbClr val="FF0000"/>
                </a:solidFill>
                <a:latin typeface="Arial"/>
                <a:cs typeface="Arial"/>
              </a:rPr>
              <a:t>0</a:t>
            </a:r>
            <a:r>
              <a:rPr sz="1600" b="1" spc="-10" dirty="0">
                <a:solidFill>
                  <a:srgbClr val="FF0000"/>
                </a:solidFill>
                <a:latin typeface="Arial"/>
                <a:cs typeface="Arial"/>
              </a:rPr>
              <a:t> </a:t>
            </a:r>
            <a:r>
              <a:rPr sz="1600" dirty="0">
                <a:solidFill>
                  <a:srgbClr val="FF0000"/>
                </a:solidFill>
                <a:latin typeface="Arial MT"/>
                <a:cs typeface="Arial MT"/>
              </a:rPr>
              <a:t>maps</a:t>
            </a:r>
            <a:r>
              <a:rPr sz="1600" spc="-20" dirty="0">
                <a:solidFill>
                  <a:srgbClr val="FF0000"/>
                </a:solidFill>
                <a:latin typeface="Arial MT"/>
                <a:cs typeface="Arial MT"/>
              </a:rPr>
              <a:t> </a:t>
            </a:r>
            <a:r>
              <a:rPr sz="1600" dirty="0">
                <a:solidFill>
                  <a:srgbClr val="FF0000"/>
                </a:solidFill>
                <a:latin typeface="Arial MT"/>
                <a:cs typeface="Arial MT"/>
              </a:rPr>
              <a:t>to</a:t>
            </a:r>
            <a:r>
              <a:rPr sz="1600" spc="-15" dirty="0">
                <a:solidFill>
                  <a:srgbClr val="FF0000"/>
                </a:solidFill>
                <a:latin typeface="Arial MT"/>
                <a:cs typeface="Arial MT"/>
              </a:rPr>
              <a:t> </a:t>
            </a:r>
            <a:r>
              <a:rPr sz="1600" dirty="0">
                <a:solidFill>
                  <a:srgbClr val="FF0000"/>
                </a:solidFill>
                <a:latin typeface="Arial MT"/>
                <a:cs typeface="Arial MT"/>
              </a:rPr>
              <a:t>physical</a:t>
            </a:r>
            <a:r>
              <a:rPr sz="1600" spc="-25" dirty="0">
                <a:solidFill>
                  <a:srgbClr val="FF0000"/>
                </a:solidFill>
                <a:latin typeface="Arial MT"/>
                <a:cs typeface="Arial MT"/>
              </a:rPr>
              <a:t> </a:t>
            </a:r>
            <a:r>
              <a:rPr sz="1600" dirty="0">
                <a:solidFill>
                  <a:srgbClr val="FF0000"/>
                </a:solidFill>
                <a:latin typeface="Arial MT"/>
                <a:cs typeface="Arial MT"/>
              </a:rPr>
              <a:t>address</a:t>
            </a:r>
            <a:r>
              <a:rPr sz="1600" spc="-5" dirty="0">
                <a:solidFill>
                  <a:srgbClr val="FF0000"/>
                </a:solidFill>
                <a:latin typeface="Arial MT"/>
                <a:cs typeface="Arial MT"/>
              </a:rPr>
              <a:t> </a:t>
            </a:r>
            <a:r>
              <a:rPr sz="1600" b="1" dirty="0">
                <a:solidFill>
                  <a:srgbClr val="FF0000"/>
                </a:solidFill>
                <a:latin typeface="Arial"/>
                <a:cs typeface="Arial"/>
              </a:rPr>
              <a:t>20</a:t>
            </a:r>
            <a:r>
              <a:rPr sz="1600" b="1" spc="-15" dirty="0">
                <a:solidFill>
                  <a:srgbClr val="FF0000"/>
                </a:solidFill>
                <a:latin typeface="Arial"/>
                <a:cs typeface="Arial"/>
              </a:rPr>
              <a:t> </a:t>
            </a:r>
            <a:r>
              <a:rPr sz="1600" dirty="0">
                <a:solidFill>
                  <a:srgbClr val="FF0000"/>
                </a:solidFill>
                <a:latin typeface="Arial MT"/>
                <a:cs typeface="Arial MT"/>
              </a:rPr>
              <a:t>[=</a:t>
            </a:r>
            <a:r>
              <a:rPr sz="1600" spc="-15" dirty="0">
                <a:solidFill>
                  <a:srgbClr val="FF0000"/>
                </a:solidFill>
                <a:latin typeface="Arial MT"/>
                <a:cs typeface="Arial MT"/>
              </a:rPr>
              <a:t> </a:t>
            </a:r>
            <a:r>
              <a:rPr sz="1600" dirty="0">
                <a:solidFill>
                  <a:srgbClr val="FF0000"/>
                </a:solidFill>
                <a:latin typeface="Arial MT"/>
                <a:cs typeface="Arial MT"/>
              </a:rPr>
              <a:t>(5</a:t>
            </a:r>
            <a:r>
              <a:rPr sz="1600" spc="-15" dirty="0">
                <a:solidFill>
                  <a:srgbClr val="FF0000"/>
                </a:solidFill>
                <a:latin typeface="Arial MT"/>
                <a:cs typeface="Arial MT"/>
              </a:rPr>
              <a:t> </a:t>
            </a:r>
            <a:r>
              <a:rPr sz="1600" dirty="0">
                <a:solidFill>
                  <a:srgbClr val="FF0000"/>
                </a:solidFill>
                <a:latin typeface="MS PGothic"/>
                <a:cs typeface="MS PGothic"/>
              </a:rPr>
              <a:t>×</a:t>
            </a:r>
            <a:r>
              <a:rPr sz="1600" spc="-60" dirty="0">
                <a:solidFill>
                  <a:srgbClr val="FF0000"/>
                </a:solidFill>
                <a:latin typeface="MS PGothic"/>
                <a:cs typeface="MS PGothic"/>
              </a:rPr>
              <a:t> </a:t>
            </a:r>
            <a:r>
              <a:rPr sz="1600" dirty="0">
                <a:solidFill>
                  <a:srgbClr val="FF0000"/>
                </a:solidFill>
                <a:latin typeface="Arial MT"/>
                <a:cs typeface="Arial MT"/>
              </a:rPr>
              <a:t>4)</a:t>
            </a:r>
            <a:r>
              <a:rPr sz="1600" spc="-15" dirty="0">
                <a:solidFill>
                  <a:srgbClr val="FF0000"/>
                </a:solidFill>
                <a:latin typeface="Arial MT"/>
                <a:cs typeface="Arial MT"/>
              </a:rPr>
              <a:t> </a:t>
            </a:r>
            <a:r>
              <a:rPr sz="1600" dirty="0">
                <a:solidFill>
                  <a:srgbClr val="FF0000"/>
                </a:solidFill>
                <a:latin typeface="Arial MT"/>
                <a:cs typeface="Arial MT"/>
              </a:rPr>
              <a:t>+</a:t>
            </a:r>
            <a:r>
              <a:rPr sz="1600" spc="-15" dirty="0">
                <a:solidFill>
                  <a:srgbClr val="FF0000"/>
                </a:solidFill>
                <a:latin typeface="Arial MT"/>
                <a:cs typeface="Arial MT"/>
              </a:rPr>
              <a:t> </a:t>
            </a:r>
            <a:r>
              <a:rPr sz="1600" spc="-25" dirty="0">
                <a:solidFill>
                  <a:srgbClr val="FF0000"/>
                </a:solidFill>
                <a:latin typeface="Arial MT"/>
                <a:cs typeface="Arial MT"/>
              </a:rPr>
              <a:t>0];</a:t>
            </a:r>
            <a:endParaRPr sz="1600">
              <a:latin typeface="Arial MT"/>
              <a:cs typeface="Arial M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B93F-C687-6C78-4797-287FAB08319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41392F7-521E-2FB3-19E8-D32B2EA1CBB4}"/>
              </a:ext>
            </a:extLst>
          </p:cNvPr>
          <p:cNvSpPr>
            <a:spLocks noGrp="1"/>
          </p:cNvSpPr>
          <p:nvPr>
            <p:ph type="body" idx="1"/>
          </p:nvPr>
        </p:nvSpPr>
        <p:spPr>
          <a:xfrm>
            <a:off x="1422018" y="2870708"/>
            <a:ext cx="6578981" cy="1107996"/>
          </a:xfrm>
        </p:spPr>
        <p:txBody>
          <a:bodyPr/>
          <a:lstStyle/>
          <a:p>
            <a:r>
              <a:rPr lang="en-US" dirty="0"/>
              <a:t>Suppose logical address space of 32 pages of 2048 words. There are 64 frames in the main memory. Calculate the size of logical address and physical address along with the page no and offset value.</a:t>
            </a:r>
          </a:p>
        </p:txBody>
      </p:sp>
    </p:spTree>
    <p:extLst>
      <p:ext uri="{BB962C8B-B14F-4D97-AF65-F5344CB8AC3E}">
        <p14:creationId xmlns:p14="http://schemas.microsoft.com/office/powerpoint/2010/main" val="2927753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36C1-7C10-B70D-645B-DAAEFDCC398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EE91715-A721-33CA-5EC1-1700AE6CF13C}"/>
              </a:ext>
            </a:extLst>
          </p:cNvPr>
          <p:cNvSpPr>
            <a:spLocks noGrp="1"/>
          </p:cNvSpPr>
          <p:nvPr>
            <p:ph type="body" idx="1"/>
          </p:nvPr>
        </p:nvSpPr>
        <p:spPr>
          <a:xfrm>
            <a:off x="533400" y="1066800"/>
            <a:ext cx="5821680" cy="2769989"/>
          </a:xfrm>
        </p:spPr>
        <p:txBody>
          <a:bodyPr/>
          <a:lstStyle/>
          <a:p>
            <a:pPr>
              <a:buNone/>
            </a:pPr>
            <a:r>
              <a:rPr lang="en-US" b="1" dirty="0"/>
              <a:t>Number of pages = 32</a:t>
            </a:r>
          </a:p>
          <a:p>
            <a:pPr>
              <a:buNone/>
            </a:pPr>
            <a:r>
              <a:rPr lang="en-US" dirty="0"/>
              <a:t>So, number of bits to represent the </a:t>
            </a:r>
            <a:r>
              <a:rPr lang="en-US" b="1" dirty="0"/>
              <a:t>page number</a:t>
            </a:r>
            <a:r>
              <a:rPr lang="en-US" dirty="0"/>
              <a:t> =</a:t>
            </a:r>
          </a:p>
          <a:p>
            <a:pPr>
              <a:buNone/>
            </a:pPr>
            <a:r>
              <a:rPr lang="en-US" dirty="0"/>
              <a:t>2^5=32=5 bits</a:t>
            </a:r>
          </a:p>
          <a:p>
            <a:pPr>
              <a:buNone/>
            </a:pPr>
            <a:r>
              <a:rPr lang="en-US" b="1" dirty="0"/>
              <a:t>Page size = 2048 words</a:t>
            </a:r>
          </a:p>
          <a:p>
            <a:pPr>
              <a:buNone/>
            </a:pPr>
            <a:r>
              <a:rPr lang="en-US" dirty="0"/>
              <a:t>So, number of bits to represent the </a:t>
            </a:r>
            <a:r>
              <a:rPr lang="en-US" b="1" dirty="0"/>
              <a:t>offset</a:t>
            </a:r>
            <a:r>
              <a:rPr lang="en-US" dirty="0"/>
              <a:t> =</a:t>
            </a:r>
          </a:p>
          <a:p>
            <a:pPr>
              <a:buNone/>
            </a:pPr>
            <a:r>
              <a:rPr lang="en-US" dirty="0"/>
              <a:t>2^11=2048=11 bits</a:t>
            </a:r>
          </a:p>
          <a:p>
            <a:pPr>
              <a:buNone/>
            </a:pPr>
            <a:r>
              <a:rPr lang="en-US" b="1" dirty="0"/>
              <a:t>Therefore:</a:t>
            </a:r>
          </a:p>
          <a:p>
            <a:pPr>
              <a:buFont typeface="Arial" panose="020B0604020202020204" pitchFamily="34" charset="0"/>
              <a:buChar char="•"/>
            </a:pPr>
            <a:r>
              <a:rPr lang="en-US" b="1" dirty="0"/>
              <a:t>Logical Address = Page Number (5 bits) + Offset (11 bits) = 16 bits</a:t>
            </a:r>
            <a:endParaRPr lang="en-US" dirty="0"/>
          </a:p>
          <a:p>
            <a:endParaRPr lang="en-US" dirty="0"/>
          </a:p>
        </p:txBody>
      </p:sp>
      <p:sp>
        <p:nvSpPr>
          <p:cNvPr id="4" name="TextBox 3">
            <a:extLst>
              <a:ext uri="{FF2B5EF4-FFF2-40B4-BE49-F238E27FC236}">
                <a16:creationId xmlns:a16="http://schemas.microsoft.com/office/drawing/2014/main" id="{73BEC7E3-20BE-962D-1ECA-476212D2151C}"/>
              </a:ext>
            </a:extLst>
          </p:cNvPr>
          <p:cNvSpPr txBox="1"/>
          <p:nvPr/>
        </p:nvSpPr>
        <p:spPr>
          <a:xfrm>
            <a:off x="685800" y="3836789"/>
            <a:ext cx="6781800" cy="2308324"/>
          </a:xfrm>
          <a:prstGeom prst="rect">
            <a:avLst/>
          </a:prstGeom>
          <a:noFill/>
        </p:spPr>
        <p:txBody>
          <a:bodyPr wrap="square" rtlCol="0">
            <a:spAutoFit/>
          </a:bodyPr>
          <a:lstStyle/>
          <a:p>
            <a:pPr>
              <a:buNone/>
            </a:pPr>
            <a:r>
              <a:rPr lang="en-US" b="1" dirty="0"/>
              <a:t> Number of frames = 64</a:t>
            </a:r>
          </a:p>
          <a:p>
            <a:pPr>
              <a:buNone/>
            </a:pPr>
            <a:r>
              <a:rPr lang="en-US" dirty="0"/>
              <a:t>So, number of bits to represent the </a:t>
            </a:r>
            <a:r>
              <a:rPr lang="en-US" b="1" dirty="0"/>
              <a:t>frame number</a:t>
            </a:r>
            <a:r>
              <a:rPr lang="en-US" dirty="0"/>
              <a:t> =</a:t>
            </a:r>
          </a:p>
          <a:p>
            <a:pPr>
              <a:buNone/>
            </a:pPr>
            <a:r>
              <a:rPr lang="en-US"/>
              <a:t>2^6=64=6 </a:t>
            </a:r>
            <a:r>
              <a:rPr lang="en-US" dirty="0"/>
              <a:t>bits</a:t>
            </a:r>
          </a:p>
          <a:p>
            <a:pPr>
              <a:buNone/>
            </a:pPr>
            <a:r>
              <a:rPr lang="en-US" b="1" dirty="0"/>
              <a:t>Offset is the same as page size = 2048 → 11 bits</a:t>
            </a:r>
          </a:p>
          <a:p>
            <a:pPr>
              <a:buNone/>
            </a:pPr>
            <a:r>
              <a:rPr lang="en-US" b="1" dirty="0"/>
              <a:t> Therefore:</a:t>
            </a:r>
          </a:p>
          <a:p>
            <a:pPr>
              <a:buFont typeface="Arial" panose="020B0604020202020204" pitchFamily="34" charset="0"/>
              <a:buChar char="•"/>
            </a:pPr>
            <a:r>
              <a:rPr lang="en-US" b="1" dirty="0"/>
              <a:t>Physical Address = Frame Number (6 bits) + Offset (11 bits) = 17 bits</a:t>
            </a:r>
            <a:endParaRPr lang="en-US" dirty="0"/>
          </a:p>
          <a:p>
            <a:endParaRPr lang="en-US" dirty="0"/>
          </a:p>
        </p:txBody>
      </p:sp>
    </p:spTree>
    <p:extLst>
      <p:ext uri="{BB962C8B-B14F-4D97-AF65-F5344CB8AC3E}">
        <p14:creationId xmlns:p14="http://schemas.microsoft.com/office/powerpoint/2010/main" val="2627547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0424" rIns="0" bIns="0" rtlCol="0">
            <a:spAutoFit/>
          </a:bodyPr>
          <a:lstStyle/>
          <a:p>
            <a:pPr marL="3870325">
              <a:lnSpc>
                <a:spcPct val="100000"/>
              </a:lnSpc>
              <a:spcBef>
                <a:spcPts val="100"/>
              </a:spcBef>
            </a:pPr>
            <a:r>
              <a:rPr spc="-10" dirty="0">
                <a:solidFill>
                  <a:srgbClr val="006699"/>
                </a:solidFill>
              </a:rPr>
              <a:t>Paging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34</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36016" y="974216"/>
            <a:ext cx="8655050" cy="5581650"/>
          </a:xfrm>
          <a:prstGeom prst="rect">
            <a:avLst/>
          </a:prstGeom>
        </p:spPr>
        <p:txBody>
          <a:bodyPr vert="horz" wrap="square" lIns="0" tIns="108585" rIns="0" bIns="0" rtlCol="0">
            <a:spAutoFit/>
          </a:bodyPr>
          <a:lstStyle/>
          <a:p>
            <a:pPr marL="354965" indent="-342265">
              <a:lnSpc>
                <a:spcPct val="100000"/>
              </a:lnSpc>
              <a:spcBef>
                <a:spcPts val="855"/>
              </a:spcBef>
              <a:buClr>
                <a:srgbClr val="993300"/>
              </a:buClr>
              <a:buSzPct val="88888"/>
              <a:buFont typeface="Wingdings"/>
              <a:buChar char=""/>
              <a:tabLst>
                <a:tab pos="354965" algn="l"/>
              </a:tabLst>
            </a:pPr>
            <a:r>
              <a:rPr sz="1800" dirty="0">
                <a:solidFill>
                  <a:srgbClr val="FF0000"/>
                </a:solidFill>
                <a:latin typeface="Arial MT"/>
                <a:cs typeface="Arial MT"/>
              </a:rPr>
              <a:t>There</a:t>
            </a:r>
            <a:r>
              <a:rPr sz="1800" spc="-50" dirty="0">
                <a:solidFill>
                  <a:srgbClr val="FF0000"/>
                </a:solidFill>
                <a:latin typeface="Arial MT"/>
                <a:cs typeface="Arial MT"/>
              </a:rPr>
              <a:t> </a:t>
            </a:r>
            <a:r>
              <a:rPr sz="1800" dirty="0">
                <a:solidFill>
                  <a:srgbClr val="FF0000"/>
                </a:solidFill>
                <a:latin typeface="Arial MT"/>
                <a:cs typeface="Arial MT"/>
              </a:rPr>
              <a:t>is</a:t>
            </a:r>
            <a:r>
              <a:rPr sz="1800" spc="-30" dirty="0">
                <a:solidFill>
                  <a:srgbClr val="FF0000"/>
                </a:solidFill>
                <a:latin typeface="Arial MT"/>
                <a:cs typeface="Arial MT"/>
              </a:rPr>
              <a:t> </a:t>
            </a:r>
            <a:r>
              <a:rPr sz="1800" dirty="0">
                <a:solidFill>
                  <a:srgbClr val="FF0000"/>
                </a:solidFill>
                <a:latin typeface="Arial MT"/>
                <a:cs typeface="Arial MT"/>
              </a:rPr>
              <a:t>no</a:t>
            </a:r>
            <a:r>
              <a:rPr sz="1800" spc="-30" dirty="0">
                <a:solidFill>
                  <a:srgbClr val="FF0000"/>
                </a:solidFill>
                <a:latin typeface="Arial MT"/>
                <a:cs typeface="Arial MT"/>
              </a:rPr>
              <a:t> </a:t>
            </a:r>
            <a:r>
              <a:rPr sz="1800" dirty="0">
                <a:solidFill>
                  <a:srgbClr val="FF0000"/>
                </a:solidFill>
                <a:latin typeface="Arial MT"/>
                <a:cs typeface="Arial MT"/>
              </a:rPr>
              <a:t>external</a:t>
            </a:r>
            <a:r>
              <a:rPr sz="1800" spc="-20" dirty="0">
                <a:solidFill>
                  <a:srgbClr val="FF0000"/>
                </a:solidFill>
                <a:latin typeface="Arial MT"/>
                <a:cs typeface="Arial MT"/>
              </a:rPr>
              <a:t> </a:t>
            </a:r>
            <a:r>
              <a:rPr sz="1800" dirty="0">
                <a:solidFill>
                  <a:srgbClr val="FF0000"/>
                </a:solidFill>
                <a:latin typeface="Arial MT"/>
                <a:cs typeface="Arial MT"/>
              </a:rPr>
              <a:t>fragmentation</a:t>
            </a:r>
            <a:r>
              <a:rPr sz="1800" spc="-25" dirty="0">
                <a:solidFill>
                  <a:srgbClr val="FF0000"/>
                </a:solidFill>
                <a:latin typeface="Arial MT"/>
                <a:cs typeface="Arial MT"/>
              </a:rPr>
              <a:t> </a:t>
            </a:r>
            <a:r>
              <a:rPr sz="1800" dirty="0">
                <a:solidFill>
                  <a:srgbClr val="FF0000"/>
                </a:solidFill>
                <a:latin typeface="Arial MT"/>
                <a:cs typeface="Arial MT"/>
              </a:rPr>
              <a:t>when</a:t>
            </a:r>
            <a:r>
              <a:rPr sz="1800" spc="10" dirty="0">
                <a:solidFill>
                  <a:srgbClr val="FF0000"/>
                </a:solidFill>
                <a:latin typeface="Arial MT"/>
                <a:cs typeface="Arial MT"/>
              </a:rPr>
              <a:t> </a:t>
            </a:r>
            <a:r>
              <a:rPr sz="1800" dirty="0">
                <a:solidFill>
                  <a:srgbClr val="FF0000"/>
                </a:solidFill>
                <a:latin typeface="Arial MT"/>
                <a:cs typeface="Arial MT"/>
              </a:rPr>
              <a:t>using</a:t>
            </a:r>
            <a:r>
              <a:rPr sz="1800" spc="-30" dirty="0">
                <a:solidFill>
                  <a:srgbClr val="FF0000"/>
                </a:solidFill>
                <a:latin typeface="Arial MT"/>
                <a:cs typeface="Arial MT"/>
              </a:rPr>
              <a:t> </a:t>
            </a:r>
            <a:r>
              <a:rPr sz="1800" dirty="0">
                <a:solidFill>
                  <a:srgbClr val="FF0000"/>
                </a:solidFill>
                <a:latin typeface="Arial MT"/>
                <a:cs typeface="Arial MT"/>
              </a:rPr>
              <a:t>paging</a:t>
            </a:r>
            <a:r>
              <a:rPr sz="1800" spc="-20" dirty="0">
                <a:solidFill>
                  <a:srgbClr val="FF0000"/>
                </a:solidFill>
                <a:latin typeface="Arial MT"/>
                <a:cs typeface="Arial MT"/>
              </a:rPr>
              <a:t> </a:t>
            </a:r>
            <a:r>
              <a:rPr sz="1800" spc="-10" dirty="0">
                <a:solidFill>
                  <a:srgbClr val="FF0000"/>
                </a:solidFill>
                <a:latin typeface="Arial MT"/>
                <a:cs typeface="Arial MT"/>
              </a:rPr>
              <a:t>scheme</a:t>
            </a:r>
            <a:endParaRPr sz="180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b="1" dirty="0">
                <a:solidFill>
                  <a:srgbClr val="FF0000"/>
                </a:solidFill>
                <a:latin typeface="Arial"/>
                <a:cs typeface="Arial"/>
              </a:rPr>
              <a:t>Internal</a:t>
            </a:r>
            <a:r>
              <a:rPr sz="1800" b="1" spc="-55" dirty="0">
                <a:solidFill>
                  <a:srgbClr val="FF0000"/>
                </a:solidFill>
                <a:latin typeface="Arial"/>
                <a:cs typeface="Arial"/>
              </a:rPr>
              <a:t> </a:t>
            </a:r>
            <a:r>
              <a:rPr sz="1800" b="1" dirty="0">
                <a:solidFill>
                  <a:srgbClr val="FF0000"/>
                </a:solidFill>
                <a:latin typeface="Arial"/>
                <a:cs typeface="Arial"/>
              </a:rPr>
              <a:t>fragmentation</a:t>
            </a:r>
            <a:r>
              <a:rPr sz="1800" b="1" spc="-40" dirty="0">
                <a:solidFill>
                  <a:srgbClr val="FF0000"/>
                </a:solidFill>
                <a:latin typeface="Arial"/>
                <a:cs typeface="Arial"/>
              </a:rPr>
              <a:t> </a:t>
            </a:r>
            <a:r>
              <a:rPr sz="1800" b="1" dirty="0">
                <a:solidFill>
                  <a:srgbClr val="FF0000"/>
                </a:solidFill>
                <a:latin typeface="Arial"/>
                <a:cs typeface="Arial"/>
              </a:rPr>
              <a:t>is</a:t>
            </a:r>
            <a:r>
              <a:rPr sz="1800" b="1" spc="-45" dirty="0">
                <a:solidFill>
                  <a:srgbClr val="FF0000"/>
                </a:solidFill>
                <a:latin typeface="Arial"/>
                <a:cs typeface="Arial"/>
              </a:rPr>
              <a:t> </a:t>
            </a:r>
            <a:r>
              <a:rPr sz="1800" b="1" dirty="0">
                <a:solidFill>
                  <a:srgbClr val="FF0000"/>
                </a:solidFill>
                <a:latin typeface="Arial"/>
                <a:cs typeface="Arial"/>
              </a:rPr>
              <a:t>possible</a:t>
            </a:r>
            <a:r>
              <a:rPr sz="1800" dirty="0">
                <a:solidFill>
                  <a:srgbClr val="FF0000"/>
                </a:solidFill>
                <a:latin typeface="Arial MT"/>
                <a:cs typeface="Arial MT"/>
              </a:rPr>
              <a:t>.</a:t>
            </a:r>
            <a:r>
              <a:rPr sz="1800" spc="-60" dirty="0">
                <a:solidFill>
                  <a:srgbClr val="FF0000"/>
                </a:solidFill>
                <a:latin typeface="Arial MT"/>
                <a:cs typeface="Arial MT"/>
              </a:rPr>
              <a:t> </a:t>
            </a:r>
            <a:r>
              <a:rPr sz="1800" dirty="0">
                <a:latin typeface="Arial MT"/>
                <a:cs typeface="Arial MT"/>
              </a:rPr>
              <a:t>Calculating</a:t>
            </a:r>
            <a:r>
              <a:rPr sz="1800" spc="-20" dirty="0">
                <a:latin typeface="Arial MT"/>
                <a:cs typeface="Arial MT"/>
              </a:rPr>
              <a:t> </a:t>
            </a:r>
            <a:r>
              <a:rPr sz="1800" dirty="0">
                <a:latin typeface="Arial MT"/>
                <a:cs typeface="Arial MT"/>
              </a:rPr>
              <a:t>internal</a:t>
            </a:r>
            <a:r>
              <a:rPr sz="1800" spc="-40" dirty="0">
                <a:latin typeface="Arial MT"/>
                <a:cs typeface="Arial MT"/>
              </a:rPr>
              <a:t> </a:t>
            </a:r>
            <a:r>
              <a:rPr sz="1800" spc="-10" dirty="0">
                <a:latin typeface="Arial MT"/>
                <a:cs typeface="Arial MT"/>
              </a:rPr>
              <a:t>fragmentation</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Page</a:t>
            </a:r>
            <a:r>
              <a:rPr sz="1800" spc="-10" dirty="0">
                <a:latin typeface="Arial MT"/>
                <a:cs typeface="Arial MT"/>
              </a:rPr>
              <a:t> </a:t>
            </a:r>
            <a:r>
              <a:rPr sz="1800" dirty="0">
                <a:latin typeface="Arial MT"/>
                <a:cs typeface="Arial MT"/>
              </a:rPr>
              <a:t>size</a:t>
            </a:r>
            <a:r>
              <a:rPr sz="1800" spc="-20"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2,048</a:t>
            </a:r>
            <a:r>
              <a:rPr sz="1800" spc="-5" dirty="0">
                <a:latin typeface="Arial MT"/>
                <a:cs typeface="Arial MT"/>
              </a:rPr>
              <a:t> </a:t>
            </a:r>
            <a:r>
              <a:rPr sz="1800" spc="-10" dirty="0">
                <a:latin typeface="Arial MT"/>
                <a:cs typeface="Arial MT"/>
              </a:rPr>
              <a:t>bytes</a:t>
            </a:r>
            <a:endParaRPr sz="1800">
              <a:latin typeface="Arial MT"/>
              <a:cs typeface="Arial MT"/>
            </a:endParaRPr>
          </a:p>
          <a:p>
            <a:pPr marL="756285" lvl="1" indent="-286385">
              <a:lnSpc>
                <a:spcPct val="100000"/>
              </a:lnSpc>
              <a:spcBef>
                <a:spcPts val="760"/>
              </a:spcBef>
              <a:buClr>
                <a:srgbClr val="CC6600"/>
              </a:buClr>
              <a:buSzPct val="80555"/>
              <a:buFont typeface="Wingdings"/>
              <a:buChar char=""/>
              <a:tabLst>
                <a:tab pos="756285" algn="l"/>
              </a:tabLst>
            </a:pPr>
            <a:r>
              <a:rPr sz="1800" dirty="0">
                <a:latin typeface="Arial MT"/>
                <a:cs typeface="Arial MT"/>
              </a:rPr>
              <a:t>Process</a:t>
            </a:r>
            <a:r>
              <a:rPr sz="1800" spc="-30" dirty="0">
                <a:latin typeface="Arial MT"/>
                <a:cs typeface="Arial MT"/>
              </a:rPr>
              <a:t> </a:t>
            </a:r>
            <a:r>
              <a:rPr sz="1800" dirty="0">
                <a:latin typeface="Arial MT"/>
                <a:cs typeface="Arial MT"/>
              </a:rPr>
              <a:t>size</a:t>
            </a:r>
            <a:r>
              <a:rPr sz="1800" spc="-10"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72,766</a:t>
            </a:r>
            <a:r>
              <a:rPr sz="1800" spc="-10" dirty="0">
                <a:latin typeface="Arial MT"/>
                <a:cs typeface="Arial MT"/>
              </a:rPr>
              <a:t> bytes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Process</a:t>
            </a:r>
            <a:r>
              <a:rPr sz="1800" spc="-25" dirty="0">
                <a:latin typeface="Arial MT"/>
                <a:cs typeface="Arial MT"/>
              </a:rPr>
              <a:t> </a:t>
            </a:r>
            <a:r>
              <a:rPr sz="1800" dirty="0">
                <a:latin typeface="Arial MT"/>
                <a:cs typeface="Arial MT"/>
              </a:rPr>
              <a:t>has </a:t>
            </a:r>
            <a:r>
              <a:rPr sz="1800" dirty="0">
                <a:solidFill>
                  <a:srgbClr val="FF0000"/>
                </a:solidFill>
                <a:latin typeface="Arial MT"/>
                <a:cs typeface="Arial MT"/>
              </a:rPr>
              <a:t>35</a:t>
            </a:r>
            <a:r>
              <a:rPr sz="1800" spc="-25" dirty="0">
                <a:solidFill>
                  <a:srgbClr val="FF0000"/>
                </a:solidFill>
                <a:latin typeface="Arial MT"/>
                <a:cs typeface="Arial MT"/>
              </a:rPr>
              <a:t> </a:t>
            </a:r>
            <a:r>
              <a:rPr sz="1800" dirty="0">
                <a:solidFill>
                  <a:srgbClr val="FF0000"/>
                </a:solidFill>
                <a:latin typeface="Arial MT"/>
                <a:cs typeface="Arial MT"/>
              </a:rPr>
              <a:t>pages</a:t>
            </a:r>
            <a:r>
              <a:rPr sz="1800" spc="-5" dirty="0">
                <a:solidFill>
                  <a:srgbClr val="FF0000"/>
                </a:solidFill>
                <a:latin typeface="Arial MT"/>
                <a:cs typeface="Arial MT"/>
              </a:rPr>
              <a:t> </a:t>
            </a:r>
            <a:r>
              <a:rPr sz="1800" dirty="0">
                <a:solidFill>
                  <a:srgbClr val="FF0000"/>
                </a:solidFill>
                <a:latin typeface="Arial MT"/>
                <a:cs typeface="Arial MT"/>
              </a:rPr>
              <a:t>+</a:t>
            </a:r>
            <a:r>
              <a:rPr sz="1800" spc="-20" dirty="0">
                <a:solidFill>
                  <a:srgbClr val="FF0000"/>
                </a:solidFill>
                <a:latin typeface="Arial MT"/>
                <a:cs typeface="Arial MT"/>
              </a:rPr>
              <a:t> </a:t>
            </a:r>
            <a:r>
              <a:rPr sz="1800" b="1" dirty="0">
                <a:solidFill>
                  <a:srgbClr val="FF0000"/>
                </a:solidFill>
                <a:latin typeface="Arial"/>
                <a:cs typeface="Arial"/>
              </a:rPr>
              <a:t>1,086</a:t>
            </a:r>
            <a:r>
              <a:rPr sz="1800" b="1" spc="-10" dirty="0">
                <a:solidFill>
                  <a:srgbClr val="FF0000"/>
                </a:solidFill>
                <a:latin typeface="Arial"/>
                <a:cs typeface="Arial"/>
              </a:rPr>
              <a:t> </a:t>
            </a:r>
            <a:r>
              <a:rPr sz="1800" b="1" dirty="0">
                <a:solidFill>
                  <a:srgbClr val="FF0000"/>
                </a:solidFill>
                <a:latin typeface="Arial"/>
                <a:cs typeface="Arial"/>
              </a:rPr>
              <a:t>bytes</a:t>
            </a:r>
            <a:r>
              <a:rPr sz="1800" dirty="0">
                <a:solidFill>
                  <a:srgbClr val="FF0000"/>
                </a:solidFill>
                <a:latin typeface="Arial MT"/>
                <a:cs typeface="Arial MT"/>
              </a:rPr>
              <a:t>; thus,</a:t>
            </a:r>
            <a:r>
              <a:rPr sz="1800" spc="-5" dirty="0">
                <a:solidFill>
                  <a:srgbClr val="FF0000"/>
                </a:solidFill>
                <a:latin typeface="Arial MT"/>
                <a:cs typeface="Arial MT"/>
              </a:rPr>
              <a:t> </a:t>
            </a:r>
            <a:r>
              <a:rPr sz="1800" b="1" dirty="0">
                <a:solidFill>
                  <a:srgbClr val="FF0000"/>
                </a:solidFill>
                <a:latin typeface="Arial"/>
                <a:cs typeface="Arial"/>
              </a:rPr>
              <a:t>36</a:t>
            </a:r>
            <a:r>
              <a:rPr sz="1800" b="1" spc="-25" dirty="0">
                <a:solidFill>
                  <a:srgbClr val="FF0000"/>
                </a:solidFill>
                <a:latin typeface="Arial"/>
                <a:cs typeface="Arial"/>
              </a:rPr>
              <a:t> </a:t>
            </a:r>
            <a:r>
              <a:rPr sz="1800" b="1" dirty="0">
                <a:solidFill>
                  <a:srgbClr val="FF0000"/>
                </a:solidFill>
                <a:latin typeface="Arial"/>
                <a:cs typeface="Arial"/>
              </a:rPr>
              <a:t>frames</a:t>
            </a:r>
            <a:r>
              <a:rPr sz="1800" b="1" spc="-10" dirty="0">
                <a:solidFill>
                  <a:srgbClr val="FF0000"/>
                </a:solidFill>
                <a:latin typeface="Arial"/>
                <a:cs typeface="Arial"/>
              </a:rPr>
              <a:t> </a:t>
            </a:r>
            <a:r>
              <a:rPr sz="1800" spc="-10" dirty="0">
                <a:solidFill>
                  <a:srgbClr val="FF0000"/>
                </a:solidFill>
                <a:latin typeface="Arial MT"/>
                <a:cs typeface="Arial MT"/>
              </a:rPr>
              <a:t>required</a:t>
            </a:r>
            <a:endParaRPr sz="1800">
              <a:latin typeface="Arial MT"/>
              <a:cs typeface="Arial MT"/>
            </a:endParaRPr>
          </a:p>
          <a:p>
            <a:pPr marL="1098550" lvl="2" indent="-227965">
              <a:lnSpc>
                <a:spcPct val="100000"/>
              </a:lnSpc>
              <a:spcBef>
                <a:spcPts val="760"/>
              </a:spcBef>
              <a:buClr>
                <a:srgbClr val="009900"/>
              </a:buClr>
              <a:buSzPct val="75000"/>
              <a:buFont typeface="Webdings"/>
              <a:buChar char=""/>
              <a:tabLst>
                <a:tab pos="1098550" algn="l"/>
              </a:tabLst>
            </a:pPr>
            <a:r>
              <a:rPr sz="1800" dirty="0">
                <a:latin typeface="Arial MT"/>
                <a:cs typeface="Arial MT"/>
              </a:rPr>
              <a:t>Internal</a:t>
            </a:r>
            <a:r>
              <a:rPr sz="1800" spc="-15" dirty="0">
                <a:latin typeface="Arial MT"/>
                <a:cs typeface="Arial MT"/>
              </a:rPr>
              <a:t> </a:t>
            </a:r>
            <a:r>
              <a:rPr sz="1800" dirty="0">
                <a:latin typeface="Arial MT"/>
                <a:cs typeface="Arial MT"/>
              </a:rPr>
              <a:t>fragmentation</a:t>
            </a:r>
            <a:r>
              <a:rPr sz="1800" spc="-10" dirty="0">
                <a:latin typeface="Arial MT"/>
                <a:cs typeface="Arial MT"/>
              </a:rPr>
              <a:t> </a:t>
            </a:r>
            <a:r>
              <a:rPr sz="1800" dirty="0">
                <a:latin typeface="Arial MT"/>
                <a:cs typeface="Arial MT"/>
              </a:rPr>
              <a:t>of</a:t>
            </a:r>
            <a:r>
              <a:rPr sz="1800" spc="-5" dirty="0">
                <a:latin typeface="Arial MT"/>
                <a:cs typeface="Arial MT"/>
              </a:rPr>
              <a:t> </a:t>
            </a:r>
            <a:r>
              <a:rPr sz="1800" dirty="0">
                <a:solidFill>
                  <a:srgbClr val="FF0000"/>
                </a:solidFill>
                <a:latin typeface="Arial MT"/>
                <a:cs typeface="Arial MT"/>
              </a:rPr>
              <a:t>2,048</a:t>
            </a:r>
            <a:r>
              <a:rPr sz="1800" spc="-25" dirty="0">
                <a:solidFill>
                  <a:srgbClr val="FF0000"/>
                </a:solidFill>
                <a:latin typeface="Arial MT"/>
                <a:cs typeface="Arial MT"/>
              </a:rPr>
              <a:t> </a:t>
            </a:r>
            <a:r>
              <a:rPr sz="1800" dirty="0">
                <a:solidFill>
                  <a:srgbClr val="FF0000"/>
                </a:solidFill>
                <a:latin typeface="Arial MT"/>
                <a:cs typeface="Arial MT"/>
              </a:rPr>
              <a:t>-</a:t>
            </a:r>
            <a:r>
              <a:rPr sz="1800" spc="-20" dirty="0">
                <a:solidFill>
                  <a:srgbClr val="FF0000"/>
                </a:solidFill>
                <a:latin typeface="Arial MT"/>
                <a:cs typeface="Arial MT"/>
              </a:rPr>
              <a:t> </a:t>
            </a:r>
            <a:r>
              <a:rPr sz="1800" dirty="0">
                <a:solidFill>
                  <a:srgbClr val="FF0000"/>
                </a:solidFill>
                <a:latin typeface="Arial MT"/>
                <a:cs typeface="Arial MT"/>
              </a:rPr>
              <a:t>1,086</a:t>
            </a:r>
            <a:r>
              <a:rPr sz="1800" spc="-10" dirty="0">
                <a:solidFill>
                  <a:srgbClr val="FF0000"/>
                </a:solidFill>
                <a:latin typeface="Arial MT"/>
                <a:cs typeface="Arial MT"/>
              </a:rPr>
              <a:t> </a:t>
            </a:r>
            <a:r>
              <a:rPr sz="1800" dirty="0">
                <a:solidFill>
                  <a:srgbClr val="FF0000"/>
                </a:solidFill>
                <a:latin typeface="Arial MT"/>
                <a:cs typeface="Arial MT"/>
              </a:rPr>
              <a:t>=</a:t>
            </a:r>
            <a:r>
              <a:rPr sz="1800" spc="-20" dirty="0">
                <a:solidFill>
                  <a:srgbClr val="FF0000"/>
                </a:solidFill>
                <a:latin typeface="Arial MT"/>
                <a:cs typeface="Arial MT"/>
              </a:rPr>
              <a:t> </a:t>
            </a:r>
            <a:r>
              <a:rPr sz="1800" b="1" dirty="0">
                <a:solidFill>
                  <a:srgbClr val="FF0000"/>
                </a:solidFill>
                <a:latin typeface="Arial"/>
                <a:cs typeface="Arial"/>
              </a:rPr>
              <a:t>962</a:t>
            </a:r>
            <a:r>
              <a:rPr sz="1800" b="1" spc="-10" dirty="0">
                <a:solidFill>
                  <a:srgbClr val="FF0000"/>
                </a:solidFill>
                <a:latin typeface="Arial"/>
                <a:cs typeface="Arial"/>
              </a:rPr>
              <a:t> </a:t>
            </a:r>
            <a:r>
              <a:rPr sz="1800" b="1" dirty="0">
                <a:solidFill>
                  <a:srgbClr val="FF0000"/>
                </a:solidFill>
                <a:latin typeface="Arial"/>
                <a:cs typeface="Arial"/>
              </a:rPr>
              <a:t>bytes</a:t>
            </a:r>
            <a:r>
              <a:rPr sz="1800" b="1" spc="-10" dirty="0">
                <a:solidFill>
                  <a:srgbClr val="FF0000"/>
                </a:solidFill>
                <a:latin typeface="Arial"/>
                <a:cs typeface="Arial"/>
              </a:rPr>
              <a:t> </a:t>
            </a:r>
            <a:r>
              <a:rPr sz="1800" dirty="0">
                <a:solidFill>
                  <a:srgbClr val="FF0000"/>
                </a:solidFill>
                <a:latin typeface="Arial MT"/>
                <a:cs typeface="Arial MT"/>
              </a:rPr>
              <a:t>of</a:t>
            </a:r>
            <a:r>
              <a:rPr sz="1800" spc="-20" dirty="0">
                <a:solidFill>
                  <a:srgbClr val="FF0000"/>
                </a:solidFill>
                <a:latin typeface="Arial MT"/>
                <a:cs typeface="Arial MT"/>
              </a:rPr>
              <a:t> </a:t>
            </a:r>
            <a:r>
              <a:rPr sz="1800" spc="-10" dirty="0">
                <a:solidFill>
                  <a:srgbClr val="FF0000"/>
                </a:solidFill>
                <a:latin typeface="Arial MT"/>
                <a:cs typeface="Arial MT"/>
              </a:rPr>
              <a:t>un-</a:t>
            </a:r>
            <a:r>
              <a:rPr sz="1800" dirty="0">
                <a:solidFill>
                  <a:srgbClr val="FF0000"/>
                </a:solidFill>
                <a:latin typeface="Arial MT"/>
                <a:cs typeface="Arial MT"/>
              </a:rPr>
              <a:t>used</a:t>
            </a:r>
            <a:r>
              <a:rPr sz="1800" spc="-10" dirty="0">
                <a:solidFill>
                  <a:srgbClr val="FF0000"/>
                </a:solidFill>
                <a:latin typeface="Arial MT"/>
                <a:cs typeface="Arial MT"/>
              </a:rPr>
              <a:t> memory</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 pos="3716020" algn="l"/>
              </a:tabLst>
            </a:pPr>
            <a:r>
              <a:rPr sz="1800" dirty="0">
                <a:latin typeface="Arial MT"/>
                <a:cs typeface="Arial MT"/>
              </a:rPr>
              <a:t>Worst</a:t>
            </a:r>
            <a:r>
              <a:rPr sz="1800" spc="-35" dirty="0">
                <a:latin typeface="Arial MT"/>
                <a:cs typeface="Arial MT"/>
              </a:rPr>
              <a:t> </a:t>
            </a:r>
            <a:r>
              <a:rPr sz="1800" dirty="0">
                <a:latin typeface="Arial MT"/>
                <a:cs typeface="Arial MT"/>
              </a:rPr>
              <a:t>case</a:t>
            </a:r>
            <a:r>
              <a:rPr sz="1800" spc="-25" dirty="0">
                <a:latin typeface="Arial MT"/>
                <a:cs typeface="Arial MT"/>
              </a:rPr>
              <a:t> </a:t>
            </a:r>
            <a:r>
              <a:rPr sz="1800" dirty="0">
                <a:latin typeface="Arial MT"/>
                <a:cs typeface="Arial MT"/>
              </a:rPr>
              <a:t>fragmentation</a:t>
            </a:r>
            <a:r>
              <a:rPr sz="1800" spc="-25" dirty="0">
                <a:latin typeface="Arial MT"/>
                <a:cs typeface="Arial MT"/>
              </a:rPr>
              <a:t> is</a:t>
            </a:r>
            <a:r>
              <a:rPr sz="1800" dirty="0">
                <a:latin typeface="Arial MT"/>
                <a:cs typeface="Arial MT"/>
              </a:rPr>
              <a:t>	</a:t>
            </a:r>
            <a:r>
              <a:rPr sz="1800" dirty="0">
                <a:solidFill>
                  <a:srgbClr val="FF0000"/>
                </a:solidFill>
                <a:latin typeface="Arial MT"/>
                <a:cs typeface="Arial MT"/>
              </a:rPr>
              <a:t>when</a:t>
            </a:r>
            <a:r>
              <a:rPr sz="1800" spc="20" dirty="0">
                <a:solidFill>
                  <a:srgbClr val="FF0000"/>
                </a:solidFill>
                <a:latin typeface="Arial MT"/>
                <a:cs typeface="Arial MT"/>
              </a:rPr>
              <a:t> </a:t>
            </a:r>
            <a:r>
              <a:rPr sz="1800" dirty="0">
                <a:solidFill>
                  <a:srgbClr val="FF0000"/>
                </a:solidFill>
                <a:latin typeface="Arial MT"/>
                <a:cs typeface="Arial MT"/>
              </a:rPr>
              <a:t>1</a:t>
            </a:r>
            <a:r>
              <a:rPr sz="1800" spc="-25" dirty="0">
                <a:solidFill>
                  <a:srgbClr val="FF0000"/>
                </a:solidFill>
                <a:latin typeface="Arial MT"/>
                <a:cs typeface="Arial MT"/>
              </a:rPr>
              <a:t> </a:t>
            </a:r>
            <a:r>
              <a:rPr sz="1800" dirty="0">
                <a:solidFill>
                  <a:srgbClr val="FF0000"/>
                </a:solidFill>
                <a:latin typeface="Arial MT"/>
                <a:cs typeface="Arial MT"/>
              </a:rPr>
              <a:t>frame</a:t>
            </a:r>
            <a:r>
              <a:rPr sz="1800" spc="-30" dirty="0">
                <a:solidFill>
                  <a:srgbClr val="FF0000"/>
                </a:solidFill>
                <a:latin typeface="Arial MT"/>
                <a:cs typeface="Arial MT"/>
              </a:rPr>
              <a:t> </a:t>
            </a:r>
            <a:r>
              <a:rPr sz="1800" dirty="0">
                <a:solidFill>
                  <a:srgbClr val="FF0000"/>
                </a:solidFill>
                <a:latin typeface="Arial MT"/>
                <a:cs typeface="Arial MT"/>
              </a:rPr>
              <a:t>contains</a:t>
            </a:r>
            <a:r>
              <a:rPr sz="1800" spc="-15" dirty="0">
                <a:solidFill>
                  <a:srgbClr val="FF0000"/>
                </a:solidFill>
                <a:latin typeface="Arial MT"/>
                <a:cs typeface="Arial MT"/>
              </a:rPr>
              <a:t> </a:t>
            </a:r>
            <a:r>
              <a:rPr sz="1800" dirty="0">
                <a:solidFill>
                  <a:srgbClr val="FF0000"/>
                </a:solidFill>
                <a:latin typeface="Arial MT"/>
                <a:cs typeface="Arial MT"/>
              </a:rPr>
              <a:t>only</a:t>
            </a:r>
            <a:r>
              <a:rPr sz="1800" spc="-35" dirty="0">
                <a:solidFill>
                  <a:srgbClr val="FF0000"/>
                </a:solidFill>
                <a:latin typeface="Arial MT"/>
                <a:cs typeface="Arial MT"/>
              </a:rPr>
              <a:t> </a:t>
            </a:r>
            <a:r>
              <a:rPr sz="1800" dirty="0">
                <a:solidFill>
                  <a:srgbClr val="FF0000"/>
                </a:solidFill>
                <a:latin typeface="Arial MT"/>
                <a:cs typeface="Arial MT"/>
              </a:rPr>
              <a:t>1</a:t>
            </a:r>
            <a:r>
              <a:rPr sz="1800" spc="-20" dirty="0">
                <a:solidFill>
                  <a:srgbClr val="FF0000"/>
                </a:solidFill>
                <a:latin typeface="Arial MT"/>
                <a:cs typeface="Arial MT"/>
              </a:rPr>
              <a:t> </a:t>
            </a:r>
            <a:r>
              <a:rPr sz="1800" dirty="0">
                <a:solidFill>
                  <a:srgbClr val="FF0000"/>
                </a:solidFill>
                <a:latin typeface="Arial MT"/>
                <a:cs typeface="Arial MT"/>
              </a:rPr>
              <a:t>byte of</a:t>
            </a:r>
            <a:r>
              <a:rPr sz="1800" spc="-20" dirty="0">
                <a:solidFill>
                  <a:srgbClr val="FF0000"/>
                </a:solidFill>
                <a:latin typeface="Arial MT"/>
                <a:cs typeface="Arial MT"/>
              </a:rPr>
              <a:t> </a:t>
            </a:r>
            <a:r>
              <a:rPr sz="1800" dirty="0">
                <a:solidFill>
                  <a:srgbClr val="FF0000"/>
                </a:solidFill>
                <a:latin typeface="Arial MT"/>
                <a:cs typeface="Arial MT"/>
              </a:rPr>
              <a:t>used</a:t>
            </a:r>
            <a:r>
              <a:rPr sz="1800" spc="-20" dirty="0">
                <a:solidFill>
                  <a:srgbClr val="FF0000"/>
                </a:solidFill>
                <a:latin typeface="Arial MT"/>
                <a:cs typeface="Arial MT"/>
              </a:rPr>
              <a:t> </a:t>
            </a:r>
            <a:r>
              <a:rPr sz="1800" spc="-25" dirty="0">
                <a:solidFill>
                  <a:srgbClr val="FF0000"/>
                </a:solidFill>
                <a:latin typeface="Arial MT"/>
                <a:cs typeface="Arial MT"/>
              </a:rPr>
              <a:t>mem</a:t>
            </a:r>
            <a:endParaRPr sz="1800">
              <a:latin typeface="Arial MT"/>
              <a:cs typeface="Arial MT"/>
            </a:endParaRPr>
          </a:p>
          <a:p>
            <a:pPr marL="756285" lvl="1" indent="-286385">
              <a:lnSpc>
                <a:spcPct val="100000"/>
              </a:lnSpc>
              <a:spcBef>
                <a:spcPts val="755"/>
              </a:spcBef>
              <a:buClr>
                <a:srgbClr val="CC6600"/>
              </a:buClr>
              <a:buSzPct val="80555"/>
              <a:buFont typeface="Wingdings"/>
              <a:buChar char=""/>
              <a:tabLst>
                <a:tab pos="756285" algn="l"/>
              </a:tabLst>
            </a:pPr>
            <a:r>
              <a:rPr sz="1800" dirty="0">
                <a:latin typeface="Arial MT"/>
                <a:cs typeface="Arial MT"/>
              </a:rPr>
              <a:t>Average</a:t>
            </a:r>
            <a:r>
              <a:rPr sz="1800" spc="-20" dirty="0">
                <a:latin typeface="Arial MT"/>
                <a:cs typeface="Arial MT"/>
              </a:rPr>
              <a:t> </a:t>
            </a:r>
            <a:r>
              <a:rPr sz="1800" dirty="0">
                <a:latin typeface="Arial MT"/>
                <a:cs typeface="Arial MT"/>
              </a:rPr>
              <a:t>fragmentation</a:t>
            </a:r>
            <a:r>
              <a:rPr sz="1800" spc="-2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about</a:t>
            </a:r>
            <a:r>
              <a:rPr sz="1800" spc="-10" dirty="0">
                <a:latin typeface="Arial MT"/>
                <a:cs typeface="Arial MT"/>
              </a:rPr>
              <a:t> 1-</a:t>
            </a:r>
            <a:r>
              <a:rPr sz="1800" dirty="0">
                <a:latin typeface="Arial MT"/>
                <a:cs typeface="Arial MT"/>
              </a:rPr>
              <a:t>half</a:t>
            </a:r>
            <a:r>
              <a:rPr sz="1800" spc="-10" dirty="0">
                <a:latin typeface="Arial MT"/>
                <a:cs typeface="Arial MT"/>
              </a:rPr>
              <a:t> </a:t>
            </a:r>
            <a:r>
              <a:rPr sz="1800" dirty="0">
                <a:latin typeface="Arial MT"/>
                <a:cs typeface="Arial MT"/>
              </a:rPr>
              <a:t>page</a:t>
            </a:r>
            <a:r>
              <a:rPr sz="1800" spc="-20" dirty="0">
                <a:latin typeface="Arial MT"/>
                <a:cs typeface="Arial MT"/>
              </a:rPr>
              <a:t> </a:t>
            </a:r>
            <a:r>
              <a:rPr sz="1800" dirty="0">
                <a:latin typeface="Arial MT"/>
                <a:cs typeface="Arial MT"/>
              </a:rPr>
              <a:t>size</a:t>
            </a:r>
            <a:r>
              <a:rPr sz="1800" spc="-35" dirty="0">
                <a:latin typeface="Arial MT"/>
                <a:cs typeface="Arial MT"/>
              </a:rPr>
              <a:t> </a:t>
            </a:r>
            <a:r>
              <a:rPr sz="1800" dirty="0">
                <a:latin typeface="Arial MT"/>
                <a:cs typeface="Arial MT"/>
              </a:rPr>
              <a:t>per</a:t>
            </a:r>
            <a:r>
              <a:rPr sz="1800" spc="-25" dirty="0">
                <a:latin typeface="Arial MT"/>
                <a:cs typeface="Arial MT"/>
              </a:rPr>
              <a:t> </a:t>
            </a:r>
            <a:r>
              <a:rPr sz="1800" spc="-10" dirty="0">
                <a:latin typeface="Arial MT"/>
                <a:cs typeface="Arial MT"/>
              </a:rPr>
              <a:t>process</a:t>
            </a:r>
            <a:endParaRPr sz="1800">
              <a:latin typeface="Arial MT"/>
              <a:cs typeface="Arial MT"/>
            </a:endParaRPr>
          </a:p>
          <a:p>
            <a:pPr marL="1098550" lvl="2" indent="-227965">
              <a:lnSpc>
                <a:spcPct val="100000"/>
              </a:lnSpc>
              <a:spcBef>
                <a:spcPts val="760"/>
              </a:spcBef>
              <a:buClr>
                <a:srgbClr val="009900"/>
              </a:buClr>
              <a:buSzPct val="75000"/>
              <a:buFont typeface="Webdings"/>
              <a:buChar char=""/>
              <a:tabLst>
                <a:tab pos="1098550" algn="l"/>
              </a:tabLst>
            </a:pPr>
            <a:r>
              <a:rPr sz="1800" dirty="0">
                <a:latin typeface="Arial MT"/>
                <a:cs typeface="Arial MT"/>
              </a:rPr>
              <a:t>So:</a:t>
            </a:r>
            <a:r>
              <a:rPr sz="1800" spc="-25" dirty="0">
                <a:latin typeface="Arial MT"/>
                <a:cs typeface="Arial MT"/>
              </a:rPr>
              <a:t> </a:t>
            </a:r>
            <a:r>
              <a:rPr sz="1800" dirty="0">
                <a:latin typeface="Arial MT"/>
                <a:cs typeface="Arial MT"/>
              </a:rPr>
              <a:t>are</a:t>
            </a:r>
            <a:r>
              <a:rPr sz="1800" spc="-25" dirty="0">
                <a:latin typeface="Arial MT"/>
                <a:cs typeface="Arial MT"/>
              </a:rPr>
              <a:t> </a:t>
            </a:r>
            <a:r>
              <a:rPr sz="1800" dirty="0">
                <a:latin typeface="Arial MT"/>
                <a:cs typeface="Arial MT"/>
              </a:rPr>
              <a:t>small</a:t>
            </a:r>
            <a:r>
              <a:rPr sz="1800" spc="-15" dirty="0">
                <a:latin typeface="Arial MT"/>
                <a:cs typeface="Arial MT"/>
              </a:rPr>
              <a:t> </a:t>
            </a:r>
            <a:r>
              <a:rPr sz="1800" dirty="0">
                <a:latin typeface="Arial MT"/>
                <a:cs typeface="Arial MT"/>
              </a:rPr>
              <a:t>page</a:t>
            </a:r>
            <a:r>
              <a:rPr sz="1800" spc="-15" dirty="0">
                <a:latin typeface="Arial MT"/>
                <a:cs typeface="Arial MT"/>
              </a:rPr>
              <a:t> </a:t>
            </a:r>
            <a:r>
              <a:rPr sz="1800" dirty="0">
                <a:latin typeface="Arial MT"/>
                <a:cs typeface="Arial MT"/>
              </a:rPr>
              <a:t>sizes</a:t>
            </a:r>
            <a:r>
              <a:rPr sz="1800" spc="-15" dirty="0">
                <a:latin typeface="Arial MT"/>
                <a:cs typeface="Arial MT"/>
              </a:rPr>
              <a:t> </a:t>
            </a:r>
            <a:r>
              <a:rPr sz="1800" dirty="0">
                <a:latin typeface="Arial MT"/>
                <a:cs typeface="Arial MT"/>
              </a:rPr>
              <a:t>more</a:t>
            </a:r>
            <a:r>
              <a:rPr sz="1800" spc="-15" dirty="0">
                <a:latin typeface="Arial MT"/>
                <a:cs typeface="Arial MT"/>
              </a:rPr>
              <a:t> </a:t>
            </a:r>
            <a:r>
              <a:rPr sz="1800" spc="-10" dirty="0">
                <a:latin typeface="Arial MT"/>
                <a:cs typeface="Arial MT"/>
              </a:rPr>
              <a:t>desirable?</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solidFill>
                  <a:srgbClr val="FF0000"/>
                </a:solidFill>
                <a:latin typeface="Arial MT"/>
                <a:cs typeface="Arial MT"/>
              </a:rPr>
              <a:t>Not</a:t>
            </a:r>
            <a:r>
              <a:rPr sz="1800" spc="-30" dirty="0">
                <a:solidFill>
                  <a:srgbClr val="FF0000"/>
                </a:solidFill>
                <a:latin typeface="Arial MT"/>
                <a:cs typeface="Arial MT"/>
              </a:rPr>
              <a:t> </a:t>
            </a:r>
            <a:r>
              <a:rPr sz="1800" dirty="0">
                <a:solidFill>
                  <a:srgbClr val="FF0000"/>
                </a:solidFill>
                <a:latin typeface="Arial MT"/>
                <a:cs typeface="Arial MT"/>
              </a:rPr>
              <a:t>necessarily</a:t>
            </a:r>
            <a:r>
              <a:rPr sz="1800" dirty="0">
                <a:latin typeface="Arial MT"/>
                <a:cs typeface="Arial MT"/>
              </a:rPr>
              <a:t>;</a:t>
            </a:r>
            <a:r>
              <a:rPr sz="1800" spc="15" dirty="0">
                <a:latin typeface="Arial MT"/>
                <a:cs typeface="Arial MT"/>
              </a:rPr>
              <a:t> </a:t>
            </a:r>
            <a:r>
              <a:rPr sz="1800" dirty="0">
                <a:latin typeface="Arial MT"/>
                <a:cs typeface="Arial MT"/>
              </a:rPr>
              <a:t>each</a:t>
            </a:r>
            <a:r>
              <a:rPr sz="1800" spc="-20" dirty="0">
                <a:latin typeface="Arial MT"/>
                <a:cs typeface="Arial MT"/>
              </a:rPr>
              <a:t> </a:t>
            </a:r>
            <a:r>
              <a:rPr sz="1800" spc="-10" dirty="0">
                <a:latin typeface="Arial MT"/>
                <a:cs typeface="Arial MT"/>
              </a:rPr>
              <a:t>page-</a:t>
            </a:r>
            <a:r>
              <a:rPr sz="1800" dirty="0">
                <a:latin typeface="Arial MT"/>
                <a:cs typeface="Arial MT"/>
              </a:rPr>
              <a:t>table</a:t>
            </a:r>
            <a:r>
              <a:rPr sz="1800" spc="-5" dirty="0">
                <a:latin typeface="Arial MT"/>
                <a:cs typeface="Arial MT"/>
              </a:rPr>
              <a:t> </a:t>
            </a:r>
            <a:r>
              <a:rPr sz="1800" dirty="0">
                <a:latin typeface="Arial MT"/>
                <a:cs typeface="Arial MT"/>
              </a:rPr>
              <a:t>entry</a:t>
            </a:r>
            <a:r>
              <a:rPr sz="1800" spc="-20" dirty="0">
                <a:latin typeface="Arial MT"/>
                <a:cs typeface="Arial MT"/>
              </a:rPr>
              <a:t> </a:t>
            </a:r>
            <a:r>
              <a:rPr sz="1800" dirty="0">
                <a:latin typeface="Arial MT"/>
                <a:cs typeface="Arial MT"/>
              </a:rPr>
              <a:t>takes</a:t>
            </a:r>
            <a:r>
              <a:rPr sz="1800" spc="-25"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track</a:t>
            </a:r>
            <a:r>
              <a:rPr sz="1800" spc="-20" dirty="0">
                <a:latin typeface="Arial MT"/>
                <a:cs typeface="Arial MT"/>
              </a:rPr>
              <a:t> </a:t>
            </a:r>
            <a:r>
              <a:rPr sz="1800" spc="-10" dirty="0">
                <a:latin typeface="Arial MT"/>
                <a:cs typeface="Arial MT"/>
              </a:rPr>
              <a:t>(</a:t>
            </a:r>
            <a:r>
              <a:rPr sz="1800" spc="-10" dirty="0">
                <a:solidFill>
                  <a:srgbClr val="FF0000"/>
                </a:solidFill>
                <a:latin typeface="Arial MT"/>
                <a:cs typeface="Arial MT"/>
              </a:rPr>
              <a:t>overhead</a:t>
            </a:r>
            <a:r>
              <a:rPr sz="1800" spc="-10" dirty="0">
                <a:latin typeface="Arial MT"/>
                <a:cs typeface="Arial MT"/>
              </a:rPr>
              <a:t>)</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solidFill>
                  <a:srgbClr val="FF0000"/>
                </a:solidFill>
                <a:latin typeface="Arial MT"/>
                <a:cs typeface="Arial MT"/>
              </a:rPr>
              <a:t>Large</a:t>
            </a:r>
            <a:r>
              <a:rPr sz="1800" spc="-25" dirty="0">
                <a:solidFill>
                  <a:srgbClr val="FF0000"/>
                </a:solidFill>
                <a:latin typeface="Arial MT"/>
                <a:cs typeface="Arial MT"/>
              </a:rPr>
              <a:t> </a:t>
            </a:r>
            <a:r>
              <a:rPr sz="1800" dirty="0">
                <a:solidFill>
                  <a:srgbClr val="FF0000"/>
                </a:solidFill>
                <a:latin typeface="Arial MT"/>
                <a:cs typeface="Arial MT"/>
              </a:rPr>
              <a:t>frame</a:t>
            </a:r>
            <a:r>
              <a:rPr sz="1800" spc="-30" dirty="0">
                <a:solidFill>
                  <a:srgbClr val="FF0000"/>
                </a:solidFill>
                <a:latin typeface="Arial MT"/>
                <a:cs typeface="Arial MT"/>
              </a:rPr>
              <a:t> </a:t>
            </a:r>
            <a:r>
              <a:rPr sz="1800" dirty="0">
                <a:solidFill>
                  <a:srgbClr val="FF0000"/>
                </a:solidFill>
                <a:latin typeface="Arial MT"/>
                <a:cs typeface="Arial MT"/>
              </a:rPr>
              <a:t>sizes</a:t>
            </a:r>
            <a:r>
              <a:rPr sz="1800" spc="-25" dirty="0">
                <a:solidFill>
                  <a:srgbClr val="FF0000"/>
                </a:solidFill>
                <a:latin typeface="Arial MT"/>
                <a:cs typeface="Arial MT"/>
              </a:rPr>
              <a:t> </a:t>
            </a:r>
            <a:r>
              <a:rPr sz="1800" dirty="0">
                <a:solidFill>
                  <a:srgbClr val="FF0000"/>
                </a:solidFill>
                <a:latin typeface="Arial MT"/>
                <a:cs typeface="Arial MT"/>
              </a:rPr>
              <a:t>better</a:t>
            </a:r>
            <a:r>
              <a:rPr sz="1800" spc="-30" dirty="0">
                <a:solidFill>
                  <a:srgbClr val="FF0000"/>
                </a:solidFill>
                <a:latin typeface="Arial MT"/>
                <a:cs typeface="Arial MT"/>
              </a:rPr>
              <a:t> </a:t>
            </a:r>
            <a:r>
              <a:rPr sz="1800" dirty="0">
                <a:solidFill>
                  <a:srgbClr val="FF0000"/>
                </a:solidFill>
                <a:latin typeface="Arial MT"/>
                <a:cs typeface="Arial MT"/>
              </a:rPr>
              <a:t>when</a:t>
            </a:r>
            <a:r>
              <a:rPr sz="1800" spc="15" dirty="0">
                <a:solidFill>
                  <a:srgbClr val="FF0000"/>
                </a:solidFill>
                <a:latin typeface="Arial MT"/>
                <a:cs typeface="Arial MT"/>
              </a:rPr>
              <a:t> </a:t>
            </a:r>
            <a:r>
              <a:rPr sz="1800" dirty="0">
                <a:solidFill>
                  <a:srgbClr val="FF0000"/>
                </a:solidFill>
                <a:latin typeface="Arial MT"/>
                <a:cs typeface="Arial MT"/>
              </a:rPr>
              <a:t>transferring</a:t>
            </a:r>
            <a:r>
              <a:rPr sz="1800" spc="-25" dirty="0">
                <a:solidFill>
                  <a:srgbClr val="FF0000"/>
                </a:solidFill>
                <a:latin typeface="Arial MT"/>
                <a:cs typeface="Arial MT"/>
              </a:rPr>
              <a:t> </a:t>
            </a:r>
            <a:r>
              <a:rPr sz="1800" dirty="0">
                <a:solidFill>
                  <a:srgbClr val="FF0000"/>
                </a:solidFill>
                <a:latin typeface="Arial MT"/>
                <a:cs typeface="Arial MT"/>
              </a:rPr>
              <a:t>data</a:t>
            </a:r>
            <a:r>
              <a:rPr sz="1800" spc="-15" dirty="0">
                <a:solidFill>
                  <a:srgbClr val="FF0000"/>
                </a:solidFill>
                <a:latin typeface="Arial MT"/>
                <a:cs typeface="Arial MT"/>
              </a:rPr>
              <a:t> </a:t>
            </a:r>
            <a:r>
              <a:rPr sz="1800" dirty="0">
                <a:solidFill>
                  <a:srgbClr val="FF0000"/>
                </a:solidFill>
                <a:latin typeface="Arial MT"/>
                <a:cs typeface="Arial MT"/>
              </a:rPr>
              <a:t>to/from</a:t>
            </a:r>
            <a:r>
              <a:rPr sz="1800" spc="-50" dirty="0">
                <a:solidFill>
                  <a:srgbClr val="FF0000"/>
                </a:solidFill>
                <a:latin typeface="Arial MT"/>
                <a:cs typeface="Arial MT"/>
              </a:rPr>
              <a:t> </a:t>
            </a:r>
            <a:r>
              <a:rPr sz="1800" dirty="0">
                <a:solidFill>
                  <a:srgbClr val="FF0000"/>
                </a:solidFill>
                <a:latin typeface="Arial MT"/>
                <a:cs typeface="Arial MT"/>
              </a:rPr>
              <a:t>disk; </a:t>
            </a:r>
            <a:r>
              <a:rPr sz="1400" b="1" dirty="0">
                <a:solidFill>
                  <a:srgbClr val="FF0000"/>
                </a:solidFill>
                <a:latin typeface="Arial"/>
                <a:cs typeface="Arial"/>
              </a:rPr>
              <a:t>efficient</a:t>
            </a:r>
            <a:r>
              <a:rPr sz="1400" b="1" spc="-65" dirty="0">
                <a:solidFill>
                  <a:srgbClr val="FF0000"/>
                </a:solidFill>
                <a:latin typeface="Arial"/>
                <a:cs typeface="Arial"/>
              </a:rPr>
              <a:t> </a:t>
            </a:r>
            <a:r>
              <a:rPr sz="1400" b="1" dirty="0">
                <a:solidFill>
                  <a:srgbClr val="FF0000"/>
                </a:solidFill>
                <a:latin typeface="Arial"/>
                <a:cs typeface="Arial"/>
              </a:rPr>
              <a:t>disk</a:t>
            </a:r>
            <a:r>
              <a:rPr sz="1400" b="1" spc="-40" dirty="0">
                <a:solidFill>
                  <a:srgbClr val="FF0000"/>
                </a:solidFill>
                <a:latin typeface="Arial"/>
                <a:cs typeface="Arial"/>
              </a:rPr>
              <a:t> </a:t>
            </a:r>
            <a:r>
              <a:rPr sz="1400" b="1" spc="-25" dirty="0">
                <a:solidFill>
                  <a:srgbClr val="FF0000"/>
                </a:solidFill>
                <a:latin typeface="Arial"/>
                <a:cs typeface="Arial"/>
              </a:rPr>
              <a:t>I/O</a:t>
            </a:r>
            <a:endParaRPr sz="1400">
              <a:latin typeface="Arial"/>
              <a:cs typeface="Arial"/>
            </a:endParaRPr>
          </a:p>
          <a:p>
            <a:pPr marL="756285" lvl="1" indent="-286385">
              <a:lnSpc>
                <a:spcPct val="100000"/>
              </a:lnSpc>
              <a:spcBef>
                <a:spcPts val="760"/>
              </a:spcBef>
              <a:buClr>
                <a:srgbClr val="CC6600"/>
              </a:buClr>
              <a:buSzPct val="80555"/>
              <a:buFont typeface="Wingdings"/>
              <a:buChar char=""/>
              <a:tabLst>
                <a:tab pos="756285" algn="l"/>
              </a:tabLst>
            </a:pPr>
            <a:r>
              <a:rPr sz="1800" dirty="0">
                <a:latin typeface="Arial MT"/>
                <a:cs typeface="Arial MT"/>
              </a:rPr>
              <a:t>Page</a:t>
            </a:r>
            <a:r>
              <a:rPr sz="1800" spc="-25" dirty="0">
                <a:latin typeface="Arial MT"/>
                <a:cs typeface="Arial MT"/>
              </a:rPr>
              <a:t> </a:t>
            </a:r>
            <a:r>
              <a:rPr sz="1800" dirty="0">
                <a:latin typeface="Arial MT"/>
                <a:cs typeface="Arial MT"/>
              </a:rPr>
              <a:t>size:</a:t>
            </a:r>
            <a:r>
              <a:rPr sz="1800" spc="-25" dirty="0">
                <a:latin typeface="Arial MT"/>
                <a:cs typeface="Arial MT"/>
              </a:rPr>
              <a:t> </a:t>
            </a:r>
            <a:r>
              <a:rPr sz="1800" dirty="0">
                <a:latin typeface="Arial MT"/>
                <a:cs typeface="Arial MT"/>
              </a:rPr>
              <a:t>4KB</a:t>
            </a:r>
            <a:r>
              <a:rPr sz="1800" spc="-25" dirty="0">
                <a:latin typeface="Arial MT"/>
                <a:cs typeface="Arial MT"/>
              </a:rPr>
              <a:t> </a:t>
            </a:r>
            <a:r>
              <a:rPr sz="1800" dirty="0">
                <a:latin typeface="Arial MT"/>
                <a:cs typeface="Arial MT"/>
              </a:rPr>
              <a:t>~</a:t>
            </a:r>
            <a:r>
              <a:rPr sz="1800" spc="-30" dirty="0">
                <a:latin typeface="Arial MT"/>
                <a:cs typeface="Arial MT"/>
              </a:rPr>
              <a:t> </a:t>
            </a:r>
            <a:r>
              <a:rPr sz="1800" dirty="0">
                <a:latin typeface="Arial MT"/>
                <a:cs typeface="Arial MT"/>
              </a:rPr>
              <a:t>8KB</a:t>
            </a:r>
            <a:r>
              <a:rPr sz="1800" spc="-30" dirty="0">
                <a:latin typeface="Arial MT"/>
                <a:cs typeface="Arial MT"/>
              </a:rPr>
              <a:t> </a:t>
            </a:r>
            <a:r>
              <a:rPr sz="1800" dirty="0">
                <a:latin typeface="Arial MT"/>
                <a:cs typeface="Arial MT"/>
              </a:rPr>
              <a:t>but</a:t>
            </a:r>
            <a:r>
              <a:rPr sz="1800" spc="-20" dirty="0">
                <a:latin typeface="Arial MT"/>
                <a:cs typeface="Arial MT"/>
              </a:rPr>
              <a:t> </a:t>
            </a:r>
            <a:r>
              <a:rPr sz="1800" dirty="0">
                <a:latin typeface="Arial MT"/>
                <a:cs typeface="Arial MT"/>
              </a:rPr>
              <a:t>growing</a:t>
            </a:r>
            <a:r>
              <a:rPr sz="1800" spc="25" dirty="0">
                <a:latin typeface="Arial MT"/>
                <a:cs typeface="Arial MT"/>
              </a:rPr>
              <a:t> </a:t>
            </a:r>
            <a:r>
              <a:rPr sz="1800" dirty="0">
                <a:latin typeface="Arial MT"/>
                <a:cs typeface="Arial MT"/>
              </a:rPr>
              <a:t>over</a:t>
            </a:r>
            <a:r>
              <a:rPr sz="1800" spc="-30" dirty="0">
                <a:latin typeface="Arial MT"/>
                <a:cs typeface="Arial MT"/>
              </a:rPr>
              <a:t> </a:t>
            </a:r>
            <a:r>
              <a:rPr sz="1800" dirty="0">
                <a:latin typeface="Arial MT"/>
                <a:cs typeface="Arial MT"/>
              </a:rPr>
              <a:t>time,</a:t>
            </a:r>
            <a:r>
              <a:rPr sz="1800" spc="-5" dirty="0">
                <a:latin typeface="Arial MT"/>
                <a:cs typeface="Arial MT"/>
              </a:rPr>
              <a:t> </a:t>
            </a:r>
            <a:r>
              <a:rPr sz="1600" dirty="0">
                <a:solidFill>
                  <a:srgbClr val="FF0000"/>
                </a:solidFill>
                <a:latin typeface="Arial MT"/>
                <a:cs typeface="Arial MT"/>
              </a:rPr>
              <a:t>and</a:t>
            </a:r>
            <a:r>
              <a:rPr sz="1600" spc="-25" dirty="0">
                <a:solidFill>
                  <a:srgbClr val="FF0000"/>
                </a:solidFill>
                <a:latin typeface="Arial MT"/>
                <a:cs typeface="Arial MT"/>
              </a:rPr>
              <a:t> </a:t>
            </a:r>
            <a:r>
              <a:rPr sz="1600" dirty="0">
                <a:solidFill>
                  <a:srgbClr val="FF0000"/>
                </a:solidFill>
                <a:latin typeface="Arial MT"/>
                <a:cs typeface="Arial MT"/>
              </a:rPr>
              <a:t>researching</a:t>
            </a:r>
            <a:r>
              <a:rPr sz="1600" spc="-30" dirty="0">
                <a:solidFill>
                  <a:srgbClr val="FF0000"/>
                </a:solidFill>
                <a:latin typeface="Arial MT"/>
                <a:cs typeface="Arial MT"/>
              </a:rPr>
              <a:t> </a:t>
            </a:r>
            <a:r>
              <a:rPr sz="1600" dirty="0">
                <a:solidFill>
                  <a:srgbClr val="FF0000"/>
                </a:solidFill>
                <a:latin typeface="Arial MT"/>
                <a:cs typeface="Arial MT"/>
              </a:rPr>
              <a:t>variable</a:t>
            </a:r>
            <a:r>
              <a:rPr sz="1600" spc="-40" dirty="0">
                <a:solidFill>
                  <a:srgbClr val="FF0000"/>
                </a:solidFill>
                <a:latin typeface="Arial MT"/>
                <a:cs typeface="Arial MT"/>
              </a:rPr>
              <a:t> </a:t>
            </a:r>
            <a:r>
              <a:rPr sz="1600" dirty="0">
                <a:solidFill>
                  <a:srgbClr val="FF0000"/>
                </a:solidFill>
                <a:latin typeface="Arial MT"/>
                <a:cs typeface="Arial MT"/>
              </a:rPr>
              <a:t>page</a:t>
            </a:r>
            <a:r>
              <a:rPr sz="1600" spc="-15" dirty="0">
                <a:solidFill>
                  <a:srgbClr val="FF0000"/>
                </a:solidFill>
                <a:latin typeface="Arial MT"/>
                <a:cs typeface="Arial MT"/>
              </a:rPr>
              <a:t> </a:t>
            </a:r>
            <a:r>
              <a:rPr sz="1600" spc="-20" dirty="0">
                <a:solidFill>
                  <a:srgbClr val="FF0000"/>
                </a:solidFill>
                <a:latin typeface="Arial MT"/>
                <a:cs typeface="Arial MT"/>
              </a:rPr>
              <a:t>size</a:t>
            </a:r>
            <a:endParaRPr sz="16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Solaris</a:t>
            </a:r>
            <a:r>
              <a:rPr sz="1800" spc="-15" dirty="0">
                <a:latin typeface="Arial MT"/>
                <a:cs typeface="Arial MT"/>
              </a:rPr>
              <a:t> </a:t>
            </a:r>
            <a:r>
              <a:rPr sz="1800" dirty="0">
                <a:latin typeface="Arial MT"/>
                <a:cs typeface="Arial MT"/>
              </a:rPr>
              <a:t>supports</a:t>
            </a:r>
            <a:r>
              <a:rPr sz="1800" spc="-10" dirty="0">
                <a:latin typeface="Arial MT"/>
                <a:cs typeface="Arial MT"/>
              </a:rPr>
              <a:t> </a:t>
            </a:r>
            <a:r>
              <a:rPr sz="1800" dirty="0">
                <a:latin typeface="Arial MT"/>
                <a:cs typeface="Arial MT"/>
              </a:rPr>
              <a:t>two</a:t>
            </a:r>
            <a:r>
              <a:rPr sz="1800" spc="10" dirty="0">
                <a:latin typeface="Arial MT"/>
                <a:cs typeface="Arial MT"/>
              </a:rPr>
              <a:t> </a:t>
            </a:r>
            <a:r>
              <a:rPr sz="1800" dirty="0">
                <a:latin typeface="Arial MT"/>
                <a:cs typeface="Arial MT"/>
              </a:rPr>
              <a:t>page</a:t>
            </a:r>
            <a:r>
              <a:rPr sz="1800" spc="-20" dirty="0">
                <a:latin typeface="Arial MT"/>
                <a:cs typeface="Arial MT"/>
              </a:rPr>
              <a:t> </a:t>
            </a:r>
            <a:r>
              <a:rPr sz="1800" dirty="0">
                <a:latin typeface="Arial MT"/>
                <a:cs typeface="Arial MT"/>
              </a:rPr>
              <a:t>sizes</a:t>
            </a:r>
            <a:r>
              <a:rPr sz="1800" spc="-10" dirty="0">
                <a:latin typeface="Arial MT"/>
                <a:cs typeface="Arial MT"/>
              </a:rPr>
              <a:t> </a:t>
            </a:r>
            <a:r>
              <a:rPr sz="1800" dirty="0">
                <a:latin typeface="Arial MT"/>
                <a:cs typeface="Arial MT"/>
              </a:rPr>
              <a:t>–</a:t>
            </a:r>
            <a:r>
              <a:rPr sz="1800" spc="-25" dirty="0">
                <a:latin typeface="Arial MT"/>
                <a:cs typeface="Arial MT"/>
              </a:rPr>
              <a:t> </a:t>
            </a:r>
            <a:r>
              <a:rPr sz="1800" dirty="0">
                <a:latin typeface="Arial MT"/>
                <a:cs typeface="Arial MT"/>
              </a:rPr>
              <a:t>8</a:t>
            </a:r>
            <a:r>
              <a:rPr sz="1800" spc="-20" dirty="0">
                <a:latin typeface="Arial MT"/>
                <a:cs typeface="Arial MT"/>
              </a:rPr>
              <a:t> </a:t>
            </a:r>
            <a:r>
              <a:rPr sz="1800" dirty="0">
                <a:latin typeface="Arial MT"/>
                <a:cs typeface="Arial MT"/>
              </a:rPr>
              <a:t>KB</a:t>
            </a:r>
            <a:r>
              <a:rPr sz="1800" spc="-2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4</a:t>
            </a:r>
            <a:r>
              <a:rPr sz="1800" spc="-35" dirty="0">
                <a:latin typeface="Arial MT"/>
                <a:cs typeface="Arial MT"/>
              </a:rPr>
              <a:t> </a:t>
            </a:r>
            <a:r>
              <a:rPr sz="1800" dirty="0">
                <a:latin typeface="Arial MT"/>
                <a:cs typeface="Arial MT"/>
              </a:rPr>
              <a:t>MB;</a:t>
            </a:r>
            <a:r>
              <a:rPr sz="1800" spc="-10" dirty="0">
                <a:latin typeface="Arial MT"/>
                <a:cs typeface="Arial MT"/>
              </a:rPr>
              <a:t> </a:t>
            </a:r>
            <a:r>
              <a:rPr sz="1600" dirty="0">
                <a:solidFill>
                  <a:srgbClr val="FF0000"/>
                </a:solidFill>
                <a:latin typeface="Arial MT"/>
                <a:cs typeface="Arial MT"/>
              </a:rPr>
              <a:t>fixed</a:t>
            </a:r>
            <a:r>
              <a:rPr sz="1600" spc="-25" dirty="0">
                <a:solidFill>
                  <a:srgbClr val="FF0000"/>
                </a:solidFill>
                <a:latin typeface="Arial MT"/>
                <a:cs typeface="Arial MT"/>
              </a:rPr>
              <a:t> </a:t>
            </a:r>
            <a:r>
              <a:rPr sz="1600" dirty="0">
                <a:solidFill>
                  <a:srgbClr val="FF0000"/>
                </a:solidFill>
                <a:latin typeface="Arial MT"/>
                <a:cs typeface="Arial MT"/>
              </a:rPr>
              <a:t>multiple</a:t>
            </a:r>
            <a:r>
              <a:rPr sz="1600" spc="-35" dirty="0">
                <a:solidFill>
                  <a:srgbClr val="FF0000"/>
                </a:solidFill>
                <a:latin typeface="Arial MT"/>
                <a:cs typeface="Arial MT"/>
              </a:rPr>
              <a:t> </a:t>
            </a:r>
            <a:r>
              <a:rPr sz="1600" dirty="0">
                <a:solidFill>
                  <a:srgbClr val="FF0000"/>
                </a:solidFill>
                <a:latin typeface="Arial MT"/>
                <a:cs typeface="Arial MT"/>
              </a:rPr>
              <a:t>page</a:t>
            </a:r>
            <a:r>
              <a:rPr sz="1600" spc="-10" dirty="0">
                <a:solidFill>
                  <a:srgbClr val="FF0000"/>
                </a:solidFill>
                <a:latin typeface="Arial MT"/>
                <a:cs typeface="Arial MT"/>
              </a:rPr>
              <a:t> sizes</a:t>
            </a:r>
            <a:endParaRPr sz="160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Process</a:t>
            </a:r>
            <a:r>
              <a:rPr sz="1800" spc="-30" dirty="0">
                <a:latin typeface="Arial MT"/>
                <a:cs typeface="Arial MT"/>
              </a:rPr>
              <a:t> </a:t>
            </a:r>
            <a:r>
              <a:rPr sz="1800" dirty="0">
                <a:latin typeface="Arial MT"/>
                <a:cs typeface="Arial MT"/>
              </a:rPr>
              <a:t>view</a:t>
            </a:r>
            <a:r>
              <a:rPr sz="1800" spc="-2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physical memory</a:t>
            </a:r>
            <a:r>
              <a:rPr sz="1800" spc="-30" dirty="0">
                <a:latin typeface="Arial MT"/>
                <a:cs typeface="Arial MT"/>
              </a:rPr>
              <a:t> </a:t>
            </a:r>
            <a:r>
              <a:rPr sz="1800" dirty="0">
                <a:latin typeface="Arial MT"/>
                <a:cs typeface="Arial MT"/>
              </a:rPr>
              <a:t>now</a:t>
            </a:r>
            <a:r>
              <a:rPr sz="1800" spc="-20" dirty="0">
                <a:latin typeface="Arial MT"/>
                <a:cs typeface="Arial MT"/>
              </a:rPr>
              <a:t> </a:t>
            </a:r>
            <a:r>
              <a:rPr sz="1800" dirty="0">
                <a:latin typeface="Arial MT"/>
                <a:cs typeface="Arial MT"/>
              </a:rPr>
              <a:t>very</a:t>
            </a:r>
            <a:r>
              <a:rPr sz="1800" spc="-35" dirty="0">
                <a:latin typeface="Arial MT"/>
                <a:cs typeface="Arial MT"/>
              </a:rPr>
              <a:t> </a:t>
            </a:r>
            <a:r>
              <a:rPr sz="1800" spc="-10" dirty="0">
                <a:latin typeface="Arial MT"/>
                <a:cs typeface="Arial MT"/>
              </a:rPr>
              <a:t>different</a:t>
            </a:r>
            <a:endParaRPr sz="1800">
              <a:latin typeface="Arial MT"/>
              <a:cs typeface="Arial MT"/>
            </a:endParaRPr>
          </a:p>
          <a:p>
            <a:pPr marL="354965" indent="-342265">
              <a:lnSpc>
                <a:spcPct val="100000"/>
              </a:lnSpc>
              <a:spcBef>
                <a:spcPts val="755"/>
              </a:spcBef>
              <a:buClr>
                <a:srgbClr val="993300"/>
              </a:buClr>
              <a:buSzPct val="88888"/>
              <a:buFont typeface="Wingdings"/>
              <a:buChar char=""/>
              <a:tabLst>
                <a:tab pos="354965" algn="l"/>
              </a:tabLst>
            </a:pPr>
            <a:r>
              <a:rPr sz="1800" dirty="0">
                <a:latin typeface="Arial MT"/>
                <a:cs typeface="Arial MT"/>
              </a:rPr>
              <a:t>By</a:t>
            </a:r>
            <a:r>
              <a:rPr sz="1800" spc="-30" dirty="0">
                <a:latin typeface="Arial MT"/>
                <a:cs typeface="Arial MT"/>
              </a:rPr>
              <a:t> </a:t>
            </a:r>
            <a:r>
              <a:rPr sz="1800" dirty="0">
                <a:latin typeface="Arial MT"/>
                <a:cs typeface="Arial MT"/>
              </a:rPr>
              <a:t>implementation</a:t>
            </a:r>
            <a:r>
              <a:rPr sz="1800" spc="-10" dirty="0">
                <a:latin typeface="Arial MT"/>
                <a:cs typeface="Arial MT"/>
              </a:rPr>
              <a:t> </a:t>
            </a:r>
            <a:r>
              <a:rPr sz="1800" dirty="0">
                <a:latin typeface="Arial MT"/>
                <a:cs typeface="Arial MT"/>
              </a:rPr>
              <a:t>process</a:t>
            </a:r>
            <a:r>
              <a:rPr sz="1800" spc="-20" dirty="0">
                <a:latin typeface="Arial MT"/>
                <a:cs typeface="Arial MT"/>
              </a:rPr>
              <a:t> </a:t>
            </a:r>
            <a:r>
              <a:rPr sz="1800" dirty="0">
                <a:latin typeface="Arial MT"/>
                <a:cs typeface="Arial MT"/>
              </a:rPr>
              <a:t>can</a:t>
            </a:r>
            <a:r>
              <a:rPr sz="1800" spc="-40" dirty="0">
                <a:latin typeface="Arial MT"/>
                <a:cs typeface="Arial MT"/>
              </a:rPr>
              <a:t> </a:t>
            </a:r>
            <a:r>
              <a:rPr sz="1800" dirty="0">
                <a:latin typeface="Arial MT"/>
                <a:cs typeface="Arial MT"/>
              </a:rPr>
              <a:t>only</a:t>
            </a:r>
            <a:r>
              <a:rPr sz="1800" spc="-20" dirty="0">
                <a:latin typeface="Arial MT"/>
                <a:cs typeface="Arial MT"/>
              </a:rPr>
              <a:t> </a:t>
            </a:r>
            <a:r>
              <a:rPr sz="1800" dirty="0">
                <a:latin typeface="Arial MT"/>
                <a:cs typeface="Arial MT"/>
              </a:rPr>
              <a:t>access</a:t>
            </a:r>
            <a:r>
              <a:rPr sz="1800" spc="-30" dirty="0">
                <a:latin typeface="Arial MT"/>
                <a:cs typeface="Arial MT"/>
              </a:rPr>
              <a:t> </a:t>
            </a:r>
            <a:r>
              <a:rPr sz="1800" dirty="0">
                <a:latin typeface="Arial MT"/>
                <a:cs typeface="Arial MT"/>
              </a:rPr>
              <a:t>its</a:t>
            </a:r>
            <a:r>
              <a:rPr sz="1800" spc="-20" dirty="0">
                <a:latin typeface="Arial MT"/>
                <a:cs typeface="Arial MT"/>
              </a:rPr>
              <a:t> </a:t>
            </a:r>
            <a:r>
              <a:rPr sz="1800" dirty="0">
                <a:latin typeface="Arial MT"/>
                <a:cs typeface="Arial MT"/>
              </a:rPr>
              <a:t>own </a:t>
            </a:r>
            <a:r>
              <a:rPr sz="1800" spc="-10" dirty="0">
                <a:latin typeface="Arial MT"/>
                <a:cs typeface="Arial MT"/>
              </a:rPr>
              <a:t>memory</a:t>
            </a:r>
            <a:endParaRPr sz="1800">
              <a:latin typeface="Arial MT"/>
              <a:cs typeface="Arial M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047" rIns="0" bIns="0" rtlCol="0">
            <a:spAutoFit/>
          </a:bodyPr>
          <a:lstStyle/>
          <a:p>
            <a:pPr marL="3308350">
              <a:lnSpc>
                <a:spcPct val="100000"/>
              </a:lnSpc>
              <a:spcBef>
                <a:spcPts val="100"/>
              </a:spcBef>
            </a:pPr>
            <a:r>
              <a:rPr dirty="0">
                <a:solidFill>
                  <a:srgbClr val="006699"/>
                </a:solidFill>
              </a:rPr>
              <a:t>Free</a:t>
            </a:r>
            <a:r>
              <a:rPr spc="-25" dirty="0">
                <a:solidFill>
                  <a:srgbClr val="006699"/>
                </a:solidFill>
              </a:rPr>
              <a:t> </a:t>
            </a:r>
            <a:r>
              <a:rPr spc="-10" dirty="0">
                <a:solidFill>
                  <a:srgbClr val="006699"/>
                </a:solidFill>
              </a:rPr>
              <a:t>Frames</a:t>
            </a:r>
          </a:p>
        </p:txBody>
      </p:sp>
      <p:sp>
        <p:nvSpPr>
          <p:cNvPr id="3" name="object 3"/>
          <p:cNvSpPr txBox="1"/>
          <p:nvPr/>
        </p:nvSpPr>
        <p:spPr>
          <a:xfrm>
            <a:off x="860247" y="6273800"/>
            <a:ext cx="172402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Before</a:t>
            </a:r>
            <a:r>
              <a:rPr sz="1800" spc="-40" dirty="0">
                <a:latin typeface="Arial MT"/>
                <a:cs typeface="Arial MT"/>
              </a:rPr>
              <a:t> </a:t>
            </a:r>
            <a:r>
              <a:rPr sz="1800" spc="-10" dirty="0">
                <a:latin typeface="Arial MT"/>
                <a:cs typeface="Arial MT"/>
              </a:rPr>
              <a:t>allocation</a:t>
            </a:r>
            <a:endParaRPr sz="1800">
              <a:latin typeface="Arial MT"/>
              <a:cs typeface="Arial MT"/>
            </a:endParaRPr>
          </a:p>
        </p:txBody>
      </p:sp>
      <p:sp>
        <p:nvSpPr>
          <p:cNvPr id="4" name="object 4"/>
          <p:cNvSpPr txBox="1"/>
          <p:nvPr/>
        </p:nvSpPr>
        <p:spPr>
          <a:xfrm>
            <a:off x="6279260" y="6273800"/>
            <a:ext cx="1533525" cy="300355"/>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After</a:t>
            </a:r>
            <a:r>
              <a:rPr sz="1800" spc="-15" dirty="0">
                <a:latin typeface="Arial MT"/>
                <a:cs typeface="Arial MT"/>
              </a:rPr>
              <a:t> </a:t>
            </a:r>
            <a:r>
              <a:rPr sz="1800" spc="-10" dirty="0">
                <a:latin typeface="Arial MT"/>
                <a:cs typeface="Arial MT"/>
              </a:rPr>
              <a:t>allocation</a:t>
            </a:r>
            <a:endParaRPr sz="1800">
              <a:latin typeface="Arial MT"/>
              <a:cs typeface="Arial MT"/>
            </a:endParaRPr>
          </a:p>
        </p:txBody>
      </p:sp>
      <p:pic>
        <p:nvPicPr>
          <p:cNvPr id="5" name="object 5"/>
          <p:cNvPicPr/>
          <p:nvPr/>
        </p:nvPicPr>
        <p:blipFill>
          <a:blip r:embed="rId2" cstate="print"/>
          <a:stretch>
            <a:fillRect/>
          </a:stretch>
        </p:blipFill>
        <p:spPr>
          <a:xfrm>
            <a:off x="242887" y="1042987"/>
            <a:ext cx="8743950" cy="5200650"/>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35</a:t>
            </a:fld>
            <a:endParaRPr spc="-20" dirty="0"/>
          </a:p>
        </p:txBody>
      </p:sp>
      <p:sp>
        <p:nvSpPr>
          <p:cNvPr id="8" name="object 8"/>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8148" rIns="0" bIns="0" rtlCol="0">
            <a:spAutoFit/>
          </a:bodyPr>
          <a:lstStyle/>
          <a:p>
            <a:pPr marL="1829435">
              <a:lnSpc>
                <a:spcPct val="100000"/>
              </a:lnSpc>
              <a:spcBef>
                <a:spcPts val="100"/>
              </a:spcBef>
            </a:pPr>
            <a:r>
              <a:rPr dirty="0">
                <a:solidFill>
                  <a:srgbClr val="006699"/>
                </a:solidFill>
              </a:rPr>
              <a:t>Implementation</a:t>
            </a:r>
            <a:r>
              <a:rPr spc="-35" dirty="0">
                <a:solidFill>
                  <a:srgbClr val="006699"/>
                </a:solidFill>
              </a:rPr>
              <a:t> </a:t>
            </a:r>
            <a:r>
              <a:rPr dirty="0">
                <a:solidFill>
                  <a:srgbClr val="006699"/>
                </a:solidFill>
              </a:rPr>
              <a:t>of</a:t>
            </a:r>
            <a:r>
              <a:rPr spc="-25" dirty="0">
                <a:solidFill>
                  <a:srgbClr val="006699"/>
                </a:solidFill>
              </a:rPr>
              <a:t> </a:t>
            </a:r>
            <a:r>
              <a:rPr dirty="0">
                <a:solidFill>
                  <a:srgbClr val="006699"/>
                </a:solidFill>
              </a:rPr>
              <a:t>Page</a:t>
            </a:r>
            <a:r>
              <a:rPr spc="-30" dirty="0">
                <a:solidFill>
                  <a:srgbClr val="006699"/>
                </a:solidFill>
              </a:rPr>
              <a:t> </a:t>
            </a:r>
            <a:r>
              <a:rPr spc="-10" dirty="0">
                <a:solidFill>
                  <a:srgbClr val="006699"/>
                </a:solidFill>
              </a:rPr>
              <a:t>Table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36</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55878"/>
            <a:ext cx="8582660" cy="5540375"/>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Process’s</a:t>
            </a:r>
            <a:r>
              <a:rPr sz="1800" spc="-20" dirty="0">
                <a:latin typeface="Arial MT"/>
                <a:cs typeface="Arial MT"/>
              </a:rPr>
              <a:t> </a:t>
            </a:r>
            <a:r>
              <a:rPr sz="1800" dirty="0">
                <a:latin typeface="Arial MT"/>
                <a:cs typeface="Arial MT"/>
              </a:rPr>
              <a:t>page</a:t>
            </a:r>
            <a:r>
              <a:rPr sz="1800" spc="-15" dirty="0">
                <a:latin typeface="Arial MT"/>
                <a:cs typeface="Arial MT"/>
              </a:rPr>
              <a:t> </a:t>
            </a:r>
            <a:r>
              <a:rPr sz="1800" dirty="0">
                <a:latin typeface="Arial MT"/>
                <a:cs typeface="Arial MT"/>
              </a:rPr>
              <a:t>table</a:t>
            </a:r>
            <a:r>
              <a:rPr sz="1800" spc="-3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kept</a:t>
            </a:r>
            <a:r>
              <a:rPr sz="1800" spc="-15" dirty="0">
                <a:latin typeface="Arial MT"/>
                <a:cs typeface="Arial MT"/>
              </a:rPr>
              <a:t> </a:t>
            </a:r>
            <a:r>
              <a:rPr sz="1800" dirty="0">
                <a:latin typeface="Arial MT"/>
                <a:cs typeface="Arial MT"/>
              </a:rPr>
              <a:t>in</a:t>
            </a:r>
            <a:r>
              <a:rPr sz="1800" spc="-15" dirty="0">
                <a:latin typeface="Arial MT"/>
                <a:cs typeface="Arial MT"/>
              </a:rPr>
              <a:t> </a:t>
            </a:r>
            <a:r>
              <a:rPr sz="1800" dirty="0">
                <a:latin typeface="Arial MT"/>
                <a:cs typeface="Arial MT"/>
              </a:rPr>
              <a:t>main</a:t>
            </a:r>
            <a:r>
              <a:rPr sz="1800" spc="-25" dirty="0">
                <a:latin typeface="Arial MT"/>
                <a:cs typeface="Arial MT"/>
              </a:rPr>
              <a:t> </a:t>
            </a:r>
            <a:r>
              <a:rPr sz="1800" spc="-10" dirty="0">
                <a:latin typeface="Arial MT"/>
                <a:cs typeface="Arial MT"/>
              </a:rPr>
              <a:t>memory</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b="1" spc="-10" dirty="0">
                <a:solidFill>
                  <a:srgbClr val="3366FF"/>
                </a:solidFill>
                <a:latin typeface="Arial"/>
                <a:cs typeface="Arial"/>
              </a:rPr>
              <a:t>Page-</a:t>
            </a:r>
            <a:r>
              <a:rPr sz="1800" b="1" dirty="0">
                <a:solidFill>
                  <a:srgbClr val="3366FF"/>
                </a:solidFill>
                <a:latin typeface="Arial"/>
                <a:cs typeface="Arial"/>
              </a:rPr>
              <a:t>table</a:t>
            </a:r>
            <a:r>
              <a:rPr sz="1800" b="1" spc="-20" dirty="0">
                <a:solidFill>
                  <a:srgbClr val="3366FF"/>
                </a:solidFill>
                <a:latin typeface="Arial"/>
                <a:cs typeface="Arial"/>
              </a:rPr>
              <a:t> </a:t>
            </a:r>
            <a:r>
              <a:rPr sz="1800" b="1" dirty="0">
                <a:solidFill>
                  <a:srgbClr val="3366FF"/>
                </a:solidFill>
                <a:latin typeface="Arial"/>
                <a:cs typeface="Arial"/>
              </a:rPr>
              <a:t>base</a:t>
            </a:r>
            <a:r>
              <a:rPr sz="1800" b="1" spc="-15" dirty="0">
                <a:solidFill>
                  <a:srgbClr val="3366FF"/>
                </a:solidFill>
                <a:latin typeface="Arial"/>
                <a:cs typeface="Arial"/>
              </a:rPr>
              <a:t> </a:t>
            </a:r>
            <a:r>
              <a:rPr sz="1800" b="1" dirty="0">
                <a:solidFill>
                  <a:srgbClr val="3366FF"/>
                </a:solidFill>
                <a:latin typeface="Arial"/>
                <a:cs typeface="Arial"/>
              </a:rPr>
              <a:t>register</a:t>
            </a:r>
            <a:r>
              <a:rPr sz="1800" b="1" spc="-10" dirty="0">
                <a:solidFill>
                  <a:srgbClr val="3366FF"/>
                </a:solidFill>
                <a:latin typeface="Arial"/>
                <a:cs typeface="Arial"/>
              </a:rPr>
              <a:t> </a:t>
            </a:r>
            <a:r>
              <a:rPr sz="1800" dirty="0">
                <a:latin typeface="Arial MT"/>
                <a:cs typeface="Arial MT"/>
              </a:rPr>
              <a:t>(</a:t>
            </a:r>
            <a:r>
              <a:rPr sz="1800" b="1" dirty="0">
                <a:solidFill>
                  <a:srgbClr val="3366FF"/>
                </a:solidFill>
                <a:latin typeface="Arial"/>
                <a:cs typeface="Arial"/>
              </a:rPr>
              <a:t>PTBR</a:t>
            </a:r>
            <a:r>
              <a:rPr sz="1800" dirty="0">
                <a:latin typeface="Arial MT"/>
                <a:cs typeface="Arial MT"/>
              </a:rPr>
              <a:t>)</a:t>
            </a:r>
            <a:r>
              <a:rPr sz="1800" spc="-15" dirty="0">
                <a:latin typeface="Arial MT"/>
                <a:cs typeface="Arial MT"/>
              </a:rPr>
              <a:t> </a:t>
            </a:r>
            <a:r>
              <a:rPr sz="1800" dirty="0">
                <a:latin typeface="Arial MT"/>
                <a:cs typeface="Arial MT"/>
              </a:rPr>
              <a:t>points</a:t>
            </a:r>
            <a:r>
              <a:rPr sz="1800" spc="-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page</a:t>
            </a:r>
            <a:r>
              <a:rPr sz="1800" spc="-10" dirty="0">
                <a:latin typeface="Arial MT"/>
                <a:cs typeface="Arial MT"/>
              </a:rPr>
              <a:t> table</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b="1" spc="-10" dirty="0">
                <a:solidFill>
                  <a:srgbClr val="3366FF"/>
                </a:solidFill>
                <a:latin typeface="Arial"/>
                <a:cs typeface="Arial"/>
              </a:rPr>
              <a:t>Page-</a:t>
            </a:r>
            <a:r>
              <a:rPr sz="1800" b="1" dirty="0">
                <a:solidFill>
                  <a:srgbClr val="3366FF"/>
                </a:solidFill>
                <a:latin typeface="Arial"/>
                <a:cs typeface="Arial"/>
              </a:rPr>
              <a:t>table</a:t>
            </a:r>
            <a:r>
              <a:rPr sz="1800" b="1" spc="-30" dirty="0">
                <a:solidFill>
                  <a:srgbClr val="3366FF"/>
                </a:solidFill>
                <a:latin typeface="Arial"/>
                <a:cs typeface="Arial"/>
              </a:rPr>
              <a:t> </a:t>
            </a:r>
            <a:r>
              <a:rPr sz="1800" b="1" dirty="0">
                <a:solidFill>
                  <a:srgbClr val="3366FF"/>
                </a:solidFill>
                <a:latin typeface="Arial"/>
                <a:cs typeface="Arial"/>
              </a:rPr>
              <a:t>length</a:t>
            </a:r>
            <a:r>
              <a:rPr sz="1800" b="1" spc="-25" dirty="0">
                <a:solidFill>
                  <a:srgbClr val="3366FF"/>
                </a:solidFill>
                <a:latin typeface="Arial"/>
                <a:cs typeface="Arial"/>
              </a:rPr>
              <a:t> </a:t>
            </a:r>
            <a:r>
              <a:rPr sz="1800" b="1" dirty="0">
                <a:solidFill>
                  <a:srgbClr val="3366FF"/>
                </a:solidFill>
                <a:latin typeface="Arial"/>
                <a:cs typeface="Arial"/>
              </a:rPr>
              <a:t>register</a:t>
            </a:r>
            <a:r>
              <a:rPr sz="1800" b="1" spc="-5" dirty="0">
                <a:solidFill>
                  <a:srgbClr val="3366FF"/>
                </a:solidFill>
                <a:latin typeface="Arial"/>
                <a:cs typeface="Arial"/>
              </a:rPr>
              <a:t> </a:t>
            </a:r>
            <a:r>
              <a:rPr sz="1800" dirty="0">
                <a:latin typeface="Arial MT"/>
                <a:cs typeface="Arial MT"/>
              </a:rPr>
              <a:t>(</a:t>
            </a:r>
            <a:r>
              <a:rPr sz="1800" b="1" dirty="0">
                <a:solidFill>
                  <a:srgbClr val="3366FF"/>
                </a:solidFill>
                <a:latin typeface="Arial"/>
                <a:cs typeface="Arial"/>
              </a:rPr>
              <a:t>PTLR</a:t>
            </a:r>
            <a:r>
              <a:rPr sz="1800" dirty="0">
                <a:latin typeface="Arial MT"/>
                <a:cs typeface="Arial MT"/>
              </a:rPr>
              <a:t>)</a:t>
            </a:r>
            <a:r>
              <a:rPr sz="1800" spc="-15" dirty="0">
                <a:latin typeface="Arial MT"/>
                <a:cs typeface="Arial MT"/>
              </a:rPr>
              <a:t> </a:t>
            </a:r>
            <a:r>
              <a:rPr sz="1800" dirty="0">
                <a:latin typeface="Arial MT"/>
                <a:cs typeface="Arial MT"/>
              </a:rPr>
              <a:t>indicates</a:t>
            </a:r>
            <a:r>
              <a:rPr sz="1800" spc="-10" dirty="0">
                <a:latin typeface="Arial MT"/>
                <a:cs typeface="Arial MT"/>
              </a:rPr>
              <a:t> </a:t>
            </a:r>
            <a:r>
              <a:rPr sz="1800" dirty="0">
                <a:latin typeface="Arial MT"/>
                <a:cs typeface="Arial MT"/>
              </a:rPr>
              <a:t>size</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page</a:t>
            </a:r>
            <a:r>
              <a:rPr sz="1800" spc="-10" dirty="0">
                <a:latin typeface="Arial MT"/>
                <a:cs typeface="Arial MT"/>
              </a:rPr>
              <a:t> table</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dirty="0">
                <a:solidFill>
                  <a:srgbClr val="FF0000"/>
                </a:solidFill>
                <a:latin typeface="Arial MT"/>
                <a:cs typeface="Arial MT"/>
              </a:rPr>
              <a:t>Both,</a:t>
            </a:r>
            <a:r>
              <a:rPr sz="1800" spc="-25" dirty="0">
                <a:solidFill>
                  <a:srgbClr val="FF0000"/>
                </a:solidFill>
                <a:latin typeface="Arial MT"/>
                <a:cs typeface="Arial MT"/>
              </a:rPr>
              <a:t> </a:t>
            </a:r>
            <a:r>
              <a:rPr sz="1800" dirty="0">
                <a:solidFill>
                  <a:srgbClr val="FF0000"/>
                </a:solidFill>
                <a:latin typeface="Arial MT"/>
                <a:cs typeface="Arial MT"/>
              </a:rPr>
              <a:t>PTBR</a:t>
            </a:r>
            <a:r>
              <a:rPr sz="1800" spc="-45" dirty="0">
                <a:solidFill>
                  <a:srgbClr val="FF0000"/>
                </a:solidFill>
                <a:latin typeface="Arial MT"/>
                <a:cs typeface="Arial MT"/>
              </a:rPr>
              <a:t> </a:t>
            </a:r>
            <a:r>
              <a:rPr sz="1800" dirty="0">
                <a:solidFill>
                  <a:srgbClr val="FF0000"/>
                </a:solidFill>
                <a:latin typeface="Arial MT"/>
                <a:cs typeface="Arial MT"/>
              </a:rPr>
              <a:t>and</a:t>
            </a:r>
            <a:r>
              <a:rPr sz="1800" spc="-10" dirty="0">
                <a:solidFill>
                  <a:srgbClr val="FF0000"/>
                </a:solidFill>
                <a:latin typeface="Arial MT"/>
                <a:cs typeface="Arial MT"/>
              </a:rPr>
              <a:t> </a:t>
            </a:r>
            <a:r>
              <a:rPr sz="1800" dirty="0">
                <a:solidFill>
                  <a:srgbClr val="FF0000"/>
                </a:solidFill>
                <a:latin typeface="Arial MT"/>
                <a:cs typeface="Arial MT"/>
              </a:rPr>
              <a:t>PTLR</a:t>
            </a:r>
            <a:r>
              <a:rPr sz="1800" spc="-35" dirty="0">
                <a:solidFill>
                  <a:srgbClr val="FF0000"/>
                </a:solidFill>
                <a:latin typeface="Arial MT"/>
                <a:cs typeface="Arial MT"/>
              </a:rPr>
              <a:t> </a:t>
            </a:r>
            <a:r>
              <a:rPr sz="1800" dirty="0">
                <a:solidFill>
                  <a:srgbClr val="FF0000"/>
                </a:solidFill>
                <a:latin typeface="Arial MT"/>
                <a:cs typeface="Arial MT"/>
              </a:rPr>
              <a:t>are</a:t>
            </a:r>
            <a:r>
              <a:rPr sz="1800" spc="-20" dirty="0">
                <a:solidFill>
                  <a:srgbClr val="FF0000"/>
                </a:solidFill>
                <a:latin typeface="Arial MT"/>
                <a:cs typeface="Arial MT"/>
              </a:rPr>
              <a:t> </a:t>
            </a:r>
            <a:r>
              <a:rPr sz="1800" dirty="0">
                <a:solidFill>
                  <a:srgbClr val="FF0000"/>
                </a:solidFill>
                <a:latin typeface="Arial MT"/>
                <a:cs typeface="Arial MT"/>
              </a:rPr>
              <a:t>also</a:t>
            </a:r>
            <a:r>
              <a:rPr sz="1800" spc="-10" dirty="0">
                <a:solidFill>
                  <a:srgbClr val="FF0000"/>
                </a:solidFill>
                <a:latin typeface="Arial MT"/>
                <a:cs typeface="Arial MT"/>
              </a:rPr>
              <a:t> </a:t>
            </a:r>
            <a:r>
              <a:rPr sz="1800" dirty="0">
                <a:solidFill>
                  <a:srgbClr val="FF0000"/>
                </a:solidFill>
                <a:latin typeface="Arial MT"/>
                <a:cs typeface="Arial MT"/>
              </a:rPr>
              <a:t>stored</a:t>
            </a:r>
            <a:r>
              <a:rPr sz="1800" spc="-15" dirty="0">
                <a:solidFill>
                  <a:srgbClr val="FF0000"/>
                </a:solidFill>
                <a:latin typeface="Arial MT"/>
                <a:cs typeface="Arial MT"/>
              </a:rPr>
              <a:t> </a:t>
            </a:r>
            <a:r>
              <a:rPr sz="1800" dirty="0">
                <a:solidFill>
                  <a:srgbClr val="FF0000"/>
                </a:solidFill>
                <a:latin typeface="Arial MT"/>
                <a:cs typeface="Arial MT"/>
              </a:rPr>
              <a:t>in</a:t>
            </a:r>
            <a:r>
              <a:rPr sz="1800" spc="-10" dirty="0">
                <a:solidFill>
                  <a:srgbClr val="FF0000"/>
                </a:solidFill>
                <a:latin typeface="Arial MT"/>
                <a:cs typeface="Arial MT"/>
              </a:rPr>
              <a:t> </a:t>
            </a:r>
            <a:r>
              <a:rPr sz="1800" dirty="0">
                <a:solidFill>
                  <a:srgbClr val="FF0000"/>
                </a:solidFill>
                <a:latin typeface="Arial MT"/>
                <a:cs typeface="Arial MT"/>
              </a:rPr>
              <a:t>the</a:t>
            </a:r>
            <a:r>
              <a:rPr sz="1800" spc="-25" dirty="0">
                <a:solidFill>
                  <a:srgbClr val="FF0000"/>
                </a:solidFill>
                <a:latin typeface="Arial MT"/>
                <a:cs typeface="Arial MT"/>
              </a:rPr>
              <a:t> </a:t>
            </a:r>
            <a:r>
              <a:rPr sz="1800" dirty="0">
                <a:solidFill>
                  <a:srgbClr val="FF0000"/>
                </a:solidFill>
                <a:latin typeface="Arial MT"/>
                <a:cs typeface="Arial MT"/>
              </a:rPr>
              <a:t>process’s </a:t>
            </a:r>
            <a:r>
              <a:rPr sz="1800" spc="-25" dirty="0">
                <a:solidFill>
                  <a:srgbClr val="FF0000"/>
                </a:solidFill>
                <a:latin typeface="Arial MT"/>
                <a:cs typeface="Arial MT"/>
              </a:rPr>
              <a:t>PCB</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In</a:t>
            </a:r>
            <a:r>
              <a:rPr sz="1800" spc="-35" dirty="0">
                <a:latin typeface="Arial MT"/>
                <a:cs typeface="Arial MT"/>
              </a:rPr>
              <a:t> </a:t>
            </a:r>
            <a:r>
              <a:rPr sz="1800" dirty="0">
                <a:latin typeface="Arial MT"/>
                <a:cs typeface="Arial MT"/>
              </a:rPr>
              <a:t>this</a:t>
            </a:r>
            <a:r>
              <a:rPr sz="1800" spc="-25" dirty="0">
                <a:latin typeface="Arial MT"/>
                <a:cs typeface="Arial MT"/>
              </a:rPr>
              <a:t> </a:t>
            </a:r>
            <a:r>
              <a:rPr sz="1800" dirty="0">
                <a:latin typeface="Arial MT"/>
                <a:cs typeface="Arial MT"/>
              </a:rPr>
              <a:t>scheme</a:t>
            </a:r>
            <a:r>
              <a:rPr sz="1800" spc="-20" dirty="0">
                <a:latin typeface="Arial MT"/>
                <a:cs typeface="Arial MT"/>
              </a:rPr>
              <a:t> </a:t>
            </a:r>
            <a:r>
              <a:rPr sz="1800" dirty="0">
                <a:latin typeface="Arial MT"/>
                <a:cs typeface="Arial MT"/>
              </a:rPr>
              <a:t>every</a:t>
            </a:r>
            <a:r>
              <a:rPr sz="1800" spc="-20" dirty="0">
                <a:latin typeface="Arial MT"/>
                <a:cs typeface="Arial MT"/>
              </a:rPr>
              <a:t> </a:t>
            </a:r>
            <a:r>
              <a:rPr sz="1800" dirty="0">
                <a:latin typeface="Arial MT"/>
                <a:cs typeface="Arial MT"/>
              </a:rPr>
              <a:t>access</a:t>
            </a:r>
            <a:r>
              <a:rPr sz="1800" spc="-2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data</a:t>
            </a:r>
            <a:r>
              <a:rPr sz="1800" spc="-35" dirty="0">
                <a:latin typeface="Arial MT"/>
                <a:cs typeface="Arial MT"/>
              </a:rPr>
              <a:t> </a:t>
            </a:r>
            <a:r>
              <a:rPr sz="1800" dirty="0">
                <a:latin typeface="Arial MT"/>
                <a:cs typeface="Arial MT"/>
              </a:rPr>
              <a:t>or</a:t>
            </a:r>
            <a:r>
              <a:rPr sz="1800" spc="-20" dirty="0">
                <a:latin typeface="Arial MT"/>
                <a:cs typeface="Arial MT"/>
              </a:rPr>
              <a:t> </a:t>
            </a:r>
            <a:r>
              <a:rPr sz="1800" dirty="0">
                <a:latin typeface="Arial MT"/>
                <a:cs typeface="Arial MT"/>
              </a:rPr>
              <a:t>instruction</a:t>
            </a:r>
            <a:r>
              <a:rPr sz="1800" spc="-20" dirty="0">
                <a:latin typeface="Arial MT"/>
                <a:cs typeface="Arial MT"/>
              </a:rPr>
              <a:t> </a:t>
            </a:r>
            <a:r>
              <a:rPr sz="1800" dirty="0">
                <a:latin typeface="Arial MT"/>
                <a:cs typeface="Arial MT"/>
              </a:rPr>
              <a:t>requires</a:t>
            </a:r>
            <a:r>
              <a:rPr sz="1800" spc="-20" dirty="0">
                <a:latin typeface="Arial MT"/>
                <a:cs typeface="Arial MT"/>
              </a:rPr>
              <a:t> </a:t>
            </a:r>
            <a:r>
              <a:rPr sz="1800" dirty="0">
                <a:latin typeface="Arial MT"/>
                <a:cs typeface="Arial MT"/>
              </a:rPr>
              <a:t>two</a:t>
            </a:r>
            <a:r>
              <a:rPr sz="1800" spc="5" dirty="0">
                <a:latin typeface="Arial MT"/>
                <a:cs typeface="Arial MT"/>
              </a:rPr>
              <a:t> </a:t>
            </a:r>
            <a:r>
              <a:rPr sz="1800" dirty="0">
                <a:latin typeface="Arial MT"/>
                <a:cs typeface="Arial MT"/>
              </a:rPr>
              <a:t>memory</a:t>
            </a:r>
            <a:r>
              <a:rPr sz="1800" spc="-10" dirty="0">
                <a:latin typeface="Arial MT"/>
                <a:cs typeface="Arial MT"/>
              </a:rPr>
              <a:t> accesses</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b="1" dirty="0">
                <a:solidFill>
                  <a:srgbClr val="FF0000"/>
                </a:solidFill>
                <a:latin typeface="Arial"/>
                <a:cs typeface="Arial"/>
              </a:rPr>
              <a:t>First</a:t>
            </a:r>
            <a:r>
              <a:rPr sz="1800" dirty="0">
                <a:solidFill>
                  <a:srgbClr val="FF0000"/>
                </a:solidFill>
                <a:latin typeface="Arial MT"/>
                <a:cs typeface="Arial MT"/>
              </a:rPr>
              <a:t>:</a:t>
            </a:r>
            <a:r>
              <a:rPr sz="1800" spc="-25" dirty="0">
                <a:solidFill>
                  <a:srgbClr val="FF0000"/>
                </a:solidFill>
                <a:latin typeface="Arial MT"/>
                <a:cs typeface="Arial MT"/>
              </a:rPr>
              <a:t> </a:t>
            </a:r>
            <a:r>
              <a:rPr sz="1800" dirty="0">
                <a:solidFill>
                  <a:srgbClr val="FF0000"/>
                </a:solidFill>
                <a:latin typeface="Arial MT"/>
                <a:cs typeface="Arial MT"/>
              </a:rPr>
              <a:t>access the</a:t>
            </a:r>
            <a:r>
              <a:rPr sz="1800" spc="-30"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table</a:t>
            </a:r>
            <a:r>
              <a:rPr sz="1800" spc="-20" dirty="0">
                <a:solidFill>
                  <a:srgbClr val="FF0000"/>
                </a:solidFill>
                <a:latin typeface="Arial MT"/>
                <a:cs typeface="Arial MT"/>
              </a:rPr>
              <a:t> </a:t>
            </a:r>
            <a:r>
              <a:rPr sz="1800" dirty="0">
                <a:solidFill>
                  <a:srgbClr val="FF0000"/>
                </a:solidFill>
                <a:latin typeface="Arial MT"/>
                <a:cs typeface="Arial MT"/>
              </a:rPr>
              <a:t>using</a:t>
            </a:r>
            <a:r>
              <a:rPr sz="1800" spc="-15" dirty="0">
                <a:solidFill>
                  <a:srgbClr val="FF0000"/>
                </a:solidFill>
                <a:latin typeface="Arial MT"/>
                <a:cs typeface="Arial MT"/>
              </a:rPr>
              <a:t> </a:t>
            </a:r>
            <a:r>
              <a:rPr sz="1800" dirty="0">
                <a:solidFill>
                  <a:srgbClr val="FF0000"/>
                </a:solidFill>
                <a:latin typeface="Arial MT"/>
                <a:cs typeface="Arial MT"/>
              </a:rPr>
              <a:t>PTBR</a:t>
            </a:r>
            <a:r>
              <a:rPr sz="1800" spc="-25" dirty="0">
                <a:solidFill>
                  <a:srgbClr val="FF0000"/>
                </a:solidFill>
                <a:latin typeface="Arial MT"/>
                <a:cs typeface="Arial MT"/>
              </a:rPr>
              <a:t> </a:t>
            </a:r>
            <a:r>
              <a:rPr sz="1800" dirty="0">
                <a:solidFill>
                  <a:srgbClr val="FF0000"/>
                </a:solidFill>
                <a:latin typeface="Arial MT"/>
                <a:cs typeface="Arial MT"/>
              </a:rPr>
              <a:t>value</a:t>
            </a:r>
            <a:r>
              <a:rPr sz="1800" spc="-10" dirty="0">
                <a:solidFill>
                  <a:srgbClr val="FF0000"/>
                </a:solidFill>
                <a:latin typeface="Arial MT"/>
                <a:cs typeface="Arial MT"/>
              </a:rPr>
              <a:t> </a:t>
            </a:r>
            <a:r>
              <a:rPr sz="1800" dirty="0">
                <a:solidFill>
                  <a:srgbClr val="FF0000"/>
                </a:solidFill>
                <a:latin typeface="Arial MT"/>
                <a:cs typeface="Arial MT"/>
              </a:rPr>
              <a:t>to</a:t>
            </a:r>
            <a:r>
              <a:rPr sz="1800" spc="-20" dirty="0">
                <a:solidFill>
                  <a:srgbClr val="FF0000"/>
                </a:solidFill>
                <a:latin typeface="Arial MT"/>
                <a:cs typeface="Arial MT"/>
              </a:rPr>
              <a:t> </a:t>
            </a:r>
            <a:r>
              <a:rPr sz="1800" dirty="0">
                <a:solidFill>
                  <a:srgbClr val="FF0000"/>
                </a:solidFill>
                <a:latin typeface="Arial MT"/>
                <a:cs typeface="Arial MT"/>
              </a:rPr>
              <a:t>retrieve</a:t>
            </a:r>
            <a:r>
              <a:rPr sz="1800" spc="-15" dirty="0">
                <a:solidFill>
                  <a:srgbClr val="FF0000"/>
                </a:solidFill>
                <a:latin typeface="Arial MT"/>
                <a:cs typeface="Arial MT"/>
              </a:rPr>
              <a:t> </a:t>
            </a:r>
            <a:r>
              <a:rPr sz="1800" dirty="0">
                <a:solidFill>
                  <a:srgbClr val="FF0000"/>
                </a:solidFill>
                <a:latin typeface="Arial MT"/>
                <a:cs typeface="Arial MT"/>
              </a:rPr>
              <a:t>its</a:t>
            </a:r>
            <a:r>
              <a:rPr sz="1800" spc="-20" dirty="0">
                <a:solidFill>
                  <a:srgbClr val="FF0000"/>
                </a:solidFill>
                <a:latin typeface="Arial MT"/>
                <a:cs typeface="Arial MT"/>
              </a:rPr>
              <a:t> </a:t>
            </a:r>
            <a:r>
              <a:rPr sz="1800" dirty="0">
                <a:solidFill>
                  <a:srgbClr val="FF0000"/>
                </a:solidFill>
                <a:latin typeface="Arial MT"/>
                <a:cs typeface="Arial MT"/>
              </a:rPr>
              <a:t>frame</a:t>
            </a:r>
            <a:r>
              <a:rPr sz="1800" spc="-15" dirty="0">
                <a:solidFill>
                  <a:srgbClr val="FF0000"/>
                </a:solidFill>
                <a:latin typeface="Arial MT"/>
                <a:cs typeface="Arial MT"/>
              </a:rPr>
              <a:t> </a:t>
            </a:r>
            <a:r>
              <a:rPr sz="1800" spc="-10" dirty="0">
                <a:solidFill>
                  <a:srgbClr val="FF0000"/>
                </a:solidFill>
                <a:latin typeface="Arial MT"/>
                <a:cs typeface="Arial MT"/>
              </a:rPr>
              <a:t>number</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b="1" dirty="0">
                <a:solidFill>
                  <a:srgbClr val="FF0000"/>
                </a:solidFill>
                <a:latin typeface="Arial"/>
                <a:cs typeface="Arial"/>
              </a:rPr>
              <a:t>Second</a:t>
            </a:r>
            <a:r>
              <a:rPr sz="1800" dirty="0">
                <a:solidFill>
                  <a:srgbClr val="FF0000"/>
                </a:solidFill>
                <a:latin typeface="Arial MT"/>
                <a:cs typeface="Arial MT"/>
              </a:rPr>
              <a:t>:</a:t>
            </a:r>
            <a:r>
              <a:rPr sz="1800" spc="-30" dirty="0">
                <a:solidFill>
                  <a:srgbClr val="FF0000"/>
                </a:solidFill>
                <a:latin typeface="Arial MT"/>
                <a:cs typeface="Arial MT"/>
              </a:rPr>
              <a:t> </a:t>
            </a:r>
            <a:r>
              <a:rPr sz="1800" dirty="0">
                <a:solidFill>
                  <a:srgbClr val="FF0000"/>
                </a:solidFill>
                <a:latin typeface="Arial MT"/>
                <a:cs typeface="Arial MT"/>
              </a:rPr>
              <a:t>access</a:t>
            </a:r>
            <a:r>
              <a:rPr sz="1800" spc="-25"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actual</a:t>
            </a:r>
            <a:r>
              <a:rPr sz="1800" spc="-15" dirty="0">
                <a:solidFill>
                  <a:srgbClr val="FF0000"/>
                </a:solidFill>
                <a:latin typeface="Arial MT"/>
                <a:cs typeface="Arial MT"/>
              </a:rPr>
              <a:t> </a:t>
            </a:r>
            <a:r>
              <a:rPr sz="1800" dirty="0">
                <a:solidFill>
                  <a:srgbClr val="FF0000"/>
                </a:solidFill>
                <a:latin typeface="Arial MT"/>
                <a:cs typeface="Arial MT"/>
              </a:rPr>
              <a:t>memory</a:t>
            </a:r>
            <a:r>
              <a:rPr sz="1800" spc="-25" dirty="0">
                <a:solidFill>
                  <a:srgbClr val="FF0000"/>
                </a:solidFill>
                <a:latin typeface="Arial MT"/>
                <a:cs typeface="Arial MT"/>
              </a:rPr>
              <a:t> </a:t>
            </a:r>
            <a:r>
              <a:rPr sz="1800" dirty="0">
                <a:solidFill>
                  <a:srgbClr val="FF0000"/>
                </a:solidFill>
                <a:latin typeface="Arial MT"/>
                <a:cs typeface="Arial MT"/>
              </a:rPr>
              <a:t>location</a:t>
            </a:r>
            <a:r>
              <a:rPr sz="1800" spc="-10" dirty="0">
                <a:solidFill>
                  <a:srgbClr val="FF0000"/>
                </a:solidFill>
                <a:latin typeface="Arial MT"/>
                <a:cs typeface="Arial MT"/>
              </a:rPr>
              <a:t> </a:t>
            </a:r>
            <a:r>
              <a:rPr sz="1800" dirty="0">
                <a:solidFill>
                  <a:srgbClr val="FF0000"/>
                </a:solidFill>
                <a:latin typeface="Arial MT"/>
                <a:cs typeface="Arial MT"/>
              </a:rPr>
              <a:t>given</a:t>
            </a:r>
            <a:r>
              <a:rPr sz="1800" spc="-20"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frame</a:t>
            </a:r>
            <a:r>
              <a:rPr sz="1800" spc="-35" dirty="0">
                <a:solidFill>
                  <a:srgbClr val="FF0000"/>
                </a:solidFill>
                <a:latin typeface="Arial MT"/>
                <a:cs typeface="Arial MT"/>
              </a:rPr>
              <a:t> </a:t>
            </a:r>
            <a:r>
              <a:rPr sz="1800" spc="-10" dirty="0">
                <a:solidFill>
                  <a:srgbClr val="FF0000"/>
                </a:solidFill>
                <a:latin typeface="Arial MT"/>
                <a:cs typeface="Arial MT"/>
              </a:rPr>
              <a:t>number</a:t>
            </a:r>
            <a:endParaRPr sz="1800">
              <a:latin typeface="Arial MT"/>
              <a:cs typeface="Arial MT"/>
            </a:endParaRPr>
          </a:p>
          <a:p>
            <a:pPr marL="870585">
              <a:lnSpc>
                <a:spcPct val="100000"/>
              </a:lnSpc>
              <a:spcBef>
                <a:spcPts val="2055"/>
              </a:spcBef>
            </a:pPr>
            <a:r>
              <a:rPr sz="1350" dirty="0">
                <a:solidFill>
                  <a:srgbClr val="009900"/>
                </a:solidFill>
                <a:latin typeface="Webdings"/>
                <a:cs typeface="Webdings"/>
              </a:rPr>
              <a:t></a:t>
            </a:r>
            <a:r>
              <a:rPr sz="1350" spc="75" dirty="0">
                <a:solidFill>
                  <a:srgbClr val="009900"/>
                </a:solidFill>
                <a:latin typeface="Times New Roman"/>
                <a:cs typeface="Times New Roman"/>
              </a:rPr>
              <a:t> </a:t>
            </a:r>
            <a:r>
              <a:rPr sz="1800" dirty="0">
                <a:solidFill>
                  <a:srgbClr val="FF0000"/>
                </a:solidFill>
                <a:latin typeface="Arial MT"/>
                <a:cs typeface="Arial MT"/>
              </a:rPr>
              <a:t>This</a:t>
            </a:r>
            <a:r>
              <a:rPr sz="1800" spc="-30" dirty="0">
                <a:solidFill>
                  <a:srgbClr val="FF0000"/>
                </a:solidFill>
                <a:latin typeface="Arial MT"/>
                <a:cs typeface="Arial MT"/>
              </a:rPr>
              <a:t> </a:t>
            </a:r>
            <a:r>
              <a:rPr sz="1800" dirty="0">
                <a:solidFill>
                  <a:srgbClr val="FF0000"/>
                </a:solidFill>
                <a:latin typeface="Arial MT"/>
                <a:cs typeface="Arial MT"/>
              </a:rPr>
              <a:t>is</a:t>
            </a:r>
            <a:r>
              <a:rPr sz="1800" spc="-20" dirty="0">
                <a:solidFill>
                  <a:srgbClr val="FF0000"/>
                </a:solidFill>
                <a:latin typeface="Arial MT"/>
                <a:cs typeface="Arial MT"/>
              </a:rPr>
              <a:t> </a:t>
            </a:r>
            <a:r>
              <a:rPr sz="1800" dirty="0">
                <a:solidFill>
                  <a:srgbClr val="FF0000"/>
                </a:solidFill>
                <a:latin typeface="Arial MT"/>
                <a:cs typeface="Arial MT"/>
              </a:rPr>
              <a:t>a</a:t>
            </a:r>
            <a:r>
              <a:rPr sz="1800" spc="-30" dirty="0">
                <a:solidFill>
                  <a:srgbClr val="FF0000"/>
                </a:solidFill>
                <a:latin typeface="Arial MT"/>
                <a:cs typeface="Arial MT"/>
              </a:rPr>
              <a:t> </a:t>
            </a:r>
            <a:r>
              <a:rPr sz="1800" dirty="0">
                <a:solidFill>
                  <a:srgbClr val="FF0000"/>
                </a:solidFill>
                <a:latin typeface="Arial MT"/>
                <a:cs typeface="Arial MT"/>
              </a:rPr>
              <a:t>serious</a:t>
            </a:r>
            <a:r>
              <a:rPr sz="1800" spc="-10" dirty="0">
                <a:solidFill>
                  <a:srgbClr val="FF0000"/>
                </a:solidFill>
                <a:latin typeface="Arial MT"/>
                <a:cs typeface="Arial MT"/>
              </a:rPr>
              <a:t> </a:t>
            </a:r>
            <a:r>
              <a:rPr sz="1800" dirty="0">
                <a:solidFill>
                  <a:srgbClr val="FF0000"/>
                </a:solidFill>
                <a:latin typeface="Arial MT"/>
                <a:cs typeface="Arial MT"/>
              </a:rPr>
              <a:t>time</a:t>
            </a:r>
            <a:r>
              <a:rPr sz="1800" spc="-25" dirty="0">
                <a:solidFill>
                  <a:srgbClr val="FF0000"/>
                </a:solidFill>
                <a:latin typeface="Arial MT"/>
                <a:cs typeface="Arial MT"/>
              </a:rPr>
              <a:t> </a:t>
            </a:r>
            <a:r>
              <a:rPr sz="1800" dirty="0">
                <a:solidFill>
                  <a:srgbClr val="FF0000"/>
                </a:solidFill>
                <a:latin typeface="Arial MT"/>
                <a:cs typeface="Arial MT"/>
              </a:rPr>
              <a:t>overhead that</a:t>
            </a:r>
            <a:r>
              <a:rPr sz="1800" spc="-25" dirty="0">
                <a:solidFill>
                  <a:srgbClr val="FF0000"/>
                </a:solidFill>
                <a:latin typeface="Arial MT"/>
                <a:cs typeface="Arial MT"/>
              </a:rPr>
              <a:t> </a:t>
            </a:r>
            <a:r>
              <a:rPr sz="1800" dirty="0">
                <a:solidFill>
                  <a:srgbClr val="FF0000"/>
                </a:solidFill>
                <a:latin typeface="Arial MT"/>
                <a:cs typeface="Arial MT"/>
              </a:rPr>
              <a:t>needs</a:t>
            </a:r>
            <a:r>
              <a:rPr sz="1800" spc="-10"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spc="-10" dirty="0">
                <a:solidFill>
                  <a:srgbClr val="FF0000"/>
                </a:solidFill>
                <a:latin typeface="Arial MT"/>
                <a:cs typeface="Arial MT"/>
              </a:rPr>
              <a:t>reduced</a:t>
            </a:r>
            <a:endParaRPr sz="1800">
              <a:latin typeface="Arial MT"/>
              <a:cs typeface="Arial MT"/>
            </a:endParaRPr>
          </a:p>
          <a:p>
            <a:pPr>
              <a:lnSpc>
                <a:spcPct val="100000"/>
              </a:lnSpc>
              <a:spcBef>
                <a:spcPts val="1600"/>
              </a:spcBef>
            </a:pPr>
            <a:endParaRPr sz="1800">
              <a:latin typeface="Arial MT"/>
              <a:cs typeface="Arial MT"/>
            </a:endParaRPr>
          </a:p>
          <a:p>
            <a:pPr marL="355600" marR="217170" indent="-342900">
              <a:lnSpc>
                <a:spcPct val="100000"/>
              </a:lnSpc>
              <a:buClr>
                <a:srgbClr val="993300"/>
              </a:buClr>
              <a:buSzPct val="88888"/>
              <a:buFont typeface="Wingdings"/>
              <a:buChar char=""/>
              <a:tabLst>
                <a:tab pos="355600" algn="l"/>
              </a:tabLst>
            </a:pPr>
            <a:r>
              <a:rPr sz="1800" dirty="0">
                <a:latin typeface="Arial MT"/>
                <a:cs typeface="Arial MT"/>
              </a:rPr>
              <a:t>The</a:t>
            </a:r>
            <a:r>
              <a:rPr sz="1800" spc="-30" dirty="0">
                <a:latin typeface="Arial MT"/>
                <a:cs typeface="Arial MT"/>
              </a:rPr>
              <a:t> </a:t>
            </a:r>
            <a:r>
              <a:rPr sz="1800" spc="-20" dirty="0">
                <a:latin typeface="Arial MT"/>
                <a:cs typeface="Arial MT"/>
              </a:rPr>
              <a:t>two-</a:t>
            </a:r>
            <a:r>
              <a:rPr sz="1800" spc="-10" dirty="0">
                <a:latin typeface="Arial MT"/>
                <a:cs typeface="Arial MT"/>
              </a:rPr>
              <a:t>memory-</a:t>
            </a:r>
            <a:r>
              <a:rPr sz="1800" dirty="0">
                <a:latin typeface="Arial MT"/>
                <a:cs typeface="Arial MT"/>
              </a:rPr>
              <a:t>access</a:t>
            </a:r>
            <a:r>
              <a:rPr sz="1800" spc="35" dirty="0">
                <a:latin typeface="Arial MT"/>
                <a:cs typeface="Arial MT"/>
              </a:rPr>
              <a:t> </a:t>
            </a:r>
            <a:r>
              <a:rPr sz="1800" dirty="0">
                <a:latin typeface="Arial MT"/>
                <a:cs typeface="Arial MT"/>
              </a:rPr>
              <a:t>problem</a:t>
            </a:r>
            <a:r>
              <a:rPr sz="1800" spc="10" dirty="0">
                <a:latin typeface="Arial MT"/>
                <a:cs typeface="Arial MT"/>
              </a:rPr>
              <a:t> </a:t>
            </a:r>
            <a:r>
              <a:rPr sz="1800" dirty="0">
                <a:latin typeface="Arial MT"/>
                <a:cs typeface="Arial MT"/>
              </a:rPr>
              <a:t>can</a:t>
            </a:r>
            <a:r>
              <a:rPr sz="1800" spc="-15" dirty="0">
                <a:latin typeface="Arial MT"/>
                <a:cs typeface="Arial MT"/>
              </a:rPr>
              <a:t> </a:t>
            </a:r>
            <a:r>
              <a:rPr sz="1800" dirty="0">
                <a:latin typeface="Arial MT"/>
                <a:cs typeface="Arial MT"/>
              </a:rPr>
              <a:t>be</a:t>
            </a:r>
            <a:r>
              <a:rPr sz="1800" spc="-20" dirty="0">
                <a:latin typeface="Arial MT"/>
                <a:cs typeface="Arial MT"/>
              </a:rPr>
              <a:t> </a:t>
            </a:r>
            <a:r>
              <a:rPr sz="1800" dirty="0">
                <a:latin typeface="Arial MT"/>
                <a:cs typeface="Arial MT"/>
              </a:rPr>
              <a:t>solved by</a:t>
            </a:r>
            <a:r>
              <a:rPr sz="1800" spc="-15"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use of</a:t>
            </a:r>
            <a:r>
              <a:rPr sz="1800" spc="-20" dirty="0">
                <a:latin typeface="Arial MT"/>
                <a:cs typeface="Arial MT"/>
              </a:rPr>
              <a:t> </a:t>
            </a:r>
            <a:r>
              <a:rPr sz="1800" dirty="0">
                <a:latin typeface="Arial MT"/>
                <a:cs typeface="Arial MT"/>
              </a:rPr>
              <a:t>a </a:t>
            </a:r>
            <a:r>
              <a:rPr sz="1800" dirty="0">
                <a:solidFill>
                  <a:srgbClr val="FF0000"/>
                </a:solidFill>
                <a:latin typeface="Arial MT"/>
                <a:cs typeface="Arial MT"/>
              </a:rPr>
              <a:t>special</a:t>
            </a:r>
            <a:r>
              <a:rPr sz="1800" spc="10" dirty="0">
                <a:solidFill>
                  <a:srgbClr val="FF0000"/>
                </a:solidFill>
                <a:latin typeface="Arial MT"/>
                <a:cs typeface="Arial MT"/>
              </a:rPr>
              <a:t> </a:t>
            </a:r>
            <a:r>
              <a:rPr sz="1800" spc="-10" dirty="0">
                <a:solidFill>
                  <a:srgbClr val="FF0000"/>
                </a:solidFill>
                <a:latin typeface="Arial MT"/>
                <a:cs typeface="Arial MT"/>
              </a:rPr>
              <a:t>fast- </a:t>
            </a:r>
            <a:r>
              <a:rPr sz="1800" dirty="0">
                <a:solidFill>
                  <a:srgbClr val="FF0000"/>
                </a:solidFill>
                <a:latin typeface="Arial MT"/>
                <a:cs typeface="Arial MT"/>
              </a:rPr>
              <a:t>lookup</a:t>
            </a:r>
            <a:r>
              <a:rPr sz="1800" spc="-25" dirty="0">
                <a:solidFill>
                  <a:srgbClr val="FF0000"/>
                </a:solidFill>
                <a:latin typeface="Arial MT"/>
                <a:cs typeface="Arial MT"/>
              </a:rPr>
              <a:t> </a:t>
            </a:r>
            <a:r>
              <a:rPr sz="1800" dirty="0">
                <a:solidFill>
                  <a:srgbClr val="FF0000"/>
                </a:solidFill>
                <a:latin typeface="Arial MT"/>
                <a:cs typeface="Arial MT"/>
              </a:rPr>
              <a:t>hardware</a:t>
            </a:r>
            <a:r>
              <a:rPr sz="1800" spc="25" dirty="0">
                <a:solidFill>
                  <a:srgbClr val="FF0000"/>
                </a:solidFill>
                <a:latin typeface="Arial MT"/>
                <a:cs typeface="Arial MT"/>
              </a:rPr>
              <a:t> </a:t>
            </a:r>
            <a:r>
              <a:rPr sz="1800" b="1" dirty="0">
                <a:solidFill>
                  <a:srgbClr val="FF0000"/>
                </a:solidFill>
                <a:latin typeface="Arial"/>
                <a:cs typeface="Arial"/>
              </a:rPr>
              <a:t>cache</a:t>
            </a:r>
            <a:r>
              <a:rPr sz="1800" b="1" spc="-25" dirty="0">
                <a:solidFill>
                  <a:srgbClr val="FF0000"/>
                </a:solidFill>
                <a:latin typeface="Arial"/>
                <a:cs typeface="Arial"/>
              </a:rPr>
              <a:t> </a:t>
            </a:r>
            <a:r>
              <a:rPr sz="1800" dirty="0">
                <a:latin typeface="Arial MT"/>
                <a:cs typeface="Arial MT"/>
              </a:rPr>
              <a:t>called</a:t>
            </a:r>
            <a:r>
              <a:rPr sz="1800" spc="-15" dirty="0">
                <a:latin typeface="Arial MT"/>
                <a:cs typeface="Arial MT"/>
              </a:rPr>
              <a:t> </a:t>
            </a:r>
            <a:r>
              <a:rPr sz="1800" b="1" dirty="0">
                <a:solidFill>
                  <a:srgbClr val="3366FF"/>
                </a:solidFill>
                <a:latin typeface="Arial"/>
                <a:cs typeface="Arial"/>
              </a:rPr>
              <a:t>associative</a:t>
            </a:r>
            <a:r>
              <a:rPr sz="1800" b="1" spc="15" dirty="0">
                <a:solidFill>
                  <a:srgbClr val="3366FF"/>
                </a:solidFill>
                <a:latin typeface="Arial"/>
                <a:cs typeface="Arial"/>
              </a:rPr>
              <a:t> </a:t>
            </a:r>
            <a:r>
              <a:rPr sz="1800" b="1" dirty="0">
                <a:solidFill>
                  <a:srgbClr val="3366FF"/>
                </a:solidFill>
                <a:latin typeface="Arial"/>
                <a:cs typeface="Arial"/>
              </a:rPr>
              <a:t>memory</a:t>
            </a:r>
            <a:r>
              <a:rPr sz="1800" b="1" spc="-20" dirty="0">
                <a:solidFill>
                  <a:srgbClr val="3366FF"/>
                </a:solidFill>
                <a:latin typeface="Arial"/>
                <a:cs typeface="Arial"/>
              </a:rPr>
              <a:t> </a:t>
            </a:r>
            <a:r>
              <a:rPr sz="1800" dirty="0">
                <a:latin typeface="Arial MT"/>
                <a:cs typeface="Arial MT"/>
              </a:rPr>
              <a:t>or</a:t>
            </a:r>
            <a:r>
              <a:rPr sz="1800" spc="-35" dirty="0">
                <a:latin typeface="Arial MT"/>
                <a:cs typeface="Arial MT"/>
              </a:rPr>
              <a:t> </a:t>
            </a:r>
            <a:r>
              <a:rPr sz="1800" b="1" dirty="0">
                <a:solidFill>
                  <a:srgbClr val="3366FF"/>
                </a:solidFill>
                <a:latin typeface="Arial"/>
                <a:cs typeface="Arial"/>
              </a:rPr>
              <a:t>translation</a:t>
            </a:r>
            <a:r>
              <a:rPr sz="1800" b="1" spc="-25" dirty="0">
                <a:solidFill>
                  <a:srgbClr val="3366FF"/>
                </a:solidFill>
                <a:latin typeface="Arial"/>
                <a:cs typeface="Arial"/>
              </a:rPr>
              <a:t> </a:t>
            </a:r>
            <a:r>
              <a:rPr sz="1800" b="1" spc="-10" dirty="0">
                <a:solidFill>
                  <a:srgbClr val="3366FF"/>
                </a:solidFill>
                <a:latin typeface="Arial"/>
                <a:cs typeface="Arial"/>
              </a:rPr>
              <a:t>look-aside </a:t>
            </a:r>
            <a:r>
              <a:rPr sz="1800" b="1" dirty="0">
                <a:solidFill>
                  <a:srgbClr val="3366FF"/>
                </a:solidFill>
                <a:latin typeface="Arial"/>
                <a:cs typeface="Arial"/>
              </a:rPr>
              <a:t>buffers</a:t>
            </a:r>
            <a:r>
              <a:rPr sz="1800" b="1" spc="-35" dirty="0">
                <a:solidFill>
                  <a:srgbClr val="3366FF"/>
                </a:solidFill>
                <a:latin typeface="Arial"/>
                <a:cs typeface="Arial"/>
              </a:rPr>
              <a:t> </a:t>
            </a:r>
            <a:r>
              <a:rPr sz="1800" spc="-10" dirty="0">
                <a:latin typeface="Arial MT"/>
                <a:cs typeface="Arial MT"/>
              </a:rPr>
              <a:t>(</a:t>
            </a:r>
            <a:r>
              <a:rPr sz="1800" b="1" spc="-10" dirty="0">
                <a:solidFill>
                  <a:srgbClr val="3366FF"/>
                </a:solidFill>
                <a:latin typeface="Arial"/>
                <a:cs typeface="Arial"/>
              </a:rPr>
              <a:t>TLBs</a:t>
            </a:r>
            <a:r>
              <a:rPr sz="1800" spc="-10" dirty="0">
                <a:latin typeface="Arial MT"/>
                <a:cs typeface="Arial MT"/>
              </a:rPr>
              <a:t>)</a:t>
            </a:r>
            <a:endParaRPr sz="1800">
              <a:latin typeface="Arial MT"/>
              <a:cs typeface="Arial M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6398" rIns="0" bIns="0" rtlCol="0">
            <a:spAutoFit/>
          </a:bodyPr>
          <a:lstStyle/>
          <a:p>
            <a:pPr marL="1977389">
              <a:lnSpc>
                <a:spcPct val="100000"/>
              </a:lnSpc>
              <a:spcBef>
                <a:spcPts val="100"/>
              </a:spcBef>
            </a:pPr>
            <a:r>
              <a:rPr dirty="0">
                <a:solidFill>
                  <a:srgbClr val="006699"/>
                </a:solidFill>
              </a:rPr>
              <a:t>Associative</a:t>
            </a:r>
            <a:r>
              <a:rPr spc="-45" dirty="0">
                <a:solidFill>
                  <a:srgbClr val="006699"/>
                </a:solidFill>
              </a:rPr>
              <a:t> </a:t>
            </a:r>
            <a:r>
              <a:rPr dirty="0">
                <a:solidFill>
                  <a:srgbClr val="006699"/>
                </a:solidFill>
              </a:rPr>
              <a:t>Memory</a:t>
            </a:r>
            <a:r>
              <a:rPr spc="-30" dirty="0">
                <a:solidFill>
                  <a:srgbClr val="006699"/>
                </a:solidFill>
              </a:rPr>
              <a:t> </a:t>
            </a:r>
            <a:r>
              <a:rPr dirty="0">
                <a:solidFill>
                  <a:srgbClr val="006699"/>
                </a:solidFill>
              </a:rPr>
              <a:t>-</a:t>
            </a:r>
            <a:r>
              <a:rPr spc="-25" dirty="0">
                <a:solidFill>
                  <a:srgbClr val="006699"/>
                </a:solidFill>
              </a:rPr>
              <a:t> TLB</a:t>
            </a:r>
          </a:p>
        </p:txBody>
      </p:sp>
      <p:sp>
        <p:nvSpPr>
          <p:cNvPr id="3" name="object 3"/>
          <p:cNvSpPr txBox="1"/>
          <p:nvPr/>
        </p:nvSpPr>
        <p:spPr>
          <a:xfrm>
            <a:off x="236016" y="1070228"/>
            <a:ext cx="4151629" cy="299720"/>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Associative</a:t>
            </a:r>
            <a:r>
              <a:rPr sz="1800" spc="-35"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a:t>
            </a:r>
            <a:r>
              <a:rPr sz="1800" spc="-40" dirty="0">
                <a:latin typeface="Arial MT"/>
                <a:cs typeface="Arial MT"/>
              </a:rPr>
              <a:t> </a:t>
            </a:r>
            <a:r>
              <a:rPr sz="1800" dirty="0">
                <a:latin typeface="Arial MT"/>
                <a:cs typeface="Arial MT"/>
              </a:rPr>
              <a:t>parallel</a:t>
            </a:r>
            <a:r>
              <a:rPr sz="1800" spc="-20" dirty="0">
                <a:latin typeface="Arial MT"/>
                <a:cs typeface="Arial MT"/>
              </a:rPr>
              <a:t> </a:t>
            </a:r>
            <a:r>
              <a:rPr sz="1800" spc="-10" dirty="0">
                <a:latin typeface="Arial MT"/>
                <a:cs typeface="Arial MT"/>
              </a:rPr>
              <a:t>search</a:t>
            </a:r>
            <a:endParaRPr sz="1800">
              <a:latin typeface="Arial MT"/>
              <a:cs typeface="Arial MT"/>
            </a:endParaRPr>
          </a:p>
        </p:txBody>
      </p:sp>
      <p:sp>
        <p:nvSpPr>
          <p:cNvPr id="4" name="object 4"/>
          <p:cNvSpPr txBox="1"/>
          <p:nvPr/>
        </p:nvSpPr>
        <p:spPr>
          <a:xfrm>
            <a:off x="236016" y="4403852"/>
            <a:ext cx="8566785" cy="2179320"/>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Address</a:t>
            </a:r>
            <a:r>
              <a:rPr sz="1800" spc="-15" dirty="0">
                <a:latin typeface="Arial MT"/>
                <a:cs typeface="Arial MT"/>
              </a:rPr>
              <a:t> </a:t>
            </a:r>
            <a:r>
              <a:rPr sz="1800" dirty="0">
                <a:latin typeface="Arial MT"/>
                <a:cs typeface="Arial MT"/>
              </a:rPr>
              <a:t>translation</a:t>
            </a:r>
            <a:r>
              <a:rPr sz="1800" spc="-25" dirty="0">
                <a:latin typeface="Arial MT"/>
                <a:cs typeface="Arial MT"/>
              </a:rPr>
              <a:t> </a:t>
            </a:r>
            <a:r>
              <a:rPr sz="1800" dirty="0">
                <a:latin typeface="Arial MT"/>
                <a:cs typeface="Arial MT"/>
              </a:rPr>
              <a:t>give</a:t>
            </a:r>
            <a:r>
              <a:rPr sz="1800" spc="-15" dirty="0">
                <a:latin typeface="Arial MT"/>
                <a:cs typeface="Arial MT"/>
              </a:rPr>
              <a:t> </a:t>
            </a:r>
            <a:r>
              <a:rPr sz="1800" dirty="0">
                <a:latin typeface="Arial MT"/>
                <a:cs typeface="Arial MT"/>
              </a:rPr>
              <a:t>(p,</a:t>
            </a:r>
            <a:r>
              <a:rPr sz="1800" spc="-35" dirty="0">
                <a:latin typeface="Arial MT"/>
                <a:cs typeface="Arial MT"/>
              </a:rPr>
              <a:t> </a:t>
            </a:r>
            <a:r>
              <a:rPr sz="1800" spc="-25" dirty="0">
                <a:latin typeface="Arial MT"/>
                <a:cs typeface="Arial MT"/>
              </a:rPr>
              <a:t>d)</a:t>
            </a:r>
            <a:endParaRPr sz="1800">
              <a:latin typeface="Arial MT"/>
              <a:cs typeface="Arial MT"/>
            </a:endParaRPr>
          </a:p>
          <a:p>
            <a:pPr marL="640080" lvl="1" indent="-286385">
              <a:lnSpc>
                <a:spcPct val="100000"/>
              </a:lnSpc>
              <a:spcBef>
                <a:spcPts val="2050"/>
              </a:spcBef>
              <a:buClr>
                <a:srgbClr val="CC6600"/>
              </a:buClr>
              <a:buSzPct val="80555"/>
              <a:buFont typeface="Wingdings"/>
              <a:buChar char=""/>
              <a:tabLst>
                <a:tab pos="640080" algn="l"/>
              </a:tabLst>
            </a:pPr>
            <a:r>
              <a:rPr sz="1800" dirty="0">
                <a:latin typeface="Arial MT"/>
                <a:cs typeface="Arial MT"/>
              </a:rPr>
              <a:t>If</a:t>
            </a:r>
            <a:r>
              <a:rPr sz="1800" spc="-45" dirty="0">
                <a:latin typeface="Arial MT"/>
                <a:cs typeface="Arial MT"/>
              </a:rPr>
              <a:t> </a:t>
            </a:r>
            <a:r>
              <a:rPr sz="1800" dirty="0">
                <a:latin typeface="Arial MT"/>
                <a:cs typeface="Arial MT"/>
              </a:rPr>
              <a:t>p</a:t>
            </a:r>
            <a:r>
              <a:rPr sz="1800" spc="-2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in</a:t>
            </a:r>
            <a:r>
              <a:rPr sz="1800" spc="-40" dirty="0">
                <a:latin typeface="Arial MT"/>
                <a:cs typeface="Arial MT"/>
              </a:rPr>
              <a:t> </a:t>
            </a:r>
            <a:r>
              <a:rPr sz="1800" dirty="0">
                <a:latin typeface="Arial MT"/>
                <a:cs typeface="Arial MT"/>
              </a:rPr>
              <a:t>associative</a:t>
            </a:r>
            <a:r>
              <a:rPr sz="1800" spc="-5" dirty="0">
                <a:latin typeface="Arial MT"/>
                <a:cs typeface="Arial MT"/>
              </a:rPr>
              <a:t> </a:t>
            </a:r>
            <a:r>
              <a:rPr sz="1800" dirty="0">
                <a:latin typeface="Arial MT"/>
                <a:cs typeface="Arial MT"/>
              </a:rPr>
              <a:t>memory,</a:t>
            </a:r>
            <a:r>
              <a:rPr sz="1800" spc="-5" dirty="0">
                <a:latin typeface="Arial MT"/>
                <a:cs typeface="Arial MT"/>
              </a:rPr>
              <a:t> </a:t>
            </a:r>
            <a:r>
              <a:rPr sz="1800" dirty="0">
                <a:latin typeface="Arial MT"/>
                <a:cs typeface="Arial MT"/>
              </a:rPr>
              <a:t>then</a:t>
            </a:r>
            <a:r>
              <a:rPr sz="1800" spc="-25" dirty="0">
                <a:latin typeface="Arial MT"/>
                <a:cs typeface="Arial MT"/>
              </a:rPr>
              <a:t> </a:t>
            </a:r>
            <a:r>
              <a:rPr sz="1800" dirty="0">
                <a:latin typeface="Arial MT"/>
                <a:cs typeface="Arial MT"/>
              </a:rPr>
              <a:t>retrieve</a:t>
            </a:r>
            <a:r>
              <a:rPr sz="1800" spc="-20"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corresponding</a:t>
            </a:r>
            <a:r>
              <a:rPr sz="1800" spc="-10" dirty="0">
                <a:latin typeface="Arial MT"/>
                <a:cs typeface="Arial MT"/>
              </a:rPr>
              <a:t> </a:t>
            </a:r>
            <a:r>
              <a:rPr sz="1800" dirty="0">
                <a:latin typeface="Arial MT"/>
                <a:cs typeface="Arial MT"/>
              </a:rPr>
              <a:t>frame</a:t>
            </a:r>
            <a:r>
              <a:rPr sz="1800" spc="-25" dirty="0">
                <a:latin typeface="Arial MT"/>
                <a:cs typeface="Arial MT"/>
              </a:rPr>
              <a:t> </a:t>
            </a:r>
            <a:r>
              <a:rPr sz="1800" spc="-50" dirty="0">
                <a:latin typeface="Arial MT"/>
                <a:cs typeface="Arial MT"/>
              </a:rPr>
              <a:t>#</a:t>
            </a:r>
            <a:endParaRPr sz="1800">
              <a:latin typeface="Arial MT"/>
              <a:cs typeface="Arial MT"/>
            </a:endParaRPr>
          </a:p>
          <a:p>
            <a:pPr marL="640080" lvl="1" indent="-286385">
              <a:lnSpc>
                <a:spcPct val="100000"/>
              </a:lnSpc>
              <a:spcBef>
                <a:spcPts val="2055"/>
              </a:spcBef>
              <a:buClr>
                <a:srgbClr val="CC6600"/>
              </a:buClr>
              <a:buSzPct val="80555"/>
              <a:buFont typeface="Wingdings"/>
              <a:buChar char=""/>
              <a:tabLst>
                <a:tab pos="640080" algn="l"/>
              </a:tabLst>
            </a:pPr>
            <a:r>
              <a:rPr sz="1800" dirty="0">
                <a:latin typeface="Arial MT"/>
                <a:cs typeface="Arial MT"/>
              </a:rPr>
              <a:t>Otherwise</a:t>
            </a:r>
            <a:r>
              <a:rPr sz="1800" spc="-5" dirty="0">
                <a:latin typeface="Arial MT"/>
                <a:cs typeface="Arial MT"/>
              </a:rPr>
              <a:t> </a:t>
            </a:r>
            <a:r>
              <a:rPr sz="1800" dirty="0">
                <a:latin typeface="Arial MT"/>
                <a:cs typeface="Arial MT"/>
              </a:rPr>
              <a:t>retrieve</a:t>
            </a:r>
            <a:r>
              <a:rPr sz="1800" spc="-25"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corresponding</a:t>
            </a:r>
            <a:r>
              <a:rPr sz="1800" spc="-5" dirty="0">
                <a:latin typeface="Arial MT"/>
                <a:cs typeface="Arial MT"/>
              </a:rPr>
              <a:t> </a:t>
            </a:r>
            <a:r>
              <a:rPr sz="1800" dirty="0">
                <a:latin typeface="Arial MT"/>
                <a:cs typeface="Arial MT"/>
              </a:rPr>
              <a:t>frame</a:t>
            </a:r>
            <a:r>
              <a:rPr sz="1800" spc="-30" dirty="0">
                <a:latin typeface="Arial MT"/>
                <a:cs typeface="Arial MT"/>
              </a:rPr>
              <a:t> </a:t>
            </a:r>
            <a:r>
              <a:rPr sz="1800" dirty="0">
                <a:latin typeface="Arial MT"/>
                <a:cs typeface="Arial MT"/>
              </a:rPr>
              <a:t>#</a:t>
            </a:r>
            <a:r>
              <a:rPr sz="1800" spc="-35" dirty="0">
                <a:latin typeface="Arial MT"/>
                <a:cs typeface="Arial MT"/>
              </a:rPr>
              <a:t> </a:t>
            </a:r>
            <a:r>
              <a:rPr sz="1800" dirty="0">
                <a:latin typeface="Arial MT"/>
                <a:cs typeface="Arial MT"/>
              </a:rPr>
              <a:t>from</a:t>
            </a:r>
            <a:r>
              <a:rPr sz="1800" spc="-35"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page</a:t>
            </a:r>
            <a:r>
              <a:rPr sz="1800" spc="-25" dirty="0">
                <a:latin typeface="Arial MT"/>
                <a:cs typeface="Arial MT"/>
              </a:rPr>
              <a:t> </a:t>
            </a:r>
            <a:r>
              <a:rPr sz="1800" dirty="0">
                <a:latin typeface="Arial MT"/>
                <a:cs typeface="Arial MT"/>
              </a:rPr>
              <a:t>table</a:t>
            </a:r>
            <a:r>
              <a:rPr sz="1800" spc="-40" dirty="0">
                <a:latin typeface="Arial MT"/>
                <a:cs typeface="Arial MT"/>
              </a:rPr>
              <a:t> </a:t>
            </a:r>
            <a:r>
              <a:rPr sz="1800" dirty="0">
                <a:latin typeface="Arial MT"/>
                <a:cs typeface="Arial MT"/>
              </a:rPr>
              <a:t>in</a:t>
            </a:r>
            <a:r>
              <a:rPr sz="1800" spc="-20" dirty="0">
                <a:latin typeface="Arial MT"/>
                <a:cs typeface="Arial MT"/>
              </a:rPr>
              <a:t> </a:t>
            </a:r>
            <a:r>
              <a:rPr sz="1800" spc="-10" dirty="0">
                <a:latin typeface="Arial MT"/>
                <a:cs typeface="Arial MT"/>
              </a:rPr>
              <a:t>memory</a:t>
            </a:r>
            <a:endParaRPr sz="1800">
              <a:latin typeface="Arial MT"/>
              <a:cs typeface="Arial MT"/>
            </a:endParaRPr>
          </a:p>
          <a:p>
            <a:pPr marL="982980" marR="5080" indent="-228600">
              <a:lnSpc>
                <a:spcPct val="100000"/>
              </a:lnSpc>
              <a:spcBef>
                <a:spcPts val="2050"/>
              </a:spcBef>
            </a:pPr>
            <a:r>
              <a:rPr sz="1350" dirty="0">
                <a:solidFill>
                  <a:srgbClr val="009900"/>
                </a:solidFill>
                <a:latin typeface="Webdings"/>
                <a:cs typeface="Webdings"/>
              </a:rPr>
              <a:t></a:t>
            </a:r>
            <a:r>
              <a:rPr sz="1350" spc="95" dirty="0">
                <a:solidFill>
                  <a:srgbClr val="009900"/>
                </a:solidFill>
                <a:latin typeface="Times New Roman"/>
                <a:cs typeface="Times New Roman"/>
              </a:rPr>
              <a:t> </a:t>
            </a:r>
            <a:r>
              <a:rPr sz="1800" dirty="0">
                <a:solidFill>
                  <a:srgbClr val="FF0000"/>
                </a:solidFill>
                <a:latin typeface="Arial MT"/>
                <a:cs typeface="Arial MT"/>
              </a:rPr>
              <a:t>This</a:t>
            </a:r>
            <a:r>
              <a:rPr sz="1800" spc="-20" dirty="0">
                <a:solidFill>
                  <a:srgbClr val="FF0000"/>
                </a:solidFill>
                <a:latin typeface="Arial MT"/>
                <a:cs typeface="Arial MT"/>
              </a:rPr>
              <a:t> </a:t>
            </a:r>
            <a:r>
              <a:rPr sz="1800" dirty="0">
                <a:solidFill>
                  <a:srgbClr val="FF0000"/>
                </a:solidFill>
                <a:latin typeface="Arial MT"/>
                <a:cs typeface="Arial MT"/>
              </a:rPr>
              <a:t>is</a:t>
            </a:r>
            <a:r>
              <a:rPr sz="1800" spc="-10" dirty="0">
                <a:solidFill>
                  <a:srgbClr val="FF0000"/>
                </a:solidFill>
                <a:latin typeface="Arial MT"/>
                <a:cs typeface="Arial MT"/>
              </a:rPr>
              <a:t> </a:t>
            </a:r>
            <a:r>
              <a:rPr sz="1800" dirty="0">
                <a:solidFill>
                  <a:srgbClr val="FF0000"/>
                </a:solidFill>
                <a:latin typeface="Arial MT"/>
                <a:cs typeface="Arial MT"/>
              </a:rPr>
              <a:t>a</a:t>
            </a:r>
            <a:r>
              <a:rPr sz="1800" spc="-5" dirty="0">
                <a:solidFill>
                  <a:srgbClr val="FF0000"/>
                </a:solidFill>
                <a:latin typeface="Arial MT"/>
                <a:cs typeface="Arial MT"/>
              </a:rPr>
              <a:t> </a:t>
            </a:r>
            <a:r>
              <a:rPr sz="1800" b="1" dirty="0">
                <a:solidFill>
                  <a:srgbClr val="FF0000"/>
                </a:solidFill>
                <a:latin typeface="Arial"/>
                <a:cs typeface="Arial"/>
              </a:rPr>
              <a:t>TLB</a:t>
            </a:r>
            <a:r>
              <a:rPr sz="1800" b="1" spc="-30" dirty="0">
                <a:solidFill>
                  <a:srgbClr val="FF0000"/>
                </a:solidFill>
                <a:latin typeface="Arial"/>
                <a:cs typeface="Arial"/>
              </a:rPr>
              <a:t> </a:t>
            </a:r>
            <a:r>
              <a:rPr sz="1800" b="1" dirty="0">
                <a:solidFill>
                  <a:srgbClr val="FF0000"/>
                </a:solidFill>
                <a:latin typeface="Arial"/>
                <a:cs typeface="Arial"/>
              </a:rPr>
              <a:t>miss</a:t>
            </a:r>
            <a:r>
              <a:rPr sz="1800" dirty="0">
                <a:solidFill>
                  <a:srgbClr val="FF0000"/>
                </a:solidFill>
                <a:latin typeface="Arial MT"/>
                <a:cs typeface="Arial MT"/>
              </a:rPr>
              <a:t>;</a:t>
            </a:r>
            <a:r>
              <a:rPr sz="1800" spc="-5" dirty="0">
                <a:solidFill>
                  <a:srgbClr val="FF0000"/>
                </a:solidFill>
                <a:latin typeface="Arial MT"/>
                <a:cs typeface="Arial MT"/>
              </a:rPr>
              <a:t> </a:t>
            </a:r>
            <a:r>
              <a:rPr sz="1800" dirty="0">
                <a:solidFill>
                  <a:srgbClr val="FF0000"/>
                </a:solidFill>
                <a:latin typeface="Arial MT"/>
                <a:cs typeface="Arial MT"/>
              </a:rPr>
              <a:t>the</a:t>
            </a:r>
            <a:r>
              <a:rPr sz="1800" spc="-10" dirty="0">
                <a:solidFill>
                  <a:srgbClr val="FF0000"/>
                </a:solidFill>
                <a:latin typeface="Arial MT"/>
                <a:cs typeface="Arial MT"/>
              </a:rPr>
              <a:t> </a:t>
            </a:r>
            <a:r>
              <a:rPr sz="1800" b="1" dirty="0">
                <a:solidFill>
                  <a:srgbClr val="FF0000"/>
                </a:solidFill>
                <a:latin typeface="Arial"/>
                <a:cs typeface="Arial"/>
              </a:rPr>
              <a:t>page</a:t>
            </a:r>
            <a:r>
              <a:rPr sz="1800" b="1" spc="-5" dirty="0">
                <a:solidFill>
                  <a:srgbClr val="FF0000"/>
                </a:solidFill>
                <a:latin typeface="Arial"/>
                <a:cs typeface="Arial"/>
              </a:rPr>
              <a:t> </a:t>
            </a:r>
            <a:r>
              <a:rPr sz="1800" b="1" dirty="0">
                <a:solidFill>
                  <a:srgbClr val="FF0000"/>
                </a:solidFill>
                <a:latin typeface="Arial"/>
                <a:cs typeface="Arial"/>
              </a:rPr>
              <a:t>#</a:t>
            </a:r>
            <a:r>
              <a:rPr sz="1800" b="1" spc="-10" dirty="0">
                <a:solidFill>
                  <a:srgbClr val="FF0000"/>
                </a:solidFill>
                <a:latin typeface="Arial"/>
                <a:cs typeface="Arial"/>
              </a:rPr>
              <a:t> </a:t>
            </a:r>
            <a:r>
              <a:rPr sz="1800" b="1" dirty="0">
                <a:solidFill>
                  <a:srgbClr val="FF0000"/>
                </a:solidFill>
                <a:latin typeface="Arial"/>
                <a:cs typeface="Arial"/>
              </a:rPr>
              <a:t>and</a:t>
            </a:r>
            <a:r>
              <a:rPr sz="1800" b="1" spc="-10" dirty="0">
                <a:solidFill>
                  <a:srgbClr val="FF0000"/>
                </a:solidFill>
                <a:latin typeface="Arial"/>
                <a:cs typeface="Arial"/>
              </a:rPr>
              <a:t> </a:t>
            </a:r>
            <a:r>
              <a:rPr sz="1800" b="1" dirty="0">
                <a:solidFill>
                  <a:srgbClr val="FF0000"/>
                </a:solidFill>
                <a:latin typeface="Arial"/>
                <a:cs typeface="Arial"/>
              </a:rPr>
              <a:t>frame</a:t>
            </a:r>
            <a:r>
              <a:rPr sz="1800" b="1" spc="-5" dirty="0">
                <a:solidFill>
                  <a:srgbClr val="FF0000"/>
                </a:solidFill>
                <a:latin typeface="Arial"/>
                <a:cs typeface="Arial"/>
              </a:rPr>
              <a:t> </a:t>
            </a:r>
            <a:r>
              <a:rPr sz="1800" b="1" dirty="0">
                <a:solidFill>
                  <a:srgbClr val="FF0000"/>
                </a:solidFill>
                <a:latin typeface="Arial"/>
                <a:cs typeface="Arial"/>
              </a:rPr>
              <a:t>#</a:t>
            </a:r>
            <a:r>
              <a:rPr sz="1800" b="1" spc="-5" dirty="0">
                <a:solidFill>
                  <a:srgbClr val="FF0000"/>
                </a:solidFill>
                <a:latin typeface="Arial"/>
                <a:cs typeface="Arial"/>
              </a:rPr>
              <a:t> </a:t>
            </a:r>
            <a:r>
              <a:rPr sz="1800" dirty="0">
                <a:solidFill>
                  <a:srgbClr val="FF0000"/>
                </a:solidFill>
                <a:latin typeface="Arial MT"/>
                <a:cs typeface="Arial MT"/>
              </a:rPr>
              <a:t>are</a:t>
            </a:r>
            <a:r>
              <a:rPr sz="1800" spc="-5" dirty="0">
                <a:solidFill>
                  <a:srgbClr val="FF0000"/>
                </a:solidFill>
                <a:latin typeface="Arial MT"/>
                <a:cs typeface="Arial MT"/>
              </a:rPr>
              <a:t> </a:t>
            </a:r>
            <a:r>
              <a:rPr sz="1800" dirty="0">
                <a:solidFill>
                  <a:srgbClr val="FF0000"/>
                </a:solidFill>
                <a:latin typeface="Arial MT"/>
                <a:cs typeface="Arial MT"/>
              </a:rPr>
              <a:t>then</a:t>
            </a:r>
            <a:r>
              <a:rPr sz="1800" spc="-10" dirty="0">
                <a:solidFill>
                  <a:srgbClr val="FF0000"/>
                </a:solidFill>
                <a:latin typeface="Arial MT"/>
                <a:cs typeface="Arial MT"/>
              </a:rPr>
              <a:t> </a:t>
            </a:r>
            <a:r>
              <a:rPr sz="1800" dirty="0">
                <a:solidFill>
                  <a:srgbClr val="FF0000"/>
                </a:solidFill>
                <a:latin typeface="Arial MT"/>
                <a:cs typeface="Arial MT"/>
              </a:rPr>
              <a:t>added</a:t>
            </a:r>
            <a:r>
              <a:rPr sz="1800" spc="-5" dirty="0">
                <a:solidFill>
                  <a:srgbClr val="FF0000"/>
                </a:solidFill>
                <a:latin typeface="Arial MT"/>
                <a:cs typeface="Arial MT"/>
              </a:rPr>
              <a:t> </a:t>
            </a:r>
            <a:r>
              <a:rPr sz="1800" dirty="0">
                <a:solidFill>
                  <a:srgbClr val="FF0000"/>
                </a:solidFill>
                <a:latin typeface="Arial MT"/>
                <a:cs typeface="Arial MT"/>
              </a:rPr>
              <a:t>to</a:t>
            </a:r>
            <a:r>
              <a:rPr sz="1800" spc="-5" dirty="0">
                <a:solidFill>
                  <a:srgbClr val="FF0000"/>
                </a:solidFill>
                <a:latin typeface="Arial MT"/>
                <a:cs typeface="Arial MT"/>
              </a:rPr>
              <a:t> </a:t>
            </a:r>
            <a:r>
              <a:rPr sz="1800" dirty="0">
                <a:solidFill>
                  <a:srgbClr val="FF0000"/>
                </a:solidFill>
                <a:latin typeface="Arial MT"/>
                <a:cs typeface="Arial MT"/>
              </a:rPr>
              <a:t>the</a:t>
            </a:r>
            <a:r>
              <a:rPr sz="1800" spc="-20" dirty="0">
                <a:solidFill>
                  <a:srgbClr val="FF0000"/>
                </a:solidFill>
                <a:latin typeface="Arial MT"/>
                <a:cs typeface="Arial MT"/>
              </a:rPr>
              <a:t> </a:t>
            </a:r>
            <a:r>
              <a:rPr sz="1800" dirty="0">
                <a:solidFill>
                  <a:srgbClr val="FF0000"/>
                </a:solidFill>
                <a:latin typeface="Arial MT"/>
                <a:cs typeface="Arial MT"/>
              </a:rPr>
              <a:t>TLB</a:t>
            </a:r>
            <a:r>
              <a:rPr sz="1800" spc="-25" dirty="0">
                <a:solidFill>
                  <a:srgbClr val="FF0000"/>
                </a:solidFill>
                <a:latin typeface="Arial MT"/>
                <a:cs typeface="Arial MT"/>
              </a:rPr>
              <a:t> for </a:t>
            </a:r>
            <a:r>
              <a:rPr sz="1800" dirty="0">
                <a:solidFill>
                  <a:srgbClr val="FF0000"/>
                </a:solidFill>
                <a:latin typeface="Arial MT"/>
                <a:cs typeface="Arial MT"/>
              </a:rPr>
              <a:t>future</a:t>
            </a:r>
            <a:r>
              <a:rPr sz="1800" spc="-35" dirty="0">
                <a:solidFill>
                  <a:srgbClr val="FF0000"/>
                </a:solidFill>
                <a:latin typeface="Arial MT"/>
                <a:cs typeface="Arial MT"/>
              </a:rPr>
              <a:t> </a:t>
            </a:r>
            <a:r>
              <a:rPr sz="1800" spc="-10" dirty="0">
                <a:solidFill>
                  <a:srgbClr val="FF0000"/>
                </a:solidFill>
                <a:latin typeface="Arial MT"/>
                <a:cs typeface="Arial MT"/>
              </a:rPr>
              <a:t>references</a:t>
            </a:r>
            <a:endParaRPr sz="1800">
              <a:latin typeface="Arial MT"/>
              <a:cs typeface="Arial MT"/>
            </a:endParaRPr>
          </a:p>
        </p:txBody>
      </p:sp>
      <p:sp>
        <p:nvSpPr>
          <p:cNvPr id="5" name="object 5"/>
          <p:cNvSpPr/>
          <p:nvPr/>
        </p:nvSpPr>
        <p:spPr>
          <a:xfrm>
            <a:off x="246003" y="1512964"/>
            <a:ext cx="8636635" cy="2758440"/>
          </a:xfrm>
          <a:custGeom>
            <a:avLst/>
            <a:gdLst/>
            <a:ahLst/>
            <a:cxnLst/>
            <a:rect l="l" t="t" r="r" b="b"/>
            <a:pathLst>
              <a:path w="8636635" h="2758440">
                <a:moveTo>
                  <a:pt x="0" y="577246"/>
                </a:moveTo>
                <a:lnTo>
                  <a:pt x="8636120" y="577246"/>
                </a:lnTo>
              </a:path>
              <a:path w="8636635" h="2758440">
                <a:moveTo>
                  <a:pt x="8636120" y="577246"/>
                </a:moveTo>
                <a:lnTo>
                  <a:pt x="8636120" y="2758217"/>
                </a:lnTo>
              </a:path>
              <a:path w="8636635" h="2758440">
                <a:moveTo>
                  <a:pt x="8636120" y="2758217"/>
                </a:moveTo>
                <a:lnTo>
                  <a:pt x="0" y="2758217"/>
                </a:lnTo>
              </a:path>
              <a:path w="8636635" h="2758440">
                <a:moveTo>
                  <a:pt x="0" y="2758217"/>
                </a:moveTo>
                <a:lnTo>
                  <a:pt x="0" y="577246"/>
                </a:lnTo>
              </a:path>
              <a:path w="8636635" h="2758440">
                <a:moveTo>
                  <a:pt x="4316781" y="0"/>
                </a:moveTo>
                <a:lnTo>
                  <a:pt x="4316781" y="2758217"/>
                </a:lnTo>
              </a:path>
              <a:path w="8636635" h="2758440">
                <a:moveTo>
                  <a:pt x="0" y="1136892"/>
                </a:moveTo>
                <a:lnTo>
                  <a:pt x="8636120" y="1136892"/>
                </a:lnTo>
              </a:path>
              <a:path w="8636635" h="2758440">
                <a:moveTo>
                  <a:pt x="0" y="1667707"/>
                </a:moveTo>
                <a:lnTo>
                  <a:pt x="8636120" y="1667707"/>
                </a:lnTo>
              </a:path>
              <a:path w="8636635" h="2758440">
                <a:moveTo>
                  <a:pt x="0" y="2209752"/>
                </a:moveTo>
                <a:lnTo>
                  <a:pt x="8636120" y="2209752"/>
                </a:lnTo>
              </a:path>
            </a:pathLst>
          </a:custGeom>
          <a:ln w="21282">
            <a:solidFill>
              <a:srgbClr val="000000"/>
            </a:solidFill>
          </a:ln>
        </p:spPr>
        <p:txBody>
          <a:bodyPr wrap="square" lIns="0" tIns="0" rIns="0" bIns="0" rtlCol="0"/>
          <a:lstStyle/>
          <a:p>
            <a:endParaRPr/>
          </a:p>
        </p:txBody>
      </p:sp>
      <p:sp>
        <p:nvSpPr>
          <p:cNvPr id="6" name="object 6"/>
          <p:cNvSpPr txBox="1"/>
          <p:nvPr/>
        </p:nvSpPr>
        <p:spPr>
          <a:xfrm>
            <a:off x="1415697" y="1570902"/>
            <a:ext cx="1706245" cy="408940"/>
          </a:xfrm>
          <a:prstGeom prst="rect">
            <a:avLst/>
          </a:prstGeom>
        </p:spPr>
        <p:txBody>
          <a:bodyPr vert="horz" wrap="square" lIns="0" tIns="14604" rIns="0" bIns="0" rtlCol="0">
            <a:spAutoFit/>
          </a:bodyPr>
          <a:lstStyle/>
          <a:p>
            <a:pPr marL="12700">
              <a:lnSpc>
                <a:spcPct val="100000"/>
              </a:lnSpc>
              <a:spcBef>
                <a:spcPts val="114"/>
              </a:spcBef>
              <a:tabLst>
                <a:tab pos="1397000" algn="l"/>
              </a:tabLst>
            </a:pPr>
            <a:r>
              <a:rPr sz="2500" spc="950" dirty="0">
                <a:latin typeface="Arial MT"/>
                <a:cs typeface="Arial MT"/>
              </a:rPr>
              <a:t>Page</a:t>
            </a:r>
            <a:r>
              <a:rPr sz="2500" dirty="0">
                <a:latin typeface="Arial MT"/>
                <a:cs typeface="Arial MT"/>
              </a:rPr>
              <a:t>	</a:t>
            </a:r>
            <a:r>
              <a:rPr sz="2500" spc="875" dirty="0">
                <a:latin typeface="Arial MT"/>
                <a:cs typeface="Arial MT"/>
              </a:rPr>
              <a:t>#</a:t>
            </a:r>
            <a:endParaRPr sz="2500">
              <a:latin typeface="Arial MT"/>
              <a:cs typeface="Arial MT"/>
            </a:endParaRP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37</a:t>
            </a:fld>
            <a:endParaRPr spc="-20" dirty="0"/>
          </a:p>
        </p:txBody>
      </p:sp>
      <p:sp>
        <p:nvSpPr>
          <p:cNvPr id="10" name="object 10"/>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7" name="object 7"/>
          <p:cNvSpPr txBox="1"/>
          <p:nvPr/>
        </p:nvSpPr>
        <p:spPr>
          <a:xfrm>
            <a:off x="5506030" y="1570902"/>
            <a:ext cx="1996439" cy="408940"/>
          </a:xfrm>
          <a:prstGeom prst="rect">
            <a:avLst/>
          </a:prstGeom>
        </p:spPr>
        <p:txBody>
          <a:bodyPr vert="horz" wrap="square" lIns="0" tIns="14604" rIns="0" bIns="0" rtlCol="0">
            <a:spAutoFit/>
          </a:bodyPr>
          <a:lstStyle/>
          <a:p>
            <a:pPr marL="12700">
              <a:lnSpc>
                <a:spcPct val="100000"/>
              </a:lnSpc>
              <a:spcBef>
                <a:spcPts val="114"/>
              </a:spcBef>
              <a:tabLst>
                <a:tab pos="1687195" algn="l"/>
              </a:tabLst>
            </a:pPr>
            <a:r>
              <a:rPr sz="2500" spc="944" dirty="0">
                <a:latin typeface="Arial MT"/>
                <a:cs typeface="Arial MT"/>
              </a:rPr>
              <a:t>Frame</a:t>
            </a:r>
            <a:r>
              <a:rPr sz="2500" dirty="0">
                <a:latin typeface="Arial MT"/>
                <a:cs typeface="Arial MT"/>
              </a:rPr>
              <a:t>	</a:t>
            </a:r>
            <a:r>
              <a:rPr sz="2500" spc="875" dirty="0">
                <a:latin typeface="Arial MT"/>
                <a:cs typeface="Arial MT"/>
              </a:rPr>
              <a:t>#</a:t>
            </a:r>
            <a:endParaRPr sz="2500">
              <a:latin typeface="Arial MT"/>
              <a:cs typeface="Arial M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7162" y="1043050"/>
            <a:ext cx="8801100" cy="5643499"/>
          </a:xfrm>
          <a:prstGeom prst="rect">
            <a:avLst/>
          </a:prstGeom>
        </p:spPr>
      </p:pic>
      <p:sp>
        <p:nvSpPr>
          <p:cNvPr id="3" name="object 3"/>
          <p:cNvSpPr txBox="1">
            <a:spLocks noGrp="1"/>
          </p:cNvSpPr>
          <p:nvPr>
            <p:ph type="title"/>
          </p:nvPr>
        </p:nvSpPr>
        <p:spPr>
          <a:prstGeom prst="rect">
            <a:avLst/>
          </a:prstGeom>
        </p:spPr>
        <p:txBody>
          <a:bodyPr vert="horz" wrap="square" lIns="0" tIns="152273" rIns="0" bIns="0" rtlCol="0">
            <a:spAutoFit/>
          </a:bodyPr>
          <a:lstStyle/>
          <a:p>
            <a:pPr marL="1940560">
              <a:lnSpc>
                <a:spcPct val="100000"/>
              </a:lnSpc>
              <a:spcBef>
                <a:spcPts val="100"/>
              </a:spcBef>
            </a:pPr>
            <a:r>
              <a:rPr dirty="0">
                <a:solidFill>
                  <a:srgbClr val="006699"/>
                </a:solidFill>
              </a:rPr>
              <a:t>Paging</a:t>
            </a:r>
            <a:r>
              <a:rPr spc="-35" dirty="0">
                <a:solidFill>
                  <a:srgbClr val="006699"/>
                </a:solidFill>
              </a:rPr>
              <a:t> </a:t>
            </a:r>
            <a:r>
              <a:rPr dirty="0">
                <a:solidFill>
                  <a:srgbClr val="006699"/>
                </a:solidFill>
              </a:rPr>
              <a:t>Hardware</a:t>
            </a:r>
            <a:r>
              <a:rPr spc="-30" dirty="0">
                <a:solidFill>
                  <a:srgbClr val="006699"/>
                </a:solidFill>
              </a:rPr>
              <a:t> </a:t>
            </a:r>
            <a:r>
              <a:rPr dirty="0">
                <a:solidFill>
                  <a:srgbClr val="006699"/>
                </a:solidFill>
              </a:rPr>
              <a:t>With</a:t>
            </a:r>
            <a:r>
              <a:rPr spc="-20" dirty="0">
                <a:solidFill>
                  <a:srgbClr val="006699"/>
                </a:solidFill>
              </a:rPr>
              <a:t> </a:t>
            </a:r>
            <a:r>
              <a:rPr spc="-25" dirty="0">
                <a:solidFill>
                  <a:srgbClr val="006699"/>
                </a:solidFill>
              </a:rPr>
              <a:t>TLB</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38</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6398" rIns="0" bIns="0" rtlCol="0">
            <a:spAutoFit/>
          </a:bodyPr>
          <a:lstStyle/>
          <a:p>
            <a:pPr marL="2239010">
              <a:lnSpc>
                <a:spcPct val="100000"/>
              </a:lnSpc>
              <a:spcBef>
                <a:spcPts val="100"/>
              </a:spcBef>
            </a:pPr>
            <a:r>
              <a:rPr dirty="0">
                <a:solidFill>
                  <a:srgbClr val="006699"/>
                </a:solidFill>
              </a:rPr>
              <a:t>Implementation</a:t>
            </a:r>
            <a:r>
              <a:rPr spc="-35" dirty="0">
                <a:solidFill>
                  <a:srgbClr val="006699"/>
                </a:solidFill>
              </a:rPr>
              <a:t> </a:t>
            </a:r>
            <a:r>
              <a:rPr dirty="0">
                <a:solidFill>
                  <a:srgbClr val="006699"/>
                </a:solidFill>
              </a:rPr>
              <a:t>of</a:t>
            </a:r>
            <a:r>
              <a:rPr spc="-25" dirty="0">
                <a:solidFill>
                  <a:srgbClr val="006699"/>
                </a:solidFill>
              </a:rPr>
              <a:t> </a:t>
            </a:r>
            <a:r>
              <a:rPr dirty="0">
                <a:solidFill>
                  <a:srgbClr val="006699"/>
                </a:solidFill>
              </a:rPr>
              <a:t>Page</a:t>
            </a:r>
            <a:r>
              <a:rPr spc="-30" dirty="0">
                <a:solidFill>
                  <a:srgbClr val="006699"/>
                </a:solidFill>
              </a:rPr>
              <a:t> </a:t>
            </a:r>
            <a:r>
              <a:rPr spc="-10" dirty="0">
                <a:solidFill>
                  <a:srgbClr val="006699"/>
                </a:solidFill>
              </a:rPr>
              <a:t>Table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39</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64668" y="1084579"/>
            <a:ext cx="8559800" cy="5513070"/>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TLBs</a:t>
            </a:r>
            <a:r>
              <a:rPr sz="1800" spc="-30" dirty="0">
                <a:latin typeface="Arial MT"/>
                <a:cs typeface="Arial MT"/>
              </a:rPr>
              <a:t> </a:t>
            </a:r>
            <a:r>
              <a:rPr sz="1800" dirty="0">
                <a:latin typeface="Arial MT"/>
                <a:cs typeface="Arial MT"/>
              </a:rPr>
              <a:t>are</a:t>
            </a:r>
            <a:r>
              <a:rPr sz="1800" spc="-30" dirty="0">
                <a:latin typeface="Arial MT"/>
                <a:cs typeface="Arial MT"/>
              </a:rPr>
              <a:t> </a:t>
            </a:r>
            <a:r>
              <a:rPr sz="1800" dirty="0">
                <a:latin typeface="Arial MT"/>
                <a:cs typeface="Arial MT"/>
              </a:rPr>
              <a:t>typically</a:t>
            </a:r>
            <a:r>
              <a:rPr sz="1800" spc="5" dirty="0">
                <a:latin typeface="Arial MT"/>
                <a:cs typeface="Arial MT"/>
              </a:rPr>
              <a:t> </a:t>
            </a:r>
            <a:r>
              <a:rPr sz="1800" dirty="0">
                <a:latin typeface="Arial MT"/>
                <a:cs typeface="Arial MT"/>
              </a:rPr>
              <a:t>small</a:t>
            </a:r>
            <a:r>
              <a:rPr sz="1800" spc="-10" dirty="0">
                <a:latin typeface="Arial MT"/>
                <a:cs typeface="Arial MT"/>
              </a:rPr>
              <a:t> </a:t>
            </a:r>
            <a:r>
              <a:rPr sz="1800" dirty="0">
                <a:latin typeface="Arial MT"/>
                <a:cs typeface="Arial MT"/>
              </a:rPr>
              <a:t>(64</a:t>
            </a:r>
            <a:r>
              <a:rPr sz="1800" spc="-30"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1,024</a:t>
            </a:r>
            <a:r>
              <a:rPr sz="1800" spc="-20" dirty="0">
                <a:latin typeface="Arial MT"/>
                <a:cs typeface="Arial MT"/>
              </a:rPr>
              <a:t> </a:t>
            </a:r>
            <a:r>
              <a:rPr sz="1800" spc="-10" dirty="0">
                <a:latin typeface="Arial MT"/>
                <a:cs typeface="Arial MT"/>
              </a:rPr>
              <a:t>entries)</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On</a:t>
            </a:r>
            <a:r>
              <a:rPr sz="1800" spc="-2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TLB</a:t>
            </a:r>
            <a:r>
              <a:rPr sz="1800" spc="-35" dirty="0">
                <a:latin typeface="Arial MT"/>
                <a:cs typeface="Arial MT"/>
              </a:rPr>
              <a:t> </a:t>
            </a:r>
            <a:r>
              <a:rPr sz="1800" dirty="0">
                <a:latin typeface="Arial MT"/>
                <a:cs typeface="Arial MT"/>
              </a:rPr>
              <a:t>miss,</a:t>
            </a:r>
            <a:r>
              <a:rPr sz="1800" spc="-10" dirty="0">
                <a:latin typeface="Arial MT"/>
                <a:cs typeface="Arial MT"/>
              </a:rPr>
              <a:t> </a:t>
            </a:r>
            <a:r>
              <a:rPr sz="1800" dirty="0">
                <a:latin typeface="Arial MT"/>
                <a:cs typeface="Arial MT"/>
              </a:rPr>
              <a:t>new</a:t>
            </a:r>
            <a:r>
              <a:rPr sz="1800" spc="-10" dirty="0">
                <a:latin typeface="Arial MT"/>
                <a:cs typeface="Arial MT"/>
              </a:rPr>
              <a:t> </a:t>
            </a:r>
            <a:r>
              <a:rPr sz="1800" dirty="0">
                <a:latin typeface="Arial MT"/>
                <a:cs typeface="Arial MT"/>
              </a:rPr>
              <a:t>entry</a:t>
            </a:r>
            <a:r>
              <a:rPr sz="1800" spc="-10" dirty="0">
                <a:latin typeface="Arial MT"/>
                <a:cs typeface="Arial MT"/>
              </a:rPr>
              <a:t> </a:t>
            </a:r>
            <a:r>
              <a:rPr sz="1800" b="1" dirty="0">
                <a:solidFill>
                  <a:srgbClr val="FF0000"/>
                </a:solidFill>
                <a:latin typeface="Arial"/>
                <a:cs typeface="Arial"/>
              </a:rPr>
              <a:t>(</a:t>
            </a:r>
            <a:r>
              <a:rPr sz="1800" b="1" i="1" dirty="0">
                <a:solidFill>
                  <a:srgbClr val="FF0000"/>
                </a:solidFill>
                <a:latin typeface="Arial"/>
                <a:cs typeface="Arial"/>
              </a:rPr>
              <a:t>p</a:t>
            </a:r>
            <a:r>
              <a:rPr sz="1800" b="1" dirty="0">
                <a:solidFill>
                  <a:srgbClr val="FF0000"/>
                </a:solidFill>
                <a:latin typeface="Arial"/>
                <a:cs typeface="Arial"/>
              </a:rPr>
              <a:t>,</a:t>
            </a:r>
            <a:r>
              <a:rPr sz="1800" b="1" spc="-15" dirty="0">
                <a:solidFill>
                  <a:srgbClr val="FF0000"/>
                </a:solidFill>
                <a:latin typeface="Arial"/>
                <a:cs typeface="Arial"/>
              </a:rPr>
              <a:t> </a:t>
            </a:r>
            <a:r>
              <a:rPr sz="1800" b="1" i="1" dirty="0">
                <a:solidFill>
                  <a:srgbClr val="FF0000"/>
                </a:solidFill>
                <a:latin typeface="Arial"/>
                <a:cs typeface="Arial"/>
              </a:rPr>
              <a:t>f</a:t>
            </a:r>
            <a:r>
              <a:rPr sz="1800" b="1" dirty="0">
                <a:solidFill>
                  <a:srgbClr val="FF0000"/>
                </a:solidFill>
                <a:latin typeface="Arial"/>
                <a:cs typeface="Arial"/>
              </a:rPr>
              <a:t>)</a:t>
            </a:r>
            <a:r>
              <a:rPr sz="1800" b="1" spc="-25" dirty="0">
                <a:solidFill>
                  <a:srgbClr val="FF0000"/>
                </a:solidFill>
                <a:latin typeface="Arial"/>
                <a:cs typeface="Arial"/>
              </a:rPr>
              <a:t> </a:t>
            </a:r>
            <a:r>
              <a:rPr sz="1800" dirty="0">
                <a:latin typeface="Arial MT"/>
                <a:cs typeface="Arial MT"/>
              </a:rPr>
              <a:t>is</a:t>
            </a:r>
            <a:r>
              <a:rPr sz="1800" spc="-15" dirty="0">
                <a:latin typeface="Arial MT"/>
                <a:cs typeface="Arial MT"/>
              </a:rPr>
              <a:t> </a:t>
            </a:r>
            <a:r>
              <a:rPr sz="1800" dirty="0">
                <a:latin typeface="Arial MT"/>
                <a:cs typeface="Arial MT"/>
              </a:rPr>
              <a:t>loaded into</a:t>
            </a:r>
            <a:r>
              <a:rPr sz="1800" spc="-10"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TLB</a:t>
            </a:r>
            <a:r>
              <a:rPr sz="1800" spc="-30" dirty="0">
                <a:latin typeface="Arial MT"/>
                <a:cs typeface="Arial MT"/>
              </a:rPr>
              <a:t> </a:t>
            </a:r>
            <a:r>
              <a:rPr sz="1800" dirty="0">
                <a:latin typeface="Arial MT"/>
                <a:cs typeface="Arial MT"/>
              </a:rPr>
              <a:t>for</a:t>
            </a:r>
            <a:r>
              <a:rPr sz="1800" spc="-10" dirty="0">
                <a:latin typeface="Arial MT"/>
                <a:cs typeface="Arial MT"/>
              </a:rPr>
              <a:t> </a:t>
            </a:r>
            <a:r>
              <a:rPr sz="1800" dirty="0">
                <a:latin typeface="Arial MT"/>
                <a:cs typeface="Arial MT"/>
              </a:rPr>
              <a:t>faster</a:t>
            </a:r>
            <a:r>
              <a:rPr sz="1800" spc="-25" dirty="0">
                <a:latin typeface="Arial MT"/>
                <a:cs typeface="Arial MT"/>
              </a:rPr>
              <a:t> </a:t>
            </a:r>
            <a:r>
              <a:rPr sz="1800" dirty="0">
                <a:latin typeface="Arial MT"/>
                <a:cs typeface="Arial MT"/>
              </a:rPr>
              <a:t>access</a:t>
            </a:r>
            <a:r>
              <a:rPr sz="1800" spc="-5" dirty="0">
                <a:latin typeface="Arial MT"/>
                <a:cs typeface="Arial MT"/>
              </a:rPr>
              <a:t> </a:t>
            </a:r>
            <a:r>
              <a:rPr sz="1800" dirty="0">
                <a:latin typeface="Arial MT"/>
                <a:cs typeface="Arial MT"/>
              </a:rPr>
              <a:t>next</a:t>
            </a:r>
            <a:r>
              <a:rPr sz="1800" spc="5" dirty="0">
                <a:latin typeface="Arial MT"/>
                <a:cs typeface="Arial MT"/>
              </a:rPr>
              <a:t> </a:t>
            </a:r>
            <a:r>
              <a:rPr sz="1800" spc="-20" dirty="0">
                <a:latin typeface="Arial MT"/>
                <a:cs typeface="Arial MT"/>
              </a:rPr>
              <a:t>time</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dirty="0">
                <a:latin typeface="Arial MT"/>
                <a:cs typeface="Arial MT"/>
              </a:rPr>
              <a:t>Replacement</a:t>
            </a:r>
            <a:r>
              <a:rPr sz="1800" spc="-5" dirty="0">
                <a:latin typeface="Arial MT"/>
                <a:cs typeface="Arial MT"/>
              </a:rPr>
              <a:t> </a:t>
            </a:r>
            <a:r>
              <a:rPr sz="1800" dirty="0">
                <a:latin typeface="Arial MT"/>
                <a:cs typeface="Arial MT"/>
              </a:rPr>
              <a:t>policies must</a:t>
            </a:r>
            <a:r>
              <a:rPr sz="1800" spc="-30" dirty="0">
                <a:latin typeface="Arial MT"/>
                <a:cs typeface="Arial MT"/>
              </a:rPr>
              <a:t> </a:t>
            </a:r>
            <a:r>
              <a:rPr sz="1800" dirty="0">
                <a:latin typeface="Arial MT"/>
                <a:cs typeface="Arial MT"/>
              </a:rPr>
              <a:t>be</a:t>
            </a:r>
            <a:r>
              <a:rPr sz="1800" spc="-20" dirty="0">
                <a:latin typeface="Arial MT"/>
                <a:cs typeface="Arial MT"/>
              </a:rPr>
              <a:t> </a:t>
            </a:r>
            <a:r>
              <a:rPr sz="1800" dirty="0">
                <a:latin typeface="Arial MT"/>
                <a:cs typeface="Arial MT"/>
              </a:rPr>
              <a:t>considered; </a:t>
            </a:r>
            <a:r>
              <a:rPr sz="1800" dirty="0">
                <a:solidFill>
                  <a:srgbClr val="FF0000"/>
                </a:solidFill>
                <a:latin typeface="Arial MT"/>
                <a:cs typeface="Arial MT"/>
              </a:rPr>
              <a:t>if</a:t>
            </a:r>
            <a:r>
              <a:rPr sz="1800" spc="-25" dirty="0">
                <a:solidFill>
                  <a:srgbClr val="FF0000"/>
                </a:solidFill>
                <a:latin typeface="Arial MT"/>
                <a:cs typeface="Arial MT"/>
              </a:rPr>
              <a:t> </a:t>
            </a:r>
            <a:r>
              <a:rPr sz="1800" dirty="0">
                <a:solidFill>
                  <a:srgbClr val="FF0000"/>
                </a:solidFill>
                <a:latin typeface="Arial MT"/>
                <a:cs typeface="Arial MT"/>
              </a:rPr>
              <a:t>TLB</a:t>
            </a:r>
            <a:r>
              <a:rPr sz="1800" spc="-40" dirty="0">
                <a:solidFill>
                  <a:srgbClr val="FF0000"/>
                </a:solidFill>
                <a:latin typeface="Arial MT"/>
                <a:cs typeface="Arial MT"/>
              </a:rPr>
              <a:t> </a:t>
            </a:r>
            <a:r>
              <a:rPr sz="1800" dirty="0">
                <a:solidFill>
                  <a:srgbClr val="FF0000"/>
                </a:solidFill>
                <a:latin typeface="Arial MT"/>
                <a:cs typeface="Arial MT"/>
              </a:rPr>
              <a:t>is</a:t>
            </a:r>
            <a:r>
              <a:rPr sz="1800" spc="-25" dirty="0">
                <a:solidFill>
                  <a:srgbClr val="FF0000"/>
                </a:solidFill>
                <a:latin typeface="Arial MT"/>
                <a:cs typeface="Arial MT"/>
              </a:rPr>
              <a:t> </a:t>
            </a:r>
            <a:r>
              <a:rPr sz="1800" dirty="0">
                <a:solidFill>
                  <a:srgbClr val="FF0000"/>
                </a:solidFill>
                <a:latin typeface="Arial MT"/>
                <a:cs typeface="Arial MT"/>
              </a:rPr>
              <a:t>already</a:t>
            </a:r>
            <a:r>
              <a:rPr sz="1800" spc="-15" dirty="0">
                <a:solidFill>
                  <a:srgbClr val="FF0000"/>
                </a:solidFill>
                <a:latin typeface="Arial MT"/>
                <a:cs typeface="Arial MT"/>
              </a:rPr>
              <a:t> </a:t>
            </a:r>
            <a:r>
              <a:rPr sz="1800" dirty="0">
                <a:solidFill>
                  <a:srgbClr val="FF0000"/>
                </a:solidFill>
                <a:latin typeface="Arial MT"/>
                <a:cs typeface="Arial MT"/>
              </a:rPr>
              <a:t>full</a:t>
            </a:r>
            <a:r>
              <a:rPr sz="1800" dirty="0">
                <a:latin typeface="Arial MT"/>
                <a:cs typeface="Arial MT"/>
              </a:rPr>
              <a:t>.</a:t>
            </a:r>
            <a:r>
              <a:rPr sz="1800" spc="-20" dirty="0">
                <a:latin typeface="Arial MT"/>
                <a:cs typeface="Arial MT"/>
              </a:rPr>
              <a:t> </a:t>
            </a:r>
            <a:r>
              <a:rPr sz="1800" spc="-10" dirty="0">
                <a:solidFill>
                  <a:srgbClr val="FF0000"/>
                </a:solidFill>
                <a:latin typeface="Arial MT"/>
                <a:cs typeface="Arial MT"/>
              </a:rPr>
              <a:t>Examples: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b="1" dirty="0">
                <a:solidFill>
                  <a:srgbClr val="FF0000"/>
                </a:solidFill>
                <a:latin typeface="Arial"/>
                <a:cs typeface="Arial"/>
              </a:rPr>
              <a:t>LRU</a:t>
            </a:r>
            <a:r>
              <a:rPr sz="1800" b="1" spc="-30" dirty="0">
                <a:solidFill>
                  <a:srgbClr val="FF0000"/>
                </a:solidFill>
                <a:latin typeface="Arial"/>
                <a:cs typeface="Arial"/>
              </a:rPr>
              <a:t> </a:t>
            </a:r>
            <a:r>
              <a:rPr sz="1800" dirty="0">
                <a:solidFill>
                  <a:srgbClr val="FF0000"/>
                </a:solidFill>
                <a:latin typeface="Arial MT"/>
                <a:cs typeface="Arial MT"/>
              </a:rPr>
              <a:t>–</a:t>
            </a:r>
            <a:r>
              <a:rPr sz="1800" spc="-35" dirty="0">
                <a:solidFill>
                  <a:srgbClr val="FF0000"/>
                </a:solidFill>
                <a:latin typeface="Arial MT"/>
                <a:cs typeface="Arial MT"/>
              </a:rPr>
              <a:t> </a:t>
            </a:r>
            <a:r>
              <a:rPr sz="1800" b="1" dirty="0">
                <a:solidFill>
                  <a:srgbClr val="FF0000"/>
                </a:solidFill>
                <a:latin typeface="Arial"/>
                <a:cs typeface="Arial"/>
              </a:rPr>
              <a:t>L</a:t>
            </a:r>
            <a:r>
              <a:rPr sz="1800" dirty="0">
                <a:solidFill>
                  <a:srgbClr val="FF0000"/>
                </a:solidFill>
                <a:latin typeface="Arial MT"/>
                <a:cs typeface="Arial MT"/>
              </a:rPr>
              <a:t>east</a:t>
            </a:r>
            <a:r>
              <a:rPr sz="1800" spc="-20" dirty="0">
                <a:solidFill>
                  <a:srgbClr val="FF0000"/>
                </a:solidFill>
                <a:latin typeface="Arial MT"/>
                <a:cs typeface="Arial MT"/>
              </a:rPr>
              <a:t> </a:t>
            </a:r>
            <a:r>
              <a:rPr sz="1800" b="1" dirty="0">
                <a:solidFill>
                  <a:srgbClr val="FF0000"/>
                </a:solidFill>
                <a:latin typeface="Arial"/>
                <a:cs typeface="Arial"/>
              </a:rPr>
              <a:t>R</a:t>
            </a:r>
            <a:r>
              <a:rPr sz="1800" dirty="0">
                <a:solidFill>
                  <a:srgbClr val="FF0000"/>
                </a:solidFill>
                <a:latin typeface="Arial MT"/>
                <a:cs typeface="Arial MT"/>
              </a:rPr>
              <a:t>ecently</a:t>
            </a:r>
            <a:r>
              <a:rPr sz="1800" spc="-20" dirty="0">
                <a:solidFill>
                  <a:srgbClr val="FF0000"/>
                </a:solidFill>
                <a:latin typeface="Arial MT"/>
                <a:cs typeface="Arial MT"/>
              </a:rPr>
              <a:t> </a:t>
            </a:r>
            <a:r>
              <a:rPr sz="1800" b="1" dirty="0">
                <a:solidFill>
                  <a:srgbClr val="FF0000"/>
                </a:solidFill>
                <a:latin typeface="Arial"/>
                <a:cs typeface="Arial"/>
              </a:rPr>
              <a:t>U</a:t>
            </a:r>
            <a:r>
              <a:rPr sz="1800" dirty="0">
                <a:solidFill>
                  <a:srgbClr val="FF0000"/>
                </a:solidFill>
                <a:latin typeface="Arial MT"/>
                <a:cs typeface="Arial MT"/>
              </a:rPr>
              <a:t>sed</a:t>
            </a:r>
            <a:r>
              <a:rPr sz="1800" spc="-40" dirty="0">
                <a:solidFill>
                  <a:srgbClr val="FF0000"/>
                </a:solidFill>
                <a:latin typeface="Arial MT"/>
                <a:cs typeface="Arial MT"/>
              </a:rPr>
              <a:t> </a:t>
            </a:r>
            <a:r>
              <a:rPr sz="1800" dirty="0">
                <a:solidFill>
                  <a:srgbClr val="FF0000"/>
                </a:solidFill>
                <a:latin typeface="Arial MT"/>
                <a:cs typeface="Arial MT"/>
              </a:rPr>
              <a:t>replacement</a:t>
            </a:r>
            <a:r>
              <a:rPr sz="1800" spc="-5" dirty="0">
                <a:solidFill>
                  <a:srgbClr val="FF0000"/>
                </a:solidFill>
                <a:latin typeface="Arial MT"/>
                <a:cs typeface="Arial MT"/>
              </a:rPr>
              <a:t> </a:t>
            </a:r>
            <a:r>
              <a:rPr sz="1800" spc="-10" dirty="0">
                <a:solidFill>
                  <a:srgbClr val="FF0000"/>
                </a:solidFill>
                <a:latin typeface="Arial MT"/>
                <a:cs typeface="Arial MT"/>
              </a:rPr>
              <a:t>algorithm</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b="1" dirty="0">
                <a:solidFill>
                  <a:srgbClr val="FF0000"/>
                </a:solidFill>
                <a:latin typeface="Arial"/>
                <a:cs typeface="Arial"/>
              </a:rPr>
              <a:t>RR</a:t>
            </a:r>
            <a:r>
              <a:rPr sz="1800" b="1" spc="-40" dirty="0">
                <a:solidFill>
                  <a:srgbClr val="FF0000"/>
                </a:solidFill>
                <a:latin typeface="Arial"/>
                <a:cs typeface="Arial"/>
              </a:rPr>
              <a:t> </a:t>
            </a:r>
            <a:r>
              <a:rPr sz="1800" dirty="0">
                <a:solidFill>
                  <a:srgbClr val="FF0000"/>
                </a:solidFill>
                <a:latin typeface="Arial MT"/>
                <a:cs typeface="Arial MT"/>
              </a:rPr>
              <a:t>–</a:t>
            </a:r>
            <a:r>
              <a:rPr sz="1800" spc="-30" dirty="0">
                <a:solidFill>
                  <a:srgbClr val="FF0000"/>
                </a:solidFill>
                <a:latin typeface="Arial MT"/>
                <a:cs typeface="Arial MT"/>
              </a:rPr>
              <a:t> </a:t>
            </a:r>
            <a:r>
              <a:rPr sz="1800" b="1" dirty="0">
                <a:solidFill>
                  <a:srgbClr val="FF0000"/>
                </a:solidFill>
                <a:latin typeface="Arial"/>
                <a:cs typeface="Arial"/>
              </a:rPr>
              <a:t>R</a:t>
            </a:r>
            <a:r>
              <a:rPr sz="1800" dirty="0">
                <a:solidFill>
                  <a:srgbClr val="FF0000"/>
                </a:solidFill>
                <a:latin typeface="Arial MT"/>
                <a:cs typeface="Arial MT"/>
              </a:rPr>
              <a:t>ound</a:t>
            </a:r>
            <a:r>
              <a:rPr sz="1800" spc="-5" dirty="0">
                <a:solidFill>
                  <a:srgbClr val="FF0000"/>
                </a:solidFill>
                <a:latin typeface="Arial MT"/>
                <a:cs typeface="Arial MT"/>
              </a:rPr>
              <a:t> </a:t>
            </a:r>
            <a:r>
              <a:rPr sz="1800" b="1" dirty="0">
                <a:solidFill>
                  <a:srgbClr val="FF0000"/>
                </a:solidFill>
                <a:latin typeface="Arial"/>
                <a:cs typeface="Arial"/>
              </a:rPr>
              <a:t>R</a:t>
            </a:r>
            <a:r>
              <a:rPr sz="1800" dirty="0">
                <a:solidFill>
                  <a:srgbClr val="FF0000"/>
                </a:solidFill>
                <a:latin typeface="Arial MT"/>
                <a:cs typeface="Arial MT"/>
              </a:rPr>
              <a:t>obin</a:t>
            </a:r>
            <a:r>
              <a:rPr sz="1800" spc="-20" dirty="0">
                <a:solidFill>
                  <a:srgbClr val="FF0000"/>
                </a:solidFill>
                <a:latin typeface="Arial MT"/>
                <a:cs typeface="Arial MT"/>
              </a:rPr>
              <a:t> </a:t>
            </a:r>
            <a:r>
              <a:rPr sz="1800" dirty="0">
                <a:solidFill>
                  <a:srgbClr val="FF0000"/>
                </a:solidFill>
                <a:latin typeface="Arial MT"/>
                <a:cs typeface="Arial MT"/>
              </a:rPr>
              <a:t>replacement </a:t>
            </a:r>
            <a:r>
              <a:rPr sz="1800" spc="-10" dirty="0">
                <a:solidFill>
                  <a:srgbClr val="FF0000"/>
                </a:solidFill>
                <a:latin typeface="Arial MT"/>
                <a:cs typeface="Arial MT"/>
              </a:rPr>
              <a:t>algorithm</a:t>
            </a:r>
            <a:endParaRPr sz="1800">
              <a:latin typeface="Arial MT"/>
              <a:cs typeface="Arial MT"/>
            </a:endParaRPr>
          </a:p>
          <a:p>
            <a:pPr marL="1098550" lvl="2" indent="-227965">
              <a:lnSpc>
                <a:spcPct val="100000"/>
              </a:lnSpc>
              <a:spcBef>
                <a:spcPts val="760"/>
              </a:spcBef>
              <a:buClr>
                <a:srgbClr val="009900"/>
              </a:buClr>
              <a:buSzPct val="75000"/>
              <a:buFont typeface="Webdings"/>
              <a:buChar char=""/>
              <a:tabLst>
                <a:tab pos="1098550" algn="l"/>
              </a:tabLst>
            </a:pPr>
            <a:r>
              <a:rPr sz="1800" b="1" dirty="0">
                <a:solidFill>
                  <a:srgbClr val="FF0000"/>
                </a:solidFill>
                <a:latin typeface="Arial"/>
                <a:cs typeface="Arial"/>
              </a:rPr>
              <a:t>Random</a:t>
            </a:r>
            <a:r>
              <a:rPr sz="1800" b="1" spc="-40" dirty="0">
                <a:solidFill>
                  <a:srgbClr val="FF0000"/>
                </a:solidFill>
                <a:latin typeface="Arial"/>
                <a:cs typeface="Arial"/>
              </a:rPr>
              <a:t> </a:t>
            </a:r>
            <a:r>
              <a:rPr sz="1800" dirty="0">
                <a:solidFill>
                  <a:srgbClr val="FF0000"/>
                </a:solidFill>
                <a:latin typeface="Arial MT"/>
                <a:cs typeface="Arial MT"/>
              </a:rPr>
              <a:t>replacement</a:t>
            </a:r>
            <a:r>
              <a:rPr sz="1800" spc="-35" dirty="0">
                <a:solidFill>
                  <a:srgbClr val="FF0000"/>
                </a:solidFill>
                <a:latin typeface="Arial MT"/>
                <a:cs typeface="Arial MT"/>
              </a:rPr>
              <a:t> </a:t>
            </a:r>
            <a:r>
              <a:rPr sz="1800" spc="-10" dirty="0">
                <a:solidFill>
                  <a:srgbClr val="FF0000"/>
                </a:solidFill>
                <a:latin typeface="Arial MT"/>
                <a:cs typeface="Arial MT"/>
              </a:rPr>
              <a:t>algorithm</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dirty="0">
                <a:latin typeface="Arial MT"/>
                <a:cs typeface="Arial MT"/>
              </a:rPr>
              <a:t>Some</a:t>
            </a:r>
            <a:r>
              <a:rPr sz="1800" spc="-35" dirty="0">
                <a:latin typeface="Arial MT"/>
                <a:cs typeface="Arial MT"/>
              </a:rPr>
              <a:t> </a:t>
            </a:r>
            <a:r>
              <a:rPr sz="1800" dirty="0">
                <a:latin typeface="Arial MT"/>
                <a:cs typeface="Arial MT"/>
              </a:rPr>
              <a:t>entries can</a:t>
            </a:r>
            <a:r>
              <a:rPr sz="1800" spc="-15" dirty="0">
                <a:latin typeface="Arial MT"/>
                <a:cs typeface="Arial MT"/>
              </a:rPr>
              <a:t> </a:t>
            </a:r>
            <a:r>
              <a:rPr sz="1800" dirty="0">
                <a:latin typeface="Arial MT"/>
                <a:cs typeface="Arial MT"/>
              </a:rPr>
              <a:t>be</a:t>
            </a:r>
            <a:r>
              <a:rPr sz="1800" spc="-15" dirty="0">
                <a:latin typeface="Arial MT"/>
                <a:cs typeface="Arial MT"/>
              </a:rPr>
              <a:t> </a:t>
            </a:r>
            <a:r>
              <a:rPr sz="1800" b="1" dirty="0">
                <a:solidFill>
                  <a:srgbClr val="3366FF"/>
                </a:solidFill>
                <a:latin typeface="Arial"/>
                <a:cs typeface="Arial"/>
              </a:rPr>
              <a:t>wired</a:t>
            </a:r>
            <a:r>
              <a:rPr sz="1800" b="1" spc="-45" dirty="0">
                <a:solidFill>
                  <a:srgbClr val="3366FF"/>
                </a:solidFill>
                <a:latin typeface="Arial"/>
                <a:cs typeface="Arial"/>
              </a:rPr>
              <a:t> </a:t>
            </a:r>
            <a:r>
              <a:rPr sz="1800" b="1" dirty="0">
                <a:solidFill>
                  <a:srgbClr val="3366FF"/>
                </a:solidFill>
                <a:latin typeface="Arial"/>
                <a:cs typeface="Arial"/>
              </a:rPr>
              <a:t>down</a:t>
            </a:r>
            <a:r>
              <a:rPr sz="1800" b="1" spc="-45" dirty="0">
                <a:solidFill>
                  <a:srgbClr val="3366FF"/>
                </a:solidFill>
                <a:latin typeface="Arial"/>
                <a:cs typeface="Arial"/>
              </a:rPr>
              <a:t> </a:t>
            </a:r>
            <a:r>
              <a:rPr sz="1800" dirty="0">
                <a:latin typeface="Arial MT"/>
                <a:cs typeface="Arial MT"/>
              </a:rPr>
              <a:t>for</a:t>
            </a:r>
            <a:r>
              <a:rPr sz="1800" spc="-10" dirty="0">
                <a:latin typeface="Arial MT"/>
                <a:cs typeface="Arial MT"/>
              </a:rPr>
              <a:t> </a:t>
            </a:r>
            <a:r>
              <a:rPr sz="1800" dirty="0">
                <a:latin typeface="Arial MT"/>
                <a:cs typeface="Arial MT"/>
              </a:rPr>
              <a:t>permanent</a:t>
            </a:r>
            <a:r>
              <a:rPr sz="1800" spc="5" dirty="0">
                <a:latin typeface="Arial MT"/>
                <a:cs typeface="Arial MT"/>
              </a:rPr>
              <a:t> </a:t>
            </a:r>
            <a:r>
              <a:rPr sz="1800" dirty="0">
                <a:latin typeface="Arial MT"/>
                <a:cs typeface="Arial MT"/>
              </a:rPr>
              <a:t>fast</a:t>
            </a:r>
            <a:r>
              <a:rPr sz="1800" spc="-10" dirty="0">
                <a:latin typeface="Arial MT"/>
                <a:cs typeface="Arial MT"/>
              </a:rPr>
              <a:t> access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solidFill>
                  <a:srgbClr val="FF0000"/>
                </a:solidFill>
                <a:latin typeface="Arial MT"/>
                <a:cs typeface="Arial MT"/>
              </a:rPr>
              <a:t>Cannot</a:t>
            </a:r>
            <a:r>
              <a:rPr sz="1800" spc="-25" dirty="0">
                <a:solidFill>
                  <a:srgbClr val="FF0000"/>
                </a:solidFill>
                <a:latin typeface="Arial MT"/>
                <a:cs typeface="Arial MT"/>
              </a:rPr>
              <a:t> </a:t>
            </a:r>
            <a:r>
              <a:rPr sz="1800" dirty="0">
                <a:solidFill>
                  <a:srgbClr val="FF0000"/>
                </a:solidFill>
                <a:latin typeface="Arial MT"/>
                <a:cs typeface="Arial MT"/>
              </a:rPr>
              <a:t>be</a:t>
            </a:r>
            <a:r>
              <a:rPr sz="1800" spc="-35" dirty="0">
                <a:solidFill>
                  <a:srgbClr val="FF0000"/>
                </a:solidFill>
                <a:latin typeface="Arial MT"/>
                <a:cs typeface="Arial MT"/>
              </a:rPr>
              <a:t> </a:t>
            </a:r>
            <a:r>
              <a:rPr sz="1800" dirty="0">
                <a:solidFill>
                  <a:srgbClr val="FF0000"/>
                </a:solidFill>
                <a:latin typeface="Arial MT"/>
                <a:cs typeface="Arial MT"/>
              </a:rPr>
              <a:t>removed</a:t>
            </a:r>
            <a:r>
              <a:rPr sz="1800" spc="-20" dirty="0">
                <a:solidFill>
                  <a:srgbClr val="FF0000"/>
                </a:solidFill>
                <a:latin typeface="Arial MT"/>
                <a:cs typeface="Arial MT"/>
              </a:rPr>
              <a:t> </a:t>
            </a:r>
            <a:r>
              <a:rPr sz="1800" dirty="0">
                <a:solidFill>
                  <a:srgbClr val="FF0000"/>
                </a:solidFill>
                <a:latin typeface="Arial MT"/>
                <a:cs typeface="Arial MT"/>
              </a:rPr>
              <a:t>by</a:t>
            </a:r>
            <a:r>
              <a:rPr sz="1800" spc="-30" dirty="0">
                <a:solidFill>
                  <a:srgbClr val="FF0000"/>
                </a:solidFill>
                <a:latin typeface="Arial MT"/>
                <a:cs typeface="Arial MT"/>
              </a:rPr>
              <a:t> </a:t>
            </a:r>
            <a:r>
              <a:rPr sz="1800" dirty="0">
                <a:solidFill>
                  <a:srgbClr val="FF0000"/>
                </a:solidFill>
                <a:latin typeface="Arial MT"/>
                <a:cs typeface="Arial MT"/>
              </a:rPr>
              <a:t>any</a:t>
            </a:r>
            <a:r>
              <a:rPr sz="1800" spc="-15" dirty="0">
                <a:solidFill>
                  <a:srgbClr val="FF0000"/>
                </a:solidFill>
                <a:latin typeface="Arial MT"/>
                <a:cs typeface="Arial MT"/>
              </a:rPr>
              <a:t> </a:t>
            </a:r>
            <a:r>
              <a:rPr sz="1800" dirty="0">
                <a:solidFill>
                  <a:srgbClr val="FF0000"/>
                </a:solidFill>
                <a:latin typeface="Arial MT"/>
                <a:cs typeface="Arial MT"/>
              </a:rPr>
              <a:t>replacement</a:t>
            </a:r>
            <a:r>
              <a:rPr sz="1800" spc="-10" dirty="0">
                <a:solidFill>
                  <a:srgbClr val="FF0000"/>
                </a:solidFill>
                <a:latin typeface="Arial MT"/>
                <a:cs typeface="Arial MT"/>
              </a:rPr>
              <a:t> algorithm</a:t>
            </a:r>
            <a:endParaRPr sz="1800">
              <a:latin typeface="Arial MT"/>
              <a:cs typeface="Arial MT"/>
            </a:endParaRPr>
          </a:p>
          <a:p>
            <a:pPr lvl="2">
              <a:lnSpc>
                <a:spcPct val="100000"/>
              </a:lnSpc>
              <a:spcBef>
                <a:spcPts val="1600"/>
              </a:spcBef>
              <a:buClr>
                <a:srgbClr val="009900"/>
              </a:buClr>
              <a:buFont typeface="Web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Some</a:t>
            </a:r>
            <a:r>
              <a:rPr sz="1800" spc="-20" dirty="0">
                <a:latin typeface="Arial MT"/>
                <a:cs typeface="Arial MT"/>
              </a:rPr>
              <a:t> </a:t>
            </a:r>
            <a:r>
              <a:rPr sz="1800" dirty="0">
                <a:latin typeface="Arial MT"/>
                <a:cs typeface="Arial MT"/>
              </a:rPr>
              <a:t>TLBs</a:t>
            </a:r>
            <a:r>
              <a:rPr sz="1800" spc="-30" dirty="0">
                <a:latin typeface="Arial MT"/>
                <a:cs typeface="Arial MT"/>
              </a:rPr>
              <a:t> </a:t>
            </a:r>
            <a:r>
              <a:rPr sz="1800" dirty="0">
                <a:latin typeface="Arial MT"/>
                <a:cs typeface="Arial MT"/>
              </a:rPr>
              <a:t>store</a:t>
            </a:r>
            <a:r>
              <a:rPr sz="1800" spc="-20" dirty="0">
                <a:latin typeface="Arial MT"/>
                <a:cs typeface="Arial MT"/>
              </a:rPr>
              <a:t> </a:t>
            </a:r>
            <a:r>
              <a:rPr sz="1800" b="1" spc="-10" dirty="0">
                <a:solidFill>
                  <a:srgbClr val="3366FF"/>
                </a:solidFill>
                <a:latin typeface="Arial"/>
                <a:cs typeface="Arial"/>
              </a:rPr>
              <a:t>address-</a:t>
            </a:r>
            <a:r>
              <a:rPr sz="1800" b="1" dirty="0">
                <a:solidFill>
                  <a:srgbClr val="3366FF"/>
                </a:solidFill>
                <a:latin typeface="Arial"/>
                <a:cs typeface="Arial"/>
              </a:rPr>
              <a:t>space</a:t>
            </a:r>
            <a:r>
              <a:rPr sz="1800" b="1" spc="-10" dirty="0">
                <a:solidFill>
                  <a:srgbClr val="3366FF"/>
                </a:solidFill>
                <a:latin typeface="Arial"/>
                <a:cs typeface="Arial"/>
              </a:rPr>
              <a:t> </a:t>
            </a:r>
            <a:r>
              <a:rPr sz="1800" b="1" dirty="0">
                <a:solidFill>
                  <a:srgbClr val="3366FF"/>
                </a:solidFill>
                <a:latin typeface="Arial"/>
                <a:cs typeface="Arial"/>
              </a:rPr>
              <a:t>identifiers</a:t>
            </a:r>
            <a:r>
              <a:rPr sz="1800" b="1" spc="-25" dirty="0">
                <a:solidFill>
                  <a:srgbClr val="3366FF"/>
                </a:solidFill>
                <a:latin typeface="Arial"/>
                <a:cs typeface="Arial"/>
              </a:rPr>
              <a:t> </a:t>
            </a:r>
            <a:r>
              <a:rPr sz="1800" dirty="0">
                <a:latin typeface="Arial MT"/>
                <a:cs typeface="Arial MT"/>
              </a:rPr>
              <a:t>(</a:t>
            </a:r>
            <a:r>
              <a:rPr sz="1800" b="1" dirty="0">
                <a:solidFill>
                  <a:srgbClr val="3366FF"/>
                </a:solidFill>
                <a:latin typeface="Arial"/>
                <a:cs typeface="Arial"/>
              </a:rPr>
              <a:t>ASIDs</a:t>
            </a:r>
            <a:r>
              <a:rPr sz="1800" dirty="0">
                <a:latin typeface="Arial MT"/>
                <a:cs typeface="Arial MT"/>
              </a:rPr>
              <a:t>)</a:t>
            </a:r>
            <a:r>
              <a:rPr sz="1800" spc="30" dirty="0">
                <a:latin typeface="Arial MT"/>
                <a:cs typeface="Arial MT"/>
              </a:rPr>
              <a:t> </a:t>
            </a:r>
            <a:r>
              <a:rPr sz="1800" dirty="0">
                <a:latin typeface="Arial MT"/>
                <a:cs typeface="Arial MT"/>
              </a:rPr>
              <a:t>in</a:t>
            </a:r>
            <a:r>
              <a:rPr sz="1800" spc="-15" dirty="0">
                <a:latin typeface="Arial MT"/>
                <a:cs typeface="Arial MT"/>
              </a:rPr>
              <a:t> </a:t>
            </a:r>
            <a:r>
              <a:rPr sz="1800" dirty="0">
                <a:latin typeface="Arial MT"/>
                <a:cs typeface="Arial MT"/>
              </a:rPr>
              <a:t>each</a:t>
            </a:r>
            <a:r>
              <a:rPr sz="1800" spc="-20" dirty="0">
                <a:latin typeface="Arial MT"/>
                <a:cs typeface="Arial MT"/>
              </a:rPr>
              <a:t> </a:t>
            </a:r>
            <a:r>
              <a:rPr sz="1800" dirty="0">
                <a:latin typeface="Arial MT"/>
                <a:cs typeface="Arial MT"/>
              </a:rPr>
              <a:t>TLB</a:t>
            </a:r>
            <a:r>
              <a:rPr sz="1800" spc="-35" dirty="0">
                <a:latin typeface="Arial MT"/>
                <a:cs typeface="Arial MT"/>
              </a:rPr>
              <a:t> </a:t>
            </a:r>
            <a:r>
              <a:rPr sz="1800" spc="-10" dirty="0">
                <a:latin typeface="Arial MT"/>
                <a:cs typeface="Arial MT"/>
              </a:rPr>
              <a:t>entry</a:t>
            </a:r>
            <a:endParaRPr sz="1800">
              <a:latin typeface="Arial MT"/>
              <a:cs typeface="Arial MT"/>
            </a:endParaRPr>
          </a:p>
          <a:p>
            <a:pPr marL="756285" marR="659765" lvl="1" indent="-287020">
              <a:lnSpc>
                <a:spcPct val="100000"/>
              </a:lnSpc>
              <a:spcBef>
                <a:spcPts val="2055"/>
              </a:spcBef>
              <a:buClr>
                <a:srgbClr val="CC6600"/>
              </a:buClr>
              <a:buSzPct val="80555"/>
              <a:buFont typeface="Wingdings"/>
              <a:buChar char=""/>
              <a:tabLst>
                <a:tab pos="756285" algn="l"/>
              </a:tabLst>
            </a:pPr>
            <a:r>
              <a:rPr sz="1800" dirty="0">
                <a:latin typeface="Arial MT"/>
                <a:cs typeface="Arial MT"/>
              </a:rPr>
              <a:t>Uniquely</a:t>
            </a:r>
            <a:r>
              <a:rPr sz="1800" spc="-5" dirty="0">
                <a:latin typeface="Arial MT"/>
                <a:cs typeface="Arial MT"/>
              </a:rPr>
              <a:t> </a:t>
            </a:r>
            <a:r>
              <a:rPr sz="1800" dirty="0">
                <a:latin typeface="Arial MT"/>
                <a:cs typeface="Arial MT"/>
              </a:rPr>
              <a:t>identifies</a:t>
            </a:r>
            <a:r>
              <a:rPr sz="1800" spc="-10"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process</a:t>
            </a:r>
            <a:r>
              <a:rPr sz="1800" spc="-10"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used</a:t>
            </a:r>
            <a:r>
              <a:rPr sz="1800" spc="-1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provide</a:t>
            </a:r>
            <a:r>
              <a:rPr sz="1800" spc="-10" dirty="0">
                <a:latin typeface="Arial MT"/>
                <a:cs typeface="Arial MT"/>
              </a:rPr>
              <a:t> address-space </a:t>
            </a:r>
            <a:r>
              <a:rPr sz="1800" dirty="0">
                <a:latin typeface="Arial MT"/>
                <a:cs typeface="Arial MT"/>
              </a:rPr>
              <a:t>protection</a:t>
            </a:r>
            <a:r>
              <a:rPr sz="1800" spc="-20" dirty="0">
                <a:latin typeface="Arial MT"/>
                <a:cs typeface="Arial MT"/>
              </a:rPr>
              <a:t> </a:t>
            </a:r>
            <a:r>
              <a:rPr sz="1800" dirty="0">
                <a:latin typeface="Arial MT"/>
                <a:cs typeface="Arial MT"/>
              </a:rPr>
              <a:t>for</a:t>
            </a:r>
            <a:r>
              <a:rPr sz="1800" spc="-20" dirty="0">
                <a:latin typeface="Arial MT"/>
                <a:cs typeface="Arial MT"/>
              </a:rPr>
              <a:t> </a:t>
            </a:r>
            <a:r>
              <a:rPr sz="1800" dirty="0">
                <a:latin typeface="Arial MT"/>
                <a:cs typeface="Arial MT"/>
              </a:rPr>
              <a:t>that</a:t>
            </a:r>
            <a:r>
              <a:rPr sz="1800" spc="-20" dirty="0">
                <a:latin typeface="Arial MT"/>
                <a:cs typeface="Arial MT"/>
              </a:rPr>
              <a:t> </a:t>
            </a:r>
            <a:r>
              <a:rPr sz="1800" spc="-10" dirty="0">
                <a:latin typeface="Arial MT"/>
                <a:cs typeface="Arial MT"/>
              </a:rPr>
              <a:t>process</a:t>
            </a:r>
            <a:endParaRPr sz="1800">
              <a:latin typeface="Arial MT"/>
              <a:cs typeface="Arial MT"/>
            </a:endParaRPr>
          </a:p>
          <a:p>
            <a:pPr marL="1098550" lvl="2" indent="-227965">
              <a:lnSpc>
                <a:spcPct val="100000"/>
              </a:lnSpc>
              <a:spcBef>
                <a:spcPts val="755"/>
              </a:spcBef>
              <a:buClr>
                <a:srgbClr val="009900"/>
              </a:buClr>
              <a:buSzPct val="75000"/>
              <a:buFont typeface="Webdings"/>
              <a:buChar char=""/>
              <a:tabLst>
                <a:tab pos="1098550" algn="l"/>
              </a:tabLst>
            </a:pPr>
            <a:r>
              <a:rPr sz="1800" dirty="0">
                <a:latin typeface="Arial MT"/>
                <a:cs typeface="Arial MT"/>
              </a:rPr>
              <a:t>Otherwise</a:t>
            </a:r>
            <a:r>
              <a:rPr sz="1800" spc="10" dirty="0">
                <a:latin typeface="Arial MT"/>
                <a:cs typeface="Arial MT"/>
              </a:rPr>
              <a:t> </a:t>
            </a:r>
            <a:r>
              <a:rPr sz="1800" dirty="0">
                <a:latin typeface="Arial MT"/>
                <a:cs typeface="Arial MT"/>
              </a:rPr>
              <a:t>need</a:t>
            </a:r>
            <a:r>
              <a:rPr sz="1800" spc="-20"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flush</a:t>
            </a:r>
            <a:r>
              <a:rPr sz="1800" spc="-20"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current</a:t>
            </a:r>
            <a:r>
              <a:rPr sz="1800" spc="-20" dirty="0">
                <a:latin typeface="Arial MT"/>
                <a:cs typeface="Arial MT"/>
              </a:rPr>
              <a:t> </a:t>
            </a:r>
            <a:r>
              <a:rPr sz="1800" dirty="0">
                <a:latin typeface="Arial MT"/>
                <a:cs typeface="Arial MT"/>
              </a:rPr>
              <a:t>TLB</a:t>
            </a:r>
            <a:r>
              <a:rPr sz="1800" spc="-40" dirty="0">
                <a:latin typeface="Arial MT"/>
                <a:cs typeface="Arial MT"/>
              </a:rPr>
              <a:t> </a:t>
            </a:r>
            <a:r>
              <a:rPr sz="1800" dirty="0">
                <a:latin typeface="Arial MT"/>
                <a:cs typeface="Arial MT"/>
              </a:rPr>
              <a:t>at</a:t>
            </a:r>
            <a:r>
              <a:rPr sz="1800" spc="-35" dirty="0">
                <a:latin typeface="Arial MT"/>
                <a:cs typeface="Arial MT"/>
              </a:rPr>
              <a:t> </a:t>
            </a:r>
            <a:r>
              <a:rPr sz="1800" dirty="0">
                <a:latin typeface="Arial MT"/>
                <a:cs typeface="Arial MT"/>
              </a:rPr>
              <a:t>every</a:t>
            </a:r>
            <a:r>
              <a:rPr sz="1800" spc="-10" dirty="0">
                <a:latin typeface="Arial MT"/>
                <a:cs typeface="Arial MT"/>
              </a:rPr>
              <a:t> </a:t>
            </a:r>
            <a:r>
              <a:rPr sz="1800" dirty="0">
                <a:latin typeface="Arial MT"/>
                <a:cs typeface="Arial MT"/>
              </a:rPr>
              <a:t>context</a:t>
            </a:r>
            <a:r>
              <a:rPr sz="1800" spc="-10" dirty="0">
                <a:latin typeface="Arial MT"/>
                <a:cs typeface="Arial MT"/>
              </a:rPr>
              <a:t> switch</a:t>
            </a:r>
            <a:endParaRPr sz="1800">
              <a:latin typeface="Arial MT"/>
              <a:cs typeface="Arial M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FEE3E-9002-05B7-D9FE-A485102A42A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7242BFE-7C0E-BD57-DE12-2D8F469ECFEC}"/>
              </a:ext>
            </a:extLst>
          </p:cNvPr>
          <p:cNvSpPr>
            <a:spLocks noGrp="1"/>
          </p:cNvSpPr>
          <p:nvPr>
            <p:ph type="body" idx="1"/>
          </p:nvPr>
        </p:nvSpPr>
        <p:spPr>
          <a:xfrm>
            <a:off x="533400" y="1371600"/>
            <a:ext cx="6710299" cy="3616375"/>
          </a:xfrm>
        </p:spPr>
        <p:txBody>
          <a:bodyPr/>
          <a:lstStyle/>
          <a:p>
            <a:r>
              <a:rPr lang="en-US" dirty="0"/>
              <a:t>Effective Access Time is the average time it takes to access a memory location </a:t>
            </a:r>
            <a:r>
              <a:rPr lang="en-US" b="1" dirty="0"/>
              <a:t>with the presence of TLB</a:t>
            </a:r>
            <a:r>
              <a:rPr lang="en-US" dirty="0"/>
              <a:t>. </a:t>
            </a:r>
          </a:p>
          <a:p>
            <a:r>
              <a:rPr lang="en-US" dirty="0"/>
              <a:t>The TLB stores recent translations of virtual memory to physical memory addresses, speeding up the address translation process</a:t>
            </a:r>
          </a:p>
          <a:p>
            <a:endParaRPr lang="en-US" dirty="0"/>
          </a:p>
          <a:p>
            <a:endParaRPr lang="en-US" dirty="0"/>
          </a:p>
          <a:p>
            <a:r>
              <a:rPr lang="en-US" sz="1800" dirty="0">
                <a:solidFill>
                  <a:srgbClr val="FF0000"/>
                </a:solidFill>
                <a:latin typeface="Arial MT"/>
                <a:cs typeface="Arial MT"/>
              </a:rPr>
              <a:t>EAT</a:t>
            </a:r>
            <a:r>
              <a:rPr lang="en-US" sz="1800" spc="-35" dirty="0">
                <a:solidFill>
                  <a:srgbClr val="FF0000"/>
                </a:solidFill>
                <a:latin typeface="Arial MT"/>
                <a:cs typeface="Arial MT"/>
              </a:rPr>
              <a:t> </a:t>
            </a:r>
            <a:r>
              <a:rPr lang="en-US" sz="1800" dirty="0">
                <a:solidFill>
                  <a:srgbClr val="FF0000"/>
                </a:solidFill>
                <a:latin typeface="Arial MT"/>
                <a:cs typeface="Arial MT"/>
              </a:rPr>
              <a:t>=</a:t>
            </a:r>
            <a:r>
              <a:rPr lang="en-US" sz="1800" spc="-25" dirty="0">
                <a:solidFill>
                  <a:srgbClr val="FF0000"/>
                </a:solidFill>
                <a:latin typeface="Arial MT"/>
                <a:cs typeface="Arial MT"/>
              </a:rPr>
              <a:t> </a:t>
            </a:r>
            <a:r>
              <a:rPr lang="en-US" sz="1800" dirty="0">
                <a:solidFill>
                  <a:srgbClr val="FF0000"/>
                </a:solidFill>
                <a:latin typeface="Arial MT"/>
                <a:cs typeface="Arial MT"/>
              </a:rPr>
              <a:t>(</a:t>
            </a:r>
            <a:r>
              <a:rPr lang="en-US" sz="1800" i="1" dirty="0">
                <a:solidFill>
                  <a:srgbClr val="FF0000"/>
                </a:solidFill>
                <a:latin typeface="Arial"/>
                <a:cs typeface="Arial"/>
              </a:rPr>
              <a:t>m</a:t>
            </a:r>
            <a:r>
              <a:rPr lang="en-US" sz="1800" i="1" spc="-25" dirty="0">
                <a:solidFill>
                  <a:srgbClr val="FF0000"/>
                </a:solidFill>
                <a:latin typeface="Arial"/>
                <a:cs typeface="Arial"/>
              </a:rPr>
              <a:t> </a:t>
            </a:r>
            <a:r>
              <a:rPr lang="en-US" sz="1800" dirty="0">
                <a:solidFill>
                  <a:srgbClr val="FF0000"/>
                </a:solidFill>
                <a:latin typeface="Arial MT"/>
                <a:cs typeface="Arial MT"/>
              </a:rPr>
              <a:t>+</a:t>
            </a:r>
            <a:r>
              <a:rPr lang="en-US" sz="1800" spc="-30" dirty="0">
                <a:solidFill>
                  <a:srgbClr val="FF0000"/>
                </a:solidFill>
                <a:latin typeface="Arial MT"/>
                <a:cs typeface="Arial MT"/>
              </a:rPr>
              <a:t> </a:t>
            </a:r>
            <a:r>
              <a:rPr lang="en-US" sz="1900" dirty="0">
                <a:solidFill>
                  <a:srgbClr val="FF0000"/>
                </a:solidFill>
                <a:latin typeface="Symbol"/>
                <a:cs typeface="Symbol"/>
              </a:rPr>
              <a:t></a:t>
            </a:r>
            <a:r>
              <a:rPr lang="en-US" sz="1800" dirty="0">
                <a:solidFill>
                  <a:srgbClr val="FF0000"/>
                </a:solidFill>
                <a:latin typeface="Arial MT"/>
                <a:cs typeface="Arial MT"/>
              </a:rPr>
              <a:t>)</a:t>
            </a:r>
            <a:r>
              <a:rPr lang="en-US" sz="1900" dirty="0">
                <a:solidFill>
                  <a:srgbClr val="FF0000"/>
                </a:solidFill>
                <a:latin typeface="Symbol"/>
                <a:cs typeface="Symbol"/>
              </a:rPr>
              <a:t></a:t>
            </a:r>
            <a:r>
              <a:rPr lang="en-US" sz="1900" spc="-5" dirty="0">
                <a:solidFill>
                  <a:srgbClr val="FF0000"/>
                </a:solidFill>
                <a:latin typeface="Times New Roman"/>
                <a:cs typeface="Times New Roman"/>
              </a:rPr>
              <a:t> </a:t>
            </a:r>
            <a:r>
              <a:rPr lang="en-US" sz="1800" dirty="0">
                <a:solidFill>
                  <a:srgbClr val="FF0000"/>
                </a:solidFill>
                <a:latin typeface="Arial MT"/>
                <a:cs typeface="Arial MT"/>
              </a:rPr>
              <a:t>+</a:t>
            </a:r>
            <a:r>
              <a:rPr lang="en-US" sz="1800" spc="-20" dirty="0">
                <a:solidFill>
                  <a:srgbClr val="FF0000"/>
                </a:solidFill>
                <a:latin typeface="Arial MT"/>
                <a:cs typeface="Arial MT"/>
              </a:rPr>
              <a:t> </a:t>
            </a:r>
            <a:r>
              <a:rPr lang="en-US" sz="1800" dirty="0">
                <a:solidFill>
                  <a:srgbClr val="FF0000"/>
                </a:solidFill>
                <a:latin typeface="Arial MT"/>
                <a:cs typeface="Arial MT"/>
              </a:rPr>
              <a:t>(2</a:t>
            </a:r>
            <a:r>
              <a:rPr lang="en-US" sz="1800" i="1" dirty="0">
                <a:solidFill>
                  <a:srgbClr val="FF0000"/>
                </a:solidFill>
                <a:latin typeface="Arial"/>
                <a:cs typeface="Arial"/>
              </a:rPr>
              <a:t>m</a:t>
            </a:r>
            <a:r>
              <a:rPr lang="en-US" sz="1800" i="1" spc="-25" dirty="0">
                <a:solidFill>
                  <a:srgbClr val="FF0000"/>
                </a:solidFill>
                <a:latin typeface="Arial"/>
                <a:cs typeface="Arial"/>
              </a:rPr>
              <a:t> </a:t>
            </a:r>
            <a:r>
              <a:rPr lang="en-US" sz="1800" dirty="0">
                <a:solidFill>
                  <a:srgbClr val="FF0000"/>
                </a:solidFill>
                <a:latin typeface="Arial MT"/>
                <a:cs typeface="Arial MT"/>
              </a:rPr>
              <a:t>+</a:t>
            </a:r>
            <a:r>
              <a:rPr lang="en-US" sz="1800" spc="-30" dirty="0">
                <a:solidFill>
                  <a:srgbClr val="FF0000"/>
                </a:solidFill>
                <a:latin typeface="Arial MT"/>
                <a:cs typeface="Arial MT"/>
              </a:rPr>
              <a:t> </a:t>
            </a:r>
            <a:r>
              <a:rPr lang="en-US" sz="1900" dirty="0">
                <a:solidFill>
                  <a:srgbClr val="FF0000"/>
                </a:solidFill>
                <a:latin typeface="Symbol"/>
                <a:cs typeface="Symbol"/>
              </a:rPr>
              <a:t></a:t>
            </a:r>
            <a:r>
              <a:rPr lang="en-US" sz="1800" dirty="0">
                <a:solidFill>
                  <a:srgbClr val="FF0000"/>
                </a:solidFill>
                <a:latin typeface="Arial MT"/>
                <a:cs typeface="Arial MT"/>
              </a:rPr>
              <a:t>)(1</a:t>
            </a:r>
            <a:r>
              <a:rPr lang="en-US" sz="1800" spc="-40" dirty="0">
                <a:solidFill>
                  <a:srgbClr val="FF0000"/>
                </a:solidFill>
                <a:latin typeface="Arial MT"/>
                <a:cs typeface="Arial MT"/>
              </a:rPr>
              <a:t> </a:t>
            </a:r>
            <a:r>
              <a:rPr lang="en-US" sz="1800" dirty="0">
                <a:solidFill>
                  <a:srgbClr val="FF0000"/>
                </a:solidFill>
                <a:latin typeface="Arial MT"/>
                <a:cs typeface="Arial MT"/>
              </a:rPr>
              <a:t>–</a:t>
            </a:r>
            <a:r>
              <a:rPr lang="en-US" sz="1800" spc="-30" dirty="0">
                <a:solidFill>
                  <a:srgbClr val="FF0000"/>
                </a:solidFill>
                <a:latin typeface="Arial MT"/>
                <a:cs typeface="Arial MT"/>
              </a:rPr>
              <a:t> </a:t>
            </a:r>
            <a:r>
              <a:rPr lang="en-US" sz="1900" spc="-25" dirty="0">
                <a:solidFill>
                  <a:srgbClr val="FF0000"/>
                </a:solidFill>
                <a:latin typeface="Symbol"/>
                <a:cs typeface="Symbol"/>
              </a:rPr>
              <a:t></a:t>
            </a:r>
            <a:r>
              <a:rPr lang="en-US" sz="1800" spc="-25" dirty="0">
                <a:solidFill>
                  <a:srgbClr val="FF0000"/>
                </a:solidFill>
                <a:latin typeface="Arial MT"/>
                <a:cs typeface="Arial MT"/>
              </a:rPr>
              <a:t>)</a:t>
            </a:r>
          </a:p>
          <a:p>
            <a:endParaRPr lang="en-US" sz="1800" dirty="0">
              <a:latin typeface="Arial MT"/>
              <a:cs typeface="Arial MT"/>
            </a:endParaRPr>
          </a:p>
          <a:p>
            <a:r>
              <a:rPr lang="en-US" dirty="0"/>
              <a:t>(m + ε) → Time for TLB hit: search TLB and access memory.</a:t>
            </a:r>
          </a:p>
          <a:p>
            <a:endParaRPr lang="en-US" dirty="0"/>
          </a:p>
          <a:p>
            <a:r>
              <a:rPr lang="en-US" dirty="0"/>
              <a:t>(2m + ε) → Time for TLB miss: search TLB (fails), then go to page table (memory access), then go to actual memory (another access).</a:t>
            </a:r>
          </a:p>
        </p:txBody>
      </p:sp>
    </p:spTree>
    <p:extLst>
      <p:ext uri="{BB962C8B-B14F-4D97-AF65-F5344CB8AC3E}">
        <p14:creationId xmlns:p14="http://schemas.microsoft.com/office/powerpoint/2010/main" val="3740675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2047" rIns="0" bIns="0" rtlCol="0">
            <a:spAutoFit/>
          </a:bodyPr>
          <a:lstStyle/>
          <a:p>
            <a:pPr marL="1525905">
              <a:lnSpc>
                <a:spcPct val="100000"/>
              </a:lnSpc>
              <a:spcBef>
                <a:spcPts val="100"/>
              </a:spcBef>
            </a:pPr>
            <a:r>
              <a:rPr dirty="0">
                <a:solidFill>
                  <a:srgbClr val="006699"/>
                </a:solidFill>
              </a:rPr>
              <a:t>Effective</a:t>
            </a:r>
            <a:r>
              <a:rPr spc="-30" dirty="0">
                <a:solidFill>
                  <a:srgbClr val="006699"/>
                </a:solidFill>
              </a:rPr>
              <a:t> </a:t>
            </a:r>
            <a:r>
              <a:rPr spc="-10" dirty="0">
                <a:solidFill>
                  <a:srgbClr val="006699"/>
                </a:solidFill>
              </a:rPr>
              <a:t>Memory-</a:t>
            </a:r>
            <a:r>
              <a:rPr dirty="0">
                <a:solidFill>
                  <a:srgbClr val="006699"/>
                </a:solidFill>
              </a:rPr>
              <a:t>Access</a:t>
            </a:r>
            <a:r>
              <a:rPr spc="-10" dirty="0">
                <a:solidFill>
                  <a:srgbClr val="006699"/>
                </a:solidFill>
              </a:rPr>
              <a:t> </a:t>
            </a:r>
            <a:r>
              <a:rPr spc="-20" dirty="0">
                <a:solidFill>
                  <a:srgbClr val="006699"/>
                </a:solidFill>
              </a:rPr>
              <a:t>Time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41</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960751"/>
            <a:ext cx="8527415" cy="5602605"/>
          </a:xfrm>
          <a:prstGeom prst="rect">
            <a:avLst/>
          </a:prstGeom>
        </p:spPr>
        <p:txBody>
          <a:bodyPr vert="horz" wrap="square" lIns="0" tIns="81915" rIns="0" bIns="0" rtlCol="0">
            <a:spAutoFit/>
          </a:bodyPr>
          <a:lstStyle/>
          <a:p>
            <a:pPr marL="354965" indent="-342265">
              <a:lnSpc>
                <a:spcPct val="100000"/>
              </a:lnSpc>
              <a:spcBef>
                <a:spcPts val="645"/>
              </a:spcBef>
              <a:buClr>
                <a:srgbClr val="993300"/>
              </a:buClr>
              <a:buSzPct val="88888"/>
              <a:buFont typeface="Wingdings"/>
              <a:buChar char=""/>
              <a:tabLst>
                <a:tab pos="354965" algn="l"/>
              </a:tabLst>
            </a:pPr>
            <a:r>
              <a:rPr sz="1800" dirty="0">
                <a:latin typeface="Arial MT"/>
                <a:cs typeface="Arial MT"/>
              </a:rPr>
              <a:t>Associative</a:t>
            </a:r>
            <a:r>
              <a:rPr sz="1800" spc="-15" dirty="0">
                <a:latin typeface="Arial MT"/>
                <a:cs typeface="Arial MT"/>
              </a:rPr>
              <a:t> </a:t>
            </a:r>
            <a:r>
              <a:rPr sz="1800" dirty="0">
                <a:latin typeface="Arial MT"/>
                <a:cs typeface="Arial MT"/>
              </a:rPr>
              <a:t>Lookup</a:t>
            </a:r>
            <a:r>
              <a:rPr sz="1800" spc="-20" dirty="0">
                <a:latin typeface="Arial MT"/>
                <a:cs typeface="Arial MT"/>
              </a:rPr>
              <a:t> </a:t>
            </a:r>
            <a:r>
              <a:rPr sz="1800" dirty="0">
                <a:latin typeface="Arial MT"/>
                <a:cs typeface="Arial MT"/>
              </a:rPr>
              <a:t>Time</a:t>
            </a:r>
            <a:r>
              <a:rPr sz="1800" spc="-35" dirty="0">
                <a:latin typeface="Arial MT"/>
                <a:cs typeface="Arial MT"/>
              </a:rPr>
              <a:t> </a:t>
            </a:r>
            <a:r>
              <a:rPr sz="1800" dirty="0">
                <a:latin typeface="Arial MT"/>
                <a:cs typeface="Arial MT"/>
              </a:rPr>
              <a:t>=</a:t>
            </a:r>
            <a:r>
              <a:rPr sz="1800" spc="-20" dirty="0">
                <a:latin typeface="Arial MT"/>
                <a:cs typeface="Arial MT"/>
              </a:rPr>
              <a:t> </a:t>
            </a:r>
            <a:r>
              <a:rPr sz="1900" dirty="0">
                <a:latin typeface="Symbol"/>
                <a:cs typeface="Symbol"/>
              </a:rPr>
              <a:t></a:t>
            </a:r>
            <a:r>
              <a:rPr sz="1900" spc="470" dirty="0">
                <a:latin typeface="Times New Roman"/>
                <a:cs typeface="Times New Roman"/>
              </a:rPr>
              <a:t> </a:t>
            </a:r>
            <a:r>
              <a:rPr sz="1800" dirty="0">
                <a:latin typeface="Arial MT"/>
                <a:cs typeface="Arial MT"/>
              </a:rPr>
              <a:t>time</a:t>
            </a:r>
            <a:r>
              <a:rPr sz="1800" spc="-40" dirty="0">
                <a:latin typeface="Arial MT"/>
                <a:cs typeface="Arial MT"/>
              </a:rPr>
              <a:t> </a:t>
            </a:r>
            <a:r>
              <a:rPr sz="1800" spc="-10" dirty="0">
                <a:latin typeface="Arial MT"/>
                <a:cs typeface="Arial MT"/>
              </a:rPr>
              <a:t>units</a:t>
            </a:r>
            <a:endParaRPr sz="1800" dirty="0">
              <a:latin typeface="Arial MT"/>
              <a:cs typeface="Arial MT"/>
            </a:endParaRPr>
          </a:p>
          <a:p>
            <a:pPr marL="756285" lvl="1" indent="-286385">
              <a:lnSpc>
                <a:spcPct val="100000"/>
              </a:lnSpc>
              <a:spcBef>
                <a:spcPts val="520"/>
              </a:spcBef>
              <a:buClr>
                <a:srgbClr val="CC6600"/>
              </a:buClr>
              <a:buSzPct val="80555"/>
              <a:buFont typeface="Wingdings"/>
              <a:buChar char=""/>
              <a:tabLst>
                <a:tab pos="756285" algn="l"/>
              </a:tabLst>
            </a:pPr>
            <a:r>
              <a:rPr sz="1800" dirty="0">
                <a:latin typeface="Arial MT"/>
                <a:cs typeface="Arial MT"/>
              </a:rPr>
              <a:t>Can</a:t>
            </a:r>
            <a:r>
              <a:rPr sz="1800" spc="-10" dirty="0">
                <a:latin typeface="Arial MT"/>
                <a:cs typeface="Arial MT"/>
              </a:rPr>
              <a:t> </a:t>
            </a:r>
            <a:r>
              <a:rPr sz="1800" dirty="0">
                <a:latin typeface="Arial MT"/>
                <a:cs typeface="Arial MT"/>
              </a:rPr>
              <a:t>be</a:t>
            </a:r>
            <a:r>
              <a:rPr sz="1800" spc="-25" dirty="0">
                <a:latin typeface="Arial MT"/>
                <a:cs typeface="Arial MT"/>
              </a:rPr>
              <a:t> </a:t>
            </a:r>
            <a:r>
              <a:rPr sz="1800" dirty="0">
                <a:latin typeface="Arial MT"/>
                <a:cs typeface="Arial MT"/>
              </a:rPr>
              <a:t>&lt;</a:t>
            </a:r>
            <a:r>
              <a:rPr sz="1800" spc="-20" dirty="0">
                <a:latin typeface="Arial MT"/>
                <a:cs typeface="Arial MT"/>
              </a:rPr>
              <a:t> </a:t>
            </a:r>
            <a:r>
              <a:rPr sz="1800" dirty="0">
                <a:latin typeface="Arial MT"/>
                <a:cs typeface="Arial MT"/>
              </a:rPr>
              <a:t>10%</a:t>
            </a:r>
            <a:r>
              <a:rPr sz="1800" spc="-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memory</a:t>
            </a:r>
            <a:r>
              <a:rPr sz="1800" spc="-15" dirty="0">
                <a:latin typeface="Arial MT"/>
                <a:cs typeface="Arial MT"/>
              </a:rPr>
              <a:t> </a:t>
            </a:r>
            <a:r>
              <a:rPr sz="1800" dirty="0">
                <a:latin typeface="Arial MT"/>
                <a:cs typeface="Arial MT"/>
              </a:rPr>
              <a:t>access</a:t>
            </a:r>
            <a:r>
              <a:rPr sz="1800" spc="-10" dirty="0">
                <a:latin typeface="Arial MT"/>
                <a:cs typeface="Arial MT"/>
              </a:rPr>
              <a:t> </a:t>
            </a:r>
            <a:r>
              <a:rPr sz="1800" spc="-20" dirty="0">
                <a:latin typeface="Arial MT"/>
                <a:cs typeface="Arial MT"/>
              </a:rPr>
              <a:t>time</a:t>
            </a:r>
            <a:endParaRPr sz="1800" dirty="0">
              <a:latin typeface="Arial MT"/>
              <a:cs typeface="Arial MT"/>
            </a:endParaRPr>
          </a:p>
          <a:p>
            <a:pPr marL="354965" indent="-342265">
              <a:lnSpc>
                <a:spcPct val="100000"/>
              </a:lnSpc>
              <a:spcBef>
                <a:spcPts val="1739"/>
              </a:spcBef>
              <a:buClr>
                <a:srgbClr val="993300"/>
              </a:buClr>
              <a:buSzPct val="88888"/>
              <a:buFont typeface="Wingdings"/>
              <a:buChar char=""/>
              <a:tabLst>
                <a:tab pos="354965" algn="l"/>
              </a:tabLst>
            </a:pPr>
            <a:r>
              <a:rPr sz="1800" dirty="0">
                <a:latin typeface="Arial MT"/>
                <a:cs typeface="Arial MT"/>
              </a:rPr>
              <a:t>Hit</a:t>
            </a:r>
            <a:r>
              <a:rPr sz="1800" spc="-15" dirty="0">
                <a:latin typeface="Arial MT"/>
                <a:cs typeface="Arial MT"/>
              </a:rPr>
              <a:t> </a:t>
            </a:r>
            <a:r>
              <a:rPr sz="1800" dirty="0">
                <a:latin typeface="Arial MT"/>
                <a:cs typeface="Arial MT"/>
              </a:rPr>
              <a:t>ratio</a:t>
            </a:r>
            <a:r>
              <a:rPr sz="1800" spc="-25" dirty="0">
                <a:latin typeface="Arial MT"/>
                <a:cs typeface="Arial MT"/>
              </a:rPr>
              <a:t> </a:t>
            </a:r>
            <a:r>
              <a:rPr sz="1800" dirty="0">
                <a:latin typeface="Arial MT"/>
                <a:cs typeface="Arial MT"/>
              </a:rPr>
              <a:t>=</a:t>
            </a:r>
            <a:r>
              <a:rPr sz="1800" spc="-20" dirty="0">
                <a:latin typeface="Arial MT"/>
                <a:cs typeface="Arial MT"/>
              </a:rPr>
              <a:t> </a:t>
            </a:r>
            <a:r>
              <a:rPr sz="1800" spc="-50" dirty="0">
                <a:latin typeface="Symbol"/>
                <a:cs typeface="Symbol"/>
              </a:rPr>
              <a:t></a:t>
            </a:r>
            <a:endParaRPr sz="1800" dirty="0">
              <a:latin typeface="Symbol"/>
              <a:cs typeface="Symbol"/>
            </a:endParaRPr>
          </a:p>
          <a:p>
            <a:pPr marL="756285" lvl="1" indent="-286385">
              <a:lnSpc>
                <a:spcPts val="2050"/>
              </a:lnSpc>
              <a:spcBef>
                <a:spcPts val="545"/>
              </a:spcBef>
              <a:buClr>
                <a:srgbClr val="CC6600"/>
              </a:buClr>
              <a:buSzPct val="80555"/>
              <a:buFont typeface="Wingdings"/>
              <a:buChar char=""/>
              <a:tabLst>
                <a:tab pos="756285" algn="l"/>
              </a:tabLst>
            </a:pPr>
            <a:r>
              <a:rPr sz="1800" dirty="0">
                <a:latin typeface="Arial MT"/>
                <a:cs typeface="Arial MT"/>
              </a:rPr>
              <a:t>Hit</a:t>
            </a:r>
            <a:r>
              <a:rPr sz="1800" spc="-35" dirty="0">
                <a:latin typeface="Arial MT"/>
                <a:cs typeface="Arial MT"/>
              </a:rPr>
              <a:t> </a:t>
            </a:r>
            <a:r>
              <a:rPr sz="1800" dirty="0">
                <a:latin typeface="Arial MT"/>
                <a:cs typeface="Arial MT"/>
              </a:rPr>
              <a:t>ratio</a:t>
            </a:r>
            <a:r>
              <a:rPr sz="1800" spc="-25" dirty="0">
                <a:latin typeface="Arial MT"/>
                <a:cs typeface="Arial MT"/>
              </a:rPr>
              <a:t> </a:t>
            </a:r>
            <a:r>
              <a:rPr sz="1800" dirty="0">
                <a:latin typeface="Arial MT"/>
                <a:cs typeface="Arial MT"/>
              </a:rPr>
              <a:t>–</a:t>
            </a:r>
            <a:r>
              <a:rPr sz="1800" spc="-20" dirty="0">
                <a:latin typeface="Arial MT"/>
                <a:cs typeface="Arial MT"/>
              </a:rPr>
              <a:t> </a:t>
            </a:r>
            <a:r>
              <a:rPr sz="1800" dirty="0">
                <a:latin typeface="Arial MT"/>
                <a:cs typeface="Arial MT"/>
              </a:rPr>
              <a:t>percentage of</a:t>
            </a:r>
            <a:r>
              <a:rPr sz="1800" spc="-20" dirty="0">
                <a:latin typeface="Arial MT"/>
                <a:cs typeface="Arial MT"/>
              </a:rPr>
              <a:t> </a:t>
            </a:r>
            <a:r>
              <a:rPr sz="1800" dirty="0">
                <a:latin typeface="Arial MT"/>
                <a:cs typeface="Arial MT"/>
              </a:rPr>
              <a:t>times</a:t>
            </a:r>
            <a:r>
              <a:rPr sz="1800" spc="-20" dirty="0">
                <a:latin typeface="Arial MT"/>
                <a:cs typeface="Arial MT"/>
              </a:rPr>
              <a:t> </a:t>
            </a:r>
            <a:r>
              <a:rPr sz="1800" dirty="0">
                <a:latin typeface="Arial MT"/>
                <a:cs typeface="Arial MT"/>
              </a:rPr>
              <a:t>that</a:t>
            </a:r>
            <a:r>
              <a:rPr sz="1800" spc="-2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page</a:t>
            </a:r>
            <a:r>
              <a:rPr sz="1800" spc="-15" dirty="0">
                <a:latin typeface="Arial MT"/>
                <a:cs typeface="Arial MT"/>
              </a:rPr>
              <a:t> </a:t>
            </a:r>
            <a:r>
              <a:rPr sz="1800" dirty="0">
                <a:latin typeface="Arial MT"/>
                <a:cs typeface="Arial MT"/>
              </a:rPr>
              <a:t>number</a:t>
            </a:r>
            <a:r>
              <a:rPr sz="1800" spc="-1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found</a:t>
            </a:r>
            <a:r>
              <a:rPr sz="1800" spc="-2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the</a:t>
            </a:r>
            <a:r>
              <a:rPr sz="1800" spc="-25" dirty="0">
                <a:latin typeface="Arial MT"/>
                <a:cs typeface="Arial MT"/>
              </a:rPr>
              <a:t> </a:t>
            </a:r>
            <a:r>
              <a:rPr sz="1800" spc="-10" dirty="0">
                <a:latin typeface="Arial MT"/>
                <a:cs typeface="Arial MT"/>
              </a:rPr>
              <a:t>associative</a:t>
            </a:r>
            <a:endParaRPr sz="1800" dirty="0">
              <a:latin typeface="Arial MT"/>
              <a:cs typeface="Arial MT"/>
            </a:endParaRPr>
          </a:p>
          <a:p>
            <a:pPr marL="756285">
              <a:lnSpc>
                <a:spcPts val="2050"/>
              </a:lnSpc>
            </a:pPr>
            <a:r>
              <a:rPr sz="1800" dirty="0">
                <a:latin typeface="Arial MT"/>
                <a:cs typeface="Arial MT"/>
              </a:rPr>
              <a:t>registers;</a:t>
            </a:r>
            <a:r>
              <a:rPr sz="1800" spc="-30" dirty="0">
                <a:latin typeface="Arial MT"/>
                <a:cs typeface="Arial MT"/>
              </a:rPr>
              <a:t> </a:t>
            </a:r>
            <a:r>
              <a:rPr sz="1800" dirty="0">
                <a:latin typeface="Arial MT"/>
                <a:cs typeface="Arial MT"/>
              </a:rPr>
              <a:t>ratio</a:t>
            </a:r>
            <a:r>
              <a:rPr sz="1800" spc="-20" dirty="0">
                <a:latin typeface="Arial MT"/>
                <a:cs typeface="Arial MT"/>
              </a:rPr>
              <a:t> </a:t>
            </a:r>
            <a:r>
              <a:rPr sz="1800" dirty="0">
                <a:latin typeface="Arial MT"/>
                <a:cs typeface="Arial MT"/>
              </a:rPr>
              <a:t>related</a:t>
            </a:r>
            <a:r>
              <a:rPr sz="1800" spc="-20" dirty="0">
                <a:latin typeface="Arial MT"/>
                <a:cs typeface="Arial MT"/>
              </a:rPr>
              <a:t> </a:t>
            </a:r>
            <a:r>
              <a:rPr sz="1800" dirty="0">
                <a:latin typeface="Arial MT"/>
                <a:cs typeface="Arial MT"/>
              </a:rPr>
              <a:t>to</a:t>
            </a:r>
            <a:r>
              <a:rPr sz="1800" spc="-40" dirty="0">
                <a:latin typeface="Arial MT"/>
                <a:cs typeface="Arial MT"/>
              </a:rPr>
              <a:t> </a:t>
            </a:r>
            <a:r>
              <a:rPr sz="1800" dirty="0">
                <a:latin typeface="Arial MT"/>
                <a:cs typeface="Arial MT"/>
              </a:rPr>
              <a:t>number</a:t>
            </a:r>
            <a:r>
              <a:rPr sz="1800" spc="-1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associative</a:t>
            </a:r>
            <a:r>
              <a:rPr sz="1800" spc="-25" dirty="0">
                <a:latin typeface="Arial MT"/>
                <a:cs typeface="Arial MT"/>
              </a:rPr>
              <a:t> </a:t>
            </a:r>
            <a:r>
              <a:rPr sz="1800" spc="-10" dirty="0">
                <a:latin typeface="Arial MT"/>
                <a:cs typeface="Arial MT"/>
              </a:rPr>
              <a:t>registers</a:t>
            </a:r>
            <a:endParaRPr sz="1800" dirty="0">
              <a:latin typeface="Arial MT"/>
              <a:cs typeface="Arial MT"/>
            </a:endParaRPr>
          </a:p>
          <a:p>
            <a:pPr marL="354965" indent="-342265">
              <a:lnSpc>
                <a:spcPct val="100000"/>
              </a:lnSpc>
              <a:spcBef>
                <a:spcPts val="1640"/>
              </a:spcBef>
              <a:buClr>
                <a:srgbClr val="993300"/>
              </a:buClr>
              <a:buSzPct val="88888"/>
              <a:buFont typeface="Wingdings"/>
              <a:buChar char=""/>
              <a:tabLst>
                <a:tab pos="354965" algn="l"/>
              </a:tabLst>
            </a:pPr>
            <a:r>
              <a:rPr sz="1800" dirty="0">
                <a:solidFill>
                  <a:srgbClr val="FF0000"/>
                </a:solidFill>
                <a:latin typeface="Arial MT"/>
                <a:cs typeface="Arial MT"/>
              </a:rPr>
              <a:t>Consider</a:t>
            </a:r>
            <a:r>
              <a:rPr sz="1800" spc="-10" dirty="0">
                <a:solidFill>
                  <a:srgbClr val="FF0000"/>
                </a:solidFill>
                <a:latin typeface="Arial MT"/>
                <a:cs typeface="Arial MT"/>
              </a:rPr>
              <a:t> </a:t>
            </a:r>
            <a:r>
              <a:rPr sz="1800" dirty="0">
                <a:solidFill>
                  <a:srgbClr val="FF0000"/>
                </a:solidFill>
                <a:latin typeface="Arial MT"/>
                <a:cs typeface="Arial MT"/>
              </a:rPr>
              <a:t>hit</a:t>
            </a:r>
            <a:r>
              <a:rPr sz="1800" spc="-25" dirty="0">
                <a:solidFill>
                  <a:srgbClr val="FF0000"/>
                </a:solidFill>
                <a:latin typeface="Arial MT"/>
                <a:cs typeface="Arial MT"/>
              </a:rPr>
              <a:t> </a:t>
            </a:r>
            <a:r>
              <a:rPr sz="1800" dirty="0">
                <a:solidFill>
                  <a:srgbClr val="FF0000"/>
                </a:solidFill>
                <a:latin typeface="Arial MT"/>
                <a:cs typeface="Arial MT"/>
              </a:rPr>
              <a:t>ratio</a:t>
            </a:r>
            <a:r>
              <a:rPr sz="1800" spc="-25" dirty="0">
                <a:solidFill>
                  <a:srgbClr val="FF0000"/>
                </a:solidFill>
                <a:latin typeface="Arial MT"/>
                <a:cs typeface="Arial MT"/>
              </a:rPr>
              <a:t> </a:t>
            </a:r>
            <a:r>
              <a:rPr sz="1900" dirty="0">
                <a:solidFill>
                  <a:srgbClr val="FF0000"/>
                </a:solidFill>
                <a:latin typeface="Symbol"/>
                <a:cs typeface="Symbol"/>
              </a:rPr>
              <a:t></a:t>
            </a:r>
            <a:r>
              <a:rPr sz="1800" dirty="0">
                <a:solidFill>
                  <a:srgbClr val="FF0000"/>
                </a:solidFill>
                <a:latin typeface="Arial MT"/>
                <a:cs typeface="Arial MT"/>
              </a:rPr>
              <a:t>,</a:t>
            </a:r>
            <a:r>
              <a:rPr sz="1800" spc="-25" dirty="0">
                <a:solidFill>
                  <a:srgbClr val="FF0000"/>
                </a:solidFill>
                <a:latin typeface="Arial MT"/>
                <a:cs typeface="Arial MT"/>
              </a:rPr>
              <a:t> </a:t>
            </a:r>
            <a:r>
              <a:rPr sz="1800" dirty="0">
                <a:solidFill>
                  <a:srgbClr val="FF0000"/>
                </a:solidFill>
                <a:latin typeface="Arial MT"/>
                <a:cs typeface="Arial MT"/>
              </a:rPr>
              <a:t>TLB</a:t>
            </a:r>
            <a:r>
              <a:rPr sz="1800" spc="-45" dirty="0">
                <a:solidFill>
                  <a:srgbClr val="FF0000"/>
                </a:solidFill>
                <a:latin typeface="Arial MT"/>
                <a:cs typeface="Arial MT"/>
              </a:rPr>
              <a:t> </a:t>
            </a:r>
            <a:r>
              <a:rPr sz="1800" dirty="0">
                <a:solidFill>
                  <a:srgbClr val="FF0000"/>
                </a:solidFill>
                <a:latin typeface="Arial MT"/>
                <a:cs typeface="Arial MT"/>
              </a:rPr>
              <a:t>search</a:t>
            </a:r>
            <a:r>
              <a:rPr sz="1800" spc="-30" dirty="0">
                <a:solidFill>
                  <a:srgbClr val="FF0000"/>
                </a:solidFill>
                <a:latin typeface="Arial MT"/>
                <a:cs typeface="Arial MT"/>
              </a:rPr>
              <a:t> </a:t>
            </a:r>
            <a:r>
              <a:rPr sz="1800" dirty="0">
                <a:solidFill>
                  <a:srgbClr val="FF0000"/>
                </a:solidFill>
                <a:latin typeface="Arial MT"/>
                <a:cs typeface="Arial MT"/>
              </a:rPr>
              <a:t>time</a:t>
            </a:r>
            <a:r>
              <a:rPr sz="1800" spc="-25" dirty="0">
                <a:solidFill>
                  <a:srgbClr val="FF0000"/>
                </a:solidFill>
                <a:latin typeface="Arial MT"/>
                <a:cs typeface="Arial MT"/>
              </a:rPr>
              <a:t> </a:t>
            </a:r>
            <a:r>
              <a:rPr sz="1900" dirty="0">
                <a:solidFill>
                  <a:srgbClr val="FF0000"/>
                </a:solidFill>
                <a:latin typeface="Symbol"/>
                <a:cs typeface="Symbol"/>
              </a:rPr>
              <a:t></a:t>
            </a:r>
            <a:r>
              <a:rPr sz="1800" dirty="0">
                <a:solidFill>
                  <a:srgbClr val="FF0000"/>
                </a:solidFill>
                <a:latin typeface="Arial MT"/>
                <a:cs typeface="Arial MT"/>
              </a:rPr>
              <a:t>,</a:t>
            </a:r>
            <a:r>
              <a:rPr sz="1800" spc="-50" dirty="0">
                <a:solidFill>
                  <a:srgbClr val="FF0000"/>
                </a:solidFill>
                <a:latin typeface="Arial MT"/>
                <a:cs typeface="Arial MT"/>
              </a:rPr>
              <a:t> </a:t>
            </a:r>
            <a:r>
              <a:rPr sz="1800" dirty="0">
                <a:solidFill>
                  <a:srgbClr val="FF0000"/>
                </a:solidFill>
                <a:latin typeface="Arial MT"/>
                <a:cs typeface="Arial MT"/>
              </a:rPr>
              <a:t>and</a:t>
            </a:r>
            <a:r>
              <a:rPr sz="1800" spc="-25" dirty="0">
                <a:solidFill>
                  <a:srgbClr val="FF0000"/>
                </a:solidFill>
                <a:latin typeface="Arial MT"/>
                <a:cs typeface="Arial MT"/>
              </a:rPr>
              <a:t> </a:t>
            </a:r>
            <a:r>
              <a:rPr sz="1800" dirty="0">
                <a:solidFill>
                  <a:srgbClr val="FF0000"/>
                </a:solidFill>
                <a:latin typeface="Arial MT"/>
                <a:cs typeface="Arial MT"/>
              </a:rPr>
              <a:t>memory</a:t>
            </a:r>
            <a:r>
              <a:rPr sz="1800" spc="-25" dirty="0">
                <a:solidFill>
                  <a:srgbClr val="FF0000"/>
                </a:solidFill>
                <a:latin typeface="Arial MT"/>
                <a:cs typeface="Arial MT"/>
              </a:rPr>
              <a:t> </a:t>
            </a:r>
            <a:r>
              <a:rPr sz="1800" dirty="0">
                <a:solidFill>
                  <a:srgbClr val="FF0000"/>
                </a:solidFill>
                <a:latin typeface="Arial MT"/>
                <a:cs typeface="Arial MT"/>
              </a:rPr>
              <a:t>access</a:t>
            </a:r>
            <a:r>
              <a:rPr sz="1800" spc="-20" dirty="0">
                <a:solidFill>
                  <a:srgbClr val="FF0000"/>
                </a:solidFill>
                <a:latin typeface="Arial MT"/>
                <a:cs typeface="Arial MT"/>
              </a:rPr>
              <a:t> </a:t>
            </a:r>
            <a:r>
              <a:rPr sz="1800" dirty="0">
                <a:solidFill>
                  <a:srgbClr val="FF0000"/>
                </a:solidFill>
                <a:latin typeface="Arial MT"/>
                <a:cs typeface="Arial MT"/>
              </a:rPr>
              <a:t>time</a:t>
            </a:r>
            <a:r>
              <a:rPr sz="1800" spc="-25" dirty="0">
                <a:solidFill>
                  <a:srgbClr val="FF0000"/>
                </a:solidFill>
                <a:latin typeface="Arial MT"/>
                <a:cs typeface="Arial MT"/>
              </a:rPr>
              <a:t> </a:t>
            </a:r>
            <a:r>
              <a:rPr sz="1800" b="1" i="1" spc="-50" dirty="0">
                <a:solidFill>
                  <a:srgbClr val="FF0000"/>
                </a:solidFill>
                <a:latin typeface="Arial"/>
                <a:cs typeface="Arial"/>
              </a:rPr>
              <a:t>m</a:t>
            </a:r>
            <a:endParaRPr sz="1800" dirty="0">
              <a:latin typeface="Arial"/>
              <a:cs typeface="Arial"/>
            </a:endParaRPr>
          </a:p>
          <a:p>
            <a:pPr marL="756285" lvl="1" indent="-286385">
              <a:lnSpc>
                <a:spcPct val="100000"/>
              </a:lnSpc>
              <a:spcBef>
                <a:spcPts val="520"/>
              </a:spcBef>
              <a:buClr>
                <a:srgbClr val="CC6600"/>
              </a:buClr>
              <a:buSzPct val="80555"/>
              <a:buFont typeface="Wingdings"/>
              <a:buChar char=""/>
              <a:tabLst>
                <a:tab pos="756285" algn="l"/>
              </a:tabLst>
            </a:pPr>
            <a:r>
              <a:rPr sz="1800" b="1" dirty="0">
                <a:solidFill>
                  <a:srgbClr val="3366FF"/>
                </a:solidFill>
                <a:latin typeface="Arial"/>
                <a:cs typeface="Arial"/>
              </a:rPr>
              <a:t>Effective Access Time</a:t>
            </a:r>
            <a:r>
              <a:rPr sz="1800" b="1" spc="-40" dirty="0">
                <a:solidFill>
                  <a:srgbClr val="3366FF"/>
                </a:solidFill>
                <a:latin typeface="Arial"/>
                <a:cs typeface="Arial"/>
              </a:rPr>
              <a:t> </a:t>
            </a:r>
            <a:r>
              <a:rPr sz="1800" spc="-20" dirty="0">
                <a:latin typeface="Arial MT"/>
                <a:cs typeface="Arial MT"/>
              </a:rPr>
              <a:t>(</a:t>
            </a:r>
            <a:r>
              <a:rPr sz="1800" b="1" spc="-20" dirty="0">
                <a:solidFill>
                  <a:srgbClr val="3366FF"/>
                </a:solidFill>
                <a:latin typeface="Arial"/>
                <a:cs typeface="Arial"/>
              </a:rPr>
              <a:t>EAT</a:t>
            </a:r>
            <a:r>
              <a:rPr sz="1800" spc="-20" dirty="0">
                <a:latin typeface="Arial MT"/>
                <a:cs typeface="Arial MT"/>
              </a:rPr>
              <a:t>)</a:t>
            </a:r>
            <a:endParaRPr sz="1800" dirty="0">
              <a:latin typeface="Arial MT"/>
              <a:cs typeface="Arial MT"/>
            </a:endParaRPr>
          </a:p>
          <a:p>
            <a:pPr marL="2074545">
              <a:lnSpc>
                <a:spcPct val="100000"/>
              </a:lnSpc>
              <a:spcBef>
                <a:spcPts val="440"/>
              </a:spcBef>
            </a:pPr>
            <a:r>
              <a:rPr sz="1800" dirty="0">
                <a:solidFill>
                  <a:srgbClr val="FF0000"/>
                </a:solidFill>
                <a:latin typeface="Arial MT"/>
                <a:cs typeface="Arial MT"/>
              </a:rPr>
              <a:t>EAT</a:t>
            </a:r>
            <a:r>
              <a:rPr sz="1800" spc="-35" dirty="0">
                <a:solidFill>
                  <a:srgbClr val="FF0000"/>
                </a:solidFill>
                <a:latin typeface="Arial MT"/>
                <a:cs typeface="Arial MT"/>
              </a:rPr>
              <a:t> </a:t>
            </a:r>
            <a:r>
              <a:rPr sz="1800" dirty="0">
                <a:solidFill>
                  <a:srgbClr val="FF0000"/>
                </a:solidFill>
                <a:latin typeface="Arial MT"/>
                <a:cs typeface="Arial MT"/>
              </a:rPr>
              <a:t>=</a:t>
            </a:r>
            <a:r>
              <a:rPr sz="1800" spc="-25" dirty="0">
                <a:solidFill>
                  <a:srgbClr val="FF0000"/>
                </a:solidFill>
                <a:latin typeface="Arial MT"/>
                <a:cs typeface="Arial MT"/>
              </a:rPr>
              <a:t> </a:t>
            </a:r>
            <a:r>
              <a:rPr sz="1800" dirty="0">
                <a:solidFill>
                  <a:srgbClr val="FF0000"/>
                </a:solidFill>
                <a:latin typeface="Arial MT"/>
                <a:cs typeface="Arial MT"/>
              </a:rPr>
              <a:t>(</a:t>
            </a:r>
            <a:r>
              <a:rPr sz="1800" i="1" dirty="0">
                <a:solidFill>
                  <a:srgbClr val="FF0000"/>
                </a:solidFill>
                <a:latin typeface="Arial"/>
                <a:cs typeface="Arial"/>
              </a:rPr>
              <a:t>m</a:t>
            </a:r>
            <a:r>
              <a:rPr sz="1800" i="1" spc="-25" dirty="0">
                <a:solidFill>
                  <a:srgbClr val="FF0000"/>
                </a:solidFill>
                <a:latin typeface="Arial"/>
                <a:cs typeface="Arial"/>
              </a:rPr>
              <a:t> </a:t>
            </a:r>
            <a:r>
              <a:rPr sz="1800" dirty="0">
                <a:solidFill>
                  <a:srgbClr val="FF0000"/>
                </a:solidFill>
                <a:latin typeface="Arial MT"/>
                <a:cs typeface="Arial MT"/>
              </a:rPr>
              <a:t>+</a:t>
            </a:r>
            <a:r>
              <a:rPr sz="1800" spc="-30" dirty="0">
                <a:solidFill>
                  <a:srgbClr val="FF0000"/>
                </a:solidFill>
                <a:latin typeface="Arial MT"/>
                <a:cs typeface="Arial MT"/>
              </a:rPr>
              <a:t> </a:t>
            </a:r>
            <a:r>
              <a:rPr sz="1900" dirty="0">
                <a:solidFill>
                  <a:srgbClr val="FF0000"/>
                </a:solidFill>
                <a:latin typeface="Symbol"/>
                <a:cs typeface="Symbol"/>
              </a:rPr>
              <a:t></a:t>
            </a:r>
            <a:r>
              <a:rPr sz="1800" dirty="0">
                <a:solidFill>
                  <a:srgbClr val="FF0000"/>
                </a:solidFill>
                <a:latin typeface="Arial MT"/>
                <a:cs typeface="Arial MT"/>
              </a:rPr>
              <a:t>)</a:t>
            </a:r>
            <a:r>
              <a:rPr sz="1900" dirty="0">
                <a:solidFill>
                  <a:srgbClr val="FF0000"/>
                </a:solidFill>
                <a:latin typeface="Symbol"/>
                <a:cs typeface="Symbol"/>
              </a:rPr>
              <a:t></a:t>
            </a:r>
            <a:r>
              <a:rPr sz="1900" spc="-5" dirty="0">
                <a:solidFill>
                  <a:srgbClr val="FF0000"/>
                </a:solidFill>
                <a:latin typeface="Times New Roman"/>
                <a:cs typeface="Times New Roman"/>
              </a:rPr>
              <a:t> </a:t>
            </a:r>
            <a:r>
              <a:rPr sz="1800" dirty="0">
                <a:solidFill>
                  <a:srgbClr val="FF0000"/>
                </a:solidFill>
                <a:latin typeface="Arial MT"/>
                <a:cs typeface="Arial MT"/>
              </a:rPr>
              <a:t>+</a:t>
            </a:r>
            <a:r>
              <a:rPr sz="1800" spc="-20" dirty="0">
                <a:solidFill>
                  <a:srgbClr val="FF0000"/>
                </a:solidFill>
                <a:latin typeface="Arial MT"/>
                <a:cs typeface="Arial MT"/>
              </a:rPr>
              <a:t> </a:t>
            </a:r>
            <a:r>
              <a:rPr sz="1800" dirty="0">
                <a:solidFill>
                  <a:srgbClr val="FF0000"/>
                </a:solidFill>
                <a:latin typeface="Arial MT"/>
                <a:cs typeface="Arial MT"/>
              </a:rPr>
              <a:t>(2</a:t>
            </a:r>
            <a:r>
              <a:rPr sz="1800" i="1" dirty="0">
                <a:solidFill>
                  <a:srgbClr val="FF0000"/>
                </a:solidFill>
                <a:latin typeface="Arial"/>
                <a:cs typeface="Arial"/>
              </a:rPr>
              <a:t>m</a:t>
            </a:r>
            <a:r>
              <a:rPr sz="1800" i="1" spc="-25" dirty="0">
                <a:solidFill>
                  <a:srgbClr val="FF0000"/>
                </a:solidFill>
                <a:latin typeface="Arial"/>
                <a:cs typeface="Arial"/>
              </a:rPr>
              <a:t> </a:t>
            </a:r>
            <a:r>
              <a:rPr sz="1800" dirty="0">
                <a:solidFill>
                  <a:srgbClr val="FF0000"/>
                </a:solidFill>
                <a:latin typeface="Arial MT"/>
                <a:cs typeface="Arial MT"/>
              </a:rPr>
              <a:t>+</a:t>
            </a:r>
            <a:r>
              <a:rPr sz="1800" spc="-30" dirty="0">
                <a:solidFill>
                  <a:srgbClr val="FF0000"/>
                </a:solidFill>
                <a:latin typeface="Arial MT"/>
                <a:cs typeface="Arial MT"/>
              </a:rPr>
              <a:t> </a:t>
            </a:r>
            <a:r>
              <a:rPr sz="1900" dirty="0">
                <a:solidFill>
                  <a:srgbClr val="FF0000"/>
                </a:solidFill>
                <a:latin typeface="Symbol"/>
                <a:cs typeface="Symbol"/>
              </a:rPr>
              <a:t></a:t>
            </a:r>
            <a:r>
              <a:rPr sz="1800" dirty="0">
                <a:solidFill>
                  <a:srgbClr val="FF0000"/>
                </a:solidFill>
                <a:latin typeface="Arial MT"/>
                <a:cs typeface="Arial MT"/>
              </a:rPr>
              <a:t>)(1</a:t>
            </a:r>
            <a:r>
              <a:rPr sz="1800" spc="-40" dirty="0">
                <a:solidFill>
                  <a:srgbClr val="FF0000"/>
                </a:solidFill>
                <a:latin typeface="Arial MT"/>
                <a:cs typeface="Arial MT"/>
              </a:rPr>
              <a:t> </a:t>
            </a:r>
            <a:r>
              <a:rPr sz="1800" dirty="0">
                <a:solidFill>
                  <a:srgbClr val="FF0000"/>
                </a:solidFill>
                <a:latin typeface="Arial MT"/>
                <a:cs typeface="Arial MT"/>
              </a:rPr>
              <a:t>–</a:t>
            </a:r>
            <a:r>
              <a:rPr sz="1800" spc="-30" dirty="0">
                <a:solidFill>
                  <a:srgbClr val="FF0000"/>
                </a:solidFill>
                <a:latin typeface="Arial MT"/>
                <a:cs typeface="Arial MT"/>
              </a:rPr>
              <a:t> </a:t>
            </a:r>
            <a:r>
              <a:rPr sz="1900" spc="-25" dirty="0">
                <a:solidFill>
                  <a:srgbClr val="FF0000"/>
                </a:solidFill>
                <a:latin typeface="Symbol"/>
                <a:cs typeface="Symbol"/>
              </a:rPr>
              <a:t></a:t>
            </a:r>
            <a:r>
              <a:rPr sz="1800" spc="-25" dirty="0">
                <a:solidFill>
                  <a:srgbClr val="FF0000"/>
                </a:solidFill>
                <a:latin typeface="Arial MT"/>
                <a:cs typeface="Arial MT"/>
              </a:rPr>
              <a:t>)</a:t>
            </a:r>
            <a:endParaRPr sz="1800" dirty="0">
              <a:latin typeface="Arial MT"/>
              <a:cs typeface="Arial MT"/>
            </a:endParaRPr>
          </a:p>
          <a:p>
            <a:pPr marL="2580640">
              <a:lnSpc>
                <a:spcPct val="100000"/>
              </a:lnSpc>
              <a:spcBef>
                <a:spcPts val="420"/>
              </a:spcBef>
            </a:pPr>
            <a:r>
              <a:rPr sz="1800" dirty="0">
                <a:solidFill>
                  <a:srgbClr val="FF0000"/>
                </a:solidFill>
                <a:latin typeface="Arial MT"/>
                <a:cs typeface="Arial MT"/>
              </a:rPr>
              <a:t>=</a:t>
            </a:r>
            <a:r>
              <a:rPr sz="1800" spc="-15" dirty="0">
                <a:solidFill>
                  <a:srgbClr val="FF0000"/>
                </a:solidFill>
                <a:latin typeface="Arial MT"/>
                <a:cs typeface="Arial MT"/>
              </a:rPr>
              <a:t> </a:t>
            </a:r>
            <a:r>
              <a:rPr sz="1800" b="1" dirty="0">
                <a:solidFill>
                  <a:srgbClr val="FF0000"/>
                </a:solidFill>
                <a:latin typeface="Arial"/>
                <a:cs typeface="Arial"/>
              </a:rPr>
              <a:t>2</a:t>
            </a:r>
            <a:r>
              <a:rPr sz="1800" b="1" i="1" dirty="0">
                <a:solidFill>
                  <a:srgbClr val="FF0000"/>
                </a:solidFill>
                <a:latin typeface="Arial"/>
                <a:cs typeface="Arial"/>
              </a:rPr>
              <a:t>m</a:t>
            </a:r>
            <a:r>
              <a:rPr sz="1800" b="1" i="1" spc="-15" dirty="0">
                <a:solidFill>
                  <a:srgbClr val="FF0000"/>
                </a:solidFill>
                <a:latin typeface="Arial"/>
                <a:cs typeface="Arial"/>
              </a:rPr>
              <a:t> </a:t>
            </a:r>
            <a:r>
              <a:rPr sz="1800" b="1" dirty="0">
                <a:solidFill>
                  <a:srgbClr val="FF0000"/>
                </a:solidFill>
                <a:latin typeface="Arial"/>
                <a:cs typeface="Arial"/>
              </a:rPr>
              <a:t>+</a:t>
            </a:r>
            <a:r>
              <a:rPr sz="1800" b="1" spc="-10" dirty="0">
                <a:solidFill>
                  <a:srgbClr val="FF0000"/>
                </a:solidFill>
                <a:latin typeface="Arial"/>
                <a:cs typeface="Arial"/>
              </a:rPr>
              <a:t> </a:t>
            </a:r>
            <a:r>
              <a:rPr sz="1900" dirty="0">
                <a:solidFill>
                  <a:srgbClr val="FF0000"/>
                </a:solidFill>
                <a:latin typeface="Symbol"/>
                <a:cs typeface="Symbol"/>
              </a:rPr>
              <a:t></a:t>
            </a:r>
            <a:r>
              <a:rPr sz="1900" spc="10" dirty="0">
                <a:solidFill>
                  <a:srgbClr val="FF0000"/>
                </a:solidFill>
                <a:latin typeface="Times New Roman"/>
                <a:cs typeface="Times New Roman"/>
              </a:rPr>
              <a:t>  </a:t>
            </a:r>
            <a:r>
              <a:rPr sz="1800" b="1" dirty="0">
                <a:solidFill>
                  <a:srgbClr val="FF0000"/>
                </a:solidFill>
                <a:latin typeface="Arial"/>
                <a:cs typeface="Arial"/>
              </a:rPr>
              <a:t>–</a:t>
            </a:r>
            <a:r>
              <a:rPr sz="1800" b="1" spc="-10" dirty="0">
                <a:solidFill>
                  <a:srgbClr val="FF0000"/>
                </a:solidFill>
                <a:latin typeface="Arial"/>
                <a:cs typeface="Arial"/>
              </a:rPr>
              <a:t> </a:t>
            </a:r>
            <a:r>
              <a:rPr sz="1800" b="1" i="1" spc="-25" dirty="0">
                <a:solidFill>
                  <a:srgbClr val="FF0000"/>
                </a:solidFill>
                <a:latin typeface="Arial"/>
                <a:cs typeface="Arial"/>
              </a:rPr>
              <a:t>m</a:t>
            </a:r>
            <a:r>
              <a:rPr sz="1900" spc="-25" dirty="0">
                <a:solidFill>
                  <a:srgbClr val="FF0000"/>
                </a:solidFill>
                <a:latin typeface="Symbol"/>
                <a:cs typeface="Symbol"/>
              </a:rPr>
              <a:t></a:t>
            </a:r>
            <a:endParaRPr sz="1900" dirty="0">
              <a:latin typeface="Symbol"/>
              <a:cs typeface="Symbol"/>
            </a:endParaRPr>
          </a:p>
          <a:p>
            <a:pPr marL="12700">
              <a:lnSpc>
                <a:spcPct val="100000"/>
              </a:lnSpc>
              <a:spcBef>
                <a:spcPts val="720"/>
              </a:spcBef>
            </a:pPr>
            <a:r>
              <a:rPr sz="1600" spc="-50" dirty="0">
                <a:solidFill>
                  <a:srgbClr val="993300"/>
                </a:solidFill>
                <a:latin typeface="Wingdings"/>
                <a:cs typeface="Wingdings"/>
              </a:rPr>
              <a:t></a:t>
            </a:r>
            <a:endParaRPr sz="1600" dirty="0">
              <a:latin typeface="Wingdings"/>
              <a:cs typeface="Wingdings"/>
            </a:endParaRPr>
          </a:p>
          <a:p>
            <a:pPr marL="354965" indent="-342265">
              <a:lnSpc>
                <a:spcPct val="100000"/>
              </a:lnSpc>
              <a:spcBef>
                <a:spcPts val="480"/>
              </a:spcBef>
              <a:buClr>
                <a:srgbClr val="993300"/>
              </a:buClr>
              <a:buSzPct val="88888"/>
              <a:buFont typeface="Wingdings"/>
              <a:buChar char=""/>
              <a:tabLst>
                <a:tab pos="354965" algn="l"/>
                <a:tab pos="1604645" algn="l"/>
              </a:tabLst>
            </a:pPr>
            <a:r>
              <a:rPr sz="1800" dirty="0">
                <a:latin typeface="Arial MT"/>
                <a:cs typeface="Arial MT"/>
              </a:rPr>
              <a:t>Consider</a:t>
            </a:r>
            <a:r>
              <a:rPr sz="1800" spc="-35" dirty="0">
                <a:latin typeface="Arial MT"/>
                <a:cs typeface="Arial MT"/>
              </a:rPr>
              <a:t> </a:t>
            </a:r>
            <a:r>
              <a:rPr sz="1900" spc="-50" dirty="0">
                <a:latin typeface="Symbol"/>
                <a:cs typeface="Symbol"/>
              </a:rPr>
              <a:t></a:t>
            </a:r>
            <a:r>
              <a:rPr sz="1900" dirty="0">
                <a:latin typeface="Times New Roman"/>
                <a:cs typeface="Times New Roman"/>
              </a:rPr>
              <a:t>	</a:t>
            </a:r>
            <a:r>
              <a:rPr sz="1800" dirty="0">
                <a:latin typeface="Arial MT"/>
                <a:cs typeface="Arial MT"/>
              </a:rPr>
              <a:t>=</a:t>
            </a:r>
            <a:r>
              <a:rPr sz="1800" spc="-15" dirty="0">
                <a:latin typeface="Arial MT"/>
                <a:cs typeface="Arial MT"/>
              </a:rPr>
              <a:t> </a:t>
            </a:r>
            <a:r>
              <a:rPr sz="1800" dirty="0">
                <a:latin typeface="Arial MT"/>
                <a:cs typeface="Arial MT"/>
              </a:rPr>
              <a:t>80%,</a:t>
            </a:r>
            <a:r>
              <a:rPr sz="1800" spc="-5" dirty="0">
                <a:latin typeface="Arial MT"/>
                <a:cs typeface="Arial MT"/>
              </a:rPr>
              <a:t> </a:t>
            </a:r>
            <a:r>
              <a:rPr sz="1900" dirty="0">
                <a:latin typeface="Symbol"/>
                <a:cs typeface="Symbol"/>
              </a:rPr>
              <a:t></a:t>
            </a:r>
            <a:r>
              <a:rPr sz="1900" spc="10" dirty="0">
                <a:latin typeface="Times New Roman"/>
                <a:cs typeface="Times New Roman"/>
              </a:rPr>
              <a:t>  </a:t>
            </a:r>
            <a:r>
              <a:rPr sz="1800" dirty="0">
                <a:latin typeface="Arial MT"/>
                <a:cs typeface="Arial MT"/>
              </a:rPr>
              <a:t>=</a:t>
            </a:r>
            <a:r>
              <a:rPr sz="1800" spc="-10" dirty="0">
                <a:latin typeface="Arial MT"/>
                <a:cs typeface="Arial MT"/>
              </a:rPr>
              <a:t> </a:t>
            </a:r>
            <a:r>
              <a:rPr sz="1800" dirty="0">
                <a:latin typeface="Arial MT"/>
                <a:cs typeface="Arial MT"/>
              </a:rPr>
              <a:t>20ns for</a:t>
            </a:r>
            <a:r>
              <a:rPr sz="1800" spc="-15" dirty="0">
                <a:latin typeface="Arial MT"/>
                <a:cs typeface="Arial MT"/>
              </a:rPr>
              <a:t> </a:t>
            </a:r>
            <a:r>
              <a:rPr sz="1800" dirty="0">
                <a:latin typeface="Arial MT"/>
                <a:cs typeface="Arial MT"/>
              </a:rPr>
              <a:t>TLB</a:t>
            </a:r>
            <a:r>
              <a:rPr sz="1800" spc="-35" dirty="0">
                <a:latin typeface="Arial MT"/>
                <a:cs typeface="Arial MT"/>
              </a:rPr>
              <a:t> </a:t>
            </a:r>
            <a:r>
              <a:rPr sz="1800" dirty="0">
                <a:latin typeface="Arial MT"/>
                <a:cs typeface="Arial MT"/>
              </a:rPr>
              <a:t>search, </a:t>
            </a:r>
            <a:r>
              <a:rPr sz="1800" i="1" dirty="0">
                <a:latin typeface="Arial"/>
                <a:cs typeface="Arial"/>
              </a:rPr>
              <a:t>m</a:t>
            </a:r>
            <a:r>
              <a:rPr sz="1800" i="1" spc="470" dirty="0">
                <a:latin typeface="Arial"/>
                <a:cs typeface="Arial"/>
              </a:rPr>
              <a:t> </a:t>
            </a:r>
            <a:r>
              <a:rPr sz="1800" dirty="0">
                <a:latin typeface="Arial MT"/>
                <a:cs typeface="Arial MT"/>
              </a:rPr>
              <a:t>=</a:t>
            </a:r>
            <a:r>
              <a:rPr sz="1800" spc="-10" dirty="0">
                <a:latin typeface="Arial MT"/>
                <a:cs typeface="Arial MT"/>
              </a:rPr>
              <a:t> </a:t>
            </a:r>
            <a:r>
              <a:rPr sz="1800" dirty="0">
                <a:latin typeface="Arial MT"/>
                <a:cs typeface="Arial MT"/>
              </a:rPr>
              <a:t>100ns</a:t>
            </a:r>
            <a:r>
              <a:rPr sz="1800" spc="-10" dirty="0">
                <a:latin typeface="Arial MT"/>
                <a:cs typeface="Arial MT"/>
              </a:rPr>
              <a:t> </a:t>
            </a:r>
            <a:r>
              <a:rPr sz="1800" dirty="0">
                <a:latin typeface="Arial MT"/>
                <a:cs typeface="Arial MT"/>
              </a:rPr>
              <a:t>for</a:t>
            </a:r>
            <a:r>
              <a:rPr sz="1800" spc="-10" dirty="0">
                <a:latin typeface="Arial MT"/>
                <a:cs typeface="Arial MT"/>
              </a:rPr>
              <a:t> </a:t>
            </a:r>
            <a:r>
              <a:rPr sz="1800" dirty="0">
                <a:latin typeface="Arial MT"/>
                <a:cs typeface="Arial MT"/>
              </a:rPr>
              <a:t>memory</a:t>
            </a:r>
            <a:r>
              <a:rPr sz="1800" spc="-15" dirty="0">
                <a:latin typeface="Arial MT"/>
                <a:cs typeface="Arial MT"/>
              </a:rPr>
              <a:t> </a:t>
            </a:r>
            <a:r>
              <a:rPr sz="1800" spc="-10" dirty="0">
                <a:latin typeface="Arial MT"/>
                <a:cs typeface="Arial MT"/>
              </a:rPr>
              <a:t>access</a:t>
            </a:r>
            <a:endParaRPr sz="1800" dirty="0">
              <a:latin typeface="Arial MT"/>
              <a:cs typeface="Arial MT"/>
            </a:endParaRPr>
          </a:p>
          <a:p>
            <a:pPr marL="756285" lvl="1" indent="-286385">
              <a:lnSpc>
                <a:spcPct val="100000"/>
              </a:lnSpc>
              <a:spcBef>
                <a:spcPts val="530"/>
              </a:spcBef>
              <a:buClr>
                <a:srgbClr val="CC6600"/>
              </a:buClr>
              <a:buSzPct val="80555"/>
              <a:buFont typeface="Wingdings"/>
              <a:buChar char=""/>
              <a:tabLst>
                <a:tab pos="756285" algn="l"/>
              </a:tabLst>
            </a:pPr>
            <a:r>
              <a:rPr sz="1800" dirty="0">
                <a:latin typeface="Arial MT"/>
                <a:cs typeface="Arial MT"/>
              </a:rPr>
              <a:t>EAT</a:t>
            </a:r>
            <a:r>
              <a:rPr sz="1800" spc="-20" dirty="0">
                <a:latin typeface="Arial MT"/>
                <a:cs typeface="Arial MT"/>
              </a:rPr>
              <a:t> </a:t>
            </a:r>
            <a:r>
              <a:rPr sz="1800" dirty="0">
                <a:latin typeface="Arial MT"/>
                <a:cs typeface="Arial MT"/>
              </a:rPr>
              <a:t>=</a:t>
            </a:r>
            <a:r>
              <a:rPr sz="1800" spc="-5" dirty="0">
                <a:latin typeface="Arial MT"/>
                <a:cs typeface="Arial MT"/>
              </a:rPr>
              <a:t> </a:t>
            </a:r>
            <a:r>
              <a:rPr sz="1800" dirty="0">
                <a:latin typeface="Arial MT"/>
                <a:cs typeface="Arial MT"/>
              </a:rPr>
              <a:t>0.80</a:t>
            </a:r>
            <a:r>
              <a:rPr sz="1800" spc="10" dirty="0">
                <a:latin typeface="Arial MT"/>
                <a:cs typeface="Arial MT"/>
              </a:rPr>
              <a:t> </a:t>
            </a:r>
            <a:r>
              <a:rPr sz="1800" dirty="0">
                <a:latin typeface="MS PGothic"/>
                <a:cs typeface="MS PGothic"/>
              </a:rPr>
              <a:t>×</a:t>
            </a:r>
            <a:r>
              <a:rPr sz="1800" spc="-65" dirty="0">
                <a:latin typeface="MS PGothic"/>
                <a:cs typeface="MS PGothic"/>
              </a:rPr>
              <a:t> </a:t>
            </a:r>
            <a:r>
              <a:rPr sz="1800" dirty="0">
                <a:latin typeface="Arial MT"/>
                <a:cs typeface="Arial MT"/>
              </a:rPr>
              <a:t>(100 +</a:t>
            </a:r>
            <a:r>
              <a:rPr sz="1800" spc="-5" dirty="0">
                <a:latin typeface="Arial MT"/>
                <a:cs typeface="Arial MT"/>
              </a:rPr>
              <a:t> </a:t>
            </a:r>
            <a:r>
              <a:rPr sz="1800" dirty="0">
                <a:latin typeface="Arial MT"/>
                <a:cs typeface="Arial MT"/>
              </a:rPr>
              <a:t>20) +</a:t>
            </a:r>
            <a:r>
              <a:rPr sz="1800" spc="-10" dirty="0">
                <a:latin typeface="Arial MT"/>
                <a:cs typeface="Arial MT"/>
              </a:rPr>
              <a:t> </a:t>
            </a:r>
            <a:r>
              <a:rPr sz="1800" dirty="0">
                <a:latin typeface="Arial MT"/>
                <a:cs typeface="Arial MT"/>
              </a:rPr>
              <a:t>0.20 </a:t>
            </a:r>
            <a:r>
              <a:rPr sz="1800" dirty="0">
                <a:latin typeface="MS PGothic"/>
                <a:cs typeface="MS PGothic"/>
              </a:rPr>
              <a:t>×</a:t>
            </a:r>
            <a:r>
              <a:rPr sz="1800" spc="-50" dirty="0">
                <a:latin typeface="MS PGothic"/>
                <a:cs typeface="MS PGothic"/>
              </a:rPr>
              <a:t> </a:t>
            </a:r>
            <a:r>
              <a:rPr sz="1800" dirty="0">
                <a:latin typeface="Arial MT"/>
                <a:cs typeface="Arial MT"/>
              </a:rPr>
              <a:t>(200 +</a:t>
            </a:r>
            <a:r>
              <a:rPr sz="1800" spc="-5" dirty="0">
                <a:latin typeface="Arial MT"/>
                <a:cs typeface="Arial MT"/>
              </a:rPr>
              <a:t> </a:t>
            </a:r>
            <a:r>
              <a:rPr sz="1800" dirty="0">
                <a:latin typeface="Arial MT"/>
                <a:cs typeface="Arial MT"/>
              </a:rPr>
              <a:t>20)</a:t>
            </a:r>
            <a:r>
              <a:rPr sz="1800" spc="-5" dirty="0">
                <a:latin typeface="Arial MT"/>
                <a:cs typeface="Arial MT"/>
              </a:rPr>
              <a:t> </a:t>
            </a:r>
            <a:r>
              <a:rPr sz="1800" dirty="0">
                <a:latin typeface="Arial MT"/>
                <a:cs typeface="Arial MT"/>
              </a:rPr>
              <a:t>=</a:t>
            </a:r>
            <a:r>
              <a:rPr sz="1800" spc="-5" dirty="0">
                <a:latin typeface="Arial MT"/>
                <a:cs typeface="Arial MT"/>
              </a:rPr>
              <a:t> </a:t>
            </a:r>
            <a:r>
              <a:rPr sz="1800" dirty="0">
                <a:latin typeface="Arial MT"/>
                <a:cs typeface="Arial MT"/>
              </a:rPr>
              <a:t>140ns</a:t>
            </a:r>
            <a:r>
              <a:rPr sz="1800" spc="-5" dirty="0">
                <a:latin typeface="Arial MT"/>
                <a:cs typeface="Arial MT"/>
              </a:rPr>
              <a:t> </a:t>
            </a:r>
            <a:r>
              <a:rPr sz="1800" dirty="0">
                <a:latin typeface="Arial MT"/>
                <a:cs typeface="Arial MT"/>
              </a:rPr>
              <a:t>(</a:t>
            </a:r>
            <a:r>
              <a:rPr sz="1800" dirty="0">
                <a:solidFill>
                  <a:srgbClr val="FF0000"/>
                </a:solidFill>
                <a:latin typeface="Arial MT"/>
                <a:cs typeface="Arial MT"/>
              </a:rPr>
              <a:t>40% </a:t>
            </a:r>
            <a:r>
              <a:rPr sz="1800" spc="-10" dirty="0">
                <a:solidFill>
                  <a:srgbClr val="FF0000"/>
                </a:solidFill>
                <a:latin typeface="Arial MT"/>
                <a:cs typeface="Arial MT"/>
              </a:rPr>
              <a:t>slowdown</a:t>
            </a:r>
            <a:r>
              <a:rPr sz="1800" spc="-10" dirty="0">
                <a:latin typeface="Arial MT"/>
                <a:cs typeface="Arial MT"/>
              </a:rPr>
              <a:t>)</a:t>
            </a:r>
            <a:endParaRPr sz="1800" dirty="0">
              <a:latin typeface="Arial MT"/>
              <a:cs typeface="Arial MT"/>
            </a:endParaRPr>
          </a:p>
          <a:p>
            <a:pPr marL="355600" marR="153035" indent="-342900">
              <a:lnSpc>
                <a:spcPts val="1939"/>
              </a:lnSpc>
              <a:spcBef>
                <a:spcPts val="1980"/>
              </a:spcBef>
              <a:buClr>
                <a:srgbClr val="993300"/>
              </a:buClr>
              <a:buSzPct val="88888"/>
              <a:buFont typeface="Wingdings"/>
              <a:buChar char=""/>
              <a:tabLst>
                <a:tab pos="355600" algn="l"/>
                <a:tab pos="3839845" algn="l"/>
                <a:tab pos="7548245" algn="l"/>
              </a:tabLst>
            </a:pPr>
            <a:r>
              <a:rPr sz="1800" dirty="0">
                <a:latin typeface="Arial MT"/>
                <a:cs typeface="Arial MT"/>
              </a:rPr>
              <a:t>Consider</a:t>
            </a:r>
            <a:r>
              <a:rPr sz="1800" spc="-10" dirty="0">
                <a:latin typeface="Arial MT"/>
                <a:cs typeface="Arial MT"/>
              </a:rPr>
              <a:t> </a:t>
            </a:r>
            <a:r>
              <a:rPr sz="1800" dirty="0">
                <a:latin typeface="Arial MT"/>
                <a:cs typeface="Arial MT"/>
              </a:rPr>
              <a:t>more</a:t>
            </a:r>
            <a:r>
              <a:rPr sz="1800" spc="-35" dirty="0">
                <a:latin typeface="Arial MT"/>
                <a:cs typeface="Arial MT"/>
              </a:rPr>
              <a:t> </a:t>
            </a:r>
            <a:r>
              <a:rPr sz="1800" dirty="0">
                <a:latin typeface="Arial MT"/>
                <a:cs typeface="Arial MT"/>
              </a:rPr>
              <a:t>realistic</a:t>
            </a:r>
            <a:r>
              <a:rPr sz="1800" spc="-20" dirty="0">
                <a:latin typeface="Arial MT"/>
                <a:cs typeface="Arial MT"/>
              </a:rPr>
              <a:t> </a:t>
            </a:r>
            <a:r>
              <a:rPr sz="1800" dirty="0">
                <a:latin typeface="Arial MT"/>
                <a:cs typeface="Arial MT"/>
              </a:rPr>
              <a:t>hit</a:t>
            </a:r>
            <a:r>
              <a:rPr sz="1800" spc="-25" dirty="0">
                <a:latin typeface="Arial MT"/>
                <a:cs typeface="Arial MT"/>
              </a:rPr>
              <a:t> </a:t>
            </a:r>
            <a:r>
              <a:rPr sz="1800" dirty="0">
                <a:latin typeface="Arial MT"/>
                <a:cs typeface="Arial MT"/>
              </a:rPr>
              <a:t>ratio</a:t>
            </a:r>
            <a:r>
              <a:rPr sz="1800" spc="-25" dirty="0">
                <a:latin typeface="Arial MT"/>
                <a:cs typeface="Arial MT"/>
              </a:rPr>
              <a:t> </a:t>
            </a:r>
            <a:r>
              <a:rPr sz="1900" spc="-50" dirty="0">
                <a:latin typeface="Symbol"/>
                <a:cs typeface="Symbol"/>
              </a:rPr>
              <a:t></a:t>
            </a:r>
            <a:r>
              <a:rPr sz="1900" dirty="0">
                <a:latin typeface="Times New Roman"/>
                <a:cs typeface="Times New Roman"/>
              </a:rPr>
              <a:t>	</a:t>
            </a:r>
            <a:r>
              <a:rPr sz="1800" dirty="0">
                <a:latin typeface="Arial MT"/>
                <a:cs typeface="Arial MT"/>
              </a:rPr>
              <a:t>=</a:t>
            </a:r>
            <a:r>
              <a:rPr sz="1800" spc="-10" dirty="0">
                <a:latin typeface="Arial MT"/>
                <a:cs typeface="Arial MT"/>
              </a:rPr>
              <a:t> </a:t>
            </a:r>
            <a:r>
              <a:rPr sz="1800" dirty="0">
                <a:latin typeface="Arial MT"/>
                <a:cs typeface="Arial MT"/>
              </a:rPr>
              <a:t>99%,</a:t>
            </a:r>
            <a:r>
              <a:rPr sz="1800" spc="-10" dirty="0">
                <a:latin typeface="Arial MT"/>
                <a:cs typeface="Arial MT"/>
              </a:rPr>
              <a:t> </a:t>
            </a:r>
            <a:r>
              <a:rPr sz="1900" dirty="0">
                <a:latin typeface="Symbol"/>
                <a:cs typeface="Symbol"/>
              </a:rPr>
              <a:t></a:t>
            </a:r>
            <a:r>
              <a:rPr sz="1900" spc="495" dirty="0">
                <a:latin typeface="Times New Roman"/>
                <a:cs typeface="Times New Roman"/>
              </a:rPr>
              <a:t> </a:t>
            </a:r>
            <a:r>
              <a:rPr sz="1800" dirty="0">
                <a:latin typeface="Arial MT"/>
                <a:cs typeface="Arial MT"/>
              </a:rPr>
              <a:t>=</a:t>
            </a:r>
            <a:r>
              <a:rPr sz="1800" spc="-10" dirty="0">
                <a:latin typeface="Arial MT"/>
                <a:cs typeface="Arial MT"/>
              </a:rPr>
              <a:t> </a:t>
            </a:r>
            <a:r>
              <a:rPr sz="1800" dirty="0">
                <a:latin typeface="Arial MT"/>
                <a:cs typeface="Arial MT"/>
              </a:rPr>
              <a:t>20ns</a:t>
            </a:r>
            <a:r>
              <a:rPr sz="1800" spc="-5" dirty="0">
                <a:latin typeface="Arial MT"/>
                <a:cs typeface="Arial MT"/>
              </a:rPr>
              <a:t> </a:t>
            </a:r>
            <a:r>
              <a:rPr sz="1800" dirty="0">
                <a:latin typeface="Arial MT"/>
                <a:cs typeface="Arial MT"/>
              </a:rPr>
              <a:t>for</a:t>
            </a:r>
            <a:r>
              <a:rPr sz="1800" spc="-20" dirty="0">
                <a:latin typeface="Arial MT"/>
                <a:cs typeface="Arial MT"/>
              </a:rPr>
              <a:t> </a:t>
            </a:r>
            <a:r>
              <a:rPr sz="1800" dirty="0">
                <a:latin typeface="Arial MT"/>
                <a:cs typeface="Arial MT"/>
              </a:rPr>
              <a:t>TLB</a:t>
            </a:r>
            <a:r>
              <a:rPr sz="1800" spc="-25" dirty="0">
                <a:latin typeface="Arial MT"/>
                <a:cs typeface="Arial MT"/>
              </a:rPr>
              <a:t> </a:t>
            </a:r>
            <a:r>
              <a:rPr sz="1800" dirty="0">
                <a:latin typeface="Arial MT"/>
                <a:cs typeface="Arial MT"/>
              </a:rPr>
              <a:t>search,</a:t>
            </a:r>
            <a:r>
              <a:rPr sz="1800" spc="-5" dirty="0">
                <a:latin typeface="Arial MT"/>
                <a:cs typeface="Arial MT"/>
              </a:rPr>
              <a:t> </a:t>
            </a:r>
            <a:r>
              <a:rPr sz="1800" i="1" spc="-50" dirty="0">
                <a:latin typeface="Arial"/>
                <a:cs typeface="Arial"/>
              </a:rPr>
              <a:t>m</a:t>
            </a:r>
            <a:r>
              <a:rPr sz="1800" i="1" dirty="0">
                <a:latin typeface="Arial"/>
                <a:cs typeface="Arial"/>
              </a:rPr>
              <a:t>	</a:t>
            </a:r>
            <a:r>
              <a:rPr sz="1800" dirty="0">
                <a:latin typeface="Arial MT"/>
                <a:cs typeface="Arial MT"/>
              </a:rPr>
              <a:t>=</a:t>
            </a:r>
            <a:r>
              <a:rPr sz="1800" spc="-10" dirty="0">
                <a:latin typeface="Arial MT"/>
                <a:cs typeface="Arial MT"/>
              </a:rPr>
              <a:t> 100ns </a:t>
            </a:r>
            <a:r>
              <a:rPr sz="1800" dirty="0">
                <a:latin typeface="Arial MT"/>
                <a:cs typeface="Arial MT"/>
              </a:rPr>
              <a:t>for</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spc="-10" dirty="0">
                <a:latin typeface="Arial MT"/>
                <a:cs typeface="Arial MT"/>
              </a:rPr>
              <a:t>access</a:t>
            </a:r>
            <a:endParaRPr sz="1800" dirty="0">
              <a:latin typeface="Arial MT"/>
              <a:cs typeface="Arial MT"/>
            </a:endParaRPr>
          </a:p>
          <a:p>
            <a:pPr marL="756285" lvl="1" indent="-286385">
              <a:lnSpc>
                <a:spcPct val="100000"/>
              </a:lnSpc>
              <a:spcBef>
                <a:spcPts val="1730"/>
              </a:spcBef>
              <a:buClr>
                <a:srgbClr val="CC6600"/>
              </a:buClr>
              <a:buSzPct val="80555"/>
              <a:buFont typeface="Wingdings"/>
              <a:buChar char=""/>
              <a:tabLst>
                <a:tab pos="756285" algn="l"/>
              </a:tabLst>
            </a:pPr>
            <a:r>
              <a:rPr sz="1800" dirty="0">
                <a:latin typeface="Arial MT"/>
                <a:cs typeface="Arial MT"/>
              </a:rPr>
              <a:t>EAT</a:t>
            </a:r>
            <a:r>
              <a:rPr sz="1800" spc="-20" dirty="0">
                <a:latin typeface="Arial MT"/>
                <a:cs typeface="Arial MT"/>
              </a:rPr>
              <a:t> </a:t>
            </a:r>
            <a:r>
              <a:rPr sz="1800" dirty="0">
                <a:latin typeface="Arial MT"/>
                <a:cs typeface="Arial MT"/>
              </a:rPr>
              <a:t>=</a:t>
            </a:r>
            <a:r>
              <a:rPr sz="1800" spc="-5" dirty="0">
                <a:latin typeface="Arial MT"/>
                <a:cs typeface="Arial MT"/>
              </a:rPr>
              <a:t> </a:t>
            </a:r>
            <a:r>
              <a:rPr sz="1800" dirty="0">
                <a:latin typeface="Arial MT"/>
                <a:cs typeface="Arial MT"/>
              </a:rPr>
              <a:t>0.99</a:t>
            </a:r>
            <a:r>
              <a:rPr sz="1800" spc="10" dirty="0">
                <a:latin typeface="Arial MT"/>
                <a:cs typeface="Arial MT"/>
              </a:rPr>
              <a:t> </a:t>
            </a:r>
            <a:r>
              <a:rPr sz="1800" dirty="0">
                <a:latin typeface="MS PGothic"/>
                <a:cs typeface="MS PGothic"/>
              </a:rPr>
              <a:t>×</a:t>
            </a:r>
            <a:r>
              <a:rPr sz="1800" spc="-65" dirty="0">
                <a:latin typeface="MS PGothic"/>
                <a:cs typeface="MS PGothic"/>
              </a:rPr>
              <a:t> </a:t>
            </a:r>
            <a:r>
              <a:rPr sz="1800" dirty="0">
                <a:latin typeface="Arial MT"/>
                <a:cs typeface="Arial MT"/>
              </a:rPr>
              <a:t>(100 +</a:t>
            </a:r>
            <a:r>
              <a:rPr sz="1800" spc="-5" dirty="0">
                <a:latin typeface="Arial MT"/>
                <a:cs typeface="Arial MT"/>
              </a:rPr>
              <a:t> </a:t>
            </a:r>
            <a:r>
              <a:rPr sz="1800" dirty="0">
                <a:latin typeface="Arial MT"/>
                <a:cs typeface="Arial MT"/>
              </a:rPr>
              <a:t>20) +</a:t>
            </a:r>
            <a:r>
              <a:rPr sz="1800" spc="-10" dirty="0">
                <a:latin typeface="Arial MT"/>
                <a:cs typeface="Arial MT"/>
              </a:rPr>
              <a:t> </a:t>
            </a:r>
            <a:r>
              <a:rPr sz="1800" dirty="0">
                <a:latin typeface="Arial MT"/>
                <a:cs typeface="Arial MT"/>
              </a:rPr>
              <a:t>0.01 </a:t>
            </a:r>
            <a:r>
              <a:rPr sz="1800" dirty="0">
                <a:latin typeface="MS PGothic"/>
                <a:cs typeface="MS PGothic"/>
              </a:rPr>
              <a:t>×</a:t>
            </a:r>
            <a:r>
              <a:rPr sz="1800" spc="-50" dirty="0">
                <a:latin typeface="MS PGothic"/>
                <a:cs typeface="MS PGothic"/>
              </a:rPr>
              <a:t> </a:t>
            </a:r>
            <a:r>
              <a:rPr sz="1800" dirty="0">
                <a:latin typeface="Arial MT"/>
                <a:cs typeface="Arial MT"/>
              </a:rPr>
              <a:t>(200 +</a:t>
            </a:r>
            <a:r>
              <a:rPr sz="1800" spc="-5" dirty="0">
                <a:latin typeface="Arial MT"/>
                <a:cs typeface="Arial MT"/>
              </a:rPr>
              <a:t> </a:t>
            </a:r>
            <a:r>
              <a:rPr sz="1800" dirty="0">
                <a:latin typeface="Arial MT"/>
                <a:cs typeface="Arial MT"/>
              </a:rPr>
              <a:t>20)</a:t>
            </a:r>
            <a:r>
              <a:rPr sz="1800" spc="-5" dirty="0">
                <a:latin typeface="Arial MT"/>
                <a:cs typeface="Arial MT"/>
              </a:rPr>
              <a:t> </a:t>
            </a:r>
            <a:r>
              <a:rPr sz="1800" dirty="0">
                <a:latin typeface="Arial MT"/>
                <a:cs typeface="Arial MT"/>
              </a:rPr>
              <a:t>=</a:t>
            </a:r>
            <a:r>
              <a:rPr sz="1800" spc="-5" dirty="0">
                <a:latin typeface="Arial MT"/>
                <a:cs typeface="Arial MT"/>
              </a:rPr>
              <a:t> </a:t>
            </a:r>
            <a:r>
              <a:rPr sz="1800" dirty="0">
                <a:latin typeface="Arial MT"/>
                <a:cs typeface="Arial MT"/>
              </a:rPr>
              <a:t>121ns</a:t>
            </a:r>
            <a:r>
              <a:rPr sz="1800" spc="-5" dirty="0">
                <a:latin typeface="Arial MT"/>
                <a:cs typeface="Arial MT"/>
              </a:rPr>
              <a:t> </a:t>
            </a:r>
            <a:r>
              <a:rPr sz="1800" dirty="0">
                <a:latin typeface="Arial MT"/>
                <a:cs typeface="Arial MT"/>
              </a:rPr>
              <a:t>(</a:t>
            </a:r>
            <a:r>
              <a:rPr sz="1800" dirty="0">
                <a:solidFill>
                  <a:srgbClr val="FF0000"/>
                </a:solidFill>
                <a:latin typeface="Arial MT"/>
                <a:cs typeface="Arial MT"/>
              </a:rPr>
              <a:t>21% </a:t>
            </a:r>
            <a:r>
              <a:rPr sz="1800" spc="-10" dirty="0">
                <a:solidFill>
                  <a:srgbClr val="FF0000"/>
                </a:solidFill>
                <a:latin typeface="Arial MT"/>
                <a:cs typeface="Arial MT"/>
              </a:rPr>
              <a:t>slowdown)</a:t>
            </a:r>
            <a:endParaRPr sz="1800" dirty="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273" rIns="0" bIns="0" rtlCol="0">
            <a:spAutoFit/>
          </a:bodyPr>
          <a:lstStyle/>
          <a:p>
            <a:pPr marL="2675255">
              <a:lnSpc>
                <a:spcPct val="100000"/>
              </a:lnSpc>
              <a:spcBef>
                <a:spcPts val="100"/>
              </a:spcBef>
            </a:pPr>
            <a:r>
              <a:rPr dirty="0">
                <a:solidFill>
                  <a:srgbClr val="006699"/>
                </a:solidFill>
              </a:rPr>
              <a:t>Memory</a:t>
            </a:r>
            <a:r>
              <a:rPr spc="-10" dirty="0">
                <a:solidFill>
                  <a:srgbClr val="006699"/>
                </a:solidFill>
              </a:rPr>
              <a:t> Protection</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42</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84579"/>
            <a:ext cx="8564880" cy="5499100"/>
          </a:xfrm>
          <a:prstGeom prst="rect">
            <a:avLst/>
          </a:prstGeom>
        </p:spPr>
        <p:txBody>
          <a:bodyPr vert="horz" wrap="square" lIns="0" tIns="12700" rIns="0" bIns="0" rtlCol="0">
            <a:spAutoFit/>
          </a:bodyPr>
          <a:lstStyle/>
          <a:p>
            <a:pPr marL="355600" marR="127000" indent="-342900">
              <a:lnSpc>
                <a:spcPct val="100000"/>
              </a:lnSpc>
              <a:spcBef>
                <a:spcPts val="100"/>
              </a:spcBef>
              <a:buClr>
                <a:srgbClr val="993300"/>
              </a:buClr>
              <a:buSzPct val="88888"/>
              <a:buFont typeface="Wingdings"/>
              <a:buChar char=""/>
              <a:tabLst>
                <a:tab pos="355600" algn="l"/>
              </a:tabLst>
            </a:pPr>
            <a:r>
              <a:rPr sz="1800" dirty="0">
                <a:latin typeface="Arial MT"/>
                <a:cs typeface="Arial MT"/>
              </a:rPr>
              <a:t>Memory</a:t>
            </a:r>
            <a:r>
              <a:rPr sz="1800" spc="-50" dirty="0">
                <a:latin typeface="Arial MT"/>
                <a:cs typeface="Arial MT"/>
              </a:rPr>
              <a:t> </a:t>
            </a:r>
            <a:r>
              <a:rPr sz="1800" dirty="0">
                <a:latin typeface="Arial MT"/>
                <a:cs typeface="Arial MT"/>
              </a:rPr>
              <a:t>protection</a:t>
            </a:r>
            <a:r>
              <a:rPr sz="1800" spc="-35" dirty="0">
                <a:latin typeface="Arial MT"/>
                <a:cs typeface="Arial MT"/>
              </a:rPr>
              <a:t> </a:t>
            </a:r>
            <a:r>
              <a:rPr sz="1800" dirty="0">
                <a:latin typeface="Arial MT"/>
                <a:cs typeface="Arial MT"/>
              </a:rPr>
              <a:t>implemented</a:t>
            </a:r>
            <a:r>
              <a:rPr sz="1800" spc="-20" dirty="0">
                <a:latin typeface="Arial MT"/>
                <a:cs typeface="Arial MT"/>
              </a:rPr>
              <a:t> </a:t>
            </a:r>
            <a:r>
              <a:rPr sz="1800" dirty="0">
                <a:latin typeface="Arial MT"/>
                <a:cs typeface="Arial MT"/>
              </a:rPr>
              <a:t>by</a:t>
            </a:r>
            <a:r>
              <a:rPr sz="1800" spc="-45" dirty="0">
                <a:latin typeface="Arial MT"/>
                <a:cs typeface="Arial MT"/>
              </a:rPr>
              <a:t> </a:t>
            </a:r>
            <a:r>
              <a:rPr sz="1800" dirty="0">
                <a:latin typeface="Arial MT"/>
                <a:cs typeface="Arial MT"/>
              </a:rPr>
              <a:t>associating</a:t>
            </a:r>
            <a:r>
              <a:rPr sz="1800" spc="-20" dirty="0">
                <a:latin typeface="Arial MT"/>
                <a:cs typeface="Arial MT"/>
              </a:rPr>
              <a:t> </a:t>
            </a:r>
            <a:r>
              <a:rPr sz="1800" dirty="0">
                <a:latin typeface="Arial MT"/>
                <a:cs typeface="Arial MT"/>
              </a:rPr>
              <a:t>protection</a:t>
            </a:r>
            <a:r>
              <a:rPr sz="1800" spc="-35" dirty="0">
                <a:latin typeface="Arial MT"/>
                <a:cs typeface="Arial MT"/>
              </a:rPr>
              <a:t> </a:t>
            </a:r>
            <a:r>
              <a:rPr sz="1800" dirty="0">
                <a:latin typeface="Arial MT"/>
                <a:cs typeface="Arial MT"/>
              </a:rPr>
              <a:t>bit</a:t>
            </a:r>
            <a:r>
              <a:rPr sz="1800" spc="-35" dirty="0">
                <a:latin typeface="Arial MT"/>
                <a:cs typeface="Arial MT"/>
              </a:rPr>
              <a:t> </a:t>
            </a:r>
            <a:r>
              <a:rPr sz="1800" dirty="0">
                <a:latin typeface="Arial MT"/>
                <a:cs typeface="Arial MT"/>
              </a:rPr>
              <a:t>with</a:t>
            </a:r>
            <a:r>
              <a:rPr sz="1800" spc="-5" dirty="0">
                <a:latin typeface="Arial MT"/>
                <a:cs typeface="Arial MT"/>
              </a:rPr>
              <a:t> </a:t>
            </a:r>
            <a:r>
              <a:rPr sz="1800" dirty="0">
                <a:latin typeface="Arial MT"/>
                <a:cs typeface="Arial MT"/>
              </a:rPr>
              <a:t>each</a:t>
            </a:r>
            <a:r>
              <a:rPr sz="1800" spc="-35" dirty="0">
                <a:latin typeface="Arial MT"/>
                <a:cs typeface="Arial MT"/>
              </a:rPr>
              <a:t> </a:t>
            </a:r>
            <a:r>
              <a:rPr sz="1800" dirty="0">
                <a:latin typeface="Arial MT"/>
                <a:cs typeface="Arial MT"/>
              </a:rPr>
              <a:t>frame</a:t>
            </a:r>
            <a:r>
              <a:rPr sz="1800" spc="-35" dirty="0">
                <a:latin typeface="Arial MT"/>
                <a:cs typeface="Arial MT"/>
              </a:rPr>
              <a:t> </a:t>
            </a:r>
            <a:r>
              <a:rPr sz="1800" spc="-25" dirty="0">
                <a:latin typeface="Arial MT"/>
                <a:cs typeface="Arial MT"/>
              </a:rPr>
              <a:t>to </a:t>
            </a:r>
            <a:r>
              <a:rPr sz="1800" dirty="0">
                <a:latin typeface="Arial MT"/>
                <a:cs typeface="Arial MT"/>
              </a:rPr>
              <a:t>indicate</a:t>
            </a:r>
            <a:r>
              <a:rPr sz="1800" spc="-15" dirty="0">
                <a:latin typeface="Arial MT"/>
                <a:cs typeface="Arial MT"/>
              </a:rPr>
              <a:t> </a:t>
            </a:r>
            <a:r>
              <a:rPr sz="1800" dirty="0">
                <a:latin typeface="Arial MT"/>
                <a:cs typeface="Arial MT"/>
              </a:rPr>
              <a:t>if</a:t>
            </a:r>
            <a:r>
              <a:rPr sz="1800" spc="-20" dirty="0">
                <a:latin typeface="Arial MT"/>
                <a:cs typeface="Arial MT"/>
              </a:rPr>
              <a:t> </a:t>
            </a:r>
            <a:r>
              <a:rPr sz="1800" spc="-10" dirty="0">
                <a:latin typeface="Arial MT"/>
                <a:cs typeface="Arial MT"/>
              </a:rPr>
              <a:t>read-</a:t>
            </a:r>
            <a:r>
              <a:rPr sz="1800" dirty="0">
                <a:latin typeface="Arial MT"/>
                <a:cs typeface="Arial MT"/>
              </a:rPr>
              <a:t>only or</a:t>
            </a:r>
            <a:r>
              <a:rPr sz="1800" spc="-20" dirty="0">
                <a:latin typeface="Arial MT"/>
                <a:cs typeface="Arial MT"/>
              </a:rPr>
              <a:t> </a:t>
            </a:r>
            <a:r>
              <a:rPr sz="1800" spc="-10" dirty="0">
                <a:latin typeface="Arial MT"/>
                <a:cs typeface="Arial MT"/>
              </a:rPr>
              <a:t>read-</a:t>
            </a:r>
            <a:r>
              <a:rPr sz="1800" dirty="0">
                <a:latin typeface="Arial MT"/>
                <a:cs typeface="Arial MT"/>
              </a:rPr>
              <a:t>write</a:t>
            </a:r>
            <a:r>
              <a:rPr sz="1800" spc="25" dirty="0">
                <a:latin typeface="Arial MT"/>
                <a:cs typeface="Arial MT"/>
              </a:rPr>
              <a:t> </a:t>
            </a:r>
            <a:r>
              <a:rPr sz="1800" dirty="0">
                <a:latin typeface="Arial MT"/>
                <a:cs typeface="Arial MT"/>
              </a:rPr>
              <a:t>access</a:t>
            </a:r>
            <a:r>
              <a:rPr sz="1800" spc="-15" dirty="0">
                <a:latin typeface="Arial MT"/>
                <a:cs typeface="Arial MT"/>
              </a:rPr>
              <a:t> </a:t>
            </a:r>
            <a:r>
              <a:rPr sz="1800" dirty="0">
                <a:latin typeface="Arial MT"/>
                <a:cs typeface="Arial MT"/>
              </a:rPr>
              <a:t>is</a:t>
            </a:r>
            <a:r>
              <a:rPr sz="1800" spc="-20" dirty="0">
                <a:latin typeface="Arial MT"/>
                <a:cs typeface="Arial MT"/>
              </a:rPr>
              <a:t> </a:t>
            </a:r>
            <a:r>
              <a:rPr sz="1800" spc="-10" dirty="0">
                <a:latin typeface="Arial MT"/>
                <a:cs typeface="Arial MT"/>
              </a:rPr>
              <a:t>allowed</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dirty="0">
                <a:latin typeface="Arial MT"/>
                <a:cs typeface="Arial MT"/>
              </a:rPr>
              <a:t>Can</a:t>
            </a:r>
            <a:r>
              <a:rPr sz="1800" spc="-30" dirty="0">
                <a:latin typeface="Arial MT"/>
                <a:cs typeface="Arial MT"/>
              </a:rPr>
              <a:t> </a:t>
            </a:r>
            <a:r>
              <a:rPr sz="1800" dirty="0">
                <a:latin typeface="Arial MT"/>
                <a:cs typeface="Arial MT"/>
              </a:rPr>
              <a:t>also</a:t>
            </a:r>
            <a:r>
              <a:rPr sz="1800" spc="-20" dirty="0">
                <a:latin typeface="Arial MT"/>
                <a:cs typeface="Arial MT"/>
              </a:rPr>
              <a:t> </a:t>
            </a:r>
            <a:r>
              <a:rPr sz="1800" dirty="0">
                <a:latin typeface="Arial MT"/>
                <a:cs typeface="Arial MT"/>
              </a:rPr>
              <a:t>add</a:t>
            </a:r>
            <a:r>
              <a:rPr sz="1800" spc="-15" dirty="0">
                <a:latin typeface="Arial MT"/>
                <a:cs typeface="Arial MT"/>
              </a:rPr>
              <a:t> </a:t>
            </a:r>
            <a:r>
              <a:rPr sz="1800" dirty="0">
                <a:latin typeface="Arial MT"/>
                <a:cs typeface="Arial MT"/>
              </a:rPr>
              <a:t>more</a:t>
            </a:r>
            <a:r>
              <a:rPr sz="1800" spc="-30" dirty="0">
                <a:latin typeface="Arial MT"/>
                <a:cs typeface="Arial MT"/>
              </a:rPr>
              <a:t> </a:t>
            </a:r>
            <a:r>
              <a:rPr sz="1800" dirty="0">
                <a:latin typeface="Arial MT"/>
                <a:cs typeface="Arial MT"/>
              </a:rPr>
              <a:t>bits</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indicate</a:t>
            </a:r>
            <a:r>
              <a:rPr sz="1800" spc="-15" dirty="0">
                <a:latin typeface="Arial MT"/>
                <a:cs typeface="Arial MT"/>
              </a:rPr>
              <a:t> </a:t>
            </a:r>
            <a:r>
              <a:rPr sz="1800" dirty="0">
                <a:latin typeface="Arial MT"/>
                <a:cs typeface="Arial MT"/>
              </a:rPr>
              <a:t>frame</a:t>
            </a:r>
            <a:r>
              <a:rPr sz="1800" spc="-20" dirty="0">
                <a:latin typeface="Arial MT"/>
                <a:cs typeface="Arial MT"/>
              </a:rPr>
              <a:t> </a:t>
            </a:r>
            <a:r>
              <a:rPr sz="1800" dirty="0">
                <a:latin typeface="Arial MT"/>
                <a:cs typeface="Arial MT"/>
              </a:rPr>
              <a:t>protection</a:t>
            </a:r>
            <a:r>
              <a:rPr sz="1800" spc="-15" dirty="0">
                <a:latin typeface="Arial MT"/>
                <a:cs typeface="Arial MT"/>
              </a:rPr>
              <a:t> </a:t>
            </a:r>
            <a:r>
              <a:rPr sz="1800" spc="-25" dirty="0">
                <a:latin typeface="Arial MT"/>
                <a:cs typeface="Arial MT"/>
              </a:rPr>
              <a:t>as</a:t>
            </a:r>
            <a:endParaRPr sz="1800">
              <a:latin typeface="Arial MT"/>
              <a:cs typeface="Arial MT"/>
            </a:endParaRPr>
          </a:p>
          <a:p>
            <a:pPr marL="870585">
              <a:lnSpc>
                <a:spcPct val="100000"/>
              </a:lnSpc>
              <a:spcBef>
                <a:spcPts val="755"/>
              </a:spcBef>
            </a:pPr>
            <a:r>
              <a:rPr sz="1350" dirty="0">
                <a:solidFill>
                  <a:srgbClr val="009900"/>
                </a:solidFill>
                <a:latin typeface="Webdings"/>
                <a:cs typeface="Webdings"/>
              </a:rPr>
              <a:t></a:t>
            </a:r>
            <a:r>
              <a:rPr sz="1350" spc="90" dirty="0">
                <a:solidFill>
                  <a:srgbClr val="009900"/>
                </a:solidFill>
                <a:latin typeface="Times New Roman"/>
                <a:cs typeface="Times New Roman"/>
              </a:rPr>
              <a:t> </a:t>
            </a:r>
            <a:r>
              <a:rPr sz="1800" spc="-10" dirty="0">
                <a:solidFill>
                  <a:srgbClr val="FF0000"/>
                </a:solidFill>
                <a:latin typeface="Arial MT"/>
                <a:cs typeface="Arial MT"/>
              </a:rPr>
              <a:t>execute-</a:t>
            </a:r>
            <a:r>
              <a:rPr sz="1800" dirty="0">
                <a:solidFill>
                  <a:srgbClr val="FF0000"/>
                </a:solidFill>
                <a:latin typeface="Arial MT"/>
                <a:cs typeface="Arial MT"/>
              </a:rPr>
              <a:t>only,</a:t>
            </a:r>
            <a:r>
              <a:rPr sz="1800" spc="40" dirty="0">
                <a:solidFill>
                  <a:srgbClr val="FF0000"/>
                </a:solidFill>
                <a:latin typeface="Arial MT"/>
                <a:cs typeface="Arial MT"/>
              </a:rPr>
              <a:t> </a:t>
            </a:r>
            <a:r>
              <a:rPr sz="1800" spc="-10" dirty="0">
                <a:solidFill>
                  <a:srgbClr val="FF0000"/>
                </a:solidFill>
                <a:latin typeface="Arial MT"/>
                <a:cs typeface="Arial MT"/>
              </a:rPr>
              <a:t>read-</a:t>
            </a:r>
            <a:r>
              <a:rPr sz="1800" dirty="0">
                <a:solidFill>
                  <a:srgbClr val="FF0000"/>
                </a:solidFill>
                <a:latin typeface="Arial MT"/>
                <a:cs typeface="Arial MT"/>
              </a:rPr>
              <a:t>write,</a:t>
            </a:r>
            <a:r>
              <a:rPr sz="1800" spc="30" dirty="0">
                <a:solidFill>
                  <a:srgbClr val="FF0000"/>
                </a:solidFill>
                <a:latin typeface="Arial MT"/>
                <a:cs typeface="Arial MT"/>
              </a:rPr>
              <a:t> </a:t>
            </a:r>
            <a:r>
              <a:rPr sz="1800" dirty="0">
                <a:solidFill>
                  <a:srgbClr val="FF0000"/>
                </a:solidFill>
                <a:latin typeface="Arial MT"/>
                <a:cs typeface="Arial MT"/>
              </a:rPr>
              <a:t>or</a:t>
            </a:r>
            <a:r>
              <a:rPr sz="1800" spc="-10" dirty="0">
                <a:solidFill>
                  <a:srgbClr val="FF0000"/>
                </a:solidFill>
                <a:latin typeface="Arial MT"/>
                <a:cs typeface="Arial MT"/>
              </a:rPr>
              <a:t> read-only,</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dirty="0">
                <a:solidFill>
                  <a:srgbClr val="FF0000"/>
                </a:solidFill>
                <a:latin typeface="Arial MT"/>
                <a:cs typeface="Arial MT"/>
              </a:rPr>
              <a:t>Or,</a:t>
            </a:r>
            <a:r>
              <a:rPr sz="1800" spc="-35" dirty="0">
                <a:solidFill>
                  <a:srgbClr val="FF0000"/>
                </a:solidFill>
                <a:latin typeface="Arial MT"/>
                <a:cs typeface="Arial MT"/>
              </a:rPr>
              <a:t> </a:t>
            </a:r>
            <a:r>
              <a:rPr sz="1800" dirty="0">
                <a:solidFill>
                  <a:srgbClr val="FF0000"/>
                </a:solidFill>
                <a:latin typeface="Arial MT"/>
                <a:cs typeface="Arial MT"/>
              </a:rPr>
              <a:t>add</a:t>
            </a:r>
            <a:r>
              <a:rPr sz="1800" spc="-15" dirty="0">
                <a:solidFill>
                  <a:srgbClr val="FF0000"/>
                </a:solidFill>
                <a:latin typeface="Arial MT"/>
                <a:cs typeface="Arial MT"/>
              </a:rPr>
              <a:t> </a:t>
            </a:r>
            <a:r>
              <a:rPr sz="1800" dirty="0">
                <a:solidFill>
                  <a:srgbClr val="FF0000"/>
                </a:solidFill>
                <a:latin typeface="Arial MT"/>
                <a:cs typeface="Arial MT"/>
              </a:rPr>
              <a:t>separate</a:t>
            </a:r>
            <a:r>
              <a:rPr sz="1800" spc="-10" dirty="0">
                <a:solidFill>
                  <a:srgbClr val="FF0000"/>
                </a:solidFill>
                <a:latin typeface="Arial MT"/>
                <a:cs typeface="Arial MT"/>
              </a:rPr>
              <a:t> </a:t>
            </a:r>
            <a:r>
              <a:rPr sz="1800" dirty="0">
                <a:solidFill>
                  <a:srgbClr val="FF0000"/>
                </a:solidFill>
                <a:latin typeface="Arial MT"/>
                <a:cs typeface="Arial MT"/>
              </a:rPr>
              <a:t>protection</a:t>
            </a:r>
            <a:r>
              <a:rPr sz="1800" spc="-15" dirty="0">
                <a:solidFill>
                  <a:srgbClr val="FF0000"/>
                </a:solidFill>
                <a:latin typeface="Arial MT"/>
                <a:cs typeface="Arial MT"/>
              </a:rPr>
              <a:t> </a:t>
            </a:r>
            <a:r>
              <a:rPr sz="1800" dirty="0">
                <a:solidFill>
                  <a:srgbClr val="FF0000"/>
                </a:solidFill>
                <a:latin typeface="Arial MT"/>
                <a:cs typeface="Arial MT"/>
              </a:rPr>
              <a:t>bit</a:t>
            </a:r>
            <a:r>
              <a:rPr sz="1800" spc="-10" dirty="0">
                <a:solidFill>
                  <a:srgbClr val="FF0000"/>
                </a:solidFill>
                <a:latin typeface="Arial MT"/>
                <a:cs typeface="Arial MT"/>
              </a:rPr>
              <a:t> </a:t>
            </a:r>
            <a:r>
              <a:rPr sz="1800" dirty="0">
                <a:solidFill>
                  <a:srgbClr val="FF0000"/>
                </a:solidFill>
                <a:latin typeface="Arial MT"/>
                <a:cs typeface="Arial MT"/>
              </a:rPr>
              <a:t>for</a:t>
            </a:r>
            <a:r>
              <a:rPr sz="1800" spc="-30" dirty="0">
                <a:solidFill>
                  <a:srgbClr val="FF0000"/>
                </a:solidFill>
                <a:latin typeface="Arial MT"/>
                <a:cs typeface="Arial MT"/>
              </a:rPr>
              <a:t> </a:t>
            </a:r>
            <a:r>
              <a:rPr sz="1800" dirty="0">
                <a:solidFill>
                  <a:srgbClr val="FF0000"/>
                </a:solidFill>
                <a:latin typeface="Arial MT"/>
                <a:cs typeface="Arial MT"/>
              </a:rPr>
              <a:t>each</a:t>
            </a:r>
            <a:r>
              <a:rPr sz="1800" spc="-15" dirty="0">
                <a:solidFill>
                  <a:srgbClr val="FF0000"/>
                </a:solidFill>
                <a:latin typeface="Arial MT"/>
                <a:cs typeface="Arial MT"/>
              </a:rPr>
              <a:t> </a:t>
            </a:r>
            <a:r>
              <a:rPr sz="1800" dirty="0">
                <a:solidFill>
                  <a:srgbClr val="FF0000"/>
                </a:solidFill>
                <a:latin typeface="Arial MT"/>
                <a:cs typeface="Arial MT"/>
              </a:rPr>
              <a:t>kind</a:t>
            </a:r>
            <a:r>
              <a:rPr sz="1800" spc="-15" dirty="0">
                <a:solidFill>
                  <a:srgbClr val="FF0000"/>
                </a:solidFill>
                <a:latin typeface="Arial MT"/>
                <a:cs typeface="Arial MT"/>
              </a:rPr>
              <a:t> </a:t>
            </a:r>
            <a:r>
              <a:rPr sz="1800" dirty="0">
                <a:solidFill>
                  <a:srgbClr val="FF0000"/>
                </a:solidFill>
                <a:latin typeface="Arial MT"/>
                <a:cs typeface="Arial MT"/>
              </a:rPr>
              <a:t>of</a:t>
            </a:r>
            <a:r>
              <a:rPr sz="1800" spc="-25" dirty="0">
                <a:solidFill>
                  <a:srgbClr val="FF0000"/>
                </a:solidFill>
                <a:latin typeface="Arial MT"/>
                <a:cs typeface="Arial MT"/>
              </a:rPr>
              <a:t> </a:t>
            </a:r>
            <a:r>
              <a:rPr sz="1800" spc="-10" dirty="0">
                <a:solidFill>
                  <a:srgbClr val="FF0000"/>
                </a:solidFill>
                <a:latin typeface="Arial MT"/>
                <a:cs typeface="Arial MT"/>
              </a:rPr>
              <a:t>access</a:t>
            </a:r>
            <a:endParaRPr sz="1800">
              <a:latin typeface="Arial MT"/>
              <a:cs typeface="Arial MT"/>
            </a:endParaRPr>
          </a:p>
          <a:p>
            <a:pPr marL="354965" indent="-342265">
              <a:lnSpc>
                <a:spcPct val="100000"/>
              </a:lnSpc>
              <a:spcBef>
                <a:spcPts val="2055"/>
              </a:spcBef>
              <a:buClr>
                <a:srgbClr val="993300"/>
              </a:buClr>
              <a:buSzPct val="88888"/>
              <a:buFont typeface="Wingdings"/>
              <a:buChar char=""/>
              <a:tabLst>
                <a:tab pos="354965" algn="l"/>
              </a:tabLst>
            </a:pPr>
            <a:r>
              <a:rPr sz="1800" b="1" spc="-10" dirty="0">
                <a:solidFill>
                  <a:srgbClr val="3366FF"/>
                </a:solidFill>
                <a:latin typeface="Arial"/>
                <a:cs typeface="Arial"/>
              </a:rPr>
              <a:t>Valid-</a:t>
            </a:r>
            <a:r>
              <a:rPr sz="1800" b="1" dirty="0">
                <a:solidFill>
                  <a:srgbClr val="3366FF"/>
                </a:solidFill>
                <a:latin typeface="Arial"/>
                <a:cs typeface="Arial"/>
              </a:rPr>
              <a:t>invalid</a:t>
            </a:r>
            <a:r>
              <a:rPr sz="1800" b="1" spc="5" dirty="0">
                <a:solidFill>
                  <a:srgbClr val="3366FF"/>
                </a:solidFill>
                <a:latin typeface="Arial"/>
                <a:cs typeface="Arial"/>
              </a:rPr>
              <a:t> </a:t>
            </a:r>
            <a:r>
              <a:rPr sz="1800" dirty="0">
                <a:latin typeface="Arial MT"/>
                <a:cs typeface="Arial MT"/>
              </a:rPr>
              <a:t>bit</a:t>
            </a:r>
            <a:r>
              <a:rPr sz="1800" spc="-10" dirty="0">
                <a:latin typeface="Arial MT"/>
                <a:cs typeface="Arial MT"/>
              </a:rPr>
              <a:t> </a:t>
            </a:r>
            <a:r>
              <a:rPr sz="1800" dirty="0">
                <a:latin typeface="Arial MT"/>
                <a:cs typeface="Arial MT"/>
              </a:rPr>
              <a:t>attached</a:t>
            </a:r>
            <a:r>
              <a:rPr sz="1800" spc="-1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entry</a:t>
            </a:r>
            <a:r>
              <a:rPr sz="1800" spc="-10" dirty="0">
                <a:latin typeface="Arial MT"/>
                <a:cs typeface="Arial MT"/>
              </a:rPr>
              <a:t> </a:t>
            </a:r>
            <a:r>
              <a:rPr sz="1800" dirty="0">
                <a:latin typeface="Arial MT"/>
                <a:cs typeface="Arial MT"/>
              </a:rPr>
              <a:t>in</a:t>
            </a:r>
            <a:r>
              <a:rPr sz="1800" spc="-25"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page</a:t>
            </a:r>
            <a:r>
              <a:rPr sz="1800" spc="-10" dirty="0">
                <a:latin typeface="Arial MT"/>
                <a:cs typeface="Arial MT"/>
              </a:rPr>
              <a:t> table:</a:t>
            </a:r>
            <a:endParaRPr sz="1800">
              <a:latin typeface="Arial MT"/>
              <a:cs typeface="Arial MT"/>
            </a:endParaRPr>
          </a:p>
          <a:p>
            <a:pPr>
              <a:lnSpc>
                <a:spcPct val="100000"/>
              </a:lnSpc>
              <a:spcBef>
                <a:spcPts val="75"/>
              </a:spcBef>
              <a:buClr>
                <a:srgbClr val="993300"/>
              </a:buClr>
              <a:buFont typeface="Wingdings"/>
              <a:buChar char=""/>
            </a:pPr>
            <a:endParaRPr sz="1800">
              <a:latin typeface="Arial MT"/>
              <a:cs typeface="Arial MT"/>
            </a:endParaRPr>
          </a:p>
          <a:p>
            <a:pPr marL="756285" marR="5080" lvl="1" indent="-287020">
              <a:lnSpc>
                <a:spcPts val="2150"/>
              </a:lnSpc>
              <a:buClr>
                <a:srgbClr val="CC6600"/>
              </a:buClr>
              <a:buSzPct val="80555"/>
              <a:buFont typeface="Wingdings"/>
              <a:buChar char=""/>
              <a:tabLst>
                <a:tab pos="756285" algn="l"/>
              </a:tabLst>
            </a:pPr>
            <a:r>
              <a:rPr sz="1800" dirty="0">
                <a:latin typeface="MS PGothic"/>
                <a:cs typeface="MS PGothic"/>
              </a:rPr>
              <a:t>“</a:t>
            </a:r>
            <a:r>
              <a:rPr sz="1800" b="1" dirty="0">
                <a:solidFill>
                  <a:srgbClr val="FF0000"/>
                </a:solidFill>
                <a:latin typeface="Arial"/>
                <a:cs typeface="Arial"/>
              </a:rPr>
              <a:t>valid</a:t>
            </a:r>
            <a:r>
              <a:rPr sz="1800" dirty="0">
                <a:latin typeface="MS PGothic"/>
                <a:cs typeface="MS PGothic"/>
              </a:rPr>
              <a:t>”</a:t>
            </a:r>
            <a:r>
              <a:rPr sz="1800" spc="-65" dirty="0">
                <a:latin typeface="MS PGothic"/>
                <a:cs typeface="MS PGothic"/>
              </a:rPr>
              <a:t> </a:t>
            </a:r>
            <a:r>
              <a:rPr sz="1800" dirty="0">
                <a:latin typeface="Arial MT"/>
                <a:cs typeface="Arial MT"/>
              </a:rPr>
              <a:t>indicates that</a:t>
            </a:r>
            <a:r>
              <a:rPr sz="1800" spc="-25"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associated</a:t>
            </a:r>
            <a:r>
              <a:rPr sz="1800" spc="-5" dirty="0">
                <a:latin typeface="Arial MT"/>
                <a:cs typeface="Arial MT"/>
              </a:rPr>
              <a:t> </a:t>
            </a:r>
            <a:r>
              <a:rPr sz="1800" dirty="0">
                <a:latin typeface="Arial MT"/>
                <a:cs typeface="Arial MT"/>
              </a:rPr>
              <a:t>page</a:t>
            </a:r>
            <a:r>
              <a:rPr sz="1800" spc="-2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in</a:t>
            </a:r>
            <a:r>
              <a:rPr sz="1800" spc="-35"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process</a:t>
            </a:r>
            <a:r>
              <a:rPr sz="1800" dirty="0">
                <a:latin typeface="MS PGothic"/>
                <a:cs typeface="MS PGothic"/>
              </a:rPr>
              <a:t>’</a:t>
            </a:r>
            <a:r>
              <a:rPr sz="1800" dirty="0">
                <a:latin typeface="Arial MT"/>
                <a:cs typeface="Arial MT"/>
              </a:rPr>
              <a:t>s</a:t>
            </a:r>
            <a:r>
              <a:rPr sz="1800" spc="-10" dirty="0">
                <a:latin typeface="Arial MT"/>
                <a:cs typeface="Arial MT"/>
              </a:rPr>
              <a:t> </a:t>
            </a:r>
            <a:r>
              <a:rPr sz="1800" dirty="0">
                <a:latin typeface="Arial MT"/>
                <a:cs typeface="Arial MT"/>
              </a:rPr>
              <a:t>logical</a:t>
            </a:r>
            <a:r>
              <a:rPr sz="1800" spc="-15" dirty="0">
                <a:latin typeface="Arial MT"/>
                <a:cs typeface="Arial MT"/>
              </a:rPr>
              <a:t> </a:t>
            </a:r>
            <a:r>
              <a:rPr sz="1800" spc="-10" dirty="0">
                <a:latin typeface="Arial MT"/>
                <a:cs typeface="Arial MT"/>
              </a:rPr>
              <a:t>address </a:t>
            </a:r>
            <a:r>
              <a:rPr sz="1800" dirty="0">
                <a:latin typeface="Arial MT"/>
                <a:cs typeface="Arial MT"/>
              </a:rPr>
              <a:t>space,</a:t>
            </a:r>
            <a:r>
              <a:rPr sz="1800" spc="-15" dirty="0">
                <a:latin typeface="Arial MT"/>
                <a:cs typeface="Arial MT"/>
              </a:rPr>
              <a:t> </a:t>
            </a:r>
            <a:r>
              <a:rPr sz="1800" dirty="0">
                <a:latin typeface="Arial MT"/>
                <a:cs typeface="Arial MT"/>
              </a:rPr>
              <a:t>and</a:t>
            </a:r>
            <a:r>
              <a:rPr sz="1800" spc="-10"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thus</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legal</a:t>
            </a:r>
            <a:r>
              <a:rPr sz="1800" spc="-5" dirty="0">
                <a:latin typeface="Arial MT"/>
                <a:cs typeface="Arial MT"/>
              </a:rPr>
              <a:t> </a:t>
            </a:r>
            <a:r>
              <a:rPr sz="1800" spc="-20" dirty="0">
                <a:latin typeface="Arial MT"/>
                <a:cs typeface="Arial MT"/>
              </a:rPr>
              <a:t>page</a:t>
            </a:r>
            <a:endParaRPr sz="1800">
              <a:latin typeface="Arial MT"/>
              <a:cs typeface="Arial MT"/>
            </a:endParaRPr>
          </a:p>
          <a:p>
            <a:pPr marL="756285" lvl="1" indent="-286385">
              <a:lnSpc>
                <a:spcPct val="100000"/>
              </a:lnSpc>
              <a:spcBef>
                <a:spcPts val="1980"/>
              </a:spcBef>
              <a:buClr>
                <a:srgbClr val="CC6600"/>
              </a:buClr>
              <a:buSzPct val="80555"/>
              <a:buFont typeface="Wingdings"/>
              <a:buChar char=""/>
              <a:tabLst>
                <a:tab pos="756285" algn="l"/>
              </a:tabLst>
            </a:pPr>
            <a:r>
              <a:rPr sz="1800" dirty="0">
                <a:solidFill>
                  <a:srgbClr val="FF0000"/>
                </a:solidFill>
                <a:latin typeface="Arial MT"/>
                <a:cs typeface="Arial MT"/>
              </a:rPr>
              <a:t>OS</a:t>
            </a:r>
            <a:r>
              <a:rPr sz="1800" spc="-30" dirty="0">
                <a:solidFill>
                  <a:srgbClr val="FF0000"/>
                </a:solidFill>
                <a:latin typeface="Arial MT"/>
                <a:cs typeface="Arial MT"/>
              </a:rPr>
              <a:t> </a:t>
            </a:r>
            <a:r>
              <a:rPr sz="1800" dirty="0">
                <a:solidFill>
                  <a:srgbClr val="FF0000"/>
                </a:solidFill>
                <a:latin typeface="Arial MT"/>
                <a:cs typeface="Arial MT"/>
              </a:rPr>
              <a:t>sets</a:t>
            </a:r>
            <a:r>
              <a:rPr sz="1800" spc="-15" dirty="0">
                <a:solidFill>
                  <a:srgbClr val="FF0000"/>
                </a:solidFill>
                <a:latin typeface="Arial MT"/>
                <a:cs typeface="Arial MT"/>
              </a:rPr>
              <a:t> </a:t>
            </a:r>
            <a:r>
              <a:rPr sz="1800" dirty="0">
                <a:solidFill>
                  <a:srgbClr val="FF0000"/>
                </a:solidFill>
                <a:latin typeface="Arial MT"/>
                <a:cs typeface="Arial MT"/>
              </a:rPr>
              <a:t>this</a:t>
            </a:r>
            <a:r>
              <a:rPr sz="1800" spc="-15" dirty="0">
                <a:solidFill>
                  <a:srgbClr val="FF0000"/>
                </a:solidFill>
                <a:latin typeface="Arial MT"/>
                <a:cs typeface="Arial MT"/>
              </a:rPr>
              <a:t> </a:t>
            </a:r>
            <a:r>
              <a:rPr sz="1800" dirty="0">
                <a:solidFill>
                  <a:srgbClr val="FF0000"/>
                </a:solidFill>
                <a:latin typeface="Arial MT"/>
                <a:cs typeface="Arial MT"/>
              </a:rPr>
              <a:t>bit</a:t>
            </a:r>
            <a:r>
              <a:rPr sz="1800" spc="-15" dirty="0">
                <a:solidFill>
                  <a:srgbClr val="FF0000"/>
                </a:solidFill>
                <a:latin typeface="Arial MT"/>
                <a:cs typeface="Arial MT"/>
              </a:rPr>
              <a:t> </a:t>
            </a:r>
            <a:r>
              <a:rPr sz="1800" dirty="0">
                <a:solidFill>
                  <a:srgbClr val="FF0000"/>
                </a:solidFill>
                <a:latin typeface="Arial MT"/>
                <a:cs typeface="Arial MT"/>
              </a:rPr>
              <a:t>for</a:t>
            </a:r>
            <a:r>
              <a:rPr sz="1800" spc="-15" dirty="0">
                <a:solidFill>
                  <a:srgbClr val="FF0000"/>
                </a:solidFill>
                <a:latin typeface="Arial MT"/>
                <a:cs typeface="Arial MT"/>
              </a:rPr>
              <a:t> </a:t>
            </a:r>
            <a:r>
              <a:rPr sz="1800" dirty="0">
                <a:solidFill>
                  <a:srgbClr val="FF0000"/>
                </a:solidFill>
                <a:latin typeface="Arial MT"/>
                <a:cs typeface="Arial MT"/>
              </a:rPr>
              <a:t>each</a:t>
            </a:r>
            <a:r>
              <a:rPr sz="1800" spc="-25" dirty="0">
                <a:solidFill>
                  <a:srgbClr val="FF0000"/>
                </a:solidFill>
                <a:latin typeface="Arial MT"/>
                <a:cs typeface="Arial MT"/>
              </a:rPr>
              <a:t> </a:t>
            </a:r>
            <a:r>
              <a:rPr sz="1800" dirty="0">
                <a:solidFill>
                  <a:srgbClr val="FF0000"/>
                </a:solidFill>
                <a:latin typeface="Arial MT"/>
                <a:cs typeface="Arial MT"/>
              </a:rPr>
              <a:t>for</a:t>
            </a:r>
            <a:r>
              <a:rPr sz="1800" spc="-15"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dirty="0">
                <a:solidFill>
                  <a:srgbClr val="FF0000"/>
                </a:solidFill>
                <a:latin typeface="Arial MT"/>
                <a:cs typeface="Arial MT"/>
              </a:rPr>
              <a:t>allow/disallow</a:t>
            </a:r>
            <a:r>
              <a:rPr sz="1800" spc="25" dirty="0">
                <a:solidFill>
                  <a:srgbClr val="FF0000"/>
                </a:solidFill>
                <a:latin typeface="Arial MT"/>
                <a:cs typeface="Arial MT"/>
              </a:rPr>
              <a:t> </a:t>
            </a:r>
            <a:r>
              <a:rPr sz="1800" dirty="0">
                <a:solidFill>
                  <a:srgbClr val="FF0000"/>
                </a:solidFill>
                <a:latin typeface="Arial MT"/>
                <a:cs typeface="Arial MT"/>
              </a:rPr>
              <a:t>access</a:t>
            </a:r>
            <a:r>
              <a:rPr sz="1800" spc="-15"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dirty="0">
                <a:solidFill>
                  <a:srgbClr val="FF0000"/>
                </a:solidFill>
                <a:latin typeface="Arial MT"/>
                <a:cs typeface="Arial MT"/>
              </a:rPr>
              <a:t>its</a:t>
            </a:r>
            <a:r>
              <a:rPr sz="1800" spc="-15" dirty="0">
                <a:solidFill>
                  <a:srgbClr val="FF0000"/>
                </a:solidFill>
                <a:latin typeface="Arial MT"/>
                <a:cs typeface="Arial MT"/>
              </a:rPr>
              <a:t> </a:t>
            </a:r>
            <a:r>
              <a:rPr sz="1800" spc="-10" dirty="0">
                <a:solidFill>
                  <a:srgbClr val="FF0000"/>
                </a:solidFill>
                <a:latin typeface="Arial MT"/>
                <a:cs typeface="Arial MT"/>
              </a:rPr>
              <a:t>frame</a:t>
            </a:r>
            <a:endParaRPr sz="1800">
              <a:latin typeface="Arial MT"/>
              <a:cs typeface="Arial MT"/>
            </a:endParaRPr>
          </a:p>
          <a:p>
            <a:pPr marL="756285" lvl="1" indent="-286385">
              <a:lnSpc>
                <a:spcPct val="100000"/>
              </a:lnSpc>
              <a:spcBef>
                <a:spcPts val="2065"/>
              </a:spcBef>
              <a:buClr>
                <a:srgbClr val="CC6600"/>
              </a:buClr>
              <a:buSzPct val="80555"/>
              <a:buFont typeface="Wingdings"/>
              <a:buChar char=""/>
              <a:tabLst>
                <a:tab pos="756285" algn="l"/>
              </a:tabLst>
            </a:pPr>
            <a:r>
              <a:rPr sz="1800" dirty="0">
                <a:latin typeface="MS PGothic"/>
                <a:cs typeface="MS PGothic"/>
              </a:rPr>
              <a:t>“</a:t>
            </a:r>
            <a:r>
              <a:rPr sz="1800" b="1" dirty="0">
                <a:solidFill>
                  <a:srgbClr val="FF0000"/>
                </a:solidFill>
                <a:latin typeface="Arial"/>
                <a:cs typeface="Arial"/>
              </a:rPr>
              <a:t>invalid</a:t>
            </a:r>
            <a:r>
              <a:rPr sz="1800" dirty="0">
                <a:latin typeface="MS PGothic"/>
                <a:cs typeface="MS PGothic"/>
              </a:rPr>
              <a:t>”</a:t>
            </a:r>
            <a:r>
              <a:rPr sz="1800" spc="-45" dirty="0">
                <a:latin typeface="MS PGothic"/>
                <a:cs typeface="MS PGothic"/>
              </a:rPr>
              <a:t> </a:t>
            </a:r>
            <a:r>
              <a:rPr sz="1800" dirty="0">
                <a:latin typeface="Arial MT"/>
                <a:cs typeface="Arial MT"/>
              </a:rPr>
              <a:t>indicates</a:t>
            </a:r>
            <a:r>
              <a:rPr sz="1800" spc="-10" dirty="0">
                <a:latin typeface="Arial MT"/>
                <a:cs typeface="Arial MT"/>
              </a:rPr>
              <a:t> </a:t>
            </a:r>
            <a:r>
              <a:rPr sz="1800" dirty="0">
                <a:latin typeface="Arial MT"/>
                <a:cs typeface="Arial MT"/>
              </a:rPr>
              <a:t>that</a:t>
            </a:r>
            <a:r>
              <a:rPr sz="1800" spc="-2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page</a:t>
            </a:r>
            <a:r>
              <a:rPr sz="1800" spc="-15"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not</a:t>
            </a:r>
            <a:r>
              <a:rPr sz="1800" spc="-1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process</a:t>
            </a:r>
            <a:r>
              <a:rPr sz="1800" dirty="0">
                <a:latin typeface="MS PGothic"/>
                <a:cs typeface="MS PGothic"/>
              </a:rPr>
              <a:t>’</a:t>
            </a:r>
            <a:r>
              <a:rPr sz="1800" spc="-60" dirty="0">
                <a:latin typeface="MS PGothic"/>
                <a:cs typeface="MS PGothic"/>
              </a:rPr>
              <a:t> </a:t>
            </a:r>
            <a:r>
              <a:rPr sz="1800" dirty="0">
                <a:latin typeface="Arial MT"/>
                <a:cs typeface="Arial MT"/>
              </a:rPr>
              <a:t>logical</a:t>
            </a:r>
            <a:r>
              <a:rPr sz="1800" spc="-15" dirty="0">
                <a:latin typeface="Arial MT"/>
                <a:cs typeface="Arial MT"/>
              </a:rPr>
              <a:t> </a:t>
            </a:r>
            <a:r>
              <a:rPr sz="1800" dirty="0">
                <a:latin typeface="Arial MT"/>
                <a:cs typeface="Arial MT"/>
              </a:rPr>
              <a:t>address</a:t>
            </a:r>
            <a:r>
              <a:rPr sz="1800" spc="-15" dirty="0">
                <a:latin typeface="Arial MT"/>
                <a:cs typeface="Arial MT"/>
              </a:rPr>
              <a:t> </a:t>
            </a:r>
            <a:r>
              <a:rPr sz="1800" spc="-10" dirty="0">
                <a:latin typeface="Arial MT"/>
                <a:cs typeface="Arial MT"/>
              </a:rPr>
              <a:t>space</a:t>
            </a:r>
            <a:endParaRPr sz="1800">
              <a:latin typeface="Arial MT"/>
              <a:cs typeface="Arial MT"/>
            </a:endParaRPr>
          </a:p>
          <a:p>
            <a:pPr marL="756285" lvl="1" indent="-286385">
              <a:lnSpc>
                <a:spcPct val="100000"/>
              </a:lnSpc>
              <a:spcBef>
                <a:spcPts val="2039"/>
              </a:spcBef>
              <a:buClr>
                <a:srgbClr val="CC6600"/>
              </a:buClr>
              <a:buSzPct val="80555"/>
              <a:buFont typeface="Wingdings"/>
              <a:buChar char=""/>
              <a:tabLst>
                <a:tab pos="756285" algn="l"/>
              </a:tabLst>
            </a:pPr>
            <a:r>
              <a:rPr sz="1800" dirty="0">
                <a:latin typeface="Arial MT"/>
                <a:cs typeface="Arial MT"/>
              </a:rPr>
              <a:t>Or</a:t>
            </a:r>
            <a:r>
              <a:rPr sz="1800" spc="-10" dirty="0">
                <a:latin typeface="Arial MT"/>
                <a:cs typeface="Arial MT"/>
              </a:rPr>
              <a:t> </a:t>
            </a:r>
            <a:r>
              <a:rPr sz="1800" dirty="0">
                <a:latin typeface="Arial MT"/>
                <a:cs typeface="Arial MT"/>
              </a:rPr>
              <a:t>use </a:t>
            </a:r>
            <a:r>
              <a:rPr sz="1800" b="1" spc="-10" dirty="0">
                <a:solidFill>
                  <a:srgbClr val="3366FF"/>
                </a:solidFill>
                <a:latin typeface="Arial"/>
                <a:cs typeface="Arial"/>
              </a:rPr>
              <a:t>page-</a:t>
            </a:r>
            <a:r>
              <a:rPr sz="1800" b="1" dirty="0">
                <a:solidFill>
                  <a:srgbClr val="3366FF"/>
                </a:solidFill>
                <a:latin typeface="Arial"/>
                <a:cs typeface="Arial"/>
              </a:rPr>
              <a:t>table</a:t>
            </a:r>
            <a:r>
              <a:rPr sz="1800" b="1" spc="-15" dirty="0">
                <a:solidFill>
                  <a:srgbClr val="3366FF"/>
                </a:solidFill>
                <a:latin typeface="Arial"/>
                <a:cs typeface="Arial"/>
              </a:rPr>
              <a:t> </a:t>
            </a:r>
            <a:r>
              <a:rPr sz="1800" b="1" dirty="0">
                <a:solidFill>
                  <a:srgbClr val="3366FF"/>
                </a:solidFill>
                <a:latin typeface="Arial"/>
                <a:cs typeface="Arial"/>
              </a:rPr>
              <a:t>length</a:t>
            </a:r>
            <a:r>
              <a:rPr sz="1800" b="1" spc="-10" dirty="0">
                <a:solidFill>
                  <a:srgbClr val="3366FF"/>
                </a:solidFill>
                <a:latin typeface="Arial"/>
                <a:cs typeface="Arial"/>
              </a:rPr>
              <a:t> </a:t>
            </a:r>
            <a:r>
              <a:rPr sz="1800" b="1" dirty="0">
                <a:solidFill>
                  <a:srgbClr val="3366FF"/>
                </a:solidFill>
                <a:latin typeface="Arial"/>
                <a:cs typeface="Arial"/>
              </a:rPr>
              <a:t>register</a:t>
            </a:r>
            <a:r>
              <a:rPr sz="1800" b="1" spc="5" dirty="0">
                <a:solidFill>
                  <a:srgbClr val="3366FF"/>
                </a:solidFill>
                <a:latin typeface="Arial"/>
                <a:cs typeface="Arial"/>
              </a:rPr>
              <a:t> </a:t>
            </a:r>
            <a:r>
              <a:rPr sz="1800" dirty="0">
                <a:latin typeface="Arial MT"/>
                <a:cs typeface="Arial MT"/>
              </a:rPr>
              <a:t>(</a:t>
            </a:r>
            <a:r>
              <a:rPr sz="1800" b="1" dirty="0">
                <a:solidFill>
                  <a:srgbClr val="3366FF"/>
                </a:solidFill>
                <a:latin typeface="Arial"/>
                <a:cs typeface="Arial"/>
              </a:rPr>
              <a:t>PTLR</a:t>
            </a:r>
            <a:r>
              <a:rPr sz="1800" dirty="0">
                <a:latin typeface="Arial MT"/>
                <a:cs typeface="Arial MT"/>
              </a:rPr>
              <a:t>);</a:t>
            </a:r>
            <a:r>
              <a:rPr sz="1800" spc="-15" dirty="0">
                <a:latin typeface="Arial MT"/>
                <a:cs typeface="Arial MT"/>
              </a:rPr>
              <a:t> </a:t>
            </a:r>
            <a:r>
              <a:rPr sz="1800" dirty="0">
                <a:solidFill>
                  <a:srgbClr val="FF0000"/>
                </a:solidFill>
                <a:latin typeface="Arial MT"/>
                <a:cs typeface="Arial MT"/>
              </a:rPr>
              <a:t>see</a:t>
            </a:r>
            <a:r>
              <a:rPr sz="1800" spc="-15" dirty="0">
                <a:solidFill>
                  <a:srgbClr val="FF0000"/>
                </a:solidFill>
                <a:latin typeface="Arial MT"/>
                <a:cs typeface="Arial MT"/>
              </a:rPr>
              <a:t> </a:t>
            </a:r>
            <a:r>
              <a:rPr sz="1800" spc="-10" dirty="0">
                <a:solidFill>
                  <a:srgbClr val="FF0000"/>
                </a:solidFill>
                <a:latin typeface="Arial MT"/>
                <a:cs typeface="Arial MT"/>
              </a:rPr>
              <a:t>Slide-</a:t>
            </a:r>
            <a:r>
              <a:rPr sz="1800" spc="-25" dirty="0">
                <a:solidFill>
                  <a:srgbClr val="FF0000"/>
                </a:solidFill>
                <a:latin typeface="Arial MT"/>
                <a:cs typeface="Arial MT"/>
              </a:rPr>
              <a:t>34</a:t>
            </a:r>
            <a:endParaRPr sz="1800">
              <a:latin typeface="Arial MT"/>
              <a:cs typeface="Arial MT"/>
            </a:endParaRPr>
          </a:p>
          <a:p>
            <a:pPr marL="354965" indent="-342265">
              <a:lnSpc>
                <a:spcPct val="100000"/>
              </a:lnSpc>
              <a:spcBef>
                <a:spcPts val="2055"/>
              </a:spcBef>
              <a:buClr>
                <a:srgbClr val="993300"/>
              </a:buClr>
              <a:buSzPct val="88888"/>
              <a:buFont typeface="Wingdings"/>
              <a:buChar char=""/>
              <a:tabLst>
                <a:tab pos="354965" algn="l"/>
              </a:tabLst>
            </a:pPr>
            <a:r>
              <a:rPr sz="1800" dirty="0">
                <a:latin typeface="Arial MT"/>
                <a:cs typeface="Arial MT"/>
              </a:rPr>
              <a:t>Any</a:t>
            </a:r>
            <a:r>
              <a:rPr sz="1800" spc="-25" dirty="0">
                <a:latin typeface="Arial MT"/>
                <a:cs typeface="Arial MT"/>
              </a:rPr>
              <a:t> </a:t>
            </a:r>
            <a:r>
              <a:rPr sz="1800" dirty="0">
                <a:latin typeface="Arial MT"/>
                <a:cs typeface="Arial MT"/>
              </a:rPr>
              <a:t>violations</a:t>
            </a:r>
            <a:r>
              <a:rPr sz="1800" spc="10" dirty="0">
                <a:latin typeface="Arial MT"/>
                <a:cs typeface="Arial MT"/>
              </a:rPr>
              <a:t> </a:t>
            </a:r>
            <a:r>
              <a:rPr sz="1800" dirty="0">
                <a:latin typeface="Arial MT"/>
                <a:cs typeface="Arial MT"/>
              </a:rPr>
              <a:t>result</a:t>
            </a:r>
            <a:r>
              <a:rPr sz="1800" spc="-15" dirty="0">
                <a:latin typeface="Arial MT"/>
                <a:cs typeface="Arial MT"/>
              </a:rPr>
              <a:t> </a:t>
            </a:r>
            <a:r>
              <a:rPr sz="1800" dirty="0">
                <a:latin typeface="Arial MT"/>
                <a:cs typeface="Arial MT"/>
              </a:rPr>
              <a:t>in</a:t>
            </a:r>
            <a:r>
              <a:rPr sz="1800" spc="-1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trap</a:t>
            </a:r>
            <a:r>
              <a:rPr sz="1800" spc="-25" dirty="0">
                <a:latin typeface="Arial MT"/>
                <a:cs typeface="Arial MT"/>
              </a:rPr>
              <a:t> </a:t>
            </a:r>
            <a:r>
              <a:rPr sz="1800" dirty="0">
                <a:latin typeface="Arial MT"/>
                <a:cs typeface="Arial MT"/>
              </a:rPr>
              <a:t>to</a:t>
            </a:r>
            <a:r>
              <a:rPr sz="1800" spc="-15" dirty="0">
                <a:latin typeface="Arial MT"/>
                <a:cs typeface="Arial MT"/>
              </a:rPr>
              <a:t> </a:t>
            </a:r>
            <a:r>
              <a:rPr sz="1800" dirty="0">
                <a:latin typeface="Arial MT"/>
                <a:cs typeface="Arial MT"/>
              </a:rPr>
              <a:t>the</a:t>
            </a:r>
            <a:r>
              <a:rPr sz="1800" spc="-20" dirty="0">
                <a:latin typeface="Arial MT"/>
                <a:cs typeface="Arial MT"/>
              </a:rPr>
              <a:t> </a:t>
            </a:r>
            <a:r>
              <a:rPr sz="1800" spc="-10" dirty="0">
                <a:latin typeface="Arial MT"/>
                <a:cs typeface="Arial MT"/>
              </a:rPr>
              <a:t>kernel</a:t>
            </a:r>
            <a:endParaRPr sz="1800">
              <a:latin typeface="Arial MT"/>
              <a:cs typeface="Arial M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5737" y="1042987"/>
            <a:ext cx="8772525" cy="5629275"/>
          </a:xfrm>
          <a:prstGeom prst="rect">
            <a:avLst/>
          </a:prstGeom>
        </p:spPr>
      </p:pic>
      <p:sp>
        <p:nvSpPr>
          <p:cNvPr id="3" name="object 3"/>
          <p:cNvSpPr txBox="1">
            <a:spLocks noGrp="1"/>
          </p:cNvSpPr>
          <p:nvPr>
            <p:ph type="title"/>
          </p:nvPr>
        </p:nvSpPr>
        <p:spPr>
          <a:prstGeom prst="rect">
            <a:avLst/>
          </a:prstGeom>
        </p:spPr>
        <p:txBody>
          <a:bodyPr vert="horz" wrap="square" lIns="0" tIns="171196" rIns="0" bIns="0" rtlCol="0">
            <a:spAutoFit/>
          </a:bodyPr>
          <a:lstStyle/>
          <a:p>
            <a:pPr marL="1800225">
              <a:lnSpc>
                <a:spcPct val="100000"/>
              </a:lnSpc>
              <a:spcBef>
                <a:spcPts val="95"/>
              </a:spcBef>
            </a:pPr>
            <a:r>
              <a:rPr sz="2800" dirty="0">
                <a:solidFill>
                  <a:srgbClr val="006699"/>
                </a:solidFill>
              </a:rPr>
              <a:t>Valid</a:t>
            </a:r>
            <a:r>
              <a:rPr sz="2800" spc="-45" dirty="0">
                <a:solidFill>
                  <a:srgbClr val="006699"/>
                </a:solidFill>
              </a:rPr>
              <a:t> </a:t>
            </a:r>
            <a:r>
              <a:rPr sz="2800" dirty="0">
                <a:solidFill>
                  <a:srgbClr val="006699"/>
                </a:solidFill>
              </a:rPr>
              <a:t>(v)</a:t>
            </a:r>
            <a:r>
              <a:rPr sz="2800" spc="-35" dirty="0">
                <a:solidFill>
                  <a:srgbClr val="006699"/>
                </a:solidFill>
              </a:rPr>
              <a:t> </a:t>
            </a:r>
            <a:r>
              <a:rPr sz="2800" dirty="0">
                <a:solidFill>
                  <a:srgbClr val="006699"/>
                </a:solidFill>
              </a:rPr>
              <a:t>or</a:t>
            </a:r>
            <a:r>
              <a:rPr sz="2800" spc="-40" dirty="0">
                <a:solidFill>
                  <a:srgbClr val="006699"/>
                </a:solidFill>
              </a:rPr>
              <a:t> </a:t>
            </a:r>
            <a:r>
              <a:rPr sz="2800" dirty="0">
                <a:solidFill>
                  <a:srgbClr val="006699"/>
                </a:solidFill>
              </a:rPr>
              <a:t>Invalid</a:t>
            </a:r>
            <a:r>
              <a:rPr sz="2800" spc="-45" dirty="0">
                <a:solidFill>
                  <a:srgbClr val="006699"/>
                </a:solidFill>
              </a:rPr>
              <a:t> </a:t>
            </a:r>
            <a:r>
              <a:rPr sz="2800" dirty="0">
                <a:solidFill>
                  <a:srgbClr val="006699"/>
                </a:solidFill>
              </a:rPr>
              <a:t>(i)</a:t>
            </a:r>
            <a:r>
              <a:rPr sz="2800" spc="-45" dirty="0">
                <a:solidFill>
                  <a:srgbClr val="006699"/>
                </a:solidFill>
              </a:rPr>
              <a:t> </a:t>
            </a:r>
            <a:r>
              <a:rPr sz="2800" dirty="0">
                <a:solidFill>
                  <a:srgbClr val="006699"/>
                </a:solidFill>
              </a:rPr>
              <a:t>Bit</a:t>
            </a:r>
            <a:r>
              <a:rPr sz="2800" spc="-30" dirty="0">
                <a:solidFill>
                  <a:srgbClr val="006699"/>
                </a:solidFill>
              </a:rPr>
              <a:t> </a:t>
            </a:r>
            <a:r>
              <a:rPr sz="2800" dirty="0">
                <a:solidFill>
                  <a:srgbClr val="006699"/>
                </a:solidFill>
              </a:rPr>
              <a:t>In</a:t>
            </a:r>
            <a:r>
              <a:rPr sz="2800" spc="-45" dirty="0">
                <a:solidFill>
                  <a:srgbClr val="006699"/>
                </a:solidFill>
              </a:rPr>
              <a:t> </a:t>
            </a:r>
            <a:r>
              <a:rPr sz="2800" dirty="0">
                <a:solidFill>
                  <a:srgbClr val="006699"/>
                </a:solidFill>
              </a:rPr>
              <a:t>A</a:t>
            </a:r>
            <a:r>
              <a:rPr sz="2800" spc="-25" dirty="0">
                <a:solidFill>
                  <a:srgbClr val="006699"/>
                </a:solidFill>
              </a:rPr>
              <a:t> </a:t>
            </a:r>
            <a:r>
              <a:rPr sz="2800" dirty="0">
                <a:solidFill>
                  <a:srgbClr val="006699"/>
                </a:solidFill>
              </a:rPr>
              <a:t>Page</a:t>
            </a:r>
            <a:r>
              <a:rPr sz="2800" spc="-25" dirty="0">
                <a:solidFill>
                  <a:srgbClr val="006699"/>
                </a:solidFill>
              </a:rPr>
              <a:t> </a:t>
            </a:r>
            <a:r>
              <a:rPr sz="2800" spc="-20" dirty="0">
                <a:solidFill>
                  <a:srgbClr val="006699"/>
                </a:solidFill>
              </a:rPr>
              <a:t>Table</a:t>
            </a:r>
            <a:endParaRPr sz="28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43</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104963"/>
            <a:ext cx="8801100" cy="5567299"/>
          </a:xfrm>
          <a:prstGeom prst="rect">
            <a:avLst/>
          </a:prstGeom>
        </p:spPr>
      </p:pic>
      <p:sp>
        <p:nvSpPr>
          <p:cNvPr id="3" name="object 3"/>
          <p:cNvSpPr txBox="1">
            <a:spLocks noGrp="1"/>
          </p:cNvSpPr>
          <p:nvPr>
            <p:ph type="title"/>
          </p:nvPr>
        </p:nvSpPr>
        <p:spPr>
          <a:prstGeom prst="rect">
            <a:avLst/>
          </a:prstGeom>
        </p:spPr>
        <p:txBody>
          <a:bodyPr vert="horz" wrap="square" lIns="0" tIns="168148" rIns="0" bIns="0" rtlCol="0">
            <a:spAutoFit/>
          </a:bodyPr>
          <a:lstStyle/>
          <a:p>
            <a:pPr marL="2545080">
              <a:lnSpc>
                <a:spcPct val="100000"/>
              </a:lnSpc>
              <a:spcBef>
                <a:spcPts val="100"/>
              </a:spcBef>
            </a:pPr>
            <a:r>
              <a:rPr dirty="0">
                <a:solidFill>
                  <a:srgbClr val="006699"/>
                </a:solidFill>
              </a:rPr>
              <a:t>Shared</a:t>
            </a:r>
            <a:r>
              <a:rPr spc="-30" dirty="0">
                <a:solidFill>
                  <a:srgbClr val="006699"/>
                </a:solidFill>
              </a:rPr>
              <a:t> </a:t>
            </a:r>
            <a:r>
              <a:rPr dirty="0">
                <a:solidFill>
                  <a:srgbClr val="006699"/>
                </a:solidFill>
              </a:rPr>
              <a:t>Pages</a:t>
            </a:r>
            <a:r>
              <a:rPr spc="-35" dirty="0">
                <a:solidFill>
                  <a:srgbClr val="006699"/>
                </a:solidFill>
              </a:rPr>
              <a:t> </a:t>
            </a:r>
            <a:r>
              <a:rPr spc="-10" dirty="0">
                <a:solidFill>
                  <a:srgbClr val="006699"/>
                </a:solidFill>
              </a:rPr>
              <a:t>Example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44</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273" rIns="0" bIns="0" rtlCol="0">
            <a:spAutoFit/>
          </a:bodyPr>
          <a:lstStyle/>
          <a:p>
            <a:pPr marL="1940560">
              <a:lnSpc>
                <a:spcPct val="100000"/>
              </a:lnSpc>
              <a:spcBef>
                <a:spcPts val="100"/>
              </a:spcBef>
            </a:pPr>
            <a:r>
              <a:rPr dirty="0">
                <a:solidFill>
                  <a:srgbClr val="006699"/>
                </a:solidFill>
              </a:rPr>
              <a:t>Structure</a:t>
            </a:r>
            <a:r>
              <a:rPr spc="-45" dirty="0">
                <a:solidFill>
                  <a:srgbClr val="006699"/>
                </a:solidFill>
              </a:rPr>
              <a:t> </a:t>
            </a:r>
            <a:r>
              <a:rPr dirty="0">
                <a:solidFill>
                  <a:srgbClr val="006699"/>
                </a:solidFill>
              </a:rPr>
              <a:t>of</a:t>
            </a:r>
            <a:r>
              <a:rPr spc="-15" dirty="0">
                <a:solidFill>
                  <a:srgbClr val="006699"/>
                </a:solidFill>
              </a:rPr>
              <a:t> </a:t>
            </a:r>
            <a:r>
              <a:rPr dirty="0">
                <a:solidFill>
                  <a:srgbClr val="006699"/>
                </a:solidFill>
              </a:rPr>
              <a:t>the</a:t>
            </a:r>
            <a:r>
              <a:rPr spc="-20" dirty="0">
                <a:solidFill>
                  <a:srgbClr val="006699"/>
                </a:solidFill>
              </a:rPr>
              <a:t> </a:t>
            </a:r>
            <a:r>
              <a:rPr dirty="0">
                <a:solidFill>
                  <a:srgbClr val="006699"/>
                </a:solidFill>
              </a:rPr>
              <a:t>Page</a:t>
            </a:r>
            <a:r>
              <a:rPr spc="-15" dirty="0">
                <a:solidFill>
                  <a:srgbClr val="006699"/>
                </a:solidFill>
              </a:rPr>
              <a:t> </a:t>
            </a:r>
            <a:r>
              <a:rPr spc="-10" dirty="0">
                <a:solidFill>
                  <a:srgbClr val="006699"/>
                </a:solidFill>
              </a:rPr>
              <a:t>Table</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45</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197916" y="1055878"/>
            <a:ext cx="8375015" cy="5513070"/>
          </a:xfrm>
          <a:prstGeom prst="rect">
            <a:avLst/>
          </a:prstGeom>
        </p:spPr>
        <p:txBody>
          <a:bodyPr vert="horz" wrap="square" lIns="0" tIns="12700" rIns="0" bIns="0" rtlCol="0">
            <a:spAutoFit/>
          </a:bodyPr>
          <a:lstStyle/>
          <a:p>
            <a:pPr marL="393065" indent="-342265">
              <a:lnSpc>
                <a:spcPct val="100000"/>
              </a:lnSpc>
              <a:spcBef>
                <a:spcPts val="100"/>
              </a:spcBef>
              <a:buClr>
                <a:srgbClr val="993300"/>
              </a:buClr>
              <a:buSzPct val="88888"/>
              <a:buFont typeface="Wingdings"/>
              <a:buChar char=""/>
              <a:tabLst>
                <a:tab pos="393065" algn="l"/>
              </a:tabLst>
            </a:pPr>
            <a:r>
              <a:rPr sz="1800" dirty="0">
                <a:latin typeface="Arial MT"/>
                <a:cs typeface="Arial MT"/>
              </a:rPr>
              <a:t>Memory</a:t>
            </a:r>
            <a:r>
              <a:rPr sz="1800" spc="-25" dirty="0">
                <a:latin typeface="Arial MT"/>
                <a:cs typeface="Arial MT"/>
              </a:rPr>
              <a:t> </a:t>
            </a:r>
            <a:r>
              <a:rPr sz="1800" dirty="0">
                <a:latin typeface="Arial MT"/>
                <a:cs typeface="Arial MT"/>
              </a:rPr>
              <a:t>structures</a:t>
            </a:r>
            <a:r>
              <a:rPr sz="1800" spc="-20" dirty="0">
                <a:latin typeface="Arial MT"/>
                <a:cs typeface="Arial MT"/>
              </a:rPr>
              <a:t> </a:t>
            </a:r>
            <a:r>
              <a:rPr sz="1800" dirty="0">
                <a:latin typeface="Arial MT"/>
                <a:cs typeface="Arial MT"/>
              </a:rPr>
              <a:t>for</a:t>
            </a:r>
            <a:r>
              <a:rPr sz="1800" spc="-20" dirty="0">
                <a:latin typeface="Arial MT"/>
                <a:cs typeface="Arial MT"/>
              </a:rPr>
              <a:t> </a:t>
            </a:r>
            <a:r>
              <a:rPr sz="1800" dirty="0">
                <a:latin typeface="Arial MT"/>
                <a:cs typeface="Arial MT"/>
              </a:rPr>
              <a:t>paging</a:t>
            </a:r>
            <a:r>
              <a:rPr sz="1800" spc="-5" dirty="0">
                <a:latin typeface="Arial MT"/>
                <a:cs typeface="Arial MT"/>
              </a:rPr>
              <a:t> </a:t>
            </a:r>
            <a:r>
              <a:rPr sz="1800" dirty="0">
                <a:latin typeface="Arial MT"/>
                <a:cs typeface="Arial MT"/>
              </a:rPr>
              <a:t>can</a:t>
            </a:r>
            <a:r>
              <a:rPr sz="1800" spc="-30" dirty="0">
                <a:latin typeface="Arial MT"/>
                <a:cs typeface="Arial MT"/>
              </a:rPr>
              <a:t> </a:t>
            </a:r>
            <a:r>
              <a:rPr sz="1800" dirty="0">
                <a:latin typeface="Arial MT"/>
                <a:cs typeface="Arial MT"/>
              </a:rPr>
              <a:t>get</a:t>
            </a:r>
            <a:r>
              <a:rPr sz="1800" spc="-15" dirty="0">
                <a:latin typeface="Arial MT"/>
                <a:cs typeface="Arial MT"/>
              </a:rPr>
              <a:t> </a:t>
            </a:r>
            <a:r>
              <a:rPr sz="1800" dirty="0">
                <a:latin typeface="Arial MT"/>
                <a:cs typeface="Arial MT"/>
              </a:rPr>
              <a:t>huge</a:t>
            </a:r>
            <a:r>
              <a:rPr sz="1800" spc="-20" dirty="0">
                <a:latin typeface="Arial MT"/>
                <a:cs typeface="Arial MT"/>
              </a:rPr>
              <a:t> </a:t>
            </a:r>
            <a:r>
              <a:rPr sz="1800" dirty="0">
                <a:latin typeface="Arial MT"/>
                <a:cs typeface="Arial MT"/>
              </a:rPr>
              <a:t>using</a:t>
            </a:r>
            <a:r>
              <a:rPr sz="1800" spc="-15" dirty="0">
                <a:latin typeface="Arial MT"/>
                <a:cs typeface="Arial MT"/>
              </a:rPr>
              <a:t> </a:t>
            </a:r>
            <a:r>
              <a:rPr sz="1800" spc="-10" dirty="0">
                <a:latin typeface="Arial MT"/>
                <a:cs typeface="Arial MT"/>
              </a:rPr>
              <a:t>straight-</a:t>
            </a:r>
            <a:r>
              <a:rPr sz="1800" dirty="0">
                <a:latin typeface="Arial MT"/>
                <a:cs typeface="Arial MT"/>
              </a:rPr>
              <a:t>forward</a:t>
            </a:r>
            <a:r>
              <a:rPr sz="1800" spc="15" dirty="0">
                <a:latin typeface="Arial MT"/>
                <a:cs typeface="Arial MT"/>
              </a:rPr>
              <a:t> </a:t>
            </a:r>
            <a:r>
              <a:rPr sz="1800" spc="-10" dirty="0">
                <a:latin typeface="Arial MT"/>
                <a:cs typeface="Arial MT"/>
              </a:rPr>
              <a:t>methods</a:t>
            </a:r>
            <a:endParaRPr sz="1800">
              <a:latin typeface="Arial MT"/>
              <a:cs typeface="Arial MT"/>
            </a:endParaRPr>
          </a:p>
          <a:p>
            <a:pPr marL="794385" lvl="1" indent="-286385">
              <a:lnSpc>
                <a:spcPct val="100000"/>
              </a:lnSpc>
              <a:spcBef>
                <a:spcPts val="2050"/>
              </a:spcBef>
              <a:buClr>
                <a:srgbClr val="CC6600"/>
              </a:buClr>
              <a:buSzPct val="80555"/>
              <a:buFont typeface="Wingdings"/>
              <a:buChar char=""/>
              <a:tabLst>
                <a:tab pos="794385" algn="l"/>
              </a:tabLst>
            </a:pPr>
            <a:r>
              <a:rPr sz="1800" dirty="0">
                <a:latin typeface="Arial MT"/>
                <a:cs typeface="Arial MT"/>
              </a:rPr>
              <a:t>Consider a</a:t>
            </a:r>
            <a:r>
              <a:rPr sz="1800" spc="-25" dirty="0">
                <a:latin typeface="Arial MT"/>
                <a:cs typeface="Arial MT"/>
              </a:rPr>
              <a:t> </a:t>
            </a:r>
            <a:r>
              <a:rPr sz="1800" spc="-10" dirty="0">
                <a:latin typeface="Arial MT"/>
                <a:cs typeface="Arial MT"/>
              </a:rPr>
              <a:t>32-</a:t>
            </a:r>
            <a:r>
              <a:rPr sz="1800" dirty="0">
                <a:latin typeface="Arial MT"/>
                <a:cs typeface="Arial MT"/>
              </a:rPr>
              <a:t>bit</a:t>
            </a:r>
            <a:r>
              <a:rPr sz="1800" spc="-15" dirty="0">
                <a:latin typeface="Arial MT"/>
                <a:cs typeface="Arial MT"/>
              </a:rPr>
              <a:t> </a:t>
            </a:r>
            <a:r>
              <a:rPr sz="1800" dirty="0">
                <a:latin typeface="Arial MT"/>
                <a:cs typeface="Arial MT"/>
              </a:rPr>
              <a:t>logical</a:t>
            </a:r>
            <a:r>
              <a:rPr sz="1800" spc="-10" dirty="0">
                <a:latin typeface="Arial MT"/>
                <a:cs typeface="Arial MT"/>
              </a:rPr>
              <a:t> </a:t>
            </a:r>
            <a:r>
              <a:rPr sz="1800" dirty="0">
                <a:latin typeface="Arial MT"/>
                <a:cs typeface="Arial MT"/>
              </a:rPr>
              <a:t>address</a:t>
            </a:r>
            <a:r>
              <a:rPr sz="1800" spc="-15" dirty="0">
                <a:latin typeface="Arial MT"/>
                <a:cs typeface="Arial MT"/>
              </a:rPr>
              <a:t> </a:t>
            </a:r>
            <a:r>
              <a:rPr sz="1800" dirty="0">
                <a:latin typeface="Arial MT"/>
                <a:cs typeface="Arial MT"/>
              </a:rPr>
              <a:t>space</a:t>
            </a:r>
            <a:r>
              <a:rPr sz="1800" spc="-15" dirty="0">
                <a:latin typeface="Arial MT"/>
                <a:cs typeface="Arial MT"/>
              </a:rPr>
              <a:t> </a:t>
            </a:r>
            <a:r>
              <a:rPr sz="1800" dirty="0">
                <a:latin typeface="Arial MT"/>
                <a:cs typeface="Arial MT"/>
              </a:rPr>
              <a:t>as</a:t>
            </a:r>
            <a:r>
              <a:rPr sz="1800" spc="-25" dirty="0">
                <a:latin typeface="Arial MT"/>
                <a:cs typeface="Arial MT"/>
              </a:rPr>
              <a:t> </a:t>
            </a:r>
            <a:r>
              <a:rPr sz="1800" dirty="0">
                <a:latin typeface="Arial MT"/>
                <a:cs typeface="Arial MT"/>
              </a:rPr>
              <a:t>on</a:t>
            </a:r>
            <a:r>
              <a:rPr sz="1800" spc="-20" dirty="0">
                <a:latin typeface="Arial MT"/>
                <a:cs typeface="Arial MT"/>
              </a:rPr>
              <a:t> </a:t>
            </a:r>
            <a:r>
              <a:rPr sz="1800" dirty="0">
                <a:latin typeface="Arial MT"/>
                <a:cs typeface="Arial MT"/>
              </a:rPr>
              <a:t>modern</a:t>
            </a:r>
            <a:r>
              <a:rPr sz="1800" spc="-20" dirty="0">
                <a:latin typeface="Arial MT"/>
                <a:cs typeface="Arial MT"/>
              </a:rPr>
              <a:t> </a:t>
            </a:r>
            <a:r>
              <a:rPr sz="1800" spc="-10" dirty="0">
                <a:latin typeface="Arial MT"/>
                <a:cs typeface="Arial MT"/>
              </a:rPr>
              <a:t>computers</a:t>
            </a:r>
            <a:endParaRPr sz="1800">
              <a:latin typeface="Arial MT"/>
              <a:cs typeface="Arial MT"/>
            </a:endParaRPr>
          </a:p>
          <a:p>
            <a:pPr marL="794385" lvl="1" indent="-286385">
              <a:lnSpc>
                <a:spcPct val="100000"/>
              </a:lnSpc>
              <a:spcBef>
                <a:spcPts val="2055"/>
              </a:spcBef>
              <a:buClr>
                <a:srgbClr val="CC6600"/>
              </a:buClr>
              <a:buSzPct val="80555"/>
              <a:buFont typeface="Wingdings"/>
              <a:buChar char=""/>
              <a:tabLst>
                <a:tab pos="794385" algn="l"/>
              </a:tabLst>
            </a:pPr>
            <a:r>
              <a:rPr sz="1800" dirty="0">
                <a:latin typeface="Arial MT"/>
                <a:cs typeface="Arial MT"/>
              </a:rPr>
              <a:t>Page</a:t>
            </a:r>
            <a:r>
              <a:rPr sz="1800" spc="-5" dirty="0">
                <a:latin typeface="Arial MT"/>
                <a:cs typeface="Arial MT"/>
              </a:rPr>
              <a:t> </a:t>
            </a:r>
            <a:r>
              <a:rPr sz="1800" dirty="0">
                <a:latin typeface="Arial MT"/>
                <a:cs typeface="Arial MT"/>
              </a:rPr>
              <a:t>size</a:t>
            </a:r>
            <a:r>
              <a:rPr sz="1800" spc="-10" dirty="0">
                <a:latin typeface="Arial MT"/>
                <a:cs typeface="Arial MT"/>
              </a:rPr>
              <a:t> </a:t>
            </a:r>
            <a:r>
              <a:rPr sz="1800" dirty="0">
                <a:latin typeface="Arial MT"/>
                <a:cs typeface="Arial MT"/>
              </a:rPr>
              <a:t>of</a:t>
            </a:r>
            <a:r>
              <a:rPr sz="1800" spc="-10" dirty="0">
                <a:latin typeface="Arial MT"/>
                <a:cs typeface="Arial MT"/>
              </a:rPr>
              <a:t> </a:t>
            </a:r>
            <a:r>
              <a:rPr sz="1800" dirty="0">
                <a:latin typeface="Arial MT"/>
                <a:cs typeface="Arial MT"/>
              </a:rPr>
              <a:t>4</a:t>
            </a:r>
            <a:r>
              <a:rPr sz="1800" spc="-5" dirty="0">
                <a:latin typeface="Arial MT"/>
                <a:cs typeface="Arial MT"/>
              </a:rPr>
              <a:t> </a:t>
            </a:r>
            <a:r>
              <a:rPr sz="1800" dirty="0">
                <a:latin typeface="Arial MT"/>
                <a:cs typeface="Arial MT"/>
              </a:rPr>
              <a:t>KB</a:t>
            </a:r>
            <a:r>
              <a:rPr sz="1800" spc="-20" dirty="0">
                <a:latin typeface="Arial MT"/>
                <a:cs typeface="Arial MT"/>
              </a:rPr>
              <a:t> (2</a:t>
            </a:r>
            <a:r>
              <a:rPr sz="1800" spc="-30" baseline="25462" dirty="0">
                <a:latin typeface="Arial MT"/>
                <a:cs typeface="Arial MT"/>
              </a:rPr>
              <a:t>12</a:t>
            </a:r>
            <a:r>
              <a:rPr sz="1800" spc="-20" dirty="0">
                <a:latin typeface="Arial MT"/>
                <a:cs typeface="Arial MT"/>
              </a:rPr>
              <a:t>)</a:t>
            </a:r>
            <a:endParaRPr sz="1800">
              <a:latin typeface="Arial MT"/>
              <a:cs typeface="Arial MT"/>
            </a:endParaRPr>
          </a:p>
          <a:p>
            <a:pPr marL="1136650" lvl="2" indent="-227965">
              <a:lnSpc>
                <a:spcPct val="100000"/>
              </a:lnSpc>
              <a:spcBef>
                <a:spcPts val="755"/>
              </a:spcBef>
              <a:buClr>
                <a:srgbClr val="009900"/>
              </a:buClr>
              <a:buSzPct val="75000"/>
              <a:buFont typeface="Webdings"/>
              <a:buChar char=""/>
              <a:tabLst>
                <a:tab pos="1136650" algn="l"/>
              </a:tabLst>
            </a:pPr>
            <a:r>
              <a:rPr sz="1800" dirty="0">
                <a:latin typeface="Arial MT"/>
                <a:cs typeface="Arial MT"/>
              </a:rPr>
              <a:t>Page</a:t>
            </a:r>
            <a:r>
              <a:rPr sz="1800" spc="-20" dirty="0">
                <a:latin typeface="Arial MT"/>
                <a:cs typeface="Arial MT"/>
              </a:rPr>
              <a:t> </a:t>
            </a:r>
            <a:r>
              <a:rPr sz="1800" dirty="0">
                <a:latin typeface="Arial MT"/>
                <a:cs typeface="Arial MT"/>
              </a:rPr>
              <a:t>table</a:t>
            </a:r>
            <a:r>
              <a:rPr sz="1800" spc="-30" dirty="0">
                <a:latin typeface="Arial MT"/>
                <a:cs typeface="Arial MT"/>
              </a:rPr>
              <a:t> </a:t>
            </a:r>
            <a:r>
              <a:rPr sz="1800" dirty="0">
                <a:latin typeface="Arial MT"/>
                <a:cs typeface="Arial MT"/>
              </a:rPr>
              <a:t>would</a:t>
            </a:r>
            <a:r>
              <a:rPr sz="1800" spc="25" dirty="0">
                <a:latin typeface="Arial MT"/>
                <a:cs typeface="Arial MT"/>
              </a:rPr>
              <a:t> </a:t>
            </a:r>
            <a:r>
              <a:rPr sz="1800" dirty="0">
                <a:latin typeface="Arial MT"/>
                <a:cs typeface="Arial MT"/>
              </a:rPr>
              <a:t>have</a:t>
            </a:r>
            <a:r>
              <a:rPr sz="1800" spc="-20" dirty="0">
                <a:latin typeface="Arial MT"/>
                <a:cs typeface="Arial MT"/>
              </a:rPr>
              <a:t> </a:t>
            </a:r>
            <a:r>
              <a:rPr sz="1800" dirty="0">
                <a:latin typeface="Arial MT"/>
                <a:cs typeface="Arial MT"/>
              </a:rPr>
              <a:t>1</a:t>
            </a:r>
            <a:r>
              <a:rPr sz="1800" spc="-30" dirty="0">
                <a:latin typeface="Arial MT"/>
                <a:cs typeface="Arial MT"/>
              </a:rPr>
              <a:t> </a:t>
            </a:r>
            <a:r>
              <a:rPr sz="1800" dirty="0">
                <a:latin typeface="Arial MT"/>
                <a:cs typeface="Arial MT"/>
              </a:rPr>
              <a:t>million</a:t>
            </a:r>
            <a:r>
              <a:rPr sz="1800" spc="-5" dirty="0">
                <a:latin typeface="Arial MT"/>
                <a:cs typeface="Arial MT"/>
              </a:rPr>
              <a:t> </a:t>
            </a:r>
            <a:r>
              <a:rPr sz="1800" dirty="0">
                <a:latin typeface="Arial MT"/>
                <a:cs typeface="Arial MT"/>
              </a:rPr>
              <a:t>entries</a:t>
            </a:r>
            <a:r>
              <a:rPr sz="1800" spc="-15" dirty="0">
                <a:latin typeface="Arial MT"/>
                <a:cs typeface="Arial MT"/>
              </a:rPr>
              <a:t> </a:t>
            </a:r>
            <a:r>
              <a:rPr sz="1800" dirty="0">
                <a:latin typeface="Arial MT"/>
                <a:cs typeface="Arial MT"/>
              </a:rPr>
              <a:t>(2</a:t>
            </a:r>
            <a:r>
              <a:rPr sz="1800" baseline="25462" dirty="0">
                <a:latin typeface="Arial MT"/>
                <a:cs typeface="Arial MT"/>
              </a:rPr>
              <a:t>32</a:t>
            </a:r>
            <a:r>
              <a:rPr sz="1800" spc="195" baseline="25462" dirty="0">
                <a:latin typeface="Arial MT"/>
                <a:cs typeface="Arial MT"/>
              </a:rPr>
              <a:t> </a:t>
            </a:r>
            <a:r>
              <a:rPr sz="1800" dirty="0">
                <a:latin typeface="Arial MT"/>
                <a:cs typeface="Arial MT"/>
              </a:rPr>
              <a:t>/</a:t>
            </a:r>
            <a:r>
              <a:rPr sz="1800" spc="-20" dirty="0">
                <a:latin typeface="Arial MT"/>
                <a:cs typeface="Arial MT"/>
              </a:rPr>
              <a:t> </a:t>
            </a:r>
            <a:r>
              <a:rPr sz="1800" dirty="0">
                <a:latin typeface="Arial MT"/>
                <a:cs typeface="Arial MT"/>
              </a:rPr>
              <a:t>2</a:t>
            </a:r>
            <a:r>
              <a:rPr sz="1800" baseline="25462" dirty="0">
                <a:latin typeface="Arial MT"/>
                <a:cs typeface="Arial MT"/>
              </a:rPr>
              <a:t>12</a:t>
            </a:r>
            <a:r>
              <a:rPr sz="1800" dirty="0">
                <a:latin typeface="Arial MT"/>
                <a:cs typeface="Arial MT"/>
              </a:rPr>
              <a:t>);</a:t>
            </a:r>
            <a:r>
              <a:rPr sz="1800" spc="-30" dirty="0">
                <a:latin typeface="Arial MT"/>
                <a:cs typeface="Arial MT"/>
              </a:rPr>
              <a:t> </a:t>
            </a:r>
            <a:r>
              <a:rPr sz="1800" dirty="0">
                <a:solidFill>
                  <a:srgbClr val="FF0000"/>
                </a:solidFill>
                <a:latin typeface="Arial MT"/>
                <a:cs typeface="Arial MT"/>
              </a:rPr>
              <a:t>number</a:t>
            </a:r>
            <a:r>
              <a:rPr sz="1800" spc="-10" dirty="0">
                <a:solidFill>
                  <a:srgbClr val="FF0000"/>
                </a:solidFill>
                <a:latin typeface="Arial MT"/>
                <a:cs typeface="Arial MT"/>
              </a:rPr>
              <a:t> </a:t>
            </a:r>
            <a:r>
              <a:rPr sz="1800" dirty="0">
                <a:solidFill>
                  <a:srgbClr val="FF0000"/>
                </a:solidFill>
                <a:latin typeface="Arial MT"/>
                <a:cs typeface="Arial MT"/>
              </a:rPr>
              <a:t>of</a:t>
            </a:r>
            <a:r>
              <a:rPr sz="1800" spc="-30" dirty="0">
                <a:solidFill>
                  <a:srgbClr val="FF0000"/>
                </a:solidFill>
                <a:latin typeface="Arial MT"/>
                <a:cs typeface="Arial MT"/>
              </a:rPr>
              <a:t> </a:t>
            </a:r>
            <a:r>
              <a:rPr sz="1800" spc="-10" dirty="0">
                <a:solidFill>
                  <a:srgbClr val="FF0000"/>
                </a:solidFill>
                <a:latin typeface="Arial MT"/>
                <a:cs typeface="Arial MT"/>
              </a:rPr>
              <a:t>pages</a:t>
            </a:r>
            <a:endParaRPr sz="1800">
              <a:latin typeface="Arial MT"/>
              <a:cs typeface="Arial MT"/>
            </a:endParaRPr>
          </a:p>
          <a:p>
            <a:pPr marL="794385" lvl="1" indent="-286385">
              <a:lnSpc>
                <a:spcPct val="100000"/>
              </a:lnSpc>
              <a:spcBef>
                <a:spcPts val="2055"/>
              </a:spcBef>
              <a:buClr>
                <a:srgbClr val="CC6600"/>
              </a:buClr>
              <a:buSzPct val="80555"/>
              <a:buFont typeface="Wingdings"/>
              <a:buChar char=""/>
              <a:tabLst>
                <a:tab pos="794385" algn="l"/>
              </a:tabLst>
            </a:pPr>
            <a:r>
              <a:rPr sz="1800" dirty="0">
                <a:latin typeface="Arial MT"/>
                <a:cs typeface="Arial MT"/>
              </a:rPr>
              <a:t>If</a:t>
            </a:r>
            <a:r>
              <a:rPr sz="1800" spc="-30" dirty="0">
                <a:latin typeface="Arial MT"/>
                <a:cs typeface="Arial MT"/>
              </a:rPr>
              <a:t> </a:t>
            </a:r>
            <a:r>
              <a:rPr sz="1800" dirty="0">
                <a:latin typeface="Arial MT"/>
                <a:cs typeface="Arial MT"/>
              </a:rPr>
              <a:t>each</a:t>
            </a:r>
            <a:r>
              <a:rPr sz="1800" spc="-5" dirty="0">
                <a:latin typeface="Arial MT"/>
                <a:cs typeface="Arial MT"/>
              </a:rPr>
              <a:t> </a:t>
            </a:r>
            <a:r>
              <a:rPr sz="1800" dirty="0">
                <a:latin typeface="Arial MT"/>
                <a:cs typeface="Arial MT"/>
              </a:rPr>
              <a:t>entry</a:t>
            </a:r>
            <a:r>
              <a:rPr sz="1800" spc="-5"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4</a:t>
            </a:r>
            <a:r>
              <a:rPr sz="1800" spc="-10" dirty="0">
                <a:latin typeface="Arial MT"/>
                <a:cs typeface="Arial MT"/>
              </a:rPr>
              <a:t> bytes</a:t>
            </a:r>
            <a:endParaRPr sz="1800">
              <a:latin typeface="Arial MT"/>
              <a:cs typeface="Arial MT"/>
            </a:endParaRPr>
          </a:p>
          <a:p>
            <a:pPr marL="1137285" marR="106680" lvl="2" indent="-228600">
              <a:lnSpc>
                <a:spcPct val="100000"/>
              </a:lnSpc>
              <a:spcBef>
                <a:spcPts val="755"/>
              </a:spcBef>
              <a:buClr>
                <a:srgbClr val="009900"/>
              </a:buClr>
              <a:buSzPct val="75000"/>
              <a:buFont typeface="Webdings"/>
              <a:buChar char=""/>
              <a:tabLst>
                <a:tab pos="1137285" algn="l"/>
              </a:tabLst>
            </a:pPr>
            <a:r>
              <a:rPr sz="1800" dirty="0">
                <a:solidFill>
                  <a:srgbClr val="FF0000"/>
                </a:solidFill>
                <a:latin typeface="Arial MT"/>
                <a:cs typeface="Arial MT"/>
              </a:rPr>
              <a:t>Then</a:t>
            </a:r>
            <a:r>
              <a:rPr sz="1800" spc="-45" dirty="0">
                <a:solidFill>
                  <a:srgbClr val="FF0000"/>
                </a:solidFill>
                <a:latin typeface="Arial MT"/>
                <a:cs typeface="Arial MT"/>
              </a:rPr>
              <a:t> </a:t>
            </a:r>
            <a:r>
              <a:rPr sz="1800" dirty="0">
                <a:solidFill>
                  <a:srgbClr val="FF0000"/>
                </a:solidFill>
                <a:latin typeface="Arial MT"/>
                <a:cs typeface="Arial MT"/>
              </a:rPr>
              <a:t>each</a:t>
            </a:r>
            <a:r>
              <a:rPr sz="1800" spc="-10" dirty="0">
                <a:solidFill>
                  <a:srgbClr val="FF0000"/>
                </a:solidFill>
                <a:latin typeface="Arial MT"/>
                <a:cs typeface="Arial MT"/>
              </a:rPr>
              <a:t> </a:t>
            </a:r>
            <a:r>
              <a:rPr sz="1800" dirty="0">
                <a:solidFill>
                  <a:srgbClr val="FF0000"/>
                </a:solidFill>
                <a:latin typeface="Arial MT"/>
                <a:cs typeface="Arial MT"/>
              </a:rPr>
              <a:t>process</a:t>
            </a:r>
            <a:r>
              <a:rPr sz="1800" spc="-10" dirty="0">
                <a:solidFill>
                  <a:srgbClr val="FF0000"/>
                </a:solidFill>
                <a:latin typeface="Arial MT"/>
                <a:cs typeface="Arial MT"/>
              </a:rPr>
              <a:t> </a:t>
            </a:r>
            <a:r>
              <a:rPr sz="1800" dirty="0">
                <a:solidFill>
                  <a:srgbClr val="FF0000"/>
                </a:solidFill>
                <a:latin typeface="Arial MT"/>
                <a:cs typeface="Arial MT"/>
              </a:rPr>
              <a:t>may</a:t>
            </a:r>
            <a:r>
              <a:rPr sz="1800" spc="-25" dirty="0">
                <a:solidFill>
                  <a:srgbClr val="FF0000"/>
                </a:solidFill>
                <a:latin typeface="Arial MT"/>
                <a:cs typeface="Arial MT"/>
              </a:rPr>
              <a:t> </a:t>
            </a:r>
            <a:r>
              <a:rPr sz="1800" dirty="0">
                <a:solidFill>
                  <a:srgbClr val="FF0000"/>
                </a:solidFill>
                <a:latin typeface="Arial MT"/>
                <a:cs typeface="Arial MT"/>
              </a:rPr>
              <a:t>need</a:t>
            </a:r>
            <a:r>
              <a:rPr sz="1800" spc="-10" dirty="0">
                <a:solidFill>
                  <a:srgbClr val="FF0000"/>
                </a:solidFill>
                <a:latin typeface="Arial MT"/>
                <a:cs typeface="Arial MT"/>
              </a:rPr>
              <a:t> </a:t>
            </a:r>
            <a:r>
              <a:rPr sz="1800" dirty="0">
                <a:solidFill>
                  <a:srgbClr val="FF0000"/>
                </a:solidFill>
                <a:latin typeface="Arial MT"/>
                <a:cs typeface="Arial MT"/>
              </a:rPr>
              <a:t>up</a:t>
            </a:r>
            <a:r>
              <a:rPr sz="1800" spc="-25" dirty="0">
                <a:solidFill>
                  <a:srgbClr val="FF0000"/>
                </a:solidFill>
                <a:latin typeface="Arial MT"/>
                <a:cs typeface="Arial MT"/>
              </a:rPr>
              <a:t> </a:t>
            </a:r>
            <a:r>
              <a:rPr sz="1800" dirty="0">
                <a:solidFill>
                  <a:srgbClr val="FF0000"/>
                </a:solidFill>
                <a:latin typeface="Arial MT"/>
                <a:cs typeface="Arial MT"/>
              </a:rPr>
              <a:t>to</a:t>
            </a:r>
            <a:r>
              <a:rPr sz="1800" spc="-15" dirty="0">
                <a:solidFill>
                  <a:srgbClr val="FF0000"/>
                </a:solidFill>
                <a:latin typeface="Arial MT"/>
                <a:cs typeface="Arial MT"/>
              </a:rPr>
              <a:t> </a:t>
            </a:r>
            <a:r>
              <a:rPr sz="1800" dirty="0">
                <a:solidFill>
                  <a:srgbClr val="FF0000"/>
                </a:solidFill>
                <a:latin typeface="Arial MT"/>
                <a:cs typeface="Arial MT"/>
              </a:rPr>
              <a:t>4</a:t>
            </a:r>
            <a:r>
              <a:rPr sz="1800" spc="-30" dirty="0">
                <a:solidFill>
                  <a:srgbClr val="FF0000"/>
                </a:solidFill>
                <a:latin typeface="Arial MT"/>
                <a:cs typeface="Arial MT"/>
              </a:rPr>
              <a:t> </a:t>
            </a:r>
            <a:r>
              <a:rPr sz="1800" dirty="0">
                <a:solidFill>
                  <a:srgbClr val="FF0000"/>
                </a:solidFill>
                <a:latin typeface="Arial MT"/>
                <a:cs typeface="Arial MT"/>
              </a:rPr>
              <a:t>MB</a:t>
            </a:r>
            <a:r>
              <a:rPr sz="1800" spc="-15" dirty="0">
                <a:solidFill>
                  <a:srgbClr val="FF0000"/>
                </a:solidFill>
                <a:latin typeface="Arial MT"/>
                <a:cs typeface="Arial MT"/>
              </a:rPr>
              <a:t> </a:t>
            </a:r>
            <a:r>
              <a:rPr sz="1800" dirty="0">
                <a:solidFill>
                  <a:srgbClr val="FF0000"/>
                </a:solidFill>
                <a:latin typeface="Arial MT"/>
                <a:cs typeface="Arial MT"/>
              </a:rPr>
              <a:t>of</a:t>
            </a:r>
            <a:r>
              <a:rPr sz="1800" spc="-10" dirty="0">
                <a:solidFill>
                  <a:srgbClr val="FF0000"/>
                </a:solidFill>
                <a:latin typeface="Arial MT"/>
                <a:cs typeface="Arial MT"/>
              </a:rPr>
              <a:t> </a:t>
            </a:r>
            <a:r>
              <a:rPr sz="1800" dirty="0">
                <a:solidFill>
                  <a:srgbClr val="FF0000"/>
                </a:solidFill>
                <a:latin typeface="Arial MT"/>
                <a:cs typeface="Arial MT"/>
              </a:rPr>
              <a:t>physical</a:t>
            </a:r>
            <a:r>
              <a:rPr sz="1800" spc="10" dirty="0">
                <a:solidFill>
                  <a:srgbClr val="FF0000"/>
                </a:solidFill>
                <a:latin typeface="Arial MT"/>
                <a:cs typeface="Arial MT"/>
              </a:rPr>
              <a:t> </a:t>
            </a:r>
            <a:r>
              <a:rPr sz="1800" dirty="0">
                <a:solidFill>
                  <a:srgbClr val="FF0000"/>
                </a:solidFill>
                <a:latin typeface="Arial MT"/>
                <a:cs typeface="Arial MT"/>
              </a:rPr>
              <a:t>address</a:t>
            </a:r>
            <a:r>
              <a:rPr sz="1800" spc="-5" dirty="0">
                <a:solidFill>
                  <a:srgbClr val="FF0000"/>
                </a:solidFill>
                <a:latin typeface="Arial MT"/>
                <a:cs typeface="Arial MT"/>
              </a:rPr>
              <a:t> </a:t>
            </a:r>
            <a:r>
              <a:rPr sz="1800" dirty="0">
                <a:solidFill>
                  <a:srgbClr val="FF0000"/>
                </a:solidFill>
                <a:latin typeface="Arial MT"/>
                <a:cs typeface="Arial MT"/>
              </a:rPr>
              <a:t>space</a:t>
            </a:r>
            <a:r>
              <a:rPr sz="1800" spc="-10" dirty="0">
                <a:solidFill>
                  <a:srgbClr val="FF0000"/>
                </a:solidFill>
                <a:latin typeface="Arial MT"/>
                <a:cs typeface="Arial MT"/>
              </a:rPr>
              <a:t> </a:t>
            </a:r>
            <a:r>
              <a:rPr sz="1800" spc="-25" dirty="0">
                <a:solidFill>
                  <a:srgbClr val="FF0000"/>
                </a:solidFill>
                <a:latin typeface="Arial MT"/>
                <a:cs typeface="Arial MT"/>
              </a:rPr>
              <a:t>to </a:t>
            </a:r>
            <a:r>
              <a:rPr sz="1800" dirty="0">
                <a:solidFill>
                  <a:srgbClr val="FF0000"/>
                </a:solidFill>
                <a:latin typeface="Arial MT"/>
                <a:cs typeface="Arial MT"/>
              </a:rPr>
              <a:t>store</a:t>
            </a:r>
            <a:r>
              <a:rPr sz="1800" spc="-30" dirty="0">
                <a:solidFill>
                  <a:srgbClr val="FF0000"/>
                </a:solidFill>
                <a:latin typeface="Arial MT"/>
                <a:cs typeface="Arial MT"/>
              </a:rPr>
              <a:t> </a:t>
            </a:r>
            <a:r>
              <a:rPr sz="1800" dirty="0">
                <a:solidFill>
                  <a:srgbClr val="FF0000"/>
                </a:solidFill>
                <a:latin typeface="Arial MT"/>
                <a:cs typeface="Arial MT"/>
              </a:rPr>
              <a:t>its</a:t>
            </a:r>
            <a:r>
              <a:rPr sz="1800" spc="-10" dirty="0">
                <a:solidFill>
                  <a:srgbClr val="FF0000"/>
                </a:solidFill>
                <a:latin typeface="Arial MT"/>
                <a:cs typeface="Arial MT"/>
              </a:rPr>
              <a:t> </a:t>
            </a:r>
            <a:r>
              <a:rPr sz="1800" dirty="0">
                <a:solidFill>
                  <a:srgbClr val="FF0000"/>
                </a:solidFill>
                <a:latin typeface="Arial MT"/>
                <a:cs typeface="Arial MT"/>
              </a:rPr>
              <a:t>page</a:t>
            </a:r>
            <a:r>
              <a:rPr sz="1800" spc="-10" dirty="0">
                <a:solidFill>
                  <a:srgbClr val="FF0000"/>
                </a:solidFill>
                <a:latin typeface="Arial MT"/>
                <a:cs typeface="Arial MT"/>
              </a:rPr>
              <a:t> </a:t>
            </a:r>
            <a:r>
              <a:rPr sz="1800" dirty="0">
                <a:solidFill>
                  <a:srgbClr val="FF0000"/>
                </a:solidFill>
                <a:latin typeface="Arial MT"/>
                <a:cs typeface="Arial MT"/>
              </a:rPr>
              <a:t>table</a:t>
            </a:r>
            <a:r>
              <a:rPr sz="1800" spc="-25" dirty="0">
                <a:solidFill>
                  <a:srgbClr val="FF0000"/>
                </a:solidFill>
                <a:latin typeface="Arial MT"/>
                <a:cs typeface="Arial MT"/>
              </a:rPr>
              <a:t> </a:t>
            </a:r>
            <a:r>
              <a:rPr sz="1800" spc="-20" dirty="0">
                <a:solidFill>
                  <a:srgbClr val="FF0000"/>
                </a:solidFill>
                <a:latin typeface="Arial MT"/>
                <a:cs typeface="Arial MT"/>
              </a:rPr>
              <a:t>alone</a:t>
            </a:r>
            <a:endParaRPr sz="1800">
              <a:latin typeface="Arial MT"/>
              <a:cs typeface="Arial MT"/>
            </a:endParaRPr>
          </a:p>
          <a:p>
            <a:pPr marL="1480185" lvl="3" indent="-228600">
              <a:lnSpc>
                <a:spcPct val="100000"/>
              </a:lnSpc>
              <a:spcBef>
                <a:spcPts val="755"/>
              </a:spcBef>
              <a:buClr>
                <a:srgbClr val="FFCC00"/>
              </a:buClr>
              <a:buSzPct val="75000"/>
              <a:buChar char="–"/>
              <a:tabLst>
                <a:tab pos="1480185" algn="l"/>
              </a:tabLst>
            </a:pPr>
            <a:r>
              <a:rPr sz="1800" dirty="0">
                <a:latin typeface="Arial MT"/>
                <a:cs typeface="Arial MT"/>
              </a:rPr>
              <a:t>Very</a:t>
            </a:r>
            <a:r>
              <a:rPr sz="1800" spc="-15" dirty="0">
                <a:latin typeface="Arial MT"/>
                <a:cs typeface="Arial MT"/>
              </a:rPr>
              <a:t> </a:t>
            </a:r>
            <a:r>
              <a:rPr sz="1800" dirty="0">
                <a:latin typeface="Arial MT"/>
                <a:cs typeface="Arial MT"/>
              </a:rPr>
              <a:t>costly</a:t>
            </a:r>
            <a:r>
              <a:rPr sz="1800" spc="-15"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store</a:t>
            </a:r>
            <a:r>
              <a:rPr sz="1800" spc="-15" dirty="0">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main</a:t>
            </a:r>
            <a:r>
              <a:rPr sz="1800" spc="-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marL="1480185" lvl="3" indent="-228600">
              <a:lnSpc>
                <a:spcPct val="100000"/>
              </a:lnSpc>
              <a:spcBef>
                <a:spcPts val="760"/>
              </a:spcBef>
              <a:buClr>
                <a:srgbClr val="FFCC00"/>
              </a:buClr>
              <a:buSzPct val="75000"/>
              <a:buChar char="–"/>
              <a:tabLst>
                <a:tab pos="1480185" algn="l"/>
              </a:tabLst>
            </a:pPr>
            <a:r>
              <a:rPr sz="1800" dirty="0">
                <a:solidFill>
                  <a:srgbClr val="FF0000"/>
                </a:solidFill>
                <a:latin typeface="Arial MT"/>
                <a:cs typeface="Arial MT"/>
              </a:rPr>
              <a:t>Do</a:t>
            </a:r>
            <a:r>
              <a:rPr sz="1800" spc="-40" dirty="0">
                <a:solidFill>
                  <a:srgbClr val="FF0000"/>
                </a:solidFill>
                <a:latin typeface="Arial MT"/>
                <a:cs typeface="Arial MT"/>
              </a:rPr>
              <a:t> </a:t>
            </a:r>
            <a:r>
              <a:rPr sz="1800" dirty="0">
                <a:solidFill>
                  <a:srgbClr val="FF0000"/>
                </a:solidFill>
                <a:latin typeface="Arial MT"/>
                <a:cs typeface="Arial MT"/>
              </a:rPr>
              <a:t>not</a:t>
            </a:r>
            <a:r>
              <a:rPr sz="1800" spc="-20" dirty="0">
                <a:solidFill>
                  <a:srgbClr val="FF0000"/>
                </a:solidFill>
                <a:latin typeface="Arial MT"/>
                <a:cs typeface="Arial MT"/>
              </a:rPr>
              <a:t> </a:t>
            </a:r>
            <a:r>
              <a:rPr sz="1800" dirty="0">
                <a:solidFill>
                  <a:srgbClr val="FF0000"/>
                </a:solidFill>
                <a:latin typeface="Arial MT"/>
                <a:cs typeface="Arial MT"/>
              </a:rPr>
              <a:t>want</a:t>
            </a:r>
            <a:r>
              <a:rPr sz="1800" spc="25" dirty="0">
                <a:solidFill>
                  <a:srgbClr val="FF0000"/>
                </a:solidFill>
                <a:latin typeface="Arial MT"/>
                <a:cs typeface="Arial MT"/>
              </a:rPr>
              <a:t> </a:t>
            </a:r>
            <a:r>
              <a:rPr sz="1800" dirty="0">
                <a:solidFill>
                  <a:srgbClr val="FF0000"/>
                </a:solidFill>
                <a:latin typeface="Arial MT"/>
                <a:cs typeface="Arial MT"/>
              </a:rPr>
              <a:t>to</a:t>
            </a:r>
            <a:r>
              <a:rPr sz="1800" spc="-40" dirty="0">
                <a:solidFill>
                  <a:srgbClr val="FF0000"/>
                </a:solidFill>
                <a:latin typeface="Arial MT"/>
                <a:cs typeface="Arial MT"/>
              </a:rPr>
              <a:t> </a:t>
            </a:r>
            <a:r>
              <a:rPr sz="1800" dirty="0">
                <a:solidFill>
                  <a:srgbClr val="FF0000"/>
                </a:solidFill>
                <a:latin typeface="Arial MT"/>
                <a:cs typeface="Arial MT"/>
              </a:rPr>
              <a:t>allocate</a:t>
            </a:r>
            <a:r>
              <a:rPr sz="1800" spc="-10" dirty="0">
                <a:solidFill>
                  <a:srgbClr val="FF0000"/>
                </a:solidFill>
                <a:latin typeface="Arial MT"/>
                <a:cs typeface="Arial MT"/>
              </a:rPr>
              <a:t> </a:t>
            </a:r>
            <a:r>
              <a:rPr sz="1800" dirty="0">
                <a:solidFill>
                  <a:srgbClr val="FF0000"/>
                </a:solidFill>
                <a:latin typeface="Arial MT"/>
                <a:cs typeface="Arial MT"/>
              </a:rPr>
              <a:t>the</a:t>
            </a:r>
            <a:r>
              <a:rPr sz="1800" spc="-35" dirty="0">
                <a:solidFill>
                  <a:srgbClr val="FF0000"/>
                </a:solidFill>
                <a:latin typeface="Arial MT"/>
                <a:cs typeface="Arial MT"/>
              </a:rPr>
              <a:t> </a:t>
            </a:r>
            <a:r>
              <a:rPr sz="1800" dirty="0">
                <a:solidFill>
                  <a:srgbClr val="FF0000"/>
                </a:solidFill>
                <a:latin typeface="Arial MT"/>
                <a:cs typeface="Arial MT"/>
              </a:rPr>
              <a:t>page</a:t>
            </a:r>
            <a:r>
              <a:rPr sz="1800" spc="-20" dirty="0">
                <a:solidFill>
                  <a:srgbClr val="FF0000"/>
                </a:solidFill>
                <a:latin typeface="Arial MT"/>
                <a:cs typeface="Arial MT"/>
              </a:rPr>
              <a:t> </a:t>
            </a:r>
            <a:r>
              <a:rPr sz="1800" dirty="0">
                <a:solidFill>
                  <a:srgbClr val="FF0000"/>
                </a:solidFill>
                <a:latin typeface="Arial MT"/>
                <a:cs typeface="Arial MT"/>
              </a:rPr>
              <a:t>table</a:t>
            </a:r>
            <a:r>
              <a:rPr sz="1800" spc="-35" dirty="0">
                <a:solidFill>
                  <a:srgbClr val="FF0000"/>
                </a:solidFill>
                <a:latin typeface="Arial MT"/>
                <a:cs typeface="Arial MT"/>
              </a:rPr>
              <a:t> </a:t>
            </a:r>
            <a:r>
              <a:rPr sz="1800" dirty="0">
                <a:solidFill>
                  <a:srgbClr val="FF0000"/>
                </a:solidFill>
                <a:latin typeface="Arial MT"/>
                <a:cs typeface="Arial MT"/>
              </a:rPr>
              <a:t>contiguously</a:t>
            </a:r>
            <a:r>
              <a:rPr sz="1800" spc="-15"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main</a:t>
            </a:r>
            <a:r>
              <a:rPr sz="1800" spc="-25" dirty="0">
                <a:solidFill>
                  <a:srgbClr val="FF0000"/>
                </a:solidFill>
                <a:latin typeface="Arial MT"/>
                <a:cs typeface="Arial MT"/>
              </a:rPr>
              <a:t> </a:t>
            </a:r>
            <a:r>
              <a:rPr sz="1800" spc="-10" dirty="0">
                <a:solidFill>
                  <a:srgbClr val="FF0000"/>
                </a:solidFill>
                <a:latin typeface="Arial MT"/>
                <a:cs typeface="Arial MT"/>
              </a:rPr>
              <a:t>memory</a:t>
            </a:r>
            <a:endParaRPr sz="1800">
              <a:latin typeface="Arial MT"/>
              <a:cs typeface="Arial MT"/>
            </a:endParaRPr>
          </a:p>
          <a:p>
            <a:pPr lvl="3">
              <a:lnSpc>
                <a:spcPct val="100000"/>
              </a:lnSpc>
              <a:spcBef>
                <a:spcPts val="1605"/>
              </a:spcBef>
              <a:buClr>
                <a:srgbClr val="FFCC00"/>
              </a:buClr>
              <a:buFont typeface="Arial MT"/>
              <a:buChar char="–"/>
            </a:pPr>
            <a:endParaRPr sz="1800">
              <a:latin typeface="Arial MT"/>
              <a:cs typeface="Arial MT"/>
            </a:endParaRPr>
          </a:p>
          <a:p>
            <a:pPr marL="393065" indent="-342265">
              <a:lnSpc>
                <a:spcPct val="100000"/>
              </a:lnSpc>
              <a:buClr>
                <a:srgbClr val="993300"/>
              </a:buClr>
              <a:buSzPct val="88888"/>
              <a:buFont typeface="Wingdings"/>
              <a:buChar char=""/>
              <a:tabLst>
                <a:tab pos="393065" algn="l"/>
              </a:tabLst>
            </a:pPr>
            <a:r>
              <a:rPr sz="1800" b="1" spc="-10" dirty="0">
                <a:solidFill>
                  <a:srgbClr val="FF0000"/>
                </a:solidFill>
                <a:latin typeface="Arial"/>
                <a:cs typeface="Arial"/>
              </a:rPr>
              <a:t>Solutions</a:t>
            </a:r>
            <a:r>
              <a:rPr sz="1800" spc="-10" dirty="0">
                <a:solidFill>
                  <a:srgbClr val="FF0000"/>
                </a:solidFill>
                <a:latin typeface="Arial MT"/>
                <a:cs typeface="Arial MT"/>
              </a:rPr>
              <a:t>:</a:t>
            </a:r>
            <a:endParaRPr sz="1800">
              <a:latin typeface="Arial MT"/>
              <a:cs typeface="Arial MT"/>
            </a:endParaRPr>
          </a:p>
          <a:p>
            <a:pPr marL="794385" lvl="1" indent="-286385">
              <a:lnSpc>
                <a:spcPct val="100000"/>
              </a:lnSpc>
              <a:spcBef>
                <a:spcPts val="755"/>
              </a:spcBef>
              <a:buClr>
                <a:srgbClr val="CC6600"/>
              </a:buClr>
              <a:buSzPct val="80555"/>
              <a:buFont typeface="Wingdings"/>
              <a:buChar char=""/>
              <a:tabLst>
                <a:tab pos="794385" algn="l"/>
              </a:tabLst>
            </a:pPr>
            <a:r>
              <a:rPr sz="1800" dirty="0">
                <a:latin typeface="Arial MT"/>
                <a:cs typeface="Arial MT"/>
              </a:rPr>
              <a:t>Hierarchical</a:t>
            </a:r>
            <a:r>
              <a:rPr sz="1800" spc="-75" dirty="0">
                <a:latin typeface="Arial MT"/>
                <a:cs typeface="Arial MT"/>
              </a:rPr>
              <a:t> </a:t>
            </a:r>
            <a:r>
              <a:rPr sz="1800" spc="-10" dirty="0">
                <a:latin typeface="Arial MT"/>
                <a:cs typeface="Arial MT"/>
              </a:rPr>
              <a:t>Paging</a:t>
            </a:r>
            <a:endParaRPr sz="1800">
              <a:latin typeface="Arial MT"/>
              <a:cs typeface="Arial MT"/>
            </a:endParaRPr>
          </a:p>
          <a:p>
            <a:pPr marL="794385" lvl="1" indent="-286385">
              <a:lnSpc>
                <a:spcPct val="100000"/>
              </a:lnSpc>
              <a:spcBef>
                <a:spcPts val="755"/>
              </a:spcBef>
              <a:buClr>
                <a:srgbClr val="CC6600"/>
              </a:buClr>
              <a:buSzPct val="80555"/>
              <a:buFont typeface="Wingdings"/>
              <a:buChar char=""/>
              <a:tabLst>
                <a:tab pos="794385" algn="l"/>
              </a:tabLst>
            </a:pPr>
            <a:r>
              <a:rPr sz="1800" dirty="0">
                <a:latin typeface="Arial MT"/>
                <a:cs typeface="Arial MT"/>
              </a:rPr>
              <a:t>Hashed</a:t>
            </a:r>
            <a:r>
              <a:rPr sz="1800" spc="-25" dirty="0">
                <a:latin typeface="Arial MT"/>
                <a:cs typeface="Arial MT"/>
              </a:rPr>
              <a:t> </a:t>
            </a:r>
            <a:r>
              <a:rPr sz="1800" dirty="0">
                <a:latin typeface="Arial MT"/>
                <a:cs typeface="Arial MT"/>
              </a:rPr>
              <a:t>Page</a:t>
            </a:r>
            <a:r>
              <a:rPr sz="1800" spc="-20" dirty="0">
                <a:latin typeface="Arial MT"/>
                <a:cs typeface="Arial MT"/>
              </a:rPr>
              <a:t> </a:t>
            </a:r>
            <a:r>
              <a:rPr sz="1800" spc="-10" dirty="0">
                <a:latin typeface="Arial MT"/>
                <a:cs typeface="Arial MT"/>
              </a:rPr>
              <a:t>Tables</a:t>
            </a:r>
            <a:endParaRPr sz="1800">
              <a:latin typeface="Arial MT"/>
              <a:cs typeface="Arial MT"/>
            </a:endParaRPr>
          </a:p>
          <a:p>
            <a:pPr marL="794385" lvl="1" indent="-286385">
              <a:lnSpc>
                <a:spcPct val="100000"/>
              </a:lnSpc>
              <a:spcBef>
                <a:spcPts val="755"/>
              </a:spcBef>
              <a:buClr>
                <a:srgbClr val="CC6600"/>
              </a:buClr>
              <a:buSzPct val="80555"/>
              <a:buFont typeface="Wingdings"/>
              <a:buChar char=""/>
              <a:tabLst>
                <a:tab pos="794385" algn="l"/>
              </a:tabLst>
            </a:pPr>
            <a:r>
              <a:rPr sz="1800" dirty="0">
                <a:latin typeface="Arial MT"/>
                <a:cs typeface="Arial MT"/>
              </a:rPr>
              <a:t>Inverted</a:t>
            </a:r>
            <a:r>
              <a:rPr sz="1800" spc="-40" dirty="0">
                <a:latin typeface="Arial MT"/>
                <a:cs typeface="Arial MT"/>
              </a:rPr>
              <a:t> </a:t>
            </a:r>
            <a:r>
              <a:rPr sz="1800" dirty="0">
                <a:latin typeface="Arial MT"/>
                <a:cs typeface="Arial MT"/>
              </a:rPr>
              <a:t>Page</a:t>
            </a:r>
            <a:r>
              <a:rPr sz="1800" spc="-25" dirty="0">
                <a:latin typeface="Arial MT"/>
                <a:cs typeface="Arial MT"/>
              </a:rPr>
              <a:t> </a:t>
            </a:r>
            <a:r>
              <a:rPr sz="1800" spc="-10" dirty="0">
                <a:latin typeface="Arial MT"/>
                <a:cs typeface="Arial MT"/>
              </a:rPr>
              <a:t>Tables</a:t>
            </a:r>
            <a:endParaRPr sz="1800">
              <a:latin typeface="Arial MT"/>
              <a:cs typeface="Arial M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89230" rIns="0" bIns="0" rtlCol="0">
            <a:spAutoFit/>
          </a:bodyPr>
          <a:lstStyle/>
          <a:p>
            <a:pPr marL="3586479">
              <a:lnSpc>
                <a:spcPct val="100000"/>
              </a:lnSpc>
              <a:spcBef>
                <a:spcPts val="105"/>
              </a:spcBef>
            </a:pPr>
            <a:r>
              <a:rPr spc="-10" dirty="0">
                <a:solidFill>
                  <a:srgbClr val="006699"/>
                </a:solidFill>
              </a:rPr>
              <a:t>Swapping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46</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36016" y="1001014"/>
            <a:ext cx="8609965" cy="5569585"/>
          </a:xfrm>
          <a:prstGeom prst="rect">
            <a:avLst/>
          </a:prstGeom>
        </p:spPr>
        <p:txBody>
          <a:bodyPr vert="horz" wrap="square" lIns="0" tIns="67310" rIns="0" bIns="0" rtlCol="0">
            <a:spAutoFit/>
          </a:bodyPr>
          <a:lstStyle/>
          <a:p>
            <a:pPr marL="355600" marR="346075" indent="-342900">
              <a:lnSpc>
                <a:spcPct val="80000"/>
              </a:lnSpc>
              <a:spcBef>
                <a:spcPts val="530"/>
              </a:spcBef>
              <a:buClr>
                <a:srgbClr val="993300"/>
              </a:buClr>
              <a:buSzPct val="88888"/>
              <a:buFont typeface="Wingdings"/>
              <a:buChar char=""/>
              <a:tabLst>
                <a:tab pos="355600" algn="l"/>
              </a:tabLst>
            </a:pPr>
            <a:r>
              <a:rPr sz="1800" dirty="0">
                <a:latin typeface="Arial MT"/>
                <a:cs typeface="Arial MT"/>
              </a:rPr>
              <a:t>A</a:t>
            </a:r>
            <a:r>
              <a:rPr sz="1800" spc="-20"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can</a:t>
            </a:r>
            <a:r>
              <a:rPr sz="1800" spc="-10" dirty="0">
                <a:latin typeface="Arial MT"/>
                <a:cs typeface="Arial MT"/>
              </a:rPr>
              <a:t> </a:t>
            </a:r>
            <a:r>
              <a:rPr sz="1800" dirty="0">
                <a:latin typeface="Arial MT"/>
                <a:cs typeface="Arial MT"/>
              </a:rPr>
              <a:t>be</a:t>
            </a:r>
            <a:r>
              <a:rPr sz="1800" spc="-25" dirty="0">
                <a:latin typeface="Arial MT"/>
                <a:cs typeface="Arial MT"/>
              </a:rPr>
              <a:t> </a:t>
            </a:r>
            <a:r>
              <a:rPr sz="1800" b="1" dirty="0">
                <a:solidFill>
                  <a:srgbClr val="3366FF"/>
                </a:solidFill>
                <a:latin typeface="Arial"/>
                <a:cs typeface="Arial"/>
              </a:rPr>
              <a:t>swapped</a:t>
            </a:r>
            <a:r>
              <a:rPr sz="1800" b="1" spc="-55" dirty="0">
                <a:solidFill>
                  <a:srgbClr val="3366FF"/>
                </a:solidFill>
                <a:latin typeface="Arial"/>
                <a:cs typeface="Arial"/>
              </a:rPr>
              <a:t> </a:t>
            </a:r>
            <a:r>
              <a:rPr sz="1800" dirty="0">
                <a:latin typeface="Arial MT"/>
                <a:cs typeface="Arial MT"/>
              </a:rPr>
              <a:t>temporarily</a:t>
            </a:r>
            <a:r>
              <a:rPr sz="1800" spc="10" dirty="0">
                <a:latin typeface="Arial MT"/>
                <a:cs typeface="Arial MT"/>
              </a:rPr>
              <a:t> </a:t>
            </a:r>
            <a:r>
              <a:rPr sz="1800" dirty="0">
                <a:latin typeface="Arial MT"/>
                <a:cs typeface="Arial MT"/>
              </a:rPr>
              <a:t>out</a:t>
            </a:r>
            <a:r>
              <a:rPr sz="1800" spc="-10"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memory</a:t>
            </a:r>
            <a:r>
              <a:rPr sz="1800" spc="-5"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a</a:t>
            </a:r>
            <a:r>
              <a:rPr sz="1800" spc="-15" dirty="0">
                <a:latin typeface="Arial MT"/>
                <a:cs typeface="Arial MT"/>
              </a:rPr>
              <a:t> </a:t>
            </a:r>
            <a:r>
              <a:rPr sz="1800" dirty="0">
                <a:solidFill>
                  <a:srgbClr val="FF0000"/>
                </a:solidFill>
                <a:latin typeface="Arial MT"/>
                <a:cs typeface="Arial MT"/>
              </a:rPr>
              <a:t>backing</a:t>
            </a:r>
            <a:r>
              <a:rPr sz="1800" spc="5" dirty="0">
                <a:solidFill>
                  <a:srgbClr val="FF0000"/>
                </a:solidFill>
                <a:latin typeface="Arial MT"/>
                <a:cs typeface="Arial MT"/>
              </a:rPr>
              <a:t> </a:t>
            </a:r>
            <a:r>
              <a:rPr sz="1800" dirty="0">
                <a:solidFill>
                  <a:srgbClr val="FF0000"/>
                </a:solidFill>
                <a:latin typeface="Arial MT"/>
                <a:cs typeface="Arial MT"/>
              </a:rPr>
              <a:t>store</a:t>
            </a:r>
            <a:r>
              <a:rPr sz="1800" dirty="0">
                <a:latin typeface="Arial MT"/>
                <a:cs typeface="Arial MT"/>
              </a:rPr>
              <a:t>,</a:t>
            </a:r>
            <a:r>
              <a:rPr sz="1800" spc="-15" dirty="0">
                <a:latin typeface="Arial MT"/>
                <a:cs typeface="Arial MT"/>
              </a:rPr>
              <a:t> </a:t>
            </a:r>
            <a:r>
              <a:rPr sz="1800" spc="-25" dirty="0">
                <a:latin typeface="Arial MT"/>
                <a:cs typeface="Arial MT"/>
              </a:rPr>
              <a:t>and </a:t>
            </a:r>
            <a:r>
              <a:rPr sz="1800" dirty="0">
                <a:latin typeface="Arial MT"/>
                <a:cs typeface="Arial MT"/>
              </a:rPr>
              <a:t>then</a:t>
            </a:r>
            <a:r>
              <a:rPr sz="1800" spc="-40" dirty="0">
                <a:latin typeface="Arial MT"/>
                <a:cs typeface="Arial MT"/>
              </a:rPr>
              <a:t> </a:t>
            </a:r>
            <a:r>
              <a:rPr sz="1800" dirty="0">
                <a:latin typeface="Arial MT"/>
                <a:cs typeface="Arial MT"/>
              </a:rPr>
              <a:t>brought</a:t>
            </a:r>
            <a:r>
              <a:rPr sz="1800" spc="-10" dirty="0">
                <a:latin typeface="Arial MT"/>
                <a:cs typeface="Arial MT"/>
              </a:rPr>
              <a:t> </a:t>
            </a:r>
            <a:r>
              <a:rPr sz="1800" dirty="0">
                <a:latin typeface="Arial MT"/>
                <a:cs typeface="Arial MT"/>
              </a:rPr>
              <a:t>back</a:t>
            </a:r>
            <a:r>
              <a:rPr sz="1800" spc="-20" dirty="0">
                <a:latin typeface="Arial MT"/>
                <a:cs typeface="Arial MT"/>
              </a:rPr>
              <a:t> </a:t>
            </a:r>
            <a:r>
              <a:rPr sz="1800" dirty="0">
                <a:latin typeface="Arial MT"/>
                <a:cs typeface="Arial MT"/>
              </a:rPr>
              <a:t>into</a:t>
            </a:r>
            <a:r>
              <a:rPr sz="1800" spc="-25"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continued</a:t>
            </a:r>
            <a:r>
              <a:rPr sz="1800" spc="-10" dirty="0">
                <a:latin typeface="Arial MT"/>
                <a:cs typeface="Arial MT"/>
              </a:rPr>
              <a:t> execution</a:t>
            </a:r>
            <a:endParaRPr sz="1800">
              <a:latin typeface="Arial MT"/>
              <a:cs typeface="Arial MT"/>
            </a:endParaRPr>
          </a:p>
          <a:p>
            <a:pPr marL="756285" lvl="1" indent="-286385">
              <a:lnSpc>
                <a:spcPct val="100000"/>
              </a:lnSpc>
              <a:spcBef>
                <a:spcPts val="1430"/>
              </a:spcBef>
              <a:buClr>
                <a:srgbClr val="CC6600"/>
              </a:buClr>
              <a:buSzPct val="80555"/>
              <a:buFont typeface="Wingdings"/>
              <a:buChar char=""/>
              <a:tabLst>
                <a:tab pos="756285" algn="l"/>
              </a:tabLst>
            </a:pPr>
            <a:r>
              <a:rPr sz="1800" dirty="0">
                <a:latin typeface="Arial MT"/>
                <a:cs typeface="Arial MT"/>
              </a:rPr>
              <a:t>Total</a:t>
            </a:r>
            <a:r>
              <a:rPr sz="1800" spc="-55" dirty="0">
                <a:latin typeface="Arial MT"/>
                <a:cs typeface="Arial MT"/>
              </a:rPr>
              <a:t> </a:t>
            </a:r>
            <a:r>
              <a:rPr sz="1800" dirty="0">
                <a:latin typeface="Arial MT"/>
                <a:cs typeface="Arial MT"/>
              </a:rPr>
              <a:t>physical</a:t>
            </a:r>
            <a:r>
              <a:rPr sz="1800" spc="-5"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space</a:t>
            </a:r>
            <a:r>
              <a:rPr sz="1800" spc="-35"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processes</a:t>
            </a:r>
            <a:r>
              <a:rPr sz="1800" spc="-30" dirty="0">
                <a:latin typeface="Arial MT"/>
                <a:cs typeface="Arial MT"/>
              </a:rPr>
              <a:t> </a:t>
            </a:r>
            <a:r>
              <a:rPr sz="1800" dirty="0">
                <a:latin typeface="Arial MT"/>
                <a:cs typeface="Arial MT"/>
              </a:rPr>
              <a:t>can</a:t>
            </a:r>
            <a:r>
              <a:rPr sz="1800" spc="-45" dirty="0">
                <a:latin typeface="Arial MT"/>
                <a:cs typeface="Arial MT"/>
              </a:rPr>
              <a:t> </a:t>
            </a:r>
            <a:r>
              <a:rPr sz="1800" dirty="0">
                <a:latin typeface="Arial MT"/>
                <a:cs typeface="Arial MT"/>
              </a:rPr>
              <a:t>exceed</a:t>
            </a:r>
            <a:r>
              <a:rPr sz="1800" spc="-15" dirty="0">
                <a:latin typeface="Arial MT"/>
                <a:cs typeface="Arial MT"/>
              </a:rPr>
              <a:t> </a:t>
            </a:r>
            <a:r>
              <a:rPr sz="1800" dirty="0">
                <a:latin typeface="Arial MT"/>
                <a:cs typeface="Arial MT"/>
              </a:rPr>
              <a:t>physical</a:t>
            </a:r>
            <a:r>
              <a:rPr sz="1800" spc="5" dirty="0">
                <a:latin typeface="Arial MT"/>
                <a:cs typeface="Arial MT"/>
              </a:rPr>
              <a:t> </a:t>
            </a:r>
            <a:r>
              <a:rPr sz="1800" spc="-10" dirty="0">
                <a:latin typeface="Arial MT"/>
                <a:cs typeface="Arial MT"/>
              </a:rPr>
              <a:t>memory</a:t>
            </a:r>
            <a:endParaRPr sz="1800">
              <a:latin typeface="Arial MT"/>
              <a:cs typeface="Arial MT"/>
            </a:endParaRPr>
          </a:p>
          <a:p>
            <a:pPr marL="1098550" lvl="2" indent="-227965">
              <a:lnSpc>
                <a:spcPct val="100000"/>
              </a:lnSpc>
              <a:spcBef>
                <a:spcPts val="325"/>
              </a:spcBef>
              <a:buClr>
                <a:srgbClr val="009900"/>
              </a:buClr>
              <a:buSzPct val="75000"/>
              <a:buFont typeface="Webdings"/>
              <a:buChar char=""/>
              <a:tabLst>
                <a:tab pos="1098550" algn="l"/>
              </a:tabLst>
            </a:pPr>
            <a:r>
              <a:rPr sz="1800" dirty="0">
                <a:solidFill>
                  <a:srgbClr val="FF0000"/>
                </a:solidFill>
                <a:latin typeface="Arial MT"/>
                <a:cs typeface="Arial MT"/>
              </a:rPr>
              <a:t>Hence,</a:t>
            </a:r>
            <a:r>
              <a:rPr sz="1800" spc="-30" dirty="0">
                <a:solidFill>
                  <a:srgbClr val="FF0000"/>
                </a:solidFill>
                <a:latin typeface="Arial MT"/>
                <a:cs typeface="Arial MT"/>
              </a:rPr>
              <a:t> </a:t>
            </a:r>
            <a:r>
              <a:rPr sz="1800" dirty="0">
                <a:solidFill>
                  <a:srgbClr val="FF0000"/>
                </a:solidFill>
                <a:latin typeface="Arial MT"/>
                <a:cs typeface="Arial MT"/>
              </a:rPr>
              <a:t>swapping</a:t>
            </a:r>
            <a:r>
              <a:rPr sz="1800" spc="15" dirty="0">
                <a:solidFill>
                  <a:srgbClr val="FF0000"/>
                </a:solidFill>
                <a:latin typeface="Arial MT"/>
                <a:cs typeface="Arial MT"/>
              </a:rPr>
              <a:t> </a:t>
            </a:r>
            <a:r>
              <a:rPr sz="1800" dirty="0">
                <a:solidFill>
                  <a:srgbClr val="FF0000"/>
                </a:solidFill>
                <a:latin typeface="Arial MT"/>
                <a:cs typeface="Arial MT"/>
              </a:rPr>
              <a:t>increases</a:t>
            </a:r>
            <a:r>
              <a:rPr sz="1800" spc="-30" dirty="0">
                <a:solidFill>
                  <a:srgbClr val="FF0000"/>
                </a:solidFill>
                <a:latin typeface="Arial MT"/>
                <a:cs typeface="Arial MT"/>
              </a:rPr>
              <a:t> </a:t>
            </a: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degree</a:t>
            </a:r>
            <a:r>
              <a:rPr sz="1800" spc="-30" dirty="0">
                <a:solidFill>
                  <a:srgbClr val="FF0000"/>
                </a:solidFill>
                <a:latin typeface="Arial MT"/>
                <a:cs typeface="Arial MT"/>
              </a:rPr>
              <a:t> </a:t>
            </a:r>
            <a:r>
              <a:rPr sz="1800" dirty="0">
                <a:solidFill>
                  <a:srgbClr val="FF0000"/>
                </a:solidFill>
                <a:latin typeface="Arial MT"/>
                <a:cs typeface="Arial MT"/>
              </a:rPr>
              <a:t>of</a:t>
            </a:r>
            <a:r>
              <a:rPr sz="1800" spc="-30" dirty="0">
                <a:solidFill>
                  <a:srgbClr val="FF0000"/>
                </a:solidFill>
                <a:latin typeface="Arial MT"/>
                <a:cs typeface="Arial MT"/>
              </a:rPr>
              <a:t> </a:t>
            </a:r>
            <a:r>
              <a:rPr sz="1800" spc="-10" dirty="0">
                <a:solidFill>
                  <a:srgbClr val="FF0000"/>
                </a:solidFill>
                <a:latin typeface="Arial MT"/>
                <a:cs typeface="Arial MT"/>
              </a:rPr>
              <a:t>multiprogramming</a:t>
            </a:r>
            <a:endParaRPr sz="1800">
              <a:latin typeface="Arial MT"/>
              <a:cs typeface="Arial MT"/>
            </a:endParaRPr>
          </a:p>
          <a:p>
            <a:pPr marL="355600" marR="335915" indent="-342900">
              <a:lnSpc>
                <a:spcPct val="80000"/>
              </a:lnSpc>
              <a:spcBef>
                <a:spcPts val="1860"/>
              </a:spcBef>
              <a:buClr>
                <a:srgbClr val="993300"/>
              </a:buClr>
              <a:buSzPct val="88888"/>
              <a:buFont typeface="Wingdings"/>
              <a:buChar char=""/>
              <a:tabLst>
                <a:tab pos="355600" algn="l"/>
              </a:tabLst>
            </a:pPr>
            <a:r>
              <a:rPr sz="1800" b="1" dirty="0">
                <a:solidFill>
                  <a:srgbClr val="3366FF"/>
                </a:solidFill>
                <a:latin typeface="Arial"/>
                <a:cs typeface="Arial"/>
              </a:rPr>
              <a:t>Backing</a:t>
            </a:r>
            <a:r>
              <a:rPr sz="1800" b="1" spc="-15" dirty="0">
                <a:solidFill>
                  <a:srgbClr val="3366FF"/>
                </a:solidFill>
                <a:latin typeface="Arial"/>
                <a:cs typeface="Arial"/>
              </a:rPr>
              <a:t> </a:t>
            </a:r>
            <a:r>
              <a:rPr sz="1800" b="1" dirty="0">
                <a:solidFill>
                  <a:srgbClr val="3366FF"/>
                </a:solidFill>
                <a:latin typeface="Arial"/>
                <a:cs typeface="Arial"/>
              </a:rPr>
              <a:t>store</a:t>
            </a:r>
            <a:r>
              <a:rPr sz="1800" b="1" spc="-20" dirty="0">
                <a:solidFill>
                  <a:srgbClr val="3366FF"/>
                </a:solidFill>
                <a:latin typeface="Arial"/>
                <a:cs typeface="Arial"/>
              </a:rPr>
              <a:t> </a:t>
            </a:r>
            <a:r>
              <a:rPr sz="1800" dirty="0">
                <a:latin typeface="Arial MT"/>
                <a:cs typeface="Arial MT"/>
              </a:rPr>
              <a:t>–</a:t>
            </a:r>
            <a:r>
              <a:rPr sz="1800" spc="-25" dirty="0">
                <a:latin typeface="Arial MT"/>
                <a:cs typeface="Arial MT"/>
              </a:rPr>
              <a:t> </a:t>
            </a:r>
            <a:r>
              <a:rPr sz="1800" dirty="0">
                <a:latin typeface="Arial MT"/>
                <a:cs typeface="Arial MT"/>
              </a:rPr>
              <a:t>fast</a:t>
            </a:r>
            <a:r>
              <a:rPr sz="1800" spc="-20" dirty="0">
                <a:latin typeface="Arial MT"/>
                <a:cs typeface="Arial MT"/>
              </a:rPr>
              <a:t> </a:t>
            </a:r>
            <a:r>
              <a:rPr sz="1800" dirty="0">
                <a:latin typeface="Arial MT"/>
                <a:cs typeface="Arial MT"/>
              </a:rPr>
              <a:t>disk</a:t>
            </a:r>
            <a:r>
              <a:rPr sz="1800" spc="-20" dirty="0">
                <a:latin typeface="Arial MT"/>
                <a:cs typeface="Arial MT"/>
              </a:rPr>
              <a:t> </a:t>
            </a:r>
            <a:r>
              <a:rPr sz="1800" dirty="0">
                <a:latin typeface="Arial MT"/>
                <a:cs typeface="Arial MT"/>
              </a:rPr>
              <a:t>large</a:t>
            </a:r>
            <a:r>
              <a:rPr sz="1800" spc="-15" dirty="0">
                <a:latin typeface="Arial MT"/>
                <a:cs typeface="Arial MT"/>
              </a:rPr>
              <a:t> </a:t>
            </a:r>
            <a:r>
              <a:rPr sz="1800" dirty="0">
                <a:latin typeface="Arial MT"/>
                <a:cs typeface="Arial MT"/>
              </a:rPr>
              <a:t>enough</a:t>
            </a:r>
            <a:r>
              <a:rPr sz="1800" spc="-5"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accommodate</a:t>
            </a:r>
            <a:r>
              <a:rPr sz="1800" spc="-5" dirty="0">
                <a:latin typeface="Arial MT"/>
                <a:cs typeface="Arial MT"/>
              </a:rPr>
              <a:t> </a:t>
            </a:r>
            <a:r>
              <a:rPr sz="1800" dirty="0">
                <a:latin typeface="Arial MT"/>
                <a:cs typeface="Arial MT"/>
              </a:rPr>
              <a:t>copies</a:t>
            </a:r>
            <a:r>
              <a:rPr sz="1800" spc="-10"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all</a:t>
            </a:r>
            <a:r>
              <a:rPr sz="1800" spc="-10" dirty="0">
                <a:latin typeface="Arial MT"/>
                <a:cs typeface="Arial MT"/>
              </a:rPr>
              <a:t> memory </a:t>
            </a:r>
            <a:r>
              <a:rPr sz="1800" dirty="0">
                <a:latin typeface="Arial MT"/>
                <a:cs typeface="Arial MT"/>
              </a:rPr>
              <a:t>images</a:t>
            </a:r>
            <a:r>
              <a:rPr sz="1800" spc="-15"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all</a:t>
            </a:r>
            <a:r>
              <a:rPr sz="1800" spc="-20" dirty="0">
                <a:latin typeface="Arial MT"/>
                <a:cs typeface="Arial MT"/>
              </a:rPr>
              <a:t> </a:t>
            </a:r>
            <a:r>
              <a:rPr sz="1800" dirty="0">
                <a:latin typeface="Arial MT"/>
                <a:cs typeface="Arial MT"/>
              </a:rPr>
              <a:t>users;</a:t>
            </a:r>
            <a:r>
              <a:rPr sz="1800" spc="-25" dirty="0">
                <a:latin typeface="Arial MT"/>
                <a:cs typeface="Arial MT"/>
              </a:rPr>
              <a:t> </a:t>
            </a:r>
            <a:r>
              <a:rPr sz="1800" dirty="0">
                <a:latin typeface="Arial MT"/>
                <a:cs typeface="Arial MT"/>
              </a:rPr>
              <a:t>must</a:t>
            </a:r>
            <a:r>
              <a:rPr sz="1800" spc="-20" dirty="0">
                <a:latin typeface="Arial MT"/>
                <a:cs typeface="Arial MT"/>
              </a:rPr>
              <a:t> </a:t>
            </a:r>
            <a:r>
              <a:rPr sz="1800" dirty="0">
                <a:latin typeface="Arial MT"/>
                <a:cs typeface="Arial MT"/>
              </a:rPr>
              <a:t>provide</a:t>
            </a:r>
            <a:r>
              <a:rPr sz="1800" spc="-20" dirty="0">
                <a:latin typeface="Arial MT"/>
                <a:cs typeface="Arial MT"/>
              </a:rPr>
              <a:t> </a:t>
            </a:r>
            <a:r>
              <a:rPr sz="1800" dirty="0">
                <a:latin typeface="Arial MT"/>
                <a:cs typeface="Arial MT"/>
              </a:rPr>
              <a:t>direct</a:t>
            </a:r>
            <a:r>
              <a:rPr sz="1800" spc="-10" dirty="0">
                <a:latin typeface="Arial MT"/>
                <a:cs typeface="Arial MT"/>
              </a:rPr>
              <a:t> </a:t>
            </a:r>
            <a:r>
              <a:rPr sz="1800" dirty="0">
                <a:latin typeface="Arial MT"/>
                <a:cs typeface="Arial MT"/>
              </a:rPr>
              <a:t>access</a:t>
            </a:r>
            <a:r>
              <a:rPr sz="1800" spc="-2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these</a:t>
            </a:r>
            <a:r>
              <a:rPr sz="1800" spc="-25" dirty="0">
                <a:latin typeface="Arial MT"/>
                <a:cs typeface="Arial MT"/>
              </a:rPr>
              <a:t> </a:t>
            </a:r>
            <a:r>
              <a:rPr sz="1800" dirty="0">
                <a:latin typeface="Arial MT"/>
                <a:cs typeface="Arial MT"/>
              </a:rPr>
              <a:t>memory</a:t>
            </a:r>
            <a:r>
              <a:rPr sz="1800" spc="-30" dirty="0">
                <a:latin typeface="Arial MT"/>
                <a:cs typeface="Arial MT"/>
              </a:rPr>
              <a:t> </a:t>
            </a:r>
            <a:r>
              <a:rPr sz="1800" spc="-10" dirty="0">
                <a:latin typeface="Arial MT"/>
                <a:cs typeface="Arial MT"/>
              </a:rPr>
              <a:t>images</a:t>
            </a:r>
            <a:endParaRPr sz="1800">
              <a:latin typeface="Arial MT"/>
              <a:cs typeface="Arial MT"/>
            </a:endParaRPr>
          </a:p>
          <a:p>
            <a:pPr marL="355600" marR="80645" indent="-342900">
              <a:lnSpc>
                <a:spcPct val="80000"/>
              </a:lnSpc>
              <a:spcBef>
                <a:spcPts val="1860"/>
              </a:spcBef>
              <a:buClr>
                <a:srgbClr val="993300"/>
              </a:buClr>
              <a:buSzPct val="88888"/>
              <a:buFont typeface="Wingdings"/>
              <a:buChar char=""/>
              <a:tabLst>
                <a:tab pos="355600" algn="l"/>
              </a:tabLst>
            </a:pPr>
            <a:r>
              <a:rPr sz="1800" dirty="0">
                <a:latin typeface="Arial MT"/>
                <a:cs typeface="Arial MT"/>
              </a:rPr>
              <a:t>System maintains</a:t>
            </a:r>
            <a:r>
              <a:rPr sz="1800" spc="-15" dirty="0">
                <a:latin typeface="Arial MT"/>
                <a:cs typeface="Arial MT"/>
              </a:rPr>
              <a:t> </a:t>
            </a:r>
            <a:r>
              <a:rPr sz="1800" dirty="0">
                <a:latin typeface="Arial MT"/>
                <a:cs typeface="Arial MT"/>
              </a:rPr>
              <a:t>a</a:t>
            </a:r>
            <a:r>
              <a:rPr sz="1800" spc="-15" dirty="0">
                <a:latin typeface="Arial MT"/>
                <a:cs typeface="Arial MT"/>
              </a:rPr>
              <a:t> </a:t>
            </a:r>
            <a:r>
              <a:rPr sz="1800" b="1" dirty="0">
                <a:solidFill>
                  <a:srgbClr val="3366FF"/>
                </a:solidFill>
                <a:latin typeface="Arial"/>
                <a:cs typeface="Arial"/>
              </a:rPr>
              <a:t>ready</a:t>
            </a:r>
            <a:r>
              <a:rPr sz="1800" b="1" spc="-20" dirty="0">
                <a:solidFill>
                  <a:srgbClr val="3366FF"/>
                </a:solidFill>
                <a:latin typeface="Arial"/>
                <a:cs typeface="Arial"/>
              </a:rPr>
              <a:t> </a:t>
            </a:r>
            <a:r>
              <a:rPr sz="1800" b="1" dirty="0">
                <a:solidFill>
                  <a:srgbClr val="3366FF"/>
                </a:solidFill>
                <a:latin typeface="Arial"/>
                <a:cs typeface="Arial"/>
              </a:rPr>
              <a:t>queue</a:t>
            </a:r>
            <a:r>
              <a:rPr sz="1800" b="1" spc="-30" dirty="0">
                <a:solidFill>
                  <a:srgbClr val="3366FF"/>
                </a:solidFill>
                <a:latin typeface="Arial"/>
                <a:cs typeface="Arial"/>
              </a:rPr>
              <a:t> </a:t>
            </a:r>
            <a:r>
              <a:rPr sz="1800" dirty="0">
                <a:latin typeface="Arial MT"/>
                <a:cs typeface="Arial MT"/>
              </a:rPr>
              <a:t>of</a:t>
            </a:r>
            <a:r>
              <a:rPr sz="1800" spc="-25" dirty="0">
                <a:latin typeface="Arial MT"/>
                <a:cs typeface="Arial MT"/>
              </a:rPr>
              <a:t> </a:t>
            </a:r>
            <a:r>
              <a:rPr sz="1800" spc="-10" dirty="0">
                <a:latin typeface="Arial MT"/>
                <a:cs typeface="Arial MT"/>
              </a:rPr>
              <a:t>ready-to-</a:t>
            </a:r>
            <a:r>
              <a:rPr sz="1800" dirty="0">
                <a:latin typeface="Arial MT"/>
                <a:cs typeface="Arial MT"/>
              </a:rPr>
              <a:t>run</a:t>
            </a:r>
            <a:r>
              <a:rPr sz="1800" spc="5" dirty="0">
                <a:latin typeface="Arial MT"/>
                <a:cs typeface="Arial MT"/>
              </a:rPr>
              <a:t> </a:t>
            </a:r>
            <a:r>
              <a:rPr sz="1800" dirty="0">
                <a:latin typeface="Arial MT"/>
                <a:cs typeface="Arial MT"/>
              </a:rPr>
              <a:t>processes</a:t>
            </a:r>
            <a:r>
              <a:rPr sz="1800" spc="-15" dirty="0">
                <a:latin typeface="Arial MT"/>
                <a:cs typeface="Arial MT"/>
              </a:rPr>
              <a:t> </a:t>
            </a:r>
            <a:r>
              <a:rPr sz="1800" dirty="0">
                <a:latin typeface="Arial MT"/>
                <a:cs typeface="Arial MT"/>
              </a:rPr>
              <a:t>which</a:t>
            </a:r>
            <a:r>
              <a:rPr sz="1800" spc="20" dirty="0">
                <a:latin typeface="Arial MT"/>
                <a:cs typeface="Arial MT"/>
              </a:rPr>
              <a:t> </a:t>
            </a:r>
            <a:r>
              <a:rPr sz="1800" dirty="0">
                <a:latin typeface="Arial MT"/>
                <a:cs typeface="Arial MT"/>
              </a:rPr>
              <a:t>have</a:t>
            </a:r>
            <a:r>
              <a:rPr sz="1800" spc="-15" dirty="0">
                <a:latin typeface="Arial MT"/>
                <a:cs typeface="Arial MT"/>
              </a:rPr>
              <a:t> </a:t>
            </a:r>
            <a:r>
              <a:rPr sz="1800" spc="-10" dirty="0">
                <a:latin typeface="Arial MT"/>
                <a:cs typeface="Arial MT"/>
              </a:rPr>
              <a:t>memory </a:t>
            </a:r>
            <a:r>
              <a:rPr sz="1800" dirty="0">
                <a:latin typeface="Arial MT"/>
                <a:cs typeface="Arial MT"/>
              </a:rPr>
              <a:t>images</a:t>
            </a:r>
            <a:r>
              <a:rPr sz="1800" spc="-10" dirty="0">
                <a:latin typeface="Arial MT"/>
                <a:cs typeface="Arial MT"/>
              </a:rPr>
              <a:t> </a:t>
            </a:r>
            <a:r>
              <a:rPr sz="1800" dirty="0">
                <a:latin typeface="Arial MT"/>
                <a:cs typeface="Arial MT"/>
              </a:rPr>
              <a:t>on</a:t>
            </a:r>
            <a:r>
              <a:rPr sz="1800" spc="-25" dirty="0">
                <a:latin typeface="Arial MT"/>
                <a:cs typeface="Arial MT"/>
              </a:rPr>
              <a:t> </a:t>
            </a:r>
            <a:r>
              <a:rPr sz="1800" dirty="0">
                <a:latin typeface="Arial MT"/>
                <a:cs typeface="Arial MT"/>
              </a:rPr>
              <a:t>the</a:t>
            </a:r>
            <a:r>
              <a:rPr sz="1800" spc="-25" dirty="0">
                <a:latin typeface="Arial MT"/>
                <a:cs typeface="Arial MT"/>
              </a:rPr>
              <a:t> </a:t>
            </a:r>
            <a:r>
              <a:rPr sz="1800" dirty="0">
                <a:latin typeface="Arial MT"/>
                <a:cs typeface="Arial MT"/>
              </a:rPr>
              <a:t>backing</a:t>
            </a:r>
            <a:r>
              <a:rPr sz="1800" spc="5" dirty="0">
                <a:latin typeface="Arial MT"/>
                <a:cs typeface="Arial MT"/>
              </a:rPr>
              <a:t> </a:t>
            </a:r>
            <a:r>
              <a:rPr sz="1800" dirty="0">
                <a:latin typeface="Arial MT"/>
                <a:cs typeface="Arial MT"/>
              </a:rPr>
              <a:t>store</a:t>
            </a:r>
            <a:r>
              <a:rPr sz="1800" spc="-25" dirty="0">
                <a:latin typeface="Arial MT"/>
                <a:cs typeface="Arial MT"/>
              </a:rPr>
              <a:t> </a:t>
            </a:r>
            <a:r>
              <a:rPr sz="1800" dirty="0">
                <a:latin typeface="Arial MT"/>
                <a:cs typeface="Arial MT"/>
              </a:rPr>
              <a:t>or</a:t>
            </a:r>
            <a:r>
              <a:rPr sz="1800" spc="-15"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memory.</a:t>
            </a:r>
            <a:r>
              <a:rPr sz="1800" spc="20" dirty="0">
                <a:latin typeface="Arial MT"/>
                <a:cs typeface="Arial MT"/>
              </a:rPr>
              <a:t> </a:t>
            </a:r>
            <a:r>
              <a:rPr sz="1800" b="1" dirty="0">
                <a:solidFill>
                  <a:srgbClr val="FF0000"/>
                </a:solidFill>
                <a:latin typeface="Arial"/>
                <a:cs typeface="Arial"/>
              </a:rPr>
              <a:t>Standard</a:t>
            </a:r>
            <a:r>
              <a:rPr sz="1800" b="1" spc="-10" dirty="0">
                <a:solidFill>
                  <a:srgbClr val="FF0000"/>
                </a:solidFill>
                <a:latin typeface="Arial"/>
                <a:cs typeface="Arial"/>
              </a:rPr>
              <a:t> </a:t>
            </a:r>
            <a:r>
              <a:rPr sz="1800" b="1" dirty="0">
                <a:solidFill>
                  <a:srgbClr val="FF0000"/>
                </a:solidFill>
                <a:latin typeface="Arial"/>
                <a:cs typeface="Arial"/>
              </a:rPr>
              <a:t>swapping</a:t>
            </a:r>
            <a:r>
              <a:rPr sz="1800" b="1" spc="-55" dirty="0">
                <a:solidFill>
                  <a:srgbClr val="FF0000"/>
                </a:solidFill>
                <a:latin typeface="Arial"/>
                <a:cs typeface="Arial"/>
              </a:rPr>
              <a:t> </a:t>
            </a:r>
            <a:r>
              <a:rPr sz="1800" b="1" spc="-10" dirty="0">
                <a:solidFill>
                  <a:srgbClr val="FF0000"/>
                </a:solidFill>
                <a:latin typeface="Arial"/>
                <a:cs typeface="Arial"/>
              </a:rPr>
              <a:t>method:</a:t>
            </a:r>
            <a:endParaRPr sz="1800">
              <a:latin typeface="Arial"/>
              <a:cs typeface="Arial"/>
            </a:endParaRPr>
          </a:p>
          <a:p>
            <a:pPr marL="756285" lvl="1" indent="-286385">
              <a:lnSpc>
                <a:spcPct val="100000"/>
              </a:lnSpc>
              <a:spcBef>
                <a:spcPts val="325"/>
              </a:spcBef>
              <a:buClr>
                <a:srgbClr val="CC6600"/>
              </a:buClr>
              <a:buSzPct val="80555"/>
              <a:buFont typeface="Wingdings"/>
              <a:buChar char=""/>
              <a:tabLst>
                <a:tab pos="756285" algn="l"/>
              </a:tabLst>
            </a:pPr>
            <a:r>
              <a:rPr sz="1800" dirty="0">
                <a:solidFill>
                  <a:srgbClr val="FF0000"/>
                </a:solidFill>
                <a:latin typeface="Arial MT"/>
                <a:cs typeface="Arial MT"/>
              </a:rPr>
              <a:t>Dispatcher</a:t>
            </a:r>
            <a:r>
              <a:rPr sz="1800" spc="-35" dirty="0">
                <a:solidFill>
                  <a:srgbClr val="FF0000"/>
                </a:solidFill>
                <a:latin typeface="Arial MT"/>
                <a:cs typeface="Arial MT"/>
              </a:rPr>
              <a:t> </a:t>
            </a:r>
            <a:r>
              <a:rPr sz="1800" dirty="0">
                <a:solidFill>
                  <a:srgbClr val="FF0000"/>
                </a:solidFill>
                <a:latin typeface="Arial MT"/>
                <a:cs typeface="Arial MT"/>
              </a:rPr>
              <a:t>called</a:t>
            </a:r>
            <a:r>
              <a:rPr sz="1800" spc="-10" dirty="0">
                <a:solidFill>
                  <a:srgbClr val="FF0000"/>
                </a:solidFill>
                <a:latin typeface="Arial MT"/>
                <a:cs typeface="Arial MT"/>
              </a:rPr>
              <a:t> </a:t>
            </a:r>
            <a:r>
              <a:rPr sz="1800" dirty="0">
                <a:solidFill>
                  <a:srgbClr val="FF0000"/>
                </a:solidFill>
                <a:latin typeface="Arial MT"/>
                <a:cs typeface="Arial MT"/>
              </a:rPr>
              <a:t>when</a:t>
            </a:r>
            <a:r>
              <a:rPr sz="1800" spc="10" dirty="0">
                <a:solidFill>
                  <a:srgbClr val="FF0000"/>
                </a:solidFill>
                <a:latin typeface="Arial MT"/>
                <a:cs typeface="Arial MT"/>
              </a:rPr>
              <a:t> </a:t>
            </a:r>
            <a:r>
              <a:rPr sz="1800" dirty="0">
                <a:solidFill>
                  <a:srgbClr val="FF0000"/>
                </a:solidFill>
                <a:latin typeface="Arial MT"/>
                <a:cs typeface="Arial MT"/>
              </a:rPr>
              <a:t>the</a:t>
            </a:r>
            <a:r>
              <a:rPr sz="1800" spc="-40" dirty="0">
                <a:solidFill>
                  <a:srgbClr val="FF0000"/>
                </a:solidFill>
                <a:latin typeface="Arial MT"/>
                <a:cs typeface="Arial MT"/>
              </a:rPr>
              <a:t> </a:t>
            </a:r>
            <a:r>
              <a:rPr sz="1800" dirty="0">
                <a:solidFill>
                  <a:srgbClr val="FF0000"/>
                </a:solidFill>
                <a:latin typeface="Arial MT"/>
                <a:cs typeface="Arial MT"/>
              </a:rPr>
              <a:t>CPU</a:t>
            </a:r>
            <a:r>
              <a:rPr sz="1800" spc="-40" dirty="0">
                <a:solidFill>
                  <a:srgbClr val="FF0000"/>
                </a:solidFill>
                <a:latin typeface="Arial MT"/>
                <a:cs typeface="Arial MT"/>
              </a:rPr>
              <a:t> </a:t>
            </a:r>
            <a:r>
              <a:rPr sz="1800" dirty="0">
                <a:solidFill>
                  <a:srgbClr val="FF0000"/>
                </a:solidFill>
                <a:latin typeface="Arial MT"/>
                <a:cs typeface="Arial MT"/>
              </a:rPr>
              <a:t>scheduler</a:t>
            </a:r>
            <a:r>
              <a:rPr sz="1800" spc="-5" dirty="0">
                <a:solidFill>
                  <a:srgbClr val="FF0000"/>
                </a:solidFill>
                <a:latin typeface="Arial MT"/>
                <a:cs typeface="Arial MT"/>
              </a:rPr>
              <a:t> </a:t>
            </a:r>
            <a:r>
              <a:rPr sz="1800" dirty="0">
                <a:solidFill>
                  <a:srgbClr val="FF0000"/>
                </a:solidFill>
                <a:latin typeface="Arial MT"/>
                <a:cs typeface="Arial MT"/>
              </a:rPr>
              <a:t>selects</a:t>
            </a:r>
            <a:r>
              <a:rPr sz="1800" spc="-30" dirty="0">
                <a:solidFill>
                  <a:srgbClr val="FF0000"/>
                </a:solidFill>
                <a:latin typeface="Arial MT"/>
                <a:cs typeface="Arial MT"/>
              </a:rPr>
              <a:t> </a:t>
            </a:r>
            <a:r>
              <a:rPr sz="1800" dirty="0">
                <a:solidFill>
                  <a:srgbClr val="FF0000"/>
                </a:solidFill>
                <a:latin typeface="Arial MT"/>
                <a:cs typeface="Arial MT"/>
              </a:rPr>
              <a:t>a</a:t>
            </a:r>
            <a:r>
              <a:rPr sz="1800" spc="-30" dirty="0">
                <a:solidFill>
                  <a:srgbClr val="FF0000"/>
                </a:solidFill>
                <a:latin typeface="Arial MT"/>
                <a:cs typeface="Arial MT"/>
              </a:rPr>
              <a:t> </a:t>
            </a:r>
            <a:r>
              <a:rPr sz="1800" dirty="0">
                <a:solidFill>
                  <a:srgbClr val="FF0000"/>
                </a:solidFill>
                <a:latin typeface="Arial MT"/>
                <a:cs typeface="Arial MT"/>
              </a:rPr>
              <a:t>process</a:t>
            </a:r>
            <a:r>
              <a:rPr sz="1800" spc="-20" dirty="0">
                <a:solidFill>
                  <a:srgbClr val="FF0000"/>
                </a:solidFill>
                <a:latin typeface="Arial MT"/>
                <a:cs typeface="Arial MT"/>
              </a:rPr>
              <a:t> </a:t>
            </a:r>
            <a:r>
              <a:rPr sz="1800" dirty="0">
                <a:solidFill>
                  <a:srgbClr val="FF0000"/>
                </a:solidFill>
                <a:latin typeface="Arial MT"/>
                <a:cs typeface="Arial MT"/>
              </a:rPr>
              <a:t>P</a:t>
            </a:r>
            <a:r>
              <a:rPr sz="1800" spc="-40" dirty="0">
                <a:solidFill>
                  <a:srgbClr val="FF0000"/>
                </a:solidFill>
                <a:latin typeface="Arial MT"/>
                <a:cs typeface="Arial MT"/>
              </a:rPr>
              <a:t> </a:t>
            </a:r>
            <a:r>
              <a:rPr sz="1800" dirty="0">
                <a:solidFill>
                  <a:srgbClr val="FF0000"/>
                </a:solidFill>
                <a:latin typeface="Arial MT"/>
                <a:cs typeface="Arial MT"/>
              </a:rPr>
              <a:t>from</a:t>
            </a:r>
            <a:r>
              <a:rPr sz="1800" spc="-25" dirty="0">
                <a:solidFill>
                  <a:srgbClr val="FF0000"/>
                </a:solidFill>
                <a:latin typeface="Arial MT"/>
                <a:cs typeface="Arial MT"/>
              </a:rPr>
              <a:t> </a:t>
            </a:r>
            <a:r>
              <a:rPr sz="1800" spc="-10" dirty="0">
                <a:solidFill>
                  <a:srgbClr val="FF0000"/>
                </a:solidFill>
                <a:latin typeface="Arial MT"/>
                <a:cs typeface="Arial MT"/>
              </a:rPr>
              <a:t>queue</a:t>
            </a:r>
            <a:endParaRPr sz="1800">
              <a:latin typeface="Arial MT"/>
              <a:cs typeface="Arial MT"/>
            </a:endParaRPr>
          </a:p>
          <a:p>
            <a:pPr marL="1098550" lvl="2" indent="-227965">
              <a:lnSpc>
                <a:spcPct val="100000"/>
              </a:lnSpc>
              <a:spcBef>
                <a:spcPts val="325"/>
              </a:spcBef>
              <a:buClr>
                <a:srgbClr val="009900"/>
              </a:buClr>
              <a:buSzPct val="75000"/>
              <a:buFont typeface="Webdings"/>
              <a:buChar char=""/>
              <a:tabLst>
                <a:tab pos="1098550" algn="l"/>
              </a:tabLst>
            </a:pPr>
            <a:r>
              <a:rPr sz="1800" dirty="0">
                <a:solidFill>
                  <a:srgbClr val="FF0000"/>
                </a:solidFill>
                <a:latin typeface="Arial MT"/>
                <a:cs typeface="Arial MT"/>
              </a:rPr>
              <a:t>If</a:t>
            </a:r>
            <a:r>
              <a:rPr sz="1800" spc="-30" dirty="0">
                <a:solidFill>
                  <a:srgbClr val="FF0000"/>
                </a:solidFill>
                <a:latin typeface="Arial MT"/>
                <a:cs typeface="Arial MT"/>
              </a:rPr>
              <a:t> </a:t>
            </a:r>
            <a:r>
              <a:rPr sz="1800" dirty="0">
                <a:solidFill>
                  <a:srgbClr val="FF0000"/>
                </a:solidFill>
                <a:latin typeface="Arial MT"/>
                <a:cs typeface="Arial MT"/>
              </a:rPr>
              <a:t>P</a:t>
            </a:r>
            <a:r>
              <a:rPr sz="1800" spc="-10" dirty="0">
                <a:solidFill>
                  <a:srgbClr val="FF0000"/>
                </a:solidFill>
                <a:latin typeface="Arial MT"/>
                <a:cs typeface="Arial MT"/>
              </a:rPr>
              <a:t> </a:t>
            </a:r>
            <a:r>
              <a:rPr sz="1800" dirty="0">
                <a:solidFill>
                  <a:srgbClr val="FF0000"/>
                </a:solidFill>
                <a:latin typeface="Arial MT"/>
                <a:cs typeface="Arial MT"/>
              </a:rPr>
              <a:t>is</a:t>
            </a:r>
            <a:r>
              <a:rPr sz="1800" spc="-10" dirty="0">
                <a:solidFill>
                  <a:srgbClr val="FF0000"/>
                </a:solidFill>
                <a:latin typeface="Arial MT"/>
                <a:cs typeface="Arial MT"/>
              </a:rPr>
              <a:t> </a:t>
            </a:r>
            <a:r>
              <a:rPr sz="1800" dirty="0">
                <a:solidFill>
                  <a:srgbClr val="FF0000"/>
                </a:solidFill>
                <a:latin typeface="Arial MT"/>
                <a:cs typeface="Arial MT"/>
              </a:rPr>
              <a:t>not</a:t>
            </a:r>
            <a:r>
              <a:rPr sz="1800" spc="-10"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the</a:t>
            </a:r>
            <a:r>
              <a:rPr sz="1800" spc="-20" dirty="0">
                <a:solidFill>
                  <a:srgbClr val="FF0000"/>
                </a:solidFill>
                <a:latin typeface="Arial MT"/>
                <a:cs typeface="Arial MT"/>
              </a:rPr>
              <a:t> </a:t>
            </a:r>
            <a:r>
              <a:rPr sz="1800" dirty="0">
                <a:solidFill>
                  <a:srgbClr val="FF0000"/>
                </a:solidFill>
                <a:latin typeface="Arial MT"/>
                <a:cs typeface="Arial MT"/>
              </a:rPr>
              <a:t>ready</a:t>
            </a:r>
            <a:r>
              <a:rPr sz="1800" spc="-5" dirty="0">
                <a:solidFill>
                  <a:srgbClr val="FF0000"/>
                </a:solidFill>
                <a:latin typeface="Arial MT"/>
                <a:cs typeface="Arial MT"/>
              </a:rPr>
              <a:t> </a:t>
            </a:r>
            <a:r>
              <a:rPr sz="1800" dirty="0">
                <a:solidFill>
                  <a:srgbClr val="FF0000"/>
                </a:solidFill>
                <a:latin typeface="Arial MT"/>
                <a:cs typeface="Arial MT"/>
              </a:rPr>
              <a:t>queue</a:t>
            </a:r>
            <a:r>
              <a:rPr sz="1800" spc="-5" dirty="0">
                <a:solidFill>
                  <a:srgbClr val="FF0000"/>
                </a:solidFill>
                <a:latin typeface="Arial MT"/>
                <a:cs typeface="Arial MT"/>
              </a:rPr>
              <a:t> </a:t>
            </a:r>
            <a:r>
              <a:rPr sz="1800" dirty="0">
                <a:solidFill>
                  <a:srgbClr val="FF0000"/>
                </a:solidFill>
                <a:latin typeface="Arial MT"/>
                <a:cs typeface="Arial MT"/>
              </a:rPr>
              <a:t>and</a:t>
            </a:r>
            <a:r>
              <a:rPr sz="1800" spc="-10" dirty="0">
                <a:solidFill>
                  <a:srgbClr val="FF0000"/>
                </a:solidFill>
                <a:latin typeface="Arial MT"/>
                <a:cs typeface="Arial MT"/>
              </a:rPr>
              <a:t> </a:t>
            </a:r>
            <a:r>
              <a:rPr sz="1800" dirty="0">
                <a:solidFill>
                  <a:srgbClr val="FF0000"/>
                </a:solidFill>
                <a:latin typeface="Arial MT"/>
                <a:cs typeface="Arial MT"/>
              </a:rPr>
              <a:t>not</a:t>
            </a:r>
            <a:r>
              <a:rPr sz="1800" spc="-5" dirty="0">
                <a:solidFill>
                  <a:srgbClr val="FF0000"/>
                </a:solidFill>
                <a:latin typeface="Arial MT"/>
                <a:cs typeface="Arial MT"/>
              </a:rPr>
              <a:t> </a:t>
            </a:r>
            <a:r>
              <a:rPr sz="1800" dirty="0">
                <a:solidFill>
                  <a:srgbClr val="FF0000"/>
                </a:solidFill>
                <a:latin typeface="Arial MT"/>
                <a:cs typeface="Arial MT"/>
              </a:rPr>
              <a:t>enough</a:t>
            </a:r>
            <a:r>
              <a:rPr sz="1800" spc="-5" dirty="0">
                <a:solidFill>
                  <a:srgbClr val="FF0000"/>
                </a:solidFill>
                <a:latin typeface="Arial MT"/>
                <a:cs typeface="Arial MT"/>
              </a:rPr>
              <a:t> </a:t>
            </a:r>
            <a:r>
              <a:rPr sz="1800" dirty="0">
                <a:solidFill>
                  <a:srgbClr val="FF0000"/>
                </a:solidFill>
                <a:latin typeface="Arial MT"/>
                <a:cs typeface="Arial MT"/>
              </a:rPr>
              <a:t>free</a:t>
            </a:r>
            <a:r>
              <a:rPr sz="1800" spc="-25" dirty="0">
                <a:solidFill>
                  <a:srgbClr val="FF0000"/>
                </a:solidFill>
                <a:latin typeface="Arial MT"/>
                <a:cs typeface="Arial MT"/>
              </a:rPr>
              <a:t> </a:t>
            </a:r>
            <a:r>
              <a:rPr sz="1800" dirty="0">
                <a:solidFill>
                  <a:srgbClr val="FF0000"/>
                </a:solidFill>
                <a:latin typeface="Arial MT"/>
                <a:cs typeface="Arial MT"/>
              </a:rPr>
              <a:t>space</a:t>
            </a:r>
            <a:r>
              <a:rPr sz="1800" spc="-5" dirty="0">
                <a:solidFill>
                  <a:srgbClr val="FF0000"/>
                </a:solidFill>
                <a:latin typeface="Arial MT"/>
                <a:cs typeface="Arial MT"/>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dirty="0">
                <a:solidFill>
                  <a:srgbClr val="FF0000"/>
                </a:solidFill>
                <a:latin typeface="Arial MT"/>
                <a:cs typeface="Arial MT"/>
              </a:rPr>
              <a:t>memory</a:t>
            </a:r>
            <a:r>
              <a:rPr sz="1800" spc="-5" dirty="0">
                <a:solidFill>
                  <a:srgbClr val="FF0000"/>
                </a:solidFill>
                <a:latin typeface="Arial MT"/>
                <a:cs typeface="Arial MT"/>
              </a:rPr>
              <a:t> </a:t>
            </a:r>
            <a:r>
              <a:rPr sz="1800" dirty="0">
                <a:solidFill>
                  <a:srgbClr val="FF0000"/>
                </a:solidFill>
                <a:latin typeface="Arial MT"/>
                <a:cs typeface="Arial MT"/>
              </a:rPr>
              <a:t>for</a:t>
            </a:r>
            <a:r>
              <a:rPr sz="1800" spc="-20" dirty="0">
                <a:solidFill>
                  <a:srgbClr val="FF0000"/>
                </a:solidFill>
                <a:latin typeface="Arial MT"/>
                <a:cs typeface="Arial MT"/>
              </a:rPr>
              <a:t> </a:t>
            </a:r>
            <a:r>
              <a:rPr sz="1800" spc="-50" dirty="0">
                <a:solidFill>
                  <a:srgbClr val="FF0000"/>
                </a:solidFill>
                <a:latin typeface="Arial MT"/>
                <a:cs typeface="Arial MT"/>
              </a:rPr>
              <a:t>P</a:t>
            </a:r>
            <a:endParaRPr sz="1800">
              <a:latin typeface="Arial MT"/>
              <a:cs typeface="Arial MT"/>
            </a:endParaRPr>
          </a:p>
          <a:p>
            <a:pPr marL="1442085" lvl="3" indent="-228600">
              <a:lnSpc>
                <a:spcPct val="100000"/>
              </a:lnSpc>
              <a:spcBef>
                <a:spcPts val="325"/>
              </a:spcBef>
              <a:buClr>
                <a:srgbClr val="FFCC00"/>
              </a:buClr>
              <a:buSzPct val="75000"/>
              <a:buFont typeface="Arial MT"/>
              <a:buChar char="–"/>
              <a:tabLst>
                <a:tab pos="1442085" algn="l"/>
              </a:tabLst>
            </a:pPr>
            <a:r>
              <a:rPr sz="1800" b="1" i="1" dirty="0">
                <a:solidFill>
                  <a:srgbClr val="FF0000"/>
                </a:solidFill>
                <a:latin typeface="Arial"/>
                <a:cs typeface="Arial"/>
              </a:rPr>
              <a:t>Swap</a:t>
            </a:r>
            <a:r>
              <a:rPr sz="1800" b="1" i="1" spc="-35" dirty="0">
                <a:solidFill>
                  <a:srgbClr val="FF0000"/>
                </a:solidFill>
                <a:latin typeface="Arial"/>
                <a:cs typeface="Arial"/>
              </a:rPr>
              <a:t> </a:t>
            </a:r>
            <a:r>
              <a:rPr sz="1800" b="1" i="1" dirty="0">
                <a:solidFill>
                  <a:srgbClr val="FF0000"/>
                </a:solidFill>
                <a:latin typeface="Arial"/>
                <a:cs typeface="Arial"/>
              </a:rPr>
              <a:t>in</a:t>
            </a:r>
            <a:r>
              <a:rPr sz="1800" b="1" i="1" spc="-10" dirty="0">
                <a:solidFill>
                  <a:srgbClr val="FF0000"/>
                </a:solidFill>
                <a:latin typeface="Arial"/>
                <a:cs typeface="Arial"/>
              </a:rPr>
              <a:t> </a:t>
            </a:r>
            <a:r>
              <a:rPr sz="1800" b="1" dirty="0">
                <a:solidFill>
                  <a:srgbClr val="FF0000"/>
                </a:solidFill>
                <a:latin typeface="Arial"/>
                <a:cs typeface="Arial"/>
              </a:rPr>
              <a:t>P</a:t>
            </a:r>
            <a:r>
              <a:rPr sz="1800" b="1" spc="-15" dirty="0">
                <a:solidFill>
                  <a:srgbClr val="FF0000"/>
                </a:solidFill>
                <a:latin typeface="Arial"/>
                <a:cs typeface="Arial"/>
              </a:rPr>
              <a:t> </a:t>
            </a:r>
            <a:r>
              <a:rPr sz="1800" dirty="0">
                <a:solidFill>
                  <a:srgbClr val="FF0000"/>
                </a:solidFill>
                <a:latin typeface="Arial MT"/>
                <a:cs typeface="Arial MT"/>
              </a:rPr>
              <a:t>from</a:t>
            </a:r>
            <a:r>
              <a:rPr sz="1800" spc="-10" dirty="0">
                <a:solidFill>
                  <a:srgbClr val="FF0000"/>
                </a:solidFill>
                <a:latin typeface="Arial MT"/>
                <a:cs typeface="Arial MT"/>
              </a:rPr>
              <a:t> </a:t>
            </a:r>
            <a:r>
              <a:rPr sz="1800" dirty="0">
                <a:solidFill>
                  <a:srgbClr val="FF0000"/>
                </a:solidFill>
                <a:latin typeface="Arial MT"/>
                <a:cs typeface="Arial MT"/>
              </a:rPr>
              <a:t>backing</a:t>
            </a:r>
            <a:r>
              <a:rPr sz="1800" spc="-10" dirty="0">
                <a:solidFill>
                  <a:srgbClr val="FF0000"/>
                </a:solidFill>
                <a:latin typeface="Arial MT"/>
                <a:cs typeface="Arial MT"/>
              </a:rPr>
              <a:t> </a:t>
            </a:r>
            <a:r>
              <a:rPr sz="1800" dirty="0">
                <a:solidFill>
                  <a:srgbClr val="FF0000"/>
                </a:solidFill>
                <a:latin typeface="Arial MT"/>
                <a:cs typeface="Arial MT"/>
              </a:rPr>
              <a:t>store</a:t>
            </a:r>
            <a:r>
              <a:rPr sz="1800" spc="-20" dirty="0">
                <a:solidFill>
                  <a:srgbClr val="FF0000"/>
                </a:solidFill>
                <a:latin typeface="Arial MT"/>
                <a:cs typeface="Arial MT"/>
              </a:rPr>
              <a:t> </a:t>
            </a:r>
            <a:r>
              <a:rPr sz="1800" dirty="0">
                <a:solidFill>
                  <a:srgbClr val="FF0000"/>
                </a:solidFill>
                <a:latin typeface="Arial MT"/>
                <a:cs typeface="Arial MT"/>
              </a:rPr>
              <a:t>and</a:t>
            </a:r>
            <a:r>
              <a:rPr sz="1800" spc="5" dirty="0">
                <a:solidFill>
                  <a:srgbClr val="FF0000"/>
                </a:solidFill>
                <a:latin typeface="Arial MT"/>
                <a:cs typeface="Arial MT"/>
              </a:rPr>
              <a:t> </a:t>
            </a:r>
            <a:r>
              <a:rPr sz="1800" b="1" i="1" dirty="0">
                <a:solidFill>
                  <a:srgbClr val="FF0000"/>
                </a:solidFill>
                <a:latin typeface="Arial"/>
                <a:cs typeface="Arial"/>
              </a:rPr>
              <a:t>swap</a:t>
            </a:r>
            <a:r>
              <a:rPr sz="1800" b="1" i="1" spc="-15" dirty="0">
                <a:solidFill>
                  <a:srgbClr val="FF0000"/>
                </a:solidFill>
                <a:latin typeface="Arial"/>
                <a:cs typeface="Arial"/>
              </a:rPr>
              <a:t> </a:t>
            </a:r>
            <a:r>
              <a:rPr sz="1800" b="1" i="1" dirty="0">
                <a:solidFill>
                  <a:srgbClr val="FF0000"/>
                </a:solidFill>
                <a:latin typeface="Arial"/>
                <a:cs typeface="Arial"/>
              </a:rPr>
              <a:t>out</a:t>
            </a:r>
            <a:r>
              <a:rPr sz="1800" b="1" i="1" spc="-15" dirty="0">
                <a:solidFill>
                  <a:srgbClr val="FF0000"/>
                </a:solidFill>
                <a:latin typeface="Arial"/>
                <a:cs typeface="Arial"/>
              </a:rPr>
              <a:t> </a:t>
            </a:r>
            <a:r>
              <a:rPr sz="1800" b="1" dirty="0">
                <a:solidFill>
                  <a:srgbClr val="FF0000"/>
                </a:solidFill>
                <a:latin typeface="Arial"/>
                <a:cs typeface="Arial"/>
              </a:rPr>
              <a:t>some</a:t>
            </a:r>
            <a:r>
              <a:rPr sz="1800" b="1" spc="-10" dirty="0">
                <a:solidFill>
                  <a:srgbClr val="FF0000"/>
                </a:solidFill>
                <a:latin typeface="Arial"/>
                <a:cs typeface="Arial"/>
              </a:rPr>
              <a:t> </a:t>
            </a:r>
            <a:r>
              <a:rPr sz="1800" b="1" dirty="0">
                <a:solidFill>
                  <a:srgbClr val="FF0000"/>
                </a:solidFill>
                <a:latin typeface="Arial"/>
                <a:cs typeface="Arial"/>
              </a:rPr>
              <a:t>Q</a:t>
            </a:r>
            <a:r>
              <a:rPr sz="1800" b="1" spc="-15" dirty="0">
                <a:solidFill>
                  <a:srgbClr val="FF0000"/>
                </a:solidFill>
                <a:latin typeface="Arial"/>
                <a:cs typeface="Arial"/>
              </a:rPr>
              <a:t> </a:t>
            </a:r>
            <a:r>
              <a:rPr sz="1800" dirty="0">
                <a:solidFill>
                  <a:srgbClr val="FF0000"/>
                </a:solidFill>
                <a:latin typeface="Arial MT"/>
                <a:cs typeface="Arial MT"/>
              </a:rPr>
              <a:t>from</a:t>
            </a:r>
            <a:r>
              <a:rPr sz="1800" spc="-10" dirty="0">
                <a:solidFill>
                  <a:srgbClr val="FF0000"/>
                </a:solidFill>
                <a:latin typeface="Arial MT"/>
                <a:cs typeface="Arial MT"/>
              </a:rPr>
              <a:t> memory</a:t>
            </a:r>
            <a:endParaRPr sz="1800">
              <a:latin typeface="Arial MT"/>
              <a:cs typeface="Arial MT"/>
            </a:endParaRPr>
          </a:p>
          <a:p>
            <a:pPr marL="1442085" lvl="3" indent="-228600">
              <a:lnSpc>
                <a:spcPct val="100000"/>
              </a:lnSpc>
              <a:spcBef>
                <a:spcPts val="325"/>
              </a:spcBef>
              <a:buClr>
                <a:srgbClr val="FFCC00"/>
              </a:buClr>
              <a:buSzPct val="75000"/>
              <a:buChar char="–"/>
              <a:tabLst>
                <a:tab pos="1442085" algn="l"/>
              </a:tabLst>
            </a:pPr>
            <a:r>
              <a:rPr sz="1800" dirty="0">
                <a:solidFill>
                  <a:srgbClr val="FF0000"/>
                </a:solidFill>
                <a:latin typeface="Arial MT"/>
                <a:cs typeface="Arial MT"/>
              </a:rPr>
              <a:t>Reload</a:t>
            </a:r>
            <a:r>
              <a:rPr sz="1800" spc="-5" dirty="0">
                <a:solidFill>
                  <a:srgbClr val="FF0000"/>
                </a:solidFill>
                <a:latin typeface="Arial MT"/>
                <a:cs typeface="Arial MT"/>
              </a:rPr>
              <a:t> </a:t>
            </a:r>
            <a:r>
              <a:rPr sz="1800" dirty="0">
                <a:solidFill>
                  <a:srgbClr val="FF0000"/>
                </a:solidFill>
                <a:latin typeface="Arial MT"/>
                <a:cs typeface="Arial MT"/>
              </a:rPr>
              <a:t>registers</a:t>
            </a:r>
            <a:r>
              <a:rPr sz="1800" spc="-15" dirty="0">
                <a:solidFill>
                  <a:srgbClr val="FF0000"/>
                </a:solidFill>
                <a:latin typeface="Arial MT"/>
                <a:cs typeface="Arial MT"/>
              </a:rPr>
              <a:t> </a:t>
            </a:r>
            <a:r>
              <a:rPr sz="1800" dirty="0">
                <a:solidFill>
                  <a:srgbClr val="FF0000"/>
                </a:solidFill>
                <a:latin typeface="Arial MT"/>
                <a:cs typeface="Arial MT"/>
              </a:rPr>
              <a:t>and</a:t>
            </a:r>
            <a:r>
              <a:rPr sz="1800" spc="-10" dirty="0">
                <a:solidFill>
                  <a:srgbClr val="FF0000"/>
                </a:solidFill>
                <a:latin typeface="Arial MT"/>
                <a:cs typeface="Arial MT"/>
              </a:rPr>
              <a:t> </a:t>
            </a:r>
            <a:r>
              <a:rPr sz="1800" dirty="0">
                <a:solidFill>
                  <a:srgbClr val="FF0000"/>
                </a:solidFill>
                <a:latin typeface="Arial MT"/>
                <a:cs typeface="Arial MT"/>
              </a:rPr>
              <a:t>transfer</a:t>
            </a:r>
            <a:r>
              <a:rPr sz="1800" spc="-20" dirty="0">
                <a:solidFill>
                  <a:srgbClr val="FF0000"/>
                </a:solidFill>
                <a:latin typeface="Arial MT"/>
                <a:cs typeface="Arial MT"/>
              </a:rPr>
              <a:t> </a:t>
            </a:r>
            <a:r>
              <a:rPr sz="1800" dirty="0">
                <a:solidFill>
                  <a:srgbClr val="FF0000"/>
                </a:solidFill>
                <a:latin typeface="Arial MT"/>
                <a:cs typeface="Arial MT"/>
              </a:rPr>
              <a:t>control</a:t>
            </a:r>
            <a:r>
              <a:rPr sz="1800" spc="-10" dirty="0">
                <a:solidFill>
                  <a:srgbClr val="FF0000"/>
                </a:solidFill>
                <a:latin typeface="Arial MT"/>
                <a:cs typeface="Arial MT"/>
              </a:rPr>
              <a:t> </a:t>
            </a:r>
            <a:r>
              <a:rPr sz="1800" dirty="0">
                <a:solidFill>
                  <a:srgbClr val="FF0000"/>
                </a:solidFill>
                <a:latin typeface="Arial MT"/>
                <a:cs typeface="Arial MT"/>
              </a:rPr>
              <a:t>to</a:t>
            </a:r>
            <a:r>
              <a:rPr sz="1800" spc="-25" dirty="0">
                <a:solidFill>
                  <a:srgbClr val="FF0000"/>
                </a:solidFill>
                <a:latin typeface="Arial MT"/>
                <a:cs typeface="Arial MT"/>
              </a:rPr>
              <a:t> </a:t>
            </a:r>
            <a:r>
              <a:rPr sz="1800" dirty="0">
                <a:solidFill>
                  <a:srgbClr val="FF0000"/>
                </a:solidFill>
                <a:latin typeface="Arial MT"/>
                <a:cs typeface="Arial MT"/>
              </a:rPr>
              <a:t>P;</a:t>
            </a:r>
            <a:r>
              <a:rPr sz="1800" spc="-10" dirty="0">
                <a:solidFill>
                  <a:srgbClr val="FF0000"/>
                </a:solidFill>
                <a:latin typeface="Arial MT"/>
                <a:cs typeface="Arial MT"/>
              </a:rPr>
              <a:t> </a:t>
            </a:r>
            <a:r>
              <a:rPr sz="1800" dirty="0">
                <a:solidFill>
                  <a:srgbClr val="FF0000"/>
                </a:solidFill>
                <a:latin typeface="Arial MT"/>
                <a:cs typeface="Arial MT"/>
              </a:rPr>
              <a:t>i.e.</a:t>
            </a:r>
            <a:r>
              <a:rPr sz="1800" spc="-30" dirty="0">
                <a:solidFill>
                  <a:srgbClr val="FF0000"/>
                </a:solidFill>
                <a:latin typeface="Arial MT"/>
                <a:cs typeface="Arial MT"/>
              </a:rPr>
              <a:t> </a:t>
            </a:r>
            <a:r>
              <a:rPr sz="1800" dirty="0">
                <a:solidFill>
                  <a:srgbClr val="FF0000"/>
                </a:solidFill>
                <a:latin typeface="Arial MT"/>
                <a:cs typeface="Arial MT"/>
              </a:rPr>
              <a:t>P</a:t>
            </a:r>
            <a:r>
              <a:rPr sz="1800" spc="-15" dirty="0">
                <a:solidFill>
                  <a:srgbClr val="FF0000"/>
                </a:solidFill>
                <a:latin typeface="Arial MT"/>
                <a:cs typeface="Arial MT"/>
              </a:rPr>
              <a:t> </a:t>
            </a:r>
            <a:r>
              <a:rPr sz="1800" dirty="0">
                <a:solidFill>
                  <a:srgbClr val="FF0000"/>
                </a:solidFill>
                <a:latin typeface="Arial MT"/>
                <a:cs typeface="Arial MT"/>
              </a:rPr>
              <a:t>is</a:t>
            </a:r>
            <a:r>
              <a:rPr sz="1800" spc="-15" dirty="0">
                <a:solidFill>
                  <a:srgbClr val="FF0000"/>
                </a:solidFill>
                <a:latin typeface="Arial MT"/>
                <a:cs typeface="Arial MT"/>
              </a:rPr>
              <a:t> </a:t>
            </a:r>
            <a:r>
              <a:rPr sz="1800" dirty="0">
                <a:solidFill>
                  <a:srgbClr val="FF0000"/>
                </a:solidFill>
                <a:latin typeface="Arial MT"/>
                <a:cs typeface="Arial MT"/>
              </a:rPr>
              <a:t>now</a:t>
            </a:r>
            <a:r>
              <a:rPr sz="1800" spc="-15" dirty="0">
                <a:solidFill>
                  <a:srgbClr val="FF0000"/>
                </a:solidFill>
                <a:latin typeface="Arial MT"/>
                <a:cs typeface="Arial MT"/>
              </a:rPr>
              <a:t> </a:t>
            </a:r>
            <a:r>
              <a:rPr sz="1800" dirty="0">
                <a:solidFill>
                  <a:srgbClr val="FF0000"/>
                </a:solidFill>
                <a:latin typeface="Arial MT"/>
                <a:cs typeface="Arial MT"/>
              </a:rPr>
              <a:t>in</a:t>
            </a:r>
            <a:r>
              <a:rPr sz="1800" spc="-25" dirty="0">
                <a:solidFill>
                  <a:srgbClr val="FF0000"/>
                </a:solidFill>
                <a:latin typeface="Arial MT"/>
                <a:cs typeface="Arial MT"/>
              </a:rPr>
              <a:t> </a:t>
            </a:r>
            <a:r>
              <a:rPr sz="1800" dirty="0">
                <a:solidFill>
                  <a:srgbClr val="FF0000"/>
                </a:solidFill>
                <a:latin typeface="Arial MT"/>
                <a:cs typeface="Arial MT"/>
              </a:rPr>
              <a:t>running </a:t>
            </a:r>
            <a:r>
              <a:rPr sz="1800" spc="-10" dirty="0">
                <a:solidFill>
                  <a:srgbClr val="FF0000"/>
                </a:solidFill>
                <a:latin typeface="Arial MT"/>
                <a:cs typeface="Arial MT"/>
              </a:rPr>
              <a:t>state</a:t>
            </a:r>
            <a:endParaRPr sz="1800">
              <a:latin typeface="Arial MT"/>
              <a:cs typeface="Arial MT"/>
            </a:endParaRPr>
          </a:p>
          <a:p>
            <a:pPr marL="354965" indent="-342265">
              <a:lnSpc>
                <a:spcPct val="100000"/>
              </a:lnSpc>
              <a:spcBef>
                <a:spcPts val="1430"/>
              </a:spcBef>
              <a:buClr>
                <a:srgbClr val="993300"/>
              </a:buClr>
              <a:buSzPct val="88888"/>
              <a:buFont typeface="Wingdings"/>
              <a:buChar char=""/>
              <a:tabLst>
                <a:tab pos="354965" algn="l"/>
              </a:tabLst>
            </a:pPr>
            <a:r>
              <a:rPr sz="1800" b="1" dirty="0">
                <a:solidFill>
                  <a:srgbClr val="FF0000"/>
                </a:solidFill>
                <a:latin typeface="Arial"/>
                <a:cs typeface="Arial"/>
              </a:rPr>
              <a:t>The</a:t>
            </a:r>
            <a:r>
              <a:rPr sz="1800" b="1" spc="-25" dirty="0">
                <a:solidFill>
                  <a:srgbClr val="FF0000"/>
                </a:solidFill>
                <a:latin typeface="Arial"/>
                <a:cs typeface="Arial"/>
              </a:rPr>
              <a:t> </a:t>
            </a:r>
            <a:r>
              <a:rPr sz="1800" b="1" spc="-10" dirty="0">
                <a:solidFill>
                  <a:srgbClr val="FF0000"/>
                </a:solidFill>
                <a:latin typeface="Arial"/>
                <a:cs typeface="Arial"/>
              </a:rPr>
              <a:t>context-</a:t>
            </a:r>
            <a:r>
              <a:rPr sz="1800" b="1" dirty="0">
                <a:solidFill>
                  <a:srgbClr val="FF0000"/>
                </a:solidFill>
                <a:latin typeface="Arial"/>
                <a:cs typeface="Arial"/>
              </a:rPr>
              <a:t>switch</a:t>
            </a:r>
            <a:r>
              <a:rPr sz="1800" b="1" spc="-30" dirty="0">
                <a:solidFill>
                  <a:srgbClr val="FF0000"/>
                </a:solidFill>
                <a:latin typeface="Arial"/>
                <a:cs typeface="Arial"/>
              </a:rPr>
              <a:t> </a:t>
            </a:r>
            <a:r>
              <a:rPr sz="1800" b="1" dirty="0">
                <a:solidFill>
                  <a:srgbClr val="FF0000"/>
                </a:solidFill>
                <a:latin typeface="Arial"/>
                <a:cs typeface="Arial"/>
              </a:rPr>
              <a:t>time</a:t>
            </a:r>
            <a:r>
              <a:rPr sz="1800" b="1" spc="-5" dirty="0">
                <a:solidFill>
                  <a:srgbClr val="FF0000"/>
                </a:solidFill>
                <a:latin typeface="Arial"/>
                <a:cs typeface="Arial"/>
              </a:rPr>
              <a:t> </a:t>
            </a:r>
            <a:r>
              <a:rPr sz="1800" b="1" dirty="0">
                <a:solidFill>
                  <a:srgbClr val="FF0000"/>
                </a:solidFill>
                <a:latin typeface="Arial"/>
                <a:cs typeface="Arial"/>
              </a:rPr>
              <a:t>in</a:t>
            </a:r>
            <a:r>
              <a:rPr sz="1800" b="1" spc="-10" dirty="0">
                <a:solidFill>
                  <a:srgbClr val="FF0000"/>
                </a:solidFill>
                <a:latin typeface="Arial"/>
                <a:cs typeface="Arial"/>
              </a:rPr>
              <a:t> </a:t>
            </a:r>
            <a:r>
              <a:rPr sz="1800" b="1" dirty="0">
                <a:solidFill>
                  <a:srgbClr val="FF0000"/>
                </a:solidFill>
                <a:latin typeface="Arial"/>
                <a:cs typeface="Arial"/>
              </a:rPr>
              <a:t>standard</a:t>
            </a:r>
            <a:r>
              <a:rPr sz="1800" b="1" spc="5" dirty="0">
                <a:solidFill>
                  <a:srgbClr val="FF0000"/>
                </a:solidFill>
                <a:latin typeface="Arial"/>
                <a:cs typeface="Arial"/>
              </a:rPr>
              <a:t> </a:t>
            </a:r>
            <a:r>
              <a:rPr sz="1800" b="1" dirty="0">
                <a:solidFill>
                  <a:srgbClr val="FF0000"/>
                </a:solidFill>
                <a:latin typeface="Arial"/>
                <a:cs typeface="Arial"/>
              </a:rPr>
              <a:t>swapping</a:t>
            </a:r>
            <a:r>
              <a:rPr sz="1800" b="1" spc="-45" dirty="0">
                <a:solidFill>
                  <a:srgbClr val="FF0000"/>
                </a:solidFill>
                <a:latin typeface="Arial"/>
                <a:cs typeface="Arial"/>
              </a:rPr>
              <a:t> </a:t>
            </a:r>
            <a:r>
              <a:rPr sz="1800" b="1" dirty="0">
                <a:solidFill>
                  <a:srgbClr val="FF0000"/>
                </a:solidFill>
                <a:latin typeface="Arial"/>
                <a:cs typeface="Arial"/>
              </a:rPr>
              <a:t>is</a:t>
            </a:r>
            <a:r>
              <a:rPr sz="1800" b="1" spc="5" dirty="0">
                <a:solidFill>
                  <a:srgbClr val="FF0000"/>
                </a:solidFill>
                <a:latin typeface="Arial"/>
                <a:cs typeface="Arial"/>
              </a:rPr>
              <a:t> </a:t>
            </a:r>
            <a:r>
              <a:rPr sz="1800" b="1" dirty="0">
                <a:solidFill>
                  <a:srgbClr val="FF0000"/>
                </a:solidFill>
                <a:latin typeface="Arial"/>
                <a:cs typeface="Arial"/>
              </a:rPr>
              <a:t>fairly high;</a:t>
            </a:r>
            <a:r>
              <a:rPr sz="1800" b="1" spc="-25" dirty="0">
                <a:solidFill>
                  <a:srgbClr val="FF0000"/>
                </a:solidFill>
                <a:latin typeface="Arial"/>
                <a:cs typeface="Arial"/>
              </a:rPr>
              <a:t> </a:t>
            </a:r>
            <a:r>
              <a:rPr sz="1800" b="1" dirty="0">
                <a:solidFill>
                  <a:srgbClr val="FF0000"/>
                </a:solidFill>
                <a:latin typeface="Arial"/>
                <a:cs typeface="Arial"/>
              </a:rPr>
              <a:t>see</a:t>
            </a:r>
            <a:r>
              <a:rPr sz="1800" b="1" spc="10" dirty="0">
                <a:solidFill>
                  <a:srgbClr val="FF0000"/>
                </a:solidFill>
                <a:latin typeface="Arial"/>
                <a:cs typeface="Arial"/>
              </a:rPr>
              <a:t> </a:t>
            </a:r>
            <a:r>
              <a:rPr sz="1800" b="1" dirty="0">
                <a:solidFill>
                  <a:srgbClr val="FF0000"/>
                </a:solidFill>
                <a:latin typeface="Arial"/>
                <a:cs typeface="Arial"/>
              </a:rPr>
              <a:t>Slide-</a:t>
            </a:r>
            <a:r>
              <a:rPr sz="1800" b="1" spc="-25" dirty="0">
                <a:solidFill>
                  <a:srgbClr val="FF0000"/>
                </a:solidFill>
                <a:latin typeface="Arial"/>
                <a:cs typeface="Arial"/>
              </a:rPr>
              <a:t>16</a:t>
            </a:r>
            <a:endParaRPr sz="1800">
              <a:latin typeface="Arial"/>
              <a:cs typeface="Arial"/>
            </a:endParaRPr>
          </a:p>
          <a:p>
            <a:pPr marL="355600" marR="5080" indent="-342900">
              <a:lnSpc>
                <a:spcPts val="1730"/>
              </a:lnSpc>
              <a:spcBef>
                <a:spcPts val="1845"/>
              </a:spcBef>
              <a:buClr>
                <a:srgbClr val="993300"/>
              </a:buClr>
              <a:buSzPct val="88888"/>
              <a:buFont typeface="Wingdings"/>
              <a:buChar char=""/>
              <a:tabLst>
                <a:tab pos="355600" algn="l"/>
              </a:tabLst>
            </a:pPr>
            <a:r>
              <a:rPr sz="1800" b="1" dirty="0">
                <a:solidFill>
                  <a:srgbClr val="3366FF"/>
                </a:solidFill>
                <a:latin typeface="Arial"/>
                <a:cs typeface="Arial"/>
              </a:rPr>
              <a:t>Roll</a:t>
            </a:r>
            <a:r>
              <a:rPr sz="1800" b="1" spc="-35" dirty="0">
                <a:solidFill>
                  <a:srgbClr val="3366FF"/>
                </a:solidFill>
                <a:latin typeface="Arial"/>
                <a:cs typeface="Arial"/>
              </a:rPr>
              <a:t> </a:t>
            </a:r>
            <a:r>
              <a:rPr sz="1800" b="1" dirty="0">
                <a:solidFill>
                  <a:srgbClr val="3366FF"/>
                </a:solidFill>
                <a:latin typeface="Arial"/>
                <a:cs typeface="Arial"/>
              </a:rPr>
              <a:t>out,</a:t>
            </a:r>
            <a:r>
              <a:rPr sz="1800" b="1" spc="-30" dirty="0">
                <a:solidFill>
                  <a:srgbClr val="3366FF"/>
                </a:solidFill>
                <a:latin typeface="Arial"/>
                <a:cs typeface="Arial"/>
              </a:rPr>
              <a:t> </a:t>
            </a:r>
            <a:r>
              <a:rPr sz="1800" b="1" dirty="0">
                <a:solidFill>
                  <a:srgbClr val="3366FF"/>
                </a:solidFill>
                <a:latin typeface="Arial"/>
                <a:cs typeface="Arial"/>
              </a:rPr>
              <a:t>roll</a:t>
            </a:r>
            <a:r>
              <a:rPr sz="1800" b="1" spc="-25" dirty="0">
                <a:solidFill>
                  <a:srgbClr val="3366FF"/>
                </a:solidFill>
                <a:latin typeface="Arial"/>
                <a:cs typeface="Arial"/>
              </a:rPr>
              <a:t> </a:t>
            </a:r>
            <a:r>
              <a:rPr sz="1800" b="1" dirty="0">
                <a:solidFill>
                  <a:srgbClr val="3366FF"/>
                </a:solidFill>
                <a:latin typeface="Arial"/>
                <a:cs typeface="Arial"/>
              </a:rPr>
              <a:t>in</a:t>
            </a:r>
            <a:r>
              <a:rPr sz="1800" b="1" spc="-25" dirty="0">
                <a:solidFill>
                  <a:srgbClr val="3366FF"/>
                </a:solidFill>
                <a:latin typeface="Arial"/>
                <a:cs typeface="Arial"/>
              </a:rPr>
              <a:t> </a:t>
            </a:r>
            <a:r>
              <a:rPr sz="1800" dirty="0">
                <a:latin typeface="Arial MT"/>
                <a:cs typeface="Arial MT"/>
              </a:rPr>
              <a:t>–</a:t>
            </a:r>
            <a:r>
              <a:rPr sz="1800" spc="-30" dirty="0">
                <a:latin typeface="Arial MT"/>
                <a:cs typeface="Arial MT"/>
              </a:rPr>
              <a:t> </a:t>
            </a:r>
            <a:r>
              <a:rPr sz="1800" dirty="0">
                <a:latin typeface="Arial MT"/>
                <a:cs typeface="Arial MT"/>
              </a:rPr>
              <a:t>swapping</a:t>
            </a:r>
            <a:r>
              <a:rPr sz="1800" spc="20" dirty="0">
                <a:latin typeface="Arial MT"/>
                <a:cs typeface="Arial MT"/>
              </a:rPr>
              <a:t> </a:t>
            </a:r>
            <a:r>
              <a:rPr sz="1800" dirty="0">
                <a:latin typeface="Arial MT"/>
                <a:cs typeface="Arial MT"/>
              </a:rPr>
              <a:t>variant</a:t>
            </a:r>
            <a:r>
              <a:rPr sz="1800" spc="-25" dirty="0">
                <a:latin typeface="Arial MT"/>
                <a:cs typeface="Arial MT"/>
              </a:rPr>
              <a:t> </a:t>
            </a:r>
            <a:r>
              <a:rPr sz="1800" dirty="0">
                <a:latin typeface="Arial MT"/>
                <a:cs typeface="Arial MT"/>
              </a:rPr>
              <a:t>used</a:t>
            </a:r>
            <a:r>
              <a:rPr sz="1800" spc="-25" dirty="0">
                <a:latin typeface="Arial MT"/>
                <a:cs typeface="Arial MT"/>
              </a:rPr>
              <a:t> </a:t>
            </a:r>
            <a:r>
              <a:rPr sz="1800" dirty="0">
                <a:latin typeface="Arial MT"/>
                <a:cs typeface="Arial MT"/>
              </a:rPr>
              <a:t>for</a:t>
            </a:r>
            <a:r>
              <a:rPr sz="1800" spc="-25" dirty="0">
                <a:latin typeface="Arial MT"/>
                <a:cs typeface="Arial MT"/>
              </a:rPr>
              <a:t> </a:t>
            </a:r>
            <a:r>
              <a:rPr sz="1800" spc="-10" dirty="0">
                <a:latin typeface="Arial MT"/>
                <a:cs typeface="Arial MT"/>
              </a:rPr>
              <a:t>priority-</a:t>
            </a:r>
            <a:r>
              <a:rPr sz="1800" dirty="0">
                <a:latin typeface="Arial MT"/>
                <a:cs typeface="Arial MT"/>
              </a:rPr>
              <a:t>based</a:t>
            </a:r>
            <a:r>
              <a:rPr sz="1800" spc="10" dirty="0">
                <a:latin typeface="Arial MT"/>
                <a:cs typeface="Arial MT"/>
              </a:rPr>
              <a:t> </a:t>
            </a:r>
            <a:r>
              <a:rPr sz="1800" dirty="0">
                <a:latin typeface="Arial MT"/>
                <a:cs typeface="Arial MT"/>
              </a:rPr>
              <a:t>scheduling</a:t>
            </a:r>
            <a:r>
              <a:rPr sz="1800" spc="-15" dirty="0">
                <a:latin typeface="Arial MT"/>
                <a:cs typeface="Arial MT"/>
              </a:rPr>
              <a:t> </a:t>
            </a:r>
            <a:r>
              <a:rPr sz="1800" spc="-10" dirty="0">
                <a:latin typeface="Arial MT"/>
                <a:cs typeface="Arial MT"/>
              </a:rPr>
              <a:t>algorithms; </a:t>
            </a:r>
            <a:r>
              <a:rPr sz="1800" spc="-20" dirty="0">
                <a:latin typeface="Arial MT"/>
                <a:cs typeface="Arial MT"/>
              </a:rPr>
              <a:t>lower-</a:t>
            </a:r>
            <a:r>
              <a:rPr sz="1800" dirty="0">
                <a:latin typeface="Arial MT"/>
                <a:cs typeface="Arial MT"/>
              </a:rPr>
              <a:t>priority</a:t>
            </a:r>
            <a:r>
              <a:rPr sz="1800" spc="20" dirty="0">
                <a:latin typeface="Arial MT"/>
                <a:cs typeface="Arial MT"/>
              </a:rPr>
              <a:t> </a:t>
            </a:r>
            <a:r>
              <a:rPr sz="1800" dirty="0">
                <a:latin typeface="Arial MT"/>
                <a:cs typeface="Arial MT"/>
              </a:rPr>
              <a:t>process</a:t>
            </a:r>
            <a:r>
              <a:rPr sz="1800" spc="-10" dirty="0">
                <a:latin typeface="Arial MT"/>
                <a:cs typeface="Arial MT"/>
              </a:rPr>
              <a:t> </a:t>
            </a:r>
            <a:r>
              <a:rPr sz="1800" dirty="0">
                <a:latin typeface="Arial MT"/>
                <a:cs typeface="Arial MT"/>
              </a:rPr>
              <a:t>is</a:t>
            </a:r>
            <a:r>
              <a:rPr sz="1800" spc="-10" dirty="0">
                <a:latin typeface="Arial MT"/>
                <a:cs typeface="Arial MT"/>
              </a:rPr>
              <a:t> </a:t>
            </a:r>
            <a:r>
              <a:rPr sz="1800" dirty="0">
                <a:latin typeface="Arial MT"/>
                <a:cs typeface="Arial MT"/>
              </a:rPr>
              <a:t>swapped</a:t>
            </a:r>
            <a:r>
              <a:rPr sz="1800" spc="30" dirty="0">
                <a:latin typeface="Arial MT"/>
                <a:cs typeface="Arial MT"/>
              </a:rPr>
              <a:t> </a:t>
            </a:r>
            <a:r>
              <a:rPr sz="1800" dirty="0">
                <a:latin typeface="Arial MT"/>
                <a:cs typeface="Arial MT"/>
              </a:rPr>
              <a:t>out</a:t>
            </a:r>
            <a:r>
              <a:rPr sz="1800" spc="-5" dirty="0">
                <a:latin typeface="Arial MT"/>
                <a:cs typeface="Arial MT"/>
              </a:rPr>
              <a:t> </a:t>
            </a:r>
            <a:r>
              <a:rPr sz="1800" dirty="0">
                <a:latin typeface="Arial MT"/>
                <a:cs typeface="Arial MT"/>
              </a:rPr>
              <a:t>so</a:t>
            </a:r>
            <a:r>
              <a:rPr sz="1800" spc="-15" dirty="0">
                <a:latin typeface="Arial MT"/>
                <a:cs typeface="Arial MT"/>
              </a:rPr>
              <a:t> </a:t>
            </a:r>
            <a:r>
              <a:rPr sz="1800" spc="-10" dirty="0">
                <a:latin typeface="Arial MT"/>
                <a:cs typeface="Arial MT"/>
              </a:rPr>
              <a:t>higher-</a:t>
            </a:r>
            <a:r>
              <a:rPr sz="1800" dirty="0">
                <a:latin typeface="Arial MT"/>
                <a:cs typeface="Arial MT"/>
              </a:rPr>
              <a:t>priority</a:t>
            </a:r>
            <a:r>
              <a:rPr sz="1800" spc="30"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can</a:t>
            </a:r>
            <a:r>
              <a:rPr sz="1800" spc="-5" dirty="0">
                <a:latin typeface="Arial MT"/>
                <a:cs typeface="Arial MT"/>
              </a:rPr>
              <a:t> </a:t>
            </a:r>
            <a:r>
              <a:rPr sz="1800" dirty="0">
                <a:latin typeface="Arial MT"/>
                <a:cs typeface="Arial MT"/>
              </a:rPr>
              <a:t>be</a:t>
            </a:r>
            <a:r>
              <a:rPr sz="1800" spc="-25" dirty="0">
                <a:latin typeface="Arial MT"/>
                <a:cs typeface="Arial MT"/>
              </a:rPr>
              <a:t> </a:t>
            </a:r>
            <a:r>
              <a:rPr sz="1800" spc="-10" dirty="0">
                <a:latin typeface="Arial MT"/>
                <a:cs typeface="Arial MT"/>
              </a:rPr>
              <a:t>loaded </a:t>
            </a:r>
            <a:r>
              <a:rPr sz="1800" dirty="0">
                <a:latin typeface="Arial MT"/>
                <a:cs typeface="Arial MT"/>
              </a:rPr>
              <a:t>and</a:t>
            </a:r>
            <a:r>
              <a:rPr sz="1800" spc="-10" dirty="0">
                <a:latin typeface="Arial MT"/>
                <a:cs typeface="Arial MT"/>
              </a:rPr>
              <a:t> executed</a:t>
            </a:r>
            <a:endParaRPr sz="1800">
              <a:latin typeface="Arial MT"/>
              <a:cs typeface="Arial MT"/>
            </a:endParaRPr>
          </a:p>
          <a:p>
            <a:pPr marL="756285" lvl="1" indent="-286385">
              <a:lnSpc>
                <a:spcPct val="100000"/>
              </a:lnSpc>
              <a:spcBef>
                <a:spcPts val="330"/>
              </a:spcBef>
              <a:buClr>
                <a:srgbClr val="CC6600"/>
              </a:buClr>
              <a:buSzPct val="80555"/>
              <a:buFont typeface="Wingdings"/>
              <a:buChar char=""/>
              <a:tabLst>
                <a:tab pos="756285" algn="l"/>
              </a:tabLst>
            </a:pPr>
            <a:r>
              <a:rPr sz="1800" dirty="0">
                <a:solidFill>
                  <a:srgbClr val="FF0000"/>
                </a:solidFill>
                <a:latin typeface="Arial MT"/>
                <a:cs typeface="Arial MT"/>
              </a:rPr>
              <a:t>Also,</a:t>
            </a:r>
            <a:r>
              <a:rPr sz="1800" spc="-5" dirty="0">
                <a:solidFill>
                  <a:srgbClr val="FF0000"/>
                </a:solidFill>
                <a:latin typeface="Arial MT"/>
                <a:cs typeface="Arial MT"/>
              </a:rPr>
              <a:t> </a:t>
            </a:r>
            <a:r>
              <a:rPr sz="1800" dirty="0">
                <a:solidFill>
                  <a:srgbClr val="FF0000"/>
                </a:solidFill>
                <a:latin typeface="Arial MT"/>
                <a:cs typeface="Arial MT"/>
              </a:rPr>
              <a:t>see</a:t>
            </a:r>
            <a:r>
              <a:rPr sz="1800" spc="-10" dirty="0">
                <a:solidFill>
                  <a:srgbClr val="FF0000"/>
                </a:solidFill>
                <a:latin typeface="Arial MT"/>
                <a:cs typeface="Arial MT"/>
              </a:rPr>
              <a:t> </a:t>
            </a:r>
            <a:r>
              <a:rPr sz="1800" b="1" i="1" spc="-10" dirty="0">
                <a:solidFill>
                  <a:srgbClr val="FF0000"/>
                </a:solidFill>
                <a:latin typeface="Arial"/>
                <a:cs typeface="Arial"/>
              </a:rPr>
              <a:t>medium-</a:t>
            </a:r>
            <a:r>
              <a:rPr sz="1800" b="1" i="1" dirty="0">
                <a:solidFill>
                  <a:srgbClr val="FF0000"/>
                </a:solidFill>
                <a:latin typeface="Arial"/>
                <a:cs typeface="Arial"/>
              </a:rPr>
              <a:t>term</a:t>
            </a:r>
            <a:r>
              <a:rPr sz="1800" b="1" i="1" spc="-5" dirty="0">
                <a:solidFill>
                  <a:srgbClr val="FF0000"/>
                </a:solidFill>
                <a:latin typeface="Arial"/>
                <a:cs typeface="Arial"/>
              </a:rPr>
              <a:t> </a:t>
            </a:r>
            <a:r>
              <a:rPr sz="1800" b="1" i="1" dirty="0">
                <a:solidFill>
                  <a:srgbClr val="FF0000"/>
                </a:solidFill>
                <a:latin typeface="Arial"/>
                <a:cs typeface="Arial"/>
              </a:rPr>
              <a:t>scheduler</a:t>
            </a:r>
            <a:r>
              <a:rPr sz="1800" b="1" i="1" spc="-5" dirty="0">
                <a:solidFill>
                  <a:srgbClr val="FF0000"/>
                </a:solidFill>
                <a:latin typeface="Arial"/>
                <a:cs typeface="Arial"/>
              </a:rPr>
              <a:t> </a:t>
            </a:r>
            <a:r>
              <a:rPr sz="1800" dirty="0">
                <a:solidFill>
                  <a:srgbClr val="FF0000"/>
                </a:solidFill>
                <a:latin typeface="Arial MT"/>
                <a:cs typeface="Arial MT"/>
              </a:rPr>
              <a:t>in</a:t>
            </a:r>
            <a:r>
              <a:rPr sz="1800" spc="-20" dirty="0">
                <a:solidFill>
                  <a:srgbClr val="FF0000"/>
                </a:solidFill>
                <a:latin typeface="Arial MT"/>
                <a:cs typeface="Arial MT"/>
              </a:rPr>
              <a:t> </a:t>
            </a:r>
            <a:r>
              <a:rPr sz="1800" spc="-10" dirty="0">
                <a:solidFill>
                  <a:srgbClr val="FF0000"/>
                </a:solidFill>
                <a:latin typeface="Arial MT"/>
                <a:cs typeface="Arial MT"/>
              </a:rPr>
              <a:t>Chap-</a:t>
            </a:r>
            <a:r>
              <a:rPr sz="1800" spc="-50" dirty="0">
                <a:solidFill>
                  <a:srgbClr val="FF0000"/>
                </a:solidFill>
                <a:latin typeface="Arial MT"/>
                <a:cs typeface="Arial MT"/>
              </a:rPr>
              <a:t>3</a:t>
            </a:r>
            <a:endParaRPr sz="1800">
              <a:latin typeface="Arial MT"/>
              <a:cs typeface="Arial MT"/>
            </a:endParaRPr>
          </a:p>
        </p:txBody>
      </p:sp>
    </p:spTree>
    <p:extLst>
      <p:ext uri="{BB962C8B-B14F-4D97-AF65-F5344CB8AC3E}">
        <p14:creationId xmlns:p14="http://schemas.microsoft.com/office/powerpoint/2010/main" val="9300806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1450" y="1028700"/>
            <a:ext cx="8801100" cy="565785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330200" algn="ctr">
              <a:lnSpc>
                <a:spcPct val="100000"/>
              </a:lnSpc>
              <a:spcBef>
                <a:spcPts val="100"/>
              </a:spcBef>
            </a:pPr>
            <a:r>
              <a:rPr sz="2400" dirty="0">
                <a:solidFill>
                  <a:srgbClr val="006699"/>
                </a:solidFill>
              </a:rPr>
              <a:t>Schematic</a:t>
            </a:r>
            <a:r>
              <a:rPr sz="2400" spc="-40" dirty="0">
                <a:solidFill>
                  <a:srgbClr val="006699"/>
                </a:solidFill>
              </a:rPr>
              <a:t> </a:t>
            </a:r>
            <a:r>
              <a:rPr sz="2400" dirty="0">
                <a:solidFill>
                  <a:srgbClr val="006699"/>
                </a:solidFill>
              </a:rPr>
              <a:t>View</a:t>
            </a:r>
            <a:r>
              <a:rPr sz="2400" spc="-55" dirty="0">
                <a:solidFill>
                  <a:srgbClr val="006699"/>
                </a:solidFill>
              </a:rPr>
              <a:t> </a:t>
            </a:r>
            <a:r>
              <a:rPr sz="2400" dirty="0">
                <a:solidFill>
                  <a:srgbClr val="006699"/>
                </a:solidFill>
              </a:rPr>
              <a:t>of</a:t>
            </a:r>
            <a:r>
              <a:rPr sz="2400" spc="-65" dirty="0">
                <a:solidFill>
                  <a:srgbClr val="006699"/>
                </a:solidFill>
              </a:rPr>
              <a:t> </a:t>
            </a:r>
            <a:r>
              <a:rPr sz="2400" spc="-10" dirty="0">
                <a:solidFill>
                  <a:srgbClr val="006699"/>
                </a:solidFill>
              </a:rPr>
              <a:t>Swapping</a:t>
            </a:r>
            <a:endParaRPr sz="2400"/>
          </a:p>
          <a:p>
            <a:pPr marL="328295" algn="ctr">
              <a:lnSpc>
                <a:spcPct val="100000"/>
              </a:lnSpc>
              <a:spcBef>
                <a:spcPts val="5"/>
              </a:spcBef>
            </a:pPr>
            <a:r>
              <a:rPr sz="2000" dirty="0">
                <a:solidFill>
                  <a:srgbClr val="006699"/>
                </a:solidFill>
              </a:rPr>
              <a:t>(Swapping</a:t>
            </a:r>
            <a:r>
              <a:rPr sz="2000" spc="-45" dirty="0">
                <a:solidFill>
                  <a:srgbClr val="006699"/>
                </a:solidFill>
              </a:rPr>
              <a:t> </a:t>
            </a:r>
            <a:r>
              <a:rPr sz="2000" dirty="0">
                <a:solidFill>
                  <a:srgbClr val="006699"/>
                </a:solidFill>
              </a:rPr>
              <a:t>of</a:t>
            </a:r>
            <a:r>
              <a:rPr sz="2000" spc="-15" dirty="0">
                <a:solidFill>
                  <a:srgbClr val="006699"/>
                </a:solidFill>
              </a:rPr>
              <a:t> </a:t>
            </a:r>
            <a:r>
              <a:rPr sz="2000" dirty="0">
                <a:solidFill>
                  <a:srgbClr val="006699"/>
                </a:solidFill>
              </a:rPr>
              <a:t>two</a:t>
            </a:r>
            <a:r>
              <a:rPr sz="2000" spc="-45" dirty="0">
                <a:solidFill>
                  <a:srgbClr val="006699"/>
                </a:solidFill>
              </a:rPr>
              <a:t> </a:t>
            </a:r>
            <a:r>
              <a:rPr sz="2000" dirty="0">
                <a:solidFill>
                  <a:srgbClr val="006699"/>
                </a:solidFill>
              </a:rPr>
              <a:t>processes</a:t>
            </a:r>
            <a:r>
              <a:rPr sz="2000" spc="-25" dirty="0">
                <a:solidFill>
                  <a:srgbClr val="006699"/>
                </a:solidFill>
              </a:rPr>
              <a:t> </a:t>
            </a:r>
            <a:r>
              <a:rPr sz="2000" dirty="0">
                <a:solidFill>
                  <a:srgbClr val="006699"/>
                </a:solidFill>
              </a:rPr>
              <a:t>using</a:t>
            </a:r>
            <a:r>
              <a:rPr sz="2000" spc="-25" dirty="0">
                <a:solidFill>
                  <a:srgbClr val="006699"/>
                </a:solidFill>
              </a:rPr>
              <a:t> </a:t>
            </a:r>
            <a:r>
              <a:rPr sz="2000" dirty="0">
                <a:solidFill>
                  <a:srgbClr val="006699"/>
                </a:solidFill>
              </a:rPr>
              <a:t>a disk</a:t>
            </a:r>
            <a:r>
              <a:rPr sz="2000" spc="-15" dirty="0">
                <a:solidFill>
                  <a:srgbClr val="006699"/>
                </a:solidFill>
              </a:rPr>
              <a:t> </a:t>
            </a:r>
            <a:r>
              <a:rPr sz="2000" dirty="0">
                <a:solidFill>
                  <a:srgbClr val="006699"/>
                </a:solidFill>
              </a:rPr>
              <a:t>as</a:t>
            </a:r>
            <a:r>
              <a:rPr sz="2000" spc="-15" dirty="0">
                <a:solidFill>
                  <a:srgbClr val="006699"/>
                </a:solidFill>
              </a:rPr>
              <a:t> </a:t>
            </a:r>
            <a:r>
              <a:rPr sz="2000" dirty="0">
                <a:solidFill>
                  <a:srgbClr val="006699"/>
                </a:solidFill>
              </a:rPr>
              <a:t>a backing</a:t>
            </a:r>
            <a:r>
              <a:rPr sz="2000" spc="-25" dirty="0">
                <a:solidFill>
                  <a:srgbClr val="006699"/>
                </a:solidFill>
              </a:rPr>
              <a:t> </a:t>
            </a:r>
            <a:r>
              <a:rPr sz="2000" spc="-10" dirty="0">
                <a:solidFill>
                  <a:srgbClr val="006699"/>
                </a:solidFill>
              </a:rPr>
              <a:t>store)</a:t>
            </a:r>
            <a:endParaRPr sz="20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47</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Tree>
    <p:extLst>
      <p:ext uri="{BB962C8B-B14F-4D97-AF65-F5344CB8AC3E}">
        <p14:creationId xmlns:p14="http://schemas.microsoft.com/office/powerpoint/2010/main" val="41506545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CC65-72AB-4801-27CE-E1DBE5CB629D}"/>
              </a:ext>
            </a:extLst>
          </p:cNvPr>
          <p:cNvSpPr>
            <a:spLocks noGrp="1"/>
          </p:cNvSpPr>
          <p:nvPr>
            <p:ph type="title"/>
          </p:nvPr>
        </p:nvSpPr>
        <p:spPr/>
        <p:txBody>
          <a:bodyPr/>
          <a:lstStyle/>
          <a:p>
            <a:endParaRPr lang="en-US"/>
          </a:p>
        </p:txBody>
      </p:sp>
      <p:sp>
        <p:nvSpPr>
          <p:cNvPr id="3" name="TextBox 2">
            <a:extLst>
              <a:ext uri="{FF2B5EF4-FFF2-40B4-BE49-F238E27FC236}">
                <a16:creationId xmlns:a16="http://schemas.microsoft.com/office/drawing/2014/main" id="{FFBC265E-4393-59B4-1E56-F3F772649FB3}"/>
              </a:ext>
            </a:extLst>
          </p:cNvPr>
          <p:cNvSpPr txBox="1"/>
          <p:nvPr/>
        </p:nvSpPr>
        <p:spPr>
          <a:xfrm>
            <a:off x="838200" y="1524000"/>
            <a:ext cx="6858000" cy="1200329"/>
          </a:xfrm>
          <a:prstGeom prst="rect">
            <a:avLst/>
          </a:prstGeom>
          <a:noFill/>
        </p:spPr>
        <p:txBody>
          <a:bodyPr wrap="square" rtlCol="0">
            <a:spAutoFit/>
          </a:bodyPr>
          <a:lstStyle/>
          <a:p>
            <a:r>
              <a:rPr lang="en-US" dirty="0"/>
              <a:t>Consider a single level paging scheme with a TLB. Assume no page fault occurs. It takes 30 ns to search the TLB and 100 ns to access the physical memory. If TLB hit ratio is 70%, the effective memory access time is _______ msec.</a:t>
            </a:r>
          </a:p>
        </p:txBody>
      </p:sp>
      <p:sp>
        <p:nvSpPr>
          <p:cNvPr id="4" name="TextBox 3">
            <a:extLst>
              <a:ext uri="{FF2B5EF4-FFF2-40B4-BE49-F238E27FC236}">
                <a16:creationId xmlns:a16="http://schemas.microsoft.com/office/drawing/2014/main" id="{CB09FC36-7EC2-D04C-C4B5-3EBC85355F48}"/>
              </a:ext>
            </a:extLst>
          </p:cNvPr>
          <p:cNvSpPr txBox="1"/>
          <p:nvPr/>
        </p:nvSpPr>
        <p:spPr>
          <a:xfrm>
            <a:off x="838200" y="3276600"/>
            <a:ext cx="6934200" cy="2308324"/>
          </a:xfrm>
          <a:prstGeom prst="rect">
            <a:avLst/>
          </a:prstGeom>
          <a:noFill/>
        </p:spPr>
        <p:txBody>
          <a:bodyPr wrap="square" rtlCol="0">
            <a:spAutoFit/>
          </a:bodyPr>
          <a:lstStyle/>
          <a:p>
            <a:r>
              <a:rPr lang="en-US" dirty="0"/>
              <a:t>Suppose</a:t>
            </a:r>
          </a:p>
          <a:p>
            <a:r>
              <a:rPr lang="en-US" dirty="0"/>
              <a:t>TLB (Translation Lookaside Buffer) lookup time = 5 nanoseconds</a:t>
            </a:r>
          </a:p>
          <a:p>
            <a:r>
              <a:rPr lang="en-US" dirty="0"/>
              <a:t>Memory access time = 100 nanoseconds</a:t>
            </a:r>
          </a:p>
          <a:p>
            <a:r>
              <a:rPr lang="en-US" dirty="0"/>
              <a:t>Effective Access Time (EAT) = 125 nanoseconds</a:t>
            </a:r>
          </a:p>
          <a:p>
            <a:r>
              <a:rPr lang="en-US" dirty="0"/>
              <a:t>Assuming that accessing a page involves a TLB lookup followed by one memory access in case of a hit, and a TLB lookup plus two memory accesses in case of a miss, calculate the </a:t>
            </a:r>
            <a:r>
              <a:rPr lang="en-US" b="1" dirty="0"/>
              <a:t>TLB hit ratio</a:t>
            </a:r>
            <a:r>
              <a:rPr lang="en-US" dirty="0"/>
              <a:t>.</a:t>
            </a:r>
          </a:p>
          <a:p>
            <a:endParaRPr lang="en-US" dirty="0"/>
          </a:p>
        </p:txBody>
      </p:sp>
    </p:spTree>
    <p:extLst>
      <p:ext uri="{BB962C8B-B14F-4D97-AF65-F5344CB8AC3E}">
        <p14:creationId xmlns:p14="http://schemas.microsoft.com/office/powerpoint/2010/main" val="4734278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9771" rIns="0" bIns="0" rtlCol="0">
            <a:spAutoFit/>
          </a:bodyPr>
          <a:lstStyle/>
          <a:p>
            <a:pPr marL="1555750">
              <a:lnSpc>
                <a:spcPct val="100000"/>
              </a:lnSpc>
              <a:spcBef>
                <a:spcPts val="95"/>
              </a:spcBef>
            </a:pPr>
            <a:r>
              <a:rPr sz="2800" dirty="0">
                <a:solidFill>
                  <a:srgbClr val="006699"/>
                </a:solidFill>
              </a:rPr>
              <a:t>Context</a:t>
            </a:r>
            <a:r>
              <a:rPr sz="2800" spc="-70" dirty="0">
                <a:solidFill>
                  <a:srgbClr val="006699"/>
                </a:solidFill>
              </a:rPr>
              <a:t> </a:t>
            </a:r>
            <a:r>
              <a:rPr sz="2800" dirty="0">
                <a:solidFill>
                  <a:srgbClr val="006699"/>
                </a:solidFill>
              </a:rPr>
              <a:t>Switch</a:t>
            </a:r>
            <a:r>
              <a:rPr sz="2800" spc="-90" dirty="0">
                <a:solidFill>
                  <a:srgbClr val="006699"/>
                </a:solidFill>
              </a:rPr>
              <a:t> </a:t>
            </a:r>
            <a:r>
              <a:rPr sz="2800" dirty="0">
                <a:solidFill>
                  <a:srgbClr val="006699"/>
                </a:solidFill>
              </a:rPr>
              <a:t>Time</a:t>
            </a:r>
            <a:r>
              <a:rPr sz="2800" spc="-100" dirty="0">
                <a:solidFill>
                  <a:srgbClr val="006699"/>
                </a:solidFill>
              </a:rPr>
              <a:t> </a:t>
            </a:r>
            <a:r>
              <a:rPr sz="2800" dirty="0">
                <a:solidFill>
                  <a:srgbClr val="006699"/>
                </a:solidFill>
              </a:rPr>
              <a:t>including</a:t>
            </a:r>
            <a:r>
              <a:rPr sz="2800" spc="-75" dirty="0">
                <a:solidFill>
                  <a:srgbClr val="006699"/>
                </a:solidFill>
              </a:rPr>
              <a:t> </a:t>
            </a:r>
            <a:r>
              <a:rPr sz="2800" spc="-10" dirty="0">
                <a:solidFill>
                  <a:srgbClr val="006699"/>
                </a:solidFill>
              </a:rPr>
              <a:t>Swapping</a:t>
            </a:r>
            <a:endParaRPr sz="28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49</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64668" y="1055878"/>
            <a:ext cx="8566150" cy="5113655"/>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spc="-10" dirty="0">
                <a:latin typeface="Arial MT"/>
                <a:cs typeface="Arial MT"/>
              </a:rPr>
              <a:t>Context-</a:t>
            </a:r>
            <a:r>
              <a:rPr sz="1800" dirty="0">
                <a:latin typeface="Arial MT"/>
                <a:cs typeface="Arial MT"/>
              </a:rPr>
              <a:t>switch</a:t>
            </a:r>
            <a:r>
              <a:rPr sz="1800" spc="25" dirty="0">
                <a:latin typeface="Arial MT"/>
                <a:cs typeface="Arial MT"/>
              </a:rPr>
              <a:t> </a:t>
            </a:r>
            <a:r>
              <a:rPr sz="1800" dirty="0">
                <a:latin typeface="Arial MT"/>
                <a:cs typeface="Arial MT"/>
              </a:rPr>
              <a:t>time</a:t>
            </a:r>
            <a:r>
              <a:rPr sz="1800" spc="-20" dirty="0">
                <a:latin typeface="Arial MT"/>
                <a:cs typeface="Arial MT"/>
              </a:rPr>
              <a:t> </a:t>
            </a:r>
            <a:r>
              <a:rPr sz="1800" dirty="0">
                <a:latin typeface="Arial MT"/>
                <a:cs typeface="Arial MT"/>
              </a:rPr>
              <a:t>in</a:t>
            </a:r>
            <a:r>
              <a:rPr sz="1800" spc="-35" dirty="0">
                <a:latin typeface="Arial MT"/>
                <a:cs typeface="Arial MT"/>
              </a:rPr>
              <a:t> </a:t>
            </a:r>
            <a:r>
              <a:rPr sz="1800" dirty="0">
                <a:latin typeface="Arial MT"/>
                <a:cs typeface="Arial MT"/>
              </a:rPr>
              <a:t>swapping</a:t>
            </a:r>
            <a:r>
              <a:rPr sz="1800" spc="20" dirty="0">
                <a:latin typeface="Arial MT"/>
                <a:cs typeface="Arial MT"/>
              </a:rPr>
              <a:t> </a:t>
            </a:r>
            <a:r>
              <a:rPr sz="1800" dirty="0">
                <a:latin typeface="Arial MT"/>
                <a:cs typeface="Arial MT"/>
              </a:rPr>
              <a:t>is</a:t>
            </a:r>
            <a:r>
              <a:rPr sz="1800" spc="-25" dirty="0">
                <a:latin typeface="Arial MT"/>
                <a:cs typeface="Arial MT"/>
              </a:rPr>
              <a:t> </a:t>
            </a:r>
            <a:r>
              <a:rPr sz="1800" dirty="0">
                <a:latin typeface="Arial MT"/>
                <a:cs typeface="Arial MT"/>
              </a:rPr>
              <a:t>very</a:t>
            </a:r>
            <a:r>
              <a:rPr sz="1800" spc="-25" dirty="0">
                <a:latin typeface="Arial MT"/>
                <a:cs typeface="Arial MT"/>
              </a:rPr>
              <a:t> </a:t>
            </a:r>
            <a:r>
              <a:rPr sz="1800" spc="-20" dirty="0">
                <a:latin typeface="Arial MT"/>
                <a:cs typeface="Arial MT"/>
              </a:rPr>
              <a:t>high</a:t>
            </a:r>
            <a:endParaRPr sz="1800">
              <a:latin typeface="Arial MT"/>
              <a:cs typeface="Arial MT"/>
            </a:endParaRPr>
          </a:p>
          <a:p>
            <a:pPr marL="756285" lvl="1" indent="-286385">
              <a:lnSpc>
                <a:spcPct val="100000"/>
              </a:lnSpc>
              <a:spcBef>
                <a:spcPts val="2050"/>
              </a:spcBef>
              <a:buClr>
                <a:srgbClr val="CC6600"/>
              </a:buClr>
              <a:buSzPct val="80555"/>
              <a:buFont typeface="Wingdings"/>
              <a:buChar char=""/>
              <a:tabLst>
                <a:tab pos="756285" algn="l"/>
              </a:tabLst>
            </a:pPr>
            <a:r>
              <a:rPr sz="1800" dirty="0">
                <a:latin typeface="Arial MT"/>
                <a:cs typeface="Arial MT"/>
              </a:rPr>
              <a:t>Assume</a:t>
            </a:r>
            <a:r>
              <a:rPr sz="1800" spc="-25" dirty="0">
                <a:latin typeface="Arial MT"/>
                <a:cs typeface="Arial MT"/>
              </a:rPr>
              <a:t> </a:t>
            </a:r>
            <a:r>
              <a:rPr sz="1800" dirty="0">
                <a:latin typeface="Arial MT"/>
                <a:cs typeface="Arial MT"/>
              </a:rPr>
              <a:t>swapping</a:t>
            </a:r>
            <a:r>
              <a:rPr sz="1800" spc="20" dirty="0">
                <a:latin typeface="Arial MT"/>
                <a:cs typeface="Arial MT"/>
              </a:rPr>
              <a:t> </a:t>
            </a:r>
            <a:r>
              <a:rPr sz="1800" dirty="0">
                <a:latin typeface="Arial MT"/>
                <a:cs typeface="Arial MT"/>
              </a:rPr>
              <a:t>100MB</a:t>
            </a:r>
            <a:r>
              <a:rPr sz="1800" spc="-20" dirty="0">
                <a:latin typeface="Arial MT"/>
                <a:cs typeface="Arial MT"/>
              </a:rPr>
              <a:t> </a:t>
            </a:r>
            <a:r>
              <a:rPr sz="1800" dirty="0">
                <a:latin typeface="Arial MT"/>
                <a:cs typeface="Arial MT"/>
              </a:rPr>
              <a:t>to</a:t>
            </a:r>
            <a:r>
              <a:rPr sz="1800" spc="-25" dirty="0">
                <a:latin typeface="Arial MT"/>
                <a:cs typeface="Arial MT"/>
              </a:rPr>
              <a:t> </a:t>
            </a:r>
            <a:r>
              <a:rPr sz="1800" dirty="0">
                <a:latin typeface="Arial MT"/>
                <a:cs typeface="Arial MT"/>
              </a:rPr>
              <a:t>backing</a:t>
            </a:r>
            <a:r>
              <a:rPr sz="1800" spc="-20" dirty="0">
                <a:latin typeface="Arial MT"/>
                <a:cs typeface="Arial MT"/>
              </a:rPr>
              <a:t> </a:t>
            </a:r>
            <a:r>
              <a:rPr sz="1800" dirty="0">
                <a:latin typeface="Arial MT"/>
                <a:cs typeface="Arial MT"/>
              </a:rPr>
              <a:t>store</a:t>
            </a:r>
            <a:r>
              <a:rPr sz="1800" spc="-30" dirty="0">
                <a:latin typeface="Arial MT"/>
                <a:cs typeface="Arial MT"/>
              </a:rPr>
              <a:t> </a:t>
            </a:r>
            <a:r>
              <a:rPr sz="1800" dirty="0">
                <a:latin typeface="Arial MT"/>
                <a:cs typeface="Arial MT"/>
              </a:rPr>
              <a:t>with</a:t>
            </a:r>
            <a:r>
              <a:rPr sz="1800" spc="5" dirty="0">
                <a:latin typeface="Arial MT"/>
                <a:cs typeface="Arial MT"/>
              </a:rPr>
              <a:t> </a:t>
            </a:r>
            <a:r>
              <a:rPr sz="1800" dirty="0">
                <a:latin typeface="Arial MT"/>
                <a:cs typeface="Arial MT"/>
              </a:rPr>
              <a:t>a</a:t>
            </a:r>
            <a:r>
              <a:rPr sz="1800" spc="-25" dirty="0">
                <a:latin typeface="Arial MT"/>
                <a:cs typeface="Arial MT"/>
              </a:rPr>
              <a:t> </a:t>
            </a:r>
            <a:r>
              <a:rPr sz="1800" dirty="0">
                <a:latin typeface="Arial MT"/>
                <a:cs typeface="Arial MT"/>
              </a:rPr>
              <a:t>transfer</a:t>
            </a:r>
            <a:r>
              <a:rPr sz="1800" spc="-25" dirty="0">
                <a:latin typeface="Arial MT"/>
                <a:cs typeface="Arial MT"/>
              </a:rPr>
              <a:t> </a:t>
            </a:r>
            <a:r>
              <a:rPr sz="1800" dirty="0">
                <a:latin typeface="Arial MT"/>
                <a:cs typeface="Arial MT"/>
              </a:rPr>
              <a:t>rate</a:t>
            </a:r>
            <a:r>
              <a:rPr sz="1800" spc="-25" dirty="0">
                <a:latin typeface="Arial MT"/>
                <a:cs typeface="Arial MT"/>
              </a:rPr>
              <a:t> </a:t>
            </a:r>
            <a:r>
              <a:rPr sz="1800" dirty="0">
                <a:latin typeface="Arial MT"/>
                <a:cs typeface="Arial MT"/>
              </a:rPr>
              <a:t>of</a:t>
            </a:r>
            <a:r>
              <a:rPr sz="1800" spc="-20" dirty="0">
                <a:latin typeface="Arial MT"/>
                <a:cs typeface="Arial MT"/>
              </a:rPr>
              <a:t> </a:t>
            </a:r>
            <a:r>
              <a:rPr sz="1800" spc="-10" dirty="0">
                <a:latin typeface="Arial MT"/>
                <a:cs typeface="Arial MT"/>
              </a:rPr>
              <a:t>50MB/sec</a:t>
            </a:r>
            <a:endParaRPr sz="1800">
              <a:latin typeface="Arial MT"/>
              <a:cs typeface="Arial MT"/>
            </a:endParaRPr>
          </a:p>
          <a:p>
            <a:pPr marL="1098550" lvl="2" indent="-227965">
              <a:lnSpc>
                <a:spcPct val="100000"/>
              </a:lnSpc>
              <a:spcBef>
                <a:spcPts val="2055"/>
              </a:spcBef>
              <a:buClr>
                <a:srgbClr val="009900"/>
              </a:buClr>
              <a:buSzPct val="75000"/>
              <a:buFont typeface="Webdings"/>
              <a:buChar char=""/>
              <a:tabLst>
                <a:tab pos="1098550" algn="l"/>
              </a:tabLst>
            </a:pPr>
            <a:r>
              <a:rPr sz="1800" dirty="0">
                <a:latin typeface="Arial MT"/>
                <a:cs typeface="Arial MT"/>
              </a:rPr>
              <a:t>Swap</a:t>
            </a:r>
            <a:r>
              <a:rPr sz="1800" spc="20" dirty="0">
                <a:latin typeface="Arial MT"/>
                <a:cs typeface="Arial MT"/>
              </a:rPr>
              <a:t> </a:t>
            </a:r>
            <a:r>
              <a:rPr sz="1800" dirty="0">
                <a:latin typeface="Arial MT"/>
                <a:cs typeface="Arial MT"/>
              </a:rPr>
              <a:t>out</a:t>
            </a:r>
            <a:r>
              <a:rPr sz="1800" spc="-15" dirty="0">
                <a:latin typeface="Arial MT"/>
                <a:cs typeface="Arial MT"/>
              </a:rPr>
              <a:t> </a:t>
            </a:r>
            <a:r>
              <a:rPr sz="1800" dirty="0">
                <a:latin typeface="Arial MT"/>
                <a:cs typeface="Arial MT"/>
              </a:rPr>
              <a:t>time</a:t>
            </a:r>
            <a:r>
              <a:rPr sz="1800" spc="-20"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a</a:t>
            </a:r>
            <a:r>
              <a:rPr sz="1800" spc="-20" dirty="0">
                <a:latin typeface="Arial MT"/>
                <a:cs typeface="Arial MT"/>
              </a:rPr>
              <a:t> </a:t>
            </a:r>
            <a:r>
              <a:rPr sz="1800" dirty="0">
                <a:latin typeface="Arial MT"/>
                <a:cs typeface="Arial MT"/>
              </a:rPr>
              <a:t>process</a:t>
            </a:r>
            <a:r>
              <a:rPr sz="1800" spc="-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2000</a:t>
            </a:r>
            <a:r>
              <a:rPr sz="1800" spc="-10" dirty="0">
                <a:latin typeface="Arial MT"/>
                <a:cs typeface="Arial MT"/>
              </a:rPr>
              <a:t> </a:t>
            </a:r>
            <a:r>
              <a:rPr sz="1800" dirty="0">
                <a:latin typeface="Arial MT"/>
                <a:cs typeface="Arial MT"/>
              </a:rPr>
              <a:t>ms</a:t>
            </a:r>
            <a:r>
              <a:rPr sz="1800" spc="-10" dirty="0">
                <a:latin typeface="Arial MT"/>
                <a:cs typeface="Arial MT"/>
              </a:rPr>
              <a:t> </a:t>
            </a:r>
            <a:r>
              <a:rPr sz="1800" b="1" dirty="0">
                <a:solidFill>
                  <a:srgbClr val="FF0000"/>
                </a:solidFill>
                <a:latin typeface="Arial"/>
                <a:cs typeface="Arial"/>
              </a:rPr>
              <a:t>(=</a:t>
            </a:r>
            <a:r>
              <a:rPr sz="1800" b="1" spc="-20" dirty="0">
                <a:solidFill>
                  <a:srgbClr val="FF0000"/>
                </a:solidFill>
                <a:latin typeface="Arial"/>
                <a:cs typeface="Arial"/>
              </a:rPr>
              <a:t> </a:t>
            </a:r>
            <a:r>
              <a:rPr sz="1800" b="1" dirty="0">
                <a:solidFill>
                  <a:srgbClr val="FF0000"/>
                </a:solidFill>
                <a:latin typeface="Arial"/>
                <a:cs typeface="Arial"/>
              </a:rPr>
              <a:t>2</a:t>
            </a:r>
            <a:r>
              <a:rPr sz="1800" b="1" spc="-15" dirty="0">
                <a:solidFill>
                  <a:srgbClr val="FF0000"/>
                </a:solidFill>
                <a:latin typeface="Arial"/>
                <a:cs typeface="Arial"/>
              </a:rPr>
              <a:t> </a:t>
            </a:r>
            <a:r>
              <a:rPr sz="1800" b="1" spc="-10" dirty="0">
                <a:solidFill>
                  <a:srgbClr val="FF0000"/>
                </a:solidFill>
                <a:latin typeface="Arial"/>
                <a:cs typeface="Arial"/>
              </a:rPr>
              <a:t>seconds)</a:t>
            </a:r>
            <a:endParaRPr sz="1800">
              <a:latin typeface="Arial"/>
              <a:cs typeface="Arial"/>
            </a:endParaRPr>
          </a:p>
          <a:p>
            <a:pPr marL="1098550" lvl="2" indent="-227965">
              <a:lnSpc>
                <a:spcPct val="100000"/>
              </a:lnSpc>
              <a:spcBef>
                <a:spcPts val="2050"/>
              </a:spcBef>
              <a:buClr>
                <a:srgbClr val="009900"/>
              </a:buClr>
              <a:buSzPct val="75000"/>
              <a:buFont typeface="Webdings"/>
              <a:buChar char=""/>
              <a:tabLst>
                <a:tab pos="1098550" algn="l"/>
              </a:tabLst>
            </a:pPr>
            <a:r>
              <a:rPr sz="1800" dirty="0">
                <a:latin typeface="Arial MT"/>
                <a:cs typeface="Arial MT"/>
              </a:rPr>
              <a:t>Swap</a:t>
            </a:r>
            <a:r>
              <a:rPr sz="1800" spc="10"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time</a:t>
            </a:r>
            <a:r>
              <a:rPr sz="1800" spc="-2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same</a:t>
            </a:r>
            <a:r>
              <a:rPr sz="1800" spc="-10" dirty="0">
                <a:latin typeface="Arial MT"/>
                <a:cs typeface="Arial MT"/>
              </a:rPr>
              <a:t> </a:t>
            </a:r>
            <a:r>
              <a:rPr sz="1800" dirty="0">
                <a:latin typeface="Arial MT"/>
                <a:cs typeface="Arial MT"/>
              </a:rPr>
              <a:t>sized</a:t>
            </a:r>
            <a:r>
              <a:rPr sz="1800" spc="-10"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is</a:t>
            </a:r>
            <a:r>
              <a:rPr sz="1800" spc="-15" dirty="0">
                <a:latin typeface="Arial MT"/>
                <a:cs typeface="Arial MT"/>
              </a:rPr>
              <a:t> </a:t>
            </a:r>
            <a:r>
              <a:rPr sz="1800" dirty="0">
                <a:latin typeface="Arial MT"/>
                <a:cs typeface="Arial MT"/>
              </a:rPr>
              <a:t>also</a:t>
            </a:r>
            <a:r>
              <a:rPr sz="1800" spc="-10" dirty="0">
                <a:latin typeface="Arial MT"/>
                <a:cs typeface="Arial MT"/>
              </a:rPr>
              <a:t> </a:t>
            </a:r>
            <a:r>
              <a:rPr sz="1800" dirty="0">
                <a:latin typeface="Arial MT"/>
                <a:cs typeface="Arial MT"/>
              </a:rPr>
              <a:t>2000</a:t>
            </a:r>
            <a:r>
              <a:rPr sz="1800" spc="-5" dirty="0">
                <a:latin typeface="Arial MT"/>
                <a:cs typeface="Arial MT"/>
              </a:rPr>
              <a:t> </a:t>
            </a:r>
            <a:r>
              <a:rPr sz="1800" spc="-25" dirty="0">
                <a:latin typeface="Arial MT"/>
                <a:cs typeface="Arial MT"/>
              </a:rPr>
              <a:t>ms</a:t>
            </a:r>
            <a:endParaRPr sz="1800">
              <a:latin typeface="Arial MT"/>
              <a:cs typeface="Arial MT"/>
            </a:endParaRPr>
          </a:p>
          <a:p>
            <a:pPr marL="1098550" lvl="2" indent="-227965">
              <a:lnSpc>
                <a:spcPct val="100000"/>
              </a:lnSpc>
              <a:spcBef>
                <a:spcPts val="2055"/>
              </a:spcBef>
              <a:buClr>
                <a:srgbClr val="009900"/>
              </a:buClr>
              <a:buSzPct val="75000"/>
              <a:buFont typeface="Webdings"/>
              <a:buChar char=""/>
              <a:tabLst>
                <a:tab pos="1098550" algn="l"/>
              </a:tabLst>
            </a:pPr>
            <a:r>
              <a:rPr sz="1800" dirty="0">
                <a:latin typeface="Arial MT"/>
                <a:cs typeface="Arial MT"/>
              </a:rPr>
              <a:t>Total</a:t>
            </a:r>
            <a:r>
              <a:rPr sz="1800" spc="-40" dirty="0">
                <a:latin typeface="Arial MT"/>
                <a:cs typeface="Arial MT"/>
              </a:rPr>
              <a:t> </a:t>
            </a:r>
            <a:r>
              <a:rPr sz="1800" spc="-10" dirty="0">
                <a:latin typeface="Arial MT"/>
                <a:cs typeface="Arial MT"/>
              </a:rPr>
              <a:t>context-</a:t>
            </a:r>
            <a:r>
              <a:rPr sz="1800" dirty="0">
                <a:latin typeface="Arial MT"/>
                <a:cs typeface="Arial MT"/>
              </a:rPr>
              <a:t>switch</a:t>
            </a:r>
            <a:r>
              <a:rPr sz="1800" spc="30" dirty="0">
                <a:latin typeface="Arial MT"/>
                <a:cs typeface="Arial MT"/>
              </a:rPr>
              <a:t> </a:t>
            </a:r>
            <a:r>
              <a:rPr sz="1800" dirty="0">
                <a:solidFill>
                  <a:srgbClr val="FF0000"/>
                </a:solidFill>
                <a:latin typeface="Arial MT"/>
                <a:cs typeface="Arial MT"/>
              </a:rPr>
              <a:t>swapping</a:t>
            </a:r>
            <a:r>
              <a:rPr sz="1800" spc="20" dirty="0">
                <a:solidFill>
                  <a:srgbClr val="FF0000"/>
                </a:solidFill>
                <a:latin typeface="Arial MT"/>
                <a:cs typeface="Arial MT"/>
              </a:rPr>
              <a:t> </a:t>
            </a:r>
            <a:r>
              <a:rPr sz="1800" dirty="0">
                <a:solidFill>
                  <a:srgbClr val="FF0000"/>
                </a:solidFill>
                <a:latin typeface="Arial MT"/>
                <a:cs typeface="Arial MT"/>
              </a:rPr>
              <a:t>component</a:t>
            </a:r>
            <a:r>
              <a:rPr sz="1800" spc="-10" dirty="0">
                <a:solidFill>
                  <a:srgbClr val="FF0000"/>
                </a:solidFill>
                <a:latin typeface="Arial MT"/>
                <a:cs typeface="Arial MT"/>
              </a:rPr>
              <a:t> </a:t>
            </a:r>
            <a:r>
              <a:rPr sz="1800" dirty="0">
                <a:solidFill>
                  <a:srgbClr val="FF0000"/>
                </a:solidFill>
                <a:latin typeface="Arial MT"/>
                <a:cs typeface="Arial MT"/>
              </a:rPr>
              <a:t>time</a:t>
            </a:r>
            <a:r>
              <a:rPr sz="1800" spc="-20" dirty="0">
                <a:solidFill>
                  <a:srgbClr val="FF0000"/>
                </a:solidFill>
                <a:latin typeface="Arial MT"/>
                <a:cs typeface="Arial MT"/>
              </a:rPr>
              <a:t> </a:t>
            </a:r>
            <a:r>
              <a:rPr sz="1800" dirty="0">
                <a:latin typeface="Arial MT"/>
                <a:cs typeface="Arial MT"/>
              </a:rPr>
              <a:t>is</a:t>
            </a:r>
            <a:r>
              <a:rPr sz="1800" spc="-25" dirty="0">
                <a:latin typeface="Arial MT"/>
                <a:cs typeface="Arial MT"/>
              </a:rPr>
              <a:t> </a:t>
            </a:r>
            <a:r>
              <a:rPr sz="1800" b="1" dirty="0">
                <a:solidFill>
                  <a:srgbClr val="FF0000"/>
                </a:solidFill>
                <a:latin typeface="Arial"/>
                <a:cs typeface="Arial"/>
              </a:rPr>
              <a:t>4000ms</a:t>
            </a:r>
            <a:r>
              <a:rPr sz="1800" b="1" spc="-10" dirty="0">
                <a:solidFill>
                  <a:srgbClr val="FF0000"/>
                </a:solidFill>
                <a:latin typeface="Arial"/>
                <a:cs typeface="Arial"/>
              </a:rPr>
              <a:t> </a:t>
            </a:r>
            <a:r>
              <a:rPr sz="1800" b="1" dirty="0">
                <a:solidFill>
                  <a:srgbClr val="FF0000"/>
                </a:solidFill>
                <a:latin typeface="Arial"/>
                <a:cs typeface="Arial"/>
              </a:rPr>
              <a:t>(=</a:t>
            </a:r>
            <a:r>
              <a:rPr sz="1800" b="1" spc="-35" dirty="0">
                <a:solidFill>
                  <a:srgbClr val="FF0000"/>
                </a:solidFill>
                <a:latin typeface="Arial"/>
                <a:cs typeface="Arial"/>
              </a:rPr>
              <a:t> </a:t>
            </a:r>
            <a:r>
              <a:rPr sz="1800" b="1" dirty="0">
                <a:solidFill>
                  <a:srgbClr val="FF0000"/>
                </a:solidFill>
                <a:latin typeface="Arial"/>
                <a:cs typeface="Arial"/>
              </a:rPr>
              <a:t>4</a:t>
            </a:r>
            <a:r>
              <a:rPr sz="1800" b="1" spc="-25" dirty="0">
                <a:solidFill>
                  <a:srgbClr val="FF0000"/>
                </a:solidFill>
                <a:latin typeface="Arial"/>
                <a:cs typeface="Arial"/>
              </a:rPr>
              <a:t> </a:t>
            </a:r>
            <a:r>
              <a:rPr sz="1800" b="1" spc="-10" dirty="0">
                <a:solidFill>
                  <a:srgbClr val="FF0000"/>
                </a:solidFill>
                <a:latin typeface="Arial"/>
                <a:cs typeface="Arial"/>
              </a:rPr>
              <a:t>seconds)</a:t>
            </a:r>
            <a:endParaRPr sz="1800">
              <a:latin typeface="Arial"/>
              <a:cs typeface="Arial"/>
            </a:endParaRPr>
          </a:p>
          <a:p>
            <a:pPr marL="756285" marR="5080" lvl="1" indent="-287020">
              <a:lnSpc>
                <a:spcPct val="100000"/>
              </a:lnSpc>
              <a:spcBef>
                <a:spcPts val="2055"/>
              </a:spcBef>
              <a:buClr>
                <a:srgbClr val="CC6600"/>
              </a:buClr>
              <a:buSzPct val="80555"/>
              <a:buFont typeface="Wingdings"/>
              <a:buChar char=""/>
              <a:tabLst>
                <a:tab pos="756285" algn="l"/>
              </a:tabLst>
            </a:pPr>
            <a:r>
              <a:rPr sz="1800" dirty="0">
                <a:solidFill>
                  <a:srgbClr val="FF0000"/>
                </a:solidFill>
                <a:latin typeface="Arial MT"/>
                <a:cs typeface="Arial MT"/>
              </a:rPr>
              <a:t>We</a:t>
            </a:r>
            <a:r>
              <a:rPr sz="1800" spc="-25" dirty="0">
                <a:solidFill>
                  <a:srgbClr val="FF0000"/>
                </a:solidFill>
                <a:latin typeface="Arial MT"/>
                <a:cs typeface="Arial MT"/>
              </a:rPr>
              <a:t> </a:t>
            </a:r>
            <a:r>
              <a:rPr sz="1800" dirty="0">
                <a:solidFill>
                  <a:srgbClr val="FF0000"/>
                </a:solidFill>
                <a:latin typeface="Arial MT"/>
                <a:cs typeface="Arial MT"/>
              </a:rPr>
              <a:t>have</a:t>
            </a:r>
            <a:r>
              <a:rPr sz="1800" spc="-25" dirty="0">
                <a:solidFill>
                  <a:srgbClr val="FF0000"/>
                </a:solidFill>
                <a:latin typeface="Arial MT"/>
                <a:cs typeface="Arial MT"/>
              </a:rPr>
              <a:t> </a:t>
            </a:r>
            <a:r>
              <a:rPr sz="1800" dirty="0">
                <a:solidFill>
                  <a:srgbClr val="FF0000"/>
                </a:solidFill>
                <a:latin typeface="Arial MT"/>
                <a:cs typeface="Arial MT"/>
              </a:rPr>
              <a:t>ignored</a:t>
            </a:r>
            <a:r>
              <a:rPr sz="1800" spc="-10" dirty="0">
                <a:solidFill>
                  <a:srgbClr val="FF0000"/>
                </a:solidFill>
                <a:latin typeface="Arial MT"/>
                <a:cs typeface="Arial MT"/>
              </a:rPr>
              <a:t> </a:t>
            </a:r>
            <a:r>
              <a:rPr sz="1800" dirty="0">
                <a:solidFill>
                  <a:srgbClr val="FF0000"/>
                </a:solidFill>
                <a:latin typeface="Arial MT"/>
                <a:cs typeface="Arial MT"/>
              </a:rPr>
              <a:t>other</a:t>
            </a:r>
            <a:r>
              <a:rPr sz="1800" spc="-25" dirty="0">
                <a:solidFill>
                  <a:srgbClr val="FF0000"/>
                </a:solidFill>
                <a:latin typeface="Arial MT"/>
                <a:cs typeface="Arial MT"/>
              </a:rPr>
              <a:t> </a:t>
            </a:r>
            <a:r>
              <a:rPr sz="1800" dirty="0">
                <a:solidFill>
                  <a:srgbClr val="FF0000"/>
                </a:solidFill>
                <a:latin typeface="Arial MT"/>
                <a:cs typeface="Arial MT"/>
              </a:rPr>
              <a:t>components of</a:t>
            </a:r>
            <a:r>
              <a:rPr sz="1800" spc="-35" dirty="0">
                <a:solidFill>
                  <a:srgbClr val="FF0000"/>
                </a:solidFill>
                <a:latin typeface="Arial MT"/>
                <a:cs typeface="Arial MT"/>
              </a:rPr>
              <a:t> </a:t>
            </a:r>
            <a:r>
              <a:rPr sz="1800" spc="-10" dirty="0">
                <a:solidFill>
                  <a:srgbClr val="FF0000"/>
                </a:solidFill>
                <a:latin typeface="Arial MT"/>
                <a:cs typeface="Arial MT"/>
              </a:rPr>
              <a:t>context-</a:t>
            </a:r>
            <a:r>
              <a:rPr sz="1800" dirty="0">
                <a:solidFill>
                  <a:srgbClr val="FF0000"/>
                </a:solidFill>
                <a:latin typeface="Arial MT"/>
                <a:cs typeface="Arial MT"/>
              </a:rPr>
              <a:t>switch</a:t>
            </a:r>
            <a:r>
              <a:rPr sz="1800" spc="30" dirty="0">
                <a:solidFill>
                  <a:srgbClr val="FF0000"/>
                </a:solidFill>
                <a:latin typeface="Arial MT"/>
                <a:cs typeface="Arial MT"/>
              </a:rPr>
              <a:t> </a:t>
            </a:r>
            <a:r>
              <a:rPr sz="1800" dirty="0">
                <a:solidFill>
                  <a:srgbClr val="FF0000"/>
                </a:solidFill>
                <a:latin typeface="Arial MT"/>
                <a:cs typeface="Arial MT"/>
              </a:rPr>
              <a:t>time</a:t>
            </a:r>
            <a:r>
              <a:rPr sz="1800" spc="-25" dirty="0">
                <a:solidFill>
                  <a:srgbClr val="FF0000"/>
                </a:solidFill>
                <a:latin typeface="Arial MT"/>
                <a:cs typeface="Arial MT"/>
              </a:rPr>
              <a:t> </a:t>
            </a:r>
            <a:r>
              <a:rPr sz="1800" dirty="0">
                <a:solidFill>
                  <a:srgbClr val="FF0000"/>
                </a:solidFill>
                <a:latin typeface="Arial MT"/>
                <a:cs typeface="Arial MT"/>
              </a:rPr>
              <a:t>and</a:t>
            </a:r>
            <a:r>
              <a:rPr sz="1800" spc="-20" dirty="0">
                <a:solidFill>
                  <a:srgbClr val="FF0000"/>
                </a:solidFill>
                <a:latin typeface="Arial MT"/>
                <a:cs typeface="Arial MT"/>
              </a:rPr>
              <a:t> </a:t>
            </a:r>
            <a:r>
              <a:rPr sz="1800" dirty="0">
                <a:solidFill>
                  <a:srgbClr val="FF0000"/>
                </a:solidFill>
                <a:latin typeface="Arial MT"/>
                <a:cs typeface="Arial MT"/>
              </a:rPr>
              <a:t>ignored</a:t>
            </a:r>
            <a:r>
              <a:rPr sz="1800" spc="-20" dirty="0">
                <a:solidFill>
                  <a:srgbClr val="FF0000"/>
                </a:solidFill>
                <a:latin typeface="Arial MT"/>
                <a:cs typeface="Arial MT"/>
              </a:rPr>
              <a:t> </a:t>
            </a:r>
            <a:r>
              <a:rPr sz="1800" spc="-10" dirty="0">
                <a:solidFill>
                  <a:srgbClr val="FF0000"/>
                </a:solidFill>
                <a:latin typeface="Arial MT"/>
                <a:cs typeface="Arial MT"/>
              </a:rPr>
              <a:t>other </a:t>
            </a:r>
            <a:r>
              <a:rPr sz="1800" dirty="0">
                <a:solidFill>
                  <a:srgbClr val="FF0000"/>
                </a:solidFill>
                <a:latin typeface="Arial MT"/>
                <a:cs typeface="Arial MT"/>
              </a:rPr>
              <a:t>disk</a:t>
            </a:r>
            <a:r>
              <a:rPr sz="1800" spc="-15" dirty="0">
                <a:solidFill>
                  <a:srgbClr val="FF0000"/>
                </a:solidFill>
                <a:latin typeface="Arial MT"/>
                <a:cs typeface="Arial MT"/>
              </a:rPr>
              <a:t> </a:t>
            </a:r>
            <a:r>
              <a:rPr sz="1800" dirty="0">
                <a:solidFill>
                  <a:srgbClr val="FF0000"/>
                </a:solidFill>
                <a:latin typeface="Arial MT"/>
                <a:cs typeface="Arial MT"/>
              </a:rPr>
              <a:t>performance</a:t>
            </a:r>
            <a:r>
              <a:rPr sz="1800" spc="5" dirty="0">
                <a:solidFill>
                  <a:srgbClr val="FF0000"/>
                </a:solidFill>
                <a:latin typeface="Arial MT"/>
                <a:cs typeface="Arial MT"/>
              </a:rPr>
              <a:t> </a:t>
            </a:r>
            <a:r>
              <a:rPr sz="1800" dirty="0">
                <a:solidFill>
                  <a:srgbClr val="FF0000"/>
                </a:solidFill>
                <a:latin typeface="Arial MT"/>
                <a:cs typeface="Arial MT"/>
              </a:rPr>
              <a:t>aspect.</a:t>
            </a:r>
            <a:r>
              <a:rPr sz="1800" spc="-5" dirty="0">
                <a:solidFill>
                  <a:srgbClr val="FF0000"/>
                </a:solidFill>
                <a:latin typeface="Arial MT"/>
                <a:cs typeface="Arial MT"/>
              </a:rPr>
              <a:t> </a:t>
            </a:r>
            <a:r>
              <a:rPr sz="1800" b="1" dirty="0">
                <a:solidFill>
                  <a:srgbClr val="FF0000"/>
                </a:solidFill>
                <a:latin typeface="Arial"/>
                <a:cs typeface="Arial"/>
              </a:rPr>
              <a:t>But,</a:t>
            </a:r>
            <a:r>
              <a:rPr sz="1800" b="1" spc="-10" dirty="0">
                <a:solidFill>
                  <a:srgbClr val="FF0000"/>
                </a:solidFill>
                <a:latin typeface="Arial"/>
                <a:cs typeface="Arial"/>
              </a:rPr>
              <a:t> </a:t>
            </a:r>
            <a:r>
              <a:rPr sz="1800" b="1" dirty="0">
                <a:solidFill>
                  <a:srgbClr val="FF0000"/>
                </a:solidFill>
                <a:latin typeface="Arial"/>
                <a:cs typeface="Arial"/>
              </a:rPr>
              <a:t>the</a:t>
            </a:r>
            <a:r>
              <a:rPr sz="1800" b="1" spc="-15" dirty="0">
                <a:solidFill>
                  <a:srgbClr val="FF0000"/>
                </a:solidFill>
                <a:latin typeface="Arial"/>
                <a:cs typeface="Arial"/>
              </a:rPr>
              <a:t> </a:t>
            </a:r>
            <a:r>
              <a:rPr sz="1800" b="1" dirty="0">
                <a:solidFill>
                  <a:srgbClr val="FF0000"/>
                </a:solidFill>
                <a:latin typeface="Arial"/>
                <a:cs typeface="Arial"/>
              </a:rPr>
              <a:t>major</a:t>
            </a:r>
            <a:r>
              <a:rPr sz="1800" b="1" spc="-15" dirty="0">
                <a:solidFill>
                  <a:srgbClr val="FF0000"/>
                </a:solidFill>
                <a:latin typeface="Arial"/>
                <a:cs typeface="Arial"/>
              </a:rPr>
              <a:t> </a:t>
            </a:r>
            <a:r>
              <a:rPr sz="1800" b="1" dirty="0">
                <a:solidFill>
                  <a:srgbClr val="FF0000"/>
                </a:solidFill>
                <a:latin typeface="Arial"/>
                <a:cs typeface="Arial"/>
              </a:rPr>
              <a:t>part</a:t>
            </a:r>
            <a:r>
              <a:rPr sz="1800" b="1" spc="-10" dirty="0">
                <a:solidFill>
                  <a:srgbClr val="FF0000"/>
                </a:solidFill>
                <a:latin typeface="Arial"/>
                <a:cs typeface="Arial"/>
              </a:rPr>
              <a:t> </a:t>
            </a:r>
            <a:r>
              <a:rPr sz="1800" b="1" dirty="0">
                <a:solidFill>
                  <a:srgbClr val="FF0000"/>
                </a:solidFill>
                <a:latin typeface="Arial"/>
                <a:cs typeface="Arial"/>
              </a:rPr>
              <a:t>of</a:t>
            </a:r>
            <a:r>
              <a:rPr sz="1800" b="1" spc="-25" dirty="0">
                <a:solidFill>
                  <a:srgbClr val="FF0000"/>
                </a:solidFill>
                <a:latin typeface="Arial"/>
                <a:cs typeface="Arial"/>
              </a:rPr>
              <a:t> </a:t>
            </a:r>
            <a:r>
              <a:rPr sz="1800" b="1" dirty="0">
                <a:solidFill>
                  <a:srgbClr val="FF0000"/>
                </a:solidFill>
                <a:latin typeface="Arial"/>
                <a:cs typeface="Arial"/>
              </a:rPr>
              <a:t>swap</a:t>
            </a:r>
            <a:r>
              <a:rPr sz="1800" b="1" spc="-45" dirty="0">
                <a:solidFill>
                  <a:srgbClr val="FF0000"/>
                </a:solidFill>
                <a:latin typeface="Arial"/>
                <a:cs typeface="Arial"/>
              </a:rPr>
              <a:t> </a:t>
            </a:r>
            <a:r>
              <a:rPr sz="1800" b="1" dirty="0">
                <a:solidFill>
                  <a:srgbClr val="FF0000"/>
                </a:solidFill>
                <a:latin typeface="Arial"/>
                <a:cs typeface="Arial"/>
              </a:rPr>
              <a:t>time</a:t>
            </a:r>
            <a:r>
              <a:rPr sz="1800" b="1" spc="-15" dirty="0">
                <a:solidFill>
                  <a:srgbClr val="FF0000"/>
                </a:solidFill>
                <a:latin typeface="Arial"/>
                <a:cs typeface="Arial"/>
              </a:rPr>
              <a:t> </a:t>
            </a:r>
            <a:r>
              <a:rPr sz="1800" b="1" dirty="0">
                <a:solidFill>
                  <a:srgbClr val="FF0000"/>
                </a:solidFill>
                <a:latin typeface="Arial"/>
                <a:cs typeface="Arial"/>
              </a:rPr>
              <a:t>is</a:t>
            </a:r>
            <a:r>
              <a:rPr sz="1800" b="1" spc="-30" dirty="0">
                <a:solidFill>
                  <a:srgbClr val="FF0000"/>
                </a:solidFill>
                <a:latin typeface="Arial"/>
                <a:cs typeface="Arial"/>
              </a:rPr>
              <a:t> </a:t>
            </a:r>
            <a:r>
              <a:rPr sz="1800" b="1" dirty="0">
                <a:solidFill>
                  <a:srgbClr val="FF0000"/>
                </a:solidFill>
                <a:latin typeface="Arial"/>
                <a:cs typeface="Arial"/>
              </a:rPr>
              <a:t>transfer</a:t>
            </a:r>
            <a:r>
              <a:rPr sz="1800" b="1" spc="-5" dirty="0">
                <a:solidFill>
                  <a:srgbClr val="FF0000"/>
                </a:solidFill>
                <a:latin typeface="Arial"/>
                <a:cs typeface="Arial"/>
              </a:rPr>
              <a:t> </a:t>
            </a:r>
            <a:r>
              <a:rPr sz="1800" b="1" spc="-20" dirty="0">
                <a:solidFill>
                  <a:srgbClr val="FF0000"/>
                </a:solidFill>
                <a:latin typeface="Arial"/>
                <a:cs typeface="Arial"/>
              </a:rPr>
              <a:t>time</a:t>
            </a:r>
            <a:endParaRPr sz="1800">
              <a:latin typeface="Arial"/>
              <a:cs typeface="Arial"/>
            </a:endParaRPr>
          </a:p>
          <a:p>
            <a:pPr marL="354965" indent="-342265">
              <a:lnSpc>
                <a:spcPct val="100000"/>
              </a:lnSpc>
              <a:spcBef>
                <a:spcPts val="2050"/>
              </a:spcBef>
              <a:buClr>
                <a:srgbClr val="993300"/>
              </a:buClr>
              <a:buSzPct val="88888"/>
              <a:buFont typeface="Wingdings"/>
              <a:buChar char=""/>
              <a:tabLst>
                <a:tab pos="354965" algn="l"/>
              </a:tabLst>
            </a:pPr>
            <a:r>
              <a:rPr sz="1800" dirty="0">
                <a:latin typeface="Arial MT"/>
                <a:cs typeface="Arial MT"/>
              </a:rPr>
              <a:t>Total</a:t>
            </a:r>
            <a:r>
              <a:rPr sz="1800" spc="-50" dirty="0">
                <a:latin typeface="Arial MT"/>
                <a:cs typeface="Arial MT"/>
              </a:rPr>
              <a:t> </a:t>
            </a:r>
            <a:r>
              <a:rPr sz="1800" dirty="0">
                <a:latin typeface="Arial MT"/>
                <a:cs typeface="Arial MT"/>
              </a:rPr>
              <a:t>transfer</a:t>
            </a:r>
            <a:r>
              <a:rPr sz="1800" spc="-20" dirty="0">
                <a:latin typeface="Arial MT"/>
                <a:cs typeface="Arial MT"/>
              </a:rPr>
              <a:t> </a:t>
            </a:r>
            <a:r>
              <a:rPr sz="1800" dirty="0">
                <a:latin typeface="Arial MT"/>
                <a:cs typeface="Arial MT"/>
              </a:rPr>
              <a:t>time</a:t>
            </a:r>
            <a:r>
              <a:rPr sz="1800" spc="-3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directly</a:t>
            </a:r>
            <a:r>
              <a:rPr sz="1800" spc="-15" dirty="0">
                <a:latin typeface="Arial MT"/>
                <a:cs typeface="Arial MT"/>
              </a:rPr>
              <a:t> </a:t>
            </a:r>
            <a:r>
              <a:rPr sz="1800" dirty="0">
                <a:latin typeface="Arial MT"/>
                <a:cs typeface="Arial MT"/>
              </a:rPr>
              <a:t>proportional</a:t>
            </a:r>
            <a:r>
              <a:rPr sz="1800" spc="-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the</a:t>
            </a:r>
            <a:r>
              <a:rPr sz="1800" spc="-35" dirty="0">
                <a:latin typeface="Arial MT"/>
                <a:cs typeface="Arial MT"/>
              </a:rPr>
              <a:t> </a:t>
            </a:r>
            <a:r>
              <a:rPr sz="1800" dirty="0">
                <a:latin typeface="Arial MT"/>
                <a:cs typeface="Arial MT"/>
              </a:rPr>
              <a:t>amount</a:t>
            </a:r>
            <a:r>
              <a:rPr sz="1800" spc="-15"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memory</a:t>
            </a:r>
            <a:r>
              <a:rPr sz="1800" spc="-20" dirty="0">
                <a:latin typeface="Arial MT"/>
                <a:cs typeface="Arial MT"/>
              </a:rPr>
              <a:t> </a:t>
            </a:r>
            <a:r>
              <a:rPr sz="1800" spc="-10" dirty="0">
                <a:latin typeface="Arial MT"/>
                <a:cs typeface="Arial MT"/>
              </a:rPr>
              <a:t>swapped</a:t>
            </a:r>
            <a:endParaRPr sz="18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dirty="0">
                <a:solidFill>
                  <a:srgbClr val="FF0000"/>
                </a:solidFill>
                <a:latin typeface="Arial MT"/>
                <a:cs typeface="Arial MT"/>
              </a:rPr>
              <a:t>We</a:t>
            </a:r>
            <a:r>
              <a:rPr sz="1800" spc="-30" dirty="0">
                <a:solidFill>
                  <a:srgbClr val="FF0000"/>
                </a:solidFill>
                <a:latin typeface="Arial MT"/>
                <a:cs typeface="Arial MT"/>
              </a:rPr>
              <a:t> </a:t>
            </a:r>
            <a:r>
              <a:rPr sz="1800" dirty="0">
                <a:solidFill>
                  <a:srgbClr val="FF0000"/>
                </a:solidFill>
                <a:latin typeface="Arial MT"/>
                <a:cs typeface="Arial MT"/>
              </a:rPr>
              <a:t>can</a:t>
            </a:r>
            <a:r>
              <a:rPr sz="1800" spc="-25" dirty="0">
                <a:solidFill>
                  <a:srgbClr val="FF0000"/>
                </a:solidFill>
                <a:latin typeface="Arial MT"/>
                <a:cs typeface="Arial MT"/>
              </a:rPr>
              <a:t> </a:t>
            </a:r>
            <a:r>
              <a:rPr sz="1800" dirty="0">
                <a:solidFill>
                  <a:srgbClr val="FF0000"/>
                </a:solidFill>
                <a:latin typeface="Arial MT"/>
                <a:cs typeface="Arial MT"/>
              </a:rPr>
              <a:t>reduce</a:t>
            </a:r>
            <a:r>
              <a:rPr sz="1800" spc="-15" dirty="0">
                <a:solidFill>
                  <a:srgbClr val="FF0000"/>
                </a:solidFill>
                <a:latin typeface="Arial MT"/>
                <a:cs typeface="Arial MT"/>
              </a:rPr>
              <a:t> </a:t>
            </a:r>
            <a:r>
              <a:rPr sz="1800" dirty="0">
                <a:solidFill>
                  <a:srgbClr val="FF0000"/>
                </a:solidFill>
                <a:latin typeface="Arial MT"/>
                <a:cs typeface="Arial MT"/>
              </a:rPr>
              <a:t>if</a:t>
            </a:r>
            <a:r>
              <a:rPr sz="1800" spc="-20" dirty="0">
                <a:solidFill>
                  <a:srgbClr val="FF0000"/>
                </a:solidFill>
                <a:latin typeface="Arial MT"/>
                <a:cs typeface="Arial MT"/>
              </a:rPr>
              <a:t> </a:t>
            </a:r>
            <a:r>
              <a:rPr sz="1800" dirty="0">
                <a:solidFill>
                  <a:srgbClr val="FF0000"/>
                </a:solidFill>
                <a:latin typeface="Arial MT"/>
                <a:cs typeface="Arial MT"/>
              </a:rPr>
              <a:t>we</a:t>
            </a:r>
            <a:r>
              <a:rPr sz="1800" spc="10" dirty="0">
                <a:solidFill>
                  <a:srgbClr val="FF0000"/>
                </a:solidFill>
                <a:latin typeface="Arial MT"/>
                <a:cs typeface="Arial MT"/>
              </a:rPr>
              <a:t> </a:t>
            </a:r>
            <a:r>
              <a:rPr sz="1800" dirty="0">
                <a:solidFill>
                  <a:srgbClr val="FF0000"/>
                </a:solidFill>
                <a:latin typeface="Arial MT"/>
                <a:cs typeface="Arial MT"/>
              </a:rPr>
              <a:t>know</a:t>
            </a:r>
            <a:r>
              <a:rPr sz="1800" spc="-15" dirty="0">
                <a:solidFill>
                  <a:srgbClr val="FF0000"/>
                </a:solidFill>
                <a:latin typeface="Arial MT"/>
                <a:cs typeface="Arial MT"/>
              </a:rPr>
              <a:t> </a:t>
            </a:r>
            <a:r>
              <a:rPr sz="1800" dirty="0">
                <a:solidFill>
                  <a:srgbClr val="FF0000"/>
                </a:solidFill>
                <a:latin typeface="Arial MT"/>
                <a:cs typeface="Arial MT"/>
              </a:rPr>
              <a:t>exactly</a:t>
            </a:r>
            <a:r>
              <a:rPr sz="1800" spc="-10" dirty="0">
                <a:solidFill>
                  <a:srgbClr val="FF0000"/>
                </a:solidFill>
                <a:latin typeface="Arial MT"/>
                <a:cs typeface="Arial MT"/>
              </a:rPr>
              <a:t> </a:t>
            </a:r>
            <a:r>
              <a:rPr sz="1800" dirty="0">
                <a:solidFill>
                  <a:srgbClr val="FF0000"/>
                </a:solidFill>
                <a:latin typeface="Arial MT"/>
                <a:cs typeface="Arial MT"/>
              </a:rPr>
              <a:t>how</a:t>
            </a:r>
            <a:r>
              <a:rPr sz="1800" spc="-10" dirty="0">
                <a:solidFill>
                  <a:srgbClr val="FF0000"/>
                </a:solidFill>
                <a:latin typeface="Arial MT"/>
                <a:cs typeface="Arial MT"/>
              </a:rPr>
              <a:t> </a:t>
            </a:r>
            <a:r>
              <a:rPr sz="1800" dirty="0">
                <a:solidFill>
                  <a:srgbClr val="FF0000"/>
                </a:solidFill>
                <a:latin typeface="Arial MT"/>
                <a:cs typeface="Arial MT"/>
              </a:rPr>
              <a:t>much</a:t>
            </a:r>
            <a:r>
              <a:rPr sz="1800" spc="-30" dirty="0">
                <a:solidFill>
                  <a:srgbClr val="FF0000"/>
                </a:solidFill>
                <a:latin typeface="Arial MT"/>
                <a:cs typeface="Arial MT"/>
              </a:rPr>
              <a:t> </a:t>
            </a:r>
            <a:r>
              <a:rPr sz="1800" dirty="0">
                <a:solidFill>
                  <a:srgbClr val="FF0000"/>
                </a:solidFill>
                <a:latin typeface="Arial MT"/>
                <a:cs typeface="Arial MT"/>
              </a:rPr>
              <a:t>memory</a:t>
            </a:r>
            <a:r>
              <a:rPr sz="1800" spc="-20" dirty="0">
                <a:solidFill>
                  <a:srgbClr val="FF0000"/>
                </a:solidFill>
                <a:latin typeface="Arial MT"/>
                <a:cs typeface="Arial MT"/>
              </a:rPr>
              <a:t> </a:t>
            </a:r>
            <a:r>
              <a:rPr sz="1800" dirty="0">
                <a:solidFill>
                  <a:srgbClr val="FF0000"/>
                </a:solidFill>
                <a:latin typeface="Arial MT"/>
                <a:cs typeface="Arial MT"/>
              </a:rPr>
              <a:t>a</a:t>
            </a:r>
            <a:r>
              <a:rPr sz="1800" spc="-25" dirty="0">
                <a:solidFill>
                  <a:srgbClr val="FF0000"/>
                </a:solidFill>
                <a:latin typeface="Arial MT"/>
                <a:cs typeface="Arial MT"/>
              </a:rPr>
              <a:t> </a:t>
            </a:r>
            <a:r>
              <a:rPr sz="1800" dirty="0">
                <a:solidFill>
                  <a:srgbClr val="FF0000"/>
                </a:solidFill>
                <a:latin typeface="Arial MT"/>
                <a:cs typeface="Arial MT"/>
              </a:rPr>
              <a:t>process </a:t>
            </a:r>
            <a:r>
              <a:rPr sz="1800" b="1" i="1" dirty="0">
                <a:solidFill>
                  <a:srgbClr val="FF0000"/>
                </a:solidFill>
                <a:latin typeface="Arial"/>
                <a:cs typeface="Arial"/>
              </a:rPr>
              <a:t>is</a:t>
            </a:r>
            <a:r>
              <a:rPr sz="1800" b="1" i="1" spc="-15" dirty="0">
                <a:solidFill>
                  <a:srgbClr val="FF0000"/>
                </a:solidFill>
                <a:latin typeface="Arial"/>
                <a:cs typeface="Arial"/>
              </a:rPr>
              <a:t> </a:t>
            </a:r>
            <a:r>
              <a:rPr sz="1800" spc="-10" dirty="0">
                <a:solidFill>
                  <a:srgbClr val="FF0000"/>
                </a:solidFill>
                <a:latin typeface="Arial MT"/>
                <a:cs typeface="Arial MT"/>
              </a:rPr>
              <a:t>using</a:t>
            </a:r>
            <a:endParaRPr sz="1800">
              <a:latin typeface="Arial MT"/>
              <a:cs typeface="Arial MT"/>
            </a:endParaRPr>
          </a:p>
          <a:p>
            <a:pPr lvl="1">
              <a:lnSpc>
                <a:spcPct val="100000"/>
              </a:lnSpc>
              <a:spcBef>
                <a:spcPts val="150"/>
              </a:spcBef>
              <a:buClr>
                <a:srgbClr val="CC6600"/>
              </a:buClr>
              <a:buFont typeface="Wingdings"/>
              <a:buChar char=""/>
            </a:pPr>
            <a:endParaRPr sz="1800">
              <a:latin typeface="Arial MT"/>
              <a:cs typeface="Arial MT"/>
            </a:endParaRPr>
          </a:p>
          <a:p>
            <a:pPr marL="756285" marR="54610" lvl="1" indent="-287020">
              <a:lnSpc>
                <a:spcPts val="2039"/>
              </a:lnSpc>
              <a:buClr>
                <a:srgbClr val="CC6600"/>
              </a:buClr>
              <a:buSzPct val="80555"/>
              <a:buFont typeface="Wingdings"/>
              <a:buChar char=""/>
              <a:tabLst>
                <a:tab pos="756285" algn="l"/>
              </a:tabLst>
            </a:pPr>
            <a:r>
              <a:rPr sz="1800" dirty="0">
                <a:latin typeface="Arial MT"/>
                <a:cs typeface="Arial MT"/>
              </a:rPr>
              <a:t>Process</a:t>
            </a:r>
            <a:r>
              <a:rPr sz="1800" spc="-40" dirty="0">
                <a:latin typeface="Arial MT"/>
                <a:cs typeface="Arial MT"/>
              </a:rPr>
              <a:t> </a:t>
            </a:r>
            <a:r>
              <a:rPr sz="1800" dirty="0">
                <a:latin typeface="Arial MT"/>
                <a:cs typeface="Arial MT"/>
              </a:rPr>
              <a:t>with</a:t>
            </a:r>
            <a:r>
              <a:rPr sz="1800" spc="10" dirty="0">
                <a:latin typeface="Arial MT"/>
                <a:cs typeface="Arial MT"/>
              </a:rPr>
              <a:t> </a:t>
            </a:r>
            <a:r>
              <a:rPr sz="1800" dirty="0">
                <a:latin typeface="Arial MT"/>
                <a:cs typeface="Arial MT"/>
              </a:rPr>
              <a:t>dynamic</a:t>
            </a:r>
            <a:r>
              <a:rPr sz="1800" spc="-10" dirty="0">
                <a:latin typeface="Arial MT"/>
                <a:cs typeface="Arial MT"/>
              </a:rPr>
              <a:t> </a:t>
            </a:r>
            <a:r>
              <a:rPr sz="1800" dirty="0">
                <a:latin typeface="Arial MT"/>
                <a:cs typeface="Arial MT"/>
              </a:rPr>
              <a:t>memory</a:t>
            </a:r>
            <a:r>
              <a:rPr sz="1800" spc="-35" dirty="0">
                <a:latin typeface="Arial MT"/>
                <a:cs typeface="Arial MT"/>
              </a:rPr>
              <a:t> </a:t>
            </a:r>
            <a:r>
              <a:rPr sz="1800" dirty="0">
                <a:latin typeface="Arial MT"/>
                <a:cs typeface="Arial MT"/>
              </a:rPr>
              <a:t>requirements</a:t>
            </a:r>
            <a:r>
              <a:rPr sz="1800" spc="-15" dirty="0">
                <a:latin typeface="Arial MT"/>
                <a:cs typeface="Arial MT"/>
              </a:rPr>
              <a:t> </a:t>
            </a:r>
            <a:r>
              <a:rPr sz="1800" dirty="0">
                <a:latin typeface="Arial MT"/>
                <a:cs typeface="Arial MT"/>
              </a:rPr>
              <a:t>will</a:t>
            </a:r>
            <a:r>
              <a:rPr sz="1800" spc="10" dirty="0">
                <a:latin typeface="Arial MT"/>
                <a:cs typeface="Arial MT"/>
              </a:rPr>
              <a:t> </a:t>
            </a:r>
            <a:r>
              <a:rPr sz="1800" dirty="0">
                <a:latin typeface="Arial MT"/>
                <a:cs typeface="Arial MT"/>
              </a:rPr>
              <a:t>issue</a:t>
            </a:r>
            <a:r>
              <a:rPr sz="1800" spc="-40" dirty="0">
                <a:latin typeface="Arial MT"/>
                <a:cs typeface="Arial MT"/>
              </a:rPr>
              <a:t> </a:t>
            </a:r>
            <a:r>
              <a:rPr sz="1800" spc="-10" dirty="0">
                <a:latin typeface="Arial MT"/>
                <a:cs typeface="Arial MT"/>
              </a:rPr>
              <a:t>system-</a:t>
            </a:r>
            <a:r>
              <a:rPr sz="1800" dirty="0">
                <a:latin typeface="Arial MT"/>
                <a:cs typeface="Arial MT"/>
              </a:rPr>
              <a:t>calls</a:t>
            </a:r>
            <a:r>
              <a:rPr sz="1800" spc="-10" dirty="0">
                <a:latin typeface="Arial MT"/>
                <a:cs typeface="Arial MT"/>
              </a:rPr>
              <a:t> </a:t>
            </a:r>
            <a:r>
              <a:rPr sz="1800" dirty="0">
                <a:latin typeface="Arial MT"/>
                <a:cs typeface="Arial MT"/>
              </a:rPr>
              <a:t>to</a:t>
            </a:r>
            <a:r>
              <a:rPr sz="1800" spc="-35" dirty="0">
                <a:latin typeface="Arial MT"/>
                <a:cs typeface="Arial MT"/>
              </a:rPr>
              <a:t> </a:t>
            </a:r>
            <a:r>
              <a:rPr sz="1800" spc="-10" dirty="0">
                <a:latin typeface="Arial MT"/>
                <a:cs typeface="Arial MT"/>
              </a:rPr>
              <a:t>inform </a:t>
            </a:r>
            <a:r>
              <a:rPr sz="1800" dirty="0">
                <a:latin typeface="Arial MT"/>
                <a:cs typeface="Arial MT"/>
              </a:rPr>
              <a:t>OS</a:t>
            </a:r>
            <a:r>
              <a:rPr sz="1800" spc="-45" dirty="0">
                <a:latin typeface="Arial MT"/>
                <a:cs typeface="Arial MT"/>
              </a:rPr>
              <a:t> </a:t>
            </a:r>
            <a:r>
              <a:rPr sz="1800" dirty="0">
                <a:latin typeface="Arial MT"/>
                <a:cs typeface="Arial MT"/>
              </a:rPr>
              <a:t>of</a:t>
            </a:r>
            <a:r>
              <a:rPr sz="1800" spc="-25" dirty="0">
                <a:latin typeface="Arial MT"/>
                <a:cs typeface="Arial MT"/>
              </a:rPr>
              <a:t> </a:t>
            </a:r>
            <a:r>
              <a:rPr sz="1800" dirty="0">
                <a:latin typeface="Arial MT"/>
                <a:cs typeface="Arial MT"/>
              </a:rPr>
              <a:t>memory</a:t>
            </a:r>
            <a:r>
              <a:rPr sz="1800" spc="-20" dirty="0">
                <a:latin typeface="Arial MT"/>
                <a:cs typeface="Arial MT"/>
              </a:rPr>
              <a:t> </a:t>
            </a:r>
            <a:r>
              <a:rPr sz="1800" dirty="0">
                <a:latin typeface="Arial MT"/>
                <a:cs typeface="Arial MT"/>
              </a:rPr>
              <a:t>use</a:t>
            </a:r>
            <a:r>
              <a:rPr sz="1800" spc="-20" dirty="0">
                <a:latin typeface="Arial MT"/>
                <a:cs typeface="Arial MT"/>
              </a:rPr>
              <a:t> </a:t>
            </a:r>
            <a:r>
              <a:rPr sz="1800" dirty="0">
                <a:latin typeface="Arial MT"/>
                <a:cs typeface="Arial MT"/>
              </a:rPr>
              <a:t>via</a:t>
            </a:r>
            <a:r>
              <a:rPr sz="1800" spc="-20" dirty="0">
                <a:latin typeface="Arial MT"/>
                <a:cs typeface="Arial MT"/>
              </a:rPr>
              <a:t> </a:t>
            </a:r>
            <a:r>
              <a:rPr sz="1800" dirty="0">
                <a:latin typeface="Courier New"/>
                <a:cs typeface="Courier New"/>
              </a:rPr>
              <a:t>request_memory()</a:t>
            </a:r>
            <a:r>
              <a:rPr sz="1800" spc="-95" dirty="0">
                <a:latin typeface="Courier New"/>
                <a:cs typeface="Courier New"/>
              </a:rPr>
              <a:t> </a:t>
            </a:r>
            <a:r>
              <a:rPr sz="1800" dirty="0">
                <a:latin typeface="Arial MT"/>
                <a:cs typeface="Arial MT"/>
              </a:rPr>
              <a:t>and</a:t>
            </a:r>
            <a:r>
              <a:rPr sz="1800" spc="-10" dirty="0">
                <a:latin typeface="Arial MT"/>
                <a:cs typeface="Arial MT"/>
              </a:rPr>
              <a:t> </a:t>
            </a:r>
            <a:r>
              <a:rPr sz="1800" spc="-10" dirty="0">
                <a:latin typeface="Courier New"/>
                <a:cs typeface="Courier New"/>
              </a:rPr>
              <a:t>release_memory()</a:t>
            </a:r>
            <a:endParaRPr sz="1800">
              <a:latin typeface="Courier New"/>
              <a:cs typeface="Courier New"/>
            </a:endParaRPr>
          </a:p>
        </p:txBody>
      </p:sp>
    </p:spTree>
    <p:extLst>
      <p:ext uri="{BB962C8B-B14F-4D97-AF65-F5344CB8AC3E}">
        <p14:creationId xmlns:p14="http://schemas.microsoft.com/office/powerpoint/2010/main" val="2670044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99771" rIns="0" bIns="0" rtlCol="0">
            <a:spAutoFit/>
          </a:bodyPr>
          <a:lstStyle/>
          <a:p>
            <a:pPr marL="2140585">
              <a:lnSpc>
                <a:spcPct val="100000"/>
              </a:lnSpc>
              <a:spcBef>
                <a:spcPts val="95"/>
              </a:spcBef>
            </a:pPr>
            <a:r>
              <a:rPr sz="2800" dirty="0">
                <a:solidFill>
                  <a:srgbClr val="006699"/>
                </a:solidFill>
              </a:rPr>
              <a:t>Context</a:t>
            </a:r>
            <a:r>
              <a:rPr sz="2800" spc="-55" dirty="0">
                <a:solidFill>
                  <a:srgbClr val="006699"/>
                </a:solidFill>
              </a:rPr>
              <a:t> </a:t>
            </a:r>
            <a:r>
              <a:rPr sz="2800" dirty="0">
                <a:solidFill>
                  <a:srgbClr val="006699"/>
                </a:solidFill>
              </a:rPr>
              <a:t>Switch</a:t>
            </a:r>
            <a:r>
              <a:rPr sz="2800" spc="-65" dirty="0">
                <a:solidFill>
                  <a:srgbClr val="006699"/>
                </a:solidFill>
              </a:rPr>
              <a:t> </a:t>
            </a:r>
            <a:r>
              <a:rPr sz="2800" dirty="0">
                <a:solidFill>
                  <a:srgbClr val="006699"/>
                </a:solidFill>
              </a:rPr>
              <a:t>Time</a:t>
            </a:r>
            <a:r>
              <a:rPr sz="2800" spc="-85" dirty="0">
                <a:solidFill>
                  <a:srgbClr val="006699"/>
                </a:solidFill>
              </a:rPr>
              <a:t> </a:t>
            </a:r>
            <a:r>
              <a:rPr sz="2800" dirty="0">
                <a:solidFill>
                  <a:srgbClr val="006699"/>
                </a:solidFill>
              </a:rPr>
              <a:t>and</a:t>
            </a:r>
            <a:r>
              <a:rPr sz="2800" spc="-60" dirty="0">
                <a:solidFill>
                  <a:srgbClr val="006699"/>
                </a:solidFill>
              </a:rPr>
              <a:t> </a:t>
            </a:r>
            <a:r>
              <a:rPr sz="2800" spc="-10" dirty="0">
                <a:solidFill>
                  <a:srgbClr val="006699"/>
                </a:solidFill>
              </a:rPr>
              <a:t>Swapping</a:t>
            </a:r>
            <a:endParaRPr sz="2800"/>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50</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538845" cy="5011420"/>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Other</a:t>
            </a:r>
            <a:r>
              <a:rPr sz="1800" spc="-40" dirty="0">
                <a:latin typeface="Arial MT"/>
                <a:cs typeface="Arial MT"/>
              </a:rPr>
              <a:t> </a:t>
            </a:r>
            <a:r>
              <a:rPr sz="1800" dirty="0">
                <a:latin typeface="Arial MT"/>
                <a:cs typeface="Arial MT"/>
              </a:rPr>
              <a:t>constraints</a:t>
            </a:r>
            <a:r>
              <a:rPr sz="1800" spc="-25" dirty="0">
                <a:latin typeface="Arial MT"/>
                <a:cs typeface="Arial MT"/>
              </a:rPr>
              <a:t> </a:t>
            </a:r>
            <a:r>
              <a:rPr sz="1800" dirty="0">
                <a:latin typeface="Arial MT"/>
                <a:cs typeface="Arial MT"/>
              </a:rPr>
              <a:t>as</a:t>
            </a:r>
            <a:r>
              <a:rPr sz="1800" spc="-25" dirty="0">
                <a:latin typeface="Arial MT"/>
                <a:cs typeface="Arial MT"/>
              </a:rPr>
              <a:t> </a:t>
            </a:r>
            <a:r>
              <a:rPr sz="1800" dirty="0">
                <a:latin typeface="Arial MT"/>
                <a:cs typeface="Arial MT"/>
              </a:rPr>
              <a:t>well</a:t>
            </a:r>
            <a:r>
              <a:rPr sz="1800" spc="15" dirty="0">
                <a:latin typeface="Arial MT"/>
                <a:cs typeface="Arial MT"/>
              </a:rPr>
              <a:t> </a:t>
            </a:r>
            <a:r>
              <a:rPr sz="1800" dirty="0">
                <a:latin typeface="Arial MT"/>
                <a:cs typeface="Arial MT"/>
              </a:rPr>
              <a:t>on</a:t>
            </a:r>
            <a:r>
              <a:rPr sz="1800" spc="-20" dirty="0">
                <a:latin typeface="Arial MT"/>
                <a:cs typeface="Arial MT"/>
              </a:rPr>
              <a:t> </a:t>
            </a:r>
            <a:r>
              <a:rPr sz="1800" spc="-10" dirty="0">
                <a:latin typeface="Arial MT"/>
                <a:cs typeface="Arial MT"/>
              </a:rPr>
              <a:t>swapping</a:t>
            </a:r>
            <a:endParaRPr sz="1800">
              <a:latin typeface="Arial MT"/>
              <a:cs typeface="Arial MT"/>
            </a:endParaRPr>
          </a:p>
          <a:p>
            <a:pPr marL="756285" marR="668655" lvl="1" indent="-287020">
              <a:lnSpc>
                <a:spcPct val="80000"/>
              </a:lnSpc>
              <a:spcBef>
                <a:spcPts val="2050"/>
              </a:spcBef>
              <a:buClr>
                <a:srgbClr val="CC6600"/>
              </a:buClr>
              <a:buSzPct val="80555"/>
              <a:buFont typeface="Wingdings"/>
              <a:buChar char=""/>
              <a:tabLst>
                <a:tab pos="756285" algn="l"/>
              </a:tabLst>
            </a:pPr>
            <a:r>
              <a:rPr sz="1800" dirty="0">
                <a:latin typeface="Arial MT"/>
                <a:cs typeface="Arial MT"/>
              </a:rPr>
              <a:t>Does</a:t>
            </a:r>
            <a:r>
              <a:rPr sz="1800" spc="-30" dirty="0">
                <a:latin typeface="Arial MT"/>
                <a:cs typeface="Arial MT"/>
              </a:rPr>
              <a:t> </a:t>
            </a:r>
            <a:r>
              <a:rPr sz="1800" dirty="0">
                <a:latin typeface="Arial MT"/>
                <a:cs typeface="Arial MT"/>
              </a:rPr>
              <a:t>the</a:t>
            </a:r>
            <a:r>
              <a:rPr sz="1800" spc="-30" dirty="0">
                <a:latin typeface="Arial MT"/>
                <a:cs typeface="Arial MT"/>
              </a:rPr>
              <a:t> </a:t>
            </a:r>
            <a:r>
              <a:rPr sz="1800" dirty="0">
                <a:latin typeface="Arial MT"/>
                <a:cs typeface="Arial MT"/>
              </a:rPr>
              <a:t>swapped</a:t>
            </a:r>
            <a:r>
              <a:rPr sz="1800" spc="25" dirty="0">
                <a:latin typeface="Arial MT"/>
                <a:cs typeface="Arial MT"/>
              </a:rPr>
              <a:t> </a:t>
            </a:r>
            <a:r>
              <a:rPr sz="1800" dirty="0">
                <a:latin typeface="Arial MT"/>
                <a:cs typeface="Arial MT"/>
              </a:rPr>
              <a:t>out</a:t>
            </a:r>
            <a:r>
              <a:rPr sz="1800" spc="-15" dirty="0">
                <a:latin typeface="Arial MT"/>
                <a:cs typeface="Arial MT"/>
              </a:rPr>
              <a:t> </a:t>
            </a:r>
            <a:r>
              <a:rPr sz="1800" dirty="0">
                <a:latin typeface="Arial MT"/>
                <a:cs typeface="Arial MT"/>
              </a:rPr>
              <a:t>process</a:t>
            </a:r>
            <a:r>
              <a:rPr sz="1800" spc="-15" dirty="0">
                <a:latin typeface="Arial MT"/>
                <a:cs typeface="Arial MT"/>
              </a:rPr>
              <a:t> </a:t>
            </a:r>
            <a:r>
              <a:rPr sz="1800" dirty="0">
                <a:latin typeface="Arial MT"/>
                <a:cs typeface="Arial MT"/>
              </a:rPr>
              <a:t>need</a:t>
            </a:r>
            <a:r>
              <a:rPr sz="1800" spc="-15"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swap</a:t>
            </a:r>
            <a:r>
              <a:rPr sz="1800" spc="5" dirty="0">
                <a:latin typeface="Arial MT"/>
                <a:cs typeface="Arial MT"/>
              </a:rPr>
              <a:t> </a:t>
            </a:r>
            <a:r>
              <a:rPr sz="1800" dirty="0">
                <a:latin typeface="Arial MT"/>
                <a:cs typeface="Arial MT"/>
              </a:rPr>
              <a:t>back</a:t>
            </a:r>
            <a:r>
              <a:rPr sz="1800" spc="-10" dirty="0">
                <a:latin typeface="Arial MT"/>
                <a:cs typeface="Arial MT"/>
              </a:rPr>
              <a:t> </a:t>
            </a:r>
            <a:r>
              <a:rPr sz="1800" dirty="0">
                <a:latin typeface="Arial MT"/>
                <a:cs typeface="Arial MT"/>
              </a:rPr>
              <a:t>in</a:t>
            </a:r>
            <a:r>
              <a:rPr sz="1800" spc="-3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same</a:t>
            </a:r>
            <a:r>
              <a:rPr sz="1800" spc="-20" dirty="0">
                <a:latin typeface="Arial MT"/>
                <a:cs typeface="Arial MT"/>
              </a:rPr>
              <a:t> </a:t>
            </a:r>
            <a:r>
              <a:rPr sz="1800" spc="-10" dirty="0">
                <a:latin typeface="Arial MT"/>
                <a:cs typeface="Arial MT"/>
              </a:rPr>
              <a:t>physical addresses?</a:t>
            </a:r>
            <a:endParaRPr sz="1800">
              <a:latin typeface="Arial MT"/>
              <a:cs typeface="Arial MT"/>
            </a:endParaRPr>
          </a:p>
          <a:p>
            <a:pPr marL="1098550" lvl="2" indent="-227965">
              <a:lnSpc>
                <a:spcPct val="100000"/>
              </a:lnSpc>
              <a:spcBef>
                <a:spcPts val="1430"/>
              </a:spcBef>
              <a:buClr>
                <a:srgbClr val="009900"/>
              </a:buClr>
              <a:buSzPct val="75000"/>
              <a:buFont typeface="Webdings"/>
              <a:buChar char=""/>
              <a:tabLst>
                <a:tab pos="1098550" algn="l"/>
              </a:tabLst>
            </a:pPr>
            <a:r>
              <a:rPr sz="1800" dirty="0">
                <a:latin typeface="Arial MT"/>
                <a:cs typeface="Arial MT"/>
              </a:rPr>
              <a:t>Depends</a:t>
            </a:r>
            <a:r>
              <a:rPr sz="1800" spc="-35" dirty="0">
                <a:latin typeface="Arial MT"/>
                <a:cs typeface="Arial MT"/>
              </a:rPr>
              <a:t> </a:t>
            </a:r>
            <a:r>
              <a:rPr sz="1800" dirty="0">
                <a:latin typeface="Arial MT"/>
                <a:cs typeface="Arial MT"/>
              </a:rPr>
              <a:t>on</a:t>
            </a:r>
            <a:r>
              <a:rPr sz="1800" spc="-45" dirty="0">
                <a:latin typeface="Arial MT"/>
                <a:cs typeface="Arial MT"/>
              </a:rPr>
              <a:t> </a:t>
            </a:r>
            <a:r>
              <a:rPr sz="1800" dirty="0">
                <a:latin typeface="Arial MT"/>
                <a:cs typeface="Arial MT"/>
              </a:rPr>
              <a:t>address</a:t>
            </a:r>
            <a:r>
              <a:rPr sz="1800" spc="-35" dirty="0">
                <a:latin typeface="Arial MT"/>
                <a:cs typeface="Arial MT"/>
              </a:rPr>
              <a:t> </a:t>
            </a:r>
            <a:r>
              <a:rPr sz="1800" dirty="0">
                <a:latin typeface="Arial MT"/>
                <a:cs typeface="Arial MT"/>
              </a:rPr>
              <a:t>binding</a:t>
            </a:r>
            <a:r>
              <a:rPr sz="1800" spc="-20" dirty="0">
                <a:latin typeface="Arial MT"/>
                <a:cs typeface="Arial MT"/>
              </a:rPr>
              <a:t> </a:t>
            </a:r>
            <a:r>
              <a:rPr sz="1800" spc="-10" dirty="0">
                <a:latin typeface="Arial MT"/>
                <a:cs typeface="Arial MT"/>
              </a:rPr>
              <a:t>method</a:t>
            </a:r>
            <a:endParaRPr sz="1800">
              <a:latin typeface="Arial MT"/>
              <a:cs typeface="Arial MT"/>
            </a:endParaRPr>
          </a:p>
          <a:p>
            <a:pPr marL="756285" lvl="1" indent="-286385">
              <a:lnSpc>
                <a:spcPct val="100000"/>
              </a:lnSpc>
              <a:spcBef>
                <a:spcPts val="1860"/>
              </a:spcBef>
              <a:buClr>
                <a:srgbClr val="CC6600"/>
              </a:buClr>
              <a:buSzPct val="80555"/>
              <a:buFont typeface="Wingdings"/>
              <a:buChar char=""/>
              <a:tabLst>
                <a:tab pos="756285" algn="l"/>
              </a:tabLst>
            </a:pPr>
            <a:r>
              <a:rPr sz="1800" dirty="0">
                <a:solidFill>
                  <a:srgbClr val="FF0000"/>
                </a:solidFill>
                <a:latin typeface="Arial MT"/>
                <a:cs typeface="Arial MT"/>
              </a:rPr>
              <a:t>A</a:t>
            </a:r>
            <a:r>
              <a:rPr sz="1800" spc="-25" dirty="0">
                <a:solidFill>
                  <a:srgbClr val="FF0000"/>
                </a:solidFill>
                <a:latin typeface="Arial MT"/>
                <a:cs typeface="Arial MT"/>
              </a:rPr>
              <a:t> </a:t>
            </a:r>
            <a:r>
              <a:rPr sz="1800" dirty="0">
                <a:solidFill>
                  <a:srgbClr val="FF0000"/>
                </a:solidFill>
                <a:latin typeface="Arial MT"/>
                <a:cs typeface="Arial MT"/>
              </a:rPr>
              <a:t>process</a:t>
            </a:r>
            <a:r>
              <a:rPr sz="1800" spc="-20" dirty="0">
                <a:solidFill>
                  <a:srgbClr val="FF0000"/>
                </a:solidFill>
                <a:latin typeface="Arial MT"/>
                <a:cs typeface="Arial MT"/>
              </a:rPr>
              <a:t> </a:t>
            </a:r>
            <a:r>
              <a:rPr sz="1800" dirty="0">
                <a:solidFill>
                  <a:srgbClr val="FF0000"/>
                </a:solidFill>
                <a:latin typeface="Arial MT"/>
                <a:cs typeface="Arial MT"/>
              </a:rPr>
              <a:t>must</a:t>
            </a:r>
            <a:r>
              <a:rPr sz="1800" spc="-15" dirty="0">
                <a:solidFill>
                  <a:srgbClr val="FF0000"/>
                </a:solidFill>
                <a:latin typeface="Arial MT"/>
                <a:cs typeface="Arial MT"/>
              </a:rPr>
              <a:t> </a:t>
            </a:r>
            <a:r>
              <a:rPr sz="1800" dirty="0">
                <a:solidFill>
                  <a:srgbClr val="FF0000"/>
                </a:solidFill>
                <a:latin typeface="Arial MT"/>
                <a:cs typeface="Arial MT"/>
              </a:rPr>
              <a:t>be</a:t>
            </a:r>
            <a:r>
              <a:rPr sz="1800" spc="-30" dirty="0">
                <a:solidFill>
                  <a:srgbClr val="FF0000"/>
                </a:solidFill>
                <a:latin typeface="Arial MT"/>
                <a:cs typeface="Arial MT"/>
              </a:rPr>
              <a:t> </a:t>
            </a:r>
            <a:r>
              <a:rPr sz="1800" b="1" dirty="0">
                <a:solidFill>
                  <a:srgbClr val="FF0000"/>
                </a:solidFill>
                <a:latin typeface="Arial"/>
                <a:cs typeface="Arial"/>
              </a:rPr>
              <a:t>completely</a:t>
            </a:r>
            <a:r>
              <a:rPr sz="1800" b="1" spc="-20" dirty="0">
                <a:solidFill>
                  <a:srgbClr val="FF0000"/>
                </a:solidFill>
                <a:latin typeface="Arial"/>
                <a:cs typeface="Arial"/>
              </a:rPr>
              <a:t> </a:t>
            </a:r>
            <a:r>
              <a:rPr sz="1800" b="1" dirty="0">
                <a:solidFill>
                  <a:srgbClr val="FF0000"/>
                </a:solidFill>
                <a:latin typeface="Arial"/>
                <a:cs typeface="Arial"/>
              </a:rPr>
              <a:t>idle</a:t>
            </a:r>
            <a:r>
              <a:rPr sz="1800" b="1" spc="-25" dirty="0">
                <a:solidFill>
                  <a:srgbClr val="FF0000"/>
                </a:solidFill>
                <a:latin typeface="Arial"/>
                <a:cs typeface="Arial"/>
              </a:rPr>
              <a:t> </a:t>
            </a:r>
            <a:r>
              <a:rPr sz="1800" dirty="0">
                <a:solidFill>
                  <a:srgbClr val="FF0000"/>
                </a:solidFill>
                <a:latin typeface="Arial MT"/>
                <a:cs typeface="Arial MT"/>
              </a:rPr>
              <a:t>before</a:t>
            </a:r>
            <a:r>
              <a:rPr sz="1800" spc="-15" dirty="0">
                <a:solidFill>
                  <a:srgbClr val="FF0000"/>
                </a:solidFill>
                <a:latin typeface="Arial MT"/>
                <a:cs typeface="Arial MT"/>
              </a:rPr>
              <a:t> </a:t>
            </a:r>
            <a:r>
              <a:rPr sz="1800" dirty="0">
                <a:solidFill>
                  <a:srgbClr val="FF0000"/>
                </a:solidFill>
                <a:latin typeface="Arial MT"/>
                <a:cs typeface="Arial MT"/>
              </a:rPr>
              <a:t>being</a:t>
            </a:r>
            <a:r>
              <a:rPr sz="1800" spc="-20" dirty="0">
                <a:solidFill>
                  <a:srgbClr val="FF0000"/>
                </a:solidFill>
                <a:latin typeface="Arial MT"/>
                <a:cs typeface="Arial MT"/>
              </a:rPr>
              <a:t> </a:t>
            </a:r>
            <a:r>
              <a:rPr sz="1800" dirty="0">
                <a:solidFill>
                  <a:srgbClr val="FF0000"/>
                </a:solidFill>
                <a:latin typeface="Arial MT"/>
                <a:cs typeface="Arial MT"/>
              </a:rPr>
              <a:t>swapped</a:t>
            </a:r>
            <a:r>
              <a:rPr sz="1800" spc="30" dirty="0">
                <a:solidFill>
                  <a:srgbClr val="FF0000"/>
                </a:solidFill>
                <a:latin typeface="Arial MT"/>
                <a:cs typeface="Arial MT"/>
              </a:rPr>
              <a:t> </a:t>
            </a:r>
            <a:r>
              <a:rPr sz="1800" dirty="0">
                <a:solidFill>
                  <a:srgbClr val="FF0000"/>
                </a:solidFill>
                <a:latin typeface="Arial MT"/>
                <a:cs typeface="Arial MT"/>
              </a:rPr>
              <a:t>out;</a:t>
            </a:r>
            <a:r>
              <a:rPr sz="1800" spc="-5" dirty="0">
                <a:solidFill>
                  <a:srgbClr val="FF0000"/>
                </a:solidFill>
                <a:latin typeface="Arial MT"/>
                <a:cs typeface="Arial MT"/>
              </a:rPr>
              <a:t> </a:t>
            </a:r>
            <a:r>
              <a:rPr sz="1600" dirty="0">
                <a:solidFill>
                  <a:srgbClr val="FF0000"/>
                </a:solidFill>
                <a:latin typeface="Arial MT"/>
                <a:cs typeface="Arial MT"/>
              </a:rPr>
              <a:t>not</a:t>
            </a:r>
            <a:r>
              <a:rPr sz="1600" spc="-10" dirty="0">
                <a:solidFill>
                  <a:srgbClr val="FF0000"/>
                </a:solidFill>
                <a:latin typeface="Arial MT"/>
                <a:cs typeface="Arial MT"/>
              </a:rPr>
              <a:t> </a:t>
            </a:r>
            <a:r>
              <a:rPr sz="1600" dirty="0">
                <a:solidFill>
                  <a:srgbClr val="FF0000"/>
                </a:solidFill>
                <a:latin typeface="Arial MT"/>
                <a:cs typeface="Arial MT"/>
              </a:rPr>
              <a:t>just</a:t>
            </a:r>
            <a:r>
              <a:rPr sz="1600" spc="-35" dirty="0">
                <a:solidFill>
                  <a:srgbClr val="FF0000"/>
                </a:solidFill>
                <a:latin typeface="Arial MT"/>
                <a:cs typeface="Arial MT"/>
              </a:rPr>
              <a:t> </a:t>
            </a:r>
            <a:r>
              <a:rPr sz="1600" spc="-10" dirty="0">
                <a:solidFill>
                  <a:srgbClr val="FF0000"/>
                </a:solidFill>
                <a:latin typeface="Arial MT"/>
                <a:cs typeface="Arial MT"/>
              </a:rPr>
              <a:t>waiting</a:t>
            </a:r>
            <a:endParaRPr sz="1600">
              <a:latin typeface="Arial MT"/>
              <a:cs typeface="Arial MT"/>
            </a:endParaRPr>
          </a:p>
          <a:p>
            <a:pPr marL="756285" lvl="1" indent="-286385">
              <a:lnSpc>
                <a:spcPct val="100000"/>
              </a:lnSpc>
              <a:spcBef>
                <a:spcPts val="2055"/>
              </a:spcBef>
              <a:buClr>
                <a:srgbClr val="CC6600"/>
              </a:buClr>
              <a:buSzPct val="80555"/>
              <a:buFont typeface="Wingdings"/>
              <a:buChar char=""/>
              <a:tabLst>
                <a:tab pos="756285" algn="l"/>
              </a:tabLst>
            </a:pPr>
            <a:r>
              <a:rPr sz="1800" dirty="0">
                <a:latin typeface="Arial MT"/>
                <a:cs typeface="Arial MT"/>
              </a:rPr>
              <a:t>Consider</a:t>
            </a:r>
            <a:r>
              <a:rPr sz="1800" spc="-15" dirty="0">
                <a:latin typeface="Arial MT"/>
                <a:cs typeface="Arial MT"/>
              </a:rPr>
              <a:t> </a:t>
            </a:r>
            <a:r>
              <a:rPr sz="1800" dirty="0">
                <a:latin typeface="Arial MT"/>
                <a:cs typeface="Arial MT"/>
              </a:rPr>
              <a:t>pending</a:t>
            </a:r>
            <a:r>
              <a:rPr sz="1800" spc="-10" dirty="0">
                <a:latin typeface="Arial MT"/>
                <a:cs typeface="Arial MT"/>
              </a:rPr>
              <a:t> </a:t>
            </a:r>
            <a:r>
              <a:rPr sz="1800" dirty="0">
                <a:latin typeface="Arial MT"/>
                <a:cs typeface="Arial MT"/>
              </a:rPr>
              <a:t>I/O</a:t>
            </a:r>
            <a:r>
              <a:rPr sz="1800" spc="-55" dirty="0">
                <a:latin typeface="Arial MT"/>
                <a:cs typeface="Arial MT"/>
              </a:rPr>
              <a:t> </a:t>
            </a:r>
            <a:r>
              <a:rPr sz="1800" dirty="0">
                <a:latin typeface="Arial MT"/>
                <a:cs typeface="Arial MT"/>
              </a:rPr>
              <a:t>to/from</a:t>
            </a:r>
            <a:r>
              <a:rPr sz="1800" spc="-35" dirty="0">
                <a:latin typeface="Arial MT"/>
                <a:cs typeface="Arial MT"/>
              </a:rPr>
              <a:t> </a:t>
            </a:r>
            <a:r>
              <a:rPr sz="1800" dirty="0">
                <a:latin typeface="Arial MT"/>
                <a:cs typeface="Arial MT"/>
              </a:rPr>
              <a:t>process</a:t>
            </a:r>
            <a:r>
              <a:rPr sz="1800" spc="-35" dirty="0">
                <a:latin typeface="Arial MT"/>
                <a:cs typeface="Arial MT"/>
              </a:rPr>
              <a:t> </a:t>
            </a:r>
            <a:r>
              <a:rPr sz="1800" dirty="0">
                <a:latin typeface="Arial MT"/>
                <a:cs typeface="Arial MT"/>
              </a:rPr>
              <a:t>memory</a:t>
            </a:r>
            <a:r>
              <a:rPr sz="1800" spc="-30" dirty="0">
                <a:latin typeface="Arial MT"/>
                <a:cs typeface="Arial MT"/>
              </a:rPr>
              <a:t> </a:t>
            </a:r>
            <a:r>
              <a:rPr sz="1800" spc="-10" dirty="0">
                <a:latin typeface="Arial MT"/>
                <a:cs typeface="Arial MT"/>
              </a:rPr>
              <a:t>space</a:t>
            </a:r>
            <a:endParaRPr sz="1800">
              <a:latin typeface="Arial MT"/>
              <a:cs typeface="Arial MT"/>
            </a:endParaRPr>
          </a:p>
          <a:p>
            <a:pPr marL="1098550" lvl="2" indent="-227965">
              <a:lnSpc>
                <a:spcPct val="100000"/>
              </a:lnSpc>
              <a:spcBef>
                <a:spcPts val="2055"/>
              </a:spcBef>
              <a:buClr>
                <a:srgbClr val="009900"/>
              </a:buClr>
              <a:buSzPct val="75000"/>
              <a:buFont typeface="Webdings"/>
              <a:buChar char=""/>
              <a:tabLst>
                <a:tab pos="1098550" algn="l"/>
              </a:tabLst>
            </a:pPr>
            <a:r>
              <a:rPr sz="1800" dirty="0">
                <a:latin typeface="Arial MT"/>
                <a:cs typeface="Arial MT"/>
              </a:rPr>
              <a:t>We</a:t>
            </a:r>
            <a:r>
              <a:rPr sz="1800" spc="-40" dirty="0">
                <a:latin typeface="Arial MT"/>
                <a:cs typeface="Arial MT"/>
              </a:rPr>
              <a:t> </a:t>
            </a:r>
            <a:r>
              <a:rPr sz="1800" dirty="0">
                <a:latin typeface="Arial MT"/>
                <a:cs typeface="Arial MT"/>
              </a:rPr>
              <a:t>can’t</a:t>
            </a:r>
            <a:r>
              <a:rPr sz="1800" spc="-30" dirty="0">
                <a:latin typeface="Arial MT"/>
                <a:cs typeface="Arial MT"/>
              </a:rPr>
              <a:t> </a:t>
            </a:r>
            <a:r>
              <a:rPr sz="1800" dirty="0">
                <a:latin typeface="Arial MT"/>
                <a:cs typeface="Arial MT"/>
              </a:rPr>
              <a:t>swap</a:t>
            </a:r>
            <a:r>
              <a:rPr sz="1800" spc="10" dirty="0">
                <a:latin typeface="Arial MT"/>
                <a:cs typeface="Arial MT"/>
              </a:rPr>
              <a:t> </a:t>
            </a:r>
            <a:r>
              <a:rPr sz="1800" dirty="0">
                <a:latin typeface="Arial MT"/>
                <a:cs typeface="Arial MT"/>
              </a:rPr>
              <a:t>out</a:t>
            </a:r>
            <a:r>
              <a:rPr sz="1800" spc="-30" dirty="0">
                <a:latin typeface="Arial MT"/>
                <a:cs typeface="Arial MT"/>
              </a:rPr>
              <a:t> </a:t>
            </a:r>
            <a:r>
              <a:rPr sz="1800" dirty="0">
                <a:latin typeface="Arial MT"/>
                <a:cs typeface="Arial MT"/>
              </a:rPr>
              <a:t>the</a:t>
            </a:r>
            <a:r>
              <a:rPr sz="1800" spc="-40" dirty="0">
                <a:latin typeface="Arial MT"/>
                <a:cs typeface="Arial MT"/>
              </a:rPr>
              <a:t> </a:t>
            </a:r>
            <a:r>
              <a:rPr sz="1800" dirty="0">
                <a:latin typeface="Arial MT"/>
                <a:cs typeface="Arial MT"/>
              </a:rPr>
              <a:t>process</a:t>
            </a:r>
            <a:r>
              <a:rPr sz="1800" spc="-25" dirty="0">
                <a:latin typeface="Arial MT"/>
                <a:cs typeface="Arial MT"/>
              </a:rPr>
              <a:t> </a:t>
            </a:r>
            <a:r>
              <a:rPr sz="1800" dirty="0">
                <a:latin typeface="Arial MT"/>
                <a:cs typeface="Arial MT"/>
              </a:rPr>
              <a:t>since</a:t>
            </a:r>
            <a:r>
              <a:rPr sz="1800" spc="-25" dirty="0">
                <a:latin typeface="Arial MT"/>
                <a:cs typeface="Arial MT"/>
              </a:rPr>
              <a:t> </a:t>
            </a:r>
            <a:r>
              <a:rPr sz="1800" dirty="0">
                <a:latin typeface="Arial MT"/>
                <a:cs typeface="Arial MT"/>
              </a:rPr>
              <a:t>I/O</a:t>
            </a:r>
            <a:r>
              <a:rPr sz="1800" spc="-40" dirty="0">
                <a:latin typeface="Arial MT"/>
                <a:cs typeface="Arial MT"/>
              </a:rPr>
              <a:t> </a:t>
            </a:r>
            <a:r>
              <a:rPr sz="1800" dirty="0">
                <a:latin typeface="Arial MT"/>
                <a:cs typeface="Arial MT"/>
              </a:rPr>
              <a:t>would</a:t>
            </a:r>
            <a:r>
              <a:rPr sz="1800" spc="5" dirty="0">
                <a:latin typeface="Arial MT"/>
                <a:cs typeface="Arial MT"/>
              </a:rPr>
              <a:t> </a:t>
            </a:r>
            <a:r>
              <a:rPr sz="1800" dirty="0">
                <a:latin typeface="Arial MT"/>
                <a:cs typeface="Arial MT"/>
              </a:rPr>
              <a:t>occur</a:t>
            </a:r>
            <a:r>
              <a:rPr sz="1800" spc="-30"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wrong</a:t>
            </a:r>
            <a:r>
              <a:rPr sz="1800" spc="10" dirty="0">
                <a:latin typeface="Arial MT"/>
                <a:cs typeface="Arial MT"/>
              </a:rPr>
              <a:t> </a:t>
            </a:r>
            <a:r>
              <a:rPr sz="1800" spc="-10" dirty="0">
                <a:latin typeface="Arial MT"/>
                <a:cs typeface="Arial MT"/>
              </a:rPr>
              <a:t>process</a:t>
            </a:r>
            <a:endParaRPr sz="1800">
              <a:latin typeface="Arial MT"/>
              <a:cs typeface="Arial MT"/>
            </a:endParaRPr>
          </a:p>
          <a:p>
            <a:pPr marL="1098550" lvl="2" indent="-227965">
              <a:lnSpc>
                <a:spcPct val="100000"/>
              </a:lnSpc>
              <a:spcBef>
                <a:spcPts val="2050"/>
              </a:spcBef>
              <a:buClr>
                <a:srgbClr val="009900"/>
              </a:buClr>
              <a:buSzPct val="75000"/>
              <a:buFont typeface="Webdings"/>
              <a:buChar char=""/>
              <a:tabLst>
                <a:tab pos="1098550" algn="l"/>
              </a:tabLst>
            </a:pPr>
            <a:r>
              <a:rPr sz="1800" b="1" spc="-10" dirty="0">
                <a:solidFill>
                  <a:srgbClr val="FF0000"/>
                </a:solidFill>
                <a:latin typeface="Arial"/>
                <a:cs typeface="Arial"/>
              </a:rPr>
              <a:t>Solutions:</a:t>
            </a:r>
            <a:endParaRPr sz="1800">
              <a:latin typeface="Arial"/>
              <a:cs typeface="Arial"/>
            </a:endParaRPr>
          </a:p>
          <a:p>
            <a:pPr marL="1442085" lvl="3" indent="-228600">
              <a:lnSpc>
                <a:spcPct val="100000"/>
              </a:lnSpc>
              <a:spcBef>
                <a:spcPts val="755"/>
              </a:spcBef>
              <a:buClr>
                <a:srgbClr val="FFCC00"/>
              </a:buClr>
              <a:buSzPct val="75000"/>
              <a:buChar char="–"/>
              <a:tabLst>
                <a:tab pos="1442085" algn="l"/>
              </a:tabLst>
            </a:pPr>
            <a:r>
              <a:rPr sz="1800" dirty="0">
                <a:solidFill>
                  <a:srgbClr val="FF0000"/>
                </a:solidFill>
                <a:latin typeface="Arial MT"/>
                <a:cs typeface="Arial MT"/>
              </a:rPr>
              <a:t>Never</a:t>
            </a:r>
            <a:r>
              <a:rPr sz="1800" spc="-35" dirty="0">
                <a:solidFill>
                  <a:srgbClr val="FF0000"/>
                </a:solidFill>
                <a:latin typeface="Arial MT"/>
                <a:cs typeface="Arial MT"/>
              </a:rPr>
              <a:t> </a:t>
            </a:r>
            <a:r>
              <a:rPr sz="1800" dirty="0">
                <a:solidFill>
                  <a:srgbClr val="FF0000"/>
                </a:solidFill>
                <a:latin typeface="Arial MT"/>
                <a:cs typeface="Arial MT"/>
              </a:rPr>
              <a:t>swap</a:t>
            </a:r>
            <a:r>
              <a:rPr sz="1800" spc="-10" dirty="0">
                <a:solidFill>
                  <a:srgbClr val="FF0000"/>
                </a:solidFill>
                <a:latin typeface="Arial MT"/>
                <a:cs typeface="Arial MT"/>
              </a:rPr>
              <a:t> </a:t>
            </a:r>
            <a:r>
              <a:rPr sz="1800" dirty="0">
                <a:solidFill>
                  <a:srgbClr val="FF0000"/>
                </a:solidFill>
                <a:latin typeface="Arial MT"/>
                <a:cs typeface="Arial MT"/>
              </a:rPr>
              <a:t>out</a:t>
            </a:r>
            <a:r>
              <a:rPr sz="1800" spc="-20" dirty="0">
                <a:solidFill>
                  <a:srgbClr val="FF0000"/>
                </a:solidFill>
                <a:latin typeface="Arial MT"/>
                <a:cs typeface="Arial MT"/>
              </a:rPr>
              <a:t> </a:t>
            </a:r>
            <a:r>
              <a:rPr sz="1800" dirty="0">
                <a:solidFill>
                  <a:srgbClr val="FF0000"/>
                </a:solidFill>
                <a:latin typeface="Arial MT"/>
                <a:cs typeface="Arial MT"/>
              </a:rPr>
              <a:t>a</a:t>
            </a:r>
            <a:r>
              <a:rPr sz="1800" spc="-30" dirty="0">
                <a:solidFill>
                  <a:srgbClr val="FF0000"/>
                </a:solidFill>
                <a:latin typeface="Arial MT"/>
                <a:cs typeface="Arial MT"/>
              </a:rPr>
              <a:t> </a:t>
            </a:r>
            <a:r>
              <a:rPr sz="1800" dirty="0">
                <a:solidFill>
                  <a:srgbClr val="FF0000"/>
                </a:solidFill>
                <a:latin typeface="Arial MT"/>
                <a:cs typeface="Arial MT"/>
              </a:rPr>
              <a:t>process</a:t>
            </a:r>
            <a:r>
              <a:rPr sz="1800" spc="-20" dirty="0">
                <a:solidFill>
                  <a:srgbClr val="FF0000"/>
                </a:solidFill>
                <a:latin typeface="Arial MT"/>
                <a:cs typeface="Arial MT"/>
              </a:rPr>
              <a:t> </a:t>
            </a:r>
            <a:r>
              <a:rPr sz="1800" dirty="0">
                <a:solidFill>
                  <a:srgbClr val="FF0000"/>
                </a:solidFill>
                <a:latin typeface="Arial MT"/>
                <a:cs typeface="Arial MT"/>
              </a:rPr>
              <a:t>with pending</a:t>
            </a:r>
            <a:r>
              <a:rPr sz="1800" spc="-10" dirty="0">
                <a:solidFill>
                  <a:srgbClr val="FF0000"/>
                </a:solidFill>
                <a:latin typeface="Arial MT"/>
                <a:cs typeface="Arial MT"/>
              </a:rPr>
              <a:t> </a:t>
            </a:r>
            <a:r>
              <a:rPr sz="1800" spc="-25" dirty="0">
                <a:solidFill>
                  <a:srgbClr val="FF0000"/>
                </a:solidFill>
                <a:latin typeface="Arial MT"/>
                <a:cs typeface="Arial MT"/>
              </a:rPr>
              <a:t>I/O</a:t>
            </a:r>
            <a:endParaRPr sz="1800">
              <a:latin typeface="Arial MT"/>
              <a:cs typeface="Arial MT"/>
            </a:endParaRPr>
          </a:p>
          <a:p>
            <a:pPr marL="1442085" lvl="3" indent="-228600">
              <a:lnSpc>
                <a:spcPct val="100000"/>
              </a:lnSpc>
              <a:spcBef>
                <a:spcPts val="2055"/>
              </a:spcBef>
              <a:buClr>
                <a:srgbClr val="FFCC00"/>
              </a:buClr>
              <a:buSzPct val="75000"/>
              <a:buChar char="–"/>
              <a:tabLst>
                <a:tab pos="1442085" algn="l"/>
              </a:tabLst>
            </a:pPr>
            <a:r>
              <a:rPr sz="1800" dirty="0">
                <a:latin typeface="Arial MT"/>
                <a:cs typeface="Arial MT"/>
              </a:rPr>
              <a:t>Or,</a:t>
            </a:r>
            <a:r>
              <a:rPr sz="1800" spc="-40" dirty="0">
                <a:latin typeface="Arial MT"/>
                <a:cs typeface="Arial MT"/>
              </a:rPr>
              <a:t> </a:t>
            </a:r>
            <a:r>
              <a:rPr sz="1800" dirty="0">
                <a:latin typeface="Arial MT"/>
                <a:cs typeface="Arial MT"/>
              </a:rPr>
              <a:t>always</a:t>
            </a:r>
            <a:r>
              <a:rPr sz="1800" spc="30" dirty="0">
                <a:latin typeface="Arial MT"/>
                <a:cs typeface="Arial MT"/>
              </a:rPr>
              <a:t> </a:t>
            </a:r>
            <a:r>
              <a:rPr sz="1800" dirty="0">
                <a:latin typeface="Arial MT"/>
                <a:cs typeface="Arial MT"/>
              </a:rPr>
              <a:t>transfer</a:t>
            </a:r>
            <a:r>
              <a:rPr sz="1800" spc="-30" dirty="0">
                <a:latin typeface="Arial MT"/>
                <a:cs typeface="Arial MT"/>
              </a:rPr>
              <a:t> </a:t>
            </a:r>
            <a:r>
              <a:rPr sz="1800" dirty="0">
                <a:latin typeface="Arial MT"/>
                <a:cs typeface="Arial MT"/>
              </a:rPr>
              <a:t>I/O</a:t>
            </a:r>
            <a:r>
              <a:rPr sz="1800" spc="-30" dirty="0">
                <a:latin typeface="Arial MT"/>
                <a:cs typeface="Arial MT"/>
              </a:rPr>
              <a:t> </a:t>
            </a:r>
            <a:r>
              <a:rPr sz="1800" dirty="0">
                <a:latin typeface="Arial MT"/>
                <a:cs typeface="Arial MT"/>
              </a:rPr>
              <a:t>operations</a:t>
            </a:r>
            <a:r>
              <a:rPr sz="1800" spc="-20" dirty="0">
                <a:latin typeface="Arial MT"/>
                <a:cs typeface="Arial MT"/>
              </a:rPr>
              <a:t> </a:t>
            </a:r>
            <a:r>
              <a:rPr sz="1800" dirty="0">
                <a:latin typeface="Arial MT"/>
                <a:cs typeface="Arial MT"/>
              </a:rPr>
              <a:t>to</a:t>
            </a:r>
            <a:r>
              <a:rPr sz="1800" spc="-30" dirty="0">
                <a:latin typeface="Arial MT"/>
                <a:cs typeface="Arial MT"/>
              </a:rPr>
              <a:t> </a:t>
            </a:r>
            <a:r>
              <a:rPr sz="1800" dirty="0">
                <a:latin typeface="Arial MT"/>
                <a:cs typeface="Arial MT"/>
              </a:rPr>
              <a:t>kernel</a:t>
            </a:r>
            <a:r>
              <a:rPr sz="1800" spc="-20" dirty="0">
                <a:latin typeface="Arial MT"/>
                <a:cs typeface="Arial MT"/>
              </a:rPr>
              <a:t> </a:t>
            </a:r>
            <a:r>
              <a:rPr sz="1800" dirty="0">
                <a:latin typeface="Arial MT"/>
                <a:cs typeface="Arial MT"/>
              </a:rPr>
              <a:t>space,</a:t>
            </a:r>
            <a:r>
              <a:rPr sz="1800" spc="-30" dirty="0">
                <a:latin typeface="Arial MT"/>
                <a:cs typeface="Arial MT"/>
              </a:rPr>
              <a:t> </a:t>
            </a:r>
            <a:r>
              <a:rPr sz="1800" dirty="0">
                <a:latin typeface="Arial MT"/>
                <a:cs typeface="Arial MT"/>
              </a:rPr>
              <a:t>then</a:t>
            </a:r>
            <a:r>
              <a:rPr sz="1800" spc="-25" dirty="0">
                <a:latin typeface="Arial MT"/>
                <a:cs typeface="Arial MT"/>
              </a:rPr>
              <a:t> </a:t>
            </a:r>
            <a:r>
              <a:rPr sz="1800" dirty="0">
                <a:latin typeface="Arial MT"/>
                <a:cs typeface="Arial MT"/>
              </a:rPr>
              <a:t>to</a:t>
            </a:r>
            <a:r>
              <a:rPr sz="1800" spc="-40" dirty="0">
                <a:latin typeface="Arial MT"/>
                <a:cs typeface="Arial MT"/>
              </a:rPr>
              <a:t> </a:t>
            </a:r>
            <a:r>
              <a:rPr sz="1800" dirty="0">
                <a:latin typeface="Arial MT"/>
                <a:cs typeface="Arial MT"/>
              </a:rPr>
              <a:t>I/O</a:t>
            </a:r>
            <a:r>
              <a:rPr sz="1800" spc="-35" dirty="0">
                <a:latin typeface="Arial MT"/>
                <a:cs typeface="Arial MT"/>
              </a:rPr>
              <a:t> </a:t>
            </a:r>
            <a:r>
              <a:rPr sz="1800" spc="-10" dirty="0">
                <a:latin typeface="Arial MT"/>
                <a:cs typeface="Arial MT"/>
              </a:rPr>
              <a:t>device</a:t>
            </a:r>
            <a:endParaRPr sz="1800">
              <a:latin typeface="Arial MT"/>
              <a:cs typeface="Arial MT"/>
            </a:endParaRPr>
          </a:p>
          <a:p>
            <a:pPr marL="1556385">
              <a:lnSpc>
                <a:spcPct val="100000"/>
              </a:lnSpc>
              <a:spcBef>
                <a:spcPts val="2050"/>
              </a:spcBef>
              <a:tabLst>
                <a:tab pos="1784985" algn="l"/>
              </a:tabLst>
            </a:pPr>
            <a:r>
              <a:rPr sz="1350" spc="-50" dirty="0">
                <a:solidFill>
                  <a:srgbClr val="FF0066"/>
                </a:solidFill>
                <a:latin typeface="Arial MT"/>
                <a:cs typeface="Arial MT"/>
              </a:rPr>
              <a:t>»</a:t>
            </a:r>
            <a:r>
              <a:rPr sz="1350" dirty="0">
                <a:solidFill>
                  <a:srgbClr val="FF0066"/>
                </a:solidFill>
                <a:latin typeface="Arial MT"/>
                <a:cs typeface="Arial MT"/>
              </a:rPr>
              <a:t>	</a:t>
            </a:r>
            <a:r>
              <a:rPr sz="1800" dirty="0">
                <a:latin typeface="Arial MT"/>
                <a:cs typeface="Arial MT"/>
              </a:rPr>
              <a:t>Known</a:t>
            </a:r>
            <a:r>
              <a:rPr sz="1800" spc="5" dirty="0">
                <a:latin typeface="Arial MT"/>
                <a:cs typeface="Arial MT"/>
              </a:rPr>
              <a:t> </a:t>
            </a:r>
            <a:r>
              <a:rPr sz="1800" dirty="0">
                <a:latin typeface="Arial MT"/>
                <a:cs typeface="Arial MT"/>
              </a:rPr>
              <a:t>as</a:t>
            </a:r>
            <a:r>
              <a:rPr sz="1800" spc="-30" dirty="0">
                <a:latin typeface="Arial MT"/>
                <a:cs typeface="Arial MT"/>
              </a:rPr>
              <a:t> </a:t>
            </a:r>
            <a:r>
              <a:rPr sz="1800" b="1" dirty="0">
                <a:solidFill>
                  <a:srgbClr val="3366FF"/>
                </a:solidFill>
                <a:latin typeface="Arial"/>
                <a:cs typeface="Arial"/>
              </a:rPr>
              <a:t>double</a:t>
            </a:r>
            <a:r>
              <a:rPr sz="1800" b="1" spc="-60" dirty="0">
                <a:solidFill>
                  <a:srgbClr val="3366FF"/>
                </a:solidFill>
                <a:latin typeface="Arial"/>
                <a:cs typeface="Arial"/>
              </a:rPr>
              <a:t> </a:t>
            </a:r>
            <a:r>
              <a:rPr sz="1800" b="1" dirty="0">
                <a:solidFill>
                  <a:srgbClr val="3366FF"/>
                </a:solidFill>
                <a:latin typeface="Arial"/>
                <a:cs typeface="Arial"/>
              </a:rPr>
              <a:t>buffering</a:t>
            </a:r>
            <a:r>
              <a:rPr sz="1800" dirty="0">
                <a:latin typeface="Arial MT"/>
                <a:cs typeface="Arial MT"/>
              </a:rPr>
              <a:t>,</a:t>
            </a:r>
            <a:r>
              <a:rPr sz="1800" spc="-30" dirty="0">
                <a:latin typeface="Arial MT"/>
                <a:cs typeface="Arial MT"/>
              </a:rPr>
              <a:t> </a:t>
            </a:r>
            <a:r>
              <a:rPr sz="1800" dirty="0">
                <a:latin typeface="Arial MT"/>
                <a:cs typeface="Arial MT"/>
              </a:rPr>
              <a:t>adds</a:t>
            </a:r>
            <a:r>
              <a:rPr sz="1800" spc="-35" dirty="0">
                <a:latin typeface="Arial MT"/>
                <a:cs typeface="Arial MT"/>
              </a:rPr>
              <a:t> </a:t>
            </a:r>
            <a:r>
              <a:rPr sz="1800" spc="-10" dirty="0">
                <a:latin typeface="Arial MT"/>
                <a:cs typeface="Arial MT"/>
              </a:rPr>
              <a:t>overhead</a:t>
            </a:r>
            <a:endParaRPr sz="1800">
              <a:latin typeface="Arial MT"/>
              <a:cs typeface="Arial MT"/>
            </a:endParaRPr>
          </a:p>
        </p:txBody>
      </p:sp>
    </p:spTree>
    <p:extLst>
      <p:ext uri="{BB962C8B-B14F-4D97-AF65-F5344CB8AC3E}">
        <p14:creationId xmlns:p14="http://schemas.microsoft.com/office/powerpoint/2010/main" val="671598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2273" rIns="0" bIns="0" rtlCol="0">
            <a:spAutoFit/>
          </a:bodyPr>
          <a:lstStyle/>
          <a:p>
            <a:pPr marL="1760220">
              <a:lnSpc>
                <a:spcPct val="100000"/>
              </a:lnSpc>
              <a:spcBef>
                <a:spcPts val="100"/>
              </a:spcBef>
            </a:pPr>
            <a:r>
              <a:rPr dirty="0">
                <a:solidFill>
                  <a:srgbClr val="006699"/>
                </a:solidFill>
              </a:rPr>
              <a:t>Modified</a:t>
            </a:r>
            <a:r>
              <a:rPr spc="-60" dirty="0">
                <a:solidFill>
                  <a:srgbClr val="006699"/>
                </a:solidFill>
              </a:rPr>
              <a:t> </a:t>
            </a:r>
            <a:r>
              <a:rPr dirty="0">
                <a:solidFill>
                  <a:srgbClr val="006699"/>
                </a:solidFill>
              </a:rPr>
              <a:t>Standard</a:t>
            </a:r>
            <a:r>
              <a:rPr spc="-35" dirty="0">
                <a:solidFill>
                  <a:srgbClr val="006699"/>
                </a:solidFill>
              </a:rPr>
              <a:t> </a:t>
            </a:r>
            <a:r>
              <a:rPr spc="-10" dirty="0">
                <a:solidFill>
                  <a:srgbClr val="006699"/>
                </a:solidFill>
              </a:rPr>
              <a:t>Swapping</a:t>
            </a:r>
          </a:p>
        </p:txBody>
      </p:sp>
      <p:sp>
        <p:nvSpPr>
          <p:cNvPr id="4" name="object 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dirty="0"/>
              <a:t>Silberschatz,</a:t>
            </a:r>
            <a:r>
              <a:rPr spc="-40" dirty="0"/>
              <a:t> </a:t>
            </a:r>
            <a:r>
              <a:rPr dirty="0"/>
              <a:t>Galvin</a:t>
            </a:r>
            <a:r>
              <a:rPr spc="-45" dirty="0"/>
              <a:t> </a:t>
            </a:r>
            <a:r>
              <a:rPr dirty="0"/>
              <a:t>and</a:t>
            </a:r>
            <a:r>
              <a:rPr spc="-20" dirty="0"/>
              <a:t> </a:t>
            </a:r>
            <a:r>
              <a:rPr dirty="0"/>
              <a:t>Gagne</a:t>
            </a:r>
            <a:r>
              <a:rPr spc="-25" dirty="0"/>
              <a:t> </a:t>
            </a:r>
            <a:r>
              <a:rPr spc="-20" dirty="0"/>
              <a:t>©2013</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ct val="100000"/>
              </a:lnSpc>
            </a:pPr>
            <a:r>
              <a:rPr spc="-20" dirty="0"/>
              <a:t>8.</a:t>
            </a:r>
            <a:fld id="{81D60167-4931-47E6-BA6A-407CBD079E47}" type="slidenum">
              <a:rPr spc="-20" dirty="0"/>
              <a:t>51</a:t>
            </a:fld>
            <a:endParaRPr spc="-20" dirty="0"/>
          </a:p>
        </p:txBody>
      </p:sp>
      <p:sp>
        <p:nvSpPr>
          <p:cNvPr id="6" name="object 6"/>
          <p:cNvSpPr txBox="1">
            <a:spLocks noGrp="1"/>
          </p:cNvSpPr>
          <p:nvPr>
            <p:ph type="ftr" sz="quarter" idx="5"/>
          </p:nvPr>
        </p:nvSpPr>
        <p:spPr>
          <a:prstGeom prst="rect">
            <a:avLst/>
          </a:prstGeom>
        </p:spPr>
        <p:txBody>
          <a:bodyPr vert="horz" wrap="square" lIns="0" tIns="635" rIns="0" bIns="0" rtlCol="0">
            <a:spAutoFit/>
          </a:bodyPr>
          <a:lstStyle/>
          <a:p>
            <a:pPr marL="12700">
              <a:lnSpc>
                <a:spcPct val="100000"/>
              </a:lnSpc>
              <a:spcBef>
                <a:spcPts val="5"/>
              </a:spcBef>
            </a:pPr>
            <a:r>
              <a:rPr dirty="0"/>
              <a:t>Operating</a:t>
            </a:r>
            <a:r>
              <a:rPr spc="-20" dirty="0"/>
              <a:t> </a:t>
            </a:r>
            <a:r>
              <a:rPr dirty="0"/>
              <a:t>System</a:t>
            </a:r>
            <a:r>
              <a:rPr spc="-15" dirty="0"/>
              <a:t> </a:t>
            </a:r>
            <a:r>
              <a:rPr dirty="0"/>
              <a:t>Concepts</a:t>
            </a:r>
            <a:r>
              <a:rPr spc="-10" dirty="0"/>
              <a:t> </a:t>
            </a:r>
            <a:r>
              <a:rPr dirty="0"/>
              <a:t>–</a:t>
            </a:r>
            <a:r>
              <a:rPr spc="-25" dirty="0"/>
              <a:t> </a:t>
            </a:r>
            <a:r>
              <a:rPr dirty="0"/>
              <a:t>9</a:t>
            </a:r>
            <a:r>
              <a:rPr sz="975" baseline="25641" dirty="0"/>
              <a:t>th</a:t>
            </a:r>
            <a:r>
              <a:rPr sz="975" spc="104" baseline="25641" dirty="0"/>
              <a:t> </a:t>
            </a:r>
            <a:r>
              <a:rPr sz="1000" spc="-10" dirty="0"/>
              <a:t>Edition</a:t>
            </a:r>
            <a:endParaRPr sz="1000"/>
          </a:p>
        </p:txBody>
      </p:sp>
      <p:sp>
        <p:nvSpPr>
          <p:cNvPr id="3" name="object 3"/>
          <p:cNvSpPr txBox="1"/>
          <p:nvPr/>
        </p:nvSpPr>
        <p:spPr>
          <a:xfrm>
            <a:off x="250342" y="1070228"/>
            <a:ext cx="8145780" cy="5485765"/>
          </a:xfrm>
          <a:prstGeom prst="rect">
            <a:avLst/>
          </a:prstGeom>
        </p:spPr>
        <p:txBody>
          <a:bodyPr vert="horz" wrap="square" lIns="0" tIns="12700" rIns="0" bIns="0" rtlCol="0">
            <a:spAutoFit/>
          </a:bodyPr>
          <a:lstStyle/>
          <a:p>
            <a:pPr marL="354965" indent="-342265">
              <a:lnSpc>
                <a:spcPct val="100000"/>
              </a:lnSpc>
              <a:spcBef>
                <a:spcPts val="100"/>
              </a:spcBef>
              <a:buClr>
                <a:srgbClr val="993300"/>
              </a:buClr>
              <a:buSzPct val="88888"/>
              <a:buFont typeface="Wingdings"/>
              <a:buChar char=""/>
              <a:tabLst>
                <a:tab pos="354965" algn="l"/>
              </a:tabLst>
            </a:pPr>
            <a:r>
              <a:rPr sz="1800" dirty="0">
                <a:latin typeface="Arial MT"/>
                <a:cs typeface="Arial MT"/>
              </a:rPr>
              <a:t>Standard</a:t>
            </a:r>
            <a:r>
              <a:rPr sz="1800" spc="-40" dirty="0">
                <a:latin typeface="Arial MT"/>
                <a:cs typeface="Arial MT"/>
              </a:rPr>
              <a:t> </a:t>
            </a:r>
            <a:r>
              <a:rPr sz="1800" dirty="0">
                <a:latin typeface="Arial MT"/>
                <a:cs typeface="Arial MT"/>
              </a:rPr>
              <a:t>swapping</a:t>
            </a:r>
            <a:r>
              <a:rPr sz="1800" spc="10" dirty="0">
                <a:latin typeface="Arial MT"/>
                <a:cs typeface="Arial MT"/>
              </a:rPr>
              <a:t> </a:t>
            </a:r>
            <a:r>
              <a:rPr sz="1800" dirty="0">
                <a:latin typeface="Arial MT"/>
                <a:cs typeface="Arial MT"/>
              </a:rPr>
              <a:t>not</a:t>
            </a:r>
            <a:r>
              <a:rPr sz="1800" spc="-30" dirty="0">
                <a:latin typeface="Arial MT"/>
                <a:cs typeface="Arial MT"/>
              </a:rPr>
              <a:t> </a:t>
            </a:r>
            <a:r>
              <a:rPr sz="1800" dirty="0">
                <a:latin typeface="Arial MT"/>
                <a:cs typeface="Arial MT"/>
              </a:rPr>
              <a:t>used</a:t>
            </a:r>
            <a:r>
              <a:rPr sz="1800" spc="-30" dirty="0">
                <a:latin typeface="Arial MT"/>
                <a:cs typeface="Arial MT"/>
              </a:rPr>
              <a:t> </a:t>
            </a:r>
            <a:r>
              <a:rPr sz="1800" dirty="0">
                <a:latin typeface="Arial MT"/>
                <a:cs typeface="Arial MT"/>
              </a:rPr>
              <a:t>in</a:t>
            </a:r>
            <a:r>
              <a:rPr sz="1800" spc="-45" dirty="0">
                <a:latin typeface="Arial MT"/>
                <a:cs typeface="Arial MT"/>
              </a:rPr>
              <a:t> </a:t>
            </a:r>
            <a:r>
              <a:rPr sz="1800" dirty="0">
                <a:latin typeface="Arial MT"/>
                <a:cs typeface="Arial MT"/>
              </a:rPr>
              <a:t>modern</a:t>
            </a:r>
            <a:r>
              <a:rPr sz="1800" spc="-25" dirty="0">
                <a:latin typeface="Arial MT"/>
                <a:cs typeface="Arial MT"/>
              </a:rPr>
              <a:t> </a:t>
            </a:r>
            <a:r>
              <a:rPr sz="1800" dirty="0">
                <a:latin typeface="Arial MT"/>
                <a:cs typeface="Arial MT"/>
              </a:rPr>
              <a:t>operating</a:t>
            </a:r>
            <a:r>
              <a:rPr sz="1800" spc="-20" dirty="0">
                <a:latin typeface="Arial MT"/>
                <a:cs typeface="Arial MT"/>
              </a:rPr>
              <a:t> </a:t>
            </a:r>
            <a:r>
              <a:rPr sz="1800" spc="-10" dirty="0">
                <a:latin typeface="Arial MT"/>
                <a:cs typeface="Arial MT"/>
              </a:rPr>
              <a:t>systems</a:t>
            </a:r>
            <a:endParaRPr sz="1800">
              <a:latin typeface="Arial MT"/>
              <a:cs typeface="Arial MT"/>
            </a:endParaRPr>
          </a:p>
          <a:p>
            <a:pPr>
              <a:lnSpc>
                <a:spcPct val="100000"/>
              </a:lnSpc>
              <a:spcBef>
                <a:spcPts val="160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latin typeface="Arial MT"/>
                <a:cs typeface="Arial MT"/>
              </a:rPr>
              <a:t>But</a:t>
            </a:r>
            <a:r>
              <a:rPr sz="1800" spc="-25" dirty="0">
                <a:latin typeface="Arial MT"/>
                <a:cs typeface="Arial MT"/>
              </a:rPr>
              <a:t> </a:t>
            </a:r>
            <a:r>
              <a:rPr sz="1800" dirty="0">
                <a:latin typeface="Arial MT"/>
                <a:cs typeface="Arial MT"/>
              </a:rPr>
              <a:t>modified</a:t>
            </a:r>
            <a:r>
              <a:rPr sz="1800" spc="-20" dirty="0">
                <a:latin typeface="Arial MT"/>
                <a:cs typeface="Arial MT"/>
              </a:rPr>
              <a:t> </a:t>
            </a:r>
            <a:r>
              <a:rPr sz="1800" dirty="0">
                <a:latin typeface="Arial MT"/>
                <a:cs typeface="Arial MT"/>
              </a:rPr>
              <a:t>version</a:t>
            </a:r>
            <a:r>
              <a:rPr sz="1800" spc="-20" dirty="0">
                <a:latin typeface="Arial MT"/>
                <a:cs typeface="Arial MT"/>
              </a:rPr>
              <a:t> </a:t>
            </a:r>
            <a:r>
              <a:rPr sz="1800" dirty="0">
                <a:latin typeface="Arial MT"/>
                <a:cs typeface="Arial MT"/>
              </a:rPr>
              <a:t>are</a:t>
            </a:r>
            <a:r>
              <a:rPr sz="1800" spc="-35" dirty="0">
                <a:latin typeface="Arial MT"/>
                <a:cs typeface="Arial MT"/>
              </a:rPr>
              <a:t> </a:t>
            </a:r>
            <a:r>
              <a:rPr sz="1800" spc="-10" dirty="0">
                <a:latin typeface="Arial MT"/>
                <a:cs typeface="Arial MT"/>
              </a:rPr>
              <a:t>common</a:t>
            </a:r>
            <a:endParaRPr sz="1800">
              <a:latin typeface="Arial MT"/>
              <a:cs typeface="Arial MT"/>
            </a:endParaRPr>
          </a:p>
          <a:p>
            <a:pPr lvl="1">
              <a:lnSpc>
                <a:spcPct val="100000"/>
              </a:lnSpc>
              <a:spcBef>
                <a:spcPts val="1605"/>
              </a:spcBef>
              <a:buClr>
                <a:srgbClr val="CC6600"/>
              </a:buClr>
              <a:buFont typeface="Wingdings"/>
              <a:buChar char=""/>
            </a:pPr>
            <a:endParaRPr sz="1800">
              <a:latin typeface="Arial MT"/>
              <a:cs typeface="Arial MT"/>
            </a:endParaRPr>
          </a:p>
          <a:p>
            <a:pPr marL="1098550" lvl="2" indent="-227965">
              <a:lnSpc>
                <a:spcPct val="100000"/>
              </a:lnSpc>
              <a:buClr>
                <a:srgbClr val="009900"/>
              </a:buClr>
              <a:buSzPct val="75000"/>
              <a:buFont typeface="Webdings"/>
              <a:buChar char=""/>
              <a:tabLst>
                <a:tab pos="1098550" algn="l"/>
              </a:tabLst>
            </a:pPr>
            <a:r>
              <a:rPr sz="1800" dirty="0">
                <a:solidFill>
                  <a:srgbClr val="FF0000"/>
                </a:solidFill>
                <a:latin typeface="Arial MT"/>
                <a:cs typeface="Arial MT"/>
              </a:rPr>
              <a:t>Idea</a:t>
            </a:r>
            <a:r>
              <a:rPr sz="1800" dirty="0">
                <a:latin typeface="Arial MT"/>
                <a:cs typeface="Arial MT"/>
              </a:rPr>
              <a:t>:</a:t>
            </a:r>
            <a:r>
              <a:rPr sz="1800" spc="-30" dirty="0">
                <a:latin typeface="Arial MT"/>
                <a:cs typeface="Arial MT"/>
              </a:rPr>
              <a:t> </a:t>
            </a:r>
            <a:r>
              <a:rPr sz="1800" dirty="0">
                <a:latin typeface="Arial MT"/>
                <a:cs typeface="Arial MT"/>
              </a:rPr>
              <a:t>swap</a:t>
            </a:r>
            <a:r>
              <a:rPr sz="1800" spc="10" dirty="0">
                <a:latin typeface="Arial MT"/>
                <a:cs typeface="Arial MT"/>
              </a:rPr>
              <a:t> </a:t>
            </a:r>
            <a:r>
              <a:rPr sz="1800" dirty="0">
                <a:latin typeface="Arial MT"/>
                <a:cs typeface="Arial MT"/>
              </a:rPr>
              <a:t>only</a:t>
            </a:r>
            <a:r>
              <a:rPr sz="1800" spc="-40" dirty="0">
                <a:latin typeface="Arial MT"/>
                <a:cs typeface="Arial MT"/>
              </a:rPr>
              <a:t> </a:t>
            </a:r>
            <a:r>
              <a:rPr sz="1800" dirty="0">
                <a:latin typeface="Arial MT"/>
                <a:cs typeface="Arial MT"/>
              </a:rPr>
              <a:t>when</a:t>
            </a:r>
            <a:r>
              <a:rPr sz="1800" spc="10" dirty="0">
                <a:latin typeface="Arial MT"/>
                <a:cs typeface="Arial MT"/>
              </a:rPr>
              <a:t> </a:t>
            </a:r>
            <a:r>
              <a:rPr sz="1800" dirty="0">
                <a:latin typeface="Arial MT"/>
                <a:cs typeface="Arial MT"/>
              </a:rPr>
              <a:t>free</a:t>
            </a:r>
            <a:r>
              <a:rPr sz="1800" spc="-35" dirty="0">
                <a:latin typeface="Arial MT"/>
                <a:cs typeface="Arial MT"/>
              </a:rPr>
              <a:t> </a:t>
            </a:r>
            <a:r>
              <a:rPr sz="1800" dirty="0">
                <a:latin typeface="Arial MT"/>
                <a:cs typeface="Arial MT"/>
              </a:rPr>
              <a:t>memory</a:t>
            </a:r>
            <a:r>
              <a:rPr sz="1800" spc="-30" dirty="0">
                <a:latin typeface="Arial MT"/>
                <a:cs typeface="Arial MT"/>
              </a:rPr>
              <a:t> </a:t>
            </a:r>
            <a:r>
              <a:rPr sz="1800" dirty="0">
                <a:latin typeface="Arial MT"/>
                <a:cs typeface="Arial MT"/>
              </a:rPr>
              <a:t>is</a:t>
            </a:r>
            <a:r>
              <a:rPr sz="1800" spc="-30" dirty="0">
                <a:latin typeface="Arial MT"/>
                <a:cs typeface="Arial MT"/>
              </a:rPr>
              <a:t> </a:t>
            </a:r>
            <a:r>
              <a:rPr sz="1800" dirty="0">
                <a:latin typeface="Arial MT"/>
                <a:cs typeface="Arial MT"/>
              </a:rPr>
              <a:t>extremely</a:t>
            </a:r>
            <a:r>
              <a:rPr sz="1800" spc="-20" dirty="0">
                <a:latin typeface="Arial MT"/>
                <a:cs typeface="Arial MT"/>
              </a:rPr>
              <a:t> </a:t>
            </a:r>
            <a:r>
              <a:rPr sz="1800" spc="-25" dirty="0">
                <a:latin typeface="Arial MT"/>
                <a:cs typeface="Arial MT"/>
              </a:rPr>
              <a:t>low</a:t>
            </a:r>
            <a:endParaRPr sz="1800">
              <a:latin typeface="Arial MT"/>
              <a:cs typeface="Arial MT"/>
            </a:endParaRPr>
          </a:p>
          <a:p>
            <a:pPr lvl="2">
              <a:lnSpc>
                <a:spcPct val="100000"/>
              </a:lnSpc>
              <a:spcBef>
                <a:spcPts val="740"/>
              </a:spcBef>
              <a:buClr>
                <a:srgbClr val="009900"/>
              </a:buClr>
              <a:buFont typeface="Webdings"/>
              <a:buChar char=""/>
            </a:pPr>
            <a:endParaRPr sz="1800">
              <a:latin typeface="Arial MT"/>
              <a:cs typeface="Arial MT"/>
            </a:endParaRPr>
          </a:p>
          <a:p>
            <a:pPr marL="354965" indent="-342265">
              <a:lnSpc>
                <a:spcPct val="100000"/>
              </a:lnSpc>
              <a:buClr>
                <a:srgbClr val="993300"/>
              </a:buClr>
              <a:buSzPct val="88888"/>
              <a:buFont typeface="Wingdings"/>
              <a:buChar char=""/>
              <a:tabLst>
                <a:tab pos="354965" algn="l"/>
              </a:tabLst>
            </a:pPr>
            <a:r>
              <a:rPr sz="1800" dirty="0">
                <a:latin typeface="Arial MT"/>
                <a:cs typeface="Arial MT"/>
              </a:rPr>
              <a:t>Modified</a:t>
            </a:r>
            <a:r>
              <a:rPr sz="1800" spc="-35" dirty="0">
                <a:latin typeface="Arial MT"/>
                <a:cs typeface="Arial MT"/>
              </a:rPr>
              <a:t> </a:t>
            </a:r>
            <a:r>
              <a:rPr sz="1800" dirty="0">
                <a:latin typeface="Arial MT"/>
                <a:cs typeface="Arial MT"/>
              </a:rPr>
              <a:t>versions</a:t>
            </a:r>
            <a:r>
              <a:rPr sz="1800" spc="-15"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swapping</a:t>
            </a:r>
            <a:r>
              <a:rPr sz="1800" spc="20" dirty="0">
                <a:latin typeface="Arial MT"/>
                <a:cs typeface="Arial MT"/>
              </a:rPr>
              <a:t> </a:t>
            </a:r>
            <a:r>
              <a:rPr sz="1800" dirty="0">
                <a:latin typeface="Arial MT"/>
                <a:cs typeface="Arial MT"/>
              </a:rPr>
              <a:t>are</a:t>
            </a:r>
            <a:r>
              <a:rPr sz="1800" spc="-35" dirty="0">
                <a:latin typeface="Arial MT"/>
                <a:cs typeface="Arial MT"/>
              </a:rPr>
              <a:t> </a:t>
            </a:r>
            <a:r>
              <a:rPr sz="1800" dirty="0">
                <a:latin typeface="Arial MT"/>
                <a:cs typeface="Arial MT"/>
              </a:rPr>
              <a:t>found</a:t>
            </a:r>
            <a:r>
              <a:rPr sz="1800" spc="-25" dirty="0">
                <a:latin typeface="Arial MT"/>
                <a:cs typeface="Arial MT"/>
              </a:rPr>
              <a:t> </a:t>
            </a:r>
            <a:r>
              <a:rPr sz="1800" dirty="0">
                <a:latin typeface="Arial MT"/>
                <a:cs typeface="Arial MT"/>
              </a:rPr>
              <a:t>on</a:t>
            </a:r>
            <a:r>
              <a:rPr sz="1800" spc="-35" dirty="0">
                <a:latin typeface="Arial MT"/>
                <a:cs typeface="Arial MT"/>
              </a:rPr>
              <a:t> </a:t>
            </a:r>
            <a:r>
              <a:rPr sz="1800" dirty="0">
                <a:latin typeface="Arial MT"/>
                <a:cs typeface="Arial MT"/>
              </a:rPr>
              <a:t>many</a:t>
            </a:r>
            <a:r>
              <a:rPr sz="1800" spc="-15" dirty="0">
                <a:latin typeface="Arial MT"/>
                <a:cs typeface="Arial MT"/>
              </a:rPr>
              <a:t> </a:t>
            </a:r>
            <a:r>
              <a:rPr sz="1800" spc="-10" dirty="0">
                <a:latin typeface="Arial MT"/>
                <a:cs typeface="Arial MT"/>
              </a:rPr>
              <a:t>systems</a:t>
            </a:r>
            <a:endParaRPr sz="1800">
              <a:latin typeface="Arial MT"/>
              <a:cs typeface="Arial MT"/>
            </a:endParaRPr>
          </a:p>
          <a:p>
            <a:pPr>
              <a:lnSpc>
                <a:spcPct val="100000"/>
              </a:lnSpc>
              <a:spcBef>
                <a:spcPts val="740"/>
              </a:spcBef>
              <a:buClr>
                <a:srgbClr val="993300"/>
              </a:buClr>
              <a:buFont typeface="Wingdings"/>
              <a:buChar char=""/>
            </a:pPr>
            <a:endParaRPr sz="1800">
              <a:latin typeface="Arial MT"/>
              <a:cs typeface="Arial MT"/>
            </a:endParaRPr>
          </a:p>
          <a:p>
            <a:pPr marL="756285" lvl="1" indent="-286385">
              <a:lnSpc>
                <a:spcPct val="100000"/>
              </a:lnSpc>
              <a:buClr>
                <a:srgbClr val="CC6600"/>
              </a:buClr>
              <a:buSzPct val="80555"/>
              <a:buFont typeface="Wingdings"/>
              <a:buChar char=""/>
              <a:tabLst>
                <a:tab pos="756285" algn="l"/>
              </a:tabLst>
            </a:pPr>
            <a:r>
              <a:rPr sz="1800" dirty="0">
                <a:latin typeface="Arial MT"/>
                <a:cs typeface="Arial MT"/>
              </a:rPr>
              <a:t>UNIX,</a:t>
            </a:r>
            <a:r>
              <a:rPr sz="1800" spc="-25" dirty="0">
                <a:latin typeface="Arial MT"/>
                <a:cs typeface="Arial MT"/>
              </a:rPr>
              <a:t> </a:t>
            </a:r>
            <a:r>
              <a:rPr sz="1800" dirty="0">
                <a:latin typeface="Arial MT"/>
                <a:cs typeface="Arial MT"/>
              </a:rPr>
              <a:t>Linux,</a:t>
            </a:r>
            <a:r>
              <a:rPr sz="1800" spc="-20" dirty="0">
                <a:latin typeface="Arial MT"/>
                <a:cs typeface="Arial MT"/>
              </a:rPr>
              <a:t> </a:t>
            </a:r>
            <a:r>
              <a:rPr sz="1800" dirty="0">
                <a:latin typeface="Arial MT"/>
                <a:cs typeface="Arial MT"/>
              </a:rPr>
              <a:t>and</a:t>
            </a:r>
            <a:r>
              <a:rPr sz="1800" spc="-25" dirty="0">
                <a:latin typeface="Arial MT"/>
                <a:cs typeface="Arial MT"/>
              </a:rPr>
              <a:t> </a:t>
            </a:r>
            <a:r>
              <a:rPr sz="1800" spc="-10" dirty="0">
                <a:latin typeface="Arial MT"/>
                <a:cs typeface="Arial MT"/>
              </a:rPr>
              <a:t>Windows</a:t>
            </a:r>
            <a:endParaRPr sz="1800">
              <a:latin typeface="Arial MT"/>
              <a:cs typeface="Arial MT"/>
            </a:endParaRPr>
          </a:p>
          <a:p>
            <a:pPr lvl="1">
              <a:lnSpc>
                <a:spcPct val="100000"/>
              </a:lnSpc>
              <a:spcBef>
                <a:spcPts val="1170"/>
              </a:spcBef>
              <a:buClr>
                <a:srgbClr val="CC6600"/>
              </a:buClr>
              <a:buFont typeface="Wingdings"/>
              <a:buChar char=""/>
            </a:pPr>
            <a:endParaRPr sz="1800">
              <a:latin typeface="Arial MT"/>
              <a:cs typeface="Arial MT"/>
            </a:endParaRPr>
          </a:p>
          <a:p>
            <a:pPr marL="1098550" lvl="2" indent="-227965">
              <a:lnSpc>
                <a:spcPct val="100000"/>
              </a:lnSpc>
              <a:buClr>
                <a:srgbClr val="009900"/>
              </a:buClr>
              <a:buSzPct val="75000"/>
              <a:buFont typeface="Webdings"/>
              <a:buChar char=""/>
              <a:tabLst>
                <a:tab pos="1098550" algn="l"/>
              </a:tabLst>
            </a:pPr>
            <a:r>
              <a:rPr sz="1800" dirty="0">
                <a:latin typeface="Arial MT"/>
                <a:cs typeface="Arial MT"/>
              </a:rPr>
              <a:t>Swapping</a:t>
            </a:r>
            <a:r>
              <a:rPr sz="1800" spc="-40" dirty="0">
                <a:latin typeface="Arial MT"/>
                <a:cs typeface="Arial MT"/>
              </a:rPr>
              <a:t> </a:t>
            </a:r>
            <a:r>
              <a:rPr sz="1800" dirty="0">
                <a:latin typeface="Arial MT"/>
                <a:cs typeface="Arial MT"/>
              </a:rPr>
              <a:t>normally</a:t>
            </a:r>
            <a:r>
              <a:rPr sz="1800" spc="-75" dirty="0">
                <a:latin typeface="Arial MT"/>
                <a:cs typeface="Arial MT"/>
              </a:rPr>
              <a:t> </a:t>
            </a:r>
            <a:r>
              <a:rPr sz="1800" spc="-10" dirty="0">
                <a:latin typeface="Arial MT"/>
                <a:cs typeface="Arial MT"/>
              </a:rPr>
              <a:t>disabled</a:t>
            </a:r>
            <a:endParaRPr sz="1800">
              <a:latin typeface="Arial MT"/>
              <a:cs typeface="Arial MT"/>
            </a:endParaRPr>
          </a:p>
          <a:p>
            <a:pPr lvl="2">
              <a:lnSpc>
                <a:spcPct val="100000"/>
              </a:lnSpc>
              <a:spcBef>
                <a:spcPts val="1605"/>
              </a:spcBef>
              <a:buClr>
                <a:srgbClr val="009900"/>
              </a:buClr>
              <a:buFont typeface="Webdings"/>
              <a:buChar char=""/>
            </a:pPr>
            <a:endParaRPr sz="1800">
              <a:latin typeface="Arial MT"/>
              <a:cs typeface="Arial MT"/>
            </a:endParaRPr>
          </a:p>
          <a:p>
            <a:pPr marL="1098550" lvl="2" indent="-227965">
              <a:lnSpc>
                <a:spcPct val="100000"/>
              </a:lnSpc>
              <a:buClr>
                <a:srgbClr val="009900"/>
              </a:buClr>
              <a:buSzPct val="75000"/>
              <a:buFont typeface="Webdings"/>
              <a:buChar char=""/>
              <a:tabLst>
                <a:tab pos="1098550" algn="l"/>
                <a:tab pos="5048885" algn="l"/>
              </a:tabLst>
            </a:pPr>
            <a:r>
              <a:rPr sz="1800" dirty="0">
                <a:solidFill>
                  <a:srgbClr val="FF0000"/>
                </a:solidFill>
                <a:latin typeface="Arial MT"/>
                <a:cs typeface="Arial MT"/>
              </a:rPr>
              <a:t>Started</a:t>
            </a:r>
            <a:r>
              <a:rPr sz="1800" spc="-30" dirty="0">
                <a:solidFill>
                  <a:srgbClr val="FF0000"/>
                </a:solidFill>
                <a:latin typeface="Arial MT"/>
                <a:cs typeface="Arial MT"/>
              </a:rPr>
              <a:t> </a:t>
            </a:r>
            <a:r>
              <a:rPr sz="1800" dirty="0">
                <a:solidFill>
                  <a:srgbClr val="FF0000"/>
                </a:solidFill>
                <a:latin typeface="Arial MT"/>
                <a:cs typeface="Arial MT"/>
              </a:rPr>
              <a:t>only</a:t>
            </a:r>
            <a:r>
              <a:rPr sz="1800" spc="-10" dirty="0">
                <a:solidFill>
                  <a:srgbClr val="FF0000"/>
                </a:solidFill>
                <a:latin typeface="Arial MT"/>
                <a:cs typeface="Arial MT"/>
              </a:rPr>
              <a:t> </a:t>
            </a:r>
            <a:r>
              <a:rPr sz="1800" dirty="0">
                <a:solidFill>
                  <a:srgbClr val="FF0000"/>
                </a:solidFill>
                <a:latin typeface="Arial MT"/>
                <a:cs typeface="Arial MT"/>
              </a:rPr>
              <a:t>if</a:t>
            </a:r>
            <a:r>
              <a:rPr sz="1800" spc="-25" dirty="0">
                <a:solidFill>
                  <a:srgbClr val="FF0000"/>
                </a:solidFill>
                <a:latin typeface="Arial MT"/>
                <a:cs typeface="Arial MT"/>
              </a:rPr>
              <a:t> </a:t>
            </a:r>
            <a:r>
              <a:rPr sz="1800" dirty="0">
                <a:solidFill>
                  <a:srgbClr val="FF0000"/>
                </a:solidFill>
                <a:latin typeface="Arial MT"/>
                <a:cs typeface="Arial MT"/>
              </a:rPr>
              <a:t>amount</a:t>
            </a:r>
            <a:r>
              <a:rPr sz="1800" spc="-5" dirty="0">
                <a:solidFill>
                  <a:srgbClr val="FF0000"/>
                </a:solidFill>
                <a:latin typeface="Arial MT"/>
                <a:cs typeface="Arial MT"/>
              </a:rPr>
              <a:t> </a:t>
            </a:r>
            <a:r>
              <a:rPr sz="1800" dirty="0">
                <a:solidFill>
                  <a:srgbClr val="FF0000"/>
                </a:solidFill>
                <a:latin typeface="Arial MT"/>
                <a:cs typeface="Arial MT"/>
              </a:rPr>
              <a:t>of</a:t>
            </a:r>
            <a:r>
              <a:rPr sz="1800" spc="-15" dirty="0">
                <a:solidFill>
                  <a:srgbClr val="FF0000"/>
                </a:solidFill>
                <a:latin typeface="Arial MT"/>
                <a:cs typeface="Arial MT"/>
              </a:rPr>
              <a:t> </a:t>
            </a:r>
            <a:r>
              <a:rPr sz="1800" dirty="0">
                <a:solidFill>
                  <a:srgbClr val="FF0000"/>
                </a:solidFill>
                <a:latin typeface="Arial MT"/>
                <a:cs typeface="Arial MT"/>
              </a:rPr>
              <a:t>free</a:t>
            </a:r>
            <a:r>
              <a:rPr sz="1800" spc="-25" dirty="0">
                <a:solidFill>
                  <a:srgbClr val="FF0000"/>
                </a:solidFill>
                <a:latin typeface="Arial MT"/>
                <a:cs typeface="Arial MT"/>
              </a:rPr>
              <a:t> </a:t>
            </a:r>
            <a:r>
              <a:rPr sz="1800" spc="-10" dirty="0">
                <a:solidFill>
                  <a:srgbClr val="FF0000"/>
                </a:solidFill>
                <a:latin typeface="Arial MT"/>
                <a:cs typeface="Arial MT"/>
              </a:rPr>
              <a:t>memory</a:t>
            </a:r>
            <a:r>
              <a:rPr sz="1800" dirty="0">
                <a:solidFill>
                  <a:srgbClr val="FF0000"/>
                </a:solidFill>
                <a:latin typeface="Arial MT"/>
                <a:cs typeface="Arial MT"/>
              </a:rPr>
              <a:t>	falls</a:t>
            </a:r>
            <a:r>
              <a:rPr sz="1800" spc="-40" dirty="0">
                <a:solidFill>
                  <a:srgbClr val="FF0000"/>
                </a:solidFill>
                <a:latin typeface="Arial MT"/>
                <a:cs typeface="Arial MT"/>
              </a:rPr>
              <a:t> </a:t>
            </a:r>
            <a:r>
              <a:rPr sz="1800" dirty="0">
                <a:solidFill>
                  <a:srgbClr val="FF0000"/>
                </a:solidFill>
                <a:latin typeface="Arial MT"/>
                <a:cs typeface="Arial MT"/>
              </a:rPr>
              <a:t>below</a:t>
            </a:r>
            <a:r>
              <a:rPr sz="1800" spc="-25" dirty="0">
                <a:solidFill>
                  <a:srgbClr val="FF0000"/>
                </a:solidFill>
                <a:latin typeface="Arial MT"/>
                <a:cs typeface="Arial MT"/>
              </a:rPr>
              <a:t> </a:t>
            </a:r>
            <a:r>
              <a:rPr sz="1800" dirty="0">
                <a:solidFill>
                  <a:srgbClr val="FF0000"/>
                </a:solidFill>
                <a:latin typeface="Arial MT"/>
                <a:cs typeface="Arial MT"/>
              </a:rPr>
              <a:t>a</a:t>
            </a:r>
            <a:r>
              <a:rPr sz="1800" spc="-35" dirty="0">
                <a:solidFill>
                  <a:srgbClr val="FF0000"/>
                </a:solidFill>
                <a:latin typeface="Arial MT"/>
                <a:cs typeface="Arial MT"/>
              </a:rPr>
              <a:t> </a:t>
            </a:r>
            <a:r>
              <a:rPr sz="1800" dirty="0">
                <a:solidFill>
                  <a:srgbClr val="FF0000"/>
                </a:solidFill>
                <a:latin typeface="Arial MT"/>
                <a:cs typeface="Arial MT"/>
              </a:rPr>
              <a:t>threshold</a:t>
            </a:r>
            <a:r>
              <a:rPr sz="1800" spc="-15" dirty="0">
                <a:solidFill>
                  <a:srgbClr val="FF0000"/>
                </a:solidFill>
                <a:latin typeface="Arial MT"/>
                <a:cs typeface="Arial MT"/>
              </a:rPr>
              <a:t> </a:t>
            </a:r>
            <a:r>
              <a:rPr sz="1800" spc="-10" dirty="0">
                <a:solidFill>
                  <a:srgbClr val="FF0000"/>
                </a:solidFill>
                <a:latin typeface="Arial MT"/>
                <a:cs typeface="Arial MT"/>
              </a:rPr>
              <a:t>amount</a:t>
            </a:r>
            <a:endParaRPr sz="1800">
              <a:latin typeface="Arial MT"/>
              <a:cs typeface="Arial MT"/>
            </a:endParaRPr>
          </a:p>
          <a:p>
            <a:pPr lvl="2">
              <a:lnSpc>
                <a:spcPct val="100000"/>
              </a:lnSpc>
              <a:spcBef>
                <a:spcPts val="1600"/>
              </a:spcBef>
              <a:buClr>
                <a:srgbClr val="009900"/>
              </a:buClr>
              <a:buFont typeface="Webdings"/>
              <a:buChar char=""/>
            </a:pPr>
            <a:endParaRPr sz="1800">
              <a:latin typeface="Arial MT"/>
              <a:cs typeface="Arial MT"/>
            </a:endParaRPr>
          </a:p>
          <a:p>
            <a:pPr marL="1099185" marR="67310" lvl="2" indent="-228600">
              <a:lnSpc>
                <a:spcPct val="100000"/>
              </a:lnSpc>
              <a:buClr>
                <a:srgbClr val="009900"/>
              </a:buClr>
              <a:buSzPct val="75000"/>
              <a:buFont typeface="Webdings"/>
              <a:buChar char=""/>
              <a:tabLst>
                <a:tab pos="1099185" algn="l"/>
              </a:tabLst>
            </a:pPr>
            <a:r>
              <a:rPr sz="1800" dirty="0">
                <a:latin typeface="Arial MT"/>
                <a:cs typeface="Arial MT"/>
              </a:rPr>
              <a:t>Disabled</a:t>
            </a:r>
            <a:r>
              <a:rPr sz="1800" spc="-10" dirty="0">
                <a:latin typeface="Arial MT"/>
                <a:cs typeface="Arial MT"/>
              </a:rPr>
              <a:t> </a:t>
            </a:r>
            <a:r>
              <a:rPr sz="1800" dirty="0">
                <a:latin typeface="Arial MT"/>
                <a:cs typeface="Arial MT"/>
              </a:rPr>
              <a:t>again</a:t>
            </a:r>
            <a:r>
              <a:rPr sz="1800" spc="-25" dirty="0">
                <a:latin typeface="Arial MT"/>
                <a:cs typeface="Arial MT"/>
              </a:rPr>
              <a:t> </a:t>
            </a:r>
            <a:r>
              <a:rPr sz="1800" dirty="0">
                <a:latin typeface="Arial MT"/>
                <a:cs typeface="Arial MT"/>
              </a:rPr>
              <a:t>once</a:t>
            </a:r>
            <a:r>
              <a:rPr sz="1800" spc="-25" dirty="0">
                <a:latin typeface="Arial MT"/>
                <a:cs typeface="Arial MT"/>
              </a:rPr>
              <a:t> </a:t>
            </a:r>
            <a:r>
              <a:rPr sz="1800" dirty="0">
                <a:latin typeface="Arial MT"/>
                <a:cs typeface="Arial MT"/>
              </a:rPr>
              <a:t>amount</a:t>
            </a:r>
            <a:r>
              <a:rPr sz="1800" spc="-15" dirty="0">
                <a:latin typeface="Arial MT"/>
                <a:cs typeface="Arial MT"/>
              </a:rPr>
              <a:t> </a:t>
            </a:r>
            <a:r>
              <a:rPr sz="1800" dirty="0">
                <a:latin typeface="Arial MT"/>
                <a:cs typeface="Arial MT"/>
              </a:rPr>
              <a:t>of</a:t>
            </a:r>
            <a:r>
              <a:rPr sz="1800" spc="-40" dirty="0">
                <a:latin typeface="Arial MT"/>
                <a:cs typeface="Arial MT"/>
              </a:rPr>
              <a:t> </a:t>
            </a:r>
            <a:r>
              <a:rPr sz="1800" dirty="0">
                <a:latin typeface="Arial MT"/>
                <a:cs typeface="Arial MT"/>
              </a:rPr>
              <a:t>free</a:t>
            </a:r>
            <a:r>
              <a:rPr sz="1800" spc="-35" dirty="0">
                <a:latin typeface="Arial MT"/>
                <a:cs typeface="Arial MT"/>
              </a:rPr>
              <a:t> </a:t>
            </a:r>
            <a:r>
              <a:rPr sz="1800" dirty="0">
                <a:latin typeface="Arial MT"/>
                <a:cs typeface="Arial MT"/>
              </a:rPr>
              <a:t>memory</a:t>
            </a:r>
            <a:r>
              <a:rPr sz="1800" spc="-25" dirty="0">
                <a:latin typeface="Arial MT"/>
                <a:cs typeface="Arial MT"/>
              </a:rPr>
              <a:t> </a:t>
            </a:r>
            <a:r>
              <a:rPr sz="1800" dirty="0">
                <a:latin typeface="Arial MT"/>
                <a:cs typeface="Arial MT"/>
              </a:rPr>
              <a:t>increases</a:t>
            </a:r>
            <a:r>
              <a:rPr sz="1800" spc="-25" dirty="0">
                <a:latin typeface="Arial MT"/>
                <a:cs typeface="Arial MT"/>
              </a:rPr>
              <a:t> </a:t>
            </a:r>
            <a:r>
              <a:rPr sz="1800" dirty="0">
                <a:latin typeface="Arial MT"/>
                <a:cs typeface="Arial MT"/>
              </a:rPr>
              <a:t>beyond </a:t>
            </a:r>
            <a:r>
              <a:rPr sz="1800" spc="-20" dirty="0">
                <a:latin typeface="Arial MT"/>
                <a:cs typeface="Arial MT"/>
              </a:rPr>
              <a:t>some </a:t>
            </a:r>
            <a:r>
              <a:rPr sz="1800" spc="-10" dirty="0">
                <a:latin typeface="Arial MT"/>
                <a:cs typeface="Arial MT"/>
              </a:rPr>
              <a:t>threshold</a:t>
            </a:r>
            <a:endParaRPr sz="1800">
              <a:latin typeface="Arial MT"/>
              <a:cs typeface="Arial MT"/>
            </a:endParaRPr>
          </a:p>
        </p:txBody>
      </p:sp>
    </p:spTree>
    <p:extLst>
      <p:ext uri="{BB962C8B-B14F-4D97-AF65-F5344CB8AC3E}">
        <p14:creationId xmlns:p14="http://schemas.microsoft.com/office/powerpoint/2010/main" val="387973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30F4-0319-C29B-8CF9-5BA9A018EE1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9798F6E-D64C-C92F-56D7-EE29A673F545}"/>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B8361F23-EB0F-400B-63CC-6781A63BC5EF}"/>
              </a:ext>
            </a:extLst>
          </p:cNvPr>
          <p:cNvPicPr>
            <a:picLocks noChangeAspect="1"/>
          </p:cNvPicPr>
          <p:nvPr/>
        </p:nvPicPr>
        <p:blipFill>
          <a:blip r:embed="rId2"/>
          <a:stretch>
            <a:fillRect/>
          </a:stretch>
        </p:blipFill>
        <p:spPr>
          <a:xfrm>
            <a:off x="609600" y="1050790"/>
            <a:ext cx="7772400" cy="3902210"/>
          </a:xfrm>
          <a:prstGeom prst="rect">
            <a:avLst/>
          </a:prstGeom>
        </p:spPr>
      </p:pic>
    </p:spTree>
    <p:extLst>
      <p:ext uri="{BB962C8B-B14F-4D97-AF65-F5344CB8AC3E}">
        <p14:creationId xmlns:p14="http://schemas.microsoft.com/office/powerpoint/2010/main" val="34090442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187-7287-89DB-3745-05332846CAC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6EAC47C-D253-28FF-44D0-8302AAA48B8F}"/>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AEF1CC8A-0FEB-D9A8-C59F-C6F6846A6A2A}"/>
              </a:ext>
            </a:extLst>
          </p:cNvPr>
          <p:cNvPicPr>
            <a:picLocks noChangeAspect="1"/>
          </p:cNvPicPr>
          <p:nvPr/>
        </p:nvPicPr>
        <p:blipFill>
          <a:blip r:embed="rId2"/>
          <a:stretch>
            <a:fillRect/>
          </a:stretch>
        </p:blipFill>
        <p:spPr>
          <a:xfrm>
            <a:off x="838200" y="1295400"/>
            <a:ext cx="7621064" cy="4096322"/>
          </a:xfrm>
          <a:prstGeom prst="rect">
            <a:avLst/>
          </a:prstGeom>
        </p:spPr>
      </p:pic>
    </p:spTree>
    <p:extLst>
      <p:ext uri="{BB962C8B-B14F-4D97-AF65-F5344CB8AC3E}">
        <p14:creationId xmlns:p14="http://schemas.microsoft.com/office/powerpoint/2010/main" val="19591255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98437" y="2960687"/>
            <a:ext cx="8611235" cy="201930"/>
            <a:chOff x="198437" y="2960687"/>
            <a:chExt cx="8611235" cy="201930"/>
          </a:xfrm>
        </p:grpSpPr>
        <p:sp>
          <p:nvSpPr>
            <p:cNvPr id="3" name="object 3"/>
            <p:cNvSpPr/>
            <p:nvPr/>
          </p:nvSpPr>
          <p:spPr>
            <a:xfrm>
              <a:off x="198437"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336699"/>
            </a:solidFill>
          </p:spPr>
          <p:txBody>
            <a:bodyPr wrap="square" lIns="0" tIns="0" rIns="0" bIns="0" rtlCol="0"/>
            <a:lstStyle/>
            <a:p>
              <a:endParaRPr/>
            </a:p>
          </p:txBody>
        </p:sp>
        <p:sp>
          <p:nvSpPr>
            <p:cNvPr id="4" name="object 4"/>
            <p:cNvSpPr/>
            <p:nvPr/>
          </p:nvSpPr>
          <p:spPr>
            <a:xfrm>
              <a:off x="3068701"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99CCFF"/>
            </a:solidFill>
          </p:spPr>
          <p:txBody>
            <a:bodyPr wrap="square" lIns="0" tIns="0" rIns="0" bIns="0" rtlCol="0"/>
            <a:lstStyle/>
            <a:p>
              <a:endParaRPr/>
            </a:p>
          </p:txBody>
        </p:sp>
        <p:sp>
          <p:nvSpPr>
            <p:cNvPr id="5" name="object 5"/>
            <p:cNvSpPr/>
            <p:nvPr/>
          </p:nvSpPr>
          <p:spPr>
            <a:xfrm>
              <a:off x="5938901" y="2960687"/>
              <a:ext cx="2870200" cy="201930"/>
            </a:xfrm>
            <a:custGeom>
              <a:avLst/>
              <a:gdLst/>
              <a:ahLst/>
              <a:cxnLst/>
              <a:rect l="l" t="t" r="r" b="b"/>
              <a:pathLst>
                <a:path w="2870200" h="201930">
                  <a:moveTo>
                    <a:pt x="2870200" y="0"/>
                  </a:moveTo>
                  <a:lnTo>
                    <a:pt x="0" y="0"/>
                  </a:lnTo>
                  <a:lnTo>
                    <a:pt x="0" y="201612"/>
                  </a:lnTo>
                  <a:lnTo>
                    <a:pt x="2870200" y="201612"/>
                  </a:lnTo>
                  <a:lnTo>
                    <a:pt x="2870200" y="0"/>
                  </a:lnTo>
                  <a:close/>
                </a:path>
              </a:pathLst>
            </a:custGeom>
            <a:solidFill>
              <a:srgbClr val="336699"/>
            </a:solidFill>
          </p:spPr>
          <p:txBody>
            <a:bodyPr wrap="square" lIns="0" tIns="0" rIns="0" bIns="0" rtlCol="0"/>
            <a:lstStyle/>
            <a:p>
              <a:endParaRPr/>
            </a:p>
          </p:txBody>
        </p:sp>
      </p:grpSp>
      <p:sp>
        <p:nvSpPr>
          <p:cNvPr id="6" name="object 6"/>
          <p:cNvSpPr txBox="1"/>
          <p:nvPr/>
        </p:nvSpPr>
        <p:spPr>
          <a:xfrm>
            <a:off x="6685915" y="6619443"/>
            <a:ext cx="2323465" cy="177800"/>
          </a:xfrm>
          <a:prstGeom prst="rect">
            <a:avLst/>
          </a:prstGeom>
        </p:spPr>
        <p:txBody>
          <a:bodyPr vert="horz" wrap="square" lIns="0" tIns="12065" rIns="0" bIns="0" rtlCol="0">
            <a:spAutoFit/>
          </a:bodyPr>
          <a:lstStyle/>
          <a:p>
            <a:pPr marL="12700">
              <a:lnSpc>
                <a:spcPct val="100000"/>
              </a:lnSpc>
              <a:spcBef>
                <a:spcPts val="95"/>
              </a:spcBef>
            </a:pPr>
            <a:r>
              <a:rPr sz="1000" b="1" dirty="0">
                <a:solidFill>
                  <a:srgbClr val="336699"/>
                </a:solidFill>
                <a:latin typeface="Arial"/>
                <a:cs typeface="Arial"/>
              </a:rPr>
              <a:t>Silberschatz,</a:t>
            </a:r>
            <a:r>
              <a:rPr sz="1000" b="1" spc="-40" dirty="0">
                <a:solidFill>
                  <a:srgbClr val="336699"/>
                </a:solidFill>
                <a:latin typeface="Arial"/>
                <a:cs typeface="Arial"/>
              </a:rPr>
              <a:t> </a:t>
            </a:r>
            <a:r>
              <a:rPr sz="1000" b="1" dirty="0">
                <a:solidFill>
                  <a:srgbClr val="336699"/>
                </a:solidFill>
                <a:latin typeface="Arial"/>
                <a:cs typeface="Arial"/>
              </a:rPr>
              <a:t>Galvin</a:t>
            </a:r>
            <a:r>
              <a:rPr sz="1000" b="1" spc="-45" dirty="0">
                <a:solidFill>
                  <a:srgbClr val="336699"/>
                </a:solidFill>
                <a:latin typeface="Arial"/>
                <a:cs typeface="Arial"/>
              </a:rPr>
              <a:t> </a:t>
            </a:r>
            <a:r>
              <a:rPr sz="1000" b="1" dirty="0">
                <a:solidFill>
                  <a:srgbClr val="336699"/>
                </a:solidFill>
                <a:latin typeface="Arial"/>
                <a:cs typeface="Arial"/>
              </a:rPr>
              <a:t>and</a:t>
            </a:r>
            <a:r>
              <a:rPr sz="1000" b="1" spc="-20" dirty="0">
                <a:solidFill>
                  <a:srgbClr val="336699"/>
                </a:solidFill>
                <a:latin typeface="Arial"/>
                <a:cs typeface="Arial"/>
              </a:rPr>
              <a:t> </a:t>
            </a:r>
            <a:r>
              <a:rPr sz="1000" b="1" dirty="0">
                <a:solidFill>
                  <a:srgbClr val="336699"/>
                </a:solidFill>
                <a:latin typeface="Arial"/>
                <a:cs typeface="Arial"/>
              </a:rPr>
              <a:t>Gagne</a:t>
            </a:r>
            <a:r>
              <a:rPr sz="1000" b="1" spc="-25" dirty="0">
                <a:solidFill>
                  <a:srgbClr val="336699"/>
                </a:solidFill>
                <a:latin typeface="Arial"/>
                <a:cs typeface="Arial"/>
              </a:rPr>
              <a:t> </a:t>
            </a:r>
            <a:r>
              <a:rPr sz="1000" b="1" spc="-20" dirty="0">
                <a:solidFill>
                  <a:srgbClr val="336699"/>
                </a:solidFill>
                <a:latin typeface="Arial"/>
                <a:cs typeface="Arial"/>
              </a:rPr>
              <a:t>©2013</a:t>
            </a:r>
            <a:endParaRPr sz="1000">
              <a:latin typeface="Arial"/>
              <a:cs typeface="Arial"/>
            </a:endParaRPr>
          </a:p>
        </p:txBody>
      </p:sp>
      <p:sp>
        <p:nvSpPr>
          <p:cNvPr id="7" name="object 7"/>
          <p:cNvSpPr txBox="1"/>
          <p:nvPr/>
        </p:nvSpPr>
        <p:spPr>
          <a:xfrm>
            <a:off x="80467" y="6644741"/>
            <a:ext cx="2526665" cy="177800"/>
          </a:xfrm>
          <a:prstGeom prst="rect">
            <a:avLst/>
          </a:prstGeom>
        </p:spPr>
        <p:txBody>
          <a:bodyPr vert="horz" wrap="square" lIns="0" tIns="12065" rIns="0" bIns="0" rtlCol="0">
            <a:spAutoFit/>
          </a:bodyPr>
          <a:lstStyle/>
          <a:p>
            <a:pPr marL="38100">
              <a:lnSpc>
                <a:spcPct val="100000"/>
              </a:lnSpc>
              <a:spcBef>
                <a:spcPts val="95"/>
              </a:spcBef>
            </a:pPr>
            <a:r>
              <a:rPr sz="1000" b="1" dirty="0">
                <a:solidFill>
                  <a:srgbClr val="336699"/>
                </a:solidFill>
                <a:latin typeface="Arial"/>
                <a:cs typeface="Arial"/>
              </a:rPr>
              <a:t>Operating</a:t>
            </a:r>
            <a:r>
              <a:rPr sz="1000" b="1" spc="-20" dirty="0">
                <a:solidFill>
                  <a:srgbClr val="336699"/>
                </a:solidFill>
                <a:latin typeface="Arial"/>
                <a:cs typeface="Arial"/>
              </a:rPr>
              <a:t> </a:t>
            </a:r>
            <a:r>
              <a:rPr sz="1000" b="1" dirty="0">
                <a:solidFill>
                  <a:srgbClr val="336699"/>
                </a:solidFill>
                <a:latin typeface="Arial"/>
                <a:cs typeface="Arial"/>
              </a:rPr>
              <a:t>System</a:t>
            </a:r>
            <a:r>
              <a:rPr sz="1000" b="1" spc="-20" dirty="0">
                <a:solidFill>
                  <a:srgbClr val="336699"/>
                </a:solidFill>
                <a:latin typeface="Arial"/>
                <a:cs typeface="Arial"/>
              </a:rPr>
              <a:t> </a:t>
            </a:r>
            <a:r>
              <a:rPr sz="1000" b="1" dirty="0">
                <a:solidFill>
                  <a:srgbClr val="336699"/>
                </a:solidFill>
                <a:latin typeface="Arial"/>
                <a:cs typeface="Arial"/>
              </a:rPr>
              <a:t>Concepts</a:t>
            </a:r>
            <a:r>
              <a:rPr sz="1000" b="1" spc="-20" dirty="0">
                <a:solidFill>
                  <a:srgbClr val="336699"/>
                </a:solidFill>
                <a:latin typeface="Arial"/>
                <a:cs typeface="Arial"/>
              </a:rPr>
              <a:t> </a:t>
            </a:r>
            <a:r>
              <a:rPr sz="1000" b="1" dirty="0">
                <a:solidFill>
                  <a:srgbClr val="336699"/>
                </a:solidFill>
                <a:latin typeface="Arial"/>
                <a:cs typeface="Arial"/>
              </a:rPr>
              <a:t>–</a:t>
            </a:r>
            <a:r>
              <a:rPr sz="1000" b="1" spc="-25" dirty="0">
                <a:solidFill>
                  <a:srgbClr val="336699"/>
                </a:solidFill>
                <a:latin typeface="Arial"/>
                <a:cs typeface="Arial"/>
              </a:rPr>
              <a:t> </a:t>
            </a:r>
            <a:r>
              <a:rPr sz="1000" b="1" dirty="0">
                <a:solidFill>
                  <a:srgbClr val="336699"/>
                </a:solidFill>
                <a:latin typeface="Arial"/>
                <a:cs typeface="Arial"/>
              </a:rPr>
              <a:t>9</a:t>
            </a:r>
            <a:r>
              <a:rPr sz="975" b="1" baseline="25641" dirty="0">
                <a:solidFill>
                  <a:srgbClr val="336699"/>
                </a:solidFill>
                <a:latin typeface="Arial"/>
                <a:cs typeface="Arial"/>
              </a:rPr>
              <a:t>th</a:t>
            </a:r>
            <a:r>
              <a:rPr sz="975" b="1" spc="112" baseline="25641" dirty="0">
                <a:solidFill>
                  <a:srgbClr val="336699"/>
                </a:solidFill>
                <a:latin typeface="Arial"/>
                <a:cs typeface="Arial"/>
              </a:rPr>
              <a:t> </a:t>
            </a:r>
            <a:r>
              <a:rPr sz="1000" b="1" spc="-10" dirty="0">
                <a:solidFill>
                  <a:srgbClr val="336699"/>
                </a:solidFill>
                <a:latin typeface="Arial"/>
                <a:cs typeface="Arial"/>
              </a:rPr>
              <a:t>Edition</a:t>
            </a:r>
            <a:endParaRPr sz="1000">
              <a:latin typeface="Arial"/>
              <a:cs typeface="Arial"/>
            </a:endParaRPr>
          </a:p>
        </p:txBody>
      </p:sp>
      <p:grpSp>
        <p:nvGrpSpPr>
          <p:cNvPr id="8" name="object 8"/>
          <p:cNvGrpSpPr/>
          <p:nvPr/>
        </p:nvGrpSpPr>
        <p:grpSpPr>
          <a:xfrm>
            <a:off x="3195573" y="3978909"/>
            <a:ext cx="2393950" cy="1944370"/>
            <a:chOff x="3195573" y="3978909"/>
            <a:chExt cx="2393950" cy="1944370"/>
          </a:xfrm>
        </p:grpSpPr>
        <p:pic>
          <p:nvPicPr>
            <p:cNvPr id="9" name="object 9"/>
            <p:cNvPicPr/>
            <p:nvPr/>
          </p:nvPicPr>
          <p:blipFill>
            <a:blip r:embed="rId2" cstate="print"/>
            <a:stretch>
              <a:fillRect/>
            </a:stretch>
          </p:blipFill>
          <p:spPr>
            <a:xfrm>
              <a:off x="3397379" y="4331703"/>
              <a:ext cx="2025520" cy="1328208"/>
            </a:xfrm>
            <a:prstGeom prst="rect">
              <a:avLst/>
            </a:prstGeom>
          </p:spPr>
        </p:pic>
        <p:sp>
          <p:nvSpPr>
            <p:cNvPr id="10" name="object 10"/>
            <p:cNvSpPr/>
            <p:nvPr/>
          </p:nvSpPr>
          <p:spPr>
            <a:xfrm>
              <a:off x="3322700" y="4119562"/>
              <a:ext cx="2138680" cy="1670050"/>
            </a:xfrm>
            <a:custGeom>
              <a:avLst/>
              <a:gdLst/>
              <a:ahLst/>
              <a:cxnLst/>
              <a:rect l="l" t="t" r="r" b="b"/>
              <a:pathLst>
                <a:path w="2138679" h="1670050">
                  <a:moveTo>
                    <a:pt x="0" y="1670050"/>
                  </a:moveTo>
                  <a:lnTo>
                    <a:pt x="2138299" y="1670050"/>
                  </a:lnTo>
                  <a:lnTo>
                    <a:pt x="2138299" y="0"/>
                  </a:lnTo>
                  <a:lnTo>
                    <a:pt x="0" y="0"/>
                  </a:lnTo>
                  <a:lnTo>
                    <a:pt x="0" y="1670050"/>
                  </a:lnTo>
                  <a:close/>
                </a:path>
              </a:pathLst>
            </a:custGeom>
            <a:ln w="76200">
              <a:solidFill>
                <a:srgbClr val="336699"/>
              </a:solidFill>
            </a:ln>
          </p:spPr>
          <p:txBody>
            <a:bodyPr wrap="square" lIns="0" tIns="0" rIns="0" bIns="0" rtlCol="0"/>
            <a:lstStyle/>
            <a:p>
              <a:endParaRPr/>
            </a:p>
          </p:txBody>
        </p:sp>
        <p:sp>
          <p:nvSpPr>
            <p:cNvPr id="11" name="object 11"/>
            <p:cNvSpPr/>
            <p:nvPr/>
          </p:nvSpPr>
          <p:spPr>
            <a:xfrm>
              <a:off x="3195574" y="3978909"/>
              <a:ext cx="2393950" cy="1944370"/>
            </a:xfrm>
            <a:custGeom>
              <a:avLst/>
              <a:gdLst/>
              <a:ahLst/>
              <a:cxnLst/>
              <a:rect l="l" t="t" r="r" b="b"/>
              <a:pathLst>
                <a:path w="2393950" h="1944370">
                  <a:moveTo>
                    <a:pt x="2371090" y="22860"/>
                  </a:moveTo>
                  <a:lnTo>
                    <a:pt x="22860" y="22860"/>
                  </a:lnTo>
                  <a:lnTo>
                    <a:pt x="22860" y="57150"/>
                  </a:lnTo>
                  <a:lnTo>
                    <a:pt x="22860" y="1887220"/>
                  </a:lnTo>
                  <a:lnTo>
                    <a:pt x="22860" y="1921510"/>
                  </a:lnTo>
                  <a:lnTo>
                    <a:pt x="2371090" y="1921510"/>
                  </a:lnTo>
                  <a:lnTo>
                    <a:pt x="2371090" y="1887220"/>
                  </a:lnTo>
                  <a:lnTo>
                    <a:pt x="57150" y="1887220"/>
                  </a:lnTo>
                  <a:lnTo>
                    <a:pt x="57150" y="57150"/>
                  </a:lnTo>
                  <a:lnTo>
                    <a:pt x="2336800" y="57150"/>
                  </a:lnTo>
                  <a:lnTo>
                    <a:pt x="2336800" y="1886902"/>
                  </a:lnTo>
                  <a:lnTo>
                    <a:pt x="2371090" y="1886902"/>
                  </a:lnTo>
                  <a:lnTo>
                    <a:pt x="2371090" y="57150"/>
                  </a:lnTo>
                  <a:lnTo>
                    <a:pt x="2371090" y="56515"/>
                  </a:lnTo>
                  <a:lnTo>
                    <a:pt x="2371090" y="22860"/>
                  </a:lnTo>
                  <a:close/>
                </a:path>
                <a:path w="2393950" h="1944370">
                  <a:moveTo>
                    <a:pt x="2393950" y="0"/>
                  </a:moveTo>
                  <a:lnTo>
                    <a:pt x="0" y="0"/>
                  </a:lnTo>
                  <a:lnTo>
                    <a:pt x="0" y="11430"/>
                  </a:lnTo>
                  <a:lnTo>
                    <a:pt x="0" y="1932940"/>
                  </a:lnTo>
                  <a:lnTo>
                    <a:pt x="0" y="1944370"/>
                  </a:lnTo>
                  <a:lnTo>
                    <a:pt x="2393950" y="1944370"/>
                  </a:lnTo>
                  <a:lnTo>
                    <a:pt x="2393950" y="1932940"/>
                  </a:lnTo>
                  <a:lnTo>
                    <a:pt x="11430" y="1932940"/>
                  </a:lnTo>
                  <a:lnTo>
                    <a:pt x="11430" y="11430"/>
                  </a:lnTo>
                  <a:lnTo>
                    <a:pt x="2382520" y="11430"/>
                  </a:lnTo>
                  <a:lnTo>
                    <a:pt x="2382520" y="1932622"/>
                  </a:lnTo>
                  <a:lnTo>
                    <a:pt x="2393950" y="1932622"/>
                  </a:lnTo>
                  <a:lnTo>
                    <a:pt x="2393950" y="11430"/>
                  </a:lnTo>
                  <a:lnTo>
                    <a:pt x="2393950" y="10795"/>
                  </a:lnTo>
                  <a:lnTo>
                    <a:pt x="2393950" y="0"/>
                  </a:lnTo>
                  <a:close/>
                </a:path>
              </a:pathLst>
            </a:custGeom>
            <a:solidFill>
              <a:srgbClr val="66CCFF"/>
            </a:solidFill>
          </p:spPr>
          <p:txBody>
            <a:bodyPr wrap="square" lIns="0" tIns="0" rIns="0" bIns="0" rtlCol="0"/>
            <a:lstStyle/>
            <a:p>
              <a:endParaRPr/>
            </a:p>
          </p:txBody>
        </p:sp>
      </p:grpSp>
      <p:sp>
        <p:nvSpPr>
          <p:cNvPr id="12" name="object 12"/>
          <p:cNvSpPr txBox="1">
            <a:spLocks noGrp="1"/>
          </p:cNvSpPr>
          <p:nvPr>
            <p:ph type="title"/>
          </p:nvPr>
        </p:nvSpPr>
        <p:spPr>
          <a:xfrm>
            <a:off x="2374773" y="2084577"/>
            <a:ext cx="4392930" cy="680720"/>
          </a:xfrm>
          <a:prstGeom prst="rect">
            <a:avLst/>
          </a:prstGeom>
        </p:spPr>
        <p:txBody>
          <a:bodyPr vert="horz" wrap="square" lIns="0" tIns="12065" rIns="0" bIns="0" rtlCol="0">
            <a:spAutoFit/>
          </a:bodyPr>
          <a:lstStyle/>
          <a:p>
            <a:pPr marL="12700">
              <a:lnSpc>
                <a:spcPct val="100000"/>
              </a:lnSpc>
              <a:spcBef>
                <a:spcPts val="95"/>
              </a:spcBef>
            </a:pPr>
            <a:r>
              <a:rPr sz="4300" dirty="0">
                <a:solidFill>
                  <a:srgbClr val="006699"/>
                </a:solidFill>
              </a:rPr>
              <a:t>End</a:t>
            </a:r>
            <a:r>
              <a:rPr sz="4300" spc="-75" dirty="0">
                <a:solidFill>
                  <a:srgbClr val="006699"/>
                </a:solidFill>
              </a:rPr>
              <a:t> </a:t>
            </a:r>
            <a:r>
              <a:rPr sz="4300" dirty="0">
                <a:solidFill>
                  <a:srgbClr val="006699"/>
                </a:solidFill>
              </a:rPr>
              <a:t>of</a:t>
            </a:r>
            <a:r>
              <a:rPr sz="4300" spc="-55" dirty="0">
                <a:solidFill>
                  <a:srgbClr val="006699"/>
                </a:solidFill>
              </a:rPr>
              <a:t> </a:t>
            </a:r>
            <a:r>
              <a:rPr sz="4300" dirty="0">
                <a:solidFill>
                  <a:srgbClr val="006699"/>
                </a:solidFill>
              </a:rPr>
              <a:t>Chapter</a:t>
            </a:r>
            <a:r>
              <a:rPr sz="4300" spc="-70" dirty="0">
                <a:solidFill>
                  <a:srgbClr val="006699"/>
                </a:solidFill>
              </a:rPr>
              <a:t> </a:t>
            </a:r>
            <a:r>
              <a:rPr sz="4300" spc="-50" dirty="0">
                <a:solidFill>
                  <a:srgbClr val="006699"/>
                </a:solidFill>
              </a:rPr>
              <a:t>8</a:t>
            </a:r>
            <a:endParaRPr sz="43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905</TotalTime>
  <Words>4999</Words>
  <Application>Microsoft Office PowerPoint</Application>
  <PresentationFormat>On-screen Show (4:3)</PresentationFormat>
  <Paragraphs>614</Paragraphs>
  <Slides>54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MS PGothic</vt:lpstr>
      <vt:lpstr>Yu Gothic</vt:lpstr>
      <vt:lpstr>Arial</vt:lpstr>
      <vt:lpstr>Arial MT</vt:lpstr>
      <vt:lpstr>Calibri</vt:lpstr>
      <vt:lpstr>Courier New</vt:lpstr>
      <vt:lpstr>Symbol</vt:lpstr>
      <vt:lpstr>Times New Roman</vt:lpstr>
      <vt:lpstr>Webdings</vt:lpstr>
      <vt:lpstr>Wingdings</vt:lpstr>
      <vt:lpstr>Office Theme</vt:lpstr>
      <vt:lpstr>Chapter 8: Main Memory</vt:lpstr>
      <vt:lpstr>Chapter 8: Memory Management</vt:lpstr>
      <vt:lpstr>Objectives</vt:lpstr>
      <vt:lpstr>PowerPoint Presentation</vt:lpstr>
      <vt:lpstr>PowerPoint Presentation</vt:lpstr>
      <vt:lpstr>Background</vt:lpstr>
      <vt:lpstr>Base and Limit Registers</vt:lpstr>
      <vt:lpstr>Hardware Address Protection</vt:lpstr>
      <vt:lpstr>Logical vs. Physical Address Space</vt:lpstr>
      <vt:lpstr>Address Binding</vt:lpstr>
      <vt:lpstr>Binding of Instructions and Data to Memory</vt:lpstr>
      <vt:lpstr>Multistep Processing of a User Program</vt:lpstr>
      <vt:lpstr>Memory-Management Unit (MMU)</vt:lpstr>
      <vt:lpstr>Dynamic relocation using a relocation register (Dynamic Loading)</vt:lpstr>
      <vt:lpstr>Dynamic Linking</vt:lpstr>
      <vt:lpstr>Contiguous Allocation</vt:lpstr>
      <vt:lpstr>Contiguous Allocation - Memory Protection</vt:lpstr>
      <vt:lpstr>Hardware Support for Relocation and Limit Registers</vt:lpstr>
      <vt:lpstr>Multiple-Partition Allocation</vt:lpstr>
      <vt:lpstr>Dynamic Storage-Allocation Problem</vt:lpstr>
      <vt:lpstr>Fragmentation</vt:lpstr>
      <vt:lpstr>Fragmentation</vt:lpstr>
      <vt:lpstr>PowerPoint Presentation</vt:lpstr>
      <vt:lpstr>PowerPoint Presentation</vt:lpstr>
      <vt:lpstr>Paging</vt:lpstr>
      <vt:lpstr>Address Translation Scheme</vt:lpstr>
      <vt:lpstr>PowerPoint Presentation</vt:lpstr>
      <vt:lpstr>PowerPoint Presentation</vt:lpstr>
      <vt:lpstr>Paging Hardware</vt:lpstr>
      <vt:lpstr>Paging Model of Logical and Physical Memory</vt:lpstr>
      <vt:lpstr>Paging Example</vt:lpstr>
      <vt:lpstr>PowerPoint Presentation</vt:lpstr>
      <vt:lpstr>PowerPoint Presentation</vt:lpstr>
      <vt:lpstr>Paging</vt:lpstr>
      <vt:lpstr>Free Frames</vt:lpstr>
      <vt:lpstr>Implementation of Page Table</vt:lpstr>
      <vt:lpstr>Associative Memory - TLB</vt:lpstr>
      <vt:lpstr>Paging Hardware With TLB</vt:lpstr>
      <vt:lpstr>Implementation of Page Table</vt:lpstr>
      <vt:lpstr>PowerPoint Presentation</vt:lpstr>
      <vt:lpstr>Effective Memory-Access Time</vt:lpstr>
      <vt:lpstr>Memory Protection</vt:lpstr>
      <vt:lpstr>Valid (v) or Invalid (i) Bit In A Page Table</vt:lpstr>
      <vt:lpstr>Shared Pages Example</vt:lpstr>
      <vt:lpstr>Structure of the Page Table</vt:lpstr>
      <vt:lpstr>Swapping</vt:lpstr>
      <vt:lpstr>Schematic View of Swapping (Swapping of two processes using a disk as a backing store)</vt:lpstr>
      <vt:lpstr>PowerPoint Presentation</vt:lpstr>
      <vt:lpstr>Context Switch Time including Swapping</vt:lpstr>
      <vt:lpstr>Context Switch Time and Swapping</vt:lpstr>
      <vt:lpstr>Modified Standard Swapping</vt:lpstr>
      <vt:lpstr>PowerPoint Presentation</vt:lpstr>
      <vt:lpstr>PowerPoint Presentation</vt:lpstr>
      <vt:lpstr>End of Chapter 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Aiswariya Milan</cp:lastModifiedBy>
  <cp:revision>15</cp:revision>
  <dcterms:created xsi:type="dcterms:W3CDTF">2025-04-09T05:25:42Z</dcterms:created>
  <dcterms:modified xsi:type="dcterms:W3CDTF">2026-04-29T04:23:47Z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2015-06-15T00:00:00Z</vt:filetime>
  </property>
  <property fmtid="{D5CDD505-2E9C-101B-9397-08002B2CF9AE}" pid="3" name="Creator">
    <vt:lpwstr>Microsoft® PowerPoint® 2010</vt:lpwstr>
  </property>
  <property fmtid="{D5CDD505-2E9C-101B-9397-08002B2CF9AE}" pid="4" name="LastSaved">
    <vt:filetime>2025-04-09T00:00:00Z</vt:filetime>
  </property>
  <property fmtid="{D5CDD505-2E9C-101B-9397-08002B2CF9AE}" pid="5" name="Producer">
    <vt:lpwstr>Microsoft® PowerPoint® 2010</vt:lpwstr>
  </property>
</Properties>
</file>