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50"/>
  </p:notesMasterIdLst>
  <p:handoutMasterIdLst>
    <p:handoutMasterId r:id="rId51"/>
  </p:handoutMasterIdLst>
  <p:sldIdLst>
    <p:sldId id="331" r:id="rId2"/>
    <p:sldId id="332" r:id="rId3"/>
    <p:sldId id="333" r:id="rId4"/>
    <p:sldId id="420" r:id="rId5"/>
    <p:sldId id="424" r:id="rId6"/>
    <p:sldId id="338" r:id="rId7"/>
    <p:sldId id="339" r:id="rId8"/>
    <p:sldId id="480" r:id="rId9"/>
    <p:sldId id="446" r:id="rId10"/>
    <p:sldId id="453" r:id="rId11"/>
    <p:sldId id="459" r:id="rId12"/>
    <p:sldId id="460" r:id="rId13"/>
    <p:sldId id="458" r:id="rId14"/>
    <p:sldId id="457" r:id="rId15"/>
    <p:sldId id="407" r:id="rId16"/>
    <p:sldId id="427" r:id="rId17"/>
    <p:sldId id="447" r:id="rId18"/>
    <p:sldId id="429" r:id="rId19"/>
    <p:sldId id="456" r:id="rId20"/>
    <p:sldId id="343" r:id="rId21"/>
    <p:sldId id="433" r:id="rId22"/>
    <p:sldId id="448" r:id="rId23"/>
    <p:sldId id="346" r:id="rId24"/>
    <p:sldId id="449" r:id="rId25"/>
    <p:sldId id="348" r:id="rId26"/>
    <p:sldId id="349" r:id="rId27"/>
    <p:sldId id="450" r:id="rId28"/>
    <p:sldId id="432" r:id="rId29"/>
    <p:sldId id="352" r:id="rId30"/>
    <p:sldId id="451" r:id="rId31"/>
    <p:sldId id="472" r:id="rId32"/>
    <p:sldId id="481" r:id="rId33"/>
    <p:sldId id="354" r:id="rId34"/>
    <p:sldId id="355" r:id="rId35"/>
    <p:sldId id="452" r:id="rId36"/>
    <p:sldId id="356" r:id="rId37"/>
    <p:sldId id="418" r:id="rId38"/>
    <p:sldId id="438" r:id="rId39"/>
    <p:sldId id="437" r:id="rId40"/>
    <p:sldId id="439" r:id="rId41"/>
    <p:sldId id="369" r:id="rId42"/>
    <p:sldId id="370" r:id="rId43"/>
    <p:sldId id="476" r:id="rId44"/>
    <p:sldId id="371" r:id="rId45"/>
    <p:sldId id="372" r:id="rId46"/>
    <p:sldId id="482" r:id="rId47"/>
    <p:sldId id="475" r:id="rId48"/>
    <p:sldId id="404" r:id="rId49"/>
  </p:sldIdLst>
  <p:sldSz cx="9144000" cy="6858000" type="screen4x3"/>
  <p:notesSz cx="7102475" cy="9388475"/>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336699"/>
    <a:srgbClr val="0066CC"/>
    <a:srgbClr val="CC6600"/>
    <a:srgbClr val="993300"/>
    <a:srgbClr val="FF00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5"/>
    <p:restoredTop sz="78856" autoAdjust="0"/>
  </p:normalViewPr>
  <p:slideViewPr>
    <p:cSldViewPr snapToGrid="0">
      <p:cViewPr varScale="1">
        <p:scale>
          <a:sx n="60" d="100"/>
          <a:sy n="60" d="100"/>
        </p:scale>
        <p:origin x="1944" y="53"/>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113766"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4003185" y="0"/>
            <a:ext cx="3112157"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algn="r" defTabSz="892536">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954002"/>
            <a:ext cx="3113766"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4003185" y="8954002"/>
            <a:ext cx="3112157"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algn="r" defTabSz="892536">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0" y="0"/>
            <a:ext cx="3076775"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4025702" y="0"/>
            <a:ext cx="3076774"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algn="r" defTabSz="940694">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1204913" y="704850"/>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47320" y="4460167"/>
            <a:ext cx="5207838" cy="4222890"/>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0" y="8920334"/>
            <a:ext cx="3076775"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4025702" y="8920334"/>
            <a:ext cx="3076774"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algn="r" defTabSz="940694">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CPU Scheduling</a:t>
            </a:r>
            <a:r>
              <a:rPr lang="en-US" dirty="0"/>
              <a:t> decides:</a:t>
            </a:r>
            <a:br>
              <a:rPr lang="en-US" dirty="0"/>
            </a:br>
            <a:r>
              <a:rPr lang="en-US" dirty="0"/>
              <a:t> </a:t>
            </a:r>
            <a:r>
              <a:rPr lang="en-US" i="1" dirty="0"/>
              <a:t>Which process gets the CPU?</a:t>
            </a:r>
            <a:endParaRPr lang="en-US" dirty="0"/>
          </a:p>
          <a:p>
            <a:r>
              <a:rPr lang="en-US" dirty="0"/>
              <a:t>But in real systems, multiple processes:</a:t>
            </a:r>
          </a:p>
          <a:p>
            <a:pPr lvl="1"/>
            <a:r>
              <a:rPr lang="en-US" dirty="0"/>
              <a:t>Run </a:t>
            </a:r>
            <a:r>
              <a:rPr lang="en-US" b="1" dirty="0"/>
              <a:t>concurrently</a:t>
            </a:r>
            <a:endParaRPr lang="en-US" dirty="0"/>
          </a:p>
          <a:p>
            <a:pPr lvl="1"/>
            <a:r>
              <a:rPr lang="en-US" dirty="0"/>
              <a:t>Share </a:t>
            </a:r>
            <a:r>
              <a:rPr lang="en-US" b="1" dirty="0"/>
              <a:t>resources</a:t>
            </a:r>
            <a:r>
              <a:rPr lang="en-US" dirty="0"/>
              <a:t> (memory, files, variables)</a:t>
            </a:r>
          </a:p>
          <a:p>
            <a:r>
              <a:rPr lang="en-US" dirty="0"/>
              <a:t>This leads to problems like:</a:t>
            </a:r>
          </a:p>
          <a:p>
            <a:r>
              <a:rPr lang="en-US" dirty="0"/>
              <a:t>Data inconsistency</a:t>
            </a:r>
          </a:p>
          <a:p>
            <a:r>
              <a:rPr lang="en-US" dirty="0"/>
              <a:t>Unexpected results</a:t>
            </a:r>
          </a:p>
          <a:p>
            <a:r>
              <a:rPr lang="en-US" dirty="0"/>
              <a:t>So we need </a:t>
            </a:r>
            <a:r>
              <a:rPr lang="en-US" b="1" dirty="0"/>
              <a:t>Synchronization</a:t>
            </a:r>
            <a:r>
              <a:rPr lang="en-US" dirty="0"/>
              <a:t>.-Process synchronization is a technique to </a:t>
            </a:r>
            <a:r>
              <a:rPr lang="en-US" b="1" dirty="0"/>
              <a:t>coordinate multiple processes</a:t>
            </a:r>
            <a:r>
              <a:rPr lang="en-US" dirty="0"/>
              <a:t> so that they can safely share resources without conflicts.</a:t>
            </a:r>
          </a:p>
          <a:p>
            <a:endParaRPr lang="en-US" altLang="en-US"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Race condition- Occurs when multiple processes access and modify shared data </a:t>
            </a:r>
            <a:r>
              <a:rPr lang="en-US" b="1" dirty="0"/>
              <a:t>simultaneously</a:t>
            </a:r>
            <a:r>
              <a:rPr lang="en-US" dirty="0"/>
              <a:t>, and the final result depends on the order of execution.</a:t>
            </a:r>
          </a:p>
          <a:p>
            <a:r>
              <a:rPr lang="en-US" dirty="0"/>
              <a:t>The final result depends on </a:t>
            </a:r>
            <a:r>
              <a:rPr lang="en-US" b="1" dirty="0"/>
              <a:t>which process runs first</a:t>
            </a:r>
            <a:endParaRPr lang="en-US" dirty="0"/>
          </a:p>
          <a:p>
            <a:r>
              <a:rPr lang="en-US" dirty="0"/>
              <a:t>If properly ordered → correct result</a:t>
            </a:r>
          </a:p>
          <a:p>
            <a:r>
              <a:rPr lang="en-US" dirty="0"/>
              <a:t>If interleaved → incorrect result</a:t>
            </a:r>
          </a:p>
          <a:p>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5</a:t>
            </a:fld>
            <a:endParaRPr lang="en-US" altLang="en-US"/>
          </a:p>
        </p:txBody>
      </p:sp>
    </p:spTree>
    <p:extLst>
      <p:ext uri="{BB962C8B-B14F-4D97-AF65-F5344CB8AC3E}">
        <p14:creationId xmlns:p14="http://schemas.microsoft.com/office/powerpoint/2010/main" val="3050492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process has a </a:t>
            </a:r>
            <a:r>
              <a:rPr lang="en-US" b="1" dirty="0"/>
              <a:t>critical section</a:t>
            </a:r>
            <a:r>
              <a:rPr lang="en-US" dirty="0"/>
              <a:t>:</a:t>
            </a:r>
          </a:p>
          <a:p>
            <a:r>
              <a:rPr lang="en-US" dirty="0"/>
              <a:t>Part of code where shared resources are accessed</a:t>
            </a:r>
          </a:p>
          <a:p>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6</a:t>
            </a:fld>
            <a:endParaRPr lang="en-US" altLang="en-US"/>
          </a:p>
        </p:txBody>
      </p:sp>
    </p:spTree>
    <p:extLst>
      <p:ext uri="{BB962C8B-B14F-4D97-AF65-F5344CB8AC3E}">
        <p14:creationId xmlns:p14="http://schemas.microsoft.com/office/powerpoint/2010/main" val="1643374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t>Structure of a process:</a:t>
            </a:r>
            <a:endParaRPr lang="en-US" dirty="0"/>
          </a:p>
          <a:p>
            <a:r>
              <a:rPr lang="en-US" dirty="0"/>
              <a:t>Entry Section</a:t>
            </a:r>
          </a:p>
          <a:p>
            <a:r>
              <a:rPr lang="en-US" dirty="0"/>
              <a:t>Critical Section</a:t>
            </a:r>
          </a:p>
          <a:p>
            <a:r>
              <a:rPr lang="en-US" dirty="0"/>
              <a:t>Exit Section</a:t>
            </a:r>
          </a:p>
          <a:p>
            <a:r>
              <a:rPr lang="en-US" dirty="0"/>
              <a:t>Remainder Section</a:t>
            </a:r>
          </a:p>
          <a:p>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7</a:t>
            </a:fld>
            <a:endParaRPr lang="en-US" altLang="en-US"/>
          </a:p>
        </p:txBody>
      </p:sp>
    </p:spTree>
    <p:extLst>
      <p:ext uri="{BB962C8B-B14F-4D97-AF65-F5344CB8AC3E}">
        <p14:creationId xmlns:p14="http://schemas.microsoft.com/office/powerpoint/2010/main" val="1519673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To solve synchronization issues, we must satisfy:</a:t>
            </a:r>
            <a:endParaRPr lang="en-US" b="1" dirty="0"/>
          </a:p>
          <a:p>
            <a:r>
              <a:rPr lang="en-US" b="1" dirty="0"/>
              <a:t>Mutual Exclusion-</a:t>
            </a:r>
            <a:r>
              <a:rPr lang="en-US" dirty="0"/>
              <a:t>Only </a:t>
            </a:r>
            <a:r>
              <a:rPr lang="en-US" b="1" dirty="0"/>
              <a:t>one process</a:t>
            </a:r>
            <a:r>
              <a:rPr lang="en-US" dirty="0"/>
              <a:t> in critical section at a time</a:t>
            </a:r>
          </a:p>
          <a:p>
            <a:r>
              <a:rPr lang="en-US" b="1" dirty="0"/>
              <a:t>Progress-</a:t>
            </a:r>
            <a:r>
              <a:rPr lang="en-US" dirty="0"/>
              <a:t> If no process is inside, others should not wait unnecessarily</a:t>
            </a:r>
          </a:p>
          <a:p>
            <a:r>
              <a:rPr lang="en-US" b="1" dirty="0"/>
              <a:t>Bounded Waiting-</a:t>
            </a:r>
            <a:r>
              <a:rPr lang="en-US" dirty="0"/>
              <a:t> No process should wait forever (no starvation)</a:t>
            </a:r>
          </a:p>
          <a:p>
            <a:endParaRPr lang="en-US" dirty="0"/>
          </a:p>
          <a:p>
            <a:endParaRPr lang="en-US" dirty="0"/>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Prevent context switching while a process is executing the </a:t>
            </a:r>
            <a:r>
              <a:rPr lang="en-US" b="1" dirty="0"/>
              <a:t>critical section</a:t>
            </a:r>
            <a:r>
              <a:rPr lang="en-US" dirty="0"/>
              <a:t>.-</a:t>
            </a:r>
            <a:r>
              <a:rPr lang="en-US" b="1" dirty="0"/>
              <a:t>Disabling interrupts, Enabling interrupts</a:t>
            </a:r>
          </a:p>
          <a:p>
            <a:r>
              <a:rPr lang="en-US" dirty="0"/>
              <a:t>Not suitable for multiprocessor systems- Disabling interrupts on one CPU doesn’t stop others</a:t>
            </a:r>
            <a:endParaRPr lang="en-US" b="1"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kern="1200" dirty="0">
                <a:solidFill>
                  <a:schemeClr val="tx1"/>
                </a:solidFill>
                <a:latin typeface="Times New Roman" charset="0"/>
                <a:ea typeface="MS PGothic" pitchFamily="34" charset="-128"/>
                <a:cs typeface="MS PGothic" charset="0"/>
              </a:rPr>
              <a:t>What if the critical section is code that runs for an hour?</a:t>
            </a:r>
          </a:p>
          <a:p>
            <a:r>
              <a:rPr lang="en-US" i="1" dirty="0"/>
              <a:t>If a critical section is long, disabling interrupts makes the system unresponsive, halts scheduling, and is therefore impractical; hence interrupt-based solutions are suitable only for short critical sections.</a:t>
            </a:r>
          </a:p>
          <a:p>
            <a:r>
              <a:rPr lang="en-US" i="1" dirty="0"/>
              <a:t>processes can starve if synchronization mechanisms do not ensure bounded waiting, causing some processes to wait indefinitely.</a:t>
            </a:r>
          </a:p>
          <a:p>
            <a:r>
              <a:rPr lang="en-US" dirty="0"/>
              <a:t>In multiprocessor systems, disabling interrupts is insufficient for synchronization because other CPUs can still access shared data concurrently.</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Turn=j</a:t>
            </a:r>
          </a:p>
          <a:p>
            <a:r>
              <a:rPr lang="en-US" dirty="0"/>
              <a:t>Pi runs turn==j-&gt; Since turn = j → condition TRUE → Pi waits</a:t>
            </a:r>
          </a:p>
          <a:p>
            <a:r>
              <a:rPr lang="en-US" dirty="0"/>
              <a:t>When </a:t>
            </a:r>
            <a:r>
              <a:rPr lang="en-US" dirty="0" err="1"/>
              <a:t>Pj</a:t>
            </a:r>
            <a:r>
              <a:rPr lang="en-US" dirty="0"/>
              <a:t> finishes and sets: </a:t>
            </a:r>
            <a:r>
              <a:rPr lang="en-US" sz="1200" kern="1200" dirty="0">
                <a:solidFill>
                  <a:schemeClr val="tx1"/>
                </a:solidFill>
                <a:latin typeface="Times New Roman" charset="0"/>
                <a:ea typeface="MS PGothic" pitchFamily="34" charset="-128"/>
                <a:cs typeface="MS PGothic" charset="0"/>
              </a:rPr>
              <a:t>turn = </a:t>
            </a:r>
            <a:r>
              <a:rPr lang="en-US" sz="1200" kern="1200" dirty="0" err="1">
                <a:solidFill>
                  <a:schemeClr val="tx1"/>
                </a:solidFill>
                <a:latin typeface="Times New Roman" charset="0"/>
                <a:ea typeface="MS PGothic" pitchFamily="34" charset="-128"/>
                <a:cs typeface="MS PGothic" charset="0"/>
              </a:rPr>
              <a:t>i</a:t>
            </a:r>
            <a:endParaRPr lang="en-US" sz="1200" kern="1200" dirty="0">
              <a:solidFill>
                <a:schemeClr val="tx1"/>
              </a:solidFill>
              <a:latin typeface="Times New Roman" charset="0"/>
              <a:ea typeface="MS PGothic" pitchFamily="34" charset="-128"/>
              <a:cs typeface="MS PGothic" charset="0"/>
            </a:endParaRPr>
          </a:p>
          <a:p>
            <a:r>
              <a:rPr lang="en-US" dirty="0"/>
              <a:t>Now condition FALSE → Pi exits loop → enters critical section.</a:t>
            </a:r>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11</a:t>
            </a:fld>
            <a:endParaRPr lang="en-US" altLang="en-US"/>
          </a:p>
        </p:txBody>
      </p:sp>
    </p:spTree>
    <p:extLst>
      <p:ext uri="{BB962C8B-B14F-4D97-AF65-F5344CB8AC3E}">
        <p14:creationId xmlns:p14="http://schemas.microsoft.com/office/powerpoint/2010/main" val="214440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turn = j</a:t>
            </a:r>
            <a:br>
              <a:rPr lang="en-US" dirty="0"/>
            </a:br>
            <a:r>
              <a:rPr lang="en-US" dirty="0" err="1"/>
              <a:t>Pj</a:t>
            </a:r>
            <a:r>
              <a:rPr lang="en-US" dirty="0"/>
              <a:t> is in remainder section (not interested)</a:t>
            </a:r>
            <a:br>
              <a:rPr lang="en-US" dirty="0"/>
            </a:br>
            <a:r>
              <a:rPr lang="en-US" dirty="0"/>
              <a:t>Pi wants to enter critical section</a:t>
            </a:r>
          </a:p>
          <a:p>
            <a:r>
              <a:rPr lang="en-US" dirty="0"/>
              <a:t>a process can enter the critical section </a:t>
            </a:r>
            <a:r>
              <a:rPr lang="en-US" b="1" dirty="0"/>
              <a:t>only when it is its turn</a:t>
            </a:r>
            <a:r>
              <a:rPr lang="en-US" dirty="0"/>
              <a:t>, not when the critical section is free.</a:t>
            </a:r>
          </a:p>
          <a:p>
            <a:r>
              <a:rPr lang="en-US" dirty="0"/>
              <a:t>So even if the other process </a:t>
            </a:r>
            <a:r>
              <a:rPr lang="en-US" b="1" dirty="0"/>
              <a:t>does not want to enter</a:t>
            </a:r>
            <a:r>
              <a:rPr lang="en-US" dirty="0"/>
              <a:t>, the current process </a:t>
            </a:r>
            <a:r>
              <a:rPr lang="en-US" b="1" dirty="0"/>
              <a:t>still has to wait</a:t>
            </a:r>
            <a:r>
              <a:rPr lang="en-US" dirty="0"/>
              <a:t> for its turn.</a:t>
            </a:r>
          </a:p>
          <a:p>
            <a:endParaRPr lang="en-US" dirty="0"/>
          </a:p>
          <a:p>
            <a:r>
              <a:rPr lang="en-US" dirty="0"/>
              <a:t>This </a:t>
            </a:r>
            <a:r>
              <a:rPr lang="en-US" b="1" dirty="0"/>
              <a:t>violates Progress</a:t>
            </a:r>
            <a:r>
              <a:rPr lang="en-US" dirty="0"/>
              <a:t>. </a:t>
            </a:r>
            <a:r>
              <a:rPr lang="en-US" dirty="0" err="1"/>
              <a:t>Satisifies</a:t>
            </a:r>
            <a:r>
              <a:rPr lang="en-US" dirty="0"/>
              <a:t> bounded waiting</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 flag = true</a:t>
            </a:r>
          </a:p>
          <a:p>
            <a:r>
              <a:rPr lang="en-US" dirty="0" err="1"/>
              <a:t>Pj</a:t>
            </a:r>
            <a:r>
              <a:rPr lang="en-US" dirty="0"/>
              <a:t> flag = true</a:t>
            </a:r>
          </a:p>
          <a:p>
            <a:r>
              <a:rPr lang="en-US" dirty="0"/>
              <a:t>Pi turn = j</a:t>
            </a:r>
          </a:p>
          <a:p>
            <a:r>
              <a:rPr lang="en-US" dirty="0" err="1"/>
              <a:t>Pj</a:t>
            </a:r>
            <a:r>
              <a:rPr lang="en-US" dirty="0"/>
              <a:t> turn = </a:t>
            </a:r>
            <a:r>
              <a:rPr lang="en-US" dirty="0" err="1"/>
              <a:t>i</a:t>
            </a:r>
            <a:r>
              <a:rPr lang="en-US" dirty="0"/>
              <a:t>   ← last turn assignment</a:t>
            </a:r>
          </a:p>
          <a:p>
            <a:r>
              <a:rPr lang="en-US" dirty="0"/>
              <a:t>Pi enters CS</a:t>
            </a:r>
          </a:p>
          <a:p>
            <a:r>
              <a:rPr lang="en-US" dirty="0"/>
              <a:t>Pi exits CS</a:t>
            </a:r>
          </a:p>
          <a:p>
            <a:r>
              <a:rPr lang="en-US" dirty="0" err="1"/>
              <a:t>Pj</a:t>
            </a:r>
            <a:r>
              <a:rPr lang="en-US" dirty="0"/>
              <a:t> enters CS</a:t>
            </a:r>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14</a:t>
            </a:fld>
            <a:endParaRPr lang="en-US" altLang="en-US"/>
          </a:p>
        </p:txBody>
      </p:sp>
    </p:spTree>
    <p:extLst>
      <p:ext uri="{BB962C8B-B14F-4D97-AF65-F5344CB8AC3E}">
        <p14:creationId xmlns:p14="http://schemas.microsoft.com/office/powerpoint/2010/main" val="3762297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a:solidFill>
                  <a:schemeClr val="tx1"/>
                </a:solidFill>
                <a:effectLst/>
                <a:latin typeface="Times New Roman" charset="0"/>
                <a:ea typeface="MS PGothic" pitchFamily="34" charset="-128"/>
                <a:cs typeface="MS PGothic" charset="0"/>
              </a:rPr>
              <a:t>Test and set algorithm</a:t>
            </a:r>
            <a:r>
              <a:rPr lang="en-US" sz="1200" b="0" i="0" kern="1200" dirty="0">
                <a:solidFill>
                  <a:schemeClr val="tx1"/>
                </a:solidFill>
                <a:effectLst/>
                <a:latin typeface="Times New Roman" charset="0"/>
                <a:ea typeface="MS PGothic" pitchFamily="34" charset="-128"/>
                <a:cs typeface="MS PGothic" charset="0"/>
              </a:rPr>
              <a:t> uses a </a:t>
            </a:r>
            <a:r>
              <a:rPr lang="en-US" sz="1200" b="0" i="0" kern="1200" dirty="0" err="1">
                <a:solidFill>
                  <a:schemeClr val="tx1"/>
                </a:solidFill>
                <a:effectLst/>
                <a:latin typeface="Times New Roman" charset="0"/>
                <a:ea typeface="MS PGothic" pitchFamily="34" charset="-128"/>
                <a:cs typeface="MS PGothic" charset="0"/>
              </a:rPr>
              <a:t>boolean</a:t>
            </a:r>
            <a:r>
              <a:rPr lang="en-US" sz="1200" b="0" i="0" kern="1200" dirty="0">
                <a:solidFill>
                  <a:schemeClr val="tx1"/>
                </a:solidFill>
                <a:effectLst/>
                <a:latin typeface="Times New Roman" charset="0"/>
                <a:ea typeface="MS PGothic" pitchFamily="34" charset="-128"/>
                <a:cs typeface="MS PGothic" charset="0"/>
              </a:rPr>
              <a:t> variable '</a:t>
            </a:r>
            <a:r>
              <a:rPr lang="en-US" sz="1200" b="1" i="0" kern="1200" dirty="0">
                <a:solidFill>
                  <a:schemeClr val="tx1"/>
                </a:solidFill>
                <a:effectLst/>
                <a:latin typeface="Times New Roman" charset="0"/>
                <a:ea typeface="MS PGothic" pitchFamily="34" charset="-128"/>
                <a:cs typeface="MS PGothic" charset="0"/>
              </a:rPr>
              <a:t>lock</a:t>
            </a:r>
            <a:r>
              <a:rPr lang="en-US" sz="1200" b="0" i="0" kern="1200" dirty="0">
                <a:solidFill>
                  <a:schemeClr val="tx1"/>
                </a:solidFill>
                <a:effectLst/>
                <a:latin typeface="Times New Roman" charset="0"/>
                <a:ea typeface="MS PGothic" pitchFamily="34" charset="-128"/>
                <a:cs typeface="MS PGothic" charset="0"/>
              </a:rPr>
              <a:t>' which is initially initialized to false. This lock variable determines the entry of the process inside the critical section of the code</a:t>
            </a:r>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22</a:t>
            </a:fld>
            <a:endParaRPr lang="en-US" altLang="en-US"/>
          </a:p>
        </p:txBody>
      </p:sp>
    </p:spTree>
    <p:extLst>
      <p:ext uri="{BB962C8B-B14F-4D97-AF65-F5344CB8AC3E}">
        <p14:creationId xmlns:p14="http://schemas.microsoft.com/office/powerpoint/2010/main" val="2557136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kern="1200" dirty="0">
                <a:solidFill>
                  <a:schemeClr val="tx1"/>
                </a:solidFill>
                <a:effectLst/>
                <a:latin typeface="Times New Roman" charset="0"/>
                <a:ea typeface="MS PGothic" pitchFamily="34" charset="-128"/>
                <a:cs typeface="MS PGothic" charset="0"/>
              </a:rPr>
              <a:t>Mutual exclusion and progress satisfied.</a:t>
            </a:r>
          </a:p>
          <a:p>
            <a:r>
              <a:rPr lang="en-US" sz="1200" b="0" i="0" kern="1200" dirty="0">
                <a:solidFill>
                  <a:schemeClr val="tx1"/>
                </a:solidFill>
                <a:effectLst/>
                <a:latin typeface="Times New Roman" charset="0"/>
                <a:ea typeface="MS PGothic" pitchFamily="34" charset="-128"/>
                <a:cs typeface="MS PGothic" charset="0"/>
              </a:rPr>
              <a:t>However, after the first process, any process can go in. There is no queue maintained,</a:t>
            </a:r>
          </a:p>
          <a:p>
            <a:r>
              <a:rPr lang="en-US" sz="1200" b="0" i="0" kern="1200" dirty="0">
                <a:solidFill>
                  <a:schemeClr val="tx1"/>
                </a:solidFill>
                <a:effectLst/>
                <a:latin typeface="Times New Roman" charset="0"/>
                <a:ea typeface="MS PGothic" pitchFamily="34" charset="-128"/>
                <a:cs typeface="MS PGothic" charset="0"/>
              </a:rPr>
              <a:t> so any new process that finds the lock to be false again can enter. So bounded waiting is not ensured. </a:t>
            </a:r>
            <a:endParaRPr lang="en-US" altLang="en-US"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charset="0"/>
                <a:ea typeface="MS PGothic" pitchFamily="34" charset="-128"/>
                <a:cs typeface="MS PGothic" charset="0"/>
              </a:rPr>
              <a:t>Swap algorithm is a lot like the </a:t>
            </a:r>
            <a:r>
              <a:rPr lang="en-US" sz="1200" b="0" i="0" kern="1200" dirty="0" err="1">
                <a:solidFill>
                  <a:schemeClr val="tx1"/>
                </a:solidFill>
                <a:effectLst/>
                <a:latin typeface="Times New Roman" charset="0"/>
                <a:ea typeface="MS PGothic" pitchFamily="34" charset="-128"/>
                <a:cs typeface="MS PGothic" charset="0"/>
              </a:rPr>
              <a:t>TestAndSet</a:t>
            </a:r>
            <a:r>
              <a:rPr lang="en-US" sz="1200" b="0" i="0" kern="1200" dirty="0">
                <a:solidFill>
                  <a:schemeClr val="tx1"/>
                </a:solidFill>
                <a:effectLst/>
                <a:latin typeface="Times New Roman" charset="0"/>
                <a:ea typeface="MS PGothic" pitchFamily="34" charset="-128"/>
                <a:cs typeface="MS PGothic" charset="0"/>
              </a:rPr>
              <a:t> algorithm. Instead of directly setting lock to true in the swap function, key is set to true and then swapped with lock.</a:t>
            </a:r>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24</a:t>
            </a:fld>
            <a:endParaRPr lang="en-US" altLang="en-US"/>
          </a:p>
        </p:txBody>
      </p:sp>
    </p:spTree>
    <p:extLst>
      <p:ext uri="{BB962C8B-B14F-4D97-AF65-F5344CB8AC3E}">
        <p14:creationId xmlns:p14="http://schemas.microsoft.com/office/powerpoint/2010/main" val="28934193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1" i="0" kern="1200" dirty="0">
                <a:solidFill>
                  <a:schemeClr val="tx1"/>
                </a:solidFill>
                <a:effectLst/>
                <a:latin typeface="Times New Roman" charset="0"/>
                <a:ea typeface="MS PGothic" pitchFamily="34" charset="-128"/>
                <a:cs typeface="MS PGothic" charset="0"/>
              </a:rPr>
              <a:t>bounded waiting is not ensured in Swap algorithm</a:t>
            </a:r>
          </a:p>
          <a:p>
            <a:r>
              <a:rPr lang="en-US" dirty="0"/>
              <a:t>Test-and-Set always sets the lock variable, whereas Compare-and-Swap updates the lock only if it matches the expected value.</a:t>
            </a:r>
            <a:endParaRPr lang="en-US" altLang="en-US"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ln/>
        </p:spPr>
      </p:sp>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bounded waiting Compare-and-Swap algorithm ensures mutual exclusion by using an atomic CAS instruction to acquire the lock and a waiting array to pass the lock to the next waiting process in circular order, thereby preventing starvation and ensuring bounded waiting.</a:t>
            </a:r>
            <a:endParaRPr lang="en-US" altLang="en-US" dirty="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Hardware based solution are difficult for developers</a:t>
            </a:r>
          </a:p>
          <a:p>
            <a:r>
              <a:rPr lang="en-US" altLang="en-US" dirty="0">
                <a:latin typeface="Times New Roman" panose="02020603050405020304" pitchFamily="18" charset="0"/>
              </a:rPr>
              <a:t>Software based solutions</a:t>
            </a:r>
          </a:p>
          <a:p>
            <a:r>
              <a:rPr lang="en-US" altLang="en-US" dirty="0">
                <a:latin typeface="Times New Roman" panose="02020603050405020304" pitchFamily="18" charset="0"/>
              </a:rPr>
              <a:t>Waiting for entering into CS</a:t>
            </a:r>
          </a:p>
          <a:p>
            <a:r>
              <a:rPr lang="en-US" altLang="en-US" dirty="0">
                <a:latin typeface="Times New Roman" panose="02020603050405020304" pitchFamily="18" charset="0"/>
              </a:rPr>
              <a:t>Signal -&gt; signal the other process that they can enter into CS</a:t>
            </a:r>
          </a:p>
          <a:p>
            <a:r>
              <a:rPr lang="en-US" altLang="en-US" dirty="0">
                <a:latin typeface="Times New Roman" panose="02020603050405020304" pitchFamily="18" charset="0"/>
              </a:rPr>
              <a:t>One process is modifying the semaphore value no other process can modify it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Limitation-busy waiting-waste CPU cycles-looping inside while loop-wasting CPU-Spinlock semaphore.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Process can block itself and put in a waiting queue instead of busy waiting- Control is transferred to </a:t>
            </a:r>
            <a:r>
              <a:rPr lang="en-US" altLang="en-US" dirty="0" err="1">
                <a:latin typeface="Times New Roman" panose="02020603050405020304" pitchFamily="18" charset="0"/>
              </a:rPr>
              <a:t>cpu</a:t>
            </a:r>
            <a:r>
              <a:rPr lang="en-US" altLang="en-US" dirty="0">
                <a:latin typeface="Times New Roman" panose="02020603050405020304" pitchFamily="18" charset="0"/>
              </a:rPr>
              <a:t> scheduler –selects other process for execution.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buAutoNum type="arabicPeriod"/>
            </a:pPr>
            <a:r>
              <a:rPr lang="en-US" dirty="0"/>
              <a:t>Multiple processes execute the critical section simultaneously Data inconsistency (e.g., wrong shared variable updates)</a:t>
            </a:r>
          </a:p>
          <a:p>
            <a:pPr marL="228600" indent="-228600">
              <a:buAutoNum type="arabicPeriod"/>
            </a:pPr>
            <a:r>
              <a:rPr lang="en-US" dirty="0"/>
              <a:t>The process is waiting for a lock it already holds.</a:t>
            </a:r>
          </a:p>
          <a:p>
            <a:pPr marL="228600" indent="-228600">
              <a:buAutoNum type="arabicPeriod"/>
            </a:pPr>
            <a:r>
              <a:rPr lang="en-US" dirty="0"/>
              <a:t>Process enters critical section </a:t>
            </a:r>
            <a:r>
              <a:rPr lang="en-US" b="1" dirty="0"/>
              <a:t>without acquiring lock</a:t>
            </a:r>
          </a:p>
          <a:p>
            <a:pPr marL="228600" indent="-228600">
              <a:buAutoNum type="arabicPeriod"/>
            </a:pPr>
            <a:r>
              <a:rPr lang="en-US" dirty="0"/>
              <a:t>Process acquires lock but </a:t>
            </a:r>
            <a:r>
              <a:rPr lang="en-US" b="1" dirty="0"/>
              <a:t>never releases it-&gt; </a:t>
            </a:r>
            <a:r>
              <a:rPr lang="en-US" dirty="0"/>
              <a:t>No other process can enter the critical section.</a:t>
            </a:r>
            <a:endParaRPr lang="en-US" altLang="en-US" dirty="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659320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Deadlock</a:t>
            </a:r>
            <a:r>
              <a:rPr lang="en-US" dirty="0"/>
              <a:t> → All processes blocked</a:t>
            </a:r>
            <a:br>
              <a:rPr lang="en-US" dirty="0"/>
            </a:br>
            <a:r>
              <a:rPr lang="en-US" b="1" dirty="0"/>
              <a:t>Starvation</a:t>
            </a:r>
            <a:r>
              <a:rPr lang="en-US" dirty="0"/>
              <a:t> → One process blocked forever</a:t>
            </a:r>
          </a:p>
        </p:txBody>
      </p:sp>
    </p:spTree>
    <p:extLst>
      <p:ext uri="{BB962C8B-B14F-4D97-AF65-F5344CB8AC3E}">
        <p14:creationId xmlns:p14="http://schemas.microsoft.com/office/powerpoint/2010/main" val="39421480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A02EF62C-439E-41F2-B592-539CA3CFE488}"/>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To avoid errors in semaphores-&gt;monitor</a:t>
            </a:r>
          </a:p>
          <a:p>
            <a:r>
              <a:rPr lang="en-US" altLang="en-US" dirty="0">
                <a:latin typeface="Times New Roman" panose="02020603050405020304" pitchFamily="18" charset="0"/>
              </a:rPr>
              <a:t>Set of Programmer designed operations-&gt;mutual exclusion will happen </a:t>
            </a:r>
          </a:p>
          <a:p>
            <a:r>
              <a:rPr lang="en-US" altLang="en-US" dirty="0">
                <a:latin typeface="Times New Roman" panose="02020603050405020304" pitchFamily="18" charset="0"/>
              </a:rPr>
              <a:t>Process is programmed wrongly-&gt;semaphore -&gt;leads to </a:t>
            </a:r>
            <a:r>
              <a:rPr lang="en-US" altLang="en-US" dirty="0" err="1">
                <a:latin typeface="Times New Roman" panose="02020603050405020304" pitchFamily="18" charset="0"/>
              </a:rPr>
              <a:t>erros</a:t>
            </a:r>
            <a:endParaRPr lang="en-US" altLang="en-US" dirty="0">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E853B1F9-D193-48F9-B084-B9AB1C769853}"/>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 </a:t>
            </a:r>
            <a:r>
              <a:rPr lang="en-US" b="1" dirty="0"/>
              <a:t>monitor</a:t>
            </a:r>
            <a:r>
              <a:rPr lang="en-US" dirty="0"/>
              <a:t> has its own </a:t>
            </a:r>
            <a:r>
              <a:rPr lang="en-US" b="1" dirty="0"/>
              <a:t>private variables</a:t>
            </a:r>
            <a:r>
              <a:rPr lang="en-US" dirty="0"/>
              <a:t> Only the </a:t>
            </a:r>
            <a:r>
              <a:rPr lang="en-US" b="1" dirty="0"/>
              <a:t>functions (procedures) inside the monitor</a:t>
            </a:r>
            <a:r>
              <a:rPr lang="en-US" dirty="0"/>
              <a:t> can access those variables</a:t>
            </a:r>
          </a:p>
          <a:p>
            <a:r>
              <a:rPr lang="en-US" dirty="0"/>
              <a:t>Variables inside the monitor are </a:t>
            </a:r>
            <a:r>
              <a:rPr lang="en-US" b="1" dirty="0"/>
              <a:t>completely protected</a:t>
            </a:r>
            <a:r>
              <a:rPr lang="en-US" dirty="0"/>
              <a:t> Only monitor’s internal functions can use them</a:t>
            </a:r>
          </a:p>
          <a:p>
            <a:r>
              <a:rPr lang="en-US" dirty="0"/>
              <a:t>At any time, </a:t>
            </a:r>
            <a:r>
              <a:rPr lang="en-US" b="1" dirty="0"/>
              <a:t>only one process/thread can execute inside the monitor</a:t>
            </a:r>
            <a:r>
              <a:rPr lang="en-US" dirty="0"/>
              <a:t> Others must </a:t>
            </a:r>
            <a:r>
              <a:rPr lang="en-US" b="1" dirty="0"/>
              <a:t>wait outside</a:t>
            </a:r>
            <a:endParaRPr lang="en-US" dirty="0"/>
          </a:p>
          <a:p>
            <a:endParaRPr lang="en-US" altLang="en-US" dirty="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51330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A6DC1BB6-9B39-4275-B20C-1BB155364C94}"/>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4B271679-9AB4-493B-9423-CC79D90F157D}"/>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P1 enters monitor </a:t>
            </a:r>
          </a:p>
          <a:p>
            <a:r>
              <a:rPr lang="en-US" dirty="0"/>
              <a:t>P2 waits in entry queue </a:t>
            </a:r>
          </a:p>
          <a:p>
            <a:r>
              <a:rPr lang="en-US" dirty="0"/>
              <a:t>P1 finds buffer empty → </a:t>
            </a:r>
            <a:r>
              <a:rPr lang="en-US" sz="1200" kern="1200" dirty="0">
                <a:solidFill>
                  <a:schemeClr val="tx1"/>
                </a:solidFill>
                <a:latin typeface="Times New Roman" charset="0"/>
                <a:ea typeface="MS PGothic" pitchFamily="34" charset="-128"/>
                <a:cs typeface="MS PGothic" charset="0"/>
              </a:rPr>
              <a:t>wait(</a:t>
            </a:r>
            <a:r>
              <a:rPr lang="en-US" sz="1200" kern="1200" dirty="0" err="1">
                <a:solidFill>
                  <a:schemeClr val="tx1"/>
                </a:solidFill>
                <a:latin typeface="Times New Roman" charset="0"/>
                <a:ea typeface="MS PGothic" pitchFamily="34" charset="-128"/>
                <a:cs typeface="MS PGothic" charset="0"/>
              </a:rPr>
              <a:t>notEmpty</a:t>
            </a:r>
            <a:r>
              <a:rPr lang="en-US" sz="1200" kern="1200" dirty="0">
                <a:solidFill>
                  <a:schemeClr val="tx1"/>
                </a:solidFill>
                <a:latin typeface="Times New Roman" charset="0"/>
                <a:ea typeface="MS PGothic" pitchFamily="34" charset="-128"/>
                <a:cs typeface="MS PGothic" charset="0"/>
              </a:rPr>
              <a:t>)</a:t>
            </a:r>
          </a:p>
          <a:p>
            <a:r>
              <a:rPr lang="en-US" dirty="0"/>
              <a:t> P1 goes to </a:t>
            </a:r>
            <a:r>
              <a:rPr lang="en-US" b="1" dirty="0"/>
              <a:t>condition queue</a:t>
            </a:r>
            <a:r>
              <a:rPr lang="en-US" dirty="0"/>
              <a:t> </a:t>
            </a:r>
          </a:p>
          <a:p>
            <a:r>
              <a:rPr lang="en-US" dirty="0"/>
              <a:t>Monitor becomes free</a:t>
            </a:r>
          </a:p>
          <a:p>
            <a:r>
              <a:rPr lang="en-US" dirty="0"/>
              <a:t> P2 enters monitor</a:t>
            </a:r>
          </a:p>
          <a:p>
            <a:r>
              <a:rPr lang="en-US" dirty="0"/>
              <a:t> P2 produces item → </a:t>
            </a:r>
            <a:r>
              <a:rPr lang="en-US" sz="1200" kern="1200" dirty="0">
                <a:solidFill>
                  <a:schemeClr val="tx1"/>
                </a:solidFill>
                <a:latin typeface="Times New Roman" charset="0"/>
                <a:ea typeface="MS PGothic" pitchFamily="34" charset="-128"/>
                <a:cs typeface="MS PGothic" charset="0"/>
              </a:rPr>
              <a:t>signal(</a:t>
            </a:r>
            <a:r>
              <a:rPr lang="en-US" sz="1200" kern="1200" dirty="0" err="1">
                <a:solidFill>
                  <a:schemeClr val="tx1"/>
                </a:solidFill>
                <a:latin typeface="Times New Roman" charset="0"/>
                <a:ea typeface="MS PGothic" pitchFamily="34" charset="-128"/>
                <a:cs typeface="MS PGothic" charset="0"/>
              </a:rPr>
              <a:t>notEmpty</a:t>
            </a:r>
            <a:r>
              <a:rPr lang="en-US" sz="1200" kern="1200" dirty="0">
                <a:solidFill>
                  <a:schemeClr val="tx1"/>
                </a:solidFill>
                <a:latin typeface="Times New Roman" charset="0"/>
                <a:ea typeface="MS PGothic" pitchFamily="34" charset="-128"/>
                <a:cs typeface="MS PGothic" charset="0"/>
              </a:rPr>
              <a:t>)</a:t>
            </a:r>
            <a:r>
              <a:rPr lang="en-US" dirty="0"/>
              <a:t> </a:t>
            </a:r>
          </a:p>
          <a:p>
            <a:r>
              <a:rPr lang="en-US" dirty="0"/>
              <a:t>P1 wakes up and enters monitor again</a:t>
            </a:r>
            <a:endParaRPr lang="en-US" altLang="en-US" dirty="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 shared variable → </a:t>
            </a:r>
            <a:r>
              <a:rPr lang="en-US" sz="1200" kern="1200" dirty="0">
                <a:solidFill>
                  <a:schemeClr val="tx1"/>
                </a:solidFill>
                <a:latin typeface="Times New Roman" charset="0"/>
                <a:ea typeface="MS PGothic" pitchFamily="34" charset="-128"/>
                <a:cs typeface="MS PGothic" charset="0"/>
              </a:rPr>
              <a:t>done</a:t>
            </a:r>
            <a:r>
              <a:rPr lang="en-US" dirty="0"/>
              <a:t> </a:t>
            </a:r>
          </a:p>
          <a:p>
            <a:r>
              <a:rPr lang="en-US" dirty="0"/>
              <a:t>A condition variable → </a:t>
            </a:r>
            <a:r>
              <a:rPr lang="en-US" sz="1200" kern="1200" dirty="0">
                <a:solidFill>
                  <a:schemeClr val="tx1"/>
                </a:solidFill>
                <a:latin typeface="Times New Roman" charset="0"/>
                <a:ea typeface="MS PGothic" pitchFamily="34" charset="-128"/>
                <a:cs typeface="MS PGothic" charset="0"/>
              </a:rPr>
              <a:t>x</a:t>
            </a:r>
            <a:r>
              <a:rPr lang="en-US" dirty="0"/>
              <a:t> </a:t>
            </a:r>
          </a:p>
          <a:p>
            <a:r>
              <a:rPr lang="en-US" dirty="0"/>
              <a:t>Two functions → F1 and F2 </a:t>
            </a:r>
          </a:p>
          <a:p>
            <a:r>
              <a:rPr lang="en-US" dirty="0"/>
              <a:t>S1 and S2 are statements (critical operations) </a:t>
            </a:r>
          </a:p>
          <a:p>
            <a:r>
              <a:rPr lang="en-US" dirty="0"/>
              <a:t>Goal: </a:t>
            </a:r>
            <a:r>
              <a:rPr lang="en-US" b="1" dirty="0"/>
              <a:t>F2 should execute S2 only after F1 finishes S1</a:t>
            </a:r>
          </a:p>
          <a:p>
            <a:r>
              <a:rPr lang="en-US"/>
              <a:t>P2 </a:t>
            </a:r>
            <a:r>
              <a:rPr lang="en-US" dirty="0"/>
              <a:t>Executes First-    P2 → wait  P1 → S1 P2 → S2</a:t>
            </a:r>
          </a:p>
          <a:p>
            <a:r>
              <a:rPr lang="en-US" dirty="0"/>
              <a:t>Case 2: P1 </a:t>
            </a:r>
            <a:r>
              <a:rPr lang="en-US"/>
              <a:t>Executes First</a:t>
            </a:r>
            <a:endParaRPr lang="en-US" dirty="0"/>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921885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1657770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E2106FC-965F-4B36-95C9-85F38CB1D2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2A0DD47-8F7F-4A95-AE64-CA99D29DE3BF}"/>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49ECA44C-B65E-4D58-AF71-9A21542DEAB3}"/>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455C5716-1072-48FA-8BE4-518F8A1BAB6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0B010E09-45F7-4439-9097-56E2E86F0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79327FA-57D7-4967-BC36-A4ACCFBBDACE}"/>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D111BB-DF84-4F58-B786-823E8FDBA444}"/>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85C16BD-7326-4520-8A0D-21DEA40BCD90}"/>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4FEECE86-85D6-4503-8E41-BA3D1D29C581}"/>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A8AF8B84-EECE-43B8-82D5-89568A3D0AF9}"/>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A8BC53B9-C98D-42F0-A4EA-7A43ACEE4E79}"/>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1F5A16B-4537-4ED4-AD9B-027F3994BC40}"/>
              </a:ext>
            </a:extLst>
          </p:cNvPr>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C040EDE6-C40A-4ECD-9AD5-39D889268023}"/>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585F01FE-DCF0-4E11-AA32-AAECD1961C79}"/>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798F458D-E4DA-455D-AF0E-E0D8E77E10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685800" y="808038"/>
            <a:ext cx="7772400" cy="2128837"/>
          </a:xfrm>
        </p:spPr>
        <p:txBody>
          <a:bodyPr/>
          <a:lstStyle/>
          <a:p>
            <a:pPr eaLnBrk="1" hangingPunct="1"/>
            <a:r>
              <a:rPr lang="en-US" altLang="en-US"/>
              <a:t>Chapter 6:  Synchronization Tools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a:xfrm>
            <a:off x="1271588" y="220275"/>
            <a:ext cx="7707312" cy="576262"/>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a:xfrm>
            <a:off x="839755" y="1165225"/>
            <a:ext cx="7707311" cy="3270250"/>
          </a:xfrm>
        </p:spPr>
        <p:txBody>
          <a:bodyPr/>
          <a:lstStyle/>
          <a:p>
            <a:pPr>
              <a:lnSpc>
                <a:spcPct val="80000"/>
              </a:lnSpc>
              <a:defRPr/>
            </a:pPr>
            <a:r>
              <a:rPr lang="en-US" altLang="en-US" dirty="0"/>
              <a:t>Background</a:t>
            </a:r>
          </a:p>
          <a:p>
            <a:pPr>
              <a:lnSpc>
                <a:spcPct val="80000"/>
              </a:lnSpc>
              <a:defRPr/>
            </a:pPr>
            <a:r>
              <a:rPr lang="en-US" altLang="en-US" dirty="0"/>
              <a:t>The Critical-Section Problem</a:t>
            </a:r>
          </a:p>
          <a:p>
            <a:pPr>
              <a:lnSpc>
                <a:spcPct val="80000"/>
              </a:lnSpc>
              <a:defRPr/>
            </a:pPr>
            <a:r>
              <a:rPr lang="en-US" altLang="en-US" dirty="0"/>
              <a:t>Peterson</a:t>
            </a:r>
            <a:r>
              <a:rPr lang="ja-JP" altLang="en-US" dirty="0"/>
              <a:t>’</a:t>
            </a:r>
            <a:r>
              <a:rPr lang="en-US" altLang="ja-JP" dirty="0"/>
              <a:t>s Solution</a:t>
            </a:r>
          </a:p>
          <a:p>
            <a:pPr>
              <a:lnSpc>
                <a:spcPct val="80000"/>
              </a:lnSpc>
              <a:defRPr/>
            </a:pPr>
            <a:r>
              <a:rPr lang="en-US" altLang="en-US" dirty="0"/>
              <a:t>Hardware Support for Synchronization</a:t>
            </a:r>
          </a:p>
          <a:p>
            <a:pPr>
              <a:lnSpc>
                <a:spcPct val="80000"/>
              </a:lnSpc>
              <a:defRPr/>
            </a:pPr>
            <a:r>
              <a:rPr lang="en-US" altLang="en-US" dirty="0"/>
              <a:t>Mutex Locks</a:t>
            </a:r>
          </a:p>
          <a:p>
            <a:pPr>
              <a:lnSpc>
                <a:spcPct val="80000"/>
              </a:lnSpc>
              <a:defRPr/>
            </a:pPr>
            <a:r>
              <a:rPr lang="en-US" altLang="en-US" dirty="0"/>
              <a:t>Semaphores</a:t>
            </a:r>
          </a:p>
          <a:p>
            <a:pPr>
              <a:lnSpc>
                <a:spcPct val="80000"/>
              </a:lnSpc>
              <a:defRPr/>
            </a:pPr>
            <a:r>
              <a:rPr lang="en-US" altLang="en-US" dirty="0"/>
              <a:t>Monitors</a:t>
            </a:r>
          </a:p>
          <a:p>
            <a:pPr>
              <a:lnSpc>
                <a:spcPct val="80000"/>
              </a:lnSpc>
              <a:defRPr/>
            </a:pPr>
            <a:r>
              <a:rPr lang="en-US" altLang="en-US" dirty="0"/>
              <a:t>Liveness</a:t>
            </a:r>
          </a:p>
          <a:p>
            <a:pPr>
              <a:lnSpc>
                <a:spcPct val="80000"/>
              </a:lnSpc>
              <a:defRPr/>
            </a:pPr>
            <a:r>
              <a:rPr lang="en-US" altLang="en-US" dirty="0"/>
              <a:t>Evaluation</a:t>
            </a:r>
          </a:p>
          <a:p>
            <a:pPr marL="0" indent="0">
              <a:lnSpc>
                <a:spcPct val="80000"/>
              </a:lnSpc>
              <a:buFont typeface="Monotype Sorts" pitchFamily="-84" charset="2"/>
              <a:buNone/>
              <a:defRPr/>
            </a:pPr>
            <a:endParaRPr lang="en-US" altLang="en-US" dirty="0"/>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a:xfrm>
            <a:off x="457200" y="223679"/>
            <a:ext cx="8229600" cy="576263"/>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a:xfrm>
            <a:off x="839756" y="1144588"/>
            <a:ext cx="5905702" cy="4222237"/>
          </a:xfrm>
        </p:spPr>
        <p:txBody>
          <a:bodyPr/>
          <a:lstStyle/>
          <a:p>
            <a:r>
              <a:rPr lang="en-US" altLang="en-US" dirty="0"/>
              <a:t>Describe the critical-section problem and illustrate a race condition</a:t>
            </a:r>
          </a:p>
          <a:p>
            <a:r>
              <a:rPr lang="en-US" altLang="en-US" dirty="0"/>
              <a:t>Illustrate hardware solutions to the critical-section problem using memory barriers, compare-and-swap operations, and atomic variables</a:t>
            </a:r>
          </a:p>
          <a:p>
            <a:r>
              <a:rPr lang="en-US" altLang="en-US" dirty="0"/>
              <a:t>Demonstrate how mutex locks, semaphores, monitors, and condition variables can be used to solve the critical section problem</a:t>
            </a:r>
          </a:p>
          <a:p>
            <a:r>
              <a:rPr lang="en-US" altLang="en-US" dirty="0"/>
              <a:t>Evaluate tools that solve the critical-section problem in low-,  Moderate-, and high-contention scenarios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784225" y="215318"/>
            <a:ext cx="7902575" cy="576263"/>
          </a:xfrm>
        </p:spPr>
        <p:txBody>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838588" y="1144200"/>
            <a:ext cx="7191909" cy="4851019"/>
          </a:xfrm>
        </p:spPr>
        <p:txBody>
          <a:bodyPr/>
          <a:lstStyle/>
          <a:p>
            <a:r>
              <a:rPr lang="en-US" altLang="en-US" dirty="0"/>
              <a:t>Processes can execute concurrently</a:t>
            </a:r>
          </a:p>
          <a:p>
            <a:pPr lvl="1"/>
            <a:r>
              <a:rPr lang="en-US" altLang="en-US" dirty="0"/>
              <a:t>May be interrupted at any time, partially completing execution</a:t>
            </a:r>
          </a:p>
          <a:p>
            <a:r>
              <a:rPr lang="en-US" altLang="en-US" dirty="0"/>
              <a:t>Concurrent access to shared data may result in data inconsistency</a:t>
            </a:r>
          </a:p>
          <a:p>
            <a:r>
              <a:rPr lang="en-US" altLang="en-US" dirty="0"/>
              <a:t>Maintaining data consistency requires mechanisms to ensure the orderly execution of cooperating processes</a:t>
            </a:r>
          </a:p>
          <a:p>
            <a:r>
              <a:rPr lang="en-US" altLang="en-US" dirty="0"/>
              <a:t>We illustrated in chapter 4 the problem when we considered the Bounded Buffer problem with use of a counter that is updated concurrently by the producer and consumer,. Which lead to race condition.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a:xfrm>
            <a:off x="457200" y="224522"/>
            <a:ext cx="8229600" cy="576262"/>
          </a:xfrm>
        </p:spPr>
        <p:txBody>
          <a:bodyPr/>
          <a:lstStyle/>
          <a:p>
            <a:r>
              <a:rPr lang="en-US" altLang="en-US" dirty="0"/>
              <a:t>Race Condition</a:t>
            </a:r>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a:xfrm>
            <a:off x="806450" y="1137626"/>
            <a:ext cx="7684407" cy="4667250"/>
          </a:xfrm>
        </p:spPr>
        <p:txBody>
          <a:bodyPr/>
          <a:lstStyle/>
          <a:p>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processes using the </a:t>
            </a:r>
            <a:r>
              <a:rPr lang="en-US" altLang="en-US" dirty="0">
                <a:latin typeface="Courier New" panose="02070309020205020404" pitchFamily="49" charset="0"/>
                <a:cs typeface="Courier New" panose="02070309020205020404" pitchFamily="49" charset="0"/>
              </a:rPr>
              <a:t>fork() </a:t>
            </a:r>
            <a:r>
              <a:rPr lang="en-US" altLang="en-US" dirty="0"/>
              <a:t>system call</a:t>
            </a:r>
          </a:p>
          <a:p>
            <a:r>
              <a:rPr lang="en-US" altLang="en-US" dirty="0"/>
              <a:t>Race condition on kernel variable </a:t>
            </a:r>
            <a:r>
              <a:rPr lang="en-US" altLang="en-US" dirty="0" err="1">
                <a:latin typeface="Courier New" panose="02070309020205020404" pitchFamily="49" charset="0"/>
                <a:cs typeface="Courier New" panose="02070309020205020404"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r>
              <a:rPr lang="en-US" altLang="en-US" dirty="0"/>
              <a:t>Unless there is a mechanism to prevent P</a:t>
            </a:r>
            <a:r>
              <a:rPr lang="en-US" altLang="en-US" baseline="-25000" dirty="0"/>
              <a:t>0</a:t>
            </a:r>
            <a:r>
              <a:rPr lang="en-US" altLang="en-US" dirty="0"/>
              <a:t> and P</a:t>
            </a:r>
            <a:r>
              <a:rPr lang="en-US" altLang="en-US" baseline="-25000" dirty="0"/>
              <a:t>1</a:t>
            </a:r>
            <a:r>
              <a:rPr lang="en-US" altLang="en-US" dirty="0"/>
              <a:t> from accessing  the variable </a:t>
            </a:r>
            <a:r>
              <a:rPr lang="en-US" altLang="en-US" dirty="0" err="1">
                <a:latin typeface="Courier New" panose="02070309020205020404" pitchFamily="49" charset="0"/>
                <a:cs typeface="Courier New" panose="02070309020205020404" pitchFamily="49" charset="0"/>
              </a:rPr>
              <a:t>next_available_pid</a:t>
            </a:r>
            <a:r>
              <a:rPr lang="en-US" altLang="en-US" dirty="0"/>
              <a:t>  the same </a:t>
            </a:r>
            <a:r>
              <a:rPr lang="en-US" altLang="en-US" dirty="0" err="1"/>
              <a:t>pid</a:t>
            </a:r>
            <a:r>
              <a:rPr lang="en-US" altLang="en-US" dirty="0"/>
              <a:t> could be assigned to two different processes!</a:t>
            </a:r>
          </a:p>
          <a:p>
            <a:endParaRPr lang="en-US" altLang="en-US" dirty="0"/>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44778" y="2604342"/>
            <a:ext cx="4238625" cy="264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457200" y="190694"/>
            <a:ext cx="8229600" cy="576262"/>
          </a:xfrm>
        </p:spPr>
        <p:txBody>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811763" y="1159881"/>
            <a:ext cx="7349743" cy="4433523"/>
          </a:xfrm>
        </p:spPr>
        <p:txBody>
          <a:bodyPr/>
          <a:lstStyle/>
          <a:p>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r>
              <a:rPr lang="en-US" altLang="en-US" dirty="0"/>
              <a:t>Each process has </a:t>
            </a:r>
            <a:r>
              <a:rPr lang="en-US" altLang="en-US" b="1" dirty="0">
                <a:solidFill>
                  <a:srgbClr val="006699"/>
                </a:solidFill>
                <a:latin typeface="+mj-lt"/>
              </a:rPr>
              <a:t>critical section </a:t>
            </a:r>
            <a:r>
              <a:rPr lang="en-US" altLang="en-US" dirty="0"/>
              <a:t>segment of code</a:t>
            </a:r>
          </a:p>
          <a:p>
            <a:pPr lvl="1"/>
            <a:r>
              <a:rPr lang="en-US" altLang="en-US" dirty="0"/>
              <a:t>Process may be changing common variables, updating table, writing file, etc.</a:t>
            </a:r>
          </a:p>
          <a:p>
            <a:pPr lvl="1"/>
            <a:r>
              <a:rPr lang="en-US" altLang="en-US" dirty="0"/>
              <a:t>When one process in critical section, no other may be in its critical section</a:t>
            </a:r>
          </a:p>
          <a:p>
            <a:r>
              <a:rPr lang="en-US" altLang="en-US" b="1" i="1" dirty="0"/>
              <a:t>Critical section problem </a:t>
            </a:r>
            <a:r>
              <a:rPr lang="en-US" altLang="en-US" dirty="0"/>
              <a:t>is to design protocol to solve this</a:t>
            </a:r>
          </a:p>
          <a:p>
            <a:r>
              <a:rPr lang="en-US" altLang="en-US" dirty="0"/>
              <a:t>Each process must ask permission to enter critical section in </a:t>
            </a:r>
            <a:r>
              <a:rPr lang="en-US" altLang="en-US" b="1" dirty="0">
                <a:solidFill>
                  <a:srgbClr val="006699"/>
                </a:solidFill>
                <a:latin typeface="+mj-lt"/>
              </a:rPr>
              <a:t>entry</a:t>
            </a:r>
            <a:r>
              <a:rPr lang="en-US" altLang="en-US" b="1" dirty="0">
                <a:solidFill>
                  <a:srgbClr val="3366FF"/>
                </a:solidFill>
              </a:rPr>
              <a:t> </a:t>
            </a:r>
            <a:r>
              <a:rPr lang="en-US" altLang="en-US" b="1" dirty="0">
                <a:solidFill>
                  <a:srgbClr val="006699"/>
                </a:solidFill>
                <a:latin typeface="+mj-lt"/>
              </a:rPr>
              <a:t>section</a:t>
            </a:r>
            <a:r>
              <a:rPr lang="en-US" altLang="en-US" dirty="0"/>
              <a:t>, may follow critical section with </a:t>
            </a:r>
            <a:r>
              <a:rPr lang="en-US" altLang="en-US" b="1" dirty="0">
                <a:solidFill>
                  <a:srgbClr val="006699"/>
                </a:solidFill>
                <a:latin typeface="+mj-lt"/>
              </a:rPr>
              <a:t>exit section</a:t>
            </a:r>
            <a:r>
              <a:rPr lang="en-US" altLang="en-US" dirty="0"/>
              <a:t>, then </a:t>
            </a:r>
            <a:r>
              <a:rPr lang="en-US" altLang="en-US" b="1" dirty="0">
                <a:solidFill>
                  <a:srgbClr val="006699"/>
                </a:solidFill>
                <a:latin typeface="+mj-lt"/>
              </a:rPr>
              <a:t>remainder section</a:t>
            </a:r>
          </a:p>
          <a:p>
            <a:endParaRPr lang="en-US" altLang="en-US" b="1" dirty="0">
              <a:solidFill>
                <a:srgbClr val="3366FF"/>
              </a:solidFill>
            </a:endParaRPr>
          </a:p>
          <a:p>
            <a:pPr>
              <a:buFont typeface="Monotype Sorts" pitchFamily="-84" charset="2"/>
              <a:buNone/>
            </a:pPr>
            <a:endParaRPr lang="en-US" altLang="en-US" b="1" dirty="0">
              <a:solidFill>
                <a:srgbClr val="006699"/>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457200" y="216906"/>
            <a:ext cx="8229600" cy="576262"/>
          </a:xfrm>
        </p:spPr>
        <p:txBody>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a:extLst>
              <a:ext uri="{FF2B5EF4-FFF2-40B4-BE49-F238E27FC236}">
                <a16:creationId xmlns:a16="http://schemas.microsoft.com/office/drawing/2014/main" id="{28575814-05D6-4140-9987-D9F185C76491}"/>
              </a:ext>
            </a:extLst>
          </p:cNvPr>
          <p:cNvPicPr>
            <a:picLocks noChangeAspect="1"/>
          </p:cNvPicPr>
          <p:nvPr/>
        </p:nvPicPr>
        <p:blipFill>
          <a:blip r:embed="rId3"/>
          <a:stretch>
            <a:fillRect/>
          </a:stretch>
        </p:blipFill>
        <p:spPr>
          <a:xfrm>
            <a:off x="1979960" y="1943901"/>
            <a:ext cx="2592040" cy="2515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821095" y="223256"/>
            <a:ext cx="8081606" cy="576262"/>
          </a:xfrm>
        </p:spPr>
        <p:txBody>
          <a:bodyPr/>
          <a:lstStyle/>
          <a:p>
            <a:pPr eaLnBrk="1" hangingPunct="1"/>
            <a:r>
              <a:rPr lang="en-US" altLang="en-US" dirty="0"/>
              <a:t>Critical-Section Problem (Cont.)</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1182429" y="1653516"/>
            <a:ext cx="7688423" cy="4530725"/>
          </a:xfrm>
        </p:spPr>
        <p:txBody>
          <a:bodyPr/>
          <a:lstStyle/>
          <a:p>
            <a:pPr marL="342900" indent="-342900">
              <a:buFont typeface="Monotype Sorts" pitchFamily="-84" charset="2"/>
              <a:buAutoNum type="arabicPeriod"/>
            </a:pPr>
            <a:r>
              <a:rPr lang="en-US" altLang="en-US" b="1" dirty="0">
                <a:solidFill>
                  <a:srgbClr val="006699"/>
                </a:solidFill>
                <a:latin typeface="+mj-lt"/>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marL="342900" indent="-342900">
              <a:buFont typeface="Monotype Sorts" pitchFamily="-84" charset="2"/>
              <a:buAutoNum type="arabicPeriod"/>
            </a:pPr>
            <a:r>
              <a:rPr lang="en-US" altLang="en-US" b="1" dirty="0">
                <a:solidFill>
                  <a:srgbClr val="006699"/>
                </a:solidFill>
                <a:latin typeface="+mj-lt"/>
              </a:rPr>
              <a:t>Progress</a:t>
            </a:r>
            <a:r>
              <a:rPr lang="en-US" altLang="en-US" b="1" dirty="0"/>
              <a:t> </a:t>
            </a:r>
            <a:r>
              <a:rPr lang="en-US" altLang="en-US" dirty="0"/>
              <a:t>- If no process is executing in its critical section and there exist some processes that wish to enter their critical section, then the selection of the process that will enter the critical section next cannot be postponed indefinitely</a:t>
            </a:r>
          </a:p>
          <a:p>
            <a:pPr marL="342900" indent="-342900">
              <a:buFont typeface="Monotype Sorts" pitchFamily="-84" charset="2"/>
              <a:buAutoNum type="arabicPeriod"/>
            </a:pPr>
            <a:r>
              <a:rPr lang="en-US" altLang="en-US" b="1" dirty="0">
                <a:solidFill>
                  <a:srgbClr val="006699"/>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r>
              <a:rPr lang="en-US" altLang="en-US" dirty="0">
                <a:solidFill>
                  <a:srgbClr val="993300"/>
                </a:solidFill>
              </a:rPr>
              <a:t> </a:t>
            </a:r>
            <a:endParaRPr lang="en-US" altLang="en-US" dirty="0"/>
          </a:p>
          <a:p>
            <a:pPr lvl="1">
              <a:buSzPct val="125000"/>
            </a:pPr>
            <a:r>
              <a:rPr lang="en-US" altLang="en-US" dirty="0"/>
              <a:t>Assume that each process executes at a nonzero speed </a:t>
            </a:r>
          </a:p>
          <a:p>
            <a:pPr lvl="1">
              <a:buSzPct val="125000"/>
            </a:pPr>
            <a:r>
              <a:rPr lang="en-US" altLang="en-US" dirty="0"/>
              <a:t>No assumption concerning </a:t>
            </a:r>
            <a:r>
              <a:rPr lang="en-US" altLang="en-US" b="1" dirty="0">
                <a:solidFill>
                  <a:srgbClr val="006699"/>
                </a:solidFill>
                <a:latin typeface="+mj-lt"/>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
        <p:nvSpPr>
          <p:cNvPr id="2" name="TextBox 1"/>
          <p:cNvSpPr txBox="1"/>
          <p:nvPr/>
        </p:nvSpPr>
        <p:spPr>
          <a:xfrm>
            <a:off x="943902" y="1143003"/>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extLst>
      <p:ext uri="{BB962C8B-B14F-4D97-AF65-F5344CB8AC3E}">
        <p14:creationId xmlns:p14="http://schemas.microsoft.com/office/powerpoint/2010/main" val="236049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a:xfrm>
            <a:off x="653143" y="160522"/>
            <a:ext cx="8211457" cy="576262"/>
          </a:xfrm>
        </p:spPr>
        <p:txBody>
          <a:bodyPr/>
          <a:lstStyle/>
          <a:p>
            <a:pPr eaLnBrk="1" hangingPunct="1"/>
            <a:r>
              <a:rPr lang="en-US" altLang="en-US" dirty="0"/>
              <a:t>Interrupt-based Solution</a:t>
            </a:r>
          </a:p>
        </p:txBody>
      </p:sp>
      <p:sp>
        <p:nvSpPr>
          <p:cNvPr id="23554" name="Rectangle 3">
            <a:extLst>
              <a:ext uri="{FF2B5EF4-FFF2-40B4-BE49-F238E27FC236}">
                <a16:creationId xmlns:a16="http://schemas.microsoft.com/office/drawing/2014/main" id="{3230E0EE-52C7-4A95-B889-DCDC6B78BEAA}"/>
              </a:ext>
            </a:extLst>
          </p:cNvPr>
          <p:cNvSpPr>
            <a:spLocks noGrp="1" noChangeArrowheads="1"/>
          </p:cNvSpPr>
          <p:nvPr>
            <p:ph idx="1"/>
          </p:nvPr>
        </p:nvSpPr>
        <p:spPr>
          <a:xfrm>
            <a:off x="811762" y="1103614"/>
            <a:ext cx="7724775" cy="831203"/>
          </a:xfrm>
        </p:spPr>
        <p:txBody>
          <a:bodyPr/>
          <a:lstStyle/>
          <a:p>
            <a:r>
              <a:rPr lang="en-US" altLang="en-US" dirty="0"/>
              <a:t>Entry section:  disable interrupts</a:t>
            </a:r>
          </a:p>
          <a:p>
            <a:r>
              <a:rPr lang="en-US" altLang="en-US" dirty="0"/>
              <a:t>Exit section:  enable  interrupts</a:t>
            </a:r>
          </a:p>
          <a:p>
            <a:pPr marL="0" indent="0">
              <a:buNone/>
            </a:pPr>
            <a:r>
              <a:rPr lang="en-US" altLang="en-US" b="1" i="1" dirty="0" err="1"/>
              <a:t>disable_interrupts</a:t>
            </a:r>
            <a:r>
              <a:rPr lang="en-US" altLang="en-US" b="1" i="1" dirty="0"/>
              <a:t>();</a:t>
            </a:r>
          </a:p>
          <a:p>
            <a:pPr marL="0" indent="0">
              <a:buNone/>
            </a:pPr>
            <a:r>
              <a:rPr lang="en-US" altLang="en-US" b="1" i="1" dirty="0" err="1"/>
              <a:t>pid</a:t>
            </a:r>
            <a:r>
              <a:rPr lang="en-US" altLang="en-US" b="1" i="1" dirty="0"/>
              <a:t> = </a:t>
            </a:r>
            <a:r>
              <a:rPr lang="en-US" altLang="en-US" b="1" i="1" dirty="0" err="1"/>
              <a:t>next_available_pid</a:t>
            </a:r>
            <a:r>
              <a:rPr lang="en-US" altLang="en-US" b="1" i="1" dirty="0"/>
              <a:t>;</a:t>
            </a:r>
          </a:p>
          <a:p>
            <a:pPr marL="0" indent="0">
              <a:buNone/>
            </a:pPr>
            <a:r>
              <a:rPr lang="en-US" altLang="en-US" b="1" i="1" dirty="0" err="1"/>
              <a:t>next_available_pid</a:t>
            </a:r>
            <a:r>
              <a:rPr lang="en-US" altLang="en-US" b="1" i="1" dirty="0"/>
              <a:t>++;</a:t>
            </a:r>
          </a:p>
          <a:p>
            <a:pPr marL="0" indent="0">
              <a:buNone/>
            </a:pPr>
            <a:r>
              <a:rPr lang="en-US" altLang="en-US" b="1" i="1" dirty="0" err="1"/>
              <a:t>enable_interrupts</a:t>
            </a:r>
            <a:r>
              <a:rPr lang="en-US" altLang="en-US" b="1" i="1" dirty="0"/>
              <a:t>();</a:t>
            </a:r>
          </a:p>
          <a:p>
            <a:r>
              <a:rPr lang="en-US" altLang="en-US" dirty="0"/>
              <a:t>Not suitable for multi core systems- single core systems-lock and unlock</a:t>
            </a:r>
          </a:p>
          <a:p>
            <a:r>
              <a:rPr lang="en-US" altLang="en-US" dirty="0"/>
              <a:t>Only interrupts in that particular core only.</a:t>
            </a:r>
          </a:p>
          <a:p>
            <a:r>
              <a:rPr lang="en-US" altLang="en-US" dirty="0"/>
              <a:t>Will this solve the problem?</a:t>
            </a:r>
          </a:p>
          <a:p>
            <a:endParaRPr lang="en-US" altLang="en-US" dirty="0"/>
          </a:p>
          <a:p>
            <a:pPr marL="0" indent="0">
              <a:buNone/>
            </a:pPr>
            <a:endParaRPr lang="en-US" altLang="en-US" dirty="0"/>
          </a:p>
        </p:txBody>
      </p:sp>
      <p:sp>
        <p:nvSpPr>
          <p:cNvPr id="2" name="TextBox 1">
            <a:extLst>
              <a:ext uri="{FF2B5EF4-FFF2-40B4-BE49-F238E27FC236}">
                <a16:creationId xmlns:a16="http://schemas.microsoft.com/office/drawing/2014/main" id="{00204EAF-EBED-4BD8-A709-62EA006EC0AF}"/>
              </a:ext>
            </a:extLst>
          </p:cNvPr>
          <p:cNvSpPr txBox="1"/>
          <p:nvPr/>
        </p:nvSpPr>
        <p:spPr>
          <a:xfrm>
            <a:off x="521158" y="4792394"/>
            <a:ext cx="6614631"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p>
        </p:txBody>
      </p:sp>
      <p:sp>
        <p:nvSpPr>
          <p:cNvPr id="3" name="TextBox 2">
            <a:extLst>
              <a:ext uri="{FF2B5EF4-FFF2-40B4-BE49-F238E27FC236}">
                <a16:creationId xmlns:a16="http://schemas.microsoft.com/office/drawing/2014/main" id="{A3747BF1-0BE2-4FC9-8809-5015AE398B0C}"/>
              </a:ext>
            </a:extLst>
          </p:cNvPr>
          <p:cNvSpPr txBox="1"/>
          <p:nvPr/>
        </p:nvSpPr>
        <p:spPr>
          <a:xfrm>
            <a:off x="521158" y="5271575"/>
            <a:ext cx="7307129"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p>
        </p:txBody>
      </p:sp>
      <p:sp>
        <p:nvSpPr>
          <p:cNvPr id="4" name="TextBox 3">
            <a:extLst>
              <a:ext uri="{FF2B5EF4-FFF2-40B4-BE49-F238E27FC236}">
                <a16:creationId xmlns:a16="http://schemas.microsoft.com/office/drawing/2014/main" id="{E8AD53CC-1B62-467C-9616-E429877C3F20}"/>
              </a:ext>
            </a:extLst>
          </p:cNvPr>
          <p:cNvSpPr txBox="1"/>
          <p:nvPr/>
        </p:nvSpPr>
        <p:spPr>
          <a:xfrm>
            <a:off x="534774" y="5750756"/>
            <a:ext cx="4139375" cy="369332"/>
          </a:xfrm>
          <a:prstGeom prst="rect">
            <a:avLst/>
          </a:prstGeom>
          <a:noFill/>
        </p:spPr>
        <p:txBody>
          <a:bodyPr wrap="squar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there are two CPUs?</a:t>
            </a:r>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5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55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55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55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55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ja-JP" dirty="0"/>
              <a:t>Software Solution 1</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310381"/>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one variable:</a:t>
            </a:r>
          </a:p>
          <a:p>
            <a:pPr lvl="1">
              <a:lnSpc>
                <a:spcPct val="90000"/>
              </a:lnSpc>
              <a:tabLst>
                <a:tab pos="739775" algn="l"/>
                <a:tab pos="1020763" algn="l"/>
                <a:tab pos="1257300" algn="l"/>
              </a:tabLst>
            </a:pPr>
            <a:r>
              <a:rPr lang="en-US" altLang="en-US" sz="2000" b="1" dirty="0">
                <a:latin typeface="Courier New" panose="02070309020205020404" pitchFamily="49" charset="0"/>
              </a:rPr>
              <a:t>int turn</a:t>
            </a:r>
            <a:r>
              <a:rPr lang="en-US" altLang="en-US" sz="1600" b="1" dirty="0">
                <a:latin typeface="Courier New" panose="02070309020205020404" pitchFamily="49" charset="0"/>
              </a:rPr>
              <a:t>; </a:t>
            </a: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p>
          <a:p>
            <a:pPr>
              <a:lnSpc>
                <a:spcPct val="90000"/>
              </a:lnSpc>
              <a:tabLst>
                <a:tab pos="739775" algn="l"/>
                <a:tab pos="1020763" algn="l"/>
                <a:tab pos="1257300" algn="l"/>
              </a:tabLst>
            </a:pPr>
            <a:r>
              <a:rPr lang="en-US" altLang="en-US" dirty="0">
                <a:solidFill>
                  <a:srgbClr val="000000"/>
                </a:solidFill>
              </a:rPr>
              <a:t>initially, the value of </a:t>
            </a:r>
            <a:r>
              <a:rPr lang="en-US" altLang="en-US" sz="2000" b="1" dirty="0">
                <a:latin typeface="Courier New" panose="02070309020205020404" pitchFamily="49" charset="0"/>
              </a:rPr>
              <a:t>turn </a:t>
            </a:r>
            <a:r>
              <a:rPr lang="en-US" altLang="en-US" dirty="0">
                <a:solidFill>
                  <a:srgbClr val="000000"/>
                </a:solidFill>
              </a:rPr>
              <a:t>is set to </a:t>
            </a:r>
            <a:r>
              <a:rPr lang="en-US" altLang="en-US" i="1" dirty="0">
                <a:solidFill>
                  <a:srgbClr val="000000"/>
                </a:solidFill>
              </a:rPr>
              <a:t>i </a:t>
            </a:r>
          </a:p>
        </p:txBody>
      </p:sp>
    </p:spTree>
    <p:extLst>
      <p:ext uri="{BB962C8B-B14F-4D97-AF65-F5344CB8AC3E}">
        <p14:creationId xmlns:p14="http://schemas.microsoft.com/office/powerpoint/2010/main" val="2362815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529937" y="134933"/>
            <a:ext cx="8229600" cy="576262"/>
          </a:xfrm>
        </p:spPr>
        <p:txBody>
          <a:bodyPr/>
          <a:lstStyle/>
          <a:p>
            <a:r>
              <a:rPr lang="en-US" altLang="en-US" dirty="0"/>
              <a:t>Algorithm for Process </a:t>
            </a:r>
            <a:r>
              <a:rPr lang="en-US" altLang="en-US" i="1" dirty="0"/>
              <a:t>P</a:t>
            </a:r>
            <a:r>
              <a:rPr lang="en-US" altLang="en-US" i="1" baseline="-25000" dirty="0"/>
              <a:t>i and </a:t>
            </a:r>
            <a:r>
              <a:rPr lang="en-US" altLang="en-US" i="1" baseline="-25000" dirty="0" err="1"/>
              <a:t>Pj</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344727" y="1403828"/>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j;</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1170227" y="2104635"/>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1170227" y="3488067"/>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2" name="Rectangle 3">
            <a:extLst>
              <a:ext uri="{FF2B5EF4-FFF2-40B4-BE49-F238E27FC236}">
                <a16:creationId xmlns:a16="http://schemas.microsoft.com/office/drawing/2014/main" id="{04E7E42B-1E5F-E3E4-8ED7-ADD694158610}"/>
              </a:ext>
            </a:extLst>
          </p:cNvPr>
          <p:cNvSpPr>
            <a:spLocks noChangeArrowheads="1"/>
          </p:cNvSpPr>
          <p:nvPr/>
        </p:nvSpPr>
        <p:spPr bwMode="auto">
          <a:xfrm>
            <a:off x="4392721" y="1403828"/>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3" name="Rectangle 7">
            <a:extLst>
              <a:ext uri="{FF2B5EF4-FFF2-40B4-BE49-F238E27FC236}">
                <a16:creationId xmlns:a16="http://schemas.microsoft.com/office/drawing/2014/main" id="{AA5D61A9-D32E-F2CA-56D8-F33B5D9306FD}"/>
              </a:ext>
            </a:extLst>
          </p:cNvPr>
          <p:cNvSpPr>
            <a:spLocks noChangeArrowheads="1"/>
          </p:cNvSpPr>
          <p:nvPr/>
        </p:nvSpPr>
        <p:spPr bwMode="auto">
          <a:xfrm>
            <a:off x="5218221" y="2104635"/>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4" name="Rectangle 8">
            <a:extLst>
              <a:ext uri="{FF2B5EF4-FFF2-40B4-BE49-F238E27FC236}">
                <a16:creationId xmlns:a16="http://schemas.microsoft.com/office/drawing/2014/main" id="{45BE93DF-F978-4E5E-E914-11283DA112AE}"/>
              </a:ext>
            </a:extLst>
          </p:cNvPr>
          <p:cNvSpPr>
            <a:spLocks noChangeArrowheads="1"/>
          </p:cNvSpPr>
          <p:nvPr/>
        </p:nvSpPr>
        <p:spPr bwMode="auto">
          <a:xfrm>
            <a:off x="5218221" y="3488067"/>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164661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26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critical section only if:</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turn</a:t>
            </a:r>
            <a:r>
              <a:rPr lang="en-US" altLang="en-US" b="1" dirty="0">
                <a:solidFill>
                  <a:srgbClr val="000000"/>
                </a:solidFill>
                <a:latin typeface="Courier New" panose="02070309020205020404" pitchFamily="49" charset="0"/>
              </a:rPr>
              <a:t> = </a:t>
            </a:r>
            <a:r>
              <a:rPr lang="en-US" altLang="en-US" b="1" dirty="0" err="1">
                <a:solidFill>
                  <a:srgbClr val="000000"/>
                </a:solidFill>
                <a:latin typeface="Courier New" panose="02070309020205020404" pitchFamily="49" charset="0"/>
              </a:rPr>
              <a:t>i</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dirty="0">
                <a:solidFill>
                  <a:srgbClr val="000000"/>
                </a:solidFill>
              </a:rPr>
              <a:t>and </a:t>
            </a:r>
            <a:r>
              <a:rPr lang="en-US" altLang="en-US" sz="2000" b="1" dirty="0">
                <a:solidFill>
                  <a:srgbClr val="000000"/>
                </a:solidFill>
                <a:latin typeface="Courier New" panose="02070309020205020404" pitchFamily="49" charset="0"/>
              </a:rPr>
              <a:t>turn </a:t>
            </a:r>
            <a:r>
              <a:rPr lang="en-US" altLang="en-US" dirty="0">
                <a:solidFill>
                  <a:srgbClr val="000000"/>
                </a:solidFill>
              </a:rPr>
              <a:t>cannot be both 0 and 1 at the same time</a:t>
            </a:r>
          </a:p>
          <a:p>
            <a:r>
              <a:rPr lang="en-US" altLang="en-US" dirty="0">
                <a:solidFill>
                  <a:srgbClr val="000000"/>
                </a:solidFill>
              </a:rPr>
              <a:t>What about the Progress requirement?</a:t>
            </a:r>
          </a:p>
          <a:p>
            <a:pPr marL="0" indent="0">
              <a:buNone/>
            </a:pPr>
            <a:r>
              <a:rPr lang="en-US" dirty="0"/>
              <a:t>If no process is in the critical section and some processes want to enter, then one of them should be allowed to enter immediately.</a:t>
            </a:r>
          </a:p>
          <a:p>
            <a:pPr marL="0" indent="0">
              <a:buNone/>
            </a:pPr>
            <a:r>
              <a:rPr lang="en-US" dirty="0"/>
              <a:t>Since turn is still j → Pi keeps waiting</a:t>
            </a:r>
            <a:br>
              <a:rPr lang="en-US" dirty="0"/>
            </a:br>
            <a:r>
              <a:rPr lang="en-US" dirty="0"/>
              <a:t>But </a:t>
            </a:r>
            <a:r>
              <a:rPr lang="en-US" dirty="0" err="1"/>
              <a:t>Pj</a:t>
            </a:r>
            <a:r>
              <a:rPr lang="en-US" dirty="0"/>
              <a:t> is not even trying to enter.</a:t>
            </a:r>
          </a:p>
          <a:p>
            <a:pPr marL="0" indent="0">
              <a:buNone/>
            </a:pPr>
            <a:r>
              <a:rPr lang="en-US" dirty="0"/>
              <a:t>So the critical section is empty, but Pi still cannot enter.</a:t>
            </a:r>
          </a:p>
          <a:p>
            <a:r>
              <a:rPr lang="en-US" altLang="en-US" dirty="0">
                <a:solidFill>
                  <a:srgbClr val="000000"/>
                </a:solidFill>
              </a:rPr>
              <a:t>What about the Bounded-waiting requirement?</a:t>
            </a:r>
          </a:p>
          <a:p>
            <a:pPr marL="0" indent="0">
              <a:buNone/>
            </a:pPr>
            <a:r>
              <a:rPr lang="en-US" sz="1600" dirty="0"/>
              <a:t>After a process requests entry into the critical section, there must be a limit on how many times other processes enter before it gets a turn.</a:t>
            </a:r>
            <a:endParaRPr lang="en-US" altLang="en-US" sz="1600" dirty="0">
              <a:solidFill>
                <a:srgbClr val="000000"/>
              </a:solidFill>
            </a:endParaRPr>
          </a:p>
          <a:p>
            <a:pPr marL="0" indent="0">
              <a:buNone/>
            </a:pPr>
            <a:r>
              <a:rPr lang="en-US" dirty="0"/>
              <a:t>Pi → </a:t>
            </a:r>
            <a:r>
              <a:rPr lang="en-US" dirty="0" err="1"/>
              <a:t>Pj</a:t>
            </a:r>
            <a:r>
              <a:rPr lang="en-US" dirty="0"/>
              <a:t> → Pi → </a:t>
            </a:r>
            <a:r>
              <a:rPr lang="en-US" dirty="0" err="1"/>
              <a:t>Pj</a:t>
            </a:r>
            <a:r>
              <a:rPr lang="en-US" dirty="0"/>
              <a:t> → Pi → </a:t>
            </a:r>
            <a:r>
              <a:rPr lang="en-US" dirty="0" err="1"/>
              <a:t>Pj</a:t>
            </a:r>
            <a:endParaRPr lang="en-US" dirty="0"/>
          </a:p>
          <a:p>
            <a:pPr marL="0" indent="0">
              <a:buNone/>
            </a:pPr>
            <a:r>
              <a:rPr lang="en-US" dirty="0"/>
              <a:t>If Pi wants to enter, it will get the turn </a:t>
            </a:r>
            <a:r>
              <a:rPr lang="en-US" b="1" dirty="0"/>
              <a:t>after at most one entry of </a:t>
            </a:r>
            <a:r>
              <a:rPr lang="en-US" b="1" dirty="0" err="1"/>
              <a:t>Pj</a:t>
            </a:r>
            <a:r>
              <a:rPr lang="en-US" dirty="0"/>
              <a:t>.</a:t>
            </a:r>
          </a:p>
          <a:p>
            <a:pPr marL="0" indent="0">
              <a:lnSpc>
                <a:spcPct val="90000"/>
              </a:lnSpc>
              <a:buNone/>
            </a:pPr>
            <a:endParaRPr lang="en-US" altLang="en-US" dirty="0"/>
          </a:p>
        </p:txBody>
      </p:sp>
    </p:spTree>
    <p:extLst>
      <p:ext uri="{BB962C8B-B14F-4D97-AF65-F5344CB8AC3E}">
        <p14:creationId xmlns:p14="http://schemas.microsoft.com/office/powerpoint/2010/main" val="4035540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139855"/>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two variables:</a:t>
            </a:r>
          </a:p>
          <a:p>
            <a:pPr lvl="1">
              <a:lnSpc>
                <a:spcPct val="90000"/>
              </a:lnSpc>
              <a:tabLst>
                <a:tab pos="739775" algn="l"/>
                <a:tab pos="1020763" algn="l"/>
                <a:tab pos="1257300" algn="l"/>
              </a:tabLst>
            </a:pPr>
            <a:r>
              <a:rPr lang="en-US" altLang="en-US" b="1" dirty="0" err="1">
                <a:latin typeface="Courier New" panose="02070309020205020404" pitchFamily="49" charset="0"/>
              </a:rPr>
              <a:t>int</a:t>
            </a:r>
            <a:r>
              <a:rPr lang="en-US" altLang="en-US" b="1" dirty="0">
                <a:latin typeface="Courier New" panose="02070309020205020404" pitchFamily="49" charset="0"/>
              </a:rPr>
              <a:t> turn; </a:t>
            </a:r>
          </a:p>
          <a:p>
            <a:pPr lvl="1">
              <a:lnSpc>
                <a:spcPct val="90000"/>
              </a:lnSpc>
              <a:tabLst>
                <a:tab pos="739775" algn="l"/>
                <a:tab pos="1020763" algn="l"/>
                <a:tab pos="1257300" algn="l"/>
              </a:tabLst>
            </a:pPr>
            <a:r>
              <a:rPr lang="en-US" altLang="en-US" b="1" dirty="0" err="1">
                <a:latin typeface="Courier New" panose="02070309020205020404" pitchFamily="49" charset="0"/>
              </a:rPr>
              <a:t>boolean</a:t>
            </a:r>
            <a:r>
              <a:rPr lang="en-US" altLang="en-US" b="1" dirty="0">
                <a:latin typeface="Courier New" panose="02070309020205020404" pitchFamily="49" charset="0"/>
              </a:rPr>
              <a:t> flag[2]</a:t>
            </a:r>
          </a:p>
          <a:p>
            <a:pPr lvl="1">
              <a:lnSpc>
                <a:spcPct val="90000"/>
              </a:lnSpc>
              <a:tabLst>
                <a:tab pos="739775" algn="l"/>
                <a:tab pos="1020763" algn="l"/>
                <a:tab pos="1257300" algn="l"/>
              </a:tabLst>
            </a:pP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tabLst>
                <a:tab pos="739775" algn="l"/>
                <a:tab pos="1020763" algn="l"/>
                <a:tab pos="1257300" algn="l"/>
              </a:tabLst>
            </a:pPr>
            <a:r>
              <a:rPr lang="en-US" altLang="en-US" dirty="0">
                <a:solidFill>
                  <a:srgbClr val="000000"/>
                </a:solidFill>
              </a:rPr>
              <a:t>The </a:t>
            </a:r>
            <a:r>
              <a:rPr lang="en-US" altLang="en-US" b="1" dirty="0">
                <a:latin typeface="Courier New" panose="02070309020205020404" pitchFamily="49" charset="0"/>
              </a:rPr>
              <a:t>flag </a:t>
            </a:r>
            <a:r>
              <a:rPr lang="en-US" altLang="en-US" dirty="0">
                <a:solidFill>
                  <a:srgbClr val="000000"/>
                </a:solidFill>
              </a:rPr>
              <a:t>array is used to indicate if a process is ready to enter the critical section. </a:t>
            </a:r>
          </a:p>
          <a:p>
            <a:pPr lvl="1">
              <a:lnSpc>
                <a:spcPct val="90000"/>
              </a:lnSpc>
              <a:tabLst>
                <a:tab pos="739775" algn="l"/>
                <a:tab pos="1020763" algn="l"/>
                <a:tab pos="1257300" algn="l"/>
              </a:tabLst>
            </a:pPr>
            <a:r>
              <a:rPr lang="en-US" altLang="en-US" b="1" dirty="0">
                <a:latin typeface="Courier New" panose="02070309020205020404" pitchFamily="49" charset="0"/>
              </a:rPr>
              <a:t>flag[</a:t>
            </a:r>
            <a:r>
              <a:rPr lang="en-US" altLang="en-US" b="1" dirty="0" err="1">
                <a:latin typeface="Courier New" panose="02070309020205020404" pitchFamily="49" charset="0"/>
              </a:rPr>
              <a:t>i</a:t>
            </a:r>
            <a:r>
              <a:rPr lang="en-US" altLang="en-US" b="1" dirty="0">
                <a:latin typeface="Courier New" panose="02070309020205020404" pitchFamily="49" charset="0"/>
              </a:rPr>
              <a:t>] = </a:t>
            </a:r>
            <a:r>
              <a:rPr lang="en-US" altLang="en-US" b="1" i="1" dirty="0">
                <a:latin typeface="Courier New" panose="02070309020205020404" pitchFamily="49" charset="0"/>
              </a:rPr>
              <a:t>true</a:t>
            </a:r>
            <a:r>
              <a:rPr lang="en-US" altLang="en-US"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dirty="0">
                <a:solidFill>
                  <a:srgbClr val="000000"/>
                </a:solidFill>
              </a:rPr>
              <a:t> is ready!</a:t>
            </a:r>
          </a:p>
          <a:p>
            <a:pPr lvl="1">
              <a:lnSpc>
                <a:spcPct val="90000"/>
              </a:lnSpc>
              <a:tabLst>
                <a:tab pos="739775" algn="l"/>
                <a:tab pos="1020763" algn="l"/>
                <a:tab pos="1257300" algn="l"/>
              </a:tabLst>
            </a:pPr>
            <a:r>
              <a:rPr lang="en-US" dirty="0"/>
              <a:t>To solve the </a:t>
            </a:r>
            <a:r>
              <a:rPr lang="en-US" b="1" dirty="0"/>
              <a:t>Progress problem</a:t>
            </a:r>
            <a:r>
              <a:rPr lang="en-US" dirty="0"/>
              <a:t> in Software solution -&gt;Pi waits </a:t>
            </a:r>
            <a:r>
              <a:rPr lang="en-US" b="1" dirty="0"/>
              <a:t>only if </a:t>
            </a:r>
            <a:r>
              <a:rPr lang="en-US" b="1" dirty="0" err="1"/>
              <a:t>Pj</a:t>
            </a:r>
            <a:r>
              <a:rPr lang="en-US" b="1" dirty="0"/>
              <a:t> actually wants to enter</a:t>
            </a:r>
            <a:r>
              <a:rPr lang="en-US" dirty="0"/>
              <a:t>.</a:t>
            </a:r>
            <a:endParaRPr lang="en-US" altLang="en-US" dirty="0">
              <a:solidFill>
                <a:srgbClr val="000000"/>
              </a:solidFill>
            </a:endParaRPr>
          </a:p>
        </p:txBody>
      </p:sp>
    </p:spTree>
    <p:extLst>
      <p:ext uri="{BB962C8B-B14F-4D97-AF65-F5344CB8AC3E}">
        <p14:creationId xmlns:p14="http://schemas.microsoft.com/office/powerpoint/2010/main" val="4047743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1534438" y="773043"/>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302465" y="1585237"/>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361250" y="2031908"/>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678610" y="4029830"/>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
        <p:nvSpPr>
          <p:cNvPr id="2" name="Rectangle 3">
            <a:extLst>
              <a:ext uri="{FF2B5EF4-FFF2-40B4-BE49-F238E27FC236}">
                <a16:creationId xmlns:a16="http://schemas.microsoft.com/office/drawing/2014/main" id="{2952F770-247F-701D-78DF-BF1D2446F31F}"/>
              </a:ext>
            </a:extLst>
          </p:cNvPr>
          <p:cNvSpPr>
            <a:spLocks noChangeArrowheads="1"/>
          </p:cNvSpPr>
          <p:nvPr/>
        </p:nvSpPr>
        <p:spPr bwMode="auto">
          <a:xfrm>
            <a:off x="4718986" y="1585237"/>
            <a:ext cx="454164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   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flag[j] = true; </a:t>
            </a:r>
          </a:p>
          <a:p>
            <a:pPr>
              <a:buFont typeface="Monotype Sorts" pitchFamily="-84" charset="2"/>
              <a:buNone/>
            </a:pPr>
            <a:r>
              <a:rPr lang="en-US" altLang="en-US" b="1" dirty="0">
                <a:solidFill>
                  <a:srgbClr val="000000"/>
                </a:solidFill>
                <a:latin typeface="Courier New" panose="02070309020205020404" pitchFamily="49" charset="0"/>
              </a:rPr>
              <a:t>turn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while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&amp;&amp; turn =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flag[j]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3" name="Rectangle 7">
            <a:extLst>
              <a:ext uri="{FF2B5EF4-FFF2-40B4-BE49-F238E27FC236}">
                <a16:creationId xmlns:a16="http://schemas.microsoft.com/office/drawing/2014/main" id="{FFD056EA-40BB-C723-02FA-B81965FC2D3A}"/>
              </a:ext>
            </a:extLst>
          </p:cNvPr>
          <p:cNvSpPr>
            <a:spLocks noChangeArrowheads="1"/>
          </p:cNvSpPr>
          <p:nvPr/>
        </p:nvSpPr>
        <p:spPr bwMode="auto">
          <a:xfrm>
            <a:off x="4792461" y="1968795"/>
            <a:ext cx="4300436"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4" name="Rectangle 8">
            <a:extLst>
              <a:ext uri="{FF2B5EF4-FFF2-40B4-BE49-F238E27FC236}">
                <a16:creationId xmlns:a16="http://schemas.microsoft.com/office/drawing/2014/main" id="{DAFFF52D-8E20-B623-B91F-C1F21B594AC1}"/>
              </a:ext>
            </a:extLst>
          </p:cNvPr>
          <p:cNvSpPr>
            <a:spLocks noChangeArrowheads="1"/>
          </p:cNvSpPr>
          <p:nvPr/>
        </p:nvSpPr>
        <p:spPr bwMode="auto">
          <a:xfrm>
            <a:off x="4960190" y="3649873"/>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
        <p:nvSpPr>
          <p:cNvPr id="5" name="Title 1">
            <a:extLst>
              <a:ext uri="{FF2B5EF4-FFF2-40B4-BE49-F238E27FC236}">
                <a16:creationId xmlns:a16="http://schemas.microsoft.com/office/drawing/2014/main" id="{93FABE9A-E349-76B2-2C3C-6811969A48A5}"/>
              </a:ext>
            </a:extLst>
          </p:cNvPr>
          <p:cNvSpPr txBox="1">
            <a:spLocks/>
          </p:cNvSpPr>
          <p:nvPr/>
        </p:nvSpPr>
        <p:spPr bwMode="auto">
          <a:xfrm>
            <a:off x="3464842" y="77304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a:lstStyle>
          <a:p>
            <a:r>
              <a:rPr lang="en-US" altLang="en-US" kern="0"/>
              <a:t>Algorithm for Process </a:t>
            </a:r>
            <a:r>
              <a:rPr lang="en-US" altLang="en-US" i="1" kern="0"/>
              <a:t>P</a:t>
            </a:r>
            <a:r>
              <a:rPr lang="en-US" altLang="en-US" i="1" kern="0" baseline="-25000"/>
              <a:t>j</a:t>
            </a:r>
            <a:endParaRPr lang="en-US" altLang="en-US" i="1" kern="0" dirty="0"/>
          </a:p>
        </p:txBody>
      </p:sp>
    </p:spTree>
    <p:extLst>
      <p:ext uri="{BB962C8B-B14F-4D97-AF65-F5344CB8AC3E}">
        <p14:creationId xmlns:p14="http://schemas.microsoft.com/office/powerpoint/2010/main" val="1931689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05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sz="2000" b="1" dirty="0">
                <a:solidFill>
                  <a:srgbClr val="000000"/>
                </a:solidFill>
                <a:latin typeface="Courier New" panose="02070309020205020404" pitchFamily="49" charset="0"/>
              </a:rPr>
              <a:t>flag[j] = false</a:t>
            </a: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turn = i</a:t>
            </a:r>
            <a:endParaRPr lang="en-US" altLang="en-US" sz="2000"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a:xfrm>
            <a:off x="832428" y="105026"/>
            <a:ext cx="8229600" cy="576262"/>
          </a:xfrm>
        </p:spPr>
        <p:txBody>
          <a:bodyPr/>
          <a:lstStyle/>
          <a:p>
            <a:r>
              <a:rPr lang="en-US" altLang="en-US" sz="2400" dirty="0"/>
              <a:t>Peterson’s Solution and Modern Architecture</a:t>
            </a:r>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a:xfrm>
            <a:off x="806450" y="1233488"/>
            <a:ext cx="7275666" cy="4385647"/>
          </a:xfrm>
        </p:spPr>
        <p:txBody>
          <a:bodyPr/>
          <a:lstStyle/>
          <a:p>
            <a:r>
              <a:rPr lang="en-US" altLang="en-US" dirty="0"/>
              <a:t>Although useful for demonstrating an algorithm, Peterson’s Solution is not guaranteed to work on modern architectures.</a:t>
            </a:r>
          </a:p>
          <a:p>
            <a:pPr lvl="1"/>
            <a:r>
              <a:rPr lang="en-US" altLang="en-US" dirty="0"/>
              <a:t>To improve performance, processors and/or compilers may reorder operations that have no dependencies</a:t>
            </a:r>
          </a:p>
          <a:p>
            <a:r>
              <a:rPr lang="en-US" altLang="en-US" dirty="0"/>
              <a:t>Understanding why it will not work is useful for better understanding race conditions.</a:t>
            </a:r>
          </a:p>
          <a:p>
            <a:r>
              <a:rPr lang="en-US" altLang="en-US" dirty="0"/>
              <a:t>For single-threaded this is ok as the result will always be the same.</a:t>
            </a:r>
          </a:p>
          <a:p>
            <a:r>
              <a:rPr lang="en-US" altLang="en-US" dirty="0"/>
              <a:t>For multithreaded the reordering may produce inconsistent or unexpected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a:xfrm>
            <a:off x="457200" y="131003"/>
            <a:ext cx="8229600" cy="576262"/>
          </a:xfrm>
        </p:spPr>
        <p:txBody>
          <a:bodyPr/>
          <a:lstStyle/>
          <a:p>
            <a:r>
              <a:rPr lang="en-US" altLang="en-US" dirty="0"/>
              <a:t>Modern Architecture Example</a:t>
            </a:r>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a:xfrm>
            <a:off x="806450" y="1233489"/>
            <a:ext cx="7727950" cy="3394496"/>
          </a:xfrm>
        </p:spPr>
        <p:txBody>
          <a:bodyPr/>
          <a:lstStyle/>
          <a:p>
            <a:r>
              <a:rPr lang="en-US" altLang="en-US" dirty="0"/>
              <a:t>Two threads share the data:</a:t>
            </a:r>
            <a:br>
              <a:rPr lang="en-US" altLang="en-US" dirty="0"/>
            </a:br>
            <a:r>
              <a:rPr lang="en-US" altLang="en-US" dirty="0"/>
              <a:t>      </a:t>
            </a:r>
            <a:r>
              <a:rPr lang="en-US" altLang="en-US" dirty="0" err="1">
                <a:latin typeface="Courier New" panose="02070309020205020404" pitchFamily="49" charset="0"/>
                <a:cs typeface="Courier New" panose="02070309020205020404" pitchFamily="49" charset="0"/>
              </a:rPr>
              <a:t>boolean</a:t>
            </a:r>
            <a:r>
              <a:rPr lang="en-US" altLang="en-US" dirty="0">
                <a:latin typeface="Courier New" panose="02070309020205020404" pitchFamily="49" charset="0"/>
                <a:cs typeface="Courier New" panose="02070309020205020404" pitchFamily="49" charset="0"/>
              </a:rPr>
              <a:t> flag = false;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int x = 0;</a:t>
            </a:r>
          </a:p>
          <a:p>
            <a:r>
              <a:rPr lang="en-US" altLang="en-US" dirty="0"/>
              <a:t>Thread 1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What is the expected output?</a:t>
            </a:r>
          </a:p>
          <a:p>
            <a:pPr marL="0" indent="0">
              <a:buNone/>
            </a:pPr>
            <a:r>
              <a:rPr lang="en-US" altLang="en-US" dirty="0"/>
              <a:t>                       </a:t>
            </a:r>
          </a:p>
        </p:txBody>
      </p:sp>
      <p:sp>
        <p:nvSpPr>
          <p:cNvPr id="2" name="TextBox 1">
            <a:extLst>
              <a:ext uri="{FF2B5EF4-FFF2-40B4-BE49-F238E27FC236}">
                <a16:creationId xmlns:a16="http://schemas.microsoft.com/office/drawing/2014/main" id="{4E9A5473-147F-4669-8110-D8DF8A3CF96B}"/>
              </a:ext>
            </a:extLst>
          </p:cNvPr>
          <p:cNvSpPr txBox="1"/>
          <p:nvPr/>
        </p:nvSpPr>
        <p:spPr>
          <a:xfrm>
            <a:off x="1595537" y="4758607"/>
            <a:ext cx="2733870" cy="369332"/>
          </a:xfrm>
          <a:prstGeom prst="rect">
            <a:avLst/>
          </a:prstGeom>
          <a:noFill/>
        </p:spPr>
        <p:txBody>
          <a:bodyPr wrap="square" rtlCol="0">
            <a:spAutoFit/>
          </a:bodyPr>
          <a:lstStyle/>
          <a:p>
            <a:r>
              <a:rPr lang="en-US" dirty="0">
                <a:latin typeface="+mn-lt"/>
              </a:rPr>
              <a:t>100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1111833" y="182958"/>
            <a:ext cx="8229600" cy="576262"/>
          </a:xfrm>
        </p:spPr>
        <p:txBody>
          <a:bodyPr/>
          <a:lstStyle/>
          <a:p>
            <a:r>
              <a:rPr lang="en-US" altLang="en-US" dirty="0"/>
              <a:t>Modern Architecture Example (Cont.)</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806450" y="1233489"/>
            <a:ext cx="6623050" cy="4294476"/>
          </a:xfrm>
        </p:spPr>
        <p:txBody>
          <a:bodyPr/>
          <a:lstStyle/>
          <a:p>
            <a:r>
              <a:rPr lang="en-US" altLang="en-US" dirty="0"/>
              <a:t>However, since the variables </a:t>
            </a:r>
            <a:r>
              <a:rPr lang="en-US" altLang="en-US" dirty="0">
                <a:latin typeface="Courier New" panose="02070309020205020404" pitchFamily="49" charset="0"/>
                <a:cs typeface="Courier New" panose="02070309020205020404" pitchFamily="49" charset="0"/>
              </a:rPr>
              <a:t>flag</a:t>
            </a:r>
            <a:r>
              <a:rPr lang="en-US" altLang="en-US" dirty="0"/>
              <a:t> and </a:t>
            </a:r>
            <a:r>
              <a:rPr lang="en-US" altLang="en-US" dirty="0">
                <a:latin typeface="Courier New" panose="02070309020205020404" pitchFamily="49" charset="0"/>
                <a:cs typeface="Courier New" panose="02070309020205020404" pitchFamily="49" charset="0"/>
              </a:rPr>
              <a:t>x</a:t>
            </a:r>
            <a:r>
              <a:rPr lang="en-US" altLang="en-US" dirty="0"/>
              <a:t> are independent of each other, the instructions:</a:t>
            </a:r>
          </a:p>
          <a:p>
            <a:pPr marL="0" indent="0">
              <a:buNone/>
            </a:pP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flag = true;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x = 100;</a:t>
            </a:r>
          </a:p>
          <a:p>
            <a:pPr marL="0" indent="0">
              <a:buNone/>
            </a:pPr>
            <a:endParaRPr lang="en-US" altLang="en-US" dirty="0">
              <a:latin typeface="Courier New" panose="02070309020205020404" pitchFamily="49" charset="0"/>
              <a:cs typeface="Courier New" panose="02070309020205020404" pitchFamily="49" charset="0"/>
            </a:endParaRPr>
          </a:p>
          <a:p>
            <a:pPr marL="0" indent="0">
              <a:buNone/>
            </a:pPr>
            <a:r>
              <a:rPr lang="en-US" altLang="en-US" dirty="0">
                <a:latin typeface="Courier New" panose="02070309020205020404" pitchFamily="49" charset="0"/>
                <a:cs typeface="Courier New" panose="02070309020205020404" pitchFamily="49" charset="0"/>
              </a:rPr>
              <a:t>   </a:t>
            </a:r>
            <a:r>
              <a:rPr lang="en-US" altLang="en-US" dirty="0"/>
              <a:t>for Thread 2 may be reordered</a:t>
            </a:r>
            <a:endParaRPr lang="en-US" altLang="en-US" dirty="0">
              <a:latin typeface="Courier New" panose="02070309020205020404" pitchFamily="49" charset="0"/>
              <a:cs typeface="Courier New" panose="02070309020205020404" pitchFamily="49" charset="0"/>
            </a:endParaRPr>
          </a:p>
          <a:p>
            <a:r>
              <a:rPr lang="en-US" altLang="en-US" dirty="0"/>
              <a:t>If this occurs, the output may be 0!</a:t>
            </a:r>
          </a:p>
          <a:p>
            <a:pPr marL="0" indent="0">
              <a:buNone/>
            </a:pPr>
            <a:br>
              <a:rPr lang="en-US" altLang="en-US" dirty="0"/>
            </a:br>
            <a:br>
              <a:rPr lang="en-US" altLang="en-US" dirty="0"/>
            </a:br>
            <a:br>
              <a:rPr lang="en-US" altLang="en-US" dirty="0"/>
            </a:b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963549" y="182958"/>
            <a:ext cx="8229600" cy="576262"/>
          </a:xfrm>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p:txBody>
          <a:bodyPr/>
          <a:lstStyle/>
          <a:p>
            <a:r>
              <a:rPr lang="en-US" altLang="en-US" dirty="0"/>
              <a:t>The effects of instruction reordering in Peterson’s Solution</a:t>
            </a:r>
          </a:p>
          <a:p>
            <a:endParaRPr lang="en-US" altLang="en-US" dirty="0"/>
          </a:p>
          <a:p>
            <a:endParaRPr lang="en-US" altLang="en-US" dirty="0"/>
          </a:p>
          <a:p>
            <a:endParaRPr lang="en-US" altLang="en-US" dirty="0"/>
          </a:p>
          <a:p>
            <a:endParaRPr lang="en-US" altLang="en-US" dirty="0"/>
          </a:p>
          <a:p>
            <a:endParaRPr lang="en-US" altLang="en-US" dirty="0"/>
          </a:p>
          <a:p>
            <a:r>
              <a:rPr lang="en-US" altLang="en-US" dirty="0"/>
              <a:t>This allows both processes to be in their critical section at the same time!</a:t>
            </a:r>
          </a:p>
          <a:p>
            <a:r>
              <a:rPr lang="en-US" altLang="en-US" dirty="0"/>
              <a:t>To ensure that Peterson’s solution will work correctly on modern computer architecture we must use </a:t>
            </a:r>
            <a:r>
              <a:rPr lang="en-US" altLang="en-US" b="1" dirty="0">
                <a:solidFill>
                  <a:srgbClr val="006699"/>
                </a:solidFill>
                <a:latin typeface="+mj-lt"/>
              </a:rPr>
              <a:t>Memory Barrier</a:t>
            </a:r>
            <a:r>
              <a:rPr lang="en-US" altLang="en-US" dirty="0"/>
              <a:t>.</a:t>
            </a:r>
          </a:p>
          <a:p>
            <a:r>
              <a:rPr lang="en-US" dirty="0"/>
              <a:t>A memory barrier is a synchronization instruction that prevents the CPU and compiler from reordering memory operations across the barrier, ensuring correct execution order in multithreaded programs.</a:t>
            </a:r>
            <a:br>
              <a:rPr lang="en-US" altLang="en-US" dirty="0"/>
            </a:br>
            <a:br>
              <a:rPr lang="en-US" altLang="en-US" dirty="0"/>
            </a:br>
            <a:br>
              <a:rPr lang="en-US" altLang="en-US" dirty="0"/>
            </a:br>
            <a:br>
              <a:rPr lang="en-US" altLang="en-US" dirty="0"/>
            </a:br>
            <a:endParaRPr lang="en-US" altLang="en-US"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0620" y="1821442"/>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5089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a:xfrm>
            <a:off x="1100138" y="221827"/>
            <a:ext cx="7586662" cy="576262"/>
          </a:xfrm>
        </p:spPr>
        <p:txBody>
          <a:bodyPr/>
          <a:lstStyle/>
          <a:p>
            <a:pPr eaLnBrk="1" hangingPunct="1"/>
            <a:r>
              <a:rPr lang="en-US" altLang="en-US" dirty="0"/>
              <a:t>Synchronization Hardware</a:t>
            </a:r>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a:xfrm>
            <a:off x="821094" y="1233488"/>
            <a:ext cx="7443675" cy="4372487"/>
          </a:xfrm>
        </p:spPr>
        <p:txBody>
          <a:bodyPr/>
          <a:lstStyle/>
          <a:p>
            <a:pPr>
              <a:lnSpc>
                <a:spcPct val="90000"/>
              </a:lnSpc>
              <a:tabLst>
                <a:tab pos="739775" algn="l"/>
                <a:tab pos="1020763" algn="l"/>
                <a:tab pos="1257300" algn="l"/>
              </a:tabLst>
            </a:pPr>
            <a:r>
              <a:rPr lang="en-US" altLang="en-US" dirty="0"/>
              <a:t>Many systems provide hardware support for implementing the critical section code.</a:t>
            </a:r>
          </a:p>
          <a:p>
            <a:pPr>
              <a:lnSpc>
                <a:spcPct val="90000"/>
              </a:lnSpc>
              <a:tabLst>
                <a:tab pos="739775" algn="l"/>
                <a:tab pos="1020763" algn="l"/>
                <a:tab pos="1257300" algn="l"/>
              </a:tabLst>
            </a:pPr>
            <a:r>
              <a:rPr lang="en-US" altLang="en-US" dirty="0"/>
              <a:t>Uniprocessors – could disable interrupts</a:t>
            </a:r>
          </a:p>
          <a:p>
            <a:pPr lvl="1">
              <a:lnSpc>
                <a:spcPct val="90000"/>
              </a:lnSpc>
              <a:tabLst>
                <a:tab pos="739775" algn="l"/>
                <a:tab pos="1020763" algn="l"/>
                <a:tab pos="1257300" algn="l"/>
              </a:tabLst>
            </a:pPr>
            <a:r>
              <a:rPr lang="en-US" altLang="en-US" dirty="0"/>
              <a:t>Currently running code would execute without preemption</a:t>
            </a:r>
          </a:p>
          <a:p>
            <a:pPr lvl="1">
              <a:lnSpc>
                <a:spcPct val="90000"/>
              </a:lnSpc>
              <a:tabLst>
                <a:tab pos="739775" algn="l"/>
                <a:tab pos="1020763" algn="l"/>
                <a:tab pos="1257300" algn="l"/>
              </a:tabLst>
            </a:pPr>
            <a:r>
              <a:rPr lang="en-US" altLang="en-US" dirty="0"/>
              <a:t>Generally too inefficient on multiprocessor systems</a:t>
            </a:r>
          </a:p>
          <a:p>
            <a:pPr lvl="2">
              <a:lnSpc>
                <a:spcPct val="90000"/>
              </a:lnSpc>
              <a:tabLst>
                <a:tab pos="739775" algn="l"/>
                <a:tab pos="1020763" algn="l"/>
                <a:tab pos="1257300" algn="l"/>
              </a:tabLst>
            </a:pPr>
            <a:r>
              <a:rPr lang="en-US" altLang="en-US" dirty="0"/>
              <a:t>Operating systems using this not broadly scalable</a:t>
            </a:r>
          </a:p>
          <a:p>
            <a:pPr>
              <a:lnSpc>
                <a:spcPct val="90000"/>
              </a:lnSpc>
              <a:tabLst>
                <a:tab pos="739775" algn="l"/>
                <a:tab pos="1020763" algn="l"/>
                <a:tab pos="1257300" algn="l"/>
              </a:tabLst>
            </a:pPr>
            <a:r>
              <a:rPr lang="en-US" altLang="en-US" dirty="0"/>
              <a:t>We will look at three forms of hardware support:</a:t>
            </a:r>
            <a:br>
              <a:rPr lang="en-US" altLang="en-US" dirty="0"/>
            </a:br>
            <a:br>
              <a:rPr lang="en-US" altLang="en-US" dirty="0"/>
            </a:br>
            <a:r>
              <a:rPr lang="en-US" altLang="en-US" dirty="0">
                <a:solidFill>
                  <a:srgbClr val="CC6600"/>
                </a:solidFill>
              </a:rPr>
              <a:t>1.  </a:t>
            </a:r>
            <a:r>
              <a:rPr lang="en-US" altLang="en-US" dirty="0"/>
              <a:t>Hardware instructions</a:t>
            </a:r>
            <a:br>
              <a:rPr lang="en-US" altLang="en-US" dirty="0"/>
            </a:br>
            <a:br>
              <a:rPr lang="en-US" altLang="en-US" dirty="0"/>
            </a:br>
            <a:r>
              <a:rPr lang="en-US" altLang="en-US" dirty="0">
                <a:solidFill>
                  <a:srgbClr val="CC6600"/>
                </a:solidFill>
              </a:rPr>
              <a:t>2.  </a:t>
            </a:r>
            <a:r>
              <a:rPr lang="en-US" altLang="en-US" dirty="0"/>
              <a:t>Atomic variables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457200" y="224522"/>
            <a:ext cx="8229600" cy="576262"/>
          </a:xfrm>
        </p:spPr>
        <p:txBody>
          <a:bodyPr/>
          <a:lstStyle/>
          <a:p>
            <a:r>
              <a:rPr lang="en-US" altLang="en-US" dirty="0"/>
              <a:t>Hardware Instructions</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Special hardware instructions that allow us to either </a:t>
            </a:r>
            <a:r>
              <a:rPr lang="en-US" altLang="en-US" i="1" dirty="0"/>
              <a:t>test-and-modify</a:t>
            </a:r>
            <a:r>
              <a:rPr lang="en-US" altLang="en-US" dirty="0"/>
              <a:t> the content of a word, or to </a:t>
            </a:r>
            <a:r>
              <a:rPr lang="en-US" altLang="en-US" i="1" dirty="0"/>
              <a:t>swap</a:t>
            </a:r>
            <a:r>
              <a:rPr lang="en-US" altLang="en-US" dirty="0"/>
              <a:t> the contents of two words atomically (uninterruptedly.)</a:t>
            </a:r>
          </a:p>
          <a:p>
            <a:pPr lvl="1"/>
            <a:r>
              <a:rPr lang="en-US" altLang="en-US" b="1" dirty="0"/>
              <a:t>Test-and-Set</a:t>
            </a:r>
            <a:r>
              <a:rPr lang="en-US" altLang="en-US" dirty="0"/>
              <a:t> instruction</a:t>
            </a:r>
          </a:p>
          <a:p>
            <a:pPr lvl="1"/>
            <a:r>
              <a:rPr lang="en-US" altLang="en-US" b="1" dirty="0"/>
              <a:t>Compare-and-Swap</a:t>
            </a:r>
            <a:r>
              <a:rPr lang="en-US" altLang="en-US" dirty="0"/>
              <a:t> instruction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514866" y="161216"/>
            <a:ext cx="8229600" cy="576262"/>
          </a:xfrm>
        </p:spPr>
        <p:txBody>
          <a:bodyPr/>
          <a:lstStyle/>
          <a:p>
            <a:r>
              <a:rPr lang="en-US" altLang="en-US" dirty="0"/>
              <a:t>The test_and_set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Definition</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test_and_set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 =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*target = true;</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return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endParaRPr lang="en-US" altLang="en-US" dirty="0">
              <a:solidFill>
                <a:srgbClr val="0000FF"/>
              </a:solidFill>
            </a:endParaRPr>
          </a:p>
          <a:p>
            <a:r>
              <a:rPr lang="en-US" altLang="en-US" dirty="0"/>
              <a:t>Properties</a:t>
            </a:r>
          </a:p>
          <a:p>
            <a:pPr lvl="1"/>
            <a:r>
              <a:rPr lang="en-US" altLang="en-US" dirty="0"/>
              <a:t>Executed atomically</a:t>
            </a:r>
          </a:p>
          <a:p>
            <a:pPr lvl="1"/>
            <a:r>
              <a:rPr lang="en-US" altLang="en-US" dirty="0"/>
              <a:t>Returns the original value of passed parameter</a:t>
            </a:r>
          </a:p>
          <a:p>
            <a:pPr lvl="1"/>
            <a:r>
              <a:rPr lang="en-US" altLang="en-US" dirty="0"/>
              <a:t>Set the new value of passed parameter to </a:t>
            </a:r>
            <a:r>
              <a:rPr lang="en-US" altLang="en-US" b="1" dirty="0">
                <a:solidFill>
                  <a:srgbClr val="000000"/>
                </a:solidFill>
                <a:latin typeface="Courier New" panose="02070309020205020404" pitchFamily="49" charset="0"/>
              </a:rPr>
              <a:t>true</a:t>
            </a:r>
            <a:endParaRPr lang="en-US" altLang="en-US" b="1" dirty="0">
              <a:latin typeface="Courier New" panose="02070309020205020404" pitchFamily="49" charset="0"/>
              <a:cs typeface="Courier New" panose="02070309020205020404" pitchFamily="49" charset="0"/>
            </a:endParaRPr>
          </a:p>
          <a:p>
            <a:pPr lvl="1"/>
            <a:endParaRPr lang="en-US" altLang="en-US" dirty="0"/>
          </a:p>
        </p:txBody>
      </p:sp>
    </p:spTree>
    <p:extLst>
      <p:ext uri="{BB962C8B-B14F-4D97-AF65-F5344CB8AC3E}">
        <p14:creationId xmlns:p14="http://schemas.microsoft.com/office/powerpoint/2010/main" val="3986950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p:txBody>
          <a:bodyPr/>
          <a:lstStyle/>
          <a:p>
            <a:pPr eaLnBrk="1" hangingPunct="1"/>
            <a:r>
              <a:rPr lang="en-US" altLang="en-US" dirty="0"/>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sz="half" idx="1"/>
          </p:nvPr>
        </p:nvSpPr>
        <p:spPr>
          <a:xfrm>
            <a:off x="731293" y="810115"/>
            <a:ext cx="4038600" cy="4530725"/>
          </a:xfrm>
        </p:spPr>
        <p:txBody>
          <a:bodyPr/>
          <a:lstStyle/>
          <a:p>
            <a:pPr>
              <a:lnSpc>
                <a:spcPct val="90000"/>
              </a:lnSpc>
              <a:tabLst>
                <a:tab pos="741363" algn="l"/>
                <a:tab pos="1022350" algn="l"/>
                <a:tab pos="1258888" algn="l"/>
              </a:tabLst>
            </a:pPr>
            <a:r>
              <a:rPr lang="en-US" altLang="en-US" sz="1600" dirty="0"/>
              <a:t>Shared </a:t>
            </a:r>
            <a:r>
              <a:rPr lang="en-US" altLang="en-US" sz="1600" dirty="0" err="1"/>
              <a:t>boolean</a:t>
            </a:r>
            <a:r>
              <a:rPr lang="en-US" altLang="en-US" sz="1600" dirty="0"/>
              <a:t> variable </a:t>
            </a:r>
            <a:r>
              <a:rPr lang="en-US" altLang="en-US" sz="1600" b="1" dirty="0">
                <a:latin typeface="Courier New" panose="02070309020205020404" pitchFamily="49" charset="0"/>
                <a:cs typeface="Courier New" panose="02070309020205020404" pitchFamily="49" charset="0"/>
              </a:rPr>
              <a:t>lock</a:t>
            </a:r>
            <a:r>
              <a:rPr lang="en-US" altLang="en-US" sz="1600" dirty="0"/>
              <a:t>, initialized to </a:t>
            </a:r>
            <a:r>
              <a:rPr lang="en-US" altLang="en-US" sz="1600"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sz="1600" dirty="0"/>
              <a:t>Solution:</a:t>
            </a:r>
            <a:endParaRPr lang="en-US" altLang="en-US" sz="1600" b="1" dirty="0">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cs typeface="Courier New" panose="02070309020205020404" pitchFamily="49" charset="0"/>
              </a:rPr>
              <a:t>       </a:t>
            </a:r>
            <a:r>
              <a:rPr lang="en-US" altLang="en-US" sz="1600" b="1" dirty="0">
                <a:solidFill>
                  <a:srgbClr val="000000"/>
                </a:solidFill>
                <a:latin typeface="Courier New" panose="02070309020205020404" pitchFamily="49" charset="0"/>
                <a:cs typeface="Courier New" panose="02070309020205020404" pitchFamily="49" charset="0"/>
              </a:rPr>
              <a:t>do {</a:t>
            </a:r>
            <a:br>
              <a:rPr lang="en-US" altLang="en-US" sz="1600" b="1" dirty="0">
                <a:solidFill>
                  <a:srgbClr val="000000"/>
                </a:solidFill>
                <a:latin typeface="Courier New" panose="02070309020205020404" pitchFamily="49" charset="0"/>
                <a:cs typeface="Courier New" panose="02070309020205020404" pitchFamily="49" charset="0"/>
              </a:rPr>
            </a:br>
            <a:r>
              <a:rPr lang="en-US" altLang="en-US" sz="1600" b="1" dirty="0">
                <a:solidFill>
                  <a:srgbClr val="000000"/>
                </a:solidFill>
                <a:latin typeface="Courier New" panose="02070309020205020404" pitchFamily="49" charset="0"/>
                <a:cs typeface="Courier New" panose="02070309020205020404" pitchFamily="49" charset="0"/>
              </a:rPr>
              <a:t>          while (test_and_set(&amp;lock))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 do nothing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critical section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lock = false;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while (true);</a:t>
            </a:r>
          </a:p>
          <a:p>
            <a:pPr>
              <a:buFont typeface="Monotype Sorts" pitchFamily="-84" charset="2"/>
              <a:buNone/>
              <a:tabLst>
                <a:tab pos="741363" algn="l"/>
                <a:tab pos="1022350" algn="l"/>
                <a:tab pos="1258888" algn="l"/>
              </a:tabLst>
            </a:pPr>
            <a:endParaRPr lang="en-US" altLang="en-US" sz="1600" b="1" dirty="0">
              <a:solidFill>
                <a:srgbClr val="000000"/>
              </a:solidFill>
              <a:latin typeface="Courier New" panose="02070309020205020404" pitchFamily="49" charset="0"/>
              <a:cs typeface="Courier New" panose="02070309020205020404" pitchFamily="49" charset="0"/>
            </a:endParaRPr>
          </a:p>
          <a:p>
            <a:pPr>
              <a:tabLst>
                <a:tab pos="741363" algn="l"/>
                <a:tab pos="1022350" algn="l"/>
                <a:tab pos="1258888" algn="l"/>
              </a:tabLst>
            </a:pPr>
            <a:r>
              <a:rPr lang="en-US" altLang="en-US" sz="1600" dirty="0"/>
              <a:t>Does it solve the critical-section problem?</a:t>
            </a:r>
          </a:p>
          <a:p>
            <a:pPr>
              <a:lnSpc>
                <a:spcPct val="90000"/>
              </a:lnSpc>
              <a:buFont typeface="Monotype Sorts" pitchFamily="-84" charset="2"/>
              <a:buNone/>
              <a:tabLst>
                <a:tab pos="741363" algn="l"/>
                <a:tab pos="1022350" algn="l"/>
                <a:tab pos="1258888" algn="l"/>
              </a:tabLst>
            </a:pPr>
            <a:endParaRPr lang="en-US" altLang="en-US" sz="1600" dirty="0"/>
          </a:p>
          <a:p>
            <a:pPr>
              <a:lnSpc>
                <a:spcPct val="90000"/>
              </a:lnSpc>
              <a:buFont typeface="Monotype Sorts" pitchFamily="-84" charset="2"/>
              <a:buNone/>
              <a:tabLst>
                <a:tab pos="741363" algn="l"/>
                <a:tab pos="1022350" algn="l"/>
                <a:tab pos="1258888" algn="l"/>
              </a:tabLst>
            </a:pPr>
            <a:r>
              <a:rPr lang="en-US" altLang="en-US" sz="1200" dirty="0"/>
              <a:t>               </a:t>
            </a:r>
          </a:p>
        </p:txBody>
      </p:sp>
      <p:sp>
        <p:nvSpPr>
          <p:cNvPr id="5" name="Content Placeholder 2">
            <a:extLst>
              <a:ext uri="{FF2B5EF4-FFF2-40B4-BE49-F238E27FC236}">
                <a16:creationId xmlns:a16="http://schemas.microsoft.com/office/drawing/2014/main" id="{145053C3-2E9C-2AAD-FCC5-FAAFF7B6C3C7}"/>
              </a:ext>
            </a:extLst>
          </p:cNvPr>
          <p:cNvSpPr>
            <a:spLocks noGrp="1"/>
          </p:cNvSpPr>
          <p:nvPr>
            <p:ph sz="half" idx="2"/>
          </p:nvPr>
        </p:nvSpPr>
        <p:spPr>
          <a:xfrm>
            <a:off x="4708525" y="908050"/>
            <a:ext cx="4038600" cy="4530725"/>
          </a:xfrm>
        </p:spPr>
        <p:txBody>
          <a:bodyPr/>
          <a:lstStyle/>
          <a:p>
            <a:r>
              <a:rPr lang="en-US" altLang="en-US" sz="1600" dirty="0"/>
              <a:t>Definition</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boolean</a:t>
            </a:r>
            <a:r>
              <a:rPr lang="en-US" altLang="en-US" sz="1600" b="1" dirty="0">
                <a:solidFill>
                  <a:srgbClr val="000000"/>
                </a:solidFill>
                <a:latin typeface="Courier New" panose="02070309020205020404" pitchFamily="49" charset="0"/>
              </a:rPr>
              <a:t> test_and_set (</a:t>
            </a:r>
            <a:r>
              <a:rPr lang="en-US" altLang="en-US" sz="1600" b="1" dirty="0" err="1">
                <a:solidFill>
                  <a:srgbClr val="000000"/>
                </a:solidFill>
                <a:latin typeface="Courier New" panose="02070309020205020404" pitchFamily="49" charset="0"/>
              </a:rPr>
              <a:t>boolean</a:t>
            </a:r>
            <a:r>
              <a:rPr lang="en-US" altLang="en-US" sz="1600" b="1" dirty="0">
                <a:solidFill>
                  <a:srgbClr val="000000"/>
                </a:solidFill>
                <a:latin typeface="Courier New" panose="02070309020205020404" pitchFamily="49" charset="0"/>
              </a:rPr>
              <a:t> *target)</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anose="02070309020205020404" pitchFamily="49" charset="0"/>
              </a:rPr>
              <a:t>        {</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boolean</a:t>
            </a: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rv</a:t>
            </a:r>
            <a:r>
              <a:rPr lang="en-US" altLang="en-US" sz="1600" b="1" dirty="0">
                <a:solidFill>
                  <a:srgbClr val="000000"/>
                </a:solidFill>
                <a:latin typeface="Courier New" panose="02070309020205020404" pitchFamily="49" charset="0"/>
              </a:rPr>
              <a:t> = *target;</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anose="02070309020205020404" pitchFamily="49" charset="0"/>
              </a:rPr>
              <a:t>      *target = true;</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anose="02070309020205020404" pitchFamily="49" charset="0"/>
              </a:rPr>
              <a:t>       return </a:t>
            </a:r>
            <a:r>
              <a:rPr lang="en-US" altLang="en-US" sz="1600" b="1" dirty="0" err="1">
                <a:solidFill>
                  <a:srgbClr val="000000"/>
                </a:solidFill>
                <a:latin typeface="Courier New" panose="02070309020205020404" pitchFamily="49" charset="0"/>
              </a:rPr>
              <a:t>rv</a:t>
            </a:r>
            <a:r>
              <a:rPr lang="en-US" altLang="en-US" sz="1600" b="1" dirty="0">
                <a:solidFill>
                  <a:srgbClr val="000000"/>
                </a:solidFill>
                <a:latin typeface="Courier New" panose="02070309020205020404" pitchFamily="49" charset="0"/>
              </a:rPr>
              <a:t>:</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anose="02070309020205020404" pitchFamily="49" charset="0"/>
              </a:rPr>
              <a:t>        }</a:t>
            </a:r>
            <a:endParaRPr lang="en-US" altLang="en-US" sz="1600" dirty="0">
              <a:solidFill>
                <a:srgbClr val="0000FF"/>
              </a:solidFill>
            </a:endParaRPr>
          </a:p>
          <a:p>
            <a:r>
              <a:rPr lang="en-US" altLang="en-US" sz="1600" dirty="0"/>
              <a:t>Properties</a:t>
            </a:r>
          </a:p>
          <a:p>
            <a:pPr lvl="1"/>
            <a:r>
              <a:rPr lang="en-US" altLang="en-US" sz="1600" dirty="0"/>
              <a:t>Executed atomically</a:t>
            </a:r>
          </a:p>
          <a:p>
            <a:pPr lvl="1"/>
            <a:r>
              <a:rPr lang="en-US" altLang="en-US" sz="1600" dirty="0"/>
              <a:t>Returns the original value of passed parameter</a:t>
            </a:r>
          </a:p>
          <a:p>
            <a:pPr lvl="1"/>
            <a:r>
              <a:rPr lang="en-US" altLang="en-US" sz="1600" dirty="0"/>
              <a:t>Set the new value of passed parameter to </a:t>
            </a:r>
            <a:r>
              <a:rPr lang="en-US" altLang="en-US" sz="1600" b="1" dirty="0">
                <a:solidFill>
                  <a:srgbClr val="000000"/>
                </a:solidFill>
                <a:latin typeface="Courier New" panose="02070309020205020404" pitchFamily="49" charset="0"/>
              </a:rPr>
              <a:t>true</a:t>
            </a:r>
            <a:endParaRPr lang="en-US" altLang="en-US" sz="1600" b="1" dirty="0">
              <a:latin typeface="Courier New" panose="02070309020205020404" pitchFamily="49" charset="0"/>
              <a:cs typeface="Courier New" panose="02070309020205020404" pitchFamily="49" charset="0"/>
            </a:endParaRPr>
          </a:p>
          <a:p>
            <a:pPr lvl="1"/>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893622" y="140434"/>
            <a:ext cx="8229600" cy="576262"/>
          </a:xfrm>
        </p:spPr>
        <p:txBody>
          <a:bodyPr/>
          <a:lstStyle/>
          <a:p>
            <a:r>
              <a:rPr lang="en-US" altLang="en-US" dirty="0"/>
              <a:t>The </a:t>
            </a:r>
            <a:r>
              <a:rPr lang="en-US" altLang="en-US" dirty="0" err="1"/>
              <a:t>compare_and_swap</a:t>
            </a:r>
            <a:r>
              <a:rPr lang="en-US" altLang="en-US" dirty="0"/>
              <a: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49" y="1046451"/>
            <a:ext cx="7807615" cy="2663102"/>
          </a:xfrm>
        </p:spPr>
        <p:txBody>
          <a:bodyPr/>
          <a:lstStyle/>
          <a:p>
            <a:r>
              <a:rPr lang="en-US" altLang="en-US" dirty="0"/>
              <a:t>Definition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400" b="1" dirty="0">
                <a:latin typeface="Courier New" panose="02070309020205020404" pitchFamily="49" charset="0"/>
              </a:rPr>
              <a:t>int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(int *value, int expected, int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a:t>
            </a:r>
            <a:r>
              <a:rPr lang="en-US" altLang="en-US" b="1" dirty="0">
                <a:latin typeface="Courier New" panose="02070309020205020404" pitchFamily="49" charset="0"/>
              </a:rPr>
              <a:t>    </a:t>
            </a:r>
            <a:r>
              <a:rPr lang="en-US" altLang="en-US" sz="1400" b="1" dirty="0">
                <a:latin typeface="Courier New" panose="02070309020205020404" pitchFamily="49" charset="0"/>
              </a:rPr>
              <a:t>int temp = *value;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if (*value == expected)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*value =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return temp; </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 </a:t>
            </a:r>
            <a:endParaRPr lang="en-US" altLang="en-US" dirty="0"/>
          </a:p>
          <a:p>
            <a:r>
              <a:rPr lang="en-US" altLang="en-US" dirty="0"/>
              <a:t>Properties</a:t>
            </a:r>
          </a:p>
          <a:p>
            <a:pPr lvl="1"/>
            <a:r>
              <a:rPr lang="en-US" altLang="en-US" dirty="0"/>
              <a:t>Executed atomically</a:t>
            </a:r>
          </a:p>
          <a:p>
            <a:pPr lvl="1"/>
            <a:r>
              <a:rPr lang="en-US" altLang="en-US" dirty="0"/>
              <a:t>Returns the original value of passed parameter </a:t>
            </a:r>
            <a:r>
              <a:rPr lang="en-US" altLang="en-US" b="1" dirty="0">
                <a:latin typeface="Courier New" panose="02070309020205020404" pitchFamily="49" charset="0"/>
                <a:cs typeface="Courier New" panose="02070309020205020404" pitchFamily="49" charset="0"/>
              </a:rPr>
              <a:t>value</a:t>
            </a:r>
            <a:endParaRPr lang="en-US" altLang="en-US" dirty="0"/>
          </a:p>
          <a:p>
            <a:pPr lvl="1"/>
            <a:r>
              <a:rPr lang="en-US" altLang="en-US" dirty="0"/>
              <a:t>Set  the variable </a:t>
            </a:r>
            <a:r>
              <a:rPr lang="en-US" altLang="en-US" b="1" dirty="0">
                <a:latin typeface="Courier New" panose="02070309020205020404" pitchFamily="49" charset="0"/>
                <a:cs typeface="Courier New" panose="02070309020205020404" pitchFamily="49" charset="0"/>
              </a:rPr>
              <a:t>value</a:t>
            </a:r>
            <a:r>
              <a:rPr lang="en-US" altLang="en-US" dirty="0"/>
              <a:t> the value of the passed parameter </a:t>
            </a:r>
            <a:r>
              <a:rPr lang="en-US" altLang="en-US" b="1" dirty="0" err="1">
                <a:latin typeface="Courier New" panose="02070309020205020404" pitchFamily="49" charset="0"/>
                <a:cs typeface="Courier New" panose="02070309020205020404" pitchFamily="49" charset="0"/>
              </a:rPr>
              <a:t>new_value</a:t>
            </a:r>
            <a:r>
              <a:rPr lang="en-US" altLang="en-US" dirty="0"/>
              <a:t> but only if </a:t>
            </a:r>
            <a:r>
              <a:rPr lang="en-US" altLang="en-US" b="1" dirty="0">
                <a:latin typeface="Courier New" panose="02070309020205020404" pitchFamily="49" charset="0"/>
                <a:cs typeface="Courier New" panose="02070309020205020404" pitchFamily="49" charset="0"/>
              </a:rPr>
              <a:t>*value == expected </a:t>
            </a:r>
            <a:r>
              <a:rPr lang="en-US" altLang="en-US" dirty="0"/>
              <a:t>is true. That is, the swap takes place only under this condition.</a:t>
            </a:r>
          </a:p>
          <a:p>
            <a:pPr lvl="1"/>
            <a:endParaRPr lang="en-US" altLang="en-US" dirty="0"/>
          </a:p>
        </p:txBody>
      </p:sp>
    </p:spTree>
    <p:extLst>
      <p:ext uri="{BB962C8B-B14F-4D97-AF65-F5344CB8AC3E}">
        <p14:creationId xmlns:p14="http://schemas.microsoft.com/office/powerpoint/2010/main" val="3881873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a:xfrm>
            <a:off x="1192213" y="219075"/>
            <a:ext cx="7567612" cy="576263"/>
          </a:xfrm>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a:xfrm>
            <a:off x="217488" y="1262062"/>
            <a:ext cx="7766050" cy="4333875"/>
          </a:xfrm>
        </p:spPr>
        <p:txBody>
          <a:bodyPr/>
          <a:lstStyle/>
          <a:p>
            <a:pPr>
              <a:lnSpc>
                <a:spcPct val="90000"/>
              </a:lnSpc>
              <a:tabLst>
                <a:tab pos="741363" algn="l"/>
                <a:tab pos="1022350" algn="l"/>
                <a:tab pos="1258888" algn="l"/>
              </a:tabLst>
            </a:pPr>
            <a:r>
              <a:rPr lang="en-US" altLang="en-US" dirty="0"/>
              <a:t>Shared integer  </a:t>
            </a:r>
            <a:r>
              <a:rPr lang="en-US" altLang="ja-JP" b="1" dirty="0">
                <a:latin typeface="Courier New" panose="02070309020205020404" pitchFamily="49" charset="0"/>
                <a:cs typeface="Courier New" panose="02070309020205020404" pitchFamily="49" charset="0"/>
              </a:rPr>
              <a:t>lock</a:t>
            </a:r>
            <a:r>
              <a:rPr lang="en-US" altLang="ja-JP" dirty="0"/>
              <a:t>  initialized to 0; </a:t>
            </a:r>
          </a:p>
          <a:p>
            <a:pPr>
              <a:lnSpc>
                <a:spcPct val="90000"/>
              </a:lnSpc>
              <a:tabLst>
                <a:tab pos="741363" algn="l"/>
                <a:tab pos="1022350" algn="l"/>
                <a:tab pos="1258888" algn="l"/>
              </a:tabLst>
            </a:pPr>
            <a:r>
              <a:rPr lang="en-US" altLang="en-US" dirty="0"/>
              <a:t>Solution: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600" b="1" dirty="0">
                <a:latin typeface="Courier New" panose="02070309020205020404" pitchFamily="49" charset="0"/>
              </a:rPr>
              <a:t>while (true){</a:t>
            </a:r>
            <a:br>
              <a:rPr lang="en-US" altLang="en-US" sz="1600" b="1" dirty="0">
                <a:latin typeface="Courier New" panose="02070309020205020404" pitchFamily="49" charset="0"/>
              </a:rPr>
            </a:br>
            <a:r>
              <a:rPr lang="en-US" altLang="en-US" sz="1600" b="1" dirty="0">
                <a:latin typeface="Courier New" panose="02070309020205020404" pitchFamily="49" charset="0"/>
              </a:rPr>
              <a:t>    		while (</a:t>
            </a:r>
            <a:r>
              <a:rPr lang="en-US" altLang="en-US" sz="1600" b="1" dirty="0" err="1">
                <a:latin typeface="Courier New" panose="02070309020205020404" pitchFamily="49" charset="0"/>
              </a:rPr>
              <a:t>compare_and_swap</a:t>
            </a:r>
            <a:r>
              <a:rPr lang="en-US" altLang="en-US" sz="1600" b="1" dirty="0">
                <a:latin typeface="Courier New" panose="02070309020205020404" pitchFamily="49" charset="0"/>
              </a:rPr>
              <a:t>(&amp;lock, 0, 1) != 0)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 do nothing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critical section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lock = 0;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a:t>
            </a:r>
          </a:p>
          <a:p>
            <a:pPr>
              <a:buFont typeface="Monotype Sorts" pitchFamily="-84" charset="2"/>
              <a:buNone/>
              <a:tabLst>
                <a:tab pos="741363" algn="l"/>
                <a:tab pos="1022350" algn="l"/>
                <a:tab pos="1258888" algn="l"/>
              </a:tabLst>
            </a:pPr>
            <a:endParaRPr lang="en-US" altLang="en-US" sz="1600" b="1" dirty="0">
              <a:latin typeface="Courier New" panose="02070309020205020404" pitchFamily="49" charset="0"/>
            </a:endParaRPr>
          </a:p>
          <a:p>
            <a:pPr>
              <a:tabLst>
                <a:tab pos="741363" algn="l"/>
                <a:tab pos="1022350" algn="l"/>
                <a:tab pos="1258888" algn="l"/>
              </a:tabLst>
            </a:pPr>
            <a:r>
              <a:rPr lang="en-US" altLang="en-US" dirty="0"/>
              <a:t>Does it solve the critical-section problem?</a:t>
            </a:r>
          </a:p>
          <a:p>
            <a:pPr marL="0" indent="0">
              <a:buNone/>
              <a:tabLst>
                <a:tab pos="741363" algn="l"/>
                <a:tab pos="1022350" algn="l"/>
                <a:tab pos="1258888"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363" algn="l"/>
                <a:tab pos="1022350" algn="l"/>
                <a:tab pos="1258888" algn="l"/>
              </a:tabLst>
            </a:pPr>
            <a:r>
              <a:rPr lang="en-US" altLang="en-US" sz="1600" dirty="0"/>
              <a:t>               </a:t>
            </a:r>
          </a:p>
        </p:txBody>
      </p:sp>
      <p:sp>
        <p:nvSpPr>
          <p:cNvPr id="3" name="TextBox 2">
            <a:extLst>
              <a:ext uri="{FF2B5EF4-FFF2-40B4-BE49-F238E27FC236}">
                <a16:creationId xmlns:a16="http://schemas.microsoft.com/office/drawing/2014/main" id="{A066F53E-46F9-83ED-01E5-4CE59048C077}"/>
              </a:ext>
            </a:extLst>
          </p:cNvPr>
          <p:cNvSpPr txBox="1"/>
          <p:nvPr/>
        </p:nvSpPr>
        <p:spPr>
          <a:xfrm>
            <a:off x="4572000" y="2852688"/>
            <a:ext cx="4603750" cy="2308324"/>
          </a:xfrm>
          <a:prstGeom prst="rect">
            <a:avLst/>
          </a:prstGeom>
          <a:noFill/>
        </p:spPr>
        <p:txBody>
          <a:bodyPr wrap="square">
            <a:spAutoFit/>
          </a:bodyPr>
          <a:lstStyle/>
          <a:p>
            <a:pPr>
              <a:buFont typeface="Monotype Sorts" pitchFamily="-84" charset="2"/>
              <a:buNone/>
              <a:tabLst>
                <a:tab pos="741363" algn="l"/>
                <a:tab pos="1022350" algn="l"/>
                <a:tab pos="1258888" algn="l"/>
              </a:tabLst>
            </a:pPr>
            <a:r>
              <a:rPr lang="en-US" altLang="en-US" sz="1800" b="1" dirty="0">
                <a:latin typeface="Courier New" panose="02070309020205020404" pitchFamily="49" charset="0"/>
              </a:rPr>
              <a:t>int </a:t>
            </a:r>
            <a:r>
              <a:rPr lang="en-US" altLang="en-US" sz="1800" b="1" dirty="0" err="1">
                <a:latin typeface="Courier New" panose="02070309020205020404" pitchFamily="49" charset="0"/>
              </a:rPr>
              <a:t>compare_and_swap</a:t>
            </a:r>
            <a:r>
              <a:rPr lang="en-US" altLang="en-US" sz="1800" b="1" dirty="0">
                <a:latin typeface="Courier New" panose="02070309020205020404" pitchFamily="49" charset="0"/>
              </a:rPr>
              <a:t>(int *value, int expected, int </a:t>
            </a:r>
            <a:r>
              <a:rPr lang="en-US" altLang="en-US" sz="1800" b="1" dirty="0" err="1">
                <a:latin typeface="Courier New" panose="02070309020205020404" pitchFamily="49" charset="0"/>
              </a:rPr>
              <a:t>new_value</a:t>
            </a:r>
            <a:r>
              <a:rPr lang="en-US" altLang="en-US" sz="1800" b="1" dirty="0">
                <a:latin typeface="Courier New" panose="02070309020205020404" pitchFamily="49" charset="0"/>
              </a:rPr>
              <a:t>)</a:t>
            </a:r>
          </a:p>
          <a:p>
            <a:pPr>
              <a:buFont typeface="Monotype Sorts" pitchFamily="-84" charset="2"/>
              <a:buNone/>
              <a:tabLst>
                <a:tab pos="741363" algn="l"/>
                <a:tab pos="1022350" algn="l"/>
                <a:tab pos="1258888" algn="l"/>
              </a:tabLst>
            </a:pPr>
            <a:r>
              <a:rPr lang="en-US" altLang="en-US" sz="1800" b="1" dirty="0">
                <a:latin typeface="Courier New" panose="02070309020205020404" pitchFamily="49" charset="0"/>
              </a:rPr>
              <a:t>      {                  </a:t>
            </a:r>
          </a:p>
          <a:p>
            <a:pPr>
              <a:buFont typeface="Monotype Sorts" pitchFamily="-84" charset="2"/>
              <a:buNone/>
              <a:tabLst>
                <a:tab pos="741363" algn="l"/>
                <a:tab pos="1022350" algn="l"/>
                <a:tab pos="1258888" algn="l"/>
              </a:tabLst>
            </a:pPr>
            <a:r>
              <a:rPr lang="en-US" altLang="en-US" sz="1800" b="1" dirty="0">
                <a:latin typeface="Courier New" panose="02070309020205020404" pitchFamily="49" charset="0"/>
              </a:rPr>
              <a:t>   </a:t>
            </a:r>
            <a:r>
              <a:rPr lang="en-US" altLang="en-US" b="1" dirty="0">
                <a:latin typeface="Courier New" panose="02070309020205020404" pitchFamily="49" charset="0"/>
              </a:rPr>
              <a:t>    </a:t>
            </a:r>
            <a:r>
              <a:rPr lang="en-US" altLang="en-US" sz="1800" b="1" dirty="0">
                <a:latin typeface="Courier New" panose="02070309020205020404" pitchFamily="49" charset="0"/>
              </a:rPr>
              <a:t>int temp = *value; </a:t>
            </a:r>
          </a:p>
          <a:p>
            <a:pPr>
              <a:buFont typeface="Monotype Sorts" pitchFamily="-84" charset="2"/>
              <a:buNone/>
              <a:tabLst>
                <a:tab pos="741363" algn="l"/>
                <a:tab pos="1022350" algn="l"/>
                <a:tab pos="1258888" algn="l"/>
              </a:tabLst>
            </a:pPr>
            <a:r>
              <a:rPr lang="en-US" altLang="en-US" sz="1800" b="1" dirty="0">
                <a:latin typeface="Courier New" panose="02070309020205020404" pitchFamily="49" charset="0"/>
              </a:rPr>
              <a:t>        if (*value == expected) </a:t>
            </a:r>
          </a:p>
          <a:p>
            <a:pPr>
              <a:buFont typeface="Monotype Sorts" pitchFamily="-84" charset="2"/>
              <a:buNone/>
              <a:tabLst>
                <a:tab pos="741363" algn="l"/>
                <a:tab pos="1022350" algn="l"/>
                <a:tab pos="1258888" algn="l"/>
              </a:tabLst>
            </a:pPr>
            <a:r>
              <a:rPr lang="en-US" altLang="en-US" sz="1800" b="1" dirty="0">
                <a:latin typeface="Courier New" panose="02070309020205020404" pitchFamily="49" charset="0"/>
              </a:rPr>
              <a:t>            *value = </a:t>
            </a:r>
            <a:r>
              <a:rPr lang="en-US" altLang="en-US" sz="1800" b="1" dirty="0" err="1">
                <a:latin typeface="Courier New" panose="02070309020205020404" pitchFamily="49" charset="0"/>
              </a:rPr>
              <a:t>new_value</a:t>
            </a:r>
            <a:r>
              <a:rPr lang="en-US" altLang="en-US" sz="1800" b="1" dirty="0">
                <a:latin typeface="Courier New" panose="02070309020205020404" pitchFamily="49" charset="0"/>
              </a:rPr>
              <a:t>; </a:t>
            </a:r>
          </a:p>
          <a:p>
            <a:pPr>
              <a:buFont typeface="Monotype Sorts" pitchFamily="-84" charset="2"/>
              <a:buNone/>
              <a:tabLst>
                <a:tab pos="741363" algn="l"/>
                <a:tab pos="1022350" algn="l"/>
                <a:tab pos="1258888" algn="l"/>
              </a:tabLst>
            </a:pPr>
            <a:r>
              <a:rPr lang="en-US" altLang="en-US" sz="1800" b="1" dirty="0">
                <a:latin typeface="Courier New" panose="02070309020205020404" pitchFamily="49" charset="0"/>
              </a:rPr>
              <a:t>         return temp; </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 </a:t>
            </a:r>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a:xfrm>
            <a:off x="1217728" y="132320"/>
            <a:ext cx="7931150" cy="576262"/>
          </a:xfrm>
        </p:spPr>
        <p:txBody>
          <a:bodyPr/>
          <a:lstStyle/>
          <a:p>
            <a:r>
              <a:rPr lang="en-US" altLang="en-US" sz="2800" dirty="0"/>
              <a:t>Bounded-waiting with compare-and-swap</a:t>
            </a:r>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a:xfrm>
            <a:off x="1068388" y="1233488"/>
            <a:ext cx="6015037" cy="4530725"/>
          </a:xfrm>
        </p:spPr>
        <p:txBody>
          <a:bodyPr/>
          <a:lstStyle/>
          <a:p>
            <a:pPr marL="0" indent="0">
              <a:buFont typeface="Monotype Sorts" pitchFamily="-84" charset="2"/>
              <a:buNone/>
            </a:pPr>
            <a:r>
              <a:rPr lang="en-US" altLang="en-US" sz="1400" b="1" dirty="0">
                <a:latin typeface="Courier New" panose="02070309020205020404" pitchFamily="49" charset="0"/>
              </a:rPr>
              <a:t>while (true) {</a:t>
            </a:r>
            <a:br>
              <a:rPr lang="en-US" altLang="en-US" sz="1400" b="1" dirty="0">
                <a:latin typeface="Courier New" panose="02070309020205020404" pitchFamily="49" charset="0"/>
              </a:rPr>
            </a:b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true;</a:t>
            </a:r>
            <a:br>
              <a:rPr lang="en-US" altLang="en-US" sz="1400" b="1" dirty="0">
                <a:latin typeface="Courier New" panose="02070309020205020404" pitchFamily="49" charset="0"/>
              </a:rPr>
            </a:br>
            <a:r>
              <a:rPr lang="en-US" altLang="en-US" sz="1400" b="1" dirty="0">
                <a:latin typeface="Courier New" panose="02070309020205020404" pitchFamily="49" charset="0"/>
              </a:rPr>
              <a:t>   key = 1;</a:t>
            </a:r>
            <a:br>
              <a:rPr lang="en-US" altLang="en-US" sz="1400" b="1" dirty="0">
                <a:latin typeface="Courier New" panose="02070309020205020404" pitchFamily="49" charset="0"/>
              </a:rPr>
            </a:br>
            <a:r>
              <a:rPr lang="en-US" altLang="en-US" sz="1400" b="1" dirty="0">
                <a:latin typeface="Courier New" panose="02070309020205020404" pitchFamily="49" charset="0"/>
              </a:rPr>
              <a:t>   while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key == 1) </a:t>
            </a:r>
          </a:p>
          <a:p>
            <a:pPr marL="0" indent="0">
              <a:buFont typeface="Monotype Sorts" pitchFamily="-84" charset="2"/>
              <a:buNone/>
            </a:pPr>
            <a:r>
              <a:rPr lang="en-US" altLang="en-US" sz="1400" b="1" dirty="0">
                <a:latin typeface="Courier New" panose="02070309020205020404" pitchFamily="49" charset="0"/>
              </a:rPr>
              <a:t>      key =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(&amp;lock,0,1);/* </a:t>
            </a:r>
            <a:r>
              <a:rPr lang="en-US" sz="1400" dirty="0"/>
              <a:t>key -to know when lock is acquired</a:t>
            </a:r>
            <a:r>
              <a:rPr lang="en-US" altLang="en-US" sz="1400"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false; </a:t>
            </a:r>
          </a:p>
          <a:p>
            <a:pPr marL="0" indent="0">
              <a:buFont typeface="Monotype Sorts" pitchFamily="-84" charset="2"/>
              <a:buNone/>
            </a:pPr>
            <a:r>
              <a:rPr lang="en-US" altLang="en-US" sz="1400" b="1" dirty="0">
                <a:latin typeface="Courier New" panose="02070309020205020404" pitchFamily="49" charset="0"/>
              </a:rPr>
              <a:t>   /* critical section */ </a:t>
            </a:r>
          </a:p>
          <a:p>
            <a:pPr marL="0" indent="0">
              <a:buFont typeface="Monotype Sorts" pitchFamily="-84" charset="2"/>
              <a:buNone/>
            </a:pPr>
            <a:r>
              <a:rPr lang="en-US" altLang="en-US" sz="1400" b="1" dirty="0">
                <a:latin typeface="Courier New" panose="02070309020205020404" pitchFamily="49" charset="0"/>
              </a:rPr>
              <a:t>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+ 1) % n; /* start from the next process </a:t>
            </a:r>
          </a:p>
          <a:p>
            <a:pPr marL="0" indent="0">
              <a:buFont typeface="Monotype Sorts" pitchFamily="-84" charset="2"/>
              <a:buNone/>
            </a:pPr>
            <a:r>
              <a:rPr lang="en-US" altLang="en-US" sz="1400" b="1" dirty="0">
                <a:latin typeface="Courier New" panose="02070309020205020404" pitchFamily="49" charset="0"/>
              </a:rPr>
              <a:t>   while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!waiting[j]) /*</a:t>
            </a:r>
            <a:r>
              <a:rPr lang="en-US" sz="1400" dirty="0"/>
              <a:t> Keep moving to next process until:  find a process that is waiting and come back to the same process </a:t>
            </a:r>
            <a:r>
              <a:rPr lang="en-US" sz="1400" dirty="0" err="1"/>
              <a:t>i</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j = (j + 1) % n; </a:t>
            </a:r>
          </a:p>
          <a:p>
            <a:pPr marL="0" indent="0">
              <a:buFont typeface="Monotype Sorts" pitchFamily="-84" charset="2"/>
              <a:buNone/>
            </a:pPr>
            <a:r>
              <a:rPr lang="en-US" altLang="en-US" sz="1400" b="1" dirty="0">
                <a:latin typeface="Courier New" panose="02070309020205020404" pitchFamily="49" charset="0"/>
              </a:rPr>
              <a:t>   if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no other process is waiting- any one access the lock</a:t>
            </a:r>
          </a:p>
          <a:p>
            <a:pPr marL="0" indent="0">
              <a:buFont typeface="Monotype Sorts" pitchFamily="-84" charset="2"/>
              <a:buNone/>
            </a:pPr>
            <a:r>
              <a:rPr lang="en-US" altLang="en-US" sz="1400" b="1" dirty="0">
                <a:latin typeface="Courier New" panose="02070309020205020404" pitchFamily="49" charset="0"/>
              </a:rPr>
              <a:t>      lock = 0; </a:t>
            </a:r>
          </a:p>
          <a:p>
            <a:pPr marL="0" indent="0">
              <a:buFont typeface="Monotype Sorts" pitchFamily="-84" charset="2"/>
              <a:buNone/>
            </a:pPr>
            <a:r>
              <a:rPr lang="en-US" altLang="en-US" sz="1400" b="1" dirty="0">
                <a:latin typeface="Courier New" panose="02070309020205020404" pitchFamily="49" charset="0"/>
              </a:rPr>
              <a:t>   else </a:t>
            </a:r>
          </a:p>
          <a:p>
            <a:pPr marL="0" indent="0">
              <a:buFont typeface="Monotype Sorts" pitchFamily="-84" charset="2"/>
              <a:buNone/>
            </a:pPr>
            <a:r>
              <a:rPr lang="en-US" altLang="en-US" sz="1400" b="1" dirty="0">
                <a:latin typeface="Courier New" panose="02070309020205020404" pitchFamily="49" charset="0"/>
              </a:rPr>
              <a:t>      waiting[j] = false; </a:t>
            </a:r>
          </a:p>
          <a:p>
            <a:pPr marL="0" indent="0">
              <a:buFont typeface="Monotype Sorts" pitchFamily="-84" charset="2"/>
              <a:buNone/>
            </a:pPr>
            <a:r>
              <a:rPr lang="en-US" altLang="en-US" sz="1400" b="1" dirty="0">
                <a:latin typeface="Courier New" panose="02070309020205020404" pitchFamily="49" charset="0"/>
              </a:rPr>
              <a:t>   /* remainder section */ </a:t>
            </a:r>
          </a:p>
          <a:p>
            <a:pPr marL="0" indent="0">
              <a:buFont typeface="Monotype Sorts" pitchFamily="-84" charset="2"/>
              <a:buNone/>
            </a:pPr>
            <a:r>
              <a:rPr lang="en-US" altLang="en-US" sz="1400" b="1" dirty="0">
                <a:latin typeface="Courier New" panose="02070309020205020404" pitchFamily="49"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a:xfrm>
            <a:off x="457200" y="144696"/>
            <a:ext cx="8229600" cy="576263"/>
          </a:xfrm>
        </p:spPr>
        <p:txBody>
          <a:bodyPr/>
          <a:lstStyle/>
          <a:p>
            <a:pPr eaLnBrk="1" hangingPunct="1"/>
            <a:r>
              <a:rPr lang="en-US" altLang="en-US" dirty="0"/>
              <a:t>Mutex Locks</a:t>
            </a:r>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a:xfrm>
            <a:off x="827088" y="1074016"/>
            <a:ext cx="7579158" cy="4931930"/>
          </a:xfrm>
        </p:spPr>
        <p:txBody>
          <a:bodyPr/>
          <a:lstStyle/>
          <a:p>
            <a:pPr>
              <a:lnSpc>
                <a:spcPct val="90000"/>
              </a:lnSpc>
            </a:pPr>
            <a:r>
              <a:rPr lang="en-US" altLang="en-US" dirty="0"/>
              <a:t>Previous solutions are complicated and generally inaccessible to application programmers</a:t>
            </a:r>
          </a:p>
          <a:p>
            <a:pPr>
              <a:lnSpc>
                <a:spcPct val="90000"/>
              </a:lnSpc>
            </a:pPr>
            <a:r>
              <a:rPr lang="en-US" altLang="en-US" dirty="0"/>
              <a:t>OS designers build software tools to solve critical section problem</a:t>
            </a:r>
          </a:p>
          <a:p>
            <a:pPr>
              <a:lnSpc>
                <a:spcPct val="90000"/>
              </a:lnSpc>
            </a:pPr>
            <a:r>
              <a:rPr lang="en-US" altLang="en-US" dirty="0"/>
              <a:t>Simplest is </a:t>
            </a:r>
            <a:r>
              <a:rPr lang="en-US" altLang="en-US" sz="2000" dirty="0"/>
              <a:t>mutex</a:t>
            </a:r>
            <a:r>
              <a:rPr lang="en-US" altLang="en-US" dirty="0"/>
              <a:t> lock</a:t>
            </a:r>
          </a:p>
          <a:p>
            <a:pPr lvl="1">
              <a:lnSpc>
                <a:spcPct val="90000"/>
              </a:lnSpc>
            </a:pPr>
            <a:r>
              <a:rPr lang="en-US" altLang="en-US" dirty="0"/>
              <a:t>Boolean variable indicating if lock is available or not</a:t>
            </a:r>
          </a:p>
          <a:p>
            <a:pPr>
              <a:lnSpc>
                <a:spcPct val="90000"/>
              </a:lnSpc>
            </a:pPr>
            <a:r>
              <a:rPr lang="en-US" altLang="en-US" dirty="0"/>
              <a:t>Protect a critical section  by </a:t>
            </a:r>
          </a:p>
          <a:p>
            <a:pPr lvl="1">
              <a:lnSpc>
                <a:spcPct val="90000"/>
              </a:lnSpc>
            </a:pPr>
            <a:r>
              <a:rPr lang="en-US" altLang="en-US"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t>
            </a:r>
            <a:r>
              <a:rPr lang="en-US" altLang="en-US" dirty="0"/>
              <a:t>a lock </a:t>
            </a:r>
          </a:p>
          <a:p>
            <a:pPr lvl="1">
              <a:lnSpc>
                <a:spcPct val="90000"/>
              </a:lnSpc>
            </a:pPr>
            <a:r>
              <a:rPr lang="en-US" altLang="en-US" dirty="0"/>
              <a:t>Then </a:t>
            </a:r>
            <a:r>
              <a:rPr lang="en-US" altLang="en-US" sz="2000" b="1" dirty="0">
                <a:latin typeface="Courier New" panose="02070309020205020404" pitchFamily="49" charset="0"/>
              </a:rPr>
              <a:t>release()</a:t>
            </a:r>
            <a:r>
              <a:rPr lang="en-US" altLang="en-US" sz="2000" dirty="0"/>
              <a:t> </a:t>
            </a:r>
            <a:r>
              <a:rPr lang="en-US" altLang="en-US" dirty="0"/>
              <a:t>the lock</a:t>
            </a:r>
          </a:p>
          <a:p>
            <a:pPr>
              <a:lnSpc>
                <a:spcPct val="90000"/>
              </a:lnSpc>
            </a:pPr>
            <a:r>
              <a:rPr lang="en-US" altLang="en-US" dirty="0"/>
              <a:t>Calls to </a:t>
            </a:r>
            <a:r>
              <a:rPr lang="en-US" altLang="en-US" sz="2000" b="1" dirty="0">
                <a:latin typeface="Courier New" panose="02070309020205020404" pitchFamily="49" charset="0"/>
              </a:rPr>
              <a:t>acquire()</a:t>
            </a:r>
            <a:r>
              <a:rPr lang="en-US" altLang="en-US" sz="2000" dirty="0"/>
              <a:t> </a:t>
            </a:r>
            <a:r>
              <a:rPr lang="en-US" altLang="en-US" dirty="0"/>
              <a:t>and </a:t>
            </a:r>
            <a:r>
              <a:rPr lang="en-US" altLang="en-US" sz="2000" b="1" dirty="0">
                <a:latin typeface="Courier New" panose="02070309020205020404" pitchFamily="49" charset="0"/>
              </a:rPr>
              <a:t>release()</a:t>
            </a:r>
            <a:r>
              <a:rPr lang="en-US" altLang="en-US" sz="2000" dirty="0"/>
              <a:t> </a:t>
            </a:r>
            <a:r>
              <a:rPr lang="en-US" altLang="en-US" dirty="0"/>
              <a:t>must be </a:t>
            </a:r>
            <a:r>
              <a:rPr lang="en-US" altLang="en-US" b="1" dirty="0">
                <a:solidFill>
                  <a:srgbClr val="006699"/>
                </a:solidFill>
                <a:latin typeface="+mj-lt"/>
              </a:rPr>
              <a:t>atomic</a:t>
            </a:r>
          </a:p>
          <a:p>
            <a:pPr lvl="1">
              <a:lnSpc>
                <a:spcPct val="90000"/>
              </a:lnSpc>
            </a:pPr>
            <a:r>
              <a:rPr lang="en-US" altLang="en-US" dirty="0"/>
              <a:t>Usually implemented via hardware atomic instructions such as compare-and-swap.</a:t>
            </a:r>
          </a:p>
          <a:p>
            <a:pPr>
              <a:lnSpc>
                <a:spcPct val="90000"/>
              </a:lnSpc>
            </a:pPr>
            <a:r>
              <a:rPr lang="en-US" altLang="en-US" dirty="0"/>
              <a:t>But this solution requires </a:t>
            </a:r>
            <a:r>
              <a:rPr lang="en-US" altLang="en-US" b="1" dirty="0">
                <a:solidFill>
                  <a:srgbClr val="006699"/>
                </a:solidFill>
                <a:latin typeface="+mj-lt"/>
              </a:rPr>
              <a:t>busy waiting</a:t>
            </a:r>
          </a:p>
          <a:p>
            <a:pPr lvl="1">
              <a:lnSpc>
                <a:spcPct val="90000"/>
              </a:lnSpc>
            </a:pPr>
            <a:r>
              <a:rPr lang="en-US" altLang="en-US" dirty="0"/>
              <a:t>This lock therefore called a </a:t>
            </a:r>
            <a:r>
              <a:rPr lang="en-US" altLang="en-US" b="1" dirty="0">
                <a:solidFill>
                  <a:srgbClr val="006699"/>
                </a:solidFill>
                <a:latin typeface="+mj-lt"/>
              </a:rPr>
              <a:t>spinlock</a:t>
            </a:r>
          </a:p>
          <a:p>
            <a:pPr>
              <a:lnSpc>
                <a:spcPct val="90000"/>
              </a:lnSpc>
              <a:buFont typeface="Monotype Sorts" pitchFamily="-84" charset="2"/>
              <a:buNone/>
            </a:pPr>
            <a:endParaRPr lang="en-US" altLang="en-US" sz="1600" dirty="0"/>
          </a:p>
        </p:txBody>
      </p:sp>
    </p:spTree>
    <p:extLst>
      <p:ext uri="{BB962C8B-B14F-4D97-AF65-F5344CB8AC3E}">
        <p14:creationId xmlns:p14="http://schemas.microsoft.com/office/powerpoint/2010/main" val="3899450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4A0C2-4038-40CE-B8F5-4EE988D17AB5}"/>
              </a:ext>
            </a:extLst>
          </p:cNvPr>
          <p:cNvSpPr/>
          <p:nvPr/>
        </p:nvSpPr>
        <p:spPr bwMode="auto">
          <a:xfrm>
            <a:off x="3178175"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3178175" y="3686175"/>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a:xfrm>
            <a:off x="1017462" y="161266"/>
            <a:ext cx="8190038" cy="576262"/>
          </a:xfrm>
        </p:spPr>
        <p:txBody>
          <a:bodyPr/>
          <a:lstStyle/>
          <a:p>
            <a:r>
              <a:rPr lang="en-US" altLang="en-US" sz="2800" dirty="0"/>
              <a:t>Solution to CS Problem Using Mutex Locks</a:t>
            </a:r>
          </a:p>
        </p:txBody>
      </p:sp>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2286000" y="2274888"/>
            <a:ext cx="4572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p>
          <a:p>
            <a:pPr>
              <a:buFont typeface="Monotype Sorts" pitchFamily="-84" charset="2"/>
              <a:buNone/>
            </a:pPr>
            <a:r>
              <a:rPr lang="en-US" altLang="en-US" b="1" dirty="0">
                <a:solidFill>
                  <a:srgbClr val="000000"/>
                </a:solidFill>
                <a:latin typeface="Courier New" panose="02070309020205020404" pitchFamily="49" charset="0"/>
              </a:rPr>
              <a:t>	acquire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critical section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release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remainder section </a:t>
            </a:r>
          </a:p>
          <a:p>
            <a:pPr>
              <a:buFont typeface="Monotype Sorts" pitchFamily="-84" charset="2"/>
              <a:buNone/>
            </a:pPr>
            <a:r>
              <a:rPr lang="en-US" altLang="en-US" b="1" dirty="0">
                <a:solidFill>
                  <a:srgbClr val="000000"/>
                </a:solidFill>
                <a:latin typeface="Courier New" panose="02070309020205020404" pitchFamily="49" charset="0"/>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827089" y="1163639"/>
            <a:ext cx="6272212" cy="4970462"/>
          </a:xfrm>
        </p:spPr>
        <p:txBody>
          <a:bodyPr/>
          <a:lstStyle/>
          <a:p>
            <a:pPr>
              <a:lnSpc>
                <a:spcPct val="90000"/>
              </a:lnSpc>
            </a:pPr>
            <a:r>
              <a:rPr lang="en-US" altLang="en-US" sz="1600" dirty="0"/>
              <a:t>Synchronization tool that provides more sophisticated ways (than Mutex locks)  for processes to synchronize their activities.</a:t>
            </a:r>
            <a:endParaRPr lang="en-US" altLang="en-US" sz="1600" i="1" dirty="0">
              <a:solidFill>
                <a:schemeClr val="tx2"/>
              </a:solidFill>
            </a:endParaRPr>
          </a:p>
          <a:p>
            <a:pPr>
              <a:lnSpc>
                <a:spcPct val="90000"/>
              </a:lnSpc>
            </a:pPr>
            <a:r>
              <a:rPr lang="en-US" altLang="en-US" sz="1600" dirty="0"/>
              <a:t>Semaphore </a:t>
            </a:r>
            <a:r>
              <a:rPr lang="en-US" altLang="en-US" sz="1600" b="1" i="1" dirty="0"/>
              <a:t>S</a:t>
            </a:r>
            <a:r>
              <a:rPr lang="en-US" altLang="en-US" sz="1600" dirty="0"/>
              <a:t> – integer variable</a:t>
            </a:r>
          </a:p>
          <a:p>
            <a:pPr>
              <a:lnSpc>
                <a:spcPct val="90000"/>
              </a:lnSpc>
            </a:pPr>
            <a:r>
              <a:rPr lang="en-US" altLang="en-US" sz="1600" dirty="0"/>
              <a:t>Non-negative integer variable shared between the threads</a:t>
            </a:r>
          </a:p>
          <a:p>
            <a:pPr>
              <a:lnSpc>
                <a:spcPct val="90000"/>
              </a:lnSpc>
            </a:pPr>
            <a:r>
              <a:rPr lang="en-US" altLang="en-US" sz="1600" dirty="0"/>
              <a:t>Can only be accessed via two indivisible (atomic) operations</a:t>
            </a:r>
          </a:p>
          <a:p>
            <a:pPr lvl="1">
              <a:lnSpc>
                <a:spcPct val="90000"/>
              </a:lnSpc>
            </a:pPr>
            <a:r>
              <a:rPr lang="en-US" altLang="en-US" b="1" dirty="0">
                <a:solidFill>
                  <a:srgbClr val="000000"/>
                </a:solidFill>
                <a:latin typeface="Courier New" panose="02070309020205020404"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anose="02070309020205020404" pitchFamily="49" charset="0"/>
              </a:rPr>
              <a:t>signal()</a:t>
            </a:r>
          </a:p>
          <a:p>
            <a:pPr lvl="2">
              <a:lnSpc>
                <a:spcPct val="90000"/>
              </a:lnSpc>
            </a:pPr>
            <a:r>
              <a:rPr lang="en-US" altLang="en-US" sz="1600" dirty="0"/>
              <a:t>Originally called </a:t>
            </a:r>
            <a:r>
              <a:rPr lang="en-US" altLang="en-US" b="1" dirty="0">
                <a:solidFill>
                  <a:srgbClr val="000000"/>
                </a:solidFill>
                <a:latin typeface="Courier New" panose="02070309020205020404" pitchFamily="49" charset="0"/>
              </a:rPr>
              <a:t>P()</a:t>
            </a:r>
            <a:r>
              <a:rPr lang="en-US" altLang="en-US" dirty="0"/>
              <a:t> </a:t>
            </a:r>
            <a:r>
              <a:rPr lang="en-US" altLang="en-US" sz="1600" dirty="0"/>
              <a:t>and </a:t>
            </a:r>
            <a:r>
              <a:rPr lang="en-US" altLang="en-US" b="1" dirty="0">
                <a:solidFill>
                  <a:srgbClr val="000000"/>
                </a:solidFill>
                <a:latin typeface="Courier New" panose="02070309020205020404" pitchFamily="49" charset="0"/>
              </a:rPr>
              <a:t>V()</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wait() operation</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signal() operation</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(Cont.)</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9"/>
            <a:ext cx="6165851" cy="4252911"/>
          </a:xfrm>
        </p:spPr>
        <p:txBody>
          <a:bodyPr/>
          <a:lstStyle/>
          <a:p>
            <a:pPr>
              <a:tabLst>
                <a:tab pos="2001838" algn="ctr"/>
                <a:tab pos="4513263" algn="ctr"/>
              </a:tabLst>
            </a:pPr>
            <a:r>
              <a:rPr lang="en-US" altLang="en-US" b="1" dirty="0">
                <a:solidFill>
                  <a:srgbClr val="006699"/>
                </a:solidFill>
                <a:latin typeface="+mj-lt"/>
              </a:rPr>
              <a:t>Counting semaphore</a:t>
            </a:r>
            <a:r>
              <a:rPr lang="en-US" altLang="en-US" b="1" dirty="0">
                <a:solidFill>
                  <a:srgbClr val="3366FF"/>
                </a:solidFill>
              </a:rPr>
              <a:t> </a:t>
            </a:r>
            <a:r>
              <a:rPr lang="en-US" altLang="en-US" dirty="0"/>
              <a:t>– integer value can range over an unrestricted domain-multiple instances of the resources.</a:t>
            </a:r>
          </a:p>
          <a:p>
            <a:pPr>
              <a:tabLst>
                <a:tab pos="2001838" algn="ctr"/>
                <a:tab pos="4513263" algn="ctr"/>
              </a:tabLst>
            </a:pPr>
            <a:r>
              <a:rPr lang="en-US" altLang="en-US" b="1" dirty="0">
                <a:solidFill>
                  <a:srgbClr val="006699"/>
                </a:solidFill>
                <a:latin typeface="+mj-lt"/>
              </a:rPr>
              <a:t>Binary semaphore </a:t>
            </a:r>
            <a:r>
              <a:rPr lang="en-US" altLang="en-US" dirty="0"/>
              <a:t>– integer value can range only between 0 and 1</a:t>
            </a:r>
          </a:p>
          <a:p>
            <a:pPr lvl="1">
              <a:tabLst>
                <a:tab pos="2001838" algn="ctr"/>
                <a:tab pos="4513263" algn="ctr"/>
              </a:tabLst>
            </a:pPr>
            <a:r>
              <a:rPr lang="en-US" altLang="en-US" dirty="0">
                <a:sym typeface="MT Extra" panose="05050102010205020202" pitchFamily="18" charset="2"/>
              </a:rPr>
              <a:t>Same as a </a:t>
            </a:r>
            <a:r>
              <a:rPr lang="en-US" altLang="en-US" b="1" dirty="0">
                <a:solidFill>
                  <a:srgbClr val="006699"/>
                </a:solidFill>
                <a:latin typeface="+mj-lt"/>
                <a:sym typeface="MT Extra" panose="05050102010205020202" pitchFamily="18" charset="2"/>
              </a:rPr>
              <a:t>mutex lock</a:t>
            </a:r>
          </a:p>
          <a:p>
            <a:pPr>
              <a:tabLst>
                <a:tab pos="2001838" algn="ctr"/>
                <a:tab pos="4513263" algn="ctr"/>
              </a:tabLst>
            </a:pPr>
            <a:r>
              <a:rPr lang="en-US" altLang="en-US" dirty="0"/>
              <a:t>Can implement a counting semaphore </a:t>
            </a:r>
            <a:r>
              <a:rPr lang="en-US" altLang="en-US" b="1" i="1" dirty="0">
                <a:solidFill>
                  <a:srgbClr val="000000"/>
                </a:solidFill>
              </a:rPr>
              <a:t>S</a:t>
            </a:r>
            <a:r>
              <a:rPr lang="en-US" altLang="en-US" dirty="0"/>
              <a:t> as a binary semaphore</a:t>
            </a:r>
            <a:endParaRPr lang="en-US" altLang="en-US" b="1" dirty="0">
              <a:solidFill>
                <a:srgbClr val="3366FF"/>
              </a:solidFill>
            </a:endParaRPr>
          </a:p>
          <a:p>
            <a:pPr>
              <a:tabLst>
                <a:tab pos="2001838" algn="ctr"/>
                <a:tab pos="4513263" algn="ctr"/>
              </a:tabLst>
            </a:pPr>
            <a:r>
              <a:rPr lang="en-US" altLang="en-US" dirty="0">
                <a:sym typeface="MT Extra" panose="05050102010205020202" pitchFamily="18" charset="2"/>
              </a:rPr>
              <a:t>With semaphores we can solve various synchronization problems</a:t>
            </a:r>
          </a:p>
          <a:p>
            <a:pPr marL="0" indent="0">
              <a:buNone/>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Usage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6686551" cy="4468811"/>
          </a:xfrm>
        </p:spPr>
        <p:txBody>
          <a:bodyPr/>
          <a:lstStyle/>
          <a:p>
            <a:pPr>
              <a:tabLst>
                <a:tab pos="2001838" algn="ctr"/>
                <a:tab pos="4513263" algn="ctr"/>
              </a:tabLst>
            </a:pPr>
            <a:r>
              <a:rPr lang="en-US" altLang="en-US" dirty="0">
                <a:sym typeface="MT Extra" panose="05050102010205020202" pitchFamily="18" charset="2"/>
              </a:rPr>
              <a:t>Solution to the CS Problem</a:t>
            </a:r>
          </a:p>
          <a:p>
            <a:pPr lvl="1">
              <a:tabLst>
                <a:tab pos="2001838" algn="ctr"/>
                <a:tab pos="4513263" algn="ctr"/>
              </a:tabLst>
            </a:pPr>
            <a:r>
              <a:rPr lang="en-US" altLang="en-US" dirty="0">
                <a:sym typeface="MT Extra" panose="05050102010205020202" pitchFamily="18" charset="2"/>
              </a:rPr>
              <a:t>Create a semaphore “</a:t>
            </a:r>
            <a:r>
              <a:rPr lang="en-US" altLang="en-US" b="1" dirty="0">
                <a:solidFill>
                  <a:srgbClr val="000000"/>
                </a:solidFill>
                <a:latin typeface="Courier New" panose="02070309020205020404" pitchFamily="49" charset="0"/>
                <a:sym typeface="MT Extra" panose="05050102010205020202" pitchFamily="18" charset="2"/>
              </a:rPr>
              <a:t>mutex</a:t>
            </a:r>
            <a:r>
              <a:rPr lang="en-US" altLang="en-US" dirty="0">
                <a:sym typeface="MT Extra" panose="05050102010205020202" pitchFamily="18" charset="2"/>
              </a:rPr>
              <a:t>”</a:t>
            </a:r>
            <a:r>
              <a:rPr lang="en-US" altLang="ja-JP" dirty="0">
                <a:sym typeface="MT Extra" panose="05050102010205020202" pitchFamily="18" charset="2"/>
              </a:rPr>
              <a:t> initialized to 1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signal(mutex)</a:t>
            </a:r>
            <a:r>
              <a:rPr lang="en-US" altLang="en-US" b="1" dirty="0">
                <a:solidFill>
                  <a:srgbClr val="0000FF"/>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r>
              <a:rPr lang="en-US" altLang="en-US" dirty="0">
                <a:sym typeface="MT Extra" panose="05050102010205020202" pitchFamily="18" charset="2"/>
              </a:rPr>
              <a:t>Consider </a:t>
            </a:r>
            <a:r>
              <a:rPr lang="en-US" altLang="en-US" b="1" i="1" dirty="0">
                <a:sym typeface="MT Extra" panose="05050102010205020202" pitchFamily="18" charset="2"/>
              </a:rPr>
              <a:t>P</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b="1" i="1" dirty="0">
                <a:sym typeface="MT Extra" panose="05050102010205020202" pitchFamily="18" charset="2"/>
              </a:rPr>
              <a:t>P</a:t>
            </a:r>
            <a:r>
              <a:rPr lang="en-US" altLang="en-US" b="1" i="1" baseline="-25000" dirty="0">
                <a:sym typeface="MT Extra" panose="05050102010205020202" pitchFamily="18" charset="2"/>
              </a:rPr>
              <a:t>2</a:t>
            </a:r>
            <a:r>
              <a:rPr lang="en-US" altLang="en-US" dirty="0">
                <a:sym typeface="MT Extra" panose="05050102010205020202" pitchFamily="18" charset="2"/>
              </a:rPr>
              <a:t> that with two statements </a:t>
            </a:r>
            <a:r>
              <a:rPr lang="en-US" altLang="en-US" b="1" i="1" dirty="0">
                <a:sym typeface="MT Extra" panose="05050102010205020202" pitchFamily="18" charset="2"/>
              </a:rPr>
              <a:t>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S</a:t>
            </a:r>
            <a:r>
              <a:rPr lang="en-US" altLang="en-US" b="1" i="1" baseline="-25000" dirty="0">
                <a:sym typeface="MT Extra" panose="05050102010205020202" pitchFamily="18" charset="2"/>
              </a:rPr>
              <a:t>2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b="1" i="1" dirty="0">
                <a:sym typeface="MT Extra" panose="05050102010205020202" pitchFamily="18" charset="2"/>
              </a:rPr>
              <a:t>S</a:t>
            </a:r>
            <a:r>
              <a:rPr lang="en-US" altLang="en-US" b="1"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semaphore “</a:t>
            </a:r>
            <a:r>
              <a:rPr lang="en-US" altLang="ja-JP" b="1" dirty="0">
                <a:solidFill>
                  <a:srgbClr val="000000"/>
                </a:solidFill>
                <a:latin typeface="Courier New" panose="02070309020205020404" pitchFamily="49" charset="0"/>
                <a:sym typeface="MT Extra" panose="05050102010205020202" pitchFamily="18" charset="2"/>
              </a:rPr>
              <a:t>synch</a:t>
            </a:r>
            <a:r>
              <a:rPr lang="en-US" altLang="en-US" dirty="0">
                <a:sym typeface="MT Extra" panose="05050102010205020202" pitchFamily="18" charset="2"/>
              </a:rPr>
              <a:t>”</a:t>
            </a:r>
            <a:r>
              <a:rPr lang="en-US" altLang="ja-JP" dirty="0">
                <a:sym typeface="MT Extra" panose="05050102010205020202" pitchFamily="18" charset="2"/>
              </a:rPr>
              <a:t> initialized to 0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C5E67-6AE9-9CBB-38A9-12B052C4A7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2D4C85-9E37-5F04-EB7D-5069887A3279}"/>
              </a:ext>
            </a:extLst>
          </p:cNvPr>
          <p:cNvSpPr>
            <a:spLocks noGrp="1"/>
          </p:cNvSpPr>
          <p:nvPr>
            <p:ph idx="1"/>
          </p:nvPr>
        </p:nvSpPr>
        <p:spPr/>
        <p:txBody>
          <a:bodyPr/>
          <a:lstStyle/>
          <a:p>
            <a:pPr marL="0" indent="0">
              <a:buNone/>
            </a:pPr>
            <a:r>
              <a:rPr lang="en-US" dirty="0"/>
              <a:t>Shared data: semaphore mutex; //initially mutex = 1  </a:t>
            </a:r>
          </a:p>
          <a:p>
            <a:pPr marL="0" indent="0">
              <a:buNone/>
            </a:pPr>
            <a:endParaRPr lang="en-US" dirty="0"/>
          </a:p>
          <a:p>
            <a:pPr marL="0" indent="0">
              <a:buNone/>
            </a:pPr>
            <a:r>
              <a:rPr lang="en-US" dirty="0"/>
              <a:t>Process Pi: </a:t>
            </a:r>
          </a:p>
          <a:p>
            <a:pPr marL="0" indent="0">
              <a:buNone/>
            </a:pPr>
            <a:r>
              <a:rPr lang="en-US" dirty="0"/>
              <a:t>Do</a:t>
            </a:r>
          </a:p>
          <a:p>
            <a:pPr marL="0" indent="0">
              <a:buNone/>
            </a:pPr>
            <a:r>
              <a:rPr lang="en-US" dirty="0"/>
              <a:t> { wait(mutex); </a:t>
            </a:r>
          </a:p>
          <a:p>
            <a:pPr marL="0" indent="0">
              <a:buNone/>
            </a:pPr>
            <a:r>
              <a:rPr lang="en-US" dirty="0"/>
              <a:t>critical section</a:t>
            </a:r>
          </a:p>
          <a:p>
            <a:pPr marL="0" indent="0">
              <a:buNone/>
            </a:pPr>
            <a:r>
              <a:rPr lang="en-US" dirty="0"/>
              <a:t> signal(mutex);</a:t>
            </a:r>
          </a:p>
          <a:p>
            <a:pPr lvl="1">
              <a:lnSpc>
                <a:spcPct val="90000"/>
              </a:lnSpc>
              <a:buFont typeface="Monotype Sorts" pitchFamily="-84" charset="2"/>
              <a:buNone/>
            </a:pPr>
            <a:r>
              <a:rPr lang="en-US" dirty="0"/>
              <a:t> remainder section    } while (1)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signal(S)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a:t>
            </a:r>
          </a:p>
          <a:p>
            <a:pPr marL="0" indent="0">
              <a:buNone/>
            </a:pPr>
            <a:endParaRPr lang="en-US" dirty="0"/>
          </a:p>
          <a:p>
            <a:pPr marL="0" indent="0">
              <a:buNone/>
            </a:pPr>
            <a:r>
              <a:rPr lang="en-US" dirty="0"/>
              <a:t> </a:t>
            </a:r>
          </a:p>
        </p:txBody>
      </p:sp>
      <p:sp>
        <p:nvSpPr>
          <p:cNvPr id="4" name="TextBox 3">
            <a:extLst>
              <a:ext uri="{FF2B5EF4-FFF2-40B4-BE49-F238E27FC236}">
                <a16:creationId xmlns:a16="http://schemas.microsoft.com/office/drawing/2014/main" id="{2CA3E152-E0EA-A530-2236-50601DC4B7AF}"/>
              </a:ext>
            </a:extLst>
          </p:cNvPr>
          <p:cNvSpPr txBox="1"/>
          <p:nvPr/>
        </p:nvSpPr>
        <p:spPr>
          <a:xfrm>
            <a:off x="4083050" y="1936974"/>
            <a:ext cx="4603750" cy="1345753"/>
          </a:xfrm>
          <a:prstGeom prst="rect">
            <a:avLst/>
          </a:prstGeom>
          <a:noFill/>
        </p:spPr>
        <p:txBody>
          <a:bodyPr wrap="square">
            <a:spAutoFit/>
          </a:bodyPr>
          <a:lstStyle/>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a:t>
            </a:r>
            <a:r>
              <a:rPr lang="en-US" altLang="en-US" sz="18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800"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sz="1800"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sz="18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800" b="1" dirty="0">
                <a:latin typeface="Courier New" panose="02070309020205020404" pitchFamily="49" charset="0"/>
                <a:sym typeface="Symbol" panose="05050102010706020507" pitchFamily="18" charset="2"/>
              </a:rPr>
              <a:t>}</a:t>
            </a:r>
          </a:p>
        </p:txBody>
      </p:sp>
    </p:spTree>
    <p:extLst>
      <p:ext uri="{BB962C8B-B14F-4D97-AF65-F5344CB8AC3E}">
        <p14:creationId xmlns:p14="http://schemas.microsoft.com/office/powerpoint/2010/main" val="3421966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a:xfrm>
            <a:off x="457200" y="227824"/>
            <a:ext cx="8229600" cy="576263"/>
          </a:xfrm>
        </p:spPr>
        <p:txBody>
          <a:bodyPr/>
          <a:lstStyle/>
          <a:p>
            <a:pPr eaLnBrk="1" hangingPunct="1"/>
            <a:r>
              <a:rPr lang="en-US" altLang="en-US" dirty="0"/>
              <a:t>Semaphore Implementation</a:t>
            </a:r>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a:xfrm>
            <a:off x="869949" y="1157289"/>
            <a:ext cx="7338869" cy="4422630"/>
          </a:xfrm>
        </p:spPr>
        <p:txBody>
          <a:bodyPr/>
          <a:lstStyle/>
          <a:p>
            <a:r>
              <a:rPr lang="en-US" altLang="en-US" dirty="0"/>
              <a:t>Must guarantee that no two processes can execute  the </a:t>
            </a:r>
            <a:r>
              <a:rPr lang="en-US" altLang="en-US" sz="2000" b="1" dirty="0">
                <a:latin typeface="Courier New" panose="02070309020205020404" pitchFamily="49" charset="0"/>
              </a:rPr>
              <a:t>wait() </a:t>
            </a:r>
            <a:r>
              <a:rPr lang="en-US" altLang="en-US" dirty="0"/>
              <a:t>and </a:t>
            </a:r>
            <a:r>
              <a:rPr lang="en-US" altLang="en-US" sz="2000" b="1" dirty="0">
                <a:latin typeface="Courier New" panose="02070309020205020404" pitchFamily="49" charset="0"/>
              </a:rPr>
              <a:t>signal() </a:t>
            </a:r>
            <a:r>
              <a:rPr lang="en-US" altLang="en-US" dirty="0"/>
              <a:t>on the same semaphore at the same time</a:t>
            </a:r>
          </a:p>
          <a:p>
            <a:r>
              <a:rPr lang="en-US" altLang="en-US" dirty="0"/>
              <a:t>Thus, the implementation becomes the critical section problem where the </a:t>
            </a:r>
            <a:r>
              <a:rPr lang="en-US" altLang="en-US" sz="2000" b="1" dirty="0">
                <a:latin typeface="Courier New" panose="02070309020205020404" pitchFamily="49" charset="0"/>
              </a:rPr>
              <a:t>wait</a:t>
            </a:r>
            <a:r>
              <a:rPr lang="en-US" altLang="en-US" dirty="0"/>
              <a:t> and </a:t>
            </a:r>
            <a:r>
              <a:rPr lang="en-US" altLang="en-US" sz="2000" b="1" dirty="0">
                <a:latin typeface="Courier New" panose="02070309020205020404" pitchFamily="49" charset="0"/>
              </a:rPr>
              <a:t>signal</a:t>
            </a:r>
            <a:r>
              <a:rPr lang="en-US" altLang="en-US" dirty="0"/>
              <a:t> code are placed in the critical section</a:t>
            </a:r>
          </a:p>
          <a:p>
            <a:r>
              <a:rPr lang="en-US" altLang="en-US" dirty="0"/>
              <a:t>Could now have </a:t>
            </a:r>
            <a:r>
              <a:rPr lang="en-US" altLang="en-US" b="1" dirty="0">
                <a:solidFill>
                  <a:srgbClr val="006699"/>
                </a:solidFill>
                <a:latin typeface="+mj-lt"/>
              </a:rPr>
              <a:t>busy waiting </a:t>
            </a:r>
            <a:r>
              <a:rPr lang="en-US" altLang="en-US" dirty="0"/>
              <a:t>in critical section implementation</a:t>
            </a:r>
          </a:p>
          <a:p>
            <a:pPr lvl="1"/>
            <a:r>
              <a:rPr lang="en-US" altLang="en-US" dirty="0"/>
              <a:t>But implementation code is short</a:t>
            </a:r>
          </a:p>
          <a:p>
            <a:pPr lvl="1"/>
            <a:r>
              <a:rPr lang="en-US" altLang="en-US" dirty="0"/>
              <a:t>Little busy waiting if critical section rarely occupied</a:t>
            </a:r>
          </a:p>
          <a:p>
            <a:r>
              <a:rPr lang="en-US" altLang="en-US" dirty="0"/>
              <a:t>Note that applications may spend lots of time in critical sections and therefore this is not a good solution</a:t>
            </a:r>
          </a:p>
          <a:p>
            <a:pPr>
              <a:buFont typeface="Monotype Sorts" pitchFamily="-84" charset="2"/>
              <a:buNone/>
            </a:pPr>
            <a:r>
              <a:rPr lang="en-US" altLang="en-US" dirty="0"/>
              <a:t> </a:t>
            </a:r>
          </a:p>
          <a:p>
            <a:pPr lvl="1">
              <a:buFont typeface="Monotype Sorts" pitchFamily="-84" charset="2"/>
              <a:buNone/>
            </a:pPr>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52295"/>
            <a:ext cx="8779199" cy="609600"/>
          </a:xfrm>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5"/>
            <a:ext cx="7035111" cy="4740203"/>
          </a:xfrm>
        </p:spPr>
        <p:txBody>
          <a:bodyPr/>
          <a:lstStyle/>
          <a:p>
            <a:r>
              <a:rPr lang="en-US" altLang="en-US" dirty="0"/>
              <a:t>With each semaphore there is an associated waiting queue</a:t>
            </a:r>
          </a:p>
          <a:p>
            <a:r>
              <a:rPr lang="en-US" altLang="en-US" dirty="0"/>
              <a:t>Each entry in a waiting queue has two data items:</a:t>
            </a:r>
          </a:p>
          <a:p>
            <a:pPr lvl="1"/>
            <a:r>
              <a:rPr lang="en-US" altLang="en-US" dirty="0"/>
              <a:t> Value (of type integer)</a:t>
            </a:r>
          </a:p>
          <a:p>
            <a:pPr lvl="1"/>
            <a:r>
              <a:rPr lang="en-US" altLang="en-US" dirty="0"/>
              <a:t> Pointer to next record in the list</a:t>
            </a:r>
          </a:p>
          <a:p>
            <a:r>
              <a:rPr lang="en-US" altLang="en-US" dirty="0"/>
              <a:t>Two operations:</a:t>
            </a:r>
          </a:p>
          <a:p>
            <a:pPr lvl="1"/>
            <a:r>
              <a:rPr lang="en-US" altLang="en-US" b="1" dirty="0">
                <a:solidFill>
                  <a:srgbClr val="006699"/>
                </a:solidFill>
                <a:latin typeface="+mj-lt"/>
              </a:rPr>
              <a:t>block </a:t>
            </a:r>
            <a:r>
              <a:rPr lang="en-US" altLang="en-US" dirty="0"/>
              <a:t>– place the process invoking the operation on the appropriate waiting queue</a:t>
            </a:r>
          </a:p>
          <a:p>
            <a:pPr lvl="1"/>
            <a:r>
              <a:rPr lang="en-US" altLang="en-US" b="1" dirty="0">
                <a:solidFill>
                  <a:srgbClr val="006699"/>
                </a:solidFill>
                <a:latin typeface="+mj-lt"/>
              </a:rPr>
              <a:t>wakeup</a:t>
            </a:r>
            <a:r>
              <a:rPr lang="en-US" altLang="en-US" dirty="0">
                <a:solidFill>
                  <a:srgbClr val="3366FF"/>
                </a:solidFill>
              </a:rPr>
              <a:t> </a:t>
            </a:r>
            <a:r>
              <a:rPr lang="en-US" altLang="en-US" dirty="0"/>
              <a:t>– remove one of processes in the waiting queue and place it in the ready queue</a:t>
            </a:r>
          </a:p>
          <a:p>
            <a:pPr marL="0" indent="0">
              <a:buNone/>
            </a:pPr>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135423"/>
            <a:ext cx="8779199" cy="609600"/>
          </a:xfrm>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6"/>
            <a:ext cx="7582224" cy="4700588"/>
          </a:xfrm>
        </p:spPr>
        <p:txBody>
          <a:bodyPr/>
          <a:lstStyle/>
          <a:p>
            <a:endParaRPr lang="en-US" altLang="en-US" dirty="0"/>
          </a:p>
          <a:p>
            <a:r>
              <a:rPr lang="en-US" altLang="en-US" dirty="0"/>
              <a:t>Waiting queue</a:t>
            </a:r>
          </a:p>
          <a:p>
            <a:pPr marL="0" indent="0">
              <a:buNone/>
            </a:pPr>
            <a:r>
              <a:rPr lang="en-US" altLang="en-US" b="1" dirty="0">
                <a:latin typeface="Courier New" panose="02070309020205020404" pitchFamily="49" charset="0"/>
              </a:rPr>
              <a:t>    typedef struct { </a:t>
            </a:r>
          </a:p>
          <a:p>
            <a:pPr>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int</a:t>
            </a:r>
            <a:r>
              <a:rPr lang="en-US" altLang="en-US" b="1" dirty="0">
                <a:latin typeface="Courier New" panose="02070309020205020404" pitchFamily="49" charset="0"/>
              </a:rPr>
              <a:t> value; </a:t>
            </a:r>
          </a:p>
          <a:p>
            <a:pPr>
              <a:buFont typeface="Monotype Sorts" pitchFamily="-84" charset="2"/>
              <a:buNone/>
            </a:pPr>
            <a:r>
              <a:rPr lang="en-US" altLang="en-US" b="1" dirty="0">
                <a:latin typeface="Courier New" panose="02070309020205020404" pitchFamily="49" charset="0"/>
              </a:rPr>
              <a:t>   	struct process *list; </a:t>
            </a:r>
          </a:p>
          <a:p>
            <a:pPr>
              <a:buFont typeface="Monotype Sorts" pitchFamily="-84" charset="2"/>
              <a:buNone/>
            </a:pPr>
            <a:r>
              <a:rPr lang="en-US" altLang="en-US" b="1" dirty="0">
                <a:latin typeface="Courier New" panose="02070309020205020404" pitchFamily="49" charset="0"/>
              </a:rPr>
              <a:t>    } semaphore; </a:t>
            </a:r>
          </a:p>
          <a:p>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a:xfrm>
            <a:off x="1170528" y="104810"/>
            <a:ext cx="8356600" cy="581025"/>
          </a:xfrm>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wait(semaphore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add this process to S-&gt;list; </a:t>
            </a:r>
          </a:p>
          <a:p>
            <a:pPr marL="0" indent="0">
              <a:buFont typeface="Monotype Sorts" pitchFamily="-84" charset="2"/>
              <a:buNone/>
            </a:pPr>
            <a:r>
              <a:rPr lang="en-US" altLang="en-US" sz="1600" b="1" dirty="0">
                <a:latin typeface="Courier New" panose="02070309020205020404" pitchFamily="49" charset="0"/>
              </a:rPr>
              <a:t>      block();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a:t>
            </a:r>
          </a:p>
          <a:p>
            <a:pPr marL="0" indent="0">
              <a:buFont typeface="Monotype Sorts" pitchFamily="-84" charset="2"/>
              <a:buNone/>
            </a:pP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signal(semaphore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remove a process P from S-&gt;list; </a:t>
            </a:r>
          </a:p>
          <a:p>
            <a:pPr marL="0" indent="0">
              <a:buFont typeface="Monotype Sorts" pitchFamily="-84" charset="2"/>
              <a:buNone/>
            </a:pPr>
            <a:r>
              <a:rPr lang="en-US" altLang="en-US" sz="1600" b="1" dirty="0">
                <a:latin typeface="Courier New" panose="02070309020205020404" pitchFamily="49" charset="0"/>
              </a:rPr>
              <a:t>      wakeup(P);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Incorrect use of semaphore operations:</a:t>
            </a:r>
            <a:br>
              <a:rPr lang="en-US" altLang="en-US" dirty="0"/>
            </a:b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signal(mutex)  ….  wait(mutex)</a:t>
            </a:r>
            <a:br>
              <a:rPr lang="en-US" altLang="en-US" b="1" dirty="0">
                <a:latin typeface="Courier New" panose="02070309020205020404" pitchFamily="49" charset="0"/>
                <a:cs typeface="Courier New" panose="02070309020205020404" pitchFamily="49" charset="0"/>
              </a:rPr>
            </a:b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wait(mutex)  …  wait(mutex)</a:t>
            </a:r>
          </a:p>
          <a:p>
            <a:pPr lvl="1"/>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wait (mutex) </a:t>
            </a:r>
            <a:r>
              <a:rPr lang="en-US" altLang="en-US" dirty="0"/>
              <a:t>and/or </a:t>
            </a:r>
            <a:r>
              <a:rPr lang="en-US" altLang="en-US" b="1" dirty="0">
                <a:latin typeface="Courier New" panose="02070309020205020404" pitchFamily="49" charset="0"/>
                <a:cs typeface="Courier New" panose="02070309020205020404" pitchFamily="49" charset="0"/>
              </a:rPr>
              <a:t>signal (mutex)</a:t>
            </a:r>
            <a:endParaRPr lang="en-US" altLang="en-US" dirty="0"/>
          </a:p>
          <a:p>
            <a:pPr lvl="1"/>
            <a:endParaRPr lang="en-US" altLang="en-US" dirty="0"/>
          </a:p>
          <a:p>
            <a:r>
              <a:rPr lang="en-US" altLang="en-US" dirty="0"/>
              <a:t>These – and others – are examples of what can occur when semaphores and other synchronization tools are used incorrectly.</a:t>
            </a:r>
          </a:p>
          <a:p>
            <a:endParaRPr lang="en-US" altLang="en-US" dirty="0"/>
          </a:p>
          <a:p>
            <a:endParaRPr lang="en-US" altLang="en-US" dirty="0"/>
          </a:p>
          <a:p>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a:xfrm>
            <a:off x="457200" y="106853"/>
            <a:ext cx="8229600" cy="576262"/>
          </a:xfrm>
        </p:spPr>
        <p:txBody>
          <a:bodyPr/>
          <a:lstStyle/>
          <a:p>
            <a:r>
              <a:rPr lang="en-US" altLang="en-US" dirty="0"/>
              <a:t>Liveness</a:t>
            </a:r>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p:txBody>
          <a:bodyPr/>
          <a:lstStyle/>
          <a:p>
            <a:r>
              <a:rPr lang="en-US" altLang="en-US" dirty="0"/>
              <a:t>Processes may have to wait indefinitely while trying to acquire a synchronization tool such as a mutex lock or semaphore.</a:t>
            </a:r>
          </a:p>
          <a:p>
            <a:r>
              <a:rPr lang="en-US" altLang="en-US" dirty="0"/>
              <a:t>Waiting indefinitely violates the progress and bounded-waiting criteria discussed at the beginning of this chapter.</a:t>
            </a:r>
          </a:p>
          <a:p>
            <a:r>
              <a:rPr lang="en-US" altLang="en-US" b="1" dirty="0"/>
              <a:t>Liveness</a:t>
            </a:r>
            <a:r>
              <a:rPr lang="en-US" altLang="en-US" dirty="0"/>
              <a:t> refers to a set of properties that a system must satisfy to ensure processes make progress.</a:t>
            </a:r>
          </a:p>
          <a:p>
            <a:r>
              <a:rPr lang="en-US" altLang="en-US" dirty="0"/>
              <a:t>Indefinite waiting is an example of a liveness failure.</a:t>
            </a:r>
          </a:p>
        </p:txBody>
      </p:sp>
    </p:spTree>
    <p:extLst>
      <p:ext uri="{BB962C8B-B14F-4D97-AF65-F5344CB8AC3E}">
        <p14:creationId xmlns:p14="http://schemas.microsoft.com/office/powerpoint/2010/main" val="28666638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dirty="0">
                <a:solidFill>
                  <a:srgbClr val="006699"/>
                </a:solidFill>
                <a:latin typeface="+mj-lt"/>
              </a:rPr>
              <a:t>Deadlock</a:t>
            </a:r>
            <a:r>
              <a:rPr lang="en-US" altLang="en-US" b="1" dirty="0">
                <a:solidFill>
                  <a:srgbClr val="3366FF"/>
                </a:solidFill>
              </a:rPr>
              <a:t> </a:t>
            </a:r>
            <a:r>
              <a:rPr lang="en-US" altLang="en-US" dirty="0"/>
              <a:t>– two or more processes are waiting indefinitely for an event that can be caused by only one of the waiting processes</a:t>
            </a:r>
          </a:p>
          <a:p>
            <a:pPr>
              <a:lnSpc>
                <a:spcPct val="90000"/>
              </a:lnSpc>
              <a:tabLst>
                <a:tab pos="1882775" algn="ctr"/>
                <a:tab pos="4568825" algn="ctr"/>
              </a:tabLst>
            </a:pPr>
            <a:r>
              <a:rPr lang="en-US" altLang="en-US" dirty="0">
                <a:solidFill>
                  <a:srgbClr val="000000"/>
                </a:solidFill>
              </a:rPr>
              <a:t>Let </a:t>
            </a:r>
            <a:r>
              <a:rPr lang="en-US" altLang="en-US" sz="2000" b="1" i="1" dirty="0">
                <a:solidFill>
                  <a:srgbClr val="000000"/>
                </a:solidFill>
                <a:latin typeface="Courier New" panose="02070309020205020404" pitchFamily="49" charset="0"/>
              </a:rPr>
              <a:t>S</a:t>
            </a:r>
            <a:r>
              <a:rPr lang="en-US" altLang="en-US" dirty="0">
                <a:solidFill>
                  <a:srgbClr val="000000"/>
                </a:solidFill>
              </a:rPr>
              <a:t> and</a:t>
            </a:r>
            <a:r>
              <a:rPr lang="en-US" altLang="en-US" sz="16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1600" b="1" dirty="0">
                <a:solidFill>
                  <a:srgbClr val="000000"/>
                </a:solidFill>
                <a:latin typeface="Courier New" panose="02070309020205020404" pitchFamily="49" charset="0"/>
              </a:rPr>
              <a:t> </a:t>
            </a:r>
            <a:r>
              <a:rPr lang="en-US" altLang="en-US" dirty="0">
                <a:solidFill>
                  <a:srgbClr val="000000"/>
                </a:solidFill>
              </a:rPr>
              <a:t>be </a:t>
            </a:r>
            <a:r>
              <a:rPr lang="en-US" altLang="en-US" dirty="0"/>
              <a:t>two semaphores initialized to 1</a:t>
            </a:r>
          </a:p>
          <a:p>
            <a:pPr>
              <a:lnSpc>
                <a:spcPct val="90000"/>
              </a:lnSpc>
              <a:buFont typeface="Monotype Sorts" pitchFamily="-84" charset="2"/>
              <a:buNone/>
              <a:tabLst>
                <a:tab pos="1882775" algn="ctr"/>
                <a:tab pos="4568825" algn="ctr"/>
              </a:tabLst>
            </a:pPr>
            <a:r>
              <a:rPr lang="en-US" altLang="en-US" i="1" dirty="0">
                <a:solidFill>
                  <a:srgbClr val="000000"/>
                </a:solidFill>
              </a:rPr>
              <a:t>		        P</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baseline="-25000" dirty="0">
                <a:solidFill>
                  <a:srgbClr val="000000"/>
                </a:solidFill>
              </a:rPr>
              <a:t>1</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a:t>
            </a:r>
            <a:r>
              <a:rPr lang="en-US" altLang="en-US" sz="1600" b="1" dirty="0">
                <a:solidFill>
                  <a:srgbClr val="000000"/>
                </a:solidFill>
                <a:latin typeface="Courier New" panose="02070309020205020404" pitchFamily="49" charset="0"/>
              </a:rPr>
              <a:t>wait(S); 	              wait(Q);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wait(Q); 	              wait(S);</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		     ...</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signal(S);                 signal(Q);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signal(Q);                 signal(S);</a:t>
            </a:r>
          </a:p>
          <a:p>
            <a:pPr>
              <a:lnSpc>
                <a:spcPct val="90000"/>
              </a:lnSpc>
              <a:buFont typeface="Monotype Sorts" pitchFamily="-84" charset="2"/>
              <a:buNone/>
              <a:tabLst>
                <a:tab pos="1882775" algn="ctr"/>
                <a:tab pos="4568825" algn="ctr"/>
              </a:tabLst>
            </a:pPr>
            <a:endParaRPr lang="en-US" altLang="en-US" sz="1600" b="1" dirty="0">
              <a:solidFill>
                <a:srgbClr val="000000"/>
              </a:solidFill>
              <a:latin typeface="Courier New" panose="02070309020205020404" pitchFamily="49" charset="0"/>
            </a:endParaRPr>
          </a:p>
          <a:p>
            <a:pPr>
              <a:lnSpc>
                <a:spcPct val="90000"/>
              </a:lnSpc>
              <a:tabLst>
                <a:tab pos="1882775" algn="ctr"/>
                <a:tab pos="4568825" algn="ctr"/>
              </a:tabLst>
            </a:pPr>
            <a:r>
              <a:rPr lang="en-US" altLang="en-US" dirty="0">
                <a:sym typeface="MT Extra" panose="05050102010205020202" pitchFamily="18" charset="2"/>
              </a:rPr>
              <a:t>Consider if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wait(S) 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wait(Q). When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wait(Q), it must wait until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executes signal(Q)</a:t>
            </a:r>
          </a:p>
          <a:p>
            <a:pPr>
              <a:lnSpc>
                <a:spcPct val="90000"/>
              </a:lnSpc>
              <a:tabLst>
                <a:tab pos="1882775" algn="ctr"/>
                <a:tab pos="4568825" algn="ctr"/>
              </a:tabLst>
            </a:pPr>
            <a:r>
              <a:rPr lang="en-US" altLang="en-US" dirty="0">
                <a:sym typeface="MT Extra" panose="05050102010205020202" pitchFamily="18" charset="2"/>
              </a:rPr>
              <a:t>However,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is waiting until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 signal(S).</a:t>
            </a:r>
          </a:p>
          <a:p>
            <a:pPr>
              <a:lnSpc>
                <a:spcPct val="90000"/>
              </a:lnSpc>
              <a:tabLst>
                <a:tab pos="1882775" algn="ctr"/>
                <a:tab pos="4568825" algn="ctr"/>
              </a:tabLst>
            </a:pPr>
            <a:r>
              <a:rPr lang="en-US" altLang="en-US" dirty="0">
                <a:sym typeface="MT Extra" panose="05050102010205020202" pitchFamily="18" charset="2"/>
              </a:rPr>
              <a:t>Since these signal() operations will never be executed, </a:t>
            </a:r>
            <a:r>
              <a:rPr lang="en-US" altLang="en-US" i="1" dirty="0">
                <a:solidFill>
                  <a:srgbClr val="000000"/>
                </a:solidFill>
              </a:rPr>
              <a:t>P</a:t>
            </a:r>
            <a:r>
              <a:rPr lang="en-US" altLang="en-US" baseline="-25000" dirty="0">
                <a:solidFill>
                  <a:srgbClr val="000000"/>
                </a:solidFill>
              </a:rPr>
              <a:t>0 </a:t>
            </a:r>
            <a:r>
              <a:rPr lang="en-US" altLang="en-US" dirty="0">
                <a:sym typeface="MT Extra" panose="05050102010205020202" pitchFamily="18" charset="2"/>
              </a:rPr>
              <a:t>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are </a:t>
            </a:r>
            <a:r>
              <a:rPr lang="en-US" altLang="en-US" b="1" dirty="0">
                <a:sym typeface="MT Extra" panose="05050102010205020202" pitchFamily="18" charset="2"/>
              </a:rPr>
              <a:t>deadlocked</a:t>
            </a:r>
            <a:r>
              <a:rPr lang="en-US" altLang="en-US" dirty="0">
                <a:sym typeface="MT Extra" panose="05050102010205020202" pitchFamily="18" charset="2"/>
              </a:rPr>
              <a:t>.</a:t>
            </a:r>
          </a:p>
        </p:txBody>
      </p:sp>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a:xfrm>
            <a:off x="457200" y="157653"/>
            <a:ext cx="8229600" cy="576262"/>
          </a:xfrm>
        </p:spPr>
        <p:txBody>
          <a:bodyPr/>
          <a:lstStyle/>
          <a:p>
            <a:r>
              <a:rPr lang="en-US" altLang="en-US" dirty="0"/>
              <a:t>Liveness</a:t>
            </a:r>
          </a:p>
        </p:txBody>
      </p:sp>
    </p:spTree>
    <p:extLst>
      <p:ext uri="{BB962C8B-B14F-4D97-AF65-F5344CB8AC3E}">
        <p14:creationId xmlns:p14="http://schemas.microsoft.com/office/powerpoint/2010/main" val="18739148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Other forms of deadlock:</a:t>
            </a:r>
            <a:endParaRPr lang="en-US" altLang="en-US" sz="1600" dirty="0">
              <a:latin typeface="Courier New" panose="02070309020205020404" pitchFamily="49" charset="0"/>
            </a:endParaRPr>
          </a:p>
          <a:p>
            <a:pPr>
              <a:lnSpc>
                <a:spcPct val="90000"/>
              </a:lnSpc>
              <a:tabLst>
                <a:tab pos="1882775" algn="ctr"/>
                <a:tab pos="4568825" algn="ctr"/>
              </a:tabLst>
            </a:pPr>
            <a:r>
              <a:rPr lang="en-US" altLang="en-US" b="1" dirty="0">
                <a:sym typeface="MT Extra" panose="05050102010205020202" pitchFamily="18" charset="2"/>
              </a:rPr>
              <a:t>Starvation</a:t>
            </a:r>
            <a:r>
              <a:rPr lang="en-US" altLang="en-US" dirty="0">
                <a:sym typeface="MT Extra" panose="05050102010205020202" pitchFamily="18" charset="2"/>
              </a:rPr>
              <a:t> </a:t>
            </a:r>
            <a:r>
              <a:rPr lang="en-US" altLang="en-US" dirty="0"/>
              <a:t>– indefinite blocking  </a:t>
            </a:r>
          </a:p>
          <a:p>
            <a:pPr lvl="1">
              <a:lnSpc>
                <a:spcPct val="90000"/>
              </a:lnSpc>
              <a:tabLst>
                <a:tab pos="1882775" algn="ctr"/>
                <a:tab pos="4568825" algn="ctr"/>
              </a:tabLst>
            </a:pPr>
            <a:r>
              <a:rPr lang="en-US" altLang="en-US" dirty="0"/>
              <a:t>A process may never be removed from the semaphore queue in which it is suspended</a:t>
            </a:r>
          </a:p>
          <a:p>
            <a:pPr marL="0" indent="0">
              <a:lnSpc>
                <a:spcPct val="90000"/>
              </a:lnSpc>
              <a:buNone/>
              <a:tabLst>
                <a:tab pos="1882775" algn="ctr"/>
                <a:tab pos="4568825" algn="ctr"/>
              </a:tabLst>
            </a:pPr>
            <a:br>
              <a:rPr lang="en-US" altLang="en-US" b="1" dirty="0"/>
            </a:br>
            <a:br>
              <a:rPr lang="en-US" altLang="en-US" b="1" dirty="0"/>
            </a:br>
            <a:endParaRPr lang="en-US" altLang="en-US" b="1" dirty="0"/>
          </a:p>
        </p:txBody>
      </p:sp>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457200" y="157653"/>
            <a:ext cx="8229600" cy="576262"/>
          </a:xfrm>
        </p:spPr>
        <p:txBody>
          <a:bodyPr/>
          <a:lstStyle/>
          <a:p>
            <a:r>
              <a:rPr lang="en-US" altLang="en-US" dirty="0"/>
              <a:t>Liveness</a:t>
            </a:r>
          </a:p>
        </p:txBody>
      </p:sp>
    </p:spTree>
    <p:extLst>
      <p:ext uri="{BB962C8B-B14F-4D97-AF65-F5344CB8AC3E}">
        <p14:creationId xmlns:p14="http://schemas.microsoft.com/office/powerpoint/2010/main" val="4561020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8EF5652-864F-45D9-B03A-C5641C84E4D5}"/>
              </a:ext>
            </a:extLst>
          </p:cNvPr>
          <p:cNvSpPr>
            <a:spLocks noGrp="1" noChangeArrowheads="1"/>
          </p:cNvSpPr>
          <p:nvPr>
            <p:ph type="title"/>
          </p:nvPr>
        </p:nvSpPr>
        <p:spPr>
          <a:xfrm>
            <a:off x="457200" y="222868"/>
            <a:ext cx="8229600" cy="576262"/>
          </a:xfrm>
        </p:spPr>
        <p:txBody>
          <a:bodyPr/>
          <a:lstStyle/>
          <a:p>
            <a:pPr eaLnBrk="1" hangingPunct="1"/>
            <a:r>
              <a:rPr lang="en-US" altLang="en-US" dirty="0"/>
              <a:t>Monitors</a:t>
            </a:r>
          </a:p>
        </p:txBody>
      </p:sp>
      <p:sp>
        <p:nvSpPr>
          <p:cNvPr id="59394" name="Rectangle 3">
            <a:extLst>
              <a:ext uri="{FF2B5EF4-FFF2-40B4-BE49-F238E27FC236}">
                <a16:creationId xmlns:a16="http://schemas.microsoft.com/office/drawing/2014/main" id="{FD3AB3C2-A7A5-4526-A61F-5C1CB7C4C0BB}"/>
              </a:ext>
            </a:extLst>
          </p:cNvPr>
          <p:cNvSpPr>
            <a:spLocks noGrp="1" noChangeArrowheads="1"/>
          </p:cNvSpPr>
          <p:nvPr>
            <p:ph idx="1"/>
          </p:nvPr>
        </p:nvSpPr>
        <p:spPr>
          <a:xfrm>
            <a:off x="855663" y="1209675"/>
            <a:ext cx="7691178" cy="5165725"/>
          </a:xfrm>
        </p:spPr>
        <p:txBody>
          <a:bodyPr/>
          <a:lstStyle/>
          <a:p>
            <a:pPr>
              <a:lnSpc>
                <a:spcPct val="80000"/>
              </a:lnSpc>
            </a:pPr>
            <a:r>
              <a:rPr lang="en-US" altLang="en-US" sz="1200" dirty="0"/>
              <a:t>A high-level abstraction that provides a convenient and effective mechanism for process synchronization</a:t>
            </a:r>
          </a:p>
          <a:p>
            <a:pPr>
              <a:lnSpc>
                <a:spcPct val="80000"/>
              </a:lnSpc>
            </a:pPr>
            <a:endParaRPr lang="en-US" altLang="en-US" sz="1200" dirty="0"/>
          </a:p>
          <a:p>
            <a:pPr>
              <a:lnSpc>
                <a:spcPct val="80000"/>
              </a:lnSpc>
            </a:pPr>
            <a:r>
              <a:rPr lang="en-US" altLang="en-US" sz="1200" i="1" dirty="0"/>
              <a:t>Abstract data type</a:t>
            </a:r>
            <a:r>
              <a:rPr lang="en-US" altLang="en-US" sz="1200" dirty="0"/>
              <a:t>, internal variables only accessible by code within the procedure</a:t>
            </a:r>
          </a:p>
          <a:p>
            <a:pPr marL="0" indent="0">
              <a:lnSpc>
                <a:spcPct val="80000"/>
              </a:lnSpc>
              <a:buNone/>
            </a:pPr>
            <a:endParaRPr lang="en-US" altLang="en-US" sz="1200" dirty="0"/>
          </a:p>
          <a:p>
            <a:pPr>
              <a:lnSpc>
                <a:spcPct val="80000"/>
              </a:lnSpc>
            </a:pPr>
            <a:endParaRPr lang="en-US" altLang="en-US" sz="1200" dirty="0"/>
          </a:p>
          <a:p>
            <a:pPr>
              <a:lnSpc>
                <a:spcPct val="80000"/>
              </a:lnSpc>
            </a:pPr>
            <a:r>
              <a:rPr lang="en-US" altLang="en-US" sz="1200" dirty="0"/>
              <a:t>Only one process may be active within the monitor at a time</a:t>
            </a:r>
          </a:p>
          <a:p>
            <a:pPr>
              <a:lnSpc>
                <a:spcPct val="80000"/>
              </a:lnSpc>
            </a:pPr>
            <a:endParaRPr lang="en-US" altLang="en-US" sz="1200" dirty="0"/>
          </a:p>
          <a:p>
            <a:pPr algn="just">
              <a:lnSpc>
                <a:spcPct val="80000"/>
              </a:lnSpc>
            </a:pPr>
            <a:r>
              <a:rPr lang="en-US" sz="1200" dirty="0"/>
              <a:t>Semaphore is a low-level synchronization mechanism where the programmer manually controls access using wait and signal operations, whereas a monitor is a high-level synchronization construct that provides automatic mutual exclusion and encapsulates shared data and procedures.</a:t>
            </a:r>
          </a:p>
          <a:p>
            <a:pPr marL="0" indent="0" algn="just">
              <a:lnSpc>
                <a:spcPct val="80000"/>
              </a:lnSpc>
              <a:buNone/>
            </a:pPr>
            <a:endParaRPr lang="en-US" altLang="en-US" sz="1200" dirty="0"/>
          </a:p>
          <a:p>
            <a:pPr>
              <a:lnSpc>
                <a:spcPct val="80000"/>
              </a:lnSpc>
            </a:pPr>
            <a:r>
              <a:rPr lang="en-US" altLang="en-US" sz="1200" dirty="0"/>
              <a:t>Pseudocode syntax of a monitor:</a:t>
            </a:r>
          </a:p>
          <a:p>
            <a:pPr lvl="2">
              <a:lnSpc>
                <a:spcPct val="80000"/>
              </a:lnSpc>
              <a:buFont typeface="Webdings" panose="05030102010509060703" pitchFamily="18" charset="2"/>
              <a:buNone/>
            </a:pPr>
            <a:endParaRPr lang="en-US" altLang="en-US" sz="1200" dirty="0">
              <a:solidFill>
                <a:srgbClr val="0000FF"/>
              </a:solidFill>
            </a:endParaRPr>
          </a:p>
          <a:p>
            <a:pPr lvl="2">
              <a:lnSpc>
                <a:spcPct val="80000"/>
              </a:lnSpc>
              <a:buFont typeface="Webdings" panose="05030102010509060703" pitchFamily="18" charset="2"/>
              <a:buNone/>
            </a:pPr>
            <a:r>
              <a:rPr lang="en-US" altLang="en-US" sz="1200" b="1" dirty="0">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1200" b="1" dirty="0">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1200" b="1" dirty="0">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1200" b="1" dirty="0">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endParaRPr lang="en-US" altLang="en-US" sz="12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200" b="1" dirty="0">
                <a:solidFill>
                  <a:srgbClr val="000000"/>
                </a:solidFill>
                <a:latin typeface="Courier New" panose="02070309020205020404" pitchFamily="49" charset="0"/>
              </a:rPr>
              <a:t>	procedure P2 (…) { …. }</a:t>
            </a:r>
            <a:br>
              <a:rPr lang="en-US" altLang="en-US" sz="1200" b="1" dirty="0">
                <a:solidFill>
                  <a:srgbClr val="000000"/>
                </a:solidFill>
                <a:latin typeface="Courier New" panose="02070309020205020404" pitchFamily="49" charset="0"/>
              </a:rPr>
            </a:br>
            <a:endParaRPr lang="en-US" altLang="en-US" sz="12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200" b="1" dirty="0">
                <a:solidFill>
                  <a:srgbClr val="000000"/>
                </a:solidFill>
                <a:latin typeface="Courier New" panose="02070309020205020404" pitchFamily="49" charset="0"/>
              </a:rPr>
              <a:t>	procedure </a:t>
            </a:r>
            <a:r>
              <a:rPr lang="en-US" altLang="en-US" sz="1200" b="1" dirty="0" err="1">
                <a:solidFill>
                  <a:srgbClr val="000000"/>
                </a:solidFill>
                <a:latin typeface="Courier New" panose="02070309020205020404" pitchFamily="49" charset="0"/>
              </a:rPr>
              <a:t>Pn</a:t>
            </a:r>
            <a:r>
              <a:rPr lang="en-US" altLang="en-US" sz="1200" b="1" dirty="0">
                <a:solidFill>
                  <a:srgbClr val="000000"/>
                </a:solidFill>
                <a:latin typeface="Courier New" panose="02070309020205020404" pitchFamily="49" charset="0"/>
              </a:rPr>
              <a:t> (…) {……}</a:t>
            </a:r>
          </a:p>
          <a:p>
            <a:pPr lvl="2">
              <a:lnSpc>
                <a:spcPct val="80000"/>
              </a:lnSpc>
              <a:buFont typeface="Webdings" panose="05030102010509060703" pitchFamily="18" charset="2"/>
              <a:buNone/>
            </a:pPr>
            <a:endParaRPr lang="en-US" altLang="en-US" sz="12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200" b="1" dirty="0">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1200" b="1" dirty="0">
                <a:solidFill>
                  <a:srgbClr val="000000"/>
                </a:solidFill>
                <a:latin typeface="Courier New" panose="02070309020205020404" pitchFamily="49" charset="0"/>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B4923FCB-66D7-440A-AA43-CBFF531DF558}"/>
              </a:ext>
            </a:extLst>
          </p:cNvPr>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p>
        </p:txBody>
      </p:sp>
      <p:pic>
        <p:nvPicPr>
          <p:cNvPr id="61442" name="Picture 1">
            <a:extLst>
              <a:ext uri="{FF2B5EF4-FFF2-40B4-BE49-F238E27FC236}">
                <a16:creationId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9449" y="1228725"/>
            <a:ext cx="4275138"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0A53B1FD-1A36-CA13-E643-390C79140DF3}"/>
              </a:ext>
            </a:extLst>
          </p:cNvPr>
          <p:cNvSpPr txBox="1"/>
          <p:nvPr/>
        </p:nvSpPr>
        <p:spPr>
          <a:xfrm>
            <a:off x="4257675" y="1946186"/>
            <a:ext cx="4603750" cy="2862322"/>
          </a:xfrm>
          <a:prstGeom prst="rect">
            <a:avLst/>
          </a:prstGeom>
          <a:noFill/>
        </p:spPr>
        <p:txBody>
          <a:bodyPr wrap="square">
            <a:spAutoFit/>
          </a:bodyPr>
          <a:lstStyle/>
          <a:p>
            <a:pPr marL="285750" indent="-285750">
              <a:buFont typeface="Arial" panose="020B0604020202020204" pitchFamily="34" charset="0"/>
              <a:buChar char="•"/>
            </a:pPr>
            <a:r>
              <a:rPr lang="en-US" dirty="0"/>
              <a:t>A procedure defined within a monitor can access only those variables declared locally within the monitor and its formal parameters</a:t>
            </a:r>
          </a:p>
          <a:p>
            <a:pPr marL="285750" indent="-285750">
              <a:buFont typeface="Arial" panose="020B0604020202020204" pitchFamily="34" charset="0"/>
              <a:buChar char="•"/>
            </a:pPr>
            <a:r>
              <a:rPr lang="en-US" dirty="0"/>
              <a:t>The local variables of a monitor can be accessed by only the local procedures</a:t>
            </a:r>
          </a:p>
          <a:p>
            <a:pPr marL="285750" indent="-285750">
              <a:buFont typeface="Arial" panose="020B0604020202020204" pitchFamily="34" charset="0"/>
              <a:buChar char="•"/>
            </a:pPr>
            <a:r>
              <a:rPr lang="en-US" dirty="0"/>
              <a:t>The monitor construct ensures that only one process at a time can be active within the monitor.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mutex = 1</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procedure </a:t>
            </a:r>
            <a:r>
              <a:rPr lang="en-US" altLang="en-US" b="1" i="1" dirty="0"/>
              <a:t>P</a:t>
            </a:r>
            <a:r>
              <a:rPr lang="en-US" altLang="en-US" dirty="0"/>
              <a:t>  is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extLst>
      <p:ext uri="{BB962C8B-B14F-4D97-AF65-F5344CB8AC3E}">
        <p14:creationId xmlns:p14="http://schemas.microsoft.com/office/powerpoint/2010/main" val="24443706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a:extLst>
              <a:ext uri="{FF2B5EF4-FFF2-40B4-BE49-F238E27FC236}">
                <a16:creationId xmlns:a16="http://schemas.microsoft.com/office/drawing/2014/main" id="{574EFF2A-E6E5-4268-916F-B5A118FF1B2E}"/>
              </a:ext>
            </a:extLst>
          </p:cNvPr>
          <p:cNvSpPr>
            <a:spLocks noGrp="1" noChangeArrowheads="1"/>
          </p:cNvSpPr>
          <p:nvPr>
            <p:ph type="title"/>
          </p:nvPr>
        </p:nvSpPr>
        <p:spPr>
          <a:xfrm>
            <a:off x="1027113" y="217911"/>
            <a:ext cx="7659687" cy="576263"/>
          </a:xfrm>
        </p:spPr>
        <p:txBody>
          <a:bodyPr/>
          <a:lstStyle/>
          <a:p>
            <a:pPr eaLnBrk="1" hangingPunct="1"/>
            <a:r>
              <a:rPr lang="en-US" altLang="en-US" dirty="0"/>
              <a:t>Condition Variables</a:t>
            </a:r>
          </a:p>
        </p:txBody>
      </p:sp>
      <p:sp>
        <p:nvSpPr>
          <p:cNvPr id="63490" name="Rectangle 5">
            <a:extLst>
              <a:ext uri="{FF2B5EF4-FFF2-40B4-BE49-F238E27FC236}">
                <a16:creationId xmlns:a16="http://schemas.microsoft.com/office/drawing/2014/main" id="{E8899307-6996-47CE-A409-977A6B2D9949}"/>
              </a:ext>
            </a:extLst>
          </p:cNvPr>
          <p:cNvSpPr>
            <a:spLocks noGrp="1" noChangeArrowheads="1"/>
          </p:cNvSpPr>
          <p:nvPr>
            <p:ph idx="1"/>
          </p:nvPr>
        </p:nvSpPr>
        <p:spPr>
          <a:xfrm>
            <a:off x="827088" y="1150938"/>
            <a:ext cx="7659687" cy="4394200"/>
          </a:xfrm>
        </p:spPr>
        <p:txBody>
          <a:bodyPr/>
          <a:lstStyle/>
          <a:p>
            <a:r>
              <a:rPr lang="en-US" altLang="en-US" b="1" dirty="0">
                <a:solidFill>
                  <a:srgbClr val="000000"/>
                </a:solidFill>
                <a:latin typeface="Courier New" panose="02070309020205020404" pitchFamily="49" charset="0"/>
              </a:rPr>
              <a:t>condition x, y;</a:t>
            </a:r>
            <a:endParaRPr lang="en-US" altLang="en-US" dirty="0">
              <a:solidFill>
                <a:srgbClr val="0000FF"/>
              </a:solidFill>
            </a:endParaRPr>
          </a:p>
          <a:p>
            <a:r>
              <a:rPr lang="en-US" altLang="en-US" dirty="0"/>
              <a:t>Two operations are allowed on a condition variable:</a:t>
            </a:r>
          </a:p>
          <a:p>
            <a:pPr lvl="1"/>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 </a:t>
            </a:r>
            <a:r>
              <a:rPr lang="en-US" altLang="en-US" dirty="0"/>
              <a:t>–  a process that invokes the operation is suspended until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p>
          <a:p>
            <a:pPr lvl="1"/>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r>
              <a:rPr lang="en-US" altLang="en-US" dirty="0"/>
              <a:t>–</a:t>
            </a:r>
            <a:r>
              <a:rPr lang="en-US" altLang="en-US" dirty="0">
                <a:solidFill>
                  <a:srgbClr val="0000FF"/>
                </a:solidFill>
              </a:rPr>
              <a:t> </a:t>
            </a:r>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p>
          <a:p>
            <a:pPr lvl="2"/>
            <a:r>
              <a:rPr lang="en-US" altLang="en-US"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dirty="0"/>
              <a:t>on the variable, then it has no effect on the variable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9762E27F-C786-4739-B149-00BEA2E58932}"/>
              </a:ext>
            </a:extLst>
          </p:cNvPr>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p>
        </p:txBody>
      </p:sp>
      <p:pic>
        <p:nvPicPr>
          <p:cNvPr id="65538" name="Picture 1">
            <a:extLst>
              <a:ext uri="{FF2B5EF4-FFF2-40B4-BE49-F238E27FC236}">
                <a16:creationId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1254" y="1530295"/>
            <a:ext cx="601027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B36EE9A6-A94B-63DB-2757-22445EEA6EE3}"/>
              </a:ext>
            </a:extLst>
          </p:cNvPr>
          <p:cNvSpPr txBox="1"/>
          <p:nvPr/>
        </p:nvSpPr>
        <p:spPr>
          <a:xfrm>
            <a:off x="4918842" y="2722179"/>
            <a:ext cx="4141075" cy="2893100"/>
          </a:xfrm>
          <a:prstGeom prst="rect">
            <a:avLst/>
          </a:prstGeom>
          <a:noFill/>
        </p:spPr>
        <p:txBody>
          <a:bodyPr wrap="square">
            <a:spAutoFit/>
          </a:bodyPr>
          <a:lstStyle/>
          <a:p>
            <a:pPr marL="342900" indent="-342900" algn="just">
              <a:buAutoNum type="arabicPeriod"/>
            </a:pPr>
            <a:r>
              <a:rPr lang="en-US" sz="1400" dirty="0"/>
              <a:t>When two processes attempt to access a monitor, only one process can execute inside the monitor at a time while the other waits in the entry queue.</a:t>
            </a:r>
          </a:p>
          <a:p>
            <a:pPr algn="just"/>
            <a:endParaRPr lang="en-US" sz="1400" dirty="0"/>
          </a:p>
          <a:p>
            <a:pPr algn="just"/>
            <a:r>
              <a:rPr lang="en-US" sz="1400" dirty="0"/>
              <a:t>2. If the running process executes wait(), it is suspended and placed in a condition queue, allowing the waiting process to enter the monitor.</a:t>
            </a:r>
          </a:p>
          <a:p>
            <a:pPr algn="just"/>
            <a:endParaRPr lang="en-US" sz="1400" dirty="0"/>
          </a:p>
          <a:p>
            <a:pPr algn="just"/>
            <a:r>
              <a:rPr lang="en-US" sz="1400" dirty="0"/>
              <a:t>3. When signal() is executed, the waiting process is resumed and allowed to continue execution inside the monitor.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a:tabLst>
                <a:tab pos="2001838" algn="ctr"/>
                <a:tab pos="4513263"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p>
          <a:p>
            <a:pPr lvl="1">
              <a:tabLst>
                <a:tab pos="2001838" algn="ctr"/>
                <a:tab pos="4513263"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p>
          <a:p>
            <a:pPr lvl="1">
              <a:tabLst>
                <a:tab pos="2001838" algn="ctr"/>
                <a:tab pos="4513263" algn="ctr"/>
              </a:tabLst>
            </a:pPr>
            <a:r>
              <a:rPr lang="en-US" altLang="ja-JP" dirty="0">
                <a:sym typeface="MT Extra" panose="05050102010205020202" pitchFamily="18" charset="2"/>
              </a:rPr>
              <a:t>One Boolean variable “done”</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x.wait</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272617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endParaRPr lang="en-US" altLang="en-US" dirty="0"/>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Usage:</a:t>
            </a:r>
          </a:p>
          <a:p>
            <a:pPr marL="0" indent="0">
              <a:buNone/>
            </a:pPr>
            <a:r>
              <a:rPr lang="en-US" altLang="en-US" b="1" dirty="0">
                <a:latin typeface="Courier New" panose="02070309020205020404" pitchFamily="49" charset="0"/>
                <a:cs typeface="Courier New" panose="02070309020205020404" pitchFamily="49" charset="0"/>
              </a:rPr>
              <a:t>     acquire</a:t>
            </a:r>
          </a:p>
          <a:p>
            <a:pPr marL="0" indent="0">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release</a:t>
            </a:r>
          </a:p>
          <a:p>
            <a:r>
              <a:rPr lang="en-US" altLang="en-US" b="1" dirty="0">
                <a:latin typeface="Courier New" panose="02070309020205020404" pitchFamily="49" charset="0"/>
                <a:cs typeface="Courier New" panose="02070309020205020404" pitchFamily="49" charset="0"/>
              </a:rPr>
              <a:t> </a:t>
            </a:r>
            <a:r>
              <a:rPr lang="en-US" altLang="en-US" dirty="0"/>
              <a:t>Incorrect use of monitor operations</a:t>
            </a:r>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p>
          <a:p>
            <a:pPr marL="457200" lvl="1" indent="0">
              <a:buNone/>
            </a:pPr>
            <a:r>
              <a:rPr lang="en-US" dirty="0"/>
              <a:t>Monitors eliminate these errors because mutual exclusion is handled automatically, unlike manual acquire() and release() operations.</a:t>
            </a:r>
            <a:endParaRPr lang="en-US" altLang="en-US" dirty="0"/>
          </a:p>
          <a:p>
            <a:pPr marL="0" indent="0">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575779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20194</TotalTime>
  <Words>4587</Words>
  <Application>Microsoft Office PowerPoint</Application>
  <PresentationFormat>On-screen Show (4:3)</PresentationFormat>
  <Paragraphs>628</Paragraphs>
  <Slides>48</Slides>
  <Notes>41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Arial</vt:lpstr>
      <vt:lpstr>Courier New</vt:lpstr>
      <vt:lpstr>Helvetica</vt:lpstr>
      <vt:lpstr>Monotype Sorts</vt:lpstr>
      <vt:lpstr>MT Extra</vt:lpstr>
      <vt:lpstr>Times New Roman</vt:lpstr>
      <vt:lpstr>Verdana</vt:lpstr>
      <vt:lpstr>Webdings</vt:lpstr>
      <vt:lpstr>Wingdings</vt:lpstr>
      <vt:lpstr>os-8</vt:lpstr>
      <vt:lpstr>Chapter 6:  Synchronization Tools</vt:lpstr>
      <vt:lpstr>Outline</vt:lpstr>
      <vt:lpstr>Objectives</vt:lpstr>
      <vt:lpstr>Background</vt:lpstr>
      <vt:lpstr>Race Condition</vt:lpstr>
      <vt:lpstr>Critical Section Problem</vt:lpstr>
      <vt:lpstr>Critical Section</vt:lpstr>
      <vt:lpstr>Critical-Section Problem (Cont.)</vt:lpstr>
      <vt:lpstr>Interrupt-based Solution</vt:lpstr>
      <vt:lpstr>Software Solution 1</vt:lpstr>
      <vt:lpstr>Algorithm for Process Pi and Pj</vt:lpstr>
      <vt:lpstr>Correctness of the Software Solution </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Synchronization Hardware</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Mutex Locks</vt:lpstr>
      <vt:lpstr>Solution to CS Problem Using Mutex Locks</vt:lpstr>
      <vt:lpstr>Semaphore</vt:lpstr>
      <vt:lpstr>Semaphore (Cont.)</vt:lpstr>
      <vt:lpstr>Semaphore Usage Example</vt:lpstr>
      <vt:lpstr>PowerPoint Presentation</vt:lpstr>
      <vt:lpstr>Semaphore Implementation</vt:lpstr>
      <vt:lpstr>Semaphore Implementation with no Busy waiting </vt:lpstr>
      <vt:lpstr>Implementation with no Busy waiting (Cont.)</vt:lpstr>
      <vt:lpstr>Implementation with no Busy waiting (Cont.)</vt:lpstr>
      <vt:lpstr>Problems with Semaphores</vt:lpstr>
      <vt:lpstr>Liveness</vt:lpstr>
      <vt:lpstr>Liveness</vt:lpstr>
      <vt:lpstr>Liveness</vt:lpstr>
      <vt:lpstr>Monitors</vt:lpstr>
      <vt:lpstr>Schematic view of a Monitor</vt:lpstr>
      <vt:lpstr>Monitor Implementation Using Semaphores</vt:lpstr>
      <vt:lpstr>Condition Variables</vt:lpstr>
      <vt:lpstr> Monitor with Condition Variables</vt:lpstr>
      <vt:lpstr> Usage of Condition Variable  Example</vt:lpstr>
      <vt:lpstr>PowerPoint Presentation</vt:lpstr>
      <vt:lpstr>End of Chapter 6</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Aiswariya Milan</cp:lastModifiedBy>
  <cp:revision>411</cp:revision>
  <cp:lastPrinted>2020-11-04T14:30:39Z</cp:lastPrinted>
  <dcterms:created xsi:type="dcterms:W3CDTF">2011-01-13T23:43:38Z</dcterms:created>
  <dcterms:modified xsi:type="dcterms:W3CDTF">2026-04-05T22:16:44Z</dcterms:modified>
</cp:coreProperties>
</file>