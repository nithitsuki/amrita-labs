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1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2.xml" ContentType="application/inkml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139"/>
  </p:notesMasterIdLst>
  <p:handoutMasterIdLst>
    <p:handoutMasterId r:id="rId140"/>
  </p:handoutMasterIdLst>
  <p:sldIdLst>
    <p:sldId id="286" r:id="rId2"/>
    <p:sldId id="256" r:id="rId3"/>
    <p:sldId id="257" r:id="rId4"/>
    <p:sldId id="258" r:id="rId5"/>
    <p:sldId id="259" r:id="rId6"/>
    <p:sldId id="260" r:id="rId7"/>
    <p:sldId id="369" r:id="rId8"/>
    <p:sldId id="370" r:id="rId9"/>
    <p:sldId id="261" r:id="rId10"/>
    <p:sldId id="371" r:id="rId11"/>
    <p:sldId id="262" r:id="rId12"/>
    <p:sldId id="372" r:id="rId13"/>
    <p:sldId id="373" r:id="rId14"/>
    <p:sldId id="263" r:id="rId15"/>
    <p:sldId id="374" r:id="rId16"/>
    <p:sldId id="296" r:id="rId17"/>
    <p:sldId id="331" r:id="rId18"/>
    <p:sldId id="332" r:id="rId19"/>
    <p:sldId id="333" r:id="rId20"/>
    <p:sldId id="334" r:id="rId21"/>
    <p:sldId id="377" r:id="rId22"/>
    <p:sldId id="335" r:id="rId23"/>
    <p:sldId id="382" r:id="rId24"/>
    <p:sldId id="381" r:id="rId25"/>
    <p:sldId id="336" r:id="rId26"/>
    <p:sldId id="379" r:id="rId27"/>
    <p:sldId id="378" r:id="rId28"/>
    <p:sldId id="367" r:id="rId29"/>
    <p:sldId id="337" r:id="rId30"/>
    <p:sldId id="380" r:id="rId31"/>
    <p:sldId id="293" r:id="rId32"/>
    <p:sldId id="264" r:id="rId33"/>
    <p:sldId id="375" r:id="rId34"/>
    <p:sldId id="265" r:id="rId35"/>
    <p:sldId id="376" r:id="rId36"/>
    <p:sldId id="266" r:id="rId37"/>
    <p:sldId id="340" r:id="rId38"/>
    <p:sldId id="267" r:id="rId39"/>
    <p:sldId id="383" r:id="rId40"/>
    <p:sldId id="268" r:id="rId41"/>
    <p:sldId id="269" r:id="rId42"/>
    <p:sldId id="366" r:id="rId43"/>
    <p:sldId id="294" r:id="rId44"/>
    <p:sldId id="270" r:id="rId45"/>
    <p:sldId id="271" r:id="rId46"/>
    <p:sldId id="272" r:id="rId47"/>
    <p:sldId id="273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28" r:id="rId60"/>
    <p:sldId id="384" r:id="rId61"/>
    <p:sldId id="385" r:id="rId62"/>
    <p:sldId id="387" r:id="rId63"/>
    <p:sldId id="386" r:id="rId64"/>
    <p:sldId id="274" r:id="rId65"/>
    <p:sldId id="308" r:id="rId66"/>
    <p:sldId id="309" r:id="rId67"/>
    <p:sldId id="310" r:id="rId68"/>
    <p:sldId id="311" r:id="rId69"/>
    <p:sldId id="312" r:id="rId70"/>
    <p:sldId id="313" r:id="rId71"/>
    <p:sldId id="314" r:id="rId72"/>
    <p:sldId id="315" r:id="rId73"/>
    <p:sldId id="316" r:id="rId74"/>
    <p:sldId id="317" r:id="rId75"/>
    <p:sldId id="318" r:id="rId76"/>
    <p:sldId id="319" r:id="rId77"/>
    <p:sldId id="320" r:id="rId78"/>
    <p:sldId id="321" r:id="rId79"/>
    <p:sldId id="322" r:id="rId80"/>
    <p:sldId id="323" r:id="rId81"/>
    <p:sldId id="324" r:id="rId82"/>
    <p:sldId id="325" r:id="rId83"/>
    <p:sldId id="326" r:id="rId84"/>
    <p:sldId id="327" r:id="rId85"/>
    <p:sldId id="391" r:id="rId86"/>
    <p:sldId id="388" r:id="rId87"/>
    <p:sldId id="389" r:id="rId88"/>
    <p:sldId id="390" r:id="rId89"/>
    <p:sldId id="392" r:id="rId90"/>
    <p:sldId id="393" r:id="rId91"/>
    <p:sldId id="398" r:id="rId92"/>
    <p:sldId id="368" r:id="rId93"/>
    <p:sldId id="288" r:id="rId94"/>
    <p:sldId id="330" r:id="rId95"/>
    <p:sldId id="338" r:id="rId96"/>
    <p:sldId id="295" r:id="rId97"/>
    <p:sldId id="279" r:id="rId98"/>
    <p:sldId id="280" r:id="rId99"/>
    <p:sldId id="281" r:id="rId100"/>
    <p:sldId id="365" r:id="rId101"/>
    <p:sldId id="394" r:id="rId102"/>
    <p:sldId id="395" r:id="rId103"/>
    <p:sldId id="396" r:id="rId104"/>
    <p:sldId id="397" r:id="rId105"/>
    <p:sldId id="405" r:id="rId106"/>
    <p:sldId id="406" r:id="rId107"/>
    <p:sldId id="341" r:id="rId108"/>
    <p:sldId id="400" r:id="rId109"/>
    <p:sldId id="401" r:id="rId110"/>
    <p:sldId id="402" r:id="rId111"/>
    <p:sldId id="403" r:id="rId112"/>
    <p:sldId id="404" r:id="rId113"/>
    <p:sldId id="399" r:id="rId114"/>
    <p:sldId id="342" r:id="rId115"/>
    <p:sldId id="343" r:id="rId116"/>
    <p:sldId id="344" r:id="rId117"/>
    <p:sldId id="345" r:id="rId118"/>
    <p:sldId id="346" r:id="rId119"/>
    <p:sldId id="347" r:id="rId120"/>
    <p:sldId id="348" r:id="rId121"/>
    <p:sldId id="349" r:id="rId122"/>
    <p:sldId id="350" r:id="rId123"/>
    <p:sldId id="351" r:id="rId124"/>
    <p:sldId id="352" r:id="rId125"/>
    <p:sldId id="353" r:id="rId126"/>
    <p:sldId id="354" r:id="rId127"/>
    <p:sldId id="355" r:id="rId128"/>
    <p:sldId id="356" r:id="rId129"/>
    <p:sldId id="357" r:id="rId130"/>
    <p:sldId id="358" r:id="rId131"/>
    <p:sldId id="359" r:id="rId132"/>
    <p:sldId id="360" r:id="rId133"/>
    <p:sldId id="361" r:id="rId134"/>
    <p:sldId id="362" r:id="rId135"/>
    <p:sldId id="363" r:id="rId136"/>
    <p:sldId id="364" r:id="rId137"/>
    <p:sldId id="407" r:id="rId138"/>
  </p:sldIdLst>
  <p:sldSz cx="9144000" cy="6858000" type="screen4x3"/>
  <p:notesSz cx="6997700" cy="9283700"/>
  <p:defaultTextStyle>
    <a:defPPr>
      <a:defRPr lang="en-US"/>
    </a:defPPr>
    <a:lvl1pPr algn="r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r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r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r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r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4">
          <p15:clr>
            <a:srgbClr val="A4A3A4"/>
          </p15:clr>
        </p15:guide>
        <p15:guide id="2" pos="22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75" autoAdjust="0"/>
    <p:restoredTop sz="94685" autoAdjust="0"/>
  </p:normalViewPr>
  <p:slideViewPr>
    <p:cSldViewPr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-1160" y="-120"/>
      </p:cViewPr>
      <p:guideLst>
        <p:guide orient="horz" pos="2924"/>
        <p:guide pos="22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144" Type="http://schemas.openxmlformats.org/officeDocument/2006/relationships/tableStyles" Target="tableStyle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notesMaster" Target="notesMasters/notesMaster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viewProps" Target="viewProp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F7A3B7EC-13FC-434B-AF23-F3EE2C2FF00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31" tIns="46516" rIns="93031" bIns="46516" numCol="1" anchor="t" anchorCtr="0" compatLnSpc="1">
            <a:prstTxWarp prst="textNoShape">
              <a:avLst/>
            </a:prstTxWarp>
          </a:bodyPr>
          <a:lstStyle>
            <a:lvl1pPr algn="l" defTabSz="930275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898A299D-8317-41D3-9FE6-BBEC5519D6A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3988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31" tIns="46516" rIns="93031" bIns="46516" numCol="1" anchor="t" anchorCtr="0" compatLnSpc="1">
            <a:prstTxWarp prst="textNoShape">
              <a:avLst/>
            </a:prstTxWarp>
          </a:bodyPr>
          <a:lstStyle>
            <a:lvl1pPr defTabSz="930275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5780" name="Rectangle 4">
            <a:extLst>
              <a:ext uri="{FF2B5EF4-FFF2-40B4-BE49-F238E27FC236}">
                <a16:creationId xmlns:a16="http://schemas.microsoft.com/office/drawing/2014/main" id="{95AD0F62-AAC0-4B47-BF25-F2930BED4A5F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18563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31" tIns="46516" rIns="93031" bIns="46516" numCol="1" anchor="b" anchorCtr="0" compatLnSpc="1">
            <a:prstTxWarp prst="textNoShape">
              <a:avLst/>
            </a:prstTxWarp>
          </a:bodyPr>
          <a:lstStyle>
            <a:lvl1pPr algn="l" defTabSz="930275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5781" name="Rectangle 5">
            <a:extLst>
              <a:ext uri="{FF2B5EF4-FFF2-40B4-BE49-F238E27FC236}">
                <a16:creationId xmlns:a16="http://schemas.microsoft.com/office/drawing/2014/main" id="{07CBE108-F249-43C8-ACCB-E1F07B28FA88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3988" y="8818563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31" tIns="46516" rIns="93031" bIns="46516" numCol="1" anchor="b" anchorCtr="0" compatLnSpc="1">
            <a:prstTxWarp prst="textNoShape">
              <a:avLst/>
            </a:prstTxWarp>
          </a:bodyPr>
          <a:lstStyle>
            <a:lvl1pPr defTabSz="930275">
              <a:defRPr sz="1200"/>
            </a:lvl1pPr>
          </a:lstStyle>
          <a:p>
            <a:fld id="{016637E9-2D81-4C13-B936-002E43A8FBB2}" type="slidenum">
              <a:rPr lang="en-US" altLang="hi-IN"/>
              <a:pPr/>
              <a:t>‹#›</a:t>
            </a:fld>
            <a:endParaRPr lang="en-US" altLang="hi-I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0-05-16T13:26:15.395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4234 4586 0,'-18'0'312,"0"-18"-265,18 36 172,0 0-188,0-1 1,18-17-17,-18 18 1,0 0-1,0-1-15,0 1 32,0 0-32,18-18 15,-18 17 17,0 1 46,0 0-16,0-1-15,17-17-16,-17 18-31,0-1 63,0 1 171,0 0-187,0-1 0,0 1 0,0-36 93,0 1-124,0-1 0,0 0-1,0 1 1,0-1 0,0-17-1,0 17 16,0 1 110</inkml:trace>
  <inkml:trace contextRef="#ctx0" brushRef="#br0" timeOffset="2950.73">5186 6544 0,'0'-18'266,"0"1"-251,0-1 1,18 18 0,-18-18-1,17 18 32,1 0 16,0 0-16,-1 18-16,-17 0-16,18-1 1,-18 1-16,0 0 31,18-1 1,-18 1-32,0 0 15,0-1 1,0 1 15,0 0 0,0-1-15,0 1 0,0-1 15,0 1 16,-18-18 15,18 18 32,-18-18 31,18 17-109,18-17 218,0-17-203,-1 17 16</inkml:trace>
  <inkml:trace contextRef="#ctx0" brushRef="#br0" timeOffset="4414.46">5327 6756 0,'18'-18'218,"0"18"-202,-1 0 0,1 0-1,-18-18 1,17 18 0,1 0 15,-18-17 63,18 17-79,-1 0 32,-17-18-16,18 18 1,-18-17-32,18 17 46,-18-18-30,17 18 93</inkml:trace>
  <inkml:trace contextRef="#ctx0" brushRef="#br0" timeOffset="8563.44">6756 5962 0,'18'0'219,"-18"-18"-188,17 18-15,1 0 0,0 0 15,-1 0 0,1 0 0,0 0 16,-18 18-31,0 0 0,0-1-1,0 1 1,0 0 31,0-1-16,0 1-31,35-18 500,-18 0-484,1 0 15,0 0-16,-1 0 17,-17 17-17,18-17 32,-18 18-31,18-18 15,-18 18 16,17-18-31,-17 17 30,0 1 17,0 0-16,-17-1 31,-1-17-62,18 18 15,-18-18-31,1 0 31,-1 18-15,0-18-1,1 0 17,-1 0-17,1 0 48,-1 0-16,0 0-16,1 0 16,-1 0 15</inkml:trace>
  <inkml:trace contextRef="#ctx0" brushRef="#br0" timeOffset="11820.84">4534 8290 0,'0'18'125,"-18"17"-110,18 18 1,0 0-16,0 0 16,0-18-1,-18 36 1,18-36 15,0-17-31,0-1 31,0 1-15,0-36 265,0 1-265,0-1 0,0 0-1,18 1 1,0 17-1,-1-18 1,1 1 0,-1 17-1,1-18 1,0 0 15,-1 18-15,1 0-1,0-17 1,-1 17 0,1 0 77,0 0-46,-1 0 16,1 0 109</inkml:trace>
  <inkml:trace contextRef="#ctx0" brushRef="#br0" timeOffset="13859.84">4639 8414 0,'0'17'188,"0"19"-172,0-19-1,18 1 1,-18 17-1,18-17 1,-18 0-16,0-1 16,0 1-1,17-1 110,-17 1-78,0 0 31,0-1 79,0 1-64,0 0-15</inkml:trace>
  <inkml:trace contextRef="#ctx0" brushRef="#br0" timeOffset="22958.2">6809 8978 0,'-18'0'234,"18"18"-234,-17 17 16,17-17-1,-18 35 1,0 0-1,18-18 1,0-17 0,0-1-1,0 1-15,0-1 16,0 1 0,0 0 46,18-18-46,-18 17-1,18-17 1,-1 18 46,1-18-30,0 0-17,-1 0 1,1 0 0,0 0-1,-18-18-15,17 1 31,1 17 1,-18-18 30,0 0-31,17 18-15,-17-17 31,0-1-16,0 1 16,0-1-16,-17 18 32,-1-18-32,1 18 47,-1 0-47,0 0 1,1 0-1,-1 0-15,0 0-1</inkml:trace>
  <inkml:trace contextRef="#ctx0" brushRef="#br0" timeOffset="124651.02">2399 6350 0,'-17'0'172,"-19"18"-157,36-1 1,-17 1-16,-1 0 15,0 17 1,1 0 0,17-17-1,0-1 17,0 1 30,17-18 1,1 0-63,0 0 31,-1 0-31,1 0 15,0 0 17,-1 0-17,1 0 1,0 0 0,-1 0 15,1 0-31,-18 18 31,0-1-31,17 1 31,-17 0-15,0-1 15,0 1 16,0 0 0,0-1-31,-17-17-1,-1 0 1,-17 18-1,0-1 1,-36-17 0,53 0-1,-35 0 1,36 0 0,-1 0 15,1 0 31</inkml:trace>
  <inkml:trace contextRef="#ctx0" brushRef="#br0" timeOffset="126513.18">2293 6385 0,'18'0'219,"0"0"-203,-1 0-1,-17-17 1,18 17 0,17 0-1,-17 0 1,17 0-1,0 0 1,1 0 15,17 0-15,-18 0 0,-17 0-1,-1 0 1,1 0 15,-1 0 78,1 0 48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0-05-16T13:37:36.887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6103 12876 0,'18'-17'171,"0"17"-155,17 0 0,-17 0-16,17-18 15,-17 18 1,17 0 0,-18 0-1,36 0 1,-35 0-1,0 0 17,-1 0-17,1 0 17,0 0-1,-1 0 31,1 0-30,-1 0 61,-52 0 64,18 0-142,-19 0-15,-17 0 16,18 0-1,-35 0 1,52 0 0,-35 18-1,18-18 17,17 0-17,-17 0 1,17 0-1,0 0 64,1 0-33,17 17-30,-18-17 15,1 0 1,-1 0 14,0 0 17,36 0 46,0 0-93,-1 0-16,1 0 31,70 0-15,-53 0-1,54 0 1,-72 0 0,1 0-1,17 0 1,-17 0 0,-1 0 15,1 18 266,-18 0-297,0-1 15,0 19 1,0-19-16,0 19 16,0 52 15,0-53-16,0 36 1,0-54 0,0 1-16,0-1 31,0 1 16,0 0 62,0-1-46,0 1-48,0 0 17,0-1-17,0 1 16,0 0 48,0-1-48,0 1 0,0-1 63,0 1 15,18 0-46,-18-1 46,17-17-15,-17-17-94,0-1 15,0-17 1,0-71 0,0 71-1,0-36 1,0 36 0,0 0-1,0 17 1,0 0-1,18 1 1,-18-1-16,0 0 31,0 1-15,0-1 15,0 1-15,0-1 15,0 0-15,0 1 31,0-1 31,0 0 0,0 1 31,0-1-31,0 0 32,-18 18-79,1-17-15,-1 17-1,0 0 1,-17-18-16,0 18 15,-18 0 1,-18 0 0,54 0-1,-19 0 1,19 0 78,-1 0-63,0 0 0,1 0 16,-1 0 16</inkml:trace>
  <inkml:trace contextRef="#ctx0" brushRef="#br0" timeOffset="13674.65">19033 12912 0,'-18'0'141,"-17"17"-141,0-17 16,-36 0-1,36 0-15,17 0 31,-70 18-15,70-18 0,-17 0-1,17 0 1,1 0 31,34 0 453,1 0-485,0 0-15,17 0 16,35 0 0,19 0-1,-54 0 1,-17 0 0,-1 0-1,1 0 63,-1 0 16,1 0-16,-36 0 32,-52 0-95,52 0 1,1 0-1,-54 0-15,53 0 16,-17 0 0,17 0-1,1 0 1,52-18 187,-17 18-187,17 0-16,18-53 15,0 36 1,-18-1-16,0 18 16,1-18 15,-19 18-31,1 0 47,-36 0 109,1 0-140,-1 0 15,0 0-31,1 0 31,17 18-15,-18-18-1,1 0 17,17 18-32,-18-18 31,18 17 0,-18-17-15,1 0 31,17 18-1,-18-18-14,0 0 108,1 0-77,-1 0 46,36 0 79,-1 0-188,1 0 31,17 0-31,-17 0 16,17 0-1,0 0 1,36 0-1,-53 0 1,-1 0 0,1 0 62,-18 18 203,18-1-265,-18 36-1,0 0 1,0-18 0,0 18-1,0-35 1,0 0-16,0-1 15,0 19 1,0-19 15,0 1 63,0-1-47,0 1 0,0 0 15,0-1 1,0 1-1,0 0 110,0-1-94,-18-17 110,0-35-173,18-18 1,-17-53-16,-1-35 31,-17-35-15,17 88 0,18 70-1,0 0 16,0 1 63,0 34 266,0 1-329,0 0-16,0-1 17,0 1 61,-18-18 111,1 0-173,-1 0-16,1 0 1,-1 0 0,0 0-1,1 0 1,-1 0 0,0 0 30,1 0 17,-1 0 31,18 17-79,-18-17 63,18 18-46,-17-18-17,17 18 48,-18-18-32,0 0 0,18 17-15,-17-17 15,-1 0 16,18 18-47,-17-18 16,-1 0 15,0 0 78,1 0-31,-1 0-46,0 0 30,36 0 79,0 0-126,-1 0 1,1 0 0,0 0-1,34-18 1,-34 18 0,17-17-1,-17 17 1,0 0-1,-1 0 17,-17-18-1,18 18-15,0 0 30,-18-18 17,17 18 31,1-17-63,0 17-15,-18-18 15,17 18 0,1 0 63,-1 0 0,-17-17 15,18 17-93,0 0 15,-1-18 0,1 18 32,0 0-1,-1 0 16,1 0 313,0 18-360,-18-1 16,0 1-31,17-18-1,-17 17 1,0 1 15,0 0 16,0-1 0,0 1 31,0 0-47,0-1 0,0 1 1,0 0-1,0-1 0,0 1 32,0 0-48,0-1 1,0 1 0,0 17-1,0-17 1,0 17-1,0 36 1,0-36 15,0 18-15,0-36 31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86B66913-E3C3-4848-A521-5FCEBFAA1D6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31" tIns="46516" rIns="93031" bIns="46516" numCol="1" anchor="t" anchorCtr="0" compatLnSpc="1">
            <a:prstTxWarp prst="textNoShape">
              <a:avLst/>
            </a:prstTxWarp>
          </a:bodyPr>
          <a:lstStyle>
            <a:lvl1pPr algn="l" defTabSz="930275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E31CD65-07BA-47F6-BDB1-32280039A75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31" tIns="46516" rIns="93031" bIns="46516" numCol="1" anchor="t" anchorCtr="0" compatLnSpc="1">
            <a:prstTxWarp prst="textNoShape">
              <a:avLst/>
            </a:prstTxWarp>
          </a:bodyPr>
          <a:lstStyle>
            <a:lvl1pPr defTabSz="930275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04" name="Rectangle 4">
            <a:extLst>
              <a:ext uri="{FF2B5EF4-FFF2-40B4-BE49-F238E27FC236}">
                <a16:creationId xmlns:a16="http://schemas.microsoft.com/office/drawing/2014/main" id="{D78B45E0-B8ED-4596-B3E1-7FD3A1C7027D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792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03B835EA-5BC0-477D-9CF7-D168B8D5A14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3450" y="4410075"/>
            <a:ext cx="5130800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31" tIns="46516" rIns="93031" bIns="465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1904E38D-1D82-463F-95B4-E61ADAC5238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31" tIns="46516" rIns="93031" bIns="46516" numCol="1" anchor="b" anchorCtr="0" compatLnSpc="1">
            <a:prstTxWarp prst="textNoShape">
              <a:avLst/>
            </a:prstTxWarp>
          </a:bodyPr>
          <a:lstStyle>
            <a:lvl1pPr algn="l" defTabSz="930275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4A7C4392-70AF-4243-8851-2349A176C4A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31" tIns="46516" rIns="93031" bIns="46516" numCol="1" anchor="b" anchorCtr="0" compatLnSpc="1">
            <a:prstTxWarp prst="textNoShape">
              <a:avLst/>
            </a:prstTxWarp>
          </a:bodyPr>
          <a:lstStyle>
            <a:lvl1pPr defTabSz="930275">
              <a:defRPr sz="1200"/>
            </a:lvl1pPr>
          </a:lstStyle>
          <a:p>
            <a:fld id="{23316B04-B39F-47A0-9C3D-93FB93E11495}" type="slidenum">
              <a:rPr lang="en-US" altLang="hi-IN"/>
              <a:pPr/>
              <a:t>‹#›</a:t>
            </a:fld>
            <a:endParaRPr lang="en-US" altLang="hi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>
            <a:extLst>
              <a:ext uri="{FF2B5EF4-FFF2-40B4-BE49-F238E27FC236}">
                <a16:creationId xmlns:a16="http://schemas.microsoft.com/office/drawing/2014/main" id="{AB57AD93-CCB8-406E-929E-FBCEAA6BD26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F349F32-4624-484A-93EF-5667D6ED5572}" type="slidenum">
              <a:rPr lang="en-US" altLang="hi-IN" sz="1200"/>
              <a:pPr/>
              <a:t>2</a:t>
            </a:fld>
            <a:endParaRPr lang="en-US" altLang="hi-IN" sz="1200"/>
          </a:p>
        </p:txBody>
      </p:sp>
      <p:sp>
        <p:nvSpPr>
          <p:cNvPr id="103427" name="Rectangle 2">
            <a:extLst>
              <a:ext uri="{FF2B5EF4-FFF2-40B4-BE49-F238E27FC236}">
                <a16:creationId xmlns:a16="http://schemas.microsoft.com/office/drawing/2014/main" id="{77DA3A63-C35B-43D8-AA56-28B3193BC94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>
            <a:extLst>
              <a:ext uri="{FF2B5EF4-FFF2-40B4-BE49-F238E27FC236}">
                <a16:creationId xmlns:a16="http://schemas.microsoft.com/office/drawing/2014/main" id="{36156167-8362-4F80-BFB7-58C093E5B0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hi-IN" altLang="hi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>
            <a:extLst>
              <a:ext uri="{FF2B5EF4-FFF2-40B4-BE49-F238E27FC236}">
                <a16:creationId xmlns:a16="http://schemas.microsoft.com/office/drawing/2014/main" id="{5282E7E4-5CA8-49AE-8B72-1D201C2F56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B679D2A-A5FB-4ECD-AAFD-488B109BB3B7}" type="slidenum">
              <a:rPr lang="en-US" altLang="hi-IN" sz="1200"/>
              <a:pPr/>
              <a:t>3</a:t>
            </a:fld>
            <a:endParaRPr lang="en-US" altLang="hi-IN" sz="1200"/>
          </a:p>
        </p:txBody>
      </p:sp>
      <p:sp>
        <p:nvSpPr>
          <p:cNvPr id="104451" name="Rectangle 2">
            <a:extLst>
              <a:ext uri="{FF2B5EF4-FFF2-40B4-BE49-F238E27FC236}">
                <a16:creationId xmlns:a16="http://schemas.microsoft.com/office/drawing/2014/main" id="{B3BE3592-7B4A-484F-9877-6D3A07EC8E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>
            <a:extLst>
              <a:ext uri="{FF2B5EF4-FFF2-40B4-BE49-F238E27FC236}">
                <a16:creationId xmlns:a16="http://schemas.microsoft.com/office/drawing/2014/main" id="{78F7C433-B33C-4775-A14B-9C15ABE7A7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hi-IN" sz="2000"/>
              <a:t>Our question might be, how can I get from the Kitchen to the bathroom while going through the fewest other rooms?</a:t>
            </a:r>
          </a:p>
          <a:p>
            <a:endParaRPr lang="en-US" altLang="hi-IN" sz="20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>
            <a:extLst>
              <a:ext uri="{FF2B5EF4-FFF2-40B4-BE49-F238E27FC236}">
                <a16:creationId xmlns:a16="http://schemas.microsoft.com/office/drawing/2014/main" id="{5FEA0FC6-8395-4992-A247-F68E16325D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D79E2DA-D14B-4C06-ACAF-5CBBBC6993D7}" type="slidenum">
              <a:rPr lang="en-US" altLang="hi-IN" sz="1200"/>
              <a:pPr/>
              <a:t>4</a:t>
            </a:fld>
            <a:endParaRPr lang="en-US" altLang="hi-IN" sz="1200"/>
          </a:p>
        </p:txBody>
      </p:sp>
      <p:sp>
        <p:nvSpPr>
          <p:cNvPr id="105475" name="Rectangle 2">
            <a:extLst>
              <a:ext uri="{FF2B5EF4-FFF2-40B4-BE49-F238E27FC236}">
                <a16:creationId xmlns:a16="http://schemas.microsoft.com/office/drawing/2014/main" id="{1C134246-39BF-45FB-95C0-3F94965714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>
            <a:extLst>
              <a:ext uri="{FF2B5EF4-FFF2-40B4-BE49-F238E27FC236}">
                <a16:creationId xmlns:a16="http://schemas.microsoft.com/office/drawing/2014/main" id="{C68FFF8E-5DB0-43E2-ADC8-CEC9CA6C4F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hi-IN" altLang="hi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>
            <a:extLst>
              <a:ext uri="{FF2B5EF4-FFF2-40B4-BE49-F238E27FC236}">
                <a16:creationId xmlns:a16="http://schemas.microsoft.com/office/drawing/2014/main" id="{30A7ED65-C165-4646-AF09-161214501F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341565C-93C8-43A8-8409-2112108F1987}" type="slidenum">
              <a:rPr lang="en-US" altLang="hi-IN" sz="1200"/>
              <a:pPr/>
              <a:t>5</a:t>
            </a:fld>
            <a:endParaRPr lang="en-US" altLang="hi-IN" sz="1200"/>
          </a:p>
        </p:txBody>
      </p:sp>
      <p:sp>
        <p:nvSpPr>
          <p:cNvPr id="106499" name="Rectangle 2">
            <a:extLst>
              <a:ext uri="{FF2B5EF4-FFF2-40B4-BE49-F238E27FC236}">
                <a16:creationId xmlns:a16="http://schemas.microsoft.com/office/drawing/2014/main" id="{FFAD530C-F96A-40CE-B1DA-D49D55AEB2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>
            <a:extLst>
              <a:ext uri="{FF2B5EF4-FFF2-40B4-BE49-F238E27FC236}">
                <a16:creationId xmlns:a16="http://schemas.microsoft.com/office/drawing/2014/main" id="{F31F4CD8-43EF-4165-9DBA-3E2DD07854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hi-IN" altLang="hi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>
            <a:extLst>
              <a:ext uri="{FF2B5EF4-FFF2-40B4-BE49-F238E27FC236}">
                <a16:creationId xmlns:a16="http://schemas.microsoft.com/office/drawing/2014/main" id="{2347B077-77E4-45FD-8E64-1CD8B76AC14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6923C56-86B7-45EC-8016-F898C3D59FCE}" type="slidenum">
              <a:rPr lang="en-US" altLang="hi-IN" sz="1200"/>
              <a:pPr/>
              <a:t>6</a:t>
            </a:fld>
            <a:endParaRPr lang="en-US" altLang="hi-IN" sz="1200"/>
          </a:p>
        </p:txBody>
      </p:sp>
      <p:sp>
        <p:nvSpPr>
          <p:cNvPr id="107523" name="Rectangle 2">
            <a:extLst>
              <a:ext uri="{FF2B5EF4-FFF2-40B4-BE49-F238E27FC236}">
                <a16:creationId xmlns:a16="http://schemas.microsoft.com/office/drawing/2014/main" id="{D742BC54-E14C-401F-A291-DB807FB287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>
            <a:extLst>
              <a:ext uri="{FF2B5EF4-FFF2-40B4-BE49-F238E27FC236}">
                <a16:creationId xmlns:a16="http://schemas.microsoft.com/office/drawing/2014/main" id="{2F595DB2-6BC0-4A3D-82C3-2D11647615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22300" y="4410075"/>
            <a:ext cx="5675313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hi-IN" altLang="hi-IN" sz="20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>
            <a:extLst>
              <a:ext uri="{FF2B5EF4-FFF2-40B4-BE49-F238E27FC236}">
                <a16:creationId xmlns:a16="http://schemas.microsoft.com/office/drawing/2014/main" id="{A1D1B340-55BA-46E6-B410-3120C2E5947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BD6EC3A-380C-4A43-8020-9D2774CC5C1E}" type="slidenum">
              <a:rPr lang="en-US" altLang="hi-IN" sz="1200"/>
              <a:pPr/>
              <a:t>9</a:t>
            </a:fld>
            <a:endParaRPr lang="en-US" altLang="hi-IN" sz="1200"/>
          </a:p>
        </p:txBody>
      </p:sp>
      <p:sp>
        <p:nvSpPr>
          <p:cNvPr id="108547" name="Rectangle 2">
            <a:extLst>
              <a:ext uri="{FF2B5EF4-FFF2-40B4-BE49-F238E27FC236}">
                <a16:creationId xmlns:a16="http://schemas.microsoft.com/office/drawing/2014/main" id="{C8EF2D1B-2061-4797-9E8E-0E501997A3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>
            <a:extLst>
              <a:ext uri="{FF2B5EF4-FFF2-40B4-BE49-F238E27FC236}">
                <a16:creationId xmlns:a16="http://schemas.microsoft.com/office/drawing/2014/main" id="{C595618F-A367-4562-8461-9C4836092B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hi-IN" altLang="hi-I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>
            <a:extLst>
              <a:ext uri="{FF2B5EF4-FFF2-40B4-BE49-F238E27FC236}">
                <a16:creationId xmlns:a16="http://schemas.microsoft.com/office/drawing/2014/main" id="{3AF2B1DD-4FC7-4764-BB11-013ED3551B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F296AD8-0CF6-4F64-91DB-CF71569667D2}" type="slidenum">
              <a:rPr lang="en-US" altLang="hi-IN" sz="1200"/>
              <a:pPr/>
              <a:t>11</a:t>
            </a:fld>
            <a:endParaRPr lang="en-US" altLang="hi-IN" sz="1200"/>
          </a:p>
        </p:txBody>
      </p:sp>
      <p:sp>
        <p:nvSpPr>
          <p:cNvPr id="109571" name="Rectangle 2">
            <a:extLst>
              <a:ext uri="{FF2B5EF4-FFF2-40B4-BE49-F238E27FC236}">
                <a16:creationId xmlns:a16="http://schemas.microsoft.com/office/drawing/2014/main" id="{7ECDBC4F-E31E-4F3F-9B9B-CE6367C0F6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>
            <a:extLst>
              <a:ext uri="{FF2B5EF4-FFF2-40B4-BE49-F238E27FC236}">
                <a16:creationId xmlns:a16="http://schemas.microsoft.com/office/drawing/2014/main" id="{3A4B77FB-C958-4CFE-AB49-D9E81BDBA3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hi-IN" altLang="hi-I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>
            <a:extLst>
              <a:ext uri="{FF2B5EF4-FFF2-40B4-BE49-F238E27FC236}">
                <a16:creationId xmlns:a16="http://schemas.microsoft.com/office/drawing/2014/main" id="{837BD86E-AB9D-47B7-9BBC-373CD14234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B4704DB-3B77-488A-9078-C7EBB1A3D738}" type="slidenum">
              <a:rPr lang="en-US" altLang="hi-IN" sz="1200"/>
              <a:pPr/>
              <a:t>14</a:t>
            </a:fld>
            <a:endParaRPr lang="en-US" altLang="hi-IN" sz="1200"/>
          </a:p>
        </p:txBody>
      </p:sp>
      <p:sp>
        <p:nvSpPr>
          <p:cNvPr id="110595" name="Rectangle 2">
            <a:extLst>
              <a:ext uri="{FF2B5EF4-FFF2-40B4-BE49-F238E27FC236}">
                <a16:creationId xmlns:a16="http://schemas.microsoft.com/office/drawing/2014/main" id="{8ADA3A2E-3193-40BE-B8DB-2D5993DEE9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>
            <a:extLst>
              <a:ext uri="{FF2B5EF4-FFF2-40B4-BE49-F238E27FC236}">
                <a16:creationId xmlns:a16="http://schemas.microsoft.com/office/drawing/2014/main" id="{31995171-50CB-4C35-9CB6-FB97DFC500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hi-IN" altLang="hi-IN" sz="20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>
            <a:extLst>
              <a:ext uri="{FF2B5EF4-FFF2-40B4-BE49-F238E27FC236}">
                <a16:creationId xmlns:a16="http://schemas.microsoft.com/office/drawing/2014/main" id="{8F37952A-9886-4FDF-818A-28F2EBFBCE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7659557-101E-4F16-A045-C43A3DAD92D3}" type="slidenum">
              <a:rPr lang="en-US" altLang="hi-IN" sz="1200"/>
              <a:pPr/>
              <a:t>32</a:t>
            </a:fld>
            <a:endParaRPr lang="en-US" altLang="hi-IN" sz="1200"/>
          </a:p>
        </p:txBody>
      </p:sp>
      <p:sp>
        <p:nvSpPr>
          <p:cNvPr id="111619" name="Rectangle 2">
            <a:extLst>
              <a:ext uri="{FF2B5EF4-FFF2-40B4-BE49-F238E27FC236}">
                <a16:creationId xmlns:a16="http://schemas.microsoft.com/office/drawing/2014/main" id="{F2515845-F0EC-4F35-8F23-18161CF8E7C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>
            <a:extLst>
              <a:ext uri="{FF2B5EF4-FFF2-40B4-BE49-F238E27FC236}">
                <a16:creationId xmlns:a16="http://schemas.microsoft.com/office/drawing/2014/main" id="{CD6BBD76-BA96-4A23-A82B-DBBCDAEF6D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hi-IN" altLang="hi-I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>
            <a:extLst>
              <a:ext uri="{FF2B5EF4-FFF2-40B4-BE49-F238E27FC236}">
                <a16:creationId xmlns:a16="http://schemas.microsoft.com/office/drawing/2014/main" id="{069253A5-08AA-464F-9CD4-017846D906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7EA978E-C2BD-4E2E-A6D5-CDD68C86A27D}" type="slidenum">
              <a:rPr lang="en-US" altLang="hi-IN" sz="1200"/>
              <a:pPr/>
              <a:t>34</a:t>
            </a:fld>
            <a:endParaRPr lang="en-US" altLang="hi-IN" sz="1200"/>
          </a:p>
        </p:txBody>
      </p:sp>
      <p:sp>
        <p:nvSpPr>
          <p:cNvPr id="112643" name="Rectangle 2">
            <a:extLst>
              <a:ext uri="{FF2B5EF4-FFF2-40B4-BE49-F238E27FC236}">
                <a16:creationId xmlns:a16="http://schemas.microsoft.com/office/drawing/2014/main" id="{6BF04F3D-69D9-47AB-BB9E-98EFF458F2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>
            <a:extLst>
              <a:ext uri="{FF2B5EF4-FFF2-40B4-BE49-F238E27FC236}">
                <a16:creationId xmlns:a16="http://schemas.microsoft.com/office/drawing/2014/main" id="{70450E12-19DF-4F81-996F-703FDF4165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hi-IN" altLang="hi-I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0C885768-C336-4CB8-92CC-6F6021D455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17368C2-E459-445F-85B9-9A3F3C931040}" type="slidenum">
              <a:rPr lang="en-US" altLang="hi-IN" sz="1200"/>
              <a:pPr/>
              <a:t>36</a:t>
            </a:fld>
            <a:endParaRPr lang="en-US" altLang="hi-IN" sz="1200"/>
          </a:p>
        </p:txBody>
      </p:sp>
      <p:sp>
        <p:nvSpPr>
          <p:cNvPr id="113667" name="Rectangle 2">
            <a:extLst>
              <a:ext uri="{FF2B5EF4-FFF2-40B4-BE49-F238E27FC236}">
                <a16:creationId xmlns:a16="http://schemas.microsoft.com/office/drawing/2014/main" id="{2982B259-F756-4EBA-8683-7015D529415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>
            <a:extLst>
              <a:ext uri="{FF2B5EF4-FFF2-40B4-BE49-F238E27FC236}">
                <a16:creationId xmlns:a16="http://schemas.microsoft.com/office/drawing/2014/main" id="{2E8D33F8-8EB2-45B6-B3FD-20B3C61FFF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hi-IN" sz="2000"/>
              <a:t>Assume size is kept in the lists.</a:t>
            </a:r>
          </a:p>
          <a:p>
            <a:endParaRPr lang="en-US" altLang="hi-IN" sz="20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>
            <a:extLst>
              <a:ext uri="{FF2B5EF4-FFF2-40B4-BE49-F238E27FC236}">
                <a16:creationId xmlns:a16="http://schemas.microsoft.com/office/drawing/2014/main" id="{A1F68424-DBD6-4A84-9EF6-5365F3C7A5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D331D50-2E89-4505-B991-6FB918381E52}" type="slidenum">
              <a:rPr lang="en-US" altLang="hi-IN" sz="1200"/>
              <a:pPr/>
              <a:t>41</a:t>
            </a:fld>
            <a:endParaRPr lang="en-US" altLang="hi-IN" sz="1200"/>
          </a:p>
        </p:txBody>
      </p:sp>
      <p:sp>
        <p:nvSpPr>
          <p:cNvPr id="114691" name="Rectangle 2">
            <a:extLst>
              <a:ext uri="{FF2B5EF4-FFF2-40B4-BE49-F238E27FC236}">
                <a16:creationId xmlns:a16="http://schemas.microsoft.com/office/drawing/2014/main" id="{BEAD2214-9598-470C-B90A-61ACC6CF54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14692" name="Rectangle 3">
            <a:extLst>
              <a:ext uri="{FF2B5EF4-FFF2-40B4-BE49-F238E27FC236}">
                <a16:creationId xmlns:a16="http://schemas.microsoft.com/office/drawing/2014/main" id="{07E835AF-4293-4D77-AF03-89F3D8636B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r>
              <a:rPr lang="en-US" altLang="hi-IN" sz="2000"/>
              <a:t>E ranges between O(V) and O(V</a:t>
            </a:r>
            <a:r>
              <a:rPr lang="en-US" altLang="hi-IN" sz="2000" baseline="30000"/>
              <a:t>2</a:t>
            </a:r>
            <a:r>
              <a:rPr lang="en-US" altLang="hi-IN" sz="2000"/>
              <a:t>)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>
            <a:extLst>
              <a:ext uri="{FF2B5EF4-FFF2-40B4-BE49-F238E27FC236}">
                <a16:creationId xmlns:a16="http://schemas.microsoft.com/office/drawing/2014/main" id="{A58E287F-EF5C-414C-8B8F-6EE73AA052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435F3DF-A666-4D04-A0BF-61E4242D3DF2}" type="slidenum">
              <a:rPr lang="en-US" altLang="hi-IN" sz="1200"/>
              <a:pPr/>
              <a:t>44</a:t>
            </a:fld>
            <a:endParaRPr lang="en-US" altLang="hi-IN" sz="1200"/>
          </a:p>
        </p:txBody>
      </p:sp>
      <p:sp>
        <p:nvSpPr>
          <p:cNvPr id="115715" name="Rectangle 2">
            <a:extLst>
              <a:ext uri="{FF2B5EF4-FFF2-40B4-BE49-F238E27FC236}">
                <a16:creationId xmlns:a16="http://schemas.microsoft.com/office/drawing/2014/main" id="{4D9778B3-46B1-48DE-9260-E828CC9FAC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15716" name="Rectangle 3">
            <a:extLst>
              <a:ext uri="{FF2B5EF4-FFF2-40B4-BE49-F238E27FC236}">
                <a16:creationId xmlns:a16="http://schemas.microsoft.com/office/drawing/2014/main" id="{7A3DBF9A-E4F4-4C0A-A737-BA798935AA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>
              <a:spcBef>
                <a:spcPts val="500"/>
              </a:spcBef>
              <a:spcAft>
                <a:spcPts val="500"/>
              </a:spcAft>
            </a:pPr>
            <a:endParaRPr lang="hi-IN" altLang="hi-IN" sz="20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>
            <a:extLst>
              <a:ext uri="{FF2B5EF4-FFF2-40B4-BE49-F238E27FC236}">
                <a16:creationId xmlns:a16="http://schemas.microsoft.com/office/drawing/2014/main" id="{CA569BED-ABAF-4BD5-939C-F0F3AA9D45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2E44AD9-9C1B-4B19-B98A-0ED3A1344C81}" type="slidenum">
              <a:rPr lang="en-US" altLang="hi-IN" sz="1200"/>
              <a:pPr/>
              <a:t>45</a:t>
            </a:fld>
            <a:endParaRPr lang="en-US" altLang="hi-IN" sz="1200"/>
          </a:p>
        </p:txBody>
      </p:sp>
      <p:sp>
        <p:nvSpPr>
          <p:cNvPr id="116739" name="Rectangle 2">
            <a:extLst>
              <a:ext uri="{FF2B5EF4-FFF2-40B4-BE49-F238E27FC236}">
                <a16:creationId xmlns:a16="http://schemas.microsoft.com/office/drawing/2014/main" id="{A70F1389-1430-4249-82AA-4B1128637C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16740" name="Rectangle 3">
            <a:extLst>
              <a:ext uri="{FF2B5EF4-FFF2-40B4-BE49-F238E27FC236}">
                <a16:creationId xmlns:a16="http://schemas.microsoft.com/office/drawing/2014/main" id="{13C9C82A-C4F6-4A54-BD64-3D804FB5FF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hi-IN" sz="2000"/>
              <a:t>To completely explore a vertex, we look at each edge going out of it. For each edge which goes to an undiscovered vertex, we mark it </a:t>
            </a:r>
            <a:r>
              <a:rPr lang="en-US" altLang="hi-IN" sz="2000" i="1"/>
              <a:t>discovered</a:t>
            </a:r>
            <a:r>
              <a:rPr lang="en-US" altLang="hi-IN" sz="2000"/>
              <a:t> and add it to the list of work to do. 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hi-IN" sz="2000"/>
              <a:t>Note that regardless of what order we fetch the next vertex to explore, each edge is considered exactly twice, when each of its endpoints are explored. </a:t>
            </a:r>
          </a:p>
          <a:p>
            <a:endParaRPr lang="en-US" altLang="hi-IN" sz="20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>
            <a:extLst>
              <a:ext uri="{FF2B5EF4-FFF2-40B4-BE49-F238E27FC236}">
                <a16:creationId xmlns:a16="http://schemas.microsoft.com/office/drawing/2014/main" id="{96CAF069-BED5-4FEE-B8A5-67E44072BBC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CCB9BF3-E4F6-4775-8A32-110CD83890ED}" type="slidenum">
              <a:rPr lang="en-US" altLang="hi-IN" sz="1200"/>
              <a:pPr/>
              <a:t>47</a:t>
            </a:fld>
            <a:endParaRPr lang="en-US" altLang="hi-IN" sz="1200"/>
          </a:p>
        </p:txBody>
      </p:sp>
      <p:sp>
        <p:nvSpPr>
          <p:cNvPr id="117763" name="Rectangle 2">
            <a:extLst>
              <a:ext uri="{FF2B5EF4-FFF2-40B4-BE49-F238E27FC236}">
                <a16:creationId xmlns:a16="http://schemas.microsoft.com/office/drawing/2014/main" id="{81CFD8F2-EA21-4E87-BE38-30938C12152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17764" name="Rectangle 3">
            <a:extLst>
              <a:ext uri="{FF2B5EF4-FFF2-40B4-BE49-F238E27FC236}">
                <a16:creationId xmlns:a16="http://schemas.microsoft.com/office/drawing/2014/main" id="{11ED3D27-37F5-412C-A003-ED92CDC47D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hi-IN" altLang="hi-I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>
            <a:extLst>
              <a:ext uri="{FF2B5EF4-FFF2-40B4-BE49-F238E27FC236}">
                <a16:creationId xmlns:a16="http://schemas.microsoft.com/office/drawing/2014/main" id="{1A50F1D8-92AF-4483-9E4C-14F7F060849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8B5E1C5-087E-41C6-8340-0E9E0D8BD04B}" type="slidenum">
              <a:rPr lang="en-US" altLang="hi-IN" sz="1200"/>
              <a:pPr/>
              <a:t>64</a:t>
            </a:fld>
            <a:endParaRPr lang="en-US" altLang="hi-IN" sz="1200"/>
          </a:p>
        </p:txBody>
      </p:sp>
      <p:sp>
        <p:nvSpPr>
          <p:cNvPr id="118787" name="Rectangle 2">
            <a:extLst>
              <a:ext uri="{FF2B5EF4-FFF2-40B4-BE49-F238E27FC236}">
                <a16:creationId xmlns:a16="http://schemas.microsoft.com/office/drawing/2014/main" id="{1C4052A5-4341-4CAD-B876-585A0FD6A1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18788" name="Rectangle 3">
            <a:extLst>
              <a:ext uri="{FF2B5EF4-FFF2-40B4-BE49-F238E27FC236}">
                <a16:creationId xmlns:a16="http://schemas.microsoft.com/office/drawing/2014/main" id="{0DD4C090-B3D6-426A-BF59-679D4A485E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hi-IN" altLang="hi-I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>
            <a:extLst>
              <a:ext uri="{FF2B5EF4-FFF2-40B4-BE49-F238E27FC236}">
                <a16:creationId xmlns:a16="http://schemas.microsoft.com/office/drawing/2014/main" id="{C9A43563-1A73-4637-B0D5-56B7407A1A3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FD3CCBA-1FA3-48AE-A6B3-FAFFE9515A17}" type="slidenum">
              <a:rPr lang="en-US" altLang="hi-IN" sz="1200"/>
              <a:pPr/>
              <a:t>92</a:t>
            </a:fld>
            <a:endParaRPr lang="en-US" altLang="hi-IN" sz="1200"/>
          </a:p>
        </p:txBody>
      </p:sp>
      <p:sp>
        <p:nvSpPr>
          <p:cNvPr id="119811" name="Rectangle 2">
            <a:extLst>
              <a:ext uri="{FF2B5EF4-FFF2-40B4-BE49-F238E27FC236}">
                <a16:creationId xmlns:a16="http://schemas.microsoft.com/office/drawing/2014/main" id="{D994D4D7-FE1E-4121-9FBF-5F67BEB80E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19812" name="Rectangle 3">
            <a:extLst>
              <a:ext uri="{FF2B5EF4-FFF2-40B4-BE49-F238E27FC236}">
                <a16:creationId xmlns:a16="http://schemas.microsoft.com/office/drawing/2014/main" id="{78DAAFD4-F8D9-42B6-A571-34E52CF5F7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hi-IN" altLang="hi-I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>
            <a:extLst>
              <a:ext uri="{FF2B5EF4-FFF2-40B4-BE49-F238E27FC236}">
                <a16:creationId xmlns:a16="http://schemas.microsoft.com/office/drawing/2014/main" id="{F9014844-B6E8-4BF1-93EA-0378804DAC8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8926365-CAA0-4327-8787-D33438EA7B53}" type="slidenum">
              <a:rPr lang="en-US" altLang="hi-IN" sz="1200"/>
              <a:pPr/>
              <a:t>98</a:t>
            </a:fld>
            <a:endParaRPr lang="en-US" altLang="hi-IN" sz="1200"/>
          </a:p>
        </p:txBody>
      </p:sp>
      <p:sp>
        <p:nvSpPr>
          <p:cNvPr id="120835" name="Rectangle 2">
            <a:extLst>
              <a:ext uri="{FF2B5EF4-FFF2-40B4-BE49-F238E27FC236}">
                <a16:creationId xmlns:a16="http://schemas.microsoft.com/office/drawing/2014/main" id="{D2808303-C5CD-409F-80E2-0188886A50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20836" name="Rectangle 3">
            <a:extLst>
              <a:ext uri="{FF2B5EF4-FFF2-40B4-BE49-F238E27FC236}">
                <a16:creationId xmlns:a16="http://schemas.microsoft.com/office/drawing/2014/main" id="{964FD500-422A-4268-8DFC-34978D5A2C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hi-IN" altLang="hi-IN" sz="20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>
            <a:extLst>
              <a:ext uri="{FF2B5EF4-FFF2-40B4-BE49-F238E27FC236}">
                <a16:creationId xmlns:a16="http://schemas.microsoft.com/office/drawing/2014/main" id="{B6B37668-1170-468F-9F59-1BC85A84A54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59C255D-FB0D-4643-A5FC-0DE41B710BF2}" type="slidenum">
              <a:rPr lang="en-US" altLang="hi-IN" sz="1200"/>
              <a:pPr/>
              <a:t>99</a:t>
            </a:fld>
            <a:endParaRPr lang="en-US" altLang="hi-IN" sz="1200"/>
          </a:p>
        </p:txBody>
      </p:sp>
      <p:sp>
        <p:nvSpPr>
          <p:cNvPr id="121859" name="Rectangle 2">
            <a:extLst>
              <a:ext uri="{FF2B5EF4-FFF2-40B4-BE49-F238E27FC236}">
                <a16:creationId xmlns:a16="http://schemas.microsoft.com/office/drawing/2014/main" id="{2885727A-5E3A-4390-AE4D-6A408A651A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21860" name="Rectangle 3">
            <a:extLst>
              <a:ext uri="{FF2B5EF4-FFF2-40B4-BE49-F238E27FC236}">
                <a16:creationId xmlns:a16="http://schemas.microsoft.com/office/drawing/2014/main" id="{C962D879-1A8D-419D-8418-ACCC18255A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hi-IN" altLang="hi-IN" sz="20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>
            <a:extLst>
              <a:ext uri="{FF2B5EF4-FFF2-40B4-BE49-F238E27FC236}">
                <a16:creationId xmlns:a16="http://schemas.microsoft.com/office/drawing/2014/main" id="{7CF3EEAC-CD82-4FB0-A59F-92F47F51D9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3" name="Rectangle 3">
            <a:extLst>
              <a:ext uri="{FF2B5EF4-FFF2-40B4-BE49-F238E27FC236}">
                <a16:creationId xmlns:a16="http://schemas.microsoft.com/office/drawing/2014/main" id="{3258B3DE-042D-4247-A7C9-0FD5FFAF27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hi-IN" altLang="hi-I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>
            <a:extLst>
              <a:ext uri="{FF2B5EF4-FFF2-40B4-BE49-F238E27FC236}">
                <a16:creationId xmlns:a16="http://schemas.microsoft.com/office/drawing/2014/main" id="{7CF3EEAC-CD82-4FB0-A59F-92F47F51D9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3" name="Rectangle 3">
            <a:extLst>
              <a:ext uri="{FF2B5EF4-FFF2-40B4-BE49-F238E27FC236}">
                <a16:creationId xmlns:a16="http://schemas.microsoft.com/office/drawing/2014/main" id="{3258B3DE-042D-4247-A7C9-0FD5FFAF27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hi-IN" altLang="hi-IN"/>
          </a:p>
        </p:txBody>
      </p:sp>
    </p:spTree>
    <p:extLst>
      <p:ext uri="{BB962C8B-B14F-4D97-AF65-F5344CB8AC3E}">
        <p14:creationId xmlns:p14="http://schemas.microsoft.com/office/powerpoint/2010/main" val="14910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>
            <a:extLst>
              <a:ext uri="{FF2B5EF4-FFF2-40B4-BE49-F238E27FC236}">
                <a16:creationId xmlns:a16="http://schemas.microsoft.com/office/drawing/2014/main" id="{54A84F03-95CE-4561-8F7C-3C6663C7F6F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7" name="Rectangle 3">
            <a:extLst>
              <a:ext uri="{FF2B5EF4-FFF2-40B4-BE49-F238E27FC236}">
                <a16:creationId xmlns:a16="http://schemas.microsoft.com/office/drawing/2014/main" id="{D0ED7905-4BE4-432E-85EA-9A3864F4B7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hi-IN" altLang="hi-I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>
            <a:extLst>
              <a:ext uri="{FF2B5EF4-FFF2-40B4-BE49-F238E27FC236}">
                <a16:creationId xmlns:a16="http://schemas.microsoft.com/office/drawing/2014/main" id="{F4F7673A-7CB6-4658-8203-080A274480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83A9352D-7A6F-4587-B0F5-A07A9D5EC3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hi-IN" altLang="hi-I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>
            <a:extLst>
              <a:ext uri="{FF2B5EF4-FFF2-40B4-BE49-F238E27FC236}">
                <a16:creationId xmlns:a16="http://schemas.microsoft.com/office/drawing/2014/main" id="{8C2677C3-99AD-486B-9FC7-49808427CC8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5" name="Rectangle 3">
            <a:extLst>
              <a:ext uri="{FF2B5EF4-FFF2-40B4-BE49-F238E27FC236}">
                <a16:creationId xmlns:a16="http://schemas.microsoft.com/office/drawing/2014/main" id="{077733F2-DC86-4CA4-9EA9-439BB3D313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hi-IN" altLang="hi-I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>
            <a:extLst>
              <a:ext uri="{FF2B5EF4-FFF2-40B4-BE49-F238E27FC236}">
                <a16:creationId xmlns:a16="http://schemas.microsoft.com/office/drawing/2014/main" id="{2EBC0032-3359-43E6-92D2-9C209AD59F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79" name="Rectangle 3">
            <a:extLst>
              <a:ext uri="{FF2B5EF4-FFF2-40B4-BE49-F238E27FC236}">
                <a16:creationId xmlns:a16="http://schemas.microsoft.com/office/drawing/2014/main" id="{95A7DAF6-1242-419C-B943-9C4BF187AD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hi-IN" altLang="hi-I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>
            <a:extLst>
              <a:ext uri="{FF2B5EF4-FFF2-40B4-BE49-F238E27FC236}">
                <a16:creationId xmlns:a16="http://schemas.microsoft.com/office/drawing/2014/main" id="{45A59DC9-6E2E-41E6-ACE1-A77A1E032D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3" name="Rectangle 3">
            <a:extLst>
              <a:ext uri="{FF2B5EF4-FFF2-40B4-BE49-F238E27FC236}">
                <a16:creationId xmlns:a16="http://schemas.microsoft.com/office/drawing/2014/main" id="{FBEB652D-2B16-4032-901A-A5CFF70D9F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hi-IN" altLang="hi-I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>
            <a:extLst>
              <a:ext uri="{FF2B5EF4-FFF2-40B4-BE49-F238E27FC236}">
                <a16:creationId xmlns:a16="http://schemas.microsoft.com/office/drawing/2014/main" id="{39F3E2D6-6F09-48DB-ADFD-E7BFE01DDC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33EFC5AD-14AA-459A-89C9-63FBDB58B3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hi-IN" altLang="hi-I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>
            <a:extLst>
              <a:ext uri="{FF2B5EF4-FFF2-40B4-BE49-F238E27FC236}">
                <a16:creationId xmlns:a16="http://schemas.microsoft.com/office/drawing/2014/main" id="{794D3A3D-7679-4271-B985-DBCFF42082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1" name="Rectangle 3">
            <a:extLst>
              <a:ext uri="{FF2B5EF4-FFF2-40B4-BE49-F238E27FC236}">
                <a16:creationId xmlns:a16="http://schemas.microsoft.com/office/drawing/2014/main" id="{C0165C36-ED88-408C-9998-0C29697F5B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hi-IN" altLang="hi-I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>
            <a:extLst>
              <a:ext uri="{FF2B5EF4-FFF2-40B4-BE49-F238E27FC236}">
                <a16:creationId xmlns:a16="http://schemas.microsoft.com/office/drawing/2014/main" id="{BBF0D393-67BF-4E34-945F-EB77DFBFB6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5" name="Rectangle 3">
            <a:extLst>
              <a:ext uri="{FF2B5EF4-FFF2-40B4-BE49-F238E27FC236}">
                <a16:creationId xmlns:a16="http://schemas.microsoft.com/office/drawing/2014/main" id="{7CA53306-EB6D-4D2B-A6D4-BDE2F3FD3D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hi-IN" altLang="hi-I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>
            <a:extLst>
              <a:ext uri="{FF2B5EF4-FFF2-40B4-BE49-F238E27FC236}">
                <a16:creationId xmlns:a16="http://schemas.microsoft.com/office/drawing/2014/main" id="{8B21B1FD-87EA-4373-B4F4-2017BDAA9BF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099" name="Rectangle 3">
            <a:extLst>
              <a:ext uri="{FF2B5EF4-FFF2-40B4-BE49-F238E27FC236}">
                <a16:creationId xmlns:a16="http://schemas.microsoft.com/office/drawing/2014/main" id="{32D12FB2-7228-4370-88B0-37BA1E6B5F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hi-IN" altLang="hi-IN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>
            <a:extLst>
              <a:ext uri="{FF2B5EF4-FFF2-40B4-BE49-F238E27FC236}">
                <a16:creationId xmlns:a16="http://schemas.microsoft.com/office/drawing/2014/main" id="{367209F3-2BD7-417A-8B5D-19DB3F2D73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3" name="Rectangle 3">
            <a:extLst>
              <a:ext uri="{FF2B5EF4-FFF2-40B4-BE49-F238E27FC236}">
                <a16:creationId xmlns:a16="http://schemas.microsoft.com/office/drawing/2014/main" id="{6E6B8275-D26B-45A1-A858-328380D013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hi-IN" altLang="hi-IN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>
            <a:extLst>
              <a:ext uri="{FF2B5EF4-FFF2-40B4-BE49-F238E27FC236}">
                <a16:creationId xmlns:a16="http://schemas.microsoft.com/office/drawing/2014/main" id="{3048F152-FA55-4591-A14E-F58B5BF902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7" name="Rectangle 3">
            <a:extLst>
              <a:ext uri="{FF2B5EF4-FFF2-40B4-BE49-F238E27FC236}">
                <a16:creationId xmlns:a16="http://schemas.microsoft.com/office/drawing/2014/main" id="{84696C7D-89F6-4DD6-BF64-4A3A17FBB2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hi-IN" altLang="hi-IN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>
            <a:extLst>
              <a:ext uri="{FF2B5EF4-FFF2-40B4-BE49-F238E27FC236}">
                <a16:creationId xmlns:a16="http://schemas.microsoft.com/office/drawing/2014/main" id="{D1DC1647-970A-44AC-B2CB-B0548FF44C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1" name="Rectangle 3">
            <a:extLst>
              <a:ext uri="{FF2B5EF4-FFF2-40B4-BE49-F238E27FC236}">
                <a16:creationId xmlns:a16="http://schemas.microsoft.com/office/drawing/2014/main" id="{D7435EF5-5D66-4FF2-97EF-6249FDA003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hi-IN" altLang="hi-IN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>
            <a:extLst>
              <a:ext uri="{FF2B5EF4-FFF2-40B4-BE49-F238E27FC236}">
                <a16:creationId xmlns:a16="http://schemas.microsoft.com/office/drawing/2014/main" id="{DE9AE932-2CB1-4685-A400-ACDCD1791E1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5" name="Rectangle 3">
            <a:extLst>
              <a:ext uri="{FF2B5EF4-FFF2-40B4-BE49-F238E27FC236}">
                <a16:creationId xmlns:a16="http://schemas.microsoft.com/office/drawing/2014/main" id="{2238FBB9-80F9-4828-93A5-05106454CC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hi-IN" altLang="hi-IN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>
            <a:extLst>
              <a:ext uri="{FF2B5EF4-FFF2-40B4-BE49-F238E27FC236}">
                <a16:creationId xmlns:a16="http://schemas.microsoft.com/office/drawing/2014/main" id="{92B6D9AC-00F2-4E90-9384-19C9C9031D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19" name="Rectangle 3">
            <a:extLst>
              <a:ext uri="{FF2B5EF4-FFF2-40B4-BE49-F238E27FC236}">
                <a16:creationId xmlns:a16="http://schemas.microsoft.com/office/drawing/2014/main" id="{0403B5E5-EBA0-4A84-B42C-FC88B6E4E8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hi-IN" altLang="hi-IN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>
            <a:extLst>
              <a:ext uri="{FF2B5EF4-FFF2-40B4-BE49-F238E27FC236}">
                <a16:creationId xmlns:a16="http://schemas.microsoft.com/office/drawing/2014/main" id="{B8C6142C-72F7-42FE-A8A6-71EBD1B5D5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3" name="Rectangle 3">
            <a:extLst>
              <a:ext uri="{FF2B5EF4-FFF2-40B4-BE49-F238E27FC236}">
                <a16:creationId xmlns:a16="http://schemas.microsoft.com/office/drawing/2014/main" id="{8A56A692-B20B-4E98-A3EF-6C741D92F6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hi-IN" altLang="hi-IN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>
            <a:extLst>
              <a:ext uri="{FF2B5EF4-FFF2-40B4-BE49-F238E27FC236}">
                <a16:creationId xmlns:a16="http://schemas.microsoft.com/office/drawing/2014/main" id="{787C56D8-22E8-4217-83A3-7C7EFE4AFC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9267" name="Rectangle 3">
            <a:extLst>
              <a:ext uri="{FF2B5EF4-FFF2-40B4-BE49-F238E27FC236}">
                <a16:creationId xmlns:a16="http://schemas.microsoft.com/office/drawing/2014/main" id="{1CDE5494-5A92-481E-824A-6885909A5C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hi-IN" altLang="hi-IN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>
            <a:extLst>
              <a:ext uri="{FF2B5EF4-FFF2-40B4-BE49-F238E27FC236}">
                <a16:creationId xmlns:a16="http://schemas.microsoft.com/office/drawing/2014/main" id="{3CD277F6-1CC3-4F48-90DC-835BA049EA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1" name="Rectangle 3">
            <a:extLst>
              <a:ext uri="{FF2B5EF4-FFF2-40B4-BE49-F238E27FC236}">
                <a16:creationId xmlns:a16="http://schemas.microsoft.com/office/drawing/2014/main" id="{1F52C90E-6E6C-4F37-85D5-97F3C559CF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hi-IN" altLang="hi-IN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>
            <a:extLst>
              <a:ext uri="{FF2B5EF4-FFF2-40B4-BE49-F238E27FC236}">
                <a16:creationId xmlns:a16="http://schemas.microsoft.com/office/drawing/2014/main" id="{30EE5D00-6ED4-44A0-B313-55361A90C41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315" name="Rectangle 3">
            <a:extLst>
              <a:ext uri="{FF2B5EF4-FFF2-40B4-BE49-F238E27FC236}">
                <a16:creationId xmlns:a16="http://schemas.microsoft.com/office/drawing/2014/main" id="{021137D3-DFDF-48C5-8DC8-438A91CC35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hi-IN" altLang="hi-IN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>
            <a:extLst>
              <a:ext uri="{FF2B5EF4-FFF2-40B4-BE49-F238E27FC236}">
                <a16:creationId xmlns:a16="http://schemas.microsoft.com/office/drawing/2014/main" id="{AA247FA2-3F08-4201-8146-08F8BFAB19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39" name="Rectangle 3">
            <a:extLst>
              <a:ext uri="{FF2B5EF4-FFF2-40B4-BE49-F238E27FC236}">
                <a16:creationId xmlns:a16="http://schemas.microsoft.com/office/drawing/2014/main" id="{6629CA2D-226B-44D7-893D-E2A4654F9A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hi-IN" altLang="hi-IN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>
            <a:extLst>
              <a:ext uri="{FF2B5EF4-FFF2-40B4-BE49-F238E27FC236}">
                <a16:creationId xmlns:a16="http://schemas.microsoft.com/office/drawing/2014/main" id="{64B9A433-70C0-42C8-AA6A-7DAD551905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63" name="Rectangle 3">
            <a:extLst>
              <a:ext uri="{FF2B5EF4-FFF2-40B4-BE49-F238E27FC236}">
                <a16:creationId xmlns:a16="http://schemas.microsoft.com/office/drawing/2014/main" id="{4E23079E-6FCC-42E0-A4F3-A02E6BCA17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hi-IN" altLang="hi-IN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>
            <a:extLst>
              <a:ext uri="{FF2B5EF4-FFF2-40B4-BE49-F238E27FC236}">
                <a16:creationId xmlns:a16="http://schemas.microsoft.com/office/drawing/2014/main" id="{5FE46A30-6F90-4443-9533-EA8C4BE92D4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7" name="Rectangle 3">
            <a:extLst>
              <a:ext uri="{FF2B5EF4-FFF2-40B4-BE49-F238E27FC236}">
                <a16:creationId xmlns:a16="http://schemas.microsoft.com/office/drawing/2014/main" id="{A00CEC72-05F1-4249-A5ED-F48E62F640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hi-IN" altLang="hi-IN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>
            <a:extLst>
              <a:ext uri="{FF2B5EF4-FFF2-40B4-BE49-F238E27FC236}">
                <a16:creationId xmlns:a16="http://schemas.microsoft.com/office/drawing/2014/main" id="{AE93A2A6-C0DF-4B86-A14A-A193A6822E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5411" name="Rectangle 3">
            <a:extLst>
              <a:ext uri="{FF2B5EF4-FFF2-40B4-BE49-F238E27FC236}">
                <a16:creationId xmlns:a16="http://schemas.microsoft.com/office/drawing/2014/main" id="{E135C5E6-A8E6-4C78-B786-7F17219ABA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hi-IN" altLang="hi-IN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>
            <a:extLst>
              <a:ext uri="{FF2B5EF4-FFF2-40B4-BE49-F238E27FC236}">
                <a16:creationId xmlns:a16="http://schemas.microsoft.com/office/drawing/2014/main" id="{9870DBB9-BC0D-4AE5-BE83-CF97389AF0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6435" name="Rectangle 3">
            <a:extLst>
              <a:ext uri="{FF2B5EF4-FFF2-40B4-BE49-F238E27FC236}">
                <a16:creationId xmlns:a16="http://schemas.microsoft.com/office/drawing/2014/main" id="{082BB867-9383-4A96-A93F-2ECFBA52F1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hi-IN" altLang="hi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D1DED6C-8F3C-48FF-B981-B276EC3038F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676D7BE-5E6E-4DCB-B49B-089457D39BF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4F94AD0-33EF-4B66-ACC0-2E1C46AF41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E78FA7D-ACB4-423B-9E43-A815CDD8EBDF}" type="slidenum">
              <a:rPr lang="en-US" altLang="hi-IN"/>
              <a:pPr/>
              <a:t>‹#›</a:t>
            </a:fld>
            <a:endParaRPr lang="en-US" altLang="hi-IN"/>
          </a:p>
        </p:txBody>
      </p:sp>
    </p:spTree>
    <p:extLst>
      <p:ext uri="{BB962C8B-B14F-4D97-AF65-F5344CB8AC3E}">
        <p14:creationId xmlns:p14="http://schemas.microsoft.com/office/powerpoint/2010/main" val="3911984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5C72E93-4B09-448E-854B-0C8AD18CFFF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8014B75-1E72-4523-8038-7C05954195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6605105-7E19-47EB-945E-FFD0F30EE2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2751D9C-B6AB-428B-A110-91A75E744F65}" type="slidenum">
              <a:rPr lang="en-US" altLang="hi-IN"/>
              <a:pPr/>
              <a:t>‹#›</a:t>
            </a:fld>
            <a:endParaRPr lang="en-US" altLang="hi-IN"/>
          </a:p>
        </p:txBody>
      </p:sp>
    </p:spTree>
    <p:extLst>
      <p:ext uri="{BB962C8B-B14F-4D97-AF65-F5344CB8AC3E}">
        <p14:creationId xmlns:p14="http://schemas.microsoft.com/office/powerpoint/2010/main" val="4270991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870B886-16A6-4E24-A3C6-352D19F93FD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CD692A8-E08C-4D93-8CEE-B17A445152B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4EF09E0-4E39-4D97-8467-D8E657397CD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88B287-F293-4EBA-98CA-09301D677A79}" type="slidenum">
              <a:rPr lang="en-US" altLang="hi-IN"/>
              <a:pPr/>
              <a:t>‹#›</a:t>
            </a:fld>
            <a:endParaRPr lang="en-US" altLang="hi-IN"/>
          </a:p>
        </p:txBody>
      </p:sp>
    </p:spTree>
    <p:extLst>
      <p:ext uri="{BB962C8B-B14F-4D97-AF65-F5344CB8AC3E}">
        <p14:creationId xmlns:p14="http://schemas.microsoft.com/office/powerpoint/2010/main" val="2670053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006361-5958-4E9D-989B-25AD9D5F69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560FFC-004A-4E52-8077-617093F436E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76BB9A-FC4B-43CE-8ABA-25325669148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FAE0AF0-3106-4DEE-9228-B2E0639512AF}" type="slidenum">
              <a:rPr lang="en-US" altLang="hi-IN"/>
              <a:pPr/>
              <a:t>‹#›</a:t>
            </a:fld>
            <a:endParaRPr lang="en-US" altLang="hi-IN"/>
          </a:p>
        </p:txBody>
      </p:sp>
    </p:spTree>
    <p:extLst>
      <p:ext uri="{BB962C8B-B14F-4D97-AF65-F5344CB8AC3E}">
        <p14:creationId xmlns:p14="http://schemas.microsoft.com/office/powerpoint/2010/main" val="2629706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A624801-2441-4A8E-AE5F-01729E7F1AB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D1719C9-39C5-41D1-B40E-E63EC1DA37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5D5518AF-F499-46C2-A9D5-1BAFFD8F644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F3176C-AAC3-4E81-9EAF-8FA6F5A4025F}" type="slidenum">
              <a:rPr lang="en-US" altLang="hi-IN"/>
              <a:pPr/>
              <a:t>‹#›</a:t>
            </a:fld>
            <a:endParaRPr lang="en-US" altLang="hi-IN"/>
          </a:p>
        </p:txBody>
      </p:sp>
    </p:spTree>
    <p:extLst>
      <p:ext uri="{BB962C8B-B14F-4D97-AF65-F5344CB8AC3E}">
        <p14:creationId xmlns:p14="http://schemas.microsoft.com/office/powerpoint/2010/main" val="2497193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E75406A-43B3-4E5F-B101-92294E2B51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A5285D6-872A-43B4-A535-C78C3F7719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D81E019-34C8-46A3-B00D-54634D241EA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AFAB652-CA5A-4D28-80EA-725052506A27}" type="slidenum">
              <a:rPr lang="en-US" altLang="hi-IN"/>
              <a:pPr/>
              <a:t>‹#›</a:t>
            </a:fld>
            <a:endParaRPr lang="en-US" altLang="hi-IN"/>
          </a:p>
        </p:txBody>
      </p:sp>
    </p:spTree>
    <p:extLst>
      <p:ext uri="{BB962C8B-B14F-4D97-AF65-F5344CB8AC3E}">
        <p14:creationId xmlns:p14="http://schemas.microsoft.com/office/powerpoint/2010/main" val="1124468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E74E55C5-F2AC-424D-BE8B-4132405DEBE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53414788-B488-46BB-A596-6EFDDE67E41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B2CA5F2-1B5B-4B7D-B510-3DAD017EB66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1EFDAE-5468-437F-B7CF-9AE20AC67FD2}" type="slidenum">
              <a:rPr lang="en-US" altLang="hi-IN"/>
              <a:pPr/>
              <a:t>‹#›</a:t>
            </a:fld>
            <a:endParaRPr lang="en-US" altLang="hi-IN"/>
          </a:p>
        </p:txBody>
      </p:sp>
    </p:spTree>
    <p:extLst>
      <p:ext uri="{BB962C8B-B14F-4D97-AF65-F5344CB8AC3E}">
        <p14:creationId xmlns:p14="http://schemas.microsoft.com/office/powerpoint/2010/main" val="486839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595A80-8AA1-4EA5-A896-FA0101DE19E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37D87E-D4E8-4479-9919-4CD68B70BDF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0E375E-149C-47A3-A468-E22531EF0F4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EDCBC5D-E490-44C1-83AC-0C6598B4F968}" type="slidenum">
              <a:rPr lang="en-US" altLang="hi-IN"/>
              <a:pPr/>
              <a:t>‹#›</a:t>
            </a:fld>
            <a:endParaRPr lang="en-US" altLang="hi-IN"/>
          </a:p>
        </p:txBody>
      </p:sp>
    </p:spTree>
    <p:extLst>
      <p:ext uri="{BB962C8B-B14F-4D97-AF65-F5344CB8AC3E}">
        <p14:creationId xmlns:p14="http://schemas.microsoft.com/office/powerpoint/2010/main" val="800438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4F7109-A667-4617-A6DC-FDC28F8A4B5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CDF894-CE03-48E8-BB5A-7C67965509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D1EC8E-6940-42B1-9B1A-19AC4A87BDD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E77E93F-9FE6-411F-AFDB-22ECEF898E32}" type="slidenum">
              <a:rPr lang="en-US" altLang="hi-IN"/>
              <a:pPr/>
              <a:t>‹#›</a:t>
            </a:fld>
            <a:endParaRPr lang="en-US" altLang="hi-IN"/>
          </a:p>
        </p:txBody>
      </p:sp>
    </p:spTree>
    <p:extLst>
      <p:ext uri="{BB962C8B-B14F-4D97-AF65-F5344CB8AC3E}">
        <p14:creationId xmlns:p14="http://schemas.microsoft.com/office/powerpoint/2010/main" val="680684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DD436BB-1A7B-4221-AEAA-C5CC40B15AA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D0EBCBA-EACC-4CE1-9C16-4AB2F982CC7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4CF0CF3-69A4-4731-A087-EDDD54D51B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ABD45A4-C285-4DF9-8BCB-183047AA27B2}" type="slidenum">
              <a:rPr lang="en-US" altLang="hi-IN"/>
              <a:pPr/>
              <a:t>‹#›</a:t>
            </a:fld>
            <a:endParaRPr lang="en-US" altLang="hi-IN"/>
          </a:p>
        </p:txBody>
      </p:sp>
    </p:spTree>
    <p:extLst>
      <p:ext uri="{BB962C8B-B14F-4D97-AF65-F5344CB8AC3E}">
        <p14:creationId xmlns:p14="http://schemas.microsoft.com/office/powerpoint/2010/main" val="2350481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0BF807A-90B1-4A90-8937-C93E9403B79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C76B462-5779-4235-884D-4EC617E707E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E405530-9ACF-4FF9-976D-868B3741A54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85F4273-DBB4-4930-BBDF-86CD5C1AE977}" type="slidenum">
              <a:rPr lang="en-US" altLang="hi-IN"/>
              <a:pPr/>
              <a:t>‹#›</a:t>
            </a:fld>
            <a:endParaRPr lang="en-US" altLang="hi-IN"/>
          </a:p>
        </p:txBody>
      </p:sp>
    </p:spTree>
    <p:extLst>
      <p:ext uri="{BB962C8B-B14F-4D97-AF65-F5344CB8AC3E}">
        <p14:creationId xmlns:p14="http://schemas.microsoft.com/office/powerpoint/2010/main" val="2156234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319550A8-2DEA-45C5-B42B-B74FD64958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hi-IN"/>
              <a:t>Click to edit Master title style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C5583E89-1800-4755-99BD-CE19366130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hi-IN"/>
              <a:t>Click to edit Master text styles</a:t>
            </a:r>
          </a:p>
          <a:p>
            <a:pPr lvl="1"/>
            <a:r>
              <a:rPr lang="en-US" altLang="hi-IN"/>
              <a:t>Second level</a:t>
            </a:r>
          </a:p>
          <a:p>
            <a:pPr lvl="2"/>
            <a:r>
              <a:rPr lang="en-US" altLang="hi-IN"/>
              <a:t>Third level</a:t>
            </a:r>
          </a:p>
          <a:p>
            <a:pPr lvl="3"/>
            <a:r>
              <a:rPr lang="en-US" altLang="hi-IN"/>
              <a:t>Fourth level</a:t>
            </a:r>
          </a:p>
          <a:p>
            <a:pPr lvl="4"/>
            <a:r>
              <a:rPr lang="en-US" altLang="hi-IN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211742D-B627-4510-BD57-60C4A4BC283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77CAD7C-7139-4920-B0F0-B051E2611B0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2BCF54A-C753-43AD-BFB5-CE201E26032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fld id="{6E7D04B6-A11A-48FC-BFD8-2F7C86C563F5}" type="slidenum">
              <a:rPr lang="en-US" altLang="hi-IN"/>
              <a:pPr/>
              <a:t>‹#›</a:t>
            </a:fld>
            <a:endParaRPr lang="en-US" altLang="hi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emf"/><Relationship Id="rId5" Type="http://schemas.openxmlformats.org/officeDocument/2006/relationships/customXml" Target="../ink/ink1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3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4.emf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gif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gif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6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6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6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6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6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jpe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005A42F7-DFC1-4027-8971-D7E26F2E74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i-IN"/>
              <a:t>Graphs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C50CCB1E-5F94-4376-8D24-65C6E3193F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hi-IN">
                <a:solidFill>
                  <a:schemeClr val="accent2"/>
                </a:solidFill>
              </a:rPr>
              <a:t>Motivation and Terminology</a:t>
            </a:r>
          </a:p>
          <a:p>
            <a:r>
              <a:rPr lang="en-US" altLang="hi-IN"/>
              <a:t>Representations</a:t>
            </a:r>
          </a:p>
          <a:p>
            <a:r>
              <a:rPr lang="en-US" altLang="hi-IN"/>
              <a:t>Traversals</a:t>
            </a:r>
          </a:p>
          <a:p>
            <a:r>
              <a:rPr lang="en-US" altLang="hi-IN"/>
              <a:t>Three Problems</a:t>
            </a:r>
          </a:p>
          <a:p>
            <a:pPr>
              <a:buFontTx/>
              <a:buNone/>
            </a:pPr>
            <a:endParaRPr lang="en-US" altLang="hi-IN"/>
          </a:p>
          <a:p>
            <a:endParaRPr lang="en-US" altLang="hi-I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0644906-C65C-47C5-A8D8-81A9FB6A7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51D9C-B6AB-428B-A110-91A75E744F65}" type="slidenum">
              <a:rPr lang="en-US" altLang="hi-IN" smtClean="0"/>
              <a:pPr/>
              <a:t>1</a:t>
            </a:fld>
            <a:endParaRPr lang="en-US" altLang="hi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661A9874-1D47-4493-A629-0073649784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i-IN"/>
              <a:t>Graphs</a:t>
            </a:r>
          </a:p>
        </p:txBody>
      </p:sp>
      <p:sp>
        <p:nvSpPr>
          <p:cNvPr id="4099" name="Text Box 3">
            <a:extLst>
              <a:ext uri="{FF2B5EF4-FFF2-40B4-BE49-F238E27FC236}">
                <a16:creationId xmlns:a16="http://schemas.microsoft.com/office/drawing/2014/main" id="{115BCA4A-CC29-4F8D-BC6D-A27F12D52A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946275"/>
            <a:ext cx="8534400" cy="3493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lang="en-US" altLang="hi-IN" dirty="0"/>
              <a:t>A graph </a:t>
            </a:r>
            <a:r>
              <a:rPr lang="en-US" altLang="hi-IN" i="1" dirty="0"/>
              <a:t>G</a:t>
            </a:r>
            <a:r>
              <a:rPr lang="en-US" altLang="hi-IN" dirty="0"/>
              <a:t> consists of a set of </a:t>
            </a:r>
            <a:r>
              <a:rPr lang="en-US" altLang="hi-IN" i="1" dirty="0"/>
              <a:t>vertices</a:t>
            </a:r>
            <a:r>
              <a:rPr lang="en-US" altLang="hi-IN" dirty="0"/>
              <a:t> </a:t>
            </a:r>
            <a:r>
              <a:rPr lang="en-US" altLang="hi-IN" i="1" dirty="0"/>
              <a:t>V</a:t>
            </a:r>
            <a:r>
              <a:rPr lang="en-US" altLang="hi-IN" dirty="0"/>
              <a:t> together with a set </a:t>
            </a:r>
            <a:r>
              <a:rPr lang="en-US" altLang="hi-IN" i="1" dirty="0"/>
              <a:t>E</a:t>
            </a:r>
            <a:r>
              <a:rPr lang="en-US" altLang="hi-IN" dirty="0"/>
              <a:t> of vertex pairs or </a:t>
            </a:r>
            <a:r>
              <a:rPr lang="en-US" altLang="hi-IN" i="1" dirty="0"/>
              <a:t>edges</a:t>
            </a:r>
            <a:r>
              <a:rPr lang="en-US" altLang="hi-IN" dirty="0"/>
              <a:t>.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lang="en-US" altLang="hi-IN" dirty="0"/>
              <a:t>	G = (V,E)   [in some texts they use G(V,E)].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lang="en-US" altLang="hi-IN" dirty="0"/>
              <a:t>We also use V and E to represent # of nodes and edges</a:t>
            </a:r>
            <a:endParaRPr lang="en-US" altLang="hi-IN" sz="800" dirty="0"/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lang="en-US" altLang="hi-IN" dirty="0"/>
              <a:t>Graphs are important because any binary relation is a graph, so graphs can be used to represent essentially </a:t>
            </a:r>
            <a:r>
              <a:rPr lang="en-US" altLang="hi-IN" i="1" dirty="0"/>
              <a:t>any</a:t>
            </a:r>
            <a:r>
              <a:rPr lang="en-US" altLang="hi-IN" dirty="0"/>
              <a:t> relationship. </a:t>
            </a:r>
            <a:endParaRPr lang="en-US" altLang="hi-IN" sz="2400" dirty="0"/>
          </a:p>
        </p:txBody>
      </p:sp>
      <p:grpSp>
        <p:nvGrpSpPr>
          <p:cNvPr id="4100" name="Group 20">
            <a:extLst>
              <a:ext uri="{FF2B5EF4-FFF2-40B4-BE49-F238E27FC236}">
                <a16:creationId xmlns:a16="http://schemas.microsoft.com/office/drawing/2014/main" id="{AA0C701A-5611-4B16-B134-54F6DE73BC3B}"/>
              </a:ext>
            </a:extLst>
          </p:cNvPr>
          <p:cNvGrpSpPr>
            <a:grpSpLocks/>
          </p:cNvGrpSpPr>
          <p:nvPr/>
        </p:nvGrpSpPr>
        <p:grpSpPr bwMode="auto">
          <a:xfrm>
            <a:off x="3505200" y="5181600"/>
            <a:ext cx="2209800" cy="1066800"/>
            <a:chOff x="2208" y="3072"/>
            <a:chExt cx="1392" cy="672"/>
          </a:xfrm>
        </p:grpSpPr>
        <p:sp>
          <p:nvSpPr>
            <p:cNvPr id="4101" name="Line 18">
              <a:extLst>
                <a:ext uri="{FF2B5EF4-FFF2-40B4-BE49-F238E27FC236}">
                  <a16:creationId xmlns:a16="http://schemas.microsoft.com/office/drawing/2014/main" id="{BBEFF7C0-54EB-4B39-91C5-6E451DAC7D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4" y="3168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i-IN"/>
            </a:p>
          </p:txBody>
        </p:sp>
        <p:sp>
          <p:nvSpPr>
            <p:cNvPr id="4102" name="Line 19">
              <a:extLst>
                <a:ext uri="{FF2B5EF4-FFF2-40B4-BE49-F238E27FC236}">
                  <a16:creationId xmlns:a16="http://schemas.microsoft.com/office/drawing/2014/main" id="{EF068477-A5A3-4EF5-ADEE-556F0319AE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28" y="3648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i-IN"/>
            </a:p>
          </p:txBody>
        </p:sp>
        <p:sp>
          <p:nvSpPr>
            <p:cNvPr id="4103" name="Line 15">
              <a:extLst>
                <a:ext uri="{FF2B5EF4-FFF2-40B4-BE49-F238E27FC236}">
                  <a16:creationId xmlns:a16="http://schemas.microsoft.com/office/drawing/2014/main" id="{A276A577-601C-45F6-8E55-85720C2A6F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321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i-IN"/>
            </a:p>
          </p:txBody>
        </p:sp>
        <p:sp>
          <p:nvSpPr>
            <p:cNvPr id="4104" name="Line 12">
              <a:extLst>
                <a:ext uri="{FF2B5EF4-FFF2-40B4-BE49-F238E27FC236}">
                  <a16:creationId xmlns:a16="http://schemas.microsoft.com/office/drawing/2014/main" id="{87E841B0-998E-4859-848B-7B7A828757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3168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i-IN"/>
            </a:p>
          </p:txBody>
        </p:sp>
        <p:sp>
          <p:nvSpPr>
            <p:cNvPr id="4105" name="Line 13">
              <a:extLst>
                <a:ext uri="{FF2B5EF4-FFF2-40B4-BE49-F238E27FC236}">
                  <a16:creationId xmlns:a16="http://schemas.microsoft.com/office/drawing/2014/main" id="{3EAA5036-5505-4FB4-84CB-D7CFE32C88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321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i-IN"/>
            </a:p>
          </p:txBody>
        </p:sp>
        <p:sp>
          <p:nvSpPr>
            <p:cNvPr id="4106" name="Line 14">
              <a:extLst>
                <a:ext uri="{FF2B5EF4-FFF2-40B4-BE49-F238E27FC236}">
                  <a16:creationId xmlns:a16="http://schemas.microsoft.com/office/drawing/2014/main" id="{29C75548-25B8-42E4-86B5-21649B28A6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3216"/>
              <a:ext cx="528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i-IN"/>
            </a:p>
          </p:txBody>
        </p:sp>
        <p:sp>
          <p:nvSpPr>
            <p:cNvPr id="4107" name="Line 16">
              <a:extLst>
                <a:ext uri="{FF2B5EF4-FFF2-40B4-BE49-F238E27FC236}">
                  <a16:creationId xmlns:a16="http://schemas.microsoft.com/office/drawing/2014/main" id="{A140E9DA-6603-47A5-8527-97CC449FCA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28" y="3168"/>
              <a:ext cx="576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i-IN"/>
            </a:p>
          </p:txBody>
        </p:sp>
        <p:sp>
          <p:nvSpPr>
            <p:cNvPr id="4108" name="Oval 4">
              <a:extLst>
                <a:ext uri="{FF2B5EF4-FFF2-40B4-BE49-F238E27FC236}">
                  <a16:creationId xmlns:a16="http://schemas.microsoft.com/office/drawing/2014/main" id="{9B54AB50-44CF-4069-B632-7E74690BA4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3072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hi-IN"/>
            </a:p>
          </p:txBody>
        </p:sp>
        <p:sp>
          <p:nvSpPr>
            <p:cNvPr id="4109" name="Oval 5">
              <a:extLst>
                <a:ext uri="{FF2B5EF4-FFF2-40B4-BE49-F238E27FC236}">
                  <a16:creationId xmlns:a16="http://schemas.microsoft.com/office/drawing/2014/main" id="{793B65C4-154C-40A6-B2E8-C888A91AEC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3552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hi-IN"/>
            </a:p>
          </p:txBody>
        </p:sp>
        <p:sp>
          <p:nvSpPr>
            <p:cNvPr id="4110" name="Oval 6">
              <a:extLst>
                <a:ext uri="{FF2B5EF4-FFF2-40B4-BE49-F238E27FC236}">
                  <a16:creationId xmlns:a16="http://schemas.microsoft.com/office/drawing/2014/main" id="{65B1B2FA-60A2-4C4B-BA3F-D7EAF5E992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3552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hi-IN"/>
            </a:p>
          </p:txBody>
        </p:sp>
        <p:sp>
          <p:nvSpPr>
            <p:cNvPr id="4111" name="Oval 7">
              <a:extLst>
                <a:ext uri="{FF2B5EF4-FFF2-40B4-BE49-F238E27FC236}">
                  <a16:creationId xmlns:a16="http://schemas.microsoft.com/office/drawing/2014/main" id="{FB2A52F2-1154-465E-977C-4F2B21A02E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3072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hi-IN"/>
            </a:p>
          </p:txBody>
        </p:sp>
        <p:sp>
          <p:nvSpPr>
            <p:cNvPr id="4112" name="Oval 9">
              <a:extLst>
                <a:ext uri="{FF2B5EF4-FFF2-40B4-BE49-F238E27FC236}">
                  <a16:creationId xmlns:a16="http://schemas.microsoft.com/office/drawing/2014/main" id="{9E03B42D-4D4D-46E4-957D-D3E5F82BB7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3072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hi-IN"/>
            </a:p>
          </p:txBody>
        </p:sp>
        <p:sp>
          <p:nvSpPr>
            <p:cNvPr id="4113" name="Oval 17">
              <a:extLst>
                <a:ext uri="{FF2B5EF4-FFF2-40B4-BE49-F238E27FC236}">
                  <a16:creationId xmlns:a16="http://schemas.microsoft.com/office/drawing/2014/main" id="{25261F9F-4BC5-4933-9DCC-D37BCD2662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3552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hi-IN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3B4673-7733-4F96-B8C6-F21113D5B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2</a:t>
            </a:fld>
            <a:endParaRPr lang="en-US" altLang="hi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41AF38D3-7F48-4F1B-B28C-F8C140491C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i-IN"/>
              <a:t>Graph Interpretations</a:t>
            </a:r>
          </a:p>
        </p:txBody>
      </p:sp>
      <p:sp>
        <p:nvSpPr>
          <p:cNvPr id="5123" name="Text Box 13">
            <a:extLst>
              <a:ext uri="{FF2B5EF4-FFF2-40B4-BE49-F238E27FC236}">
                <a16:creationId xmlns:a16="http://schemas.microsoft.com/office/drawing/2014/main" id="{16E1F5DD-01B1-46D1-AB16-78648A290F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057400"/>
            <a:ext cx="3270250" cy="173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hi-IN" sz="1800"/>
              <a:t>Living Room      Den     Bedroom</a:t>
            </a:r>
          </a:p>
          <a:p>
            <a:pPr algn="l"/>
            <a:endParaRPr lang="en-US" altLang="hi-IN" sz="1800"/>
          </a:p>
          <a:p>
            <a:pPr algn="l"/>
            <a:endParaRPr lang="en-US" altLang="hi-IN" sz="1800"/>
          </a:p>
          <a:p>
            <a:pPr algn="l"/>
            <a:endParaRPr lang="en-US" altLang="hi-IN" sz="1800"/>
          </a:p>
          <a:p>
            <a:pPr algn="l"/>
            <a:endParaRPr lang="en-US" altLang="hi-IN" sz="1800"/>
          </a:p>
          <a:p>
            <a:pPr algn="l"/>
            <a:r>
              <a:rPr lang="en-US" altLang="hi-IN" sz="1800"/>
              <a:t>    Kitchen        Hallway     Bath</a:t>
            </a:r>
          </a:p>
        </p:txBody>
      </p:sp>
      <p:sp>
        <p:nvSpPr>
          <p:cNvPr id="5124" name="Line 14">
            <a:extLst>
              <a:ext uri="{FF2B5EF4-FFF2-40B4-BE49-F238E27FC236}">
                <a16:creationId xmlns:a16="http://schemas.microsoft.com/office/drawing/2014/main" id="{8F12C3E0-C635-456F-8CFF-64805F51182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00400" y="25908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5125" name="Line 15">
            <a:extLst>
              <a:ext uri="{FF2B5EF4-FFF2-40B4-BE49-F238E27FC236}">
                <a16:creationId xmlns:a16="http://schemas.microsoft.com/office/drawing/2014/main" id="{C361E304-2F82-4581-B2F6-82B31B476AF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86000" y="33528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5126" name="Line 16">
            <a:extLst>
              <a:ext uri="{FF2B5EF4-FFF2-40B4-BE49-F238E27FC236}">
                <a16:creationId xmlns:a16="http://schemas.microsoft.com/office/drawing/2014/main" id="{E7056DCA-BF94-45AB-B6EF-A8848BDE0135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0" y="2667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5127" name="Line 17">
            <a:extLst>
              <a:ext uri="{FF2B5EF4-FFF2-40B4-BE49-F238E27FC236}">
                <a16:creationId xmlns:a16="http://schemas.microsoft.com/office/drawing/2014/main" id="{92976053-C854-4628-881B-FDF783A5E96E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1600" y="25908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5128" name="Line 18">
            <a:extLst>
              <a:ext uri="{FF2B5EF4-FFF2-40B4-BE49-F238E27FC236}">
                <a16:creationId xmlns:a16="http://schemas.microsoft.com/office/drawing/2014/main" id="{C3FA5C28-A23D-4A78-A343-A34000828A96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5400" y="2667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5129" name="Line 19">
            <a:extLst>
              <a:ext uri="{FF2B5EF4-FFF2-40B4-BE49-F238E27FC236}">
                <a16:creationId xmlns:a16="http://schemas.microsoft.com/office/drawing/2014/main" id="{5D439E2C-29C2-450E-9E9B-3AE9585589A6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1600" y="2667000"/>
            <a:ext cx="838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5130" name="Line 20">
            <a:extLst>
              <a:ext uri="{FF2B5EF4-FFF2-40B4-BE49-F238E27FC236}">
                <a16:creationId xmlns:a16="http://schemas.microsoft.com/office/drawing/2014/main" id="{D3F06514-D265-46ED-9D35-9118346713C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86000" y="2590800"/>
            <a:ext cx="914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5131" name="Oval 21">
            <a:extLst>
              <a:ext uri="{FF2B5EF4-FFF2-40B4-BE49-F238E27FC236}">
                <a16:creationId xmlns:a16="http://schemas.microsoft.com/office/drawing/2014/main" id="{976ADE0C-3C16-4CF6-8598-5D5D287A1E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438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5132" name="Oval 22">
            <a:extLst>
              <a:ext uri="{FF2B5EF4-FFF2-40B4-BE49-F238E27FC236}">
                <a16:creationId xmlns:a16="http://schemas.microsoft.com/office/drawing/2014/main" id="{C4BA5718-2D8B-45C3-B93E-E46B01189C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3200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5133" name="Oval 23">
            <a:extLst>
              <a:ext uri="{FF2B5EF4-FFF2-40B4-BE49-F238E27FC236}">
                <a16:creationId xmlns:a16="http://schemas.microsoft.com/office/drawing/2014/main" id="{34E3B954-2178-49BE-9686-1689365782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3200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5134" name="Oval 24">
            <a:extLst>
              <a:ext uri="{FF2B5EF4-FFF2-40B4-BE49-F238E27FC236}">
                <a16:creationId xmlns:a16="http://schemas.microsoft.com/office/drawing/2014/main" id="{A9934555-A6FF-4BC6-9234-DAB3200278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2438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5135" name="Oval 25">
            <a:extLst>
              <a:ext uri="{FF2B5EF4-FFF2-40B4-BE49-F238E27FC236}">
                <a16:creationId xmlns:a16="http://schemas.microsoft.com/office/drawing/2014/main" id="{C525E79F-E5F4-45AC-967F-453DEB27E8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2438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5136" name="Oval 26">
            <a:extLst>
              <a:ext uri="{FF2B5EF4-FFF2-40B4-BE49-F238E27FC236}">
                <a16:creationId xmlns:a16="http://schemas.microsoft.com/office/drawing/2014/main" id="{6B07B6BA-0FF5-4D72-A3E9-6674F1F2FA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3200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5137" name="Rectangle 42">
            <a:extLst>
              <a:ext uri="{FF2B5EF4-FFF2-40B4-BE49-F238E27FC236}">
                <a16:creationId xmlns:a16="http://schemas.microsoft.com/office/drawing/2014/main" id="{26B2C224-88DB-44F1-90FF-A4E82A4D4D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4419600"/>
            <a:ext cx="2667000" cy="167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5138" name="Rectangle 43">
            <a:extLst>
              <a:ext uri="{FF2B5EF4-FFF2-40B4-BE49-F238E27FC236}">
                <a16:creationId xmlns:a16="http://schemas.microsoft.com/office/drawing/2014/main" id="{74B7FB05-1A50-43DA-8CA1-637AAA5098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5257800"/>
            <a:ext cx="1524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5139" name="Line 44">
            <a:extLst>
              <a:ext uri="{FF2B5EF4-FFF2-40B4-BE49-F238E27FC236}">
                <a16:creationId xmlns:a16="http://schemas.microsoft.com/office/drawing/2014/main" id="{0DDACCB2-B63D-45EE-8BED-87C3CE7798AA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1600" y="54864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5140" name="Line 45">
            <a:extLst>
              <a:ext uri="{FF2B5EF4-FFF2-40B4-BE49-F238E27FC236}">
                <a16:creationId xmlns:a16="http://schemas.microsoft.com/office/drawing/2014/main" id="{D88BFE14-482F-42EA-B130-7F6A9F81F15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33600" y="54864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5141" name="Line 46">
            <a:extLst>
              <a:ext uri="{FF2B5EF4-FFF2-40B4-BE49-F238E27FC236}">
                <a16:creationId xmlns:a16="http://schemas.microsoft.com/office/drawing/2014/main" id="{6664F846-449A-434D-B4E5-94B1A0ED509B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5410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5142" name="Line 47">
            <a:extLst>
              <a:ext uri="{FF2B5EF4-FFF2-40B4-BE49-F238E27FC236}">
                <a16:creationId xmlns:a16="http://schemas.microsoft.com/office/drawing/2014/main" id="{70B46B0A-1D7E-448D-ABF0-74832EF3E34C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5486400"/>
            <a:ext cx="76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5143" name="Line 48">
            <a:extLst>
              <a:ext uri="{FF2B5EF4-FFF2-40B4-BE49-F238E27FC236}">
                <a16:creationId xmlns:a16="http://schemas.microsoft.com/office/drawing/2014/main" id="{C2647F55-1A42-482F-9FBA-84A7B6B282C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67000" y="5105400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5144" name="Line 49">
            <a:extLst>
              <a:ext uri="{FF2B5EF4-FFF2-40B4-BE49-F238E27FC236}">
                <a16:creationId xmlns:a16="http://schemas.microsoft.com/office/drawing/2014/main" id="{E126CD2F-45E8-45FC-89F7-8D4A4A20359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590800" y="51054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5145" name="Line 50">
            <a:extLst>
              <a:ext uri="{FF2B5EF4-FFF2-40B4-BE49-F238E27FC236}">
                <a16:creationId xmlns:a16="http://schemas.microsoft.com/office/drawing/2014/main" id="{43123426-9C3C-496B-935A-62E4CB6FE4A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05000" y="51054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5146" name="Line 51">
            <a:extLst>
              <a:ext uri="{FF2B5EF4-FFF2-40B4-BE49-F238E27FC236}">
                <a16:creationId xmlns:a16="http://schemas.microsoft.com/office/drawing/2014/main" id="{71CCF01A-D8A5-45C4-951C-4894EE4AF98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48006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5147" name="Line 52">
            <a:extLst>
              <a:ext uri="{FF2B5EF4-FFF2-40B4-BE49-F238E27FC236}">
                <a16:creationId xmlns:a16="http://schemas.microsoft.com/office/drawing/2014/main" id="{FBEC9045-9F98-4EEE-8681-CA0FF9AF3DD4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44196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5148" name="Line 53">
            <a:extLst>
              <a:ext uri="{FF2B5EF4-FFF2-40B4-BE49-F238E27FC236}">
                <a16:creationId xmlns:a16="http://schemas.microsoft.com/office/drawing/2014/main" id="{6D577584-E492-40FE-B3C3-08C94B2EE075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6019800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5149" name="Line 54">
            <a:extLst>
              <a:ext uri="{FF2B5EF4-FFF2-40B4-BE49-F238E27FC236}">
                <a16:creationId xmlns:a16="http://schemas.microsoft.com/office/drawing/2014/main" id="{8FF05107-5EC5-4248-8674-B261E14ECD4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5410200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5150" name="Text Box 55">
            <a:extLst>
              <a:ext uri="{FF2B5EF4-FFF2-40B4-BE49-F238E27FC236}">
                <a16:creationId xmlns:a16="http://schemas.microsoft.com/office/drawing/2014/main" id="{779C04C9-C679-4C3B-9820-3AF186021A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4419600"/>
            <a:ext cx="2552700" cy="213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hi-IN" sz="1800"/>
              <a:t>Living                Den</a:t>
            </a:r>
          </a:p>
          <a:p>
            <a:pPr algn="l"/>
            <a:r>
              <a:rPr lang="en-US" altLang="hi-IN" sz="1800"/>
              <a:t>Room</a:t>
            </a:r>
          </a:p>
          <a:p>
            <a:pPr algn="l"/>
            <a:endParaRPr lang="en-US" altLang="hi-IN" sz="800"/>
          </a:p>
          <a:p>
            <a:pPr algn="l"/>
            <a:r>
              <a:rPr lang="en-US" altLang="hi-IN" sz="1800"/>
              <a:t>                     Hall</a:t>
            </a:r>
          </a:p>
          <a:p>
            <a:pPr algn="l"/>
            <a:r>
              <a:rPr lang="en-US" altLang="hi-IN" sz="1800"/>
              <a:t>                                   Bed</a:t>
            </a:r>
          </a:p>
          <a:p>
            <a:pPr algn="l"/>
            <a:r>
              <a:rPr lang="en-US" altLang="hi-IN" sz="1800"/>
              <a:t>    Kitchen    </a:t>
            </a:r>
            <a:r>
              <a:rPr lang="en-US" altLang="hi-IN" sz="800"/>
              <a:t> </a:t>
            </a:r>
            <a:r>
              <a:rPr lang="en-US" altLang="hi-IN" sz="1800"/>
              <a:t>  Bath</a:t>
            </a:r>
          </a:p>
          <a:p>
            <a:pPr algn="l"/>
            <a:endParaRPr lang="en-US" altLang="hi-IN" sz="1800"/>
          </a:p>
          <a:p>
            <a:pPr algn="l"/>
            <a:r>
              <a:rPr lang="en-US" altLang="hi-IN" sz="1800"/>
              <a:t>Apartment Blueprint</a:t>
            </a:r>
          </a:p>
        </p:txBody>
      </p:sp>
      <p:sp>
        <p:nvSpPr>
          <p:cNvPr id="5151" name="Text Box 56">
            <a:extLst>
              <a:ext uri="{FF2B5EF4-FFF2-40B4-BE49-F238E27FC236}">
                <a16:creationId xmlns:a16="http://schemas.microsoft.com/office/drawing/2014/main" id="{285B8AAF-3C3F-4622-8FB3-6B987715B1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3725" y="1819275"/>
            <a:ext cx="4511675" cy="3935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hi-IN"/>
              <a:t>The vertices could represent rooms in a house, and the edges could indicate which of those rooms are connected to each other.</a:t>
            </a:r>
          </a:p>
          <a:p>
            <a:pPr algn="l"/>
            <a:endParaRPr lang="en-US" altLang="hi-IN"/>
          </a:p>
          <a:p>
            <a:pPr algn="l"/>
            <a:r>
              <a:rPr lang="en-US" altLang="hi-IN"/>
              <a:t>Sometimes a using a graph will be an easy simplification for a problem.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8BB78C-E953-4C18-AEA7-3873EA2A5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3</a:t>
            </a:fld>
            <a:endParaRPr lang="en-US" altLang="hi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D7219FB6-3B75-4765-BB3E-BCE3D72C4A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r>
              <a:rPr lang="en-US" altLang="hi-IN"/>
              <a:t>More interpretations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FF700EC2-8A46-4E15-A9D2-811EC4727B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772400" cy="4114800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hi-IN"/>
              <a:t>Vertices are cities and edges are the roads connecting them.</a:t>
            </a:r>
          </a:p>
          <a:p>
            <a:pPr>
              <a:spcBef>
                <a:spcPct val="50000"/>
              </a:spcBef>
            </a:pPr>
            <a:r>
              <a:rPr lang="en-US" altLang="hi-IN"/>
              <a:t>Edges are the components in a circuit and vertices are junctions where they connect.</a:t>
            </a:r>
          </a:p>
          <a:p>
            <a:pPr>
              <a:spcBef>
                <a:spcPct val="50000"/>
              </a:spcBef>
            </a:pPr>
            <a:r>
              <a:rPr lang="en-US" altLang="hi-IN"/>
              <a:t>Vertices are software packages and edges indicate those that can interact.</a:t>
            </a:r>
          </a:p>
          <a:p>
            <a:pPr>
              <a:spcBef>
                <a:spcPct val="50000"/>
              </a:spcBef>
            </a:pPr>
            <a:r>
              <a:rPr lang="en-US" altLang="hi-IN"/>
              <a:t>Edges are phone conversations and vertices are the households being connected.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C5CC080-265F-4791-A9D3-74BFD28A6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51D9C-B6AB-428B-A110-91A75E744F65}" type="slidenum">
              <a:rPr lang="en-US" altLang="hi-IN" smtClean="0"/>
              <a:pPr/>
              <a:t>4</a:t>
            </a:fld>
            <a:endParaRPr lang="en-US" altLang="hi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53F4E75C-94EC-4602-8A1C-8129257231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1143000"/>
          </a:xfrm>
        </p:spPr>
        <p:txBody>
          <a:bodyPr/>
          <a:lstStyle/>
          <a:p>
            <a:r>
              <a:rPr lang="en-US" altLang="hi-IN"/>
              <a:t>Friendship Graphs</a:t>
            </a:r>
          </a:p>
        </p:txBody>
      </p:sp>
      <p:grpSp>
        <p:nvGrpSpPr>
          <p:cNvPr id="7171" name="Group 29">
            <a:extLst>
              <a:ext uri="{FF2B5EF4-FFF2-40B4-BE49-F238E27FC236}">
                <a16:creationId xmlns:a16="http://schemas.microsoft.com/office/drawing/2014/main" id="{23BCC560-6B13-40E5-A948-CB59C5690314}"/>
              </a:ext>
            </a:extLst>
          </p:cNvPr>
          <p:cNvGrpSpPr>
            <a:grpSpLocks/>
          </p:cNvGrpSpPr>
          <p:nvPr/>
        </p:nvGrpSpPr>
        <p:grpSpPr bwMode="auto">
          <a:xfrm>
            <a:off x="4114800" y="1981200"/>
            <a:ext cx="1524000" cy="762000"/>
            <a:chOff x="2592" y="1248"/>
            <a:chExt cx="960" cy="480"/>
          </a:xfrm>
        </p:grpSpPr>
        <p:sp>
          <p:nvSpPr>
            <p:cNvPr id="7194" name="Line 9">
              <a:extLst>
                <a:ext uri="{FF2B5EF4-FFF2-40B4-BE49-F238E27FC236}">
                  <a16:creationId xmlns:a16="http://schemas.microsoft.com/office/drawing/2014/main" id="{D45A464A-9C66-4AE3-B564-633AE04398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92" y="1632"/>
              <a:ext cx="8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i-IN"/>
            </a:p>
          </p:txBody>
        </p:sp>
        <p:sp>
          <p:nvSpPr>
            <p:cNvPr id="7195" name="Oval 14">
              <a:extLst>
                <a:ext uri="{FF2B5EF4-FFF2-40B4-BE49-F238E27FC236}">
                  <a16:creationId xmlns:a16="http://schemas.microsoft.com/office/drawing/2014/main" id="{341EC2AE-C772-4016-8026-086B4CF5B6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1536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hi-IN"/>
            </a:p>
          </p:txBody>
        </p:sp>
        <p:sp>
          <p:nvSpPr>
            <p:cNvPr id="7196" name="Text Box 16">
              <a:extLst>
                <a:ext uri="{FF2B5EF4-FFF2-40B4-BE49-F238E27FC236}">
                  <a16:creationId xmlns:a16="http://schemas.microsoft.com/office/drawing/2014/main" id="{89823C35-B156-479D-AAF0-AAD06E031B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8" y="1248"/>
              <a:ext cx="22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/>
              <a:r>
                <a:rPr lang="en-US" altLang="hi-IN" sz="2000"/>
                <a:t>C</a:t>
              </a:r>
            </a:p>
          </p:txBody>
        </p:sp>
      </p:grpSp>
      <p:grpSp>
        <p:nvGrpSpPr>
          <p:cNvPr id="7172" name="Group 27">
            <a:extLst>
              <a:ext uri="{FF2B5EF4-FFF2-40B4-BE49-F238E27FC236}">
                <a16:creationId xmlns:a16="http://schemas.microsoft.com/office/drawing/2014/main" id="{4A2EC684-74C1-4F85-84B5-B3ED582D1678}"/>
              </a:ext>
            </a:extLst>
          </p:cNvPr>
          <p:cNvGrpSpPr>
            <a:grpSpLocks/>
          </p:cNvGrpSpPr>
          <p:nvPr/>
        </p:nvGrpSpPr>
        <p:grpSpPr bwMode="auto">
          <a:xfrm>
            <a:off x="2297113" y="2590800"/>
            <a:ext cx="1741487" cy="1619250"/>
            <a:chOff x="1447" y="1632"/>
            <a:chExt cx="1097" cy="1020"/>
          </a:xfrm>
        </p:grpSpPr>
        <p:sp>
          <p:nvSpPr>
            <p:cNvPr id="7190" name="Line 18">
              <a:extLst>
                <a:ext uri="{FF2B5EF4-FFF2-40B4-BE49-F238E27FC236}">
                  <a16:creationId xmlns:a16="http://schemas.microsoft.com/office/drawing/2014/main" id="{687D7F9A-2FC3-40F1-AAD0-7DF72A2767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84" y="1632"/>
              <a:ext cx="960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i-IN"/>
            </a:p>
          </p:txBody>
        </p:sp>
        <p:sp>
          <p:nvSpPr>
            <p:cNvPr id="7191" name="Line 7">
              <a:extLst>
                <a:ext uri="{FF2B5EF4-FFF2-40B4-BE49-F238E27FC236}">
                  <a16:creationId xmlns:a16="http://schemas.microsoft.com/office/drawing/2014/main" id="{7E9646A5-B755-4331-BB82-60B057156D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1680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i-IN"/>
            </a:p>
          </p:txBody>
        </p:sp>
        <p:sp>
          <p:nvSpPr>
            <p:cNvPr id="7192" name="Oval 11">
              <a:extLst>
                <a:ext uri="{FF2B5EF4-FFF2-40B4-BE49-F238E27FC236}">
                  <a16:creationId xmlns:a16="http://schemas.microsoft.com/office/drawing/2014/main" id="{02982B38-C44E-4BAA-B348-17F310F417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2208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hi-IN"/>
            </a:p>
          </p:txBody>
        </p:sp>
        <p:sp>
          <p:nvSpPr>
            <p:cNvPr id="7193" name="Text Box 19">
              <a:extLst>
                <a:ext uri="{FF2B5EF4-FFF2-40B4-BE49-F238E27FC236}">
                  <a16:creationId xmlns:a16="http://schemas.microsoft.com/office/drawing/2014/main" id="{F975C4E8-1A76-499E-B8C8-11037AD40E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7" y="2400"/>
              <a:ext cx="23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/>
              <a:r>
                <a:rPr lang="en-US" altLang="hi-IN" sz="2000"/>
                <a:t>D</a:t>
              </a:r>
            </a:p>
          </p:txBody>
        </p:sp>
      </p:grpSp>
      <p:grpSp>
        <p:nvGrpSpPr>
          <p:cNvPr id="7173" name="Group 30">
            <a:extLst>
              <a:ext uri="{FF2B5EF4-FFF2-40B4-BE49-F238E27FC236}">
                <a16:creationId xmlns:a16="http://schemas.microsoft.com/office/drawing/2014/main" id="{42A9C187-CEDE-4165-A99F-DF9DB7F0541F}"/>
              </a:ext>
            </a:extLst>
          </p:cNvPr>
          <p:cNvGrpSpPr>
            <a:grpSpLocks/>
          </p:cNvGrpSpPr>
          <p:nvPr/>
        </p:nvGrpSpPr>
        <p:grpSpPr bwMode="auto">
          <a:xfrm>
            <a:off x="5867400" y="3657600"/>
            <a:ext cx="327025" cy="704850"/>
            <a:chOff x="3696" y="2304"/>
            <a:chExt cx="206" cy="444"/>
          </a:xfrm>
        </p:grpSpPr>
        <p:sp>
          <p:nvSpPr>
            <p:cNvPr id="7188" name="Oval 15">
              <a:extLst>
                <a:ext uri="{FF2B5EF4-FFF2-40B4-BE49-F238E27FC236}">
                  <a16:creationId xmlns:a16="http://schemas.microsoft.com/office/drawing/2014/main" id="{501DD074-8F6F-4F52-BB97-735C5B28AC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2304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hi-IN"/>
            </a:p>
          </p:txBody>
        </p:sp>
        <p:sp>
          <p:nvSpPr>
            <p:cNvPr id="7189" name="Text Box 20">
              <a:extLst>
                <a:ext uri="{FF2B5EF4-FFF2-40B4-BE49-F238E27FC236}">
                  <a16:creationId xmlns:a16="http://schemas.microsoft.com/office/drawing/2014/main" id="{DEF9AE5F-4B87-468F-B341-1EDC86FBE6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2496"/>
              <a:ext cx="20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hi-IN" sz="2000"/>
                <a:t>F</a:t>
              </a:r>
            </a:p>
          </p:txBody>
        </p:sp>
      </p:grpSp>
      <p:sp>
        <p:nvSpPr>
          <p:cNvPr id="7174" name="Text Box 21">
            <a:extLst>
              <a:ext uri="{FF2B5EF4-FFF2-40B4-BE49-F238E27FC236}">
                <a16:creationId xmlns:a16="http://schemas.microsoft.com/office/drawing/2014/main" id="{D1FE345E-8BAC-45D2-9D88-682CC0728A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5029200"/>
            <a:ext cx="824547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hi-IN"/>
              <a:t>Each vertex represents a person, and each edge indicates that the two people are friends.</a:t>
            </a:r>
          </a:p>
        </p:txBody>
      </p:sp>
      <p:grpSp>
        <p:nvGrpSpPr>
          <p:cNvPr id="7175" name="Group 25">
            <a:extLst>
              <a:ext uri="{FF2B5EF4-FFF2-40B4-BE49-F238E27FC236}">
                <a16:creationId xmlns:a16="http://schemas.microsoft.com/office/drawing/2014/main" id="{86B26966-7188-4EC0-8630-3A16053BF7DE}"/>
              </a:ext>
            </a:extLst>
          </p:cNvPr>
          <p:cNvGrpSpPr>
            <a:grpSpLocks/>
          </p:cNvGrpSpPr>
          <p:nvPr/>
        </p:nvGrpSpPr>
        <p:grpSpPr bwMode="auto">
          <a:xfrm>
            <a:off x="3835400" y="1981200"/>
            <a:ext cx="355600" cy="762000"/>
            <a:chOff x="2416" y="1248"/>
            <a:chExt cx="224" cy="480"/>
          </a:xfrm>
        </p:grpSpPr>
        <p:sp>
          <p:nvSpPr>
            <p:cNvPr id="7186" name="Oval 13">
              <a:extLst>
                <a:ext uri="{FF2B5EF4-FFF2-40B4-BE49-F238E27FC236}">
                  <a16:creationId xmlns:a16="http://schemas.microsoft.com/office/drawing/2014/main" id="{1591708C-9A03-44F9-9598-32E4D23E44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536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hi-IN"/>
            </a:p>
          </p:txBody>
        </p:sp>
        <p:sp>
          <p:nvSpPr>
            <p:cNvPr id="7187" name="Text Box 22">
              <a:extLst>
                <a:ext uri="{FF2B5EF4-FFF2-40B4-BE49-F238E27FC236}">
                  <a16:creationId xmlns:a16="http://schemas.microsoft.com/office/drawing/2014/main" id="{6954A21A-5006-406E-BF62-3C48910B3E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16" y="1248"/>
              <a:ext cx="22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/>
              <a:r>
                <a:rPr lang="en-US" altLang="hi-IN" sz="2000"/>
                <a:t>B</a:t>
              </a:r>
            </a:p>
          </p:txBody>
        </p:sp>
      </p:grpSp>
      <p:grpSp>
        <p:nvGrpSpPr>
          <p:cNvPr id="7176" name="Group 26">
            <a:extLst>
              <a:ext uri="{FF2B5EF4-FFF2-40B4-BE49-F238E27FC236}">
                <a16:creationId xmlns:a16="http://schemas.microsoft.com/office/drawing/2014/main" id="{EA8B3105-67B8-4741-B2CA-9761D1B768B8}"/>
              </a:ext>
            </a:extLst>
          </p:cNvPr>
          <p:cNvGrpSpPr>
            <a:grpSpLocks/>
          </p:cNvGrpSpPr>
          <p:nvPr/>
        </p:nvGrpSpPr>
        <p:grpSpPr bwMode="auto">
          <a:xfrm>
            <a:off x="2362200" y="1981200"/>
            <a:ext cx="1676400" cy="762000"/>
            <a:chOff x="1488" y="1248"/>
            <a:chExt cx="1056" cy="480"/>
          </a:xfrm>
        </p:grpSpPr>
        <p:sp>
          <p:nvSpPr>
            <p:cNvPr id="7183" name="Line 6">
              <a:extLst>
                <a:ext uri="{FF2B5EF4-FFF2-40B4-BE49-F238E27FC236}">
                  <a16:creationId xmlns:a16="http://schemas.microsoft.com/office/drawing/2014/main" id="{09B98956-C987-477A-BF29-AB37B52CCD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1632"/>
              <a:ext cx="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i-IN"/>
            </a:p>
          </p:txBody>
        </p:sp>
        <p:sp>
          <p:nvSpPr>
            <p:cNvPr id="7184" name="Oval 10">
              <a:extLst>
                <a:ext uri="{FF2B5EF4-FFF2-40B4-BE49-F238E27FC236}">
                  <a16:creationId xmlns:a16="http://schemas.microsoft.com/office/drawing/2014/main" id="{45C3254C-8AB4-4346-BF7A-DCBA82267B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1536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hi-IN"/>
            </a:p>
          </p:txBody>
        </p:sp>
        <p:sp>
          <p:nvSpPr>
            <p:cNvPr id="7185" name="Text Box 23">
              <a:extLst>
                <a:ext uri="{FF2B5EF4-FFF2-40B4-BE49-F238E27FC236}">
                  <a16:creationId xmlns:a16="http://schemas.microsoft.com/office/drawing/2014/main" id="{06C11DD4-4F6E-4C05-A90A-A6C03204DF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95" y="1248"/>
              <a:ext cx="23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/>
              <a:r>
                <a:rPr lang="en-US" altLang="hi-IN" sz="2000"/>
                <a:t>A</a:t>
              </a:r>
            </a:p>
          </p:txBody>
        </p:sp>
      </p:grpSp>
      <p:grpSp>
        <p:nvGrpSpPr>
          <p:cNvPr id="7177" name="Group 28">
            <a:extLst>
              <a:ext uri="{FF2B5EF4-FFF2-40B4-BE49-F238E27FC236}">
                <a16:creationId xmlns:a16="http://schemas.microsoft.com/office/drawing/2014/main" id="{2729F5C6-AA31-47D4-8D76-BC90A5C15171}"/>
              </a:ext>
            </a:extLst>
          </p:cNvPr>
          <p:cNvGrpSpPr>
            <a:grpSpLocks/>
          </p:cNvGrpSpPr>
          <p:nvPr/>
        </p:nvGrpSpPr>
        <p:grpSpPr bwMode="auto">
          <a:xfrm>
            <a:off x="2514600" y="2590800"/>
            <a:ext cx="1676400" cy="1619250"/>
            <a:chOff x="1584" y="1632"/>
            <a:chExt cx="1056" cy="1020"/>
          </a:xfrm>
        </p:grpSpPr>
        <p:sp>
          <p:nvSpPr>
            <p:cNvPr id="7178" name="Line 17">
              <a:extLst>
                <a:ext uri="{FF2B5EF4-FFF2-40B4-BE49-F238E27FC236}">
                  <a16:creationId xmlns:a16="http://schemas.microsoft.com/office/drawing/2014/main" id="{B8663B5C-6017-46EA-B3F1-30065FEAE8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1632"/>
              <a:ext cx="960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i-IN"/>
            </a:p>
          </p:txBody>
        </p:sp>
        <p:sp>
          <p:nvSpPr>
            <p:cNvPr id="7179" name="Line 5">
              <a:extLst>
                <a:ext uri="{FF2B5EF4-FFF2-40B4-BE49-F238E27FC236}">
                  <a16:creationId xmlns:a16="http://schemas.microsoft.com/office/drawing/2014/main" id="{DC5FEB54-A20C-4AAC-BEDB-636D096383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1680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i-IN"/>
            </a:p>
          </p:txBody>
        </p:sp>
        <p:sp>
          <p:nvSpPr>
            <p:cNvPr id="7180" name="Line 8">
              <a:extLst>
                <a:ext uri="{FF2B5EF4-FFF2-40B4-BE49-F238E27FC236}">
                  <a16:creationId xmlns:a16="http://schemas.microsoft.com/office/drawing/2014/main" id="{9C8952FD-8B57-4F9B-8AD5-1A80BF2637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84" y="2304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i-IN"/>
            </a:p>
          </p:txBody>
        </p:sp>
        <p:sp>
          <p:nvSpPr>
            <p:cNvPr id="7181" name="Oval 12">
              <a:extLst>
                <a:ext uri="{FF2B5EF4-FFF2-40B4-BE49-F238E27FC236}">
                  <a16:creationId xmlns:a16="http://schemas.microsoft.com/office/drawing/2014/main" id="{0C66AF38-E32A-4F7C-93D9-F9ED2BC3B9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2208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hi-IN"/>
            </a:p>
          </p:txBody>
        </p:sp>
        <p:sp>
          <p:nvSpPr>
            <p:cNvPr id="7182" name="Text Box 24">
              <a:extLst>
                <a:ext uri="{FF2B5EF4-FFF2-40B4-BE49-F238E27FC236}">
                  <a16:creationId xmlns:a16="http://schemas.microsoft.com/office/drawing/2014/main" id="{72D689F6-2E74-4294-B9D9-CF065DB082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77" y="2400"/>
              <a:ext cx="21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/>
              <a:r>
                <a:rPr lang="en-US" altLang="hi-IN" sz="2000"/>
                <a:t>E</a:t>
              </a: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7C0595-9858-4080-820B-25F2FE6B7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5</a:t>
            </a:fld>
            <a:endParaRPr lang="en-US" altLang="hi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77628D7E-6CC1-43E1-8620-D9957C359F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1143000"/>
          </a:xfrm>
        </p:spPr>
        <p:txBody>
          <a:bodyPr/>
          <a:lstStyle/>
          <a:p>
            <a:r>
              <a:rPr lang="en-US" altLang="hi-IN"/>
              <a:t>Graph Terminology</a:t>
            </a:r>
          </a:p>
        </p:txBody>
      </p:sp>
      <p:sp>
        <p:nvSpPr>
          <p:cNvPr id="9219" name="Text Box 3">
            <a:extLst>
              <a:ext uri="{FF2B5EF4-FFF2-40B4-BE49-F238E27FC236}">
                <a16:creationId xmlns:a16="http://schemas.microsoft.com/office/drawing/2014/main" id="{84DF191A-FCBF-4E46-9438-78A27D433E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295400"/>
            <a:ext cx="8458200" cy="541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spcBef>
                <a:spcPct val="30000"/>
              </a:spcBef>
            </a:pPr>
            <a:r>
              <a:rPr lang="en-US" altLang="hi-IN"/>
              <a:t>Directed and undirected graphs</a:t>
            </a:r>
          </a:p>
          <a:p>
            <a:pPr lvl="1" algn="l">
              <a:spcBef>
                <a:spcPct val="30000"/>
              </a:spcBef>
            </a:pPr>
            <a:r>
              <a:rPr lang="en-US" altLang="hi-IN" sz="2400"/>
              <a:t>A graph is said to be </a:t>
            </a:r>
            <a:r>
              <a:rPr lang="en-US" altLang="hi-IN" sz="2400" b="1" i="1"/>
              <a:t>undirected</a:t>
            </a:r>
            <a:r>
              <a:rPr lang="en-US" altLang="hi-IN" sz="2400"/>
              <a:t> if edge (</a:t>
            </a:r>
            <a:r>
              <a:rPr lang="en-US" altLang="hi-IN" sz="2400" i="1"/>
              <a:t>x</a:t>
            </a:r>
            <a:r>
              <a:rPr lang="en-US" altLang="hi-IN" sz="2400"/>
              <a:t>, </a:t>
            </a:r>
            <a:r>
              <a:rPr lang="en-US" altLang="hi-IN" sz="2400" i="1"/>
              <a:t>y</a:t>
            </a:r>
            <a:r>
              <a:rPr lang="en-US" altLang="hi-IN" sz="2400"/>
              <a:t>)  always implies (</a:t>
            </a:r>
            <a:r>
              <a:rPr lang="en-US" altLang="hi-IN" sz="2400" i="1"/>
              <a:t>y</a:t>
            </a:r>
            <a:r>
              <a:rPr lang="en-US" altLang="hi-IN" sz="2400"/>
              <a:t>, </a:t>
            </a:r>
            <a:r>
              <a:rPr lang="en-US" altLang="hi-IN" sz="2400" i="1"/>
              <a:t>x</a:t>
            </a:r>
            <a:r>
              <a:rPr lang="en-US" altLang="hi-IN" sz="2400"/>
              <a:t>).  Otherwise it is said to be </a:t>
            </a:r>
            <a:r>
              <a:rPr lang="en-US" altLang="hi-IN" sz="2400" b="1" i="1"/>
              <a:t>directed</a:t>
            </a:r>
            <a:r>
              <a:rPr lang="en-US" altLang="hi-IN" sz="2400"/>
              <a:t>.  Often called an </a:t>
            </a:r>
            <a:r>
              <a:rPr lang="en-US" altLang="hi-IN" sz="2400" b="1" i="1"/>
              <a:t>arc</a:t>
            </a:r>
            <a:r>
              <a:rPr lang="en-US" altLang="hi-IN" sz="2400"/>
              <a:t>.</a:t>
            </a:r>
          </a:p>
          <a:p>
            <a:pPr algn="l">
              <a:spcBef>
                <a:spcPct val="50000"/>
              </a:spcBef>
            </a:pPr>
            <a:r>
              <a:rPr lang="en-US" altLang="hi-IN"/>
              <a:t>Loops, multiedges, and simple graphs</a:t>
            </a:r>
          </a:p>
          <a:p>
            <a:pPr lvl="1" algn="l">
              <a:spcBef>
                <a:spcPct val="30000"/>
              </a:spcBef>
            </a:pPr>
            <a:r>
              <a:rPr lang="en-US" altLang="hi-IN" sz="2400"/>
              <a:t>An edge of the form (</a:t>
            </a:r>
            <a:r>
              <a:rPr lang="en-US" altLang="hi-IN" sz="2400" i="1"/>
              <a:t>x</a:t>
            </a:r>
            <a:r>
              <a:rPr lang="en-US" altLang="hi-IN" sz="2400"/>
              <a:t>, </a:t>
            </a:r>
            <a:r>
              <a:rPr lang="en-US" altLang="hi-IN" sz="2400" i="1"/>
              <a:t>x</a:t>
            </a:r>
            <a:r>
              <a:rPr lang="en-US" altLang="hi-IN" sz="2400"/>
              <a:t>) is said to be a </a:t>
            </a:r>
            <a:r>
              <a:rPr lang="en-US" altLang="hi-IN" sz="2400" b="1" i="1"/>
              <a:t>loop</a:t>
            </a:r>
            <a:r>
              <a:rPr lang="en-US" altLang="hi-IN" sz="2400"/>
              <a:t>.  If </a:t>
            </a:r>
            <a:r>
              <a:rPr lang="en-US" altLang="hi-IN" sz="2400" i="1"/>
              <a:t>x</a:t>
            </a:r>
            <a:r>
              <a:rPr lang="en-US" altLang="hi-IN" sz="2400"/>
              <a:t> was </a:t>
            </a:r>
            <a:r>
              <a:rPr lang="en-US" altLang="hi-IN" sz="2400" i="1"/>
              <a:t>y</a:t>
            </a:r>
            <a:r>
              <a:rPr lang="en-US" altLang="hi-IN" sz="2400"/>
              <a:t>’s friend several times over, we can model this relationship using </a:t>
            </a:r>
            <a:r>
              <a:rPr lang="en-US" altLang="hi-IN" sz="2400" b="1" i="1"/>
              <a:t>multiedges</a:t>
            </a:r>
            <a:r>
              <a:rPr lang="en-US" altLang="hi-IN" sz="2400"/>
              <a:t>.  A graph is said to be </a:t>
            </a:r>
            <a:r>
              <a:rPr lang="en-US" altLang="hi-IN" sz="2400" b="1" i="1"/>
              <a:t>simple</a:t>
            </a:r>
            <a:r>
              <a:rPr lang="en-US" altLang="hi-IN" sz="2400"/>
              <a:t> if it contains no loops or multiedges.</a:t>
            </a:r>
          </a:p>
          <a:p>
            <a:pPr algn="l">
              <a:spcBef>
                <a:spcPct val="50000"/>
              </a:spcBef>
            </a:pPr>
            <a:r>
              <a:rPr lang="en-US" altLang="hi-IN"/>
              <a:t>Weighted edges</a:t>
            </a:r>
          </a:p>
          <a:p>
            <a:pPr lvl="1" algn="l">
              <a:spcBef>
                <a:spcPct val="30000"/>
              </a:spcBef>
            </a:pPr>
            <a:r>
              <a:rPr lang="en-US" altLang="hi-IN" sz="2400"/>
              <a:t>A graph is said to be </a:t>
            </a:r>
            <a:r>
              <a:rPr lang="en-US" altLang="hi-IN" sz="2400" b="1" i="1"/>
              <a:t>weighted</a:t>
            </a:r>
            <a:r>
              <a:rPr lang="en-US" altLang="hi-IN" sz="2400"/>
              <a:t> if each edge has an associated numerical attribute.  In an </a:t>
            </a:r>
            <a:r>
              <a:rPr lang="en-US" altLang="hi-IN" sz="2400" b="1" i="1"/>
              <a:t>unweighted</a:t>
            </a:r>
            <a:r>
              <a:rPr lang="en-US" altLang="hi-IN" sz="2400"/>
              <a:t> graph, all edges are assumed to be of equal weight.</a:t>
            </a:r>
            <a:endParaRPr lang="en-US" altLang="hi-I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A3539A-2341-4663-B023-4D6E79260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6</a:t>
            </a:fld>
            <a:endParaRPr lang="en-US" altLang="hi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6A4E3-3BC8-436A-865C-EFC367822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Kinds of Graphs</a:t>
            </a:r>
            <a:endParaRPr lang="hi-IN" dirty="0"/>
          </a:p>
        </p:txBody>
      </p:sp>
      <p:pic>
        <p:nvPicPr>
          <p:cNvPr id="2050" name="Picture 2" descr="?">
            <a:extLst>
              <a:ext uri="{FF2B5EF4-FFF2-40B4-BE49-F238E27FC236}">
                <a16:creationId xmlns:a16="http://schemas.microsoft.com/office/drawing/2014/main" id="{4561705B-861B-4BB7-80CF-8CCCC9D49F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2947" y="1691323"/>
            <a:ext cx="2057400" cy="204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?">
            <a:extLst>
              <a:ext uri="{FF2B5EF4-FFF2-40B4-BE49-F238E27FC236}">
                <a16:creationId xmlns:a16="http://schemas.microsoft.com/office/drawing/2014/main" id="{54BC537B-4AB7-43C8-8FC7-2A5A2FB652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1295400"/>
            <a:ext cx="23241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?">
            <a:extLst>
              <a:ext uri="{FF2B5EF4-FFF2-40B4-BE49-F238E27FC236}">
                <a16:creationId xmlns:a16="http://schemas.microsoft.com/office/drawing/2014/main" id="{0E75C392-8145-4AA6-B32C-835D46D58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880" y="1973738"/>
            <a:ext cx="2381250" cy="1571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D281D5C-3B23-45D3-8D29-2E217D5C6159}"/>
              </a:ext>
            </a:extLst>
          </p:cNvPr>
          <p:cNvSpPr txBox="1"/>
          <p:nvPr/>
        </p:nvSpPr>
        <p:spPr>
          <a:xfrm>
            <a:off x="457200" y="3886200"/>
            <a:ext cx="220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Undirected graph</a:t>
            </a:r>
            <a:endParaRPr lang="hi-IN" sz="1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B0D2E0-883C-45B8-8DC8-F8452F0FE1DD}"/>
              </a:ext>
            </a:extLst>
          </p:cNvPr>
          <p:cNvSpPr txBox="1"/>
          <p:nvPr/>
        </p:nvSpPr>
        <p:spPr>
          <a:xfrm>
            <a:off x="3733800" y="3865880"/>
            <a:ext cx="220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Directed graph</a:t>
            </a:r>
            <a:endParaRPr lang="hi-IN" sz="1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4ABC93-CE63-40EE-A63E-4E2E8B780898}"/>
              </a:ext>
            </a:extLst>
          </p:cNvPr>
          <p:cNvSpPr txBox="1"/>
          <p:nvPr/>
        </p:nvSpPr>
        <p:spPr>
          <a:xfrm>
            <a:off x="6367147" y="3565683"/>
            <a:ext cx="2209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Weighted Undirected graph</a:t>
            </a:r>
            <a:endParaRPr lang="hi-IN" sz="1800" dirty="0"/>
          </a:p>
        </p:txBody>
      </p:sp>
      <p:pic>
        <p:nvPicPr>
          <p:cNvPr id="2056" name="Picture 8" descr="Graph Types1">
            <a:extLst>
              <a:ext uri="{FF2B5EF4-FFF2-40B4-BE49-F238E27FC236}">
                <a16:creationId xmlns:a16="http://schemas.microsoft.com/office/drawing/2014/main" id="{D310294A-8306-4477-9C99-43E791BD87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280" y="4596369"/>
            <a:ext cx="2209800" cy="1370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Graph Types3">
            <a:extLst>
              <a:ext uri="{FF2B5EF4-FFF2-40B4-BE49-F238E27FC236}">
                <a16:creationId xmlns:a16="http://schemas.microsoft.com/office/drawing/2014/main" id="{9E27BBC8-7600-434E-B86F-C78700498C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4306400"/>
            <a:ext cx="1776412" cy="2042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Graph Types4">
            <a:extLst>
              <a:ext uri="{FF2B5EF4-FFF2-40B4-BE49-F238E27FC236}">
                <a16:creationId xmlns:a16="http://schemas.microsoft.com/office/drawing/2014/main" id="{95167A6C-84B0-4212-A265-3D1EAF5B57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5175" y="4667931"/>
            <a:ext cx="1152525" cy="1268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FDCC989-0774-463A-8B7B-481DB84CBBF7}"/>
              </a:ext>
            </a:extLst>
          </p:cNvPr>
          <p:cNvSpPr txBox="1"/>
          <p:nvPr/>
        </p:nvSpPr>
        <p:spPr>
          <a:xfrm>
            <a:off x="655320" y="6123041"/>
            <a:ext cx="220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Finite graph</a:t>
            </a:r>
            <a:endParaRPr lang="hi-IN" sz="1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560826-6789-4FD6-9570-35CFF3083B6B}"/>
              </a:ext>
            </a:extLst>
          </p:cNvPr>
          <p:cNvSpPr txBox="1"/>
          <p:nvPr/>
        </p:nvSpPr>
        <p:spPr>
          <a:xfrm>
            <a:off x="4069082" y="6419680"/>
            <a:ext cx="220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Infinite graph</a:t>
            </a:r>
            <a:endParaRPr lang="hi-IN" sz="1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1FD414-0B61-4DA0-807A-31695F582494}"/>
              </a:ext>
            </a:extLst>
          </p:cNvPr>
          <p:cNvSpPr txBox="1"/>
          <p:nvPr/>
        </p:nvSpPr>
        <p:spPr>
          <a:xfrm>
            <a:off x="6477000" y="6028588"/>
            <a:ext cx="220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Trivial graph</a:t>
            </a:r>
            <a:endParaRPr lang="hi-IN" sz="1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CF3995-EF20-49CA-9B9F-DEC4C6900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7</a:t>
            </a:fld>
            <a:endParaRPr lang="en-US" altLang="hi-IN"/>
          </a:p>
        </p:txBody>
      </p:sp>
    </p:spTree>
    <p:extLst>
      <p:ext uri="{BB962C8B-B14F-4D97-AF65-F5344CB8AC3E}">
        <p14:creationId xmlns:p14="http://schemas.microsoft.com/office/powerpoint/2010/main" val="1857486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C1725-9E52-41B6-A7F6-8C992F14A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Kinds of Graphs</a:t>
            </a:r>
            <a:endParaRPr lang="hi-IN" dirty="0"/>
          </a:p>
        </p:txBody>
      </p:sp>
      <p:pic>
        <p:nvPicPr>
          <p:cNvPr id="3074" name="Picture 2" descr="Graph Types5">
            <a:extLst>
              <a:ext uri="{FF2B5EF4-FFF2-40B4-BE49-F238E27FC236}">
                <a16:creationId xmlns:a16="http://schemas.microsoft.com/office/drawing/2014/main" id="{B1DCAF90-6033-48E3-9FB0-298C6466B0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02447"/>
            <a:ext cx="2064519" cy="1662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Graph Types11">
            <a:extLst>
              <a:ext uri="{FF2B5EF4-FFF2-40B4-BE49-F238E27FC236}">
                <a16:creationId xmlns:a16="http://schemas.microsoft.com/office/drawing/2014/main" id="{26437B06-0E62-4D53-B0DB-109E8B0DC3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1747520"/>
            <a:ext cx="2165941" cy="1662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Graph Types13">
            <a:extLst>
              <a:ext uri="{FF2B5EF4-FFF2-40B4-BE49-F238E27FC236}">
                <a16:creationId xmlns:a16="http://schemas.microsoft.com/office/drawing/2014/main" id="{63907F98-821B-4EE6-B0A1-C8679416C5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5399" y="1544528"/>
            <a:ext cx="2165941" cy="1933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Graph Types6">
            <a:extLst>
              <a:ext uri="{FF2B5EF4-FFF2-40B4-BE49-F238E27FC236}">
                <a16:creationId xmlns:a16="http://schemas.microsoft.com/office/drawing/2014/main" id="{99DE86C5-1557-45D6-A185-DBD6834A69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760" y="4114800"/>
            <a:ext cx="2174022" cy="1776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Graph Types15">
            <a:extLst>
              <a:ext uri="{FF2B5EF4-FFF2-40B4-BE49-F238E27FC236}">
                <a16:creationId xmlns:a16="http://schemas.microsoft.com/office/drawing/2014/main" id="{8D4351CB-B6E7-42B9-AEDC-5857CFD798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7682" y="4299947"/>
            <a:ext cx="2587817" cy="1591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Types of Graph in Data Structure">
            <a:extLst>
              <a:ext uri="{FF2B5EF4-FFF2-40B4-BE49-F238E27FC236}">
                <a16:creationId xmlns:a16="http://schemas.microsoft.com/office/drawing/2014/main" id="{D671C257-F723-44CA-B61E-3D2AA1E7A2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5399" y="4128491"/>
            <a:ext cx="2189691" cy="1591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CE38B02-6114-41FE-9FDF-B92E5CF53776}"/>
              </a:ext>
            </a:extLst>
          </p:cNvPr>
          <p:cNvSpPr txBox="1"/>
          <p:nvPr/>
        </p:nvSpPr>
        <p:spPr>
          <a:xfrm>
            <a:off x="609600" y="3469640"/>
            <a:ext cx="220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Simple graph</a:t>
            </a:r>
            <a:endParaRPr lang="hi-IN" sz="1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B1ACA8-CC11-4BE6-AAD7-AD07413902AD}"/>
              </a:ext>
            </a:extLst>
          </p:cNvPr>
          <p:cNvSpPr txBox="1"/>
          <p:nvPr/>
        </p:nvSpPr>
        <p:spPr>
          <a:xfrm>
            <a:off x="3131319" y="3448368"/>
            <a:ext cx="220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Parallel graph</a:t>
            </a:r>
            <a:endParaRPr lang="hi-IN" sz="1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9B0BB7-18EB-4EAC-802B-019DB6FD6BF5}"/>
              </a:ext>
            </a:extLst>
          </p:cNvPr>
          <p:cNvSpPr txBox="1"/>
          <p:nvPr/>
        </p:nvSpPr>
        <p:spPr>
          <a:xfrm>
            <a:off x="6555399" y="3477681"/>
            <a:ext cx="220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Null graph</a:t>
            </a:r>
            <a:endParaRPr lang="hi-IN" sz="1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E56D7D-483F-4C09-AD82-0C32C2F2CEDE}"/>
              </a:ext>
            </a:extLst>
          </p:cNvPr>
          <p:cNvSpPr txBox="1"/>
          <p:nvPr/>
        </p:nvSpPr>
        <p:spPr>
          <a:xfrm>
            <a:off x="533400" y="5982375"/>
            <a:ext cx="220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Complete graph</a:t>
            </a:r>
            <a:endParaRPr lang="hi-IN" sz="1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329076-592F-467F-8856-B6DFB9B6E87B}"/>
              </a:ext>
            </a:extLst>
          </p:cNvPr>
          <p:cNvSpPr txBox="1"/>
          <p:nvPr/>
        </p:nvSpPr>
        <p:spPr>
          <a:xfrm>
            <a:off x="3885699" y="5987098"/>
            <a:ext cx="220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Bipartite graph</a:t>
            </a:r>
            <a:endParaRPr lang="hi-IN" sz="1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8761DE-26D4-4C1F-98B8-BED98A2DCCBB}"/>
              </a:ext>
            </a:extLst>
          </p:cNvPr>
          <p:cNvSpPr txBox="1"/>
          <p:nvPr/>
        </p:nvSpPr>
        <p:spPr>
          <a:xfrm>
            <a:off x="6569637" y="5950308"/>
            <a:ext cx="2392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Directed Acyclic graph</a:t>
            </a:r>
            <a:endParaRPr lang="hi-IN" sz="1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3B69AB-63B3-4BDC-92B0-3AD180640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8</a:t>
            </a:fld>
            <a:endParaRPr lang="en-US" altLang="hi-IN"/>
          </a:p>
        </p:txBody>
      </p:sp>
    </p:spTree>
    <p:extLst>
      <p:ext uri="{BB962C8B-B14F-4D97-AF65-F5344CB8AC3E}">
        <p14:creationId xmlns:p14="http://schemas.microsoft.com/office/powerpoint/2010/main" val="40635244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73704D23-3B12-4BA3-A4E2-91C908B8F3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1143000"/>
          </a:xfrm>
        </p:spPr>
        <p:txBody>
          <a:bodyPr/>
          <a:lstStyle/>
          <a:p>
            <a:r>
              <a:rPr lang="en-US" altLang="hi-IN"/>
              <a:t>Terminology continued...</a:t>
            </a:r>
          </a:p>
        </p:txBody>
      </p:sp>
      <p:sp>
        <p:nvSpPr>
          <p:cNvPr id="9219" name="Text Box 3">
            <a:extLst>
              <a:ext uri="{FF2B5EF4-FFF2-40B4-BE49-F238E27FC236}">
                <a16:creationId xmlns:a16="http://schemas.microsoft.com/office/drawing/2014/main" id="{4CD32496-F117-479E-AD69-B06E71B607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525" y="1438275"/>
            <a:ext cx="184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endParaRPr lang="hi-IN" altLang="hi-IN"/>
          </a:p>
        </p:txBody>
      </p:sp>
      <p:sp>
        <p:nvSpPr>
          <p:cNvPr id="11268" name="Text Box 4">
            <a:extLst>
              <a:ext uri="{FF2B5EF4-FFF2-40B4-BE49-F238E27FC236}">
                <a16:creationId xmlns:a16="http://schemas.microsoft.com/office/drawing/2014/main" id="{C8D6A2CA-D57E-4EEC-B9B7-BD14B43698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295400"/>
            <a:ext cx="8610600" cy="508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spcBef>
                <a:spcPct val="30000"/>
              </a:spcBef>
            </a:pPr>
            <a:r>
              <a:rPr lang="en-US" altLang="hi-IN"/>
              <a:t>Paths</a:t>
            </a:r>
          </a:p>
          <a:p>
            <a:pPr lvl="1" algn="just">
              <a:spcBef>
                <a:spcPct val="30000"/>
              </a:spcBef>
            </a:pPr>
            <a:r>
              <a:rPr lang="en-US" altLang="hi-IN" sz="2400"/>
              <a:t>A </a:t>
            </a:r>
            <a:r>
              <a:rPr lang="en-US" altLang="hi-IN" sz="2400" b="1" i="1"/>
              <a:t>path</a:t>
            </a:r>
            <a:r>
              <a:rPr lang="en-US" altLang="hi-IN" sz="2400"/>
              <a:t> is any sequence of edges that connect two vertices.  A </a:t>
            </a:r>
            <a:r>
              <a:rPr lang="en-US" altLang="hi-IN" sz="2400" b="1" i="1"/>
              <a:t>simple path </a:t>
            </a:r>
            <a:r>
              <a:rPr lang="en-US" altLang="hi-IN" sz="2400"/>
              <a:t>never goes through any vertex more than once.  The </a:t>
            </a:r>
            <a:r>
              <a:rPr lang="en-US" altLang="hi-IN" sz="2400" b="1" i="1"/>
              <a:t>shortest path</a:t>
            </a:r>
            <a:r>
              <a:rPr lang="en-US" altLang="hi-IN" sz="2400"/>
              <a:t> is the minimum number edges needed to connect two vertices.</a:t>
            </a:r>
          </a:p>
          <a:p>
            <a:pPr algn="just">
              <a:spcBef>
                <a:spcPct val="50000"/>
              </a:spcBef>
            </a:pPr>
            <a:r>
              <a:rPr lang="en-US" altLang="hi-IN"/>
              <a:t>Connectivity</a:t>
            </a:r>
          </a:p>
          <a:p>
            <a:pPr lvl="1" algn="just">
              <a:spcBef>
                <a:spcPct val="30000"/>
              </a:spcBef>
            </a:pPr>
            <a:r>
              <a:rPr lang="en-US" altLang="hi-IN" sz="2400"/>
              <a:t>The “six degrees of separation” theory argues that there is always a short path between any two people in the world.  A graph is </a:t>
            </a:r>
            <a:r>
              <a:rPr lang="en-US" altLang="hi-IN" sz="2400" b="1" i="1"/>
              <a:t>connected</a:t>
            </a:r>
            <a:r>
              <a:rPr lang="en-US" altLang="hi-IN" sz="2400"/>
              <a:t> if there a path between any two vertices.  A directed graph is </a:t>
            </a:r>
            <a:r>
              <a:rPr lang="en-US" altLang="hi-IN" sz="2400" b="1" i="1"/>
              <a:t>strongly connected</a:t>
            </a:r>
            <a:r>
              <a:rPr lang="en-US" altLang="hi-IN" sz="2400"/>
              <a:t> if there is always a directed path between vertices.  Any subgraph that is connected can be referred to as a </a:t>
            </a:r>
            <a:r>
              <a:rPr lang="en-US" altLang="hi-IN" sz="2400" b="1" i="1"/>
              <a:t>connected component</a:t>
            </a:r>
            <a:r>
              <a:rPr lang="en-US" altLang="hi-IN" sz="2400"/>
              <a:t>.</a:t>
            </a:r>
            <a:endParaRPr lang="en-US" altLang="hi-I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FE74223-2D82-4FDE-9507-5487DE671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9</a:t>
            </a:fld>
            <a:endParaRPr lang="en-US" altLang="hi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8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B4896-E126-4718-9A6D-22BC13E95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Path and Connectivity</a:t>
            </a:r>
            <a:endParaRPr lang="hi-IN" dirty="0"/>
          </a:p>
        </p:txBody>
      </p:sp>
      <p:pic>
        <p:nvPicPr>
          <p:cNvPr id="4098" name="Picture 2" descr="Connectivity">
            <a:extLst>
              <a:ext uri="{FF2B5EF4-FFF2-40B4-BE49-F238E27FC236}">
                <a16:creationId xmlns:a16="http://schemas.microsoft.com/office/drawing/2014/main" id="{D4B44B0E-6237-446E-BDDD-45E98B8FFA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905000"/>
            <a:ext cx="2276205" cy="1390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Connectivity 1">
            <a:extLst>
              <a:ext uri="{FF2B5EF4-FFF2-40B4-BE49-F238E27FC236}">
                <a16:creationId xmlns:a16="http://schemas.microsoft.com/office/drawing/2014/main" id="{15D6EE1B-78BA-4E07-812A-C3A0554B3F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1955131"/>
            <a:ext cx="1981200" cy="1290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Image result for path in a graph">
            <a:extLst>
              <a:ext uri="{FF2B5EF4-FFF2-40B4-BE49-F238E27FC236}">
                <a16:creationId xmlns:a16="http://schemas.microsoft.com/office/drawing/2014/main" id="{3B8610AF-48F9-43D0-B13F-C639FD85CB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4476750"/>
            <a:ext cx="1895475" cy="177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Image result for path in a graph">
            <a:extLst>
              <a:ext uri="{FF2B5EF4-FFF2-40B4-BE49-F238E27FC236}">
                <a16:creationId xmlns:a16="http://schemas.microsoft.com/office/drawing/2014/main" id="{25A128CC-BBAE-4722-8DAD-242196A89D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805030"/>
            <a:ext cx="2362200" cy="2670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A583FB-1755-4C5F-8EEE-AEE5486CFB75}"/>
              </a:ext>
            </a:extLst>
          </p:cNvPr>
          <p:cNvSpPr txBox="1"/>
          <p:nvPr/>
        </p:nvSpPr>
        <p:spPr>
          <a:xfrm>
            <a:off x="609600" y="3469640"/>
            <a:ext cx="220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Connected graph</a:t>
            </a:r>
            <a:endParaRPr lang="hi-IN" sz="1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88DA86-AC9E-4811-BA90-32771CDDB80B}"/>
              </a:ext>
            </a:extLst>
          </p:cNvPr>
          <p:cNvSpPr txBox="1"/>
          <p:nvPr/>
        </p:nvSpPr>
        <p:spPr>
          <a:xfrm>
            <a:off x="4000500" y="3245518"/>
            <a:ext cx="220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Disconnected graph</a:t>
            </a:r>
            <a:endParaRPr lang="hi-IN" sz="1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10B280-508A-4214-820C-2A7FF9097620}"/>
              </a:ext>
            </a:extLst>
          </p:cNvPr>
          <p:cNvSpPr txBox="1"/>
          <p:nvPr/>
        </p:nvSpPr>
        <p:spPr>
          <a:xfrm>
            <a:off x="609600" y="6290677"/>
            <a:ext cx="220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Path in a graph</a:t>
            </a:r>
            <a:endParaRPr lang="hi-IN" sz="1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1407BE-AE30-4182-9B04-48B17E7DC0CF}"/>
              </a:ext>
            </a:extLst>
          </p:cNvPr>
          <p:cNvSpPr txBox="1"/>
          <p:nvPr/>
        </p:nvSpPr>
        <p:spPr>
          <a:xfrm>
            <a:off x="5410200" y="6117679"/>
            <a:ext cx="220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Path in a graph</a:t>
            </a:r>
            <a:endParaRPr lang="hi-IN" sz="1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FF784D-AFDC-4C4F-AF03-52F6AB5AC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10</a:t>
            </a:fld>
            <a:endParaRPr lang="en-US" altLang="hi-IN"/>
          </a:p>
        </p:txBody>
      </p:sp>
    </p:spTree>
    <p:extLst>
      <p:ext uri="{BB962C8B-B14F-4D97-AF65-F5344CB8AC3E}">
        <p14:creationId xmlns:p14="http://schemas.microsoft.com/office/powerpoint/2010/main" val="1121385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E0636404-7312-45DF-8157-FDC1E8A4C5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i-IN"/>
              <a:t>Still More Terminology...</a:t>
            </a:r>
          </a:p>
        </p:txBody>
      </p:sp>
      <p:sp>
        <p:nvSpPr>
          <p:cNvPr id="13315" name="Text Box 3">
            <a:extLst>
              <a:ext uri="{FF2B5EF4-FFF2-40B4-BE49-F238E27FC236}">
                <a16:creationId xmlns:a16="http://schemas.microsoft.com/office/drawing/2014/main" id="{24085740-9325-4845-8315-3125F0F4EF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905000"/>
            <a:ext cx="8686800" cy="4345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spcBef>
                <a:spcPct val="30000"/>
              </a:spcBef>
            </a:pPr>
            <a:r>
              <a:rPr lang="en-US" altLang="hi-IN" dirty="0"/>
              <a:t>Degree and graph types</a:t>
            </a:r>
          </a:p>
          <a:p>
            <a:pPr lvl="1" algn="l">
              <a:spcBef>
                <a:spcPct val="30000"/>
              </a:spcBef>
            </a:pPr>
            <a:r>
              <a:rPr lang="en-US" altLang="hi-IN" sz="2400" dirty="0"/>
              <a:t>The </a:t>
            </a:r>
            <a:r>
              <a:rPr lang="en-US" altLang="hi-IN" sz="2400" b="1" i="1" dirty="0"/>
              <a:t>degree</a:t>
            </a:r>
            <a:r>
              <a:rPr lang="en-US" altLang="hi-IN" sz="2400" dirty="0"/>
              <a:t> of a vertex is the number of edges connected to it.  The most popular person will have a vertex of the highest degree.  Remote hermits may have degree-zero vertices.  In </a:t>
            </a:r>
            <a:r>
              <a:rPr lang="en-US" altLang="hi-IN" sz="2400" b="1" i="1" dirty="0"/>
              <a:t>dense</a:t>
            </a:r>
            <a:r>
              <a:rPr lang="en-US" altLang="hi-IN" sz="2400" dirty="0"/>
              <a:t> graphs, most vertices have high degree.  In </a:t>
            </a:r>
            <a:r>
              <a:rPr lang="en-US" altLang="hi-IN" sz="2400" b="1" i="1" dirty="0"/>
              <a:t>sparse</a:t>
            </a:r>
            <a:r>
              <a:rPr lang="en-US" altLang="hi-IN" sz="2400" dirty="0"/>
              <a:t> graphs, most vertices have low degree.  In a </a:t>
            </a:r>
            <a:r>
              <a:rPr lang="en-US" altLang="hi-IN" sz="2400" b="1" i="1" dirty="0"/>
              <a:t>regular graph</a:t>
            </a:r>
            <a:r>
              <a:rPr lang="en-US" altLang="hi-IN" sz="2400" dirty="0"/>
              <a:t>, all vertices have exactly the same degree. Degree can be </a:t>
            </a:r>
            <a:r>
              <a:rPr lang="en-US" altLang="hi-IN" sz="2400" b="1" dirty="0"/>
              <a:t>Indegree</a:t>
            </a:r>
            <a:r>
              <a:rPr lang="en-US" altLang="hi-IN" sz="2400" dirty="0"/>
              <a:t> and/or </a:t>
            </a:r>
            <a:r>
              <a:rPr lang="en-US" altLang="hi-IN" sz="2400" b="1" dirty="0"/>
              <a:t>Outdegree.</a:t>
            </a:r>
          </a:p>
          <a:p>
            <a:pPr algn="l">
              <a:spcBef>
                <a:spcPct val="50000"/>
              </a:spcBef>
            </a:pPr>
            <a:r>
              <a:rPr lang="en-US" altLang="hi-IN" dirty="0"/>
              <a:t>Clique</a:t>
            </a:r>
          </a:p>
          <a:p>
            <a:pPr lvl="1" algn="l">
              <a:spcBef>
                <a:spcPct val="30000"/>
              </a:spcBef>
            </a:pPr>
            <a:r>
              <a:rPr lang="en-US" altLang="hi-IN" sz="2400" dirty="0"/>
              <a:t>A graph is called </a:t>
            </a:r>
            <a:r>
              <a:rPr lang="en-US" altLang="hi-IN" sz="2400" b="1" i="1" dirty="0"/>
              <a:t>complete</a:t>
            </a:r>
            <a:r>
              <a:rPr lang="en-US" altLang="hi-IN" sz="2400" dirty="0"/>
              <a:t> if every pair of vertices is connected by an edge.  A </a:t>
            </a:r>
            <a:r>
              <a:rPr lang="en-US" altLang="hi-IN" sz="2400" b="1" i="1" dirty="0"/>
              <a:t>clique</a:t>
            </a:r>
            <a:r>
              <a:rPr lang="en-US" altLang="hi-IN" sz="2400" dirty="0"/>
              <a:t> is a sub-graph that is complete.</a:t>
            </a:r>
            <a:endParaRPr lang="en-US" altLang="hi-I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0F5E73-61C1-485C-BACD-5A823459A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11</a:t>
            </a:fld>
            <a:endParaRPr lang="en-US" altLang="hi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C0A0E-F6AA-4488-A192-09C84142F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Degree</a:t>
            </a:r>
            <a:endParaRPr lang="hi-IN" dirty="0"/>
          </a:p>
        </p:txBody>
      </p:sp>
      <p:pic>
        <p:nvPicPr>
          <p:cNvPr id="5122" name="Picture 2" descr="Image result for degree of a graph">
            <a:extLst>
              <a:ext uri="{FF2B5EF4-FFF2-40B4-BE49-F238E27FC236}">
                <a16:creationId xmlns:a16="http://schemas.microsoft.com/office/drawing/2014/main" id="{5F25E836-241D-4479-AEB6-4E108B9DF7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840" y="1752600"/>
            <a:ext cx="1905000" cy="1133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3CFB150-6081-4AA0-86BF-1A5ADEFE02A5}"/>
              </a:ext>
            </a:extLst>
          </p:cNvPr>
          <p:cNvSpPr txBox="1"/>
          <p:nvPr/>
        </p:nvSpPr>
        <p:spPr>
          <a:xfrm>
            <a:off x="685800" y="2971800"/>
            <a:ext cx="2209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Graph with varying degree</a:t>
            </a:r>
            <a:endParaRPr lang="hi-IN" sz="1800" dirty="0"/>
          </a:p>
        </p:txBody>
      </p:sp>
      <p:pic>
        <p:nvPicPr>
          <p:cNvPr id="5124" name="Picture 4" descr="Image result for regular graph">
            <a:extLst>
              <a:ext uri="{FF2B5EF4-FFF2-40B4-BE49-F238E27FC236}">
                <a16:creationId xmlns:a16="http://schemas.microsoft.com/office/drawing/2014/main" id="{EE908340-AAF8-45CD-9864-0D71F3078A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1380" y="2033905"/>
            <a:ext cx="1257300" cy="125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Image result for regular graph">
            <a:extLst>
              <a:ext uri="{FF2B5EF4-FFF2-40B4-BE49-F238E27FC236}">
                <a16:creationId xmlns:a16="http://schemas.microsoft.com/office/drawing/2014/main" id="{D66CE6D8-B579-448D-B762-69C8F7ECB2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023110"/>
            <a:ext cx="2362200" cy="1240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7D27D58-3D9F-4B2F-9078-8C51F234623B}"/>
              </a:ext>
            </a:extLst>
          </p:cNvPr>
          <p:cNvSpPr txBox="1"/>
          <p:nvPr/>
        </p:nvSpPr>
        <p:spPr>
          <a:xfrm>
            <a:off x="5320030" y="3288030"/>
            <a:ext cx="2209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Regular Graph (with same degree)</a:t>
            </a:r>
            <a:endParaRPr lang="hi-IN" sz="1800" dirty="0"/>
          </a:p>
        </p:txBody>
      </p:sp>
      <p:pic>
        <p:nvPicPr>
          <p:cNvPr id="5128" name="Picture 8" descr="Graphs. Data structures that connect a set of objects to form a ...">
            <a:extLst>
              <a:ext uri="{FF2B5EF4-FFF2-40B4-BE49-F238E27FC236}">
                <a16:creationId xmlns:a16="http://schemas.microsoft.com/office/drawing/2014/main" id="{B4AC3CAB-7F1C-414E-B596-DD1D9E6B4D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56" b="37778"/>
          <a:stretch/>
        </p:blipFill>
        <p:spPr bwMode="auto">
          <a:xfrm>
            <a:off x="609600" y="4328092"/>
            <a:ext cx="6523990" cy="2283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DAF645-4F64-4130-BD40-372B9F6C3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12</a:t>
            </a:fld>
            <a:endParaRPr lang="en-US" altLang="hi-IN"/>
          </a:p>
        </p:txBody>
      </p:sp>
    </p:spTree>
    <p:extLst>
      <p:ext uri="{BB962C8B-B14F-4D97-AF65-F5344CB8AC3E}">
        <p14:creationId xmlns:p14="http://schemas.microsoft.com/office/powerpoint/2010/main" val="38255426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F74B4-1AB9-4DC8-9660-2947D30DE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Clique</a:t>
            </a:r>
            <a:endParaRPr lang="hi-IN" dirty="0"/>
          </a:p>
        </p:txBody>
      </p:sp>
      <p:pic>
        <p:nvPicPr>
          <p:cNvPr id="6146" name="Picture 2" descr="Algorithm to find cliques of a given size k in O(n^k) time complexity">
            <a:extLst>
              <a:ext uri="{FF2B5EF4-FFF2-40B4-BE49-F238E27FC236}">
                <a16:creationId xmlns:a16="http://schemas.microsoft.com/office/drawing/2014/main" id="{49E98C51-8779-46E7-8F26-29E5F1AFF5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880" y="1600200"/>
            <a:ext cx="262816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What's maximal clique? - Mathematics Stack Exchange">
            <a:extLst>
              <a:ext uri="{FF2B5EF4-FFF2-40B4-BE49-F238E27FC236}">
                <a16:creationId xmlns:a16="http://schemas.microsoft.com/office/drawing/2014/main" id="{46B450C4-926D-499C-8681-5203617FE6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4038600"/>
            <a:ext cx="6477000" cy="2733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Commands graph:/kclique_percolation — Trusted Analytics Platform ...">
            <a:extLst>
              <a:ext uri="{FF2B5EF4-FFF2-40B4-BE49-F238E27FC236}">
                <a16:creationId xmlns:a16="http://schemas.microsoft.com/office/drawing/2014/main" id="{B5CF4FC9-629F-49AE-A16D-0B534E8E96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2340" y="1757680"/>
            <a:ext cx="5626100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E37F086-8039-4861-9D09-652694AC5FA2}"/>
                  </a:ext>
                </a:extLst>
              </p14:cNvPr>
              <p14:cNvContentPartPr/>
              <p14:nvPr/>
            </p14:nvContentPartPr>
            <p14:xfrm>
              <a:off x="787680" y="1644480"/>
              <a:ext cx="1746360" cy="17150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E37F086-8039-4861-9D09-652694AC5FA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78320" y="1635120"/>
                <a:ext cx="1765080" cy="173376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146AC-950B-42BE-8A46-2DD62EA95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13</a:t>
            </a:fld>
            <a:endParaRPr lang="en-US" altLang="hi-IN"/>
          </a:p>
        </p:txBody>
      </p:sp>
    </p:spTree>
    <p:extLst>
      <p:ext uri="{BB962C8B-B14F-4D97-AF65-F5344CB8AC3E}">
        <p14:creationId xmlns:p14="http://schemas.microsoft.com/office/powerpoint/2010/main" val="18693482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860E0673-DD8F-40BC-AB75-2BEF4716EA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533400"/>
            <a:ext cx="7772400" cy="1143000"/>
          </a:xfrm>
        </p:spPr>
        <p:txBody>
          <a:bodyPr/>
          <a:lstStyle/>
          <a:p>
            <a:r>
              <a:rPr lang="en-US" altLang="hi-IN"/>
              <a:t>Yet More Terminology...</a:t>
            </a:r>
          </a:p>
        </p:txBody>
      </p:sp>
      <p:sp>
        <p:nvSpPr>
          <p:cNvPr id="11267" name="Text Box 3">
            <a:extLst>
              <a:ext uri="{FF2B5EF4-FFF2-40B4-BE49-F238E27FC236}">
                <a16:creationId xmlns:a16="http://schemas.microsoft.com/office/drawing/2014/main" id="{EDBD8A8F-91CD-4EDC-B6F5-368E28724A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981200"/>
            <a:ext cx="8474075" cy="354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hi-IN"/>
              <a:t>Cycles and Dags</a:t>
            </a:r>
          </a:p>
          <a:p>
            <a:pPr lvl="1" algn="l">
              <a:spcBef>
                <a:spcPct val="30000"/>
              </a:spcBef>
            </a:pPr>
            <a:r>
              <a:rPr lang="en-US" altLang="hi-IN" sz="2400"/>
              <a:t>A </a:t>
            </a:r>
            <a:r>
              <a:rPr lang="en-US" altLang="hi-IN" sz="2400" b="1" i="1"/>
              <a:t>cycle</a:t>
            </a:r>
            <a:r>
              <a:rPr lang="en-US" altLang="hi-IN" sz="2400"/>
              <a:t> is a path where the last vertex is adjacent to the first.  A cycle in which no vertex is repeated is said to be a </a:t>
            </a:r>
            <a:r>
              <a:rPr lang="en-US" altLang="hi-IN" sz="2400" b="1" i="1"/>
              <a:t>simple cycle</a:t>
            </a:r>
            <a:r>
              <a:rPr lang="en-US" altLang="hi-IN" sz="2400"/>
              <a:t>.  The shortest cycle in a graph determines the graph’s </a:t>
            </a:r>
            <a:r>
              <a:rPr lang="en-US" altLang="hi-IN" sz="2400" b="1" i="1"/>
              <a:t>girth</a:t>
            </a:r>
            <a:r>
              <a:rPr lang="en-US" altLang="hi-IN" sz="2400"/>
              <a:t>.  A simple cycle that passes through every vertex is said to be a </a:t>
            </a:r>
            <a:r>
              <a:rPr lang="en-US" altLang="hi-IN" sz="2400" b="1" i="1"/>
              <a:t>Hamiltonian cycle</a:t>
            </a:r>
            <a:r>
              <a:rPr lang="en-US" altLang="hi-IN" sz="2400"/>
              <a:t>.  An undirected graph with no cycles is a </a:t>
            </a:r>
            <a:r>
              <a:rPr lang="en-US" altLang="hi-IN" sz="2400" b="1" i="1"/>
              <a:t>tree</a:t>
            </a:r>
            <a:r>
              <a:rPr lang="en-US" altLang="hi-IN" sz="2400"/>
              <a:t> if it is connected, or a </a:t>
            </a:r>
            <a:r>
              <a:rPr lang="en-US" altLang="hi-IN" sz="2400" b="1" i="1"/>
              <a:t>forest</a:t>
            </a:r>
            <a:r>
              <a:rPr lang="en-US" altLang="hi-IN" sz="2400"/>
              <a:t> if it is not.  A directed graph with no directed cycles is said to be a </a:t>
            </a:r>
            <a:r>
              <a:rPr lang="en-US" altLang="hi-IN" sz="2400" b="1" i="1"/>
              <a:t>directed acyclic graph</a:t>
            </a:r>
            <a:r>
              <a:rPr lang="en-US" altLang="hi-IN" sz="2400"/>
              <a:t> (or a DAG)</a:t>
            </a:r>
            <a:endParaRPr lang="en-US" altLang="hi-I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0730D90-2DCD-4EA6-B41A-081DFD8B3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14</a:t>
            </a:fld>
            <a:endParaRPr lang="en-US" altLang="hi-I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F1B19-0E60-44EB-B4DC-FFAB102DB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Cycles and DAGs</a:t>
            </a:r>
            <a:endParaRPr lang="hi-IN" dirty="0"/>
          </a:p>
        </p:txBody>
      </p:sp>
      <p:pic>
        <p:nvPicPr>
          <p:cNvPr id="7170" name="Picture 2" descr="Image result for cycle in a graph">
            <a:extLst>
              <a:ext uri="{FF2B5EF4-FFF2-40B4-BE49-F238E27FC236}">
                <a16:creationId xmlns:a16="http://schemas.microsoft.com/office/drawing/2014/main" id="{6BC72DB8-63FE-4025-A7D8-153C3BE840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752600"/>
            <a:ext cx="16002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EBE3F17-33EF-4426-B865-3941D4956B0E}"/>
              </a:ext>
            </a:extLst>
          </p:cNvPr>
          <p:cNvSpPr txBox="1"/>
          <p:nvPr/>
        </p:nvSpPr>
        <p:spPr>
          <a:xfrm>
            <a:off x="457200" y="3373120"/>
            <a:ext cx="220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Graph with cycles</a:t>
            </a:r>
            <a:endParaRPr lang="hi-IN" sz="1800" dirty="0"/>
          </a:p>
        </p:txBody>
      </p:sp>
      <p:pic>
        <p:nvPicPr>
          <p:cNvPr id="7176" name="Picture 8" descr="Lecture 6: Trees">
            <a:extLst>
              <a:ext uri="{FF2B5EF4-FFF2-40B4-BE49-F238E27FC236}">
                <a16:creationId xmlns:a16="http://schemas.microsoft.com/office/drawing/2014/main" id="{99FD00B3-5306-4725-896B-672183F738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7100" y="1828800"/>
            <a:ext cx="3886200" cy="1171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E4BCA9D-A2F4-4FE7-B2D5-76C6210F9A6D}"/>
              </a:ext>
            </a:extLst>
          </p:cNvPr>
          <p:cNvSpPr txBox="1"/>
          <p:nvPr/>
        </p:nvSpPr>
        <p:spPr>
          <a:xfrm>
            <a:off x="4800600" y="3168134"/>
            <a:ext cx="220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Trees in a Forest</a:t>
            </a:r>
            <a:endParaRPr lang="hi-IN" sz="1800" dirty="0"/>
          </a:p>
        </p:txBody>
      </p:sp>
      <p:pic>
        <p:nvPicPr>
          <p:cNvPr id="7178" name="Picture 10" descr="Directed acyclic graph - Wikipedia">
            <a:extLst>
              <a:ext uri="{FF2B5EF4-FFF2-40B4-BE49-F238E27FC236}">
                <a16:creationId xmlns:a16="http://schemas.microsoft.com/office/drawing/2014/main" id="{7212D88D-1204-48FF-9D70-A4BD6A7BBE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3822066"/>
            <a:ext cx="21336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13A19A9-8CE6-4D69-9ECC-C8EF3549A499}"/>
              </a:ext>
            </a:extLst>
          </p:cNvPr>
          <p:cNvSpPr txBox="1"/>
          <p:nvPr/>
        </p:nvSpPr>
        <p:spPr>
          <a:xfrm>
            <a:off x="3200400" y="6240266"/>
            <a:ext cx="220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DAG</a:t>
            </a:r>
            <a:endParaRPr lang="hi-IN" sz="1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A13862-F5F1-4A4B-9508-44A9790BB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15</a:t>
            </a:fld>
            <a:endParaRPr lang="en-US" altLang="hi-IN"/>
          </a:p>
        </p:txBody>
      </p:sp>
    </p:spTree>
    <p:extLst>
      <p:ext uri="{BB962C8B-B14F-4D97-AF65-F5344CB8AC3E}">
        <p14:creationId xmlns:p14="http://schemas.microsoft.com/office/powerpoint/2010/main" val="26339279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3AA06375-888E-4DD2-AB90-E41617394C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i-IN"/>
              <a:t>Graphs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13E49134-F866-4B60-BF6E-9BF83907A9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990600"/>
            <a:ext cx="8991600" cy="5334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hi-IN" sz="2800" b="1" i="1"/>
              <a:t>Graph G</a:t>
            </a:r>
            <a:r>
              <a:rPr lang="en-US" altLang="hi-IN" sz="2800" b="1"/>
              <a:t> = (</a:t>
            </a:r>
            <a:r>
              <a:rPr lang="en-US" altLang="hi-IN" sz="2800" b="1" i="1"/>
              <a:t>V</a:t>
            </a:r>
            <a:r>
              <a:rPr lang="en-US" altLang="hi-IN" sz="2800" b="1"/>
              <a:t>, </a:t>
            </a:r>
            <a:r>
              <a:rPr lang="en-US" altLang="hi-IN" sz="2800" b="1" i="1"/>
              <a:t>E</a:t>
            </a:r>
            <a:r>
              <a:rPr lang="en-US" altLang="hi-IN" sz="2800" b="1"/>
              <a:t>)</a:t>
            </a:r>
          </a:p>
          <a:p>
            <a:pPr lvl="1">
              <a:lnSpc>
                <a:spcPct val="90000"/>
              </a:lnSpc>
            </a:pPr>
            <a:r>
              <a:rPr lang="en-US" altLang="hi-IN" sz="2400" i="1"/>
              <a:t>V</a:t>
            </a:r>
            <a:r>
              <a:rPr lang="en-US" altLang="hi-IN" sz="2400"/>
              <a:t> = set of vertices</a:t>
            </a:r>
          </a:p>
          <a:p>
            <a:pPr lvl="1">
              <a:lnSpc>
                <a:spcPct val="90000"/>
              </a:lnSpc>
            </a:pPr>
            <a:r>
              <a:rPr lang="en-US" altLang="hi-IN" sz="2400" i="1"/>
              <a:t>E</a:t>
            </a:r>
            <a:r>
              <a:rPr lang="en-US" altLang="hi-IN" sz="2400"/>
              <a:t> = set of edges </a:t>
            </a:r>
            <a:r>
              <a:rPr lang="en-US" altLang="hi-IN" sz="2400">
                <a:sym typeface="Symbol" panose="05050102010706020507" pitchFamily="18" charset="2"/>
              </a:rPr>
              <a:t> (</a:t>
            </a:r>
            <a:r>
              <a:rPr lang="en-US" altLang="hi-IN" sz="2400" i="1">
                <a:sym typeface="Symbol" panose="05050102010706020507" pitchFamily="18" charset="2"/>
              </a:rPr>
              <a:t>V</a:t>
            </a:r>
            <a:r>
              <a:rPr lang="en-US" altLang="hi-IN" sz="2400">
                <a:sym typeface="Symbol" panose="05050102010706020507" pitchFamily="18" charset="2"/>
              </a:rPr>
              <a:t></a:t>
            </a:r>
            <a:r>
              <a:rPr lang="en-US" altLang="hi-IN" sz="2400" i="1">
                <a:sym typeface="Symbol" panose="05050102010706020507" pitchFamily="18" charset="2"/>
              </a:rPr>
              <a:t>V</a:t>
            </a:r>
            <a:r>
              <a:rPr lang="en-US" altLang="hi-IN" sz="2400">
                <a:sym typeface="Symbol" panose="05050102010706020507" pitchFamily="18" charset="2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altLang="hi-IN" sz="2800">
                <a:sym typeface="Symbol" panose="05050102010706020507" pitchFamily="18" charset="2"/>
              </a:rPr>
              <a:t>Types of graphs</a:t>
            </a:r>
          </a:p>
          <a:p>
            <a:pPr lvl="1">
              <a:lnSpc>
                <a:spcPct val="90000"/>
              </a:lnSpc>
            </a:pPr>
            <a:r>
              <a:rPr lang="en-US" altLang="hi-IN" sz="2400" b="1">
                <a:sym typeface="Symbol" panose="05050102010706020507" pitchFamily="18" charset="2"/>
              </a:rPr>
              <a:t>Undirected: </a:t>
            </a:r>
            <a:r>
              <a:rPr lang="en-US" altLang="hi-IN" sz="2400">
                <a:sym typeface="Symbol" panose="05050102010706020507" pitchFamily="18" charset="2"/>
              </a:rPr>
              <a:t>edge (</a:t>
            </a:r>
            <a:r>
              <a:rPr lang="en-US" altLang="hi-IN" sz="2400" i="1">
                <a:sym typeface="Symbol" panose="05050102010706020507" pitchFamily="18" charset="2"/>
              </a:rPr>
              <a:t>u</a:t>
            </a:r>
            <a:r>
              <a:rPr lang="en-US" altLang="hi-IN" sz="2400">
                <a:sym typeface="Symbol" panose="05050102010706020507" pitchFamily="18" charset="2"/>
              </a:rPr>
              <a:t>, </a:t>
            </a:r>
            <a:r>
              <a:rPr lang="en-US" altLang="hi-IN" sz="2400" i="1">
                <a:sym typeface="Symbol" panose="05050102010706020507" pitchFamily="18" charset="2"/>
              </a:rPr>
              <a:t>v</a:t>
            </a:r>
            <a:r>
              <a:rPr lang="en-US" altLang="hi-IN" sz="2400">
                <a:sym typeface="Symbol" panose="05050102010706020507" pitchFamily="18" charset="2"/>
              </a:rPr>
              <a:t>) = (</a:t>
            </a:r>
            <a:r>
              <a:rPr lang="en-US" altLang="hi-IN" sz="2400" i="1">
                <a:sym typeface="Symbol" panose="05050102010706020507" pitchFamily="18" charset="2"/>
              </a:rPr>
              <a:t>v</a:t>
            </a:r>
            <a:r>
              <a:rPr lang="en-US" altLang="hi-IN" sz="2400">
                <a:sym typeface="Symbol" panose="05050102010706020507" pitchFamily="18" charset="2"/>
              </a:rPr>
              <a:t>, </a:t>
            </a:r>
            <a:r>
              <a:rPr lang="en-US" altLang="hi-IN" sz="2400" i="1">
                <a:sym typeface="Symbol" panose="05050102010706020507" pitchFamily="18" charset="2"/>
              </a:rPr>
              <a:t>u</a:t>
            </a:r>
            <a:r>
              <a:rPr lang="en-US" altLang="hi-IN" sz="2400">
                <a:sym typeface="Symbol" panose="05050102010706020507" pitchFamily="18" charset="2"/>
              </a:rPr>
              <a:t>); for all </a:t>
            </a:r>
            <a:r>
              <a:rPr lang="en-US" altLang="hi-IN" sz="2400" i="1">
                <a:sym typeface="Symbol" panose="05050102010706020507" pitchFamily="18" charset="2"/>
              </a:rPr>
              <a:t>v</a:t>
            </a:r>
            <a:r>
              <a:rPr lang="en-US" altLang="hi-IN" sz="2400">
                <a:sym typeface="Symbol" panose="05050102010706020507" pitchFamily="18" charset="2"/>
              </a:rPr>
              <a:t>, (</a:t>
            </a:r>
            <a:r>
              <a:rPr lang="en-US" altLang="hi-IN" sz="2400" i="1">
                <a:sym typeface="Symbol" panose="05050102010706020507" pitchFamily="18" charset="2"/>
              </a:rPr>
              <a:t>v</a:t>
            </a:r>
            <a:r>
              <a:rPr lang="en-US" altLang="hi-IN" sz="2400">
                <a:sym typeface="Symbol" panose="05050102010706020507" pitchFamily="18" charset="2"/>
              </a:rPr>
              <a:t>, </a:t>
            </a:r>
            <a:r>
              <a:rPr lang="en-US" altLang="hi-IN" sz="2400" i="1">
                <a:sym typeface="Symbol" panose="05050102010706020507" pitchFamily="18" charset="2"/>
              </a:rPr>
              <a:t>v</a:t>
            </a:r>
            <a:r>
              <a:rPr lang="en-US" altLang="hi-IN" sz="2400">
                <a:sym typeface="Symbol" panose="05050102010706020507" pitchFamily="18" charset="2"/>
              </a:rPr>
              <a:t>)  </a:t>
            </a:r>
            <a:r>
              <a:rPr lang="en-US" altLang="hi-IN" sz="2400" i="1">
                <a:sym typeface="Symbol" panose="05050102010706020507" pitchFamily="18" charset="2"/>
              </a:rPr>
              <a:t>E</a:t>
            </a:r>
            <a:r>
              <a:rPr lang="en-US" altLang="hi-IN" sz="2400">
                <a:sym typeface="Symbol" panose="05050102010706020507" pitchFamily="18" charset="2"/>
              </a:rPr>
              <a:t> (No self loops.)</a:t>
            </a:r>
          </a:p>
          <a:p>
            <a:pPr lvl="1">
              <a:lnSpc>
                <a:spcPct val="90000"/>
              </a:lnSpc>
            </a:pPr>
            <a:r>
              <a:rPr lang="en-US" altLang="hi-IN" sz="2400" b="1">
                <a:sym typeface="Symbol" panose="05050102010706020507" pitchFamily="18" charset="2"/>
              </a:rPr>
              <a:t>Directed: </a:t>
            </a:r>
            <a:r>
              <a:rPr lang="en-US" altLang="hi-IN" sz="2400">
                <a:sym typeface="Symbol" panose="05050102010706020507" pitchFamily="18" charset="2"/>
              </a:rPr>
              <a:t>(</a:t>
            </a:r>
            <a:r>
              <a:rPr lang="en-US" altLang="hi-IN" sz="2400" i="1">
                <a:sym typeface="Symbol" panose="05050102010706020507" pitchFamily="18" charset="2"/>
              </a:rPr>
              <a:t>u</a:t>
            </a:r>
            <a:r>
              <a:rPr lang="en-US" altLang="hi-IN" sz="2400">
                <a:sym typeface="Symbol" panose="05050102010706020507" pitchFamily="18" charset="2"/>
              </a:rPr>
              <a:t>, </a:t>
            </a:r>
            <a:r>
              <a:rPr lang="en-US" altLang="hi-IN" sz="2400" i="1">
                <a:sym typeface="Symbol" panose="05050102010706020507" pitchFamily="18" charset="2"/>
              </a:rPr>
              <a:t>v</a:t>
            </a:r>
            <a:r>
              <a:rPr lang="en-US" altLang="hi-IN" sz="2400">
                <a:sym typeface="Symbol" panose="05050102010706020507" pitchFamily="18" charset="2"/>
              </a:rPr>
              <a:t>) is edge from </a:t>
            </a:r>
            <a:r>
              <a:rPr lang="en-US" altLang="hi-IN" sz="2400" i="1">
                <a:sym typeface="Symbol" panose="05050102010706020507" pitchFamily="18" charset="2"/>
              </a:rPr>
              <a:t>u</a:t>
            </a:r>
            <a:r>
              <a:rPr lang="en-US" altLang="hi-IN" sz="2400">
                <a:sym typeface="Symbol" panose="05050102010706020507" pitchFamily="18" charset="2"/>
              </a:rPr>
              <a:t> to </a:t>
            </a:r>
            <a:r>
              <a:rPr lang="en-US" altLang="hi-IN" sz="2400" i="1">
                <a:sym typeface="Symbol" panose="05050102010706020507" pitchFamily="18" charset="2"/>
              </a:rPr>
              <a:t>v</a:t>
            </a:r>
            <a:r>
              <a:rPr lang="en-US" altLang="hi-IN" sz="2400">
                <a:sym typeface="Symbol" panose="05050102010706020507" pitchFamily="18" charset="2"/>
              </a:rPr>
              <a:t>, denoted as </a:t>
            </a:r>
            <a:r>
              <a:rPr lang="en-US" altLang="hi-IN" sz="2400" i="1">
                <a:sym typeface="Symbol" panose="05050102010706020507" pitchFamily="18" charset="2"/>
              </a:rPr>
              <a:t>u </a:t>
            </a:r>
            <a:r>
              <a:rPr lang="en-US" altLang="hi-IN" sz="2400">
                <a:sym typeface="Symbol" panose="05050102010706020507" pitchFamily="18" charset="2"/>
              </a:rPr>
              <a:t></a:t>
            </a:r>
            <a:r>
              <a:rPr lang="en-US" altLang="hi-IN" sz="2400" i="1">
                <a:sym typeface="Symbol" panose="05050102010706020507" pitchFamily="18" charset="2"/>
              </a:rPr>
              <a:t> v</a:t>
            </a:r>
            <a:r>
              <a:rPr lang="en-US" altLang="hi-IN" sz="2400">
                <a:sym typeface="Symbol" panose="05050102010706020507" pitchFamily="18" charset="2"/>
              </a:rPr>
              <a:t>. Self loops are allowed (also called as </a:t>
            </a:r>
            <a:r>
              <a:rPr lang="en-US" altLang="hi-IN" sz="2400" b="1">
                <a:sym typeface="Symbol" panose="05050102010706020507" pitchFamily="18" charset="2"/>
              </a:rPr>
              <a:t>digraph</a:t>
            </a:r>
            <a:r>
              <a:rPr lang="en-US" altLang="hi-IN" sz="2400">
                <a:sym typeface="Symbol" panose="05050102010706020507" pitchFamily="18" charset="2"/>
              </a:rPr>
              <a:t>)</a:t>
            </a:r>
          </a:p>
          <a:p>
            <a:pPr lvl="1">
              <a:lnSpc>
                <a:spcPct val="90000"/>
              </a:lnSpc>
            </a:pPr>
            <a:r>
              <a:rPr lang="en-US" altLang="hi-IN" sz="2400" b="1">
                <a:sym typeface="Symbol" panose="05050102010706020507" pitchFamily="18" charset="2"/>
              </a:rPr>
              <a:t>Weighted: </a:t>
            </a:r>
            <a:r>
              <a:rPr lang="en-US" altLang="hi-IN" sz="2400">
                <a:sym typeface="Symbol" panose="05050102010706020507" pitchFamily="18" charset="2"/>
              </a:rPr>
              <a:t>each edge has an associated weight, given by a weight function </a:t>
            </a:r>
            <a:r>
              <a:rPr lang="en-US" altLang="hi-IN" sz="2400" i="1">
                <a:sym typeface="Symbol" panose="05050102010706020507" pitchFamily="18" charset="2"/>
              </a:rPr>
              <a:t>w </a:t>
            </a:r>
            <a:r>
              <a:rPr lang="en-US" altLang="hi-IN" sz="2400">
                <a:sym typeface="Symbol" panose="05050102010706020507" pitchFamily="18" charset="2"/>
              </a:rPr>
              <a:t>: </a:t>
            </a:r>
            <a:r>
              <a:rPr lang="en-US" altLang="hi-IN" sz="2400" i="1">
                <a:sym typeface="Symbol" panose="05050102010706020507" pitchFamily="18" charset="2"/>
              </a:rPr>
              <a:t>E</a:t>
            </a:r>
            <a:r>
              <a:rPr lang="en-US" altLang="hi-IN" sz="2400">
                <a:sym typeface="Symbol" panose="05050102010706020507" pitchFamily="18" charset="2"/>
              </a:rPr>
              <a:t>  </a:t>
            </a:r>
            <a:r>
              <a:rPr lang="en-US" altLang="hi-IN" sz="2400" b="1">
                <a:sym typeface="Symbol" panose="05050102010706020507" pitchFamily="18" charset="2"/>
              </a:rPr>
              <a:t>R</a:t>
            </a:r>
            <a:r>
              <a:rPr lang="en-US" altLang="hi-IN" sz="2400">
                <a:sym typeface="Symbol" panose="05050102010706020507" pitchFamily="18" charset="2"/>
              </a:rPr>
              <a:t>.</a:t>
            </a:r>
          </a:p>
          <a:p>
            <a:pPr lvl="1">
              <a:lnSpc>
                <a:spcPct val="90000"/>
              </a:lnSpc>
            </a:pPr>
            <a:r>
              <a:rPr lang="en-US" altLang="hi-IN" sz="2400" b="1">
                <a:sym typeface="Symbol" panose="05050102010706020507" pitchFamily="18" charset="2"/>
              </a:rPr>
              <a:t>Dense: </a:t>
            </a:r>
            <a:r>
              <a:rPr lang="en-US" altLang="hi-IN" sz="2400">
                <a:sym typeface="Symbol" panose="05050102010706020507" pitchFamily="18" charset="2"/>
              </a:rPr>
              <a:t>|</a:t>
            </a:r>
            <a:r>
              <a:rPr lang="en-US" altLang="hi-IN" sz="2400" i="1">
                <a:sym typeface="Symbol" panose="05050102010706020507" pitchFamily="18" charset="2"/>
              </a:rPr>
              <a:t>E</a:t>
            </a:r>
            <a:r>
              <a:rPr lang="en-US" altLang="hi-IN" sz="2400">
                <a:sym typeface="Symbol" panose="05050102010706020507" pitchFamily="18" charset="2"/>
              </a:rPr>
              <a:t>|  |</a:t>
            </a:r>
            <a:r>
              <a:rPr lang="en-US" altLang="hi-IN" sz="2400" i="1">
                <a:sym typeface="Symbol" panose="05050102010706020507" pitchFamily="18" charset="2"/>
              </a:rPr>
              <a:t>V</a:t>
            </a:r>
            <a:r>
              <a:rPr lang="en-US" altLang="hi-IN" sz="2400">
                <a:sym typeface="Symbol" panose="05050102010706020507" pitchFamily="18" charset="2"/>
              </a:rPr>
              <a:t>|</a:t>
            </a:r>
            <a:r>
              <a:rPr lang="en-US" altLang="hi-IN" sz="2400" baseline="30000">
                <a:sym typeface="Symbol" panose="05050102010706020507" pitchFamily="18" charset="2"/>
              </a:rPr>
              <a:t>2</a:t>
            </a:r>
            <a:r>
              <a:rPr lang="en-US" altLang="hi-IN" sz="2400">
                <a:sym typeface="Symbol" panose="05050102010706020507" pitchFamily="18" charset="2"/>
              </a:rPr>
              <a:t>.</a:t>
            </a:r>
          </a:p>
          <a:p>
            <a:pPr lvl="1">
              <a:lnSpc>
                <a:spcPct val="90000"/>
              </a:lnSpc>
            </a:pPr>
            <a:r>
              <a:rPr lang="en-US" altLang="hi-IN" sz="2400" b="1">
                <a:sym typeface="Symbol" panose="05050102010706020507" pitchFamily="18" charset="2"/>
              </a:rPr>
              <a:t>Sparse: </a:t>
            </a:r>
            <a:r>
              <a:rPr lang="en-US" altLang="hi-IN" sz="2400">
                <a:sym typeface="Symbol" panose="05050102010706020507" pitchFamily="18" charset="2"/>
              </a:rPr>
              <a:t>|</a:t>
            </a:r>
            <a:r>
              <a:rPr lang="en-US" altLang="hi-IN" sz="2400" i="1">
                <a:sym typeface="Symbol" panose="05050102010706020507" pitchFamily="18" charset="2"/>
              </a:rPr>
              <a:t>E</a:t>
            </a:r>
            <a:r>
              <a:rPr lang="en-US" altLang="hi-IN" sz="2400">
                <a:sym typeface="Symbol" panose="05050102010706020507" pitchFamily="18" charset="2"/>
              </a:rPr>
              <a:t>| &lt;&lt; |</a:t>
            </a:r>
            <a:r>
              <a:rPr lang="en-US" altLang="hi-IN" sz="2400" i="1">
                <a:sym typeface="Symbol" panose="05050102010706020507" pitchFamily="18" charset="2"/>
              </a:rPr>
              <a:t>V</a:t>
            </a:r>
            <a:r>
              <a:rPr lang="en-US" altLang="hi-IN" sz="2400">
                <a:sym typeface="Symbol" panose="05050102010706020507" pitchFamily="18" charset="2"/>
              </a:rPr>
              <a:t>|</a:t>
            </a:r>
            <a:r>
              <a:rPr lang="en-US" altLang="hi-IN" sz="2400" baseline="30000">
                <a:sym typeface="Symbol" panose="05050102010706020507" pitchFamily="18" charset="2"/>
              </a:rPr>
              <a:t>2</a:t>
            </a:r>
            <a:r>
              <a:rPr lang="en-US" altLang="hi-IN" sz="2400">
                <a:sym typeface="Symbol" panose="05050102010706020507" pitchFamily="18" charset="2"/>
              </a:rPr>
              <a:t>.</a:t>
            </a:r>
          </a:p>
          <a:p>
            <a:pPr>
              <a:lnSpc>
                <a:spcPct val="90000"/>
              </a:lnSpc>
            </a:pPr>
            <a:r>
              <a:rPr lang="en-US" altLang="hi-IN" sz="2800">
                <a:sym typeface="Symbol" panose="05050102010706020507" pitchFamily="18" charset="2"/>
              </a:rPr>
              <a:t>|</a:t>
            </a:r>
            <a:r>
              <a:rPr lang="en-US" altLang="hi-IN" sz="2800" i="1">
                <a:sym typeface="Symbol" panose="05050102010706020507" pitchFamily="18" charset="2"/>
              </a:rPr>
              <a:t>E</a:t>
            </a:r>
            <a:r>
              <a:rPr lang="en-US" altLang="hi-IN" sz="2800">
                <a:sym typeface="Symbol" panose="05050102010706020507" pitchFamily="18" charset="2"/>
              </a:rPr>
              <a:t>| = </a:t>
            </a:r>
            <a:r>
              <a:rPr lang="en-US" altLang="hi-IN" sz="2800" i="1">
                <a:sym typeface="Symbol" panose="05050102010706020507" pitchFamily="18" charset="2"/>
              </a:rPr>
              <a:t>O</a:t>
            </a:r>
            <a:r>
              <a:rPr lang="en-US" altLang="hi-IN" sz="2800">
                <a:sym typeface="Symbol" panose="05050102010706020507" pitchFamily="18" charset="2"/>
              </a:rPr>
              <a:t>(|</a:t>
            </a:r>
            <a:r>
              <a:rPr lang="en-US" altLang="hi-IN" sz="2800" i="1">
                <a:sym typeface="Symbol" panose="05050102010706020507" pitchFamily="18" charset="2"/>
              </a:rPr>
              <a:t>V|</a:t>
            </a:r>
            <a:r>
              <a:rPr lang="en-US" altLang="hi-IN" sz="2800" baseline="30000">
                <a:sym typeface="Symbol" panose="05050102010706020507" pitchFamily="18" charset="2"/>
              </a:rPr>
              <a:t>2</a:t>
            </a:r>
            <a:r>
              <a:rPr lang="en-US" altLang="hi-IN" sz="2800">
                <a:sym typeface="Symbol" panose="05050102010706020507" pitchFamily="18" charset="2"/>
              </a:rPr>
              <a:t>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1955E3-6D70-4A86-816D-73936773B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51D9C-B6AB-428B-A110-91A75E744F65}" type="slidenum">
              <a:rPr lang="en-US" altLang="hi-IN" smtClean="0"/>
              <a:pPr/>
              <a:t>16</a:t>
            </a:fld>
            <a:endParaRPr lang="en-US" altLang="hi-I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10096D64-3EC2-4C60-8BA1-CFB2ED8F86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i-IN"/>
              <a:t>Strongly Connected Components of a Digraph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B00B4514-8D69-494D-9E5F-914B28BF93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hi-IN"/>
              <a:t>Strongly connected:</a:t>
            </a:r>
          </a:p>
          <a:p>
            <a:pPr lvl="1"/>
            <a:r>
              <a:rPr lang="en-US" altLang="hi-IN" sz="1800"/>
              <a:t>A directed graph is strongly connected if and only if, for each pair of vertices v and w, there is a path from v to w.</a:t>
            </a:r>
          </a:p>
          <a:p>
            <a:r>
              <a:rPr lang="en-US" altLang="hi-IN"/>
              <a:t>Strongly connected component:</a:t>
            </a:r>
          </a:p>
          <a:p>
            <a:pPr lvl="1"/>
            <a:r>
              <a:rPr lang="en-US" altLang="hi-IN"/>
              <a:t>A strongly connected component of a digraph G is a maximal strongly connected subgraph of G.</a:t>
            </a:r>
          </a:p>
        </p:txBody>
      </p:sp>
      <p:pic>
        <p:nvPicPr>
          <p:cNvPr id="13316" name="Picture 4" descr="C:\WINNT\Profiles\nab007\Desktop\1-chapter7\fig7.20.jpg">
            <a:extLst>
              <a:ext uri="{FF2B5EF4-FFF2-40B4-BE49-F238E27FC236}">
                <a16:creationId xmlns:a16="http://schemas.microsoft.com/office/drawing/2014/main" id="{BC172D8C-DB3D-41FC-BAE4-EE95800F8E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87" r="32408" b="26035"/>
          <a:stretch>
            <a:fillRect/>
          </a:stretch>
        </p:blipFill>
        <p:spPr bwMode="auto">
          <a:xfrm>
            <a:off x="762000" y="3810000"/>
            <a:ext cx="7848600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237E36-5C4F-4F60-906D-029A94ABC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51D9C-B6AB-428B-A110-91A75E744F65}" type="slidenum">
              <a:rPr lang="en-US" altLang="hi-IN" smtClean="0"/>
              <a:pPr/>
              <a:t>17</a:t>
            </a:fld>
            <a:endParaRPr lang="en-US" altLang="hi-I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DCFFE7A4-2E51-400C-AF4D-1F2AE1F4A1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i-IN"/>
              <a:t>Strongly connected Components and Equivalence Relations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F2544A83-8D58-4E17-8466-DDA3DE099C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hi-IN"/>
              <a:t>Strongly Connected Components may be defined in terms of an equivalence relation, S, on the vertices</a:t>
            </a:r>
          </a:p>
          <a:p>
            <a:pPr lvl="1"/>
            <a:r>
              <a:rPr lang="en-US" altLang="hi-IN"/>
              <a:t>vSw iff there is a path from v to w and </a:t>
            </a:r>
          </a:p>
          <a:p>
            <a:pPr lvl="1"/>
            <a:r>
              <a:rPr lang="en-US" altLang="hi-IN"/>
              <a:t>a path from w to v</a:t>
            </a:r>
          </a:p>
          <a:p>
            <a:r>
              <a:rPr lang="en-US" altLang="hi-IN"/>
              <a:t>Then, a strongly connected component consists of one equivalence class, C, along with all edges vw such that v and w are in C.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770A41-242E-4F8E-89A4-B1C0C2F48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51D9C-B6AB-428B-A110-91A75E744F65}" type="slidenum">
              <a:rPr lang="en-US" altLang="hi-IN" smtClean="0"/>
              <a:pPr/>
              <a:t>18</a:t>
            </a:fld>
            <a:endParaRPr lang="en-US" altLang="hi-I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4AA3A617-9A44-411D-B939-23182C1444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1143000"/>
          </a:xfrm>
        </p:spPr>
        <p:txBody>
          <a:bodyPr/>
          <a:lstStyle/>
          <a:p>
            <a:r>
              <a:rPr lang="en-US" altLang="hi-IN"/>
              <a:t>Condensation graph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2AF0A9A7-2B39-4DB0-AE89-37022EA02C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7772400" cy="4724400"/>
          </a:xfrm>
        </p:spPr>
        <p:txBody>
          <a:bodyPr/>
          <a:lstStyle/>
          <a:p>
            <a:pPr lvl="1"/>
            <a:r>
              <a:rPr lang="en-US" altLang="hi-IN" sz="2400"/>
              <a:t>The strongly connected components of a digraph can each be collapsed to a single vertex yielding a new digraph that has no cycles.</a:t>
            </a:r>
          </a:p>
          <a:p>
            <a:r>
              <a:rPr lang="en-US" altLang="hi-IN" sz="2800"/>
              <a:t>Condensation graph:</a:t>
            </a:r>
          </a:p>
          <a:p>
            <a:pPr lvl="1"/>
            <a:r>
              <a:rPr lang="en-US" altLang="hi-IN" sz="2400"/>
              <a:t>Let S</a:t>
            </a:r>
            <a:r>
              <a:rPr lang="en-US" altLang="hi-IN" sz="2400" baseline="-25000"/>
              <a:t>1</a:t>
            </a:r>
            <a:r>
              <a:rPr lang="en-US" altLang="hi-IN" sz="2400"/>
              <a:t>,S</a:t>
            </a:r>
            <a:r>
              <a:rPr lang="en-US" altLang="hi-IN" sz="2400" baseline="-25000"/>
              <a:t>2</a:t>
            </a:r>
            <a:r>
              <a:rPr lang="en-US" altLang="hi-IN" sz="2400"/>
              <a:t>,...S</a:t>
            </a:r>
            <a:r>
              <a:rPr lang="en-US" altLang="hi-IN" sz="2400" baseline="-25000"/>
              <a:t>p</a:t>
            </a:r>
            <a:r>
              <a:rPr lang="en-US" altLang="hi-IN" sz="2400"/>
              <a:t> be the strong components of G.</a:t>
            </a:r>
          </a:p>
          <a:p>
            <a:pPr lvl="1"/>
            <a:r>
              <a:rPr lang="en-US" altLang="hi-IN" sz="2400"/>
              <a:t>The condensation graph of G denoted as G</a:t>
            </a:r>
            <a:r>
              <a:rPr lang="en-US" altLang="hi-IN" sz="2400">
                <a:sym typeface="Symbol" panose="05050102010706020507" pitchFamily="18" charset="2"/>
              </a:rPr>
              <a:t></a:t>
            </a:r>
            <a:r>
              <a:rPr lang="en-US" altLang="hi-IN" sz="2400"/>
              <a:t>, is the digraph G</a:t>
            </a:r>
            <a:r>
              <a:rPr lang="en-US" altLang="hi-IN" sz="2400">
                <a:sym typeface="Symbol" panose="05050102010706020507" pitchFamily="18" charset="2"/>
              </a:rPr>
              <a:t> </a:t>
            </a:r>
            <a:r>
              <a:rPr lang="en-US" altLang="hi-IN" sz="2400"/>
              <a:t>= (V',E'),</a:t>
            </a:r>
          </a:p>
          <a:p>
            <a:pPr lvl="1"/>
            <a:r>
              <a:rPr lang="en-US" altLang="hi-IN" sz="2400"/>
              <a:t>where V' has p elements s</a:t>
            </a:r>
            <a:r>
              <a:rPr lang="en-US" altLang="hi-IN" sz="2400" baseline="-25000"/>
              <a:t>1</a:t>
            </a:r>
            <a:r>
              <a:rPr lang="en-US" altLang="hi-IN" sz="2400"/>
              <a:t>,s</a:t>
            </a:r>
            <a:r>
              <a:rPr lang="en-US" altLang="hi-IN" sz="2400" baseline="-25000"/>
              <a:t>2</a:t>
            </a:r>
            <a:r>
              <a:rPr lang="en-US" altLang="hi-IN" sz="2400"/>
              <a:t>,...s</a:t>
            </a:r>
            <a:r>
              <a:rPr lang="en-US" altLang="hi-IN" sz="2400" baseline="-25000"/>
              <a:t>p</a:t>
            </a:r>
            <a:r>
              <a:rPr lang="en-US" altLang="hi-IN" sz="2400"/>
              <a:t> and </a:t>
            </a:r>
          </a:p>
          <a:p>
            <a:pPr lvl="1"/>
            <a:r>
              <a:rPr lang="en-US" altLang="hi-IN" sz="2400"/>
              <a:t>s</a:t>
            </a:r>
            <a:r>
              <a:rPr lang="en-US" altLang="hi-IN" sz="2400" baseline="-25000"/>
              <a:t>i</a:t>
            </a:r>
            <a:r>
              <a:rPr lang="en-US" altLang="hi-IN" sz="2400"/>
              <a:t>s</a:t>
            </a:r>
            <a:r>
              <a:rPr lang="en-US" altLang="hi-IN" sz="2400" baseline="-25000"/>
              <a:t>j</a:t>
            </a:r>
            <a:r>
              <a:rPr lang="en-US" altLang="hi-IN" sz="2400"/>
              <a:t> is in E' if and only if i</a:t>
            </a:r>
            <a:r>
              <a:rPr lang="en-US" altLang="hi-IN" sz="2400">
                <a:sym typeface="Symbol" panose="05050102010706020507" pitchFamily="18" charset="2"/>
              </a:rPr>
              <a:t></a:t>
            </a:r>
            <a:r>
              <a:rPr lang="en-US" altLang="hi-IN" sz="2400"/>
              <a:t>j and </a:t>
            </a:r>
          </a:p>
          <a:p>
            <a:pPr lvl="1"/>
            <a:r>
              <a:rPr lang="en-US" altLang="hi-IN" sz="2400"/>
              <a:t>there is an edge in E from some vertex in S</a:t>
            </a:r>
            <a:r>
              <a:rPr lang="en-US" altLang="hi-IN" sz="2400" baseline="-25000"/>
              <a:t>i</a:t>
            </a:r>
            <a:r>
              <a:rPr lang="en-US" altLang="hi-IN" sz="2400"/>
              <a:t> to some vertex in S</a:t>
            </a:r>
            <a:r>
              <a:rPr lang="en-US" altLang="hi-IN" sz="2400" baseline="-25000"/>
              <a:t>j</a:t>
            </a:r>
            <a:r>
              <a:rPr lang="en-US" altLang="hi-IN" sz="2400"/>
              <a:t>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37AB3A-44FC-4C4C-80B5-A0E97CF8E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51D9C-B6AB-428B-A110-91A75E744F65}" type="slidenum">
              <a:rPr lang="en-US" altLang="hi-IN" smtClean="0"/>
              <a:pPr/>
              <a:t>19</a:t>
            </a:fld>
            <a:endParaRPr lang="en-US" altLang="hi-I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026">
            <a:extLst>
              <a:ext uri="{FF2B5EF4-FFF2-40B4-BE49-F238E27FC236}">
                <a16:creationId xmlns:a16="http://schemas.microsoft.com/office/drawing/2014/main" id="{C1B67DFB-8FE9-461D-8CF1-3E7F6B0DED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i-IN"/>
              <a:t>Condensation graph and its </a:t>
            </a:r>
            <a:br>
              <a:rPr lang="en-US" altLang="hi-IN"/>
            </a:br>
            <a:r>
              <a:rPr lang="en-US" altLang="hi-IN"/>
              <a:t>strongly connected components</a:t>
            </a:r>
          </a:p>
        </p:txBody>
      </p:sp>
      <p:pic>
        <p:nvPicPr>
          <p:cNvPr id="16387" name="Picture 1028" descr="C:\WINNT\Profiles\nab007\Desktop\1-chapter7\fig7.20.jpg">
            <a:extLst>
              <a:ext uri="{FF2B5EF4-FFF2-40B4-BE49-F238E27FC236}">
                <a16:creationId xmlns:a16="http://schemas.microsoft.com/office/drawing/2014/main" id="{448EE8D9-5E4A-4B65-8D97-972AF65D22FC}"/>
              </a:ext>
            </a:extLst>
          </p:cNvPr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87" r="5206" b="1752"/>
          <a:stretch>
            <a:fillRect/>
          </a:stretch>
        </p:blipFill>
        <p:spPr>
          <a:xfrm>
            <a:off x="0" y="2209800"/>
            <a:ext cx="8763000" cy="3725863"/>
          </a:xfrm>
          <a:noFill/>
        </p:spPr>
      </p:pic>
      <p:sp>
        <p:nvSpPr>
          <p:cNvPr id="16388" name="Rectangle 1029">
            <a:extLst>
              <a:ext uri="{FF2B5EF4-FFF2-40B4-BE49-F238E27FC236}">
                <a16:creationId xmlns:a16="http://schemas.microsoft.com/office/drawing/2014/main" id="{9653A2ED-F139-4786-9EC5-14D4AD5139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828800"/>
            <a:ext cx="7772400" cy="4495800"/>
          </a:xfrm>
        </p:spPr>
        <p:txBody>
          <a:bodyPr/>
          <a:lstStyle/>
          <a:p>
            <a:r>
              <a:rPr lang="en-US" altLang="hi-IN"/>
              <a:t>Condensation Graph is acyclic.</a:t>
            </a:r>
          </a:p>
          <a:p>
            <a:pPr>
              <a:buFontTx/>
              <a:buNone/>
            </a:pPr>
            <a:r>
              <a:rPr lang="en-US" altLang="hi-IN"/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5AE5FB-0FA0-4F7F-998B-B44F24623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51D9C-B6AB-428B-A110-91A75E744F65}" type="slidenum">
              <a:rPr lang="en-US" altLang="hi-IN" smtClean="0"/>
              <a:pPr/>
              <a:t>20</a:t>
            </a:fld>
            <a:endParaRPr lang="en-US" altLang="hi-IN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258CD-2DC6-4EA3-BB05-D3667F93F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  <a:endParaRPr lang="hi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C2CCD-1345-44C6-976D-EE7C9620CE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i-IN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0EA7ED0-5038-46B4-9AF8-DDC43A4B18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717060"/>
            <a:ext cx="2987644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5C44F37-ADD6-43C3-BB31-8F86CA86B655}"/>
              </a:ext>
            </a:extLst>
          </p:cNvPr>
          <p:cNvSpPr/>
          <p:nvPr/>
        </p:nvSpPr>
        <p:spPr>
          <a:xfrm>
            <a:off x="675640" y="3198684"/>
            <a:ext cx="3352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02122"/>
                </a:solidFill>
                <a:latin typeface="Arial" panose="020B0604020202020204" pitchFamily="34" charset="0"/>
              </a:rPr>
              <a:t>Graph with strongly connected components marked</a:t>
            </a:r>
            <a:endParaRPr lang="hi-IN" sz="1400" dirty="0"/>
          </a:p>
        </p:txBody>
      </p:sp>
      <p:pic>
        <p:nvPicPr>
          <p:cNvPr id="2052" name="Picture 4" descr="ROSALIND | Glossary | Algo: Strongly connected component">
            <a:extLst>
              <a:ext uri="{FF2B5EF4-FFF2-40B4-BE49-F238E27FC236}">
                <a16:creationId xmlns:a16="http://schemas.microsoft.com/office/drawing/2014/main" id="{3894EB1C-F6E5-479D-937C-A144897D22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9558" y="1475936"/>
            <a:ext cx="2743200" cy="3629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Graphs - Strongly connected components - Competitive Programming ...">
            <a:extLst>
              <a:ext uri="{FF2B5EF4-FFF2-40B4-BE49-F238E27FC236}">
                <a16:creationId xmlns:a16="http://schemas.microsoft.com/office/drawing/2014/main" id="{1A0770FC-7111-4BDE-B28C-91DB61DFCB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359" y="4053840"/>
            <a:ext cx="3596640" cy="2635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085A4E-8F10-4AB2-81D9-2FD164CFE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51D9C-B6AB-428B-A110-91A75E744F65}" type="slidenum">
              <a:rPr lang="en-US" altLang="hi-IN" smtClean="0"/>
              <a:pPr/>
              <a:t>21</a:t>
            </a:fld>
            <a:endParaRPr lang="en-US" altLang="hi-IN"/>
          </a:p>
        </p:txBody>
      </p:sp>
    </p:spTree>
    <p:extLst>
      <p:ext uri="{BB962C8B-B14F-4D97-AF65-F5344CB8AC3E}">
        <p14:creationId xmlns:p14="http://schemas.microsoft.com/office/powerpoint/2010/main" val="2730524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1A3CB0EC-2E67-4CE8-915D-B69FE9AA20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i-IN" dirty="0"/>
              <a:t>Bi-connected components of an </a:t>
            </a:r>
            <a:br>
              <a:rPr lang="en-US" altLang="hi-IN" dirty="0"/>
            </a:br>
            <a:r>
              <a:rPr lang="en-US" altLang="hi-IN" dirty="0"/>
              <a:t>Undirected graph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D2E7EE2B-F09A-4EA8-A1C3-542D3BFC16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572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hi-IN" sz="2000" dirty="0"/>
              <a:t>Problem: </a:t>
            </a:r>
          </a:p>
          <a:p>
            <a:pPr lvl="1">
              <a:lnSpc>
                <a:spcPct val="90000"/>
              </a:lnSpc>
            </a:pPr>
            <a:r>
              <a:rPr lang="en-US" altLang="hi-IN" sz="1800" dirty="0"/>
              <a:t>If any </a:t>
            </a:r>
            <a:r>
              <a:rPr lang="en-US" altLang="hi-IN" sz="1800" i="1" dirty="0"/>
              <a:t>one</a:t>
            </a:r>
            <a:r>
              <a:rPr lang="en-US" altLang="hi-IN" sz="1800" dirty="0"/>
              <a:t> vertex (and the edges incident upon it) are removed from a connected graph, </a:t>
            </a:r>
          </a:p>
          <a:p>
            <a:pPr lvl="1">
              <a:lnSpc>
                <a:spcPct val="90000"/>
              </a:lnSpc>
            </a:pPr>
            <a:r>
              <a:rPr lang="en-US" altLang="hi-IN" sz="1800" dirty="0"/>
              <a:t>is the remaining subgraph still connected?</a:t>
            </a:r>
          </a:p>
          <a:p>
            <a:pPr>
              <a:lnSpc>
                <a:spcPct val="90000"/>
              </a:lnSpc>
            </a:pPr>
            <a:r>
              <a:rPr lang="en-US" altLang="hi-IN" sz="2000" dirty="0"/>
              <a:t>Biconnected graph: </a:t>
            </a:r>
            <a:r>
              <a:rPr lang="en-US" altLang="hi-IN" sz="2000" b="1" dirty="0"/>
              <a:t> (</a:t>
            </a:r>
            <a:r>
              <a:rPr lang="en-US" altLang="hi-IN" sz="2000" b="1" dirty="0">
                <a:solidFill>
                  <a:srgbClr val="C00000"/>
                </a:solidFill>
              </a:rPr>
              <a:t>No</a:t>
            </a:r>
            <a:r>
              <a:rPr lang="en-US" altLang="hi-IN" sz="2000" b="1" dirty="0"/>
              <a:t> separation edge and separation vertex)</a:t>
            </a:r>
          </a:p>
          <a:p>
            <a:pPr lvl="1">
              <a:lnSpc>
                <a:spcPct val="90000"/>
              </a:lnSpc>
            </a:pPr>
            <a:r>
              <a:rPr lang="en-US" altLang="hi-IN" sz="1800" dirty="0"/>
              <a:t>A connected undirected graph G is said to be biconnected if it remains connected after removal of any one vertex and the edges that are incident upon that vertex. </a:t>
            </a:r>
            <a:r>
              <a:rPr lang="en-US" altLang="hi-IN" sz="1800" b="1" dirty="0"/>
              <a:t>Separation edge is also called cut edge and separation vertex is called cut vertex.</a:t>
            </a:r>
          </a:p>
          <a:p>
            <a:pPr>
              <a:lnSpc>
                <a:spcPct val="90000"/>
              </a:lnSpc>
            </a:pPr>
            <a:r>
              <a:rPr lang="en-US" altLang="hi-IN" sz="2000" dirty="0"/>
              <a:t>Biconnected component:</a:t>
            </a:r>
            <a:endParaRPr lang="en-US" altLang="hi-IN" sz="2000" b="1" dirty="0"/>
          </a:p>
          <a:p>
            <a:pPr lvl="1">
              <a:lnSpc>
                <a:spcPct val="90000"/>
              </a:lnSpc>
            </a:pPr>
            <a:r>
              <a:rPr lang="en-US" altLang="hi-IN" sz="1800" dirty="0"/>
              <a:t>A biconnected component of a undirected graph is a maximal biconnected subgraph, that is, a biconnected subgraph not contained in any larger biconnected subgraph.</a:t>
            </a:r>
          </a:p>
          <a:p>
            <a:pPr>
              <a:lnSpc>
                <a:spcPct val="90000"/>
              </a:lnSpc>
            </a:pPr>
            <a:r>
              <a:rPr lang="en-US" altLang="hi-IN" sz="2000" dirty="0"/>
              <a:t>Articulation point:</a:t>
            </a:r>
          </a:p>
          <a:p>
            <a:pPr lvl="1">
              <a:lnSpc>
                <a:spcPct val="90000"/>
              </a:lnSpc>
            </a:pPr>
            <a:r>
              <a:rPr lang="en-US" altLang="hi-IN" sz="1800" dirty="0"/>
              <a:t>A vertex v is an articulation point for an undirected graph G if there are distinct vertices w and x (distinct from v also) such that v is in every path from w to x.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CD7543-0036-459A-A4CB-09B72B024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51D9C-B6AB-428B-A110-91A75E744F65}" type="slidenum">
              <a:rPr lang="en-US" altLang="hi-IN" smtClean="0"/>
              <a:pPr/>
              <a:t>22</a:t>
            </a:fld>
            <a:endParaRPr lang="en-US" altLang="hi-IN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0A939-8FD1-42F7-8736-156A1F329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Bi-connected graph</a:t>
            </a:r>
            <a:endParaRPr lang="hi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5DCCA3-49A9-48D5-8918-BE6E5F6B2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i-IN" dirty="0"/>
          </a:p>
        </p:txBody>
      </p:sp>
      <p:pic>
        <p:nvPicPr>
          <p:cNvPr id="7170" name="Picture 2" descr="Articulation Points (or Cut Vertices) in a Graph - GeeksforGeeks">
            <a:extLst>
              <a:ext uri="{FF2B5EF4-FFF2-40B4-BE49-F238E27FC236}">
                <a16:creationId xmlns:a16="http://schemas.microsoft.com/office/drawing/2014/main" id="{75BB687F-2D97-48D5-AD23-32F8154E22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4038600"/>
            <a:ext cx="3858451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BB8216F-3C9A-4C1B-9393-6727A6499CEC}"/>
              </a:ext>
            </a:extLst>
          </p:cNvPr>
          <p:cNvSpPr txBox="1"/>
          <p:nvPr/>
        </p:nvSpPr>
        <p:spPr>
          <a:xfrm>
            <a:off x="4958080" y="6329680"/>
            <a:ext cx="3728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Not a biconnected graph</a:t>
            </a:r>
            <a:endParaRPr lang="hi-IN" sz="1800" dirty="0"/>
          </a:p>
        </p:txBody>
      </p:sp>
      <p:pic>
        <p:nvPicPr>
          <p:cNvPr id="7172" name="Picture 4" descr="Biconnected graph - GeeksforGeeks">
            <a:extLst>
              <a:ext uri="{FF2B5EF4-FFF2-40B4-BE49-F238E27FC236}">
                <a16:creationId xmlns:a16="http://schemas.microsoft.com/office/drawing/2014/main" id="{ED2163BB-6AA6-4237-B30D-7AC4735FC6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719580"/>
            <a:ext cx="3215376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Biconnectivity and Degree Sequence">
            <a:extLst>
              <a:ext uri="{FF2B5EF4-FFF2-40B4-BE49-F238E27FC236}">
                <a16:creationId xmlns:a16="http://schemas.microsoft.com/office/drawing/2014/main" id="{6E2997F2-8445-4D52-B592-F21AD9140D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549" y="3655060"/>
            <a:ext cx="4142549" cy="3024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 descr="Biconnected Components Tutorials &amp; Notes | Algorithms | HackerEarth">
            <a:extLst>
              <a:ext uri="{FF2B5EF4-FFF2-40B4-BE49-F238E27FC236}">
                <a16:creationId xmlns:a16="http://schemas.microsoft.com/office/drawing/2014/main" id="{079CCA6B-F9BB-4FC3-84B9-2BBDAFC861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27" t="5816" r="16919" b="18427"/>
          <a:stretch/>
        </p:blipFill>
        <p:spPr bwMode="auto">
          <a:xfrm>
            <a:off x="5105400" y="1610027"/>
            <a:ext cx="2209800" cy="2581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5DF488-A4EE-4C7E-92AB-463E6A373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51D9C-B6AB-428B-A110-91A75E744F65}" type="slidenum">
              <a:rPr lang="en-US" altLang="hi-IN" smtClean="0"/>
              <a:pPr/>
              <a:t>23</a:t>
            </a:fld>
            <a:endParaRPr lang="en-US" altLang="hi-IN"/>
          </a:p>
        </p:txBody>
      </p:sp>
    </p:spTree>
    <p:extLst>
      <p:ext uri="{BB962C8B-B14F-4D97-AF65-F5344CB8AC3E}">
        <p14:creationId xmlns:p14="http://schemas.microsoft.com/office/powerpoint/2010/main" val="38938275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41247-2827-4F48-9ED1-D2B2666EE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i-IN" dirty="0"/>
              <a:t>Articulation point</a:t>
            </a:r>
            <a:endParaRPr lang="hi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5D547-68A7-4B47-95DB-511FEB266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981200"/>
            <a:ext cx="2743200" cy="4114800"/>
          </a:xfrm>
        </p:spPr>
        <p:txBody>
          <a:bodyPr/>
          <a:lstStyle/>
          <a:p>
            <a:pPr algn="just"/>
            <a:r>
              <a:rPr lang="en-US" sz="2000" dirty="0"/>
              <a:t>An articulation point of a graph is a vertex v such that when we remove v and all edges incident upon v , we break a </a:t>
            </a:r>
            <a:r>
              <a:rPr lang="en-US" sz="2000" b="1" dirty="0"/>
              <a:t>connected component</a:t>
            </a:r>
            <a:r>
              <a:rPr lang="en-US" sz="2000" dirty="0"/>
              <a:t> of the graph into two or more pieces. </a:t>
            </a:r>
          </a:p>
          <a:p>
            <a:pPr algn="just"/>
            <a:r>
              <a:rPr lang="en-US" sz="2000" dirty="0"/>
              <a:t>A </a:t>
            </a:r>
            <a:r>
              <a:rPr lang="en-US" sz="2000" b="1" dirty="0"/>
              <a:t>connected</a:t>
            </a:r>
            <a:r>
              <a:rPr lang="en-US" sz="2000" dirty="0"/>
              <a:t> graph with no articulation points is said to be </a:t>
            </a:r>
            <a:r>
              <a:rPr lang="en-US" sz="2000" b="1" dirty="0"/>
              <a:t>biconnected</a:t>
            </a:r>
            <a:r>
              <a:rPr lang="en-US" sz="2000" dirty="0"/>
              <a:t>.</a:t>
            </a:r>
            <a:endParaRPr lang="hi-IN" sz="2000" dirty="0"/>
          </a:p>
        </p:txBody>
      </p:sp>
      <p:pic>
        <p:nvPicPr>
          <p:cNvPr id="6146" name="Picture 2" descr="Articulation Points (or Cut Vertices) in a Graph - GeeksforGeeks">
            <a:extLst>
              <a:ext uri="{FF2B5EF4-FFF2-40B4-BE49-F238E27FC236}">
                <a16:creationId xmlns:a16="http://schemas.microsoft.com/office/drawing/2014/main" id="{3E243ABF-D262-46CD-9463-F6074069CB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4281" y="1991360"/>
            <a:ext cx="1638448" cy="3703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Articulation Point or Cut-Vertex in a Graph | HackerEarth">
            <a:extLst>
              <a:ext uri="{FF2B5EF4-FFF2-40B4-BE49-F238E27FC236}">
                <a16:creationId xmlns:a16="http://schemas.microsoft.com/office/drawing/2014/main" id="{CE78A738-5985-4B00-8F92-5DC9431421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1945640"/>
            <a:ext cx="3682866" cy="3862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9CAEC6-9B87-48C0-A5D3-7D4CFFF07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51D9C-B6AB-428B-A110-91A75E744F65}" type="slidenum">
              <a:rPr lang="en-US" altLang="hi-IN" smtClean="0"/>
              <a:pPr/>
              <a:t>24</a:t>
            </a:fld>
            <a:endParaRPr lang="en-US" altLang="hi-IN"/>
          </a:p>
        </p:txBody>
      </p:sp>
    </p:spTree>
    <p:extLst>
      <p:ext uri="{BB962C8B-B14F-4D97-AF65-F5344CB8AC3E}">
        <p14:creationId xmlns:p14="http://schemas.microsoft.com/office/powerpoint/2010/main" val="20104847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4" descr="C:\WINNT\Profiles\nab007\Desktop\1-chapter7\fig7.22.jpg">
            <a:extLst>
              <a:ext uri="{FF2B5EF4-FFF2-40B4-BE49-F238E27FC236}">
                <a16:creationId xmlns:a16="http://schemas.microsoft.com/office/drawing/2014/main" id="{FEE00FF4-CCE3-4574-8CB1-7C75FEFC3E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2" t="2777" r="926" b="8333"/>
          <a:stretch>
            <a:fillRect/>
          </a:stretch>
        </p:blipFill>
        <p:spPr bwMode="auto">
          <a:xfrm>
            <a:off x="304800" y="1600200"/>
            <a:ext cx="83820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5" name="Rectangle 2">
            <a:extLst>
              <a:ext uri="{FF2B5EF4-FFF2-40B4-BE49-F238E27FC236}">
                <a16:creationId xmlns:a16="http://schemas.microsoft.com/office/drawing/2014/main" id="{190B3833-1DA9-472A-886D-7F67BD8686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76200"/>
            <a:ext cx="7772400" cy="1143000"/>
          </a:xfrm>
        </p:spPr>
        <p:txBody>
          <a:bodyPr/>
          <a:lstStyle/>
          <a:p>
            <a:r>
              <a:rPr lang="en-US" altLang="hi-IN"/>
              <a:t>Bi-connected components, e.g.</a:t>
            </a:r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086CF342-8493-4040-B235-31EF5CB5A1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990600"/>
            <a:ext cx="8458200" cy="5105400"/>
          </a:xfrm>
        </p:spPr>
        <p:txBody>
          <a:bodyPr/>
          <a:lstStyle/>
          <a:p>
            <a:r>
              <a:rPr lang="en-US" altLang="hi-IN"/>
              <a:t>Some vertices are in more than one component (which vertices are these?)</a:t>
            </a:r>
            <a:endParaRPr lang="en-US" altLang="hi-IN" b="1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4A5C2C4-D2D8-45B6-AD2B-D9C2E69E8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51D9C-B6AB-428B-A110-91A75E744F65}" type="slidenum">
              <a:rPr lang="en-US" altLang="hi-IN" smtClean="0"/>
              <a:pPr/>
              <a:t>25</a:t>
            </a:fld>
            <a:endParaRPr lang="en-US" altLang="hi-IN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01ECE-4D5B-4A2B-A719-7B41FC514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hi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2557F-AC12-42AC-84C5-A5DD62B7B2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i-IN"/>
          </a:p>
        </p:txBody>
      </p:sp>
      <p:pic>
        <p:nvPicPr>
          <p:cNvPr id="5122" name="Picture 2" descr="Solved: 2. [10 Points] A Connected Graph Is Biconnected If ...">
            <a:extLst>
              <a:ext uri="{FF2B5EF4-FFF2-40B4-BE49-F238E27FC236}">
                <a16:creationId xmlns:a16="http://schemas.microsoft.com/office/drawing/2014/main" id="{EC37571A-8A74-44F9-B661-E7BF73BC81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67"/>
          <a:stretch/>
        </p:blipFill>
        <p:spPr bwMode="auto">
          <a:xfrm>
            <a:off x="441959" y="1981200"/>
            <a:ext cx="28575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Solved: 2. [10 Points] A Connected Graph Is Biconnected If ...">
            <a:extLst>
              <a:ext uri="{FF2B5EF4-FFF2-40B4-BE49-F238E27FC236}">
                <a16:creationId xmlns:a16="http://schemas.microsoft.com/office/drawing/2014/main" id="{C3CC77F4-0ED2-4169-BCCD-F44A9A3387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815" b="11778"/>
          <a:stretch/>
        </p:blipFill>
        <p:spPr bwMode="auto">
          <a:xfrm>
            <a:off x="1870709" y="4038600"/>
            <a:ext cx="5588001" cy="2016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Solved: 2. [10 Points] A Connected Graph Is Biconnected If ...">
            <a:extLst>
              <a:ext uri="{FF2B5EF4-FFF2-40B4-BE49-F238E27FC236}">
                <a16:creationId xmlns:a16="http://schemas.microsoft.com/office/drawing/2014/main" id="{9A138207-8F34-4FD6-A84F-24EC4EB7AB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668" r="38489"/>
          <a:stretch/>
        </p:blipFill>
        <p:spPr bwMode="auto">
          <a:xfrm>
            <a:off x="452119" y="1483360"/>
            <a:ext cx="7909562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05DCEC-C5A3-45E4-980F-EDA6086BC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51D9C-B6AB-428B-A110-91A75E744F65}" type="slidenum">
              <a:rPr lang="en-US" altLang="hi-IN" smtClean="0"/>
              <a:pPr/>
              <a:t>26</a:t>
            </a:fld>
            <a:endParaRPr lang="en-US" altLang="hi-IN"/>
          </a:p>
        </p:txBody>
      </p:sp>
    </p:spTree>
    <p:extLst>
      <p:ext uri="{BB962C8B-B14F-4D97-AF65-F5344CB8AC3E}">
        <p14:creationId xmlns:p14="http://schemas.microsoft.com/office/powerpoint/2010/main" val="2360550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00D1D-D778-4FE3-9638-9859EF6E6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hi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5BFCF-4275-456F-888D-F01E292AD9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i-IN" dirty="0"/>
          </a:p>
        </p:txBody>
      </p:sp>
      <p:pic>
        <p:nvPicPr>
          <p:cNvPr id="3076" name="Picture 4" descr="Biconnected Components - GATE Overflow">
            <a:extLst>
              <a:ext uri="{FF2B5EF4-FFF2-40B4-BE49-F238E27FC236}">
                <a16:creationId xmlns:a16="http://schemas.microsoft.com/office/drawing/2014/main" id="{9AF69E19-D8C3-4D67-B603-0C7AD04AE0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640" y="1828800"/>
            <a:ext cx="6096000" cy="473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8B8715-342E-4345-A6C2-36928D2E0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51D9C-B6AB-428B-A110-91A75E744F65}" type="slidenum">
              <a:rPr lang="en-US" altLang="hi-IN" smtClean="0"/>
              <a:pPr/>
              <a:t>27</a:t>
            </a:fld>
            <a:endParaRPr lang="en-US" altLang="hi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C5930A-AD59-4FE4-AC38-8977803EB0EC}"/>
              </a:ext>
            </a:extLst>
          </p:cNvPr>
          <p:cNvSpPr txBox="1"/>
          <p:nvPr/>
        </p:nvSpPr>
        <p:spPr>
          <a:xfrm>
            <a:off x="5334000" y="2590800"/>
            <a:ext cx="3657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b="1" dirty="0"/>
              <a:t>1. {10-12, 12-13, 10-13}</a:t>
            </a:r>
          </a:p>
          <a:p>
            <a:pPr algn="l"/>
            <a:r>
              <a:rPr lang="en-US" sz="1800" b="1" dirty="0"/>
              <a:t>2. {10-11}</a:t>
            </a:r>
          </a:p>
          <a:p>
            <a:pPr algn="l"/>
            <a:r>
              <a:rPr lang="en-US" sz="1800" b="1" dirty="0"/>
              <a:t>3. {8-9}</a:t>
            </a:r>
          </a:p>
          <a:p>
            <a:pPr algn="l"/>
            <a:r>
              <a:rPr lang="en-US" sz="1800" b="1" dirty="0"/>
              <a:t>4. {7-8}</a:t>
            </a:r>
          </a:p>
          <a:p>
            <a:pPr algn="l"/>
            <a:r>
              <a:rPr lang="en-US" sz="1800" b="1" dirty="0"/>
              <a:t>5. {1-2}</a:t>
            </a:r>
          </a:p>
          <a:p>
            <a:pPr algn="l"/>
            <a:r>
              <a:rPr lang="en-US" sz="1800" b="1" dirty="0"/>
              <a:t>6. {1-3, 1-6, 3-7, 5-7, 4-5,5-6, 4-6, }</a:t>
            </a:r>
          </a:p>
        </p:txBody>
      </p:sp>
    </p:spTree>
    <p:extLst>
      <p:ext uri="{BB962C8B-B14F-4D97-AF65-F5344CB8AC3E}">
        <p14:creationId xmlns:p14="http://schemas.microsoft.com/office/powerpoint/2010/main" val="27731235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B8E7E368-7913-4D5D-BA96-6B36C27BE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i-IN"/>
              <a:t>Example</a:t>
            </a:r>
            <a:endParaRPr lang="en-IN" altLang="hi-IN"/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0A6D077E-40A0-4BBE-BB4B-D0F5260B18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altLang="hi-IN" dirty="0"/>
          </a:p>
        </p:txBody>
      </p:sp>
      <p:pic>
        <p:nvPicPr>
          <p:cNvPr id="19460" name="Picture 2">
            <a:extLst>
              <a:ext uri="{FF2B5EF4-FFF2-40B4-BE49-F238E27FC236}">
                <a16:creationId xmlns:a16="http://schemas.microsoft.com/office/drawing/2014/main" id="{B1DF9386-F12E-4537-B6CB-A5E285BA49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35" r="11506"/>
          <a:stretch/>
        </p:blipFill>
        <p:spPr bwMode="auto">
          <a:xfrm>
            <a:off x="274319" y="2057400"/>
            <a:ext cx="3429001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8" name="Picture 2" descr="Graph Theory - GATE Overflow">
            <a:extLst>
              <a:ext uri="{FF2B5EF4-FFF2-40B4-BE49-F238E27FC236}">
                <a16:creationId xmlns:a16="http://schemas.microsoft.com/office/drawing/2014/main" id="{C4262F17-4E66-4A0B-9A9D-F5390F57AE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5845" y="1600200"/>
            <a:ext cx="4853836" cy="472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B081433-4ED4-4BB3-8461-109A1B5BD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51D9C-B6AB-428B-A110-91A75E744F65}" type="slidenum">
              <a:rPr lang="en-US" altLang="hi-IN" smtClean="0"/>
              <a:pPr/>
              <a:t>28</a:t>
            </a:fld>
            <a:endParaRPr lang="en-US" altLang="hi-IN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6CAB5731-30F1-4CFD-B9FD-E63C747BA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52400"/>
            <a:ext cx="7772400" cy="1143000"/>
          </a:xfrm>
        </p:spPr>
        <p:txBody>
          <a:bodyPr/>
          <a:lstStyle/>
          <a:p>
            <a:r>
              <a:rPr lang="en-US" altLang="hi-IN"/>
              <a:t>Exercises</a:t>
            </a:r>
            <a:endParaRPr lang="en-IN" altLang="hi-IN"/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D5A6153A-5C23-4264-BB7D-9A7545BA21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219200"/>
            <a:ext cx="7772400" cy="5486400"/>
          </a:xfrm>
        </p:spPr>
        <p:txBody>
          <a:bodyPr/>
          <a:lstStyle/>
          <a:p>
            <a:pPr algn="just"/>
            <a:endParaRPr lang="en-US" altLang="hi-IN" sz="2000" dirty="0"/>
          </a:p>
          <a:p>
            <a:pPr algn="just"/>
            <a:endParaRPr lang="en-US" altLang="hi-IN" sz="2000" dirty="0"/>
          </a:p>
          <a:p>
            <a:pPr algn="just"/>
            <a:endParaRPr lang="en-US" altLang="hi-IN" sz="2000" dirty="0"/>
          </a:p>
          <a:p>
            <a:pPr algn="just"/>
            <a:endParaRPr lang="en-US" altLang="hi-IN" sz="2000" dirty="0"/>
          </a:p>
          <a:p>
            <a:pPr algn="just"/>
            <a:endParaRPr lang="en-US" altLang="hi-IN" sz="2000" dirty="0"/>
          </a:p>
          <a:p>
            <a:pPr algn="just"/>
            <a:endParaRPr lang="en-IN" altLang="hi-IN" sz="2000" dirty="0"/>
          </a:p>
          <a:p>
            <a:pPr algn="just"/>
            <a:endParaRPr lang="en-IN" altLang="hi-IN" sz="2000" dirty="0"/>
          </a:p>
          <a:p>
            <a:pPr algn="just">
              <a:buFontTx/>
              <a:buNone/>
            </a:pPr>
            <a:r>
              <a:rPr lang="en-IN" altLang="hi-IN" sz="2000" b="1" dirty="0"/>
              <a:t>     Draw a directed graph, having as its eight vertices the strings ’ape’, ’ate’, ’eat’, ’era’, ’pea’, ’rap’, ’rat’, and ’tea’, and including an edge from word </a:t>
            </a:r>
            <a:r>
              <a:rPr lang="en-IN" altLang="hi-IN" sz="2000" b="1" i="1" dirty="0"/>
              <a:t>x </a:t>
            </a:r>
            <a:r>
              <a:rPr lang="en-IN" altLang="hi-IN" sz="2000" b="1" dirty="0"/>
              <a:t>to word </a:t>
            </a:r>
            <a:r>
              <a:rPr lang="en-IN" altLang="hi-IN" sz="2000" b="1" i="1" dirty="0"/>
              <a:t>y </a:t>
            </a:r>
            <a:r>
              <a:rPr lang="en-IN" altLang="hi-IN" sz="2000" b="1" dirty="0"/>
              <a:t>whenever the last two letters of </a:t>
            </a:r>
            <a:r>
              <a:rPr lang="en-IN" altLang="hi-IN" sz="2000" b="1" i="1" dirty="0"/>
              <a:t>x </a:t>
            </a:r>
            <a:r>
              <a:rPr lang="en-IN" altLang="hi-IN" sz="2000" b="1" dirty="0"/>
              <a:t>are the same as the first two letters of </a:t>
            </a:r>
            <a:r>
              <a:rPr lang="en-IN" altLang="hi-IN" sz="2000" b="1" i="1" dirty="0"/>
              <a:t>y</a:t>
            </a:r>
            <a:r>
              <a:rPr lang="en-IN" altLang="hi-IN" sz="2000" b="1" dirty="0"/>
              <a:t>; for instance, you should include an edge from ’ape’ to ’pea’.</a:t>
            </a:r>
          </a:p>
          <a:p>
            <a:pPr algn="just">
              <a:buFontTx/>
              <a:buNone/>
            </a:pPr>
            <a:endParaRPr lang="en-IN" altLang="hi-IN" sz="2000" b="1" dirty="0"/>
          </a:p>
          <a:p>
            <a:pPr algn="just">
              <a:buFontTx/>
              <a:buNone/>
            </a:pPr>
            <a:r>
              <a:rPr lang="en-IN" altLang="hi-IN" sz="2000" b="1" dirty="0">
                <a:solidFill>
                  <a:srgbClr val="C00000"/>
                </a:solidFill>
              </a:rPr>
              <a:t>     Consider the vertices 1 to 10. An edge is created </a:t>
            </a:r>
            <a:r>
              <a:rPr lang="en-IN" altLang="hi-IN" sz="2000" b="1" dirty="0" err="1">
                <a:solidFill>
                  <a:srgbClr val="C00000"/>
                </a:solidFill>
              </a:rPr>
              <a:t>iff</a:t>
            </a:r>
            <a:r>
              <a:rPr lang="en-IN" altLang="hi-IN" sz="2000" b="1" dirty="0">
                <a:solidFill>
                  <a:srgbClr val="C00000"/>
                </a:solidFill>
              </a:rPr>
              <a:t> the sum of two  vertices are divisible by 4. Draw the graph and find the total number of edges.</a:t>
            </a:r>
          </a:p>
          <a:p>
            <a:pPr algn="just"/>
            <a:endParaRPr lang="en-IN" altLang="hi-IN" sz="2000" dirty="0"/>
          </a:p>
        </p:txBody>
      </p:sp>
      <p:pic>
        <p:nvPicPr>
          <p:cNvPr id="20484" name="Picture 3">
            <a:extLst>
              <a:ext uri="{FF2B5EF4-FFF2-40B4-BE49-F238E27FC236}">
                <a16:creationId xmlns:a16="http://schemas.microsoft.com/office/drawing/2014/main" id="{9431CFA9-95AF-4842-832D-82255F00A4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371600"/>
            <a:ext cx="6477000" cy="220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86EF0A-3376-4BDB-BBFE-BE326AC1D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51D9C-B6AB-428B-A110-91A75E744F65}" type="slidenum">
              <a:rPr lang="en-US" altLang="hi-IN" smtClean="0"/>
              <a:pPr/>
              <a:t>29</a:t>
            </a:fld>
            <a:endParaRPr lang="en-US" altLang="hi-IN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67CC2-6272-46BC-A338-6DB0F163F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Exercises</a:t>
            </a:r>
            <a:endParaRPr lang="hi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14CAB-EB8A-4C8B-B55B-7C6DF4E590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00200"/>
            <a:ext cx="7772400" cy="4495800"/>
          </a:xfrm>
        </p:spPr>
        <p:txBody>
          <a:bodyPr/>
          <a:lstStyle/>
          <a:p>
            <a:r>
              <a:rPr lang="en-US" sz="2400" dirty="0"/>
              <a:t>Is the graph connected? If not identify the connected components.</a:t>
            </a:r>
            <a:endParaRPr lang="hi-IN" sz="2400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5C09D5D-74A0-48EA-90A0-848E28D136E2}"/>
              </a:ext>
            </a:extLst>
          </p:cNvPr>
          <p:cNvGrpSpPr/>
          <p:nvPr/>
        </p:nvGrpSpPr>
        <p:grpSpPr>
          <a:xfrm>
            <a:off x="1524000" y="2590800"/>
            <a:ext cx="4958080" cy="3810000"/>
            <a:chOff x="1524000" y="2590800"/>
            <a:chExt cx="4958080" cy="381000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D50C23CD-A803-4C01-AD2D-08AB0861FE40}"/>
                </a:ext>
              </a:extLst>
            </p:cNvPr>
            <p:cNvSpPr/>
            <p:nvPr/>
          </p:nvSpPr>
          <p:spPr bwMode="auto">
            <a:xfrm>
              <a:off x="2438400" y="3429000"/>
              <a:ext cx="152400" cy="152400"/>
            </a:xfrm>
            <a:prstGeom prst="ellips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hi-IN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789291E0-2030-403C-BC74-98EAF15D3284}"/>
                </a:ext>
              </a:extLst>
            </p:cNvPr>
            <p:cNvSpPr/>
            <p:nvPr/>
          </p:nvSpPr>
          <p:spPr bwMode="auto">
            <a:xfrm>
              <a:off x="2438400" y="5410200"/>
              <a:ext cx="152400" cy="152400"/>
            </a:xfrm>
            <a:prstGeom prst="ellips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hi-IN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B958883-5D25-45EA-AC10-008447F25111}"/>
                </a:ext>
              </a:extLst>
            </p:cNvPr>
            <p:cNvSpPr/>
            <p:nvPr/>
          </p:nvSpPr>
          <p:spPr bwMode="auto">
            <a:xfrm>
              <a:off x="5181600" y="3429000"/>
              <a:ext cx="152400" cy="152400"/>
            </a:xfrm>
            <a:prstGeom prst="ellips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hi-IN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44348D4E-4F39-4909-BBF0-F474D4181C44}"/>
                </a:ext>
              </a:extLst>
            </p:cNvPr>
            <p:cNvSpPr/>
            <p:nvPr/>
          </p:nvSpPr>
          <p:spPr bwMode="auto">
            <a:xfrm>
              <a:off x="5181600" y="5410200"/>
              <a:ext cx="152400" cy="152400"/>
            </a:xfrm>
            <a:prstGeom prst="ellips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hi-IN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AA3A503-BBA9-4A87-925A-6AC3C48E35FD}"/>
                </a:ext>
              </a:extLst>
            </p:cNvPr>
            <p:cNvSpPr/>
            <p:nvPr/>
          </p:nvSpPr>
          <p:spPr bwMode="auto">
            <a:xfrm>
              <a:off x="1524000" y="4419600"/>
              <a:ext cx="152400" cy="152400"/>
            </a:xfrm>
            <a:prstGeom prst="ellips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hi-IN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CAC901E-9F6C-4C53-8427-71F109B57D30}"/>
                </a:ext>
              </a:extLst>
            </p:cNvPr>
            <p:cNvSpPr/>
            <p:nvPr/>
          </p:nvSpPr>
          <p:spPr bwMode="auto">
            <a:xfrm>
              <a:off x="3886200" y="2895600"/>
              <a:ext cx="152400" cy="152400"/>
            </a:xfrm>
            <a:prstGeom prst="ellips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hi-IN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17DAA03-B47F-494F-A3E3-CDA52BE77944}"/>
                </a:ext>
              </a:extLst>
            </p:cNvPr>
            <p:cNvSpPr/>
            <p:nvPr/>
          </p:nvSpPr>
          <p:spPr bwMode="auto">
            <a:xfrm>
              <a:off x="3962400" y="5867400"/>
              <a:ext cx="152400" cy="152400"/>
            </a:xfrm>
            <a:prstGeom prst="ellips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hi-IN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97EA2C1-B644-4D1B-A642-A10121A2EFDF}"/>
                </a:ext>
              </a:extLst>
            </p:cNvPr>
            <p:cNvSpPr/>
            <p:nvPr/>
          </p:nvSpPr>
          <p:spPr bwMode="auto">
            <a:xfrm>
              <a:off x="6324600" y="4419600"/>
              <a:ext cx="152400" cy="152400"/>
            </a:xfrm>
            <a:prstGeom prst="ellips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hi-IN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8950FB5-52D6-4AEC-B1DC-635828576B89}"/>
                </a:ext>
              </a:extLst>
            </p:cNvPr>
            <p:cNvSpPr/>
            <p:nvPr/>
          </p:nvSpPr>
          <p:spPr bwMode="auto">
            <a:xfrm>
              <a:off x="1524000" y="3352800"/>
              <a:ext cx="152400" cy="152400"/>
            </a:xfrm>
            <a:prstGeom prst="ellips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hi-IN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2EA8610-67EF-45DE-B963-48BB81866879}"/>
                </a:ext>
              </a:extLst>
            </p:cNvPr>
            <p:cNvSpPr/>
            <p:nvPr/>
          </p:nvSpPr>
          <p:spPr bwMode="auto">
            <a:xfrm>
              <a:off x="1524000" y="5638800"/>
              <a:ext cx="152400" cy="152400"/>
            </a:xfrm>
            <a:prstGeom prst="ellips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hi-IN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926B7DA-37A9-4AD9-85CA-683EDD82F9BC}"/>
                </a:ext>
              </a:extLst>
            </p:cNvPr>
            <p:cNvSpPr/>
            <p:nvPr/>
          </p:nvSpPr>
          <p:spPr bwMode="auto">
            <a:xfrm>
              <a:off x="3352800" y="4343400"/>
              <a:ext cx="152400" cy="152400"/>
            </a:xfrm>
            <a:prstGeom prst="ellips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hi-IN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0B90F6C-7ADD-42E3-8BF0-79F1E255D422}"/>
                </a:ext>
              </a:extLst>
            </p:cNvPr>
            <p:cNvSpPr/>
            <p:nvPr/>
          </p:nvSpPr>
          <p:spPr bwMode="auto">
            <a:xfrm>
              <a:off x="4495800" y="4343400"/>
              <a:ext cx="152400" cy="152400"/>
            </a:xfrm>
            <a:prstGeom prst="ellips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hi-IN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CCDE902-88B4-42FE-824D-55B3427FCEFD}"/>
                </a:ext>
              </a:extLst>
            </p:cNvPr>
            <p:cNvSpPr/>
            <p:nvPr/>
          </p:nvSpPr>
          <p:spPr bwMode="auto">
            <a:xfrm>
              <a:off x="6324600" y="3276600"/>
              <a:ext cx="152400" cy="152400"/>
            </a:xfrm>
            <a:prstGeom prst="ellips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hi-IN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516CECB-A797-4B38-B077-D49B7F58262E}"/>
                </a:ext>
              </a:extLst>
            </p:cNvPr>
            <p:cNvSpPr/>
            <p:nvPr/>
          </p:nvSpPr>
          <p:spPr bwMode="auto">
            <a:xfrm>
              <a:off x="6324600" y="5486400"/>
              <a:ext cx="152400" cy="152400"/>
            </a:xfrm>
            <a:prstGeom prst="ellips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hi-IN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0CE220F8-2CB7-436B-9ED1-35EC158A2F60}"/>
                </a:ext>
              </a:extLst>
            </p:cNvPr>
            <p:cNvSpPr/>
            <p:nvPr/>
          </p:nvSpPr>
          <p:spPr bwMode="auto">
            <a:xfrm>
              <a:off x="2971800" y="6172200"/>
              <a:ext cx="152400" cy="152400"/>
            </a:xfrm>
            <a:prstGeom prst="ellips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hi-IN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F6369B71-3606-403B-8281-371085DE9495}"/>
                </a:ext>
              </a:extLst>
            </p:cNvPr>
            <p:cNvSpPr/>
            <p:nvPr/>
          </p:nvSpPr>
          <p:spPr bwMode="auto">
            <a:xfrm>
              <a:off x="3048000" y="2590800"/>
              <a:ext cx="152400" cy="152400"/>
            </a:xfrm>
            <a:prstGeom prst="ellips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hi-IN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832FD71-5D96-4F39-B4B8-DE447EBB3B57}"/>
                </a:ext>
              </a:extLst>
            </p:cNvPr>
            <p:cNvSpPr/>
            <p:nvPr/>
          </p:nvSpPr>
          <p:spPr bwMode="auto">
            <a:xfrm>
              <a:off x="4800600" y="2667000"/>
              <a:ext cx="152400" cy="152400"/>
            </a:xfrm>
            <a:prstGeom prst="ellips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hi-IN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801F110-8FAE-4C64-9340-3E927B743EE8}"/>
                </a:ext>
              </a:extLst>
            </p:cNvPr>
            <p:cNvSpPr/>
            <p:nvPr/>
          </p:nvSpPr>
          <p:spPr bwMode="auto">
            <a:xfrm>
              <a:off x="4800600" y="6248400"/>
              <a:ext cx="152400" cy="152400"/>
            </a:xfrm>
            <a:prstGeom prst="ellips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hi-IN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733BFA1-5C28-4F4E-BA0C-3D8705DF4502}"/>
                </a:ext>
              </a:extLst>
            </p:cNvPr>
            <p:cNvSpPr/>
            <p:nvPr/>
          </p:nvSpPr>
          <p:spPr bwMode="auto">
            <a:xfrm>
              <a:off x="3962400" y="4343400"/>
              <a:ext cx="152400" cy="152400"/>
            </a:xfrm>
            <a:prstGeom prst="ellips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hi-IN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C029832-E48B-4DD8-A85A-1D90DE7C38E8}"/>
                </a:ext>
              </a:extLst>
            </p:cNvPr>
            <p:cNvSpPr/>
            <p:nvPr/>
          </p:nvSpPr>
          <p:spPr bwMode="auto">
            <a:xfrm>
              <a:off x="1615440" y="2997200"/>
              <a:ext cx="4866640" cy="2854960"/>
            </a:xfrm>
            <a:custGeom>
              <a:avLst/>
              <a:gdLst>
                <a:gd name="connsiteX0" fmla="*/ 0 w 4866640"/>
                <a:gd name="connsiteY0" fmla="*/ 1483360 h 2854960"/>
                <a:gd name="connsiteX1" fmla="*/ 2326640 w 4866640"/>
                <a:gd name="connsiteY1" fmla="*/ 0 h 2854960"/>
                <a:gd name="connsiteX2" fmla="*/ 4866640 w 4866640"/>
                <a:gd name="connsiteY2" fmla="*/ 1544320 h 2854960"/>
                <a:gd name="connsiteX3" fmla="*/ 2397760 w 4866640"/>
                <a:gd name="connsiteY3" fmla="*/ 2854960 h 2854960"/>
                <a:gd name="connsiteX4" fmla="*/ 0 w 4866640"/>
                <a:gd name="connsiteY4" fmla="*/ 1483360 h 2854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66640" h="2854960">
                  <a:moveTo>
                    <a:pt x="0" y="1483360"/>
                  </a:moveTo>
                  <a:lnTo>
                    <a:pt x="2326640" y="0"/>
                  </a:lnTo>
                  <a:lnTo>
                    <a:pt x="4866640" y="1544320"/>
                  </a:lnTo>
                  <a:lnTo>
                    <a:pt x="2397760" y="2854960"/>
                  </a:lnTo>
                  <a:lnTo>
                    <a:pt x="0" y="1483360"/>
                  </a:lnTo>
                  <a:close/>
                </a:path>
              </a:pathLst>
            </a:custGeom>
            <a:solidFill>
              <a:schemeClr val="bg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hi-IN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4B79806-7881-42D8-93DD-E257112957D8}"/>
                </a:ext>
              </a:extLst>
            </p:cNvPr>
            <p:cNvSpPr/>
            <p:nvPr/>
          </p:nvSpPr>
          <p:spPr bwMode="auto">
            <a:xfrm>
              <a:off x="2489200" y="3505200"/>
              <a:ext cx="2773680" cy="2001520"/>
            </a:xfrm>
            <a:custGeom>
              <a:avLst/>
              <a:gdLst>
                <a:gd name="connsiteX0" fmla="*/ 50800 w 2773680"/>
                <a:gd name="connsiteY0" fmla="*/ 40640 h 2001520"/>
                <a:gd name="connsiteX1" fmla="*/ 2733040 w 2773680"/>
                <a:gd name="connsiteY1" fmla="*/ 20320 h 2001520"/>
                <a:gd name="connsiteX2" fmla="*/ 2773680 w 2773680"/>
                <a:gd name="connsiteY2" fmla="*/ 1981200 h 2001520"/>
                <a:gd name="connsiteX3" fmla="*/ 30480 w 2773680"/>
                <a:gd name="connsiteY3" fmla="*/ 2001520 h 2001520"/>
                <a:gd name="connsiteX4" fmla="*/ 0 w 2773680"/>
                <a:gd name="connsiteY4" fmla="*/ 0 h 2001520"/>
                <a:gd name="connsiteX5" fmla="*/ 0 w 2773680"/>
                <a:gd name="connsiteY5" fmla="*/ 0 h 2001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73680" h="2001520">
                  <a:moveTo>
                    <a:pt x="50800" y="40640"/>
                  </a:moveTo>
                  <a:lnTo>
                    <a:pt x="2733040" y="20320"/>
                  </a:lnTo>
                  <a:lnTo>
                    <a:pt x="2773680" y="1981200"/>
                  </a:lnTo>
                  <a:lnTo>
                    <a:pt x="30480" y="200152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hi-IN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16ABF298-CF0B-4600-A641-4FDA45DA2A80}"/>
                </a:ext>
              </a:extLst>
            </p:cNvPr>
            <p:cNvSpPr/>
            <p:nvPr/>
          </p:nvSpPr>
          <p:spPr bwMode="auto">
            <a:xfrm>
              <a:off x="3108960" y="2682240"/>
              <a:ext cx="1808480" cy="3677920"/>
            </a:xfrm>
            <a:custGeom>
              <a:avLst/>
              <a:gdLst>
                <a:gd name="connsiteX0" fmla="*/ 0 w 1808480"/>
                <a:gd name="connsiteY0" fmla="*/ 0 h 3677920"/>
                <a:gd name="connsiteX1" fmla="*/ 1808480 w 1808480"/>
                <a:gd name="connsiteY1" fmla="*/ 3677920 h 3677920"/>
                <a:gd name="connsiteX2" fmla="*/ 1808480 w 1808480"/>
                <a:gd name="connsiteY2" fmla="*/ 3677920 h 3677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08480" h="3677920">
                  <a:moveTo>
                    <a:pt x="0" y="0"/>
                  </a:moveTo>
                  <a:lnTo>
                    <a:pt x="1808480" y="3677920"/>
                  </a:lnTo>
                  <a:lnTo>
                    <a:pt x="1808480" y="3677920"/>
                  </a:lnTo>
                </a:path>
              </a:pathLst>
            </a:custGeom>
            <a:ln w="3810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hi-IN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D0A7914B-6273-427B-BDB6-F4AE17C8C949}"/>
                </a:ext>
              </a:extLst>
            </p:cNvPr>
            <p:cNvCxnSpPr>
              <a:stCxn id="20" idx="6"/>
              <a:endCxn id="18" idx="5"/>
            </p:cNvCxnSpPr>
            <p:nvPr/>
          </p:nvCxnSpPr>
          <p:spPr bwMode="auto">
            <a:xfrm flipH="1">
              <a:off x="3101882" y="2743200"/>
              <a:ext cx="1851118" cy="3559082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FAE70D7C-849B-45E8-9263-F98B42EE285D}"/>
                </a:ext>
              </a:extLst>
            </p:cNvPr>
            <p:cNvSpPr/>
            <p:nvPr/>
          </p:nvSpPr>
          <p:spPr bwMode="auto">
            <a:xfrm>
              <a:off x="1584960" y="3434080"/>
              <a:ext cx="1706880" cy="2275840"/>
            </a:xfrm>
            <a:custGeom>
              <a:avLst/>
              <a:gdLst>
                <a:gd name="connsiteX0" fmla="*/ 0 w 1706880"/>
                <a:gd name="connsiteY0" fmla="*/ 0 h 2275840"/>
                <a:gd name="connsiteX1" fmla="*/ 1706880 w 1706880"/>
                <a:gd name="connsiteY1" fmla="*/ 1107440 h 2275840"/>
                <a:gd name="connsiteX2" fmla="*/ 30480 w 1706880"/>
                <a:gd name="connsiteY2" fmla="*/ 2275840 h 2275840"/>
                <a:gd name="connsiteX3" fmla="*/ 30480 w 1706880"/>
                <a:gd name="connsiteY3" fmla="*/ 2245360 h 2275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06880" h="2275840">
                  <a:moveTo>
                    <a:pt x="0" y="0"/>
                  </a:moveTo>
                  <a:lnTo>
                    <a:pt x="1706880" y="1107440"/>
                  </a:lnTo>
                  <a:lnTo>
                    <a:pt x="30480" y="2275840"/>
                  </a:lnTo>
                  <a:lnTo>
                    <a:pt x="30480" y="2245360"/>
                  </a:lnTo>
                </a:path>
              </a:pathLst>
            </a:cu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hi-IN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15B67EBC-B483-496F-A081-EA3FD9C1B0FF}"/>
                </a:ext>
              </a:extLst>
            </p:cNvPr>
            <p:cNvSpPr/>
            <p:nvPr/>
          </p:nvSpPr>
          <p:spPr bwMode="auto">
            <a:xfrm>
              <a:off x="4754880" y="3393440"/>
              <a:ext cx="1645920" cy="2194560"/>
            </a:xfrm>
            <a:custGeom>
              <a:avLst/>
              <a:gdLst>
                <a:gd name="connsiteX0" fmla="*/ 1645920 w 1645920"/>
                <a:gd name="connsiteY0" fmla="*/ 0 h 2194560"/>
                <a:gd name="connsiteX1" fmla="*/ 0 w 1645920"/>
                <a:gd name="connsiteY1" fmla="*/ 1066800 h 2194560"/>
                <a:gd name="connsiteX2" fmla="*/ 1645920 w 1645920"/>
                <a:gd name="connsiteY2" fmla="*/ 2194560 h 2194560"/>
                <a:gd name="connsiteX3" fmla="*/ 1645920 w 1645920"/>
                <a:gd name="connsiteY3" fmla="*/ 2194560 h 2194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45920" h="2194560">
                  <a:moveTo>
                    <a:pt x="1645920" y="0"/>
                  </a:moveTo>
                  <a:lnTo>
                    <a:pt x="0" y="1066800"/>
                  </a:lnTo>
                  <a:lnTo>
                    <a:pt x="1645920" y="2194560"/>
                  </a:lnTo>
                  <a:lnTo>
                    <a:pt x="1645920" y="2194560"/>
                  </a:lnTo>
                </a:path>
              </a:pathLst>
            </a:cu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hi-IN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5DF0F210-5F17-4847-B6C8-19BE2174E5B0}"/>
                </a:ext>
              </a:extLst>
            </p:cNvPr>
            <p:cNvSpPr/>
            <p:nvPr/>
          </p:nvSpPr>
          <p:spPr bwMode="auto">
            <a:xfrm>
              <a:off x="3276600" y="4495800"/>
              <a:ext cx="152400" cy="152400"/>
            </a:xfrm>
            <a:prstGeom prst="ellips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hi-IN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536FFA83-89C8-4429-88F9-550B1ECB6ED6}"/>
                </a:ext>
              </a:extLst>
            </p:cNvPr>
            <p:cNvSpPr/>
            <p:nvPr/>
          </p:nvSpPr>
          <p:spPr bwMode="auto">
            <a:xfrm>
              <a:off x="4648200" y="4343400"/>
              <a:ext cx="152400" cy="152400"/>
            </a:xfrm>
            <a:prstGeom prst="ellips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hi-IN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7F271568-22DA-4EF3-86FC-797D973A27FB}"/>
                </a:ext>
              </a:extLst>
            </p:cNvPr>
            <p:cNvSpPr/>
            <p:nvPr/>
          </p:nvSpPr>
          <p:spPr bwMode="auto">
            <a:xfrm>
              <a:off x="3962400" y="4419600"/>
              <a:ext cx="152400" cy="152400"/>
            </a:xfrm>
            <a:prstGeom prst="ellips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hi-IN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</p:grp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3990C380-FE45-4562-9037-24FA94C37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51D9C-B6AB-428B-A110-91A75E744F65}" type="slidenum">
              <a:rPr lang="en-US" altLang="hi-IN" smtClean="0"/>
              <a:pPr/>
              <a:t>30</a:t>
            </a:fld>
            <a:endParaRPr lang="en-US" altLang="hi-IN"/>
          </a:p>
        </p:txBody>
      </p:sp>
    </p:spTree>
    <p:extLst>
      <p:ext uri="{BB962C8B-B14F-4D97-AF65-F5344CB8AC3E}">
        <p14:creationId xmlns:p14="http://schemas.microsoft.com/office/powerpoint/2010/main" val="23896844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C1F94283-01A4-495D-AC57-71552734B4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i-IN"/>
              <a:t>Graphs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7CC3576E-3AD9-4D8E-BA8C-BCB7C374C1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hi-IN"/>
              <a:t>Motivation and Terminology</a:t>
            </a:r>
          </a:p>
          <a:p>
            <a:r>
              <a:rPr lang="en-US" altLang="hi-IN">
                <a:solidFill>
                  <a:schemeClr val="accent2"/>
                </a:solidFill>
              </a:rPr>
              <a:t>Representations</a:t>
            </a:r>
          </a:p>
          <a:p>
            <a:r>
              <a:rPr lang="en-US" altLang="hi-IN"/>
              <a:t>Traversals</a:t>
            </a:r>
          </a:p>
          <a:p>
            <a:r>
              <a:rPr lang="en-US" altLang="hi-IN"/>
              <a:t>Three Problems</a:t>
            </a:r>
          </a:p>
          <a:p>
            <a:pPr>
              <a:buFontTx/>
              <a:buNone/>
            </a:pPr>
            <a:endParaRPr lang="en-US" altLang="hi-IN"/>
          </a:p>
          <a:p>
            <a:endParaRPr lang="en-US" altLang="hi-I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B55738-6FDA-4FFF-9379-08AB938BF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51D9C-B6AB-428B-A110-91A75E744F65}" type="slidenum">
              <a:rPr lang="en-US" altLang="hi-IN" smtClean="0"/>
              <a:pPr/>
              <a:t>31</a:t>
            </a:fld>
            <a:endParaRPr lang="en-US" altLang="hi-IN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Line 9">
            <a:extLst>
              <a:ext uri="{FF2B5EF4-FFF2-40B4-BE49-F238E27FC236}">
                <a16:creationId xmlns:a16="http://schemas.microsoft.com/office/drawing/2014/main" id="{34F1CDF3-C83B-4D96-A967-A6462E31062D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281940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1028" name="Line 10">
            <a:extLst>
              <a:ext uri="{FF2B5EF4-FFF2-40B4-BE49-F238E27FC236}">
                <a16:creationId xmlns:a16="http://schemas.microsoft.com/office/drawing/2014/main" id="{A90848AE-DFFE-4185-8B69-4389B02FE167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2819400"/>
            <a:ext cx="144780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1029" name="Line 11">
            <a:extLst>
              <a:ext uri="{FF2B5EF4-FFF2-40B4-BE49-F238E27FC236}">
                <a16:creationId xmlns:a16="http://schemas.microsoft.com/office/drawing/2014/main" id="{DCB563BD-12FB-43B9-A143-3841378AE62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28800" y="4114800"/>
            <a:ext cx="76200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1030" name="Line 12">
            <a:extLst>
              <a:ext uri="{FF2B5EF4-FFF2-40B4-BE49-F238E27FC236}">
                <a16:creationId xmlns:a16="http://schemas.microsoft.com/office/drawing/2014/main" id="{0E5E6DED-EC25-402F-B84A-3B616415BE89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4114800"/>
            <a:ext cx="68580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1031" name="Line 13">
            <a:extLst>
              <a:ext uri="{FF2B5EF4-FFF2-40B4-BE49-F238E27FC236}">
                <a16:creationId xmlns:a16="http://schemas.microsoft.com/office/drawing/2014/main" id="{9F98E876-A683-4E8F-9807-F0D08E63BB8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43000" y="2819400"/>
            <a:ext cx="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1032" name="Line 14">
            <a:extLst>
              <a:ext uri="{FF2B5EF4-FFF2-40B4-BE49-F238E27FC236}">
                <a16:creationId xmlns:a16="http://schemas.microsoft.com/office/drawing/2014/main" id="{4EEA3109-BE83-410A-8DE8-D2CB490E8B22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2819400"/>
            <a:ext cx="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1033" name="Line 15">
            <a:extLst>
              <a:ext uri="{FF2B5EF4-FFF2-40B4-BE49-F238E27FC236}">
                <a16:creationId xmlns:a16="http://schemas.microsoft.com/office/drawing/2014/main" id="{3436D6EA-326E-4BFB-97F8-3AF2047AF1B5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411480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1034" name="Rectangle 2">
            <a:extLst>
              <a:ext uri="{FF2B5EF4-FFF2-40B4-BE49-F238E27FC236}">
                <a16:creationId xmlns:a16="http://schemas.microsoft.com/office/drawing/2014/main" id="{13C7AC53-66AC-4056-B7F3-663254954F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i-IN" dirty="0">
                <a:solidFill>
                  <a:schemeClr val="tx1"/>
                </a:solidFill>
              </a:rPr>
              <a:t>Adjacency Matrix</a:t>
            </a:r>
          </a:p>
        </p:txBody>
      </p:sp>
      <p:sp>
        <p:nvSpPr>
          <p:cNvPr id="1035" name="Oval 3">
            <a:extLst>
              <a:ext uri="{FF2B5EF4-FFF2-40B4-BE49-F238E27FC236}">
                <a16:creationId xmlns:a16="http://schemas.microsoft.com/office/drawing/2014/main" id="{0FD02A6E-58EE-4D03-8C32-0261CABA83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514600"/>
            <a:ext cx="609600" cy="609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1036" name="Oval 4">
            <a:extLst>
              <a:ext uri="{FF2B5EF4-FFF2-40B4-BE49-F238E27FC236}">
                <a16:creationId xmlns:a16="http://schemas.microsoft.com/office/drawing/2014/main" id="{72D0EC1D-C692-467E-9631-B9ED03F549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5105400"/>
            <a:ext cx="609600" cy="609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1037" name="Oval 5">
            <a:extLst>
              <a:ext uri="{FF2B5EF4-FFF2-40B4-BE49-F238E27FC236}">
                <a16:creationId xmlns:a16="http://schemas.microsoft.com/office/drawing/2014/main" id="{9FE59D78-B354-482F-A7D5-970A1CF51D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810000"/>
            <a:ext cx="609600" cy="609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1038" name="Oval 6">
            <a:extLst>
              <a:ext uri="{FF2B5EF4-FFF2-40B4-BE49-F238E27FC236}">
                <a16:creationId xmlns:a16="http://schemas.microsoft.com/office/drawing/2014/main" id="{9C4A0A30-1836-4789-AE00-96156A5560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3810000"/>
            <a:ext cx="609600" cy="609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1039" name="Oval 8">
            <a:extLst>
              <a:ext uri="{FF2B5EF4-FFF2-40B4-BE49-F238E27FC236}">
                <a16:creationId xmlns:a16="http://schemas.microsoft.com/office/drawing/2014/main" id="{D0DE819C-65C3-470E-9671-A111B79E36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2514600"/>
            <a:ext cx="609600" cy="609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1040" name="Text Box 16">
            <a:extLst>
              <a:ext uri="{FF2B5EF4-FFF2-40B4-BE49-F238E27FC236}">
                <a16:creationId xmlns:a16="http://schemas.microsoft.com/office/drawing/2014/main" id="{E059DFAC-8618-4528-9003-4106A7E94A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2543175"/>
            <a:ext cx="3873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hi-IN" sz="3200"/>
              <a:t>1</a:t>
            </a:r>
            <a:endParaRPr lang="en-US" altLang="hi-IN"/>
          </a:p>
        </p:txBody>
      </p:sp>
      <p:sp>
        <p:nvSpPr>
          <p:cNvPr id="1041" name="Text Box 17">
            <a:extLst>
              <a:ext uri="{FF2B5EF4-FFF2-40B4-BE49-F238E27FC236}">
                <a16:creationId xmlns:a16="http://schemas.microsoft.com/office/drawing/2014/main" id="{DA17D976-B52E-499A-9F80-9D93415E46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3838575"/>
            <a:ext cx="3873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hi-IN" sz="3200"/>
              <a:t>4</a:t>
            </a:r>
          </a:p>
        </p:txBody>
      </p:sp>
      <p:sp>
        <p:nvSpPr>
          <p:cNvPr id="1042" name="Text Box 18">
            <a:extLst>
              <a:ext uri="{FF2B5EF4-FFF2-40B4-BE49-F238E27FC236}">
                <a16:creationId xmlns:a16="http://schemas.microsoft.com/office/drawing/2014/main" id="{8DB0756E-4438-430C-8B96-DC460EBDCC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3810000"/>
            <a:ext cx="457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hi-IN" sz="3200"/>
              <a:t>3</a:t>
            </a:r>
            <a:endParaRPr lang="en-US" altLang="hi-IN"/>
          </a:p>
        </p:txBody>
      </p:sp>
      <p:sp>
        <p:nvSpPr>
          <p:cNvPr id="1043" name="Text Box 19">
            <a:extLst>
              <a:ext uri="{FF2B5EF4-FFF2-40B4-BE49-F238E27FC236}">
                <a16:creationId xmlns:a16="http://schemas.microsoft.com/office/drawing/2014/main" id="{CC5A21F6-6A26-41CC-B2EB-1008B669DC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5133975"/>
            <a:ext cx="3873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hi-IN" sz="3200"/>
              <a:t>5</a:t>
            </a:r>
            <a:endParaRPr lang="en-US" altLang="hi-IN"/>
          </a:p>
        </p:txBody>
      </p:sp>
      <p:sp>
        <p:nvSpPr>
          <p:cNvPr id="1044" name="Text Box 20">
            <a:extLst>
              <a:ext uri="{FF2B5EF4-FFF2-40B4-BE49-F238E27FC236}">
                <a16:creationId xmlns:a16="http://schemas.microsoft.com/office/drawing/2014/main" id="{C8C49161-F42E-48B0-9503-52FD6B1221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2543175"/>
            <a:ext cx="3873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hi-IN" sz="3200"/>
              <a:t>2</a:t>
            </a:r>
            <a:endParaRPr lang="en-US" altLang="hi-IN"/>
          </a:p>
        </p:txBody>
      </p:sp>
      <p:graphicFrame>
        <p:nvGraphicFramePr>
          <p:cNvPr id="1026" name="Object 21">
            <a:extLst>
              <a:ext uri="{FF2B5EF4-FFF2-40B4-BE49-F238E27FC236}">
                <a16:creationId xmlns:a16="http://schemas.microsoft.com/office/drawing/2014/main" id="{345723FE-498C-468E-ABFC-0DC8056304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14800" y="2514600"/>
          <a:ext cx="3667125" cy="297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924425" imgH="981606" progId="Excel.Sheet.8">
                  <p:embed/>
                </p:oleObj>
              </mc:Choice>
              <mc:Fallback>
                <p:oleObj name="Worksheet" r:id="rId3" imgW="924425" imgH="981606" progId="Excel.Sheet.8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2514600"/>
                        <a:ext cx="3667125" cy="297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BB053D-C5D7-41A9-9E32-4A0E9586B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32</a:t>
            </a:fld>
            <a:endParaRPr lang="en-US" altLang="hi-IN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73C99-CD39-4F12-BC9E-DE55191EC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i-IN" dirty="0">
                <a:solidFill>
                  <a:schemeClr val="tx1"/>
                </a:solidFill>
              </a:rPr>
              <a:t>Adjacency Matrix</a:t>
            </a:r>
            <a:endParaRPr lang="hi-IN" dirty="0"/>
          </a:p>
        </p:txBody>
      </p:sp>
      <p:pic>
        <p:nvPicPr>
          <p:cNvPr id="8194" name="Picture 2" descr="Representation of Graphs: Adjacency Matrix and Adjacency List ...">
            <a:extLst>
              <a:ext uri="{FF2B5EF4-FFF2-40B4-BE49-F238E27FC236}">
                <a16:creationId xmlns:a16="http://schemas.microsoft.com/office/drawing/2014/main" id="{B2F60EEF-84C3-4544-9781-65B489D2B5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" y="1600200"/>
            <a:ext cx="4695825" cy="2663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Addition and deletion of nodes and edges in a graph using ...">
            <a:extLst>
              <a:ext uri="{FF2B5EF4-FFF2-40B4-BE49-F238E27FC236}">
                <a16:creationId xmlns:a16="http://schemas.microsoft.com/office/drawing/2014/main" id="{D6DF898A-4295-4F72-A5E1-8BCAEF657A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6599" y="3736294"/>
            <a:ext cx="4347563" cy="2893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3E1BC5-B215-4DFF-A0BC-A63588F80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33</a:t>
            </a:fld>
            <a:endParaRPr lang="en-US" altLang="hi-IN"/>
          </a:p>
        </p:txBody>
      </p:sp>
    </p:spTree>
    <p:extLst>
      <p:ext uri="{BB962C8B-B14F-4D97-AF65-F5344CB8AC3E}">
        <p14:creationId xmlns:p14="http://schemas.microsoft.com/office/powerpoint/2010/main" val="28408150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9FA00650-FDDD-45EE-B5D9-C7C1105CDC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i-IN" dirty="0">
                <a:solidFill>
                  <a:schemeClr val="tx1"/>
                </a:solidFill>
              </a:rPr>
              <a:t>Adjacency List</a:t>
            </a:r>
          </a:p>
        </p:txBody>
      </p:sp>
      <p:sp>
        <p:nvSpPr>
          <p:cNvPr id="22531" name="Line 3">
            <a:extLst>
              <a:ext uri="{FF2B5EF4-FFF2-40B4-BE49-F238E27FC236}">
                <a16:creationId xmlns:a16="http://schemas.microsoft.com/office/drawing/2014/main" id="{E829EAB9-7C52-4D8A-B4BF-7E78F86F065A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281940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22532" name="Line 4">
            <a:extLst>
              <a:ext uri="{FF2B5EF4-FFF2-40B4-BE49-F238E27FC236}">
                <a16:creationId xmlns:a16="http://schemas.microsoft.com/office/drawing/2014/main" id="{CEEB5E11-A288-4317-B5DE-4EF19E82E8D5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2819400"/>
            <a:ext cx="144780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22533" name="Line 5">
            <a:extLst>
              <a:ext uri="{FF2B5EF4-FFF2-40B4-BE49-F238E27FC236}">
                <a16:creationId xmlns:a16="http://schemas.microsoft.com/office/drawing/2014/main" id="{93B11287-9D7A-4675-A3DD-EC6F7695EB0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28800" y="4114800"/>
            <a:ext cx="76200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22534" name="Line 6">
            <a:extLst>
              <a:ext uri="{FF2B5EF4-FFF2-40B4-BE49-F238E27FC236}">
                <a16:creationId xmlns:a16="http://schemas.microsoft.com/office/drawing/2014/main" id="{2B539B80-1B3B-47F6-B5EE-F8897F42C30C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4114800"/>
            <a:ext cx="68580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22535" name="Line 7">
            <a:extLst>
              <a:ext uri="{FF2B5EF4-FFF2-40B4-BE49-F238E27FC236}">
                <a16:creationId xmlns:a16="http://schemas.microsoft.com/office/drawing/2014/main" id="{0C69866F-AA8C-4901-BFCF-EAD7E8075D0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43000" y="2819400"/>
            <a:ext cx="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22536" name="Line 8">
            <a:extLst>
              <a:ext uri="{FF2B5EF4-FFF2-40B4-BE49-F238E27FC236}">
                <a16:creationId xmlns:a16="http://schemas.microsoft.com/office/drawing/2014/main" id="{022C2C79-E71E-43CE-830F-8285BF4A91CC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2819400"/>
            <a:ext cx="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22537" name="Line 9">
            <a:extLst>
              <a:ext uri="{FF2B5EF4-FFF2-40B4-BE49-F238E27FC236}">
                <a16:creationId xmlns:a16="http://schemas.microsoft.com/office/drawing/2014/main" id="{E0917623-9C25-401F-BAFD-A40C4BEF4ABA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411480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22538" name="Oval 10">
            <a:extLst>
              <a:ext uri="{FF2B5EF4-FFF2-40B4-BE49-F238E27FC236}">
                <a16:creationId xmlns:a16="http://schemas.microsoft.com/office/drawing/2014/main" id="{D23032EC-308F-4237-9172-47F22187AA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514600"/>
            <a:ext cx="609600" cy="609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22539" name="Oval 11">
            <a:extLst>
              <a:ext uri="{FF2B5EF4-FFF2-40B4-BE49-F238E27FC236}">
                <a16:creationId xmlns:a16="http://schemas.microsoft.com/office/drawing/2014/main" id="{EBEB2255-A4AE-42CC-B586-B665D645BE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5105400"/>
            <a:ext cx="609600" cy="609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22540" name="Oval 12">
            <a:extLst>
              <a:ext uri="{FF2B5EF4-FFF2-40B4-BE49-F238E27FC236}">
                <a16:creationId xmlns:a16="http://schemas.microsoft.com/office/drawing/2014/main" id="{A57FBF86-E558-4511-8B79-C0196D4856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810000"/>
            <a:ext cx="609600" cy="609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22541" name="Oval 13">
            <a:extLst>
              <a:ext uri="{FF2B5EF4-FFF2-40B4-BE49-F238E27FC236}">
                <a16:creationId xmlns:a16="http://schemas.microsoft.com/office/drawing/2014/main" id="{3C03667D-1DA1-413A-869C-39A0E138CB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3810000"/>
            <a:ext cx="609600" cy="609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22542" name="Oval 14">
            <a:extLst>
              <a:ext uri="{FF2B5EF4-FFF2-40B4-BE49-F238E27FC236}">
                <a16:creationId xmlns:a16="http://schemas.microsoft.com/office/drawing/2014/main" id="{F07B3449-01D4-4FCC-BB20-8B8D2E9F55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2514600"/>
            <a:ext cx="609600" cy="609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22543" name="Text Box 15">
            <a:extLst>
              <a:ext uri="{FF2B5EF4-FFF2-40B4-BE49-F238E27FC236}">
                <a16:creationId xmlns:a16="http://schemas.microsoft.com/office/drawing/2014/main" id="{7CD0F53A-EFEE-4CD1-AEBB-10B6B611E4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2543175"/>
            <a:ext cx="3873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hi-IN" sz="3200"/>
              <a:t>1</a:t>
            </a:r>
            <a:endParaRPr lang="en-US" altLang="hi-IN"/>
          </a:p>
        </p:txBody>
      </p:sp>
      <p:sp>
        <p:nvSpPr>
          <p:cNvPr id="22544" name="Text Box 16">
            <a:extLst>
              <a:ext uri="{FF2B5EF4-FFF2-40B4-BE49-F238E27FC236}">
                <a16:creationId xmlns:a16="http://schemas.microsoft.com/office/drawing/2014/main" id="{6700037B-ED3C-4B96-BFE2-9CC356EFA4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3838575"/>
            <a:ext cx="3873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hi-IN" sz="3200"/>
              <a:t>4</a:t>
            </a:r>
          </a:p>
        </p:txBody>
      </p:sp>
      <p:sp>
        <p:nvSpPr>
          <p:cNvPr id="22545" name="Text Box 17">
            <a:extLst>
              <a:ext uri="{FF2B5EF4-FFF2-40B4-BE49-F238E27FC236}">
                <a16:creationId xmlns:a16="http://schemas.microsoft.com/office/drawing/2014/main" id="{8D0C2EDE-A049-4641-924D-03EBDF3646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3810000"/>
            <a:ext cx="457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hi-IN" sz="3200"/>
              <a:t>3</a:t>
            </a:r>
            <a:endParaRPr lang="en-US" altLang="hi-IN"/>
          </a:p>
        </p:txBody>
      </p:sp>
      <p:sp>
        <p:nvSpPr>
          <p:cNvPr id="22546" name="Text Box 18">
            <a:extLst>
              <a:ext uri="{FF2B5EF4-FFF2-40B4-BE49-F238E27FC236}">
                <a16:creationId xmlns:a16="http://schemas.microsoft.com/office/drawing/2014/main" id="{AE9C5D8B-F0F1-4207-8869-A54ABE2AC9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5133975"/>
            <a:ext cx="3873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hi-IN" sz="3200"/>
              <a:t>5</a:t>
            </a:r>
            <a:endParaRPr lang="en-US" altLang="hi-IN"/>
          </a:p>
        </p:txBody>
      </p:sp>
      <p:sp>
        <p:nvSpPr>
          <p:cNvPr id="22547" name="Text Box 19">
            <a:extLst>
              <a:ext uri="{FF2B5EF4-FFF2-40B4-BE49-F238E27FC236}">
                <a16:creationId xmlns:a16="http://schemas.microsoft.com/office/drawing/2014/main" id="{DF88B115-6BE6-4016-865C-1258E8BA48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2543175"/>
            <a:ext cx="3873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hi-IN" sz="3200"/>
              <a:t>2</a:t>
            </a:r>
            <a:endParaRPr lang="en-US" altLang="hi-IN"/>
          </a:p>
        </p:txBody>
      </p:sp>
      <p:sp>
        <p:nvSpPr>
          <p:cNvPr id="22548" name="Text Box 20">
            <a:extLst>
              <a:ext uri="{FF2B5EF4-FFF2-40B4-BE49-F238E27FC236}">
                <a16:creationId xmlns:a16="http://schemas.microsoft.com/office/drawing/2014/main" id="{DD4674F1-ECB6-4E47-B1B2-76F1919EC2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2438400"/>
            <a:ext cx="361950" cy="308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hi-IN"/>
              <a:t>1</a:t>
            </a:r>
          </a:p>
          <a:p>
            <a:pPr algn="l">
              <a:spcBef>
                <a:spcPct val="50000"/>
              </a:spcBef>
            </a:pPr>
            <a:r>
              <a:rPr lang="en-US" altLang="hi-IN"/>
              <a:t>2</a:t>
            </a:r>
          </a:p>
          <a:p>
            <a:pPr algn="l">
              <a:spcBef>
                <a:spcPct val="50000"/>
              </a:spcBef>
            </a:pPr>
            <a:r>
              <a:rPr lang="en-US" altLang="hi-IN"/>
              <a:t>3</a:t>
            </a:r>
          </a:p>
          <a:p>
            <a:pPr algn="l">
              <a:spcBef>
                <a:spcPct val="50000"/>
              </a:spcBef>
            </a:pPr>
            <a:r>
              <a:rPr lang="en-US" altLang="hi-IN"/>
              <a:t>4</a:t>
            </a:r>
          </a:p>
          <a:p>
            <a:pPr algn="l">
              <a:spcBef>
                <a:spcPct val="50000"/>
              </a:spcBef>
            </a:pPr>
            <a:r>
              <a:rPr lang="en-US" altLang="hi-IN"/>
              <a:t>5</a:t>
            </a:r>
          </a:p>
        </p:txBody>
      </p:sp>
      <p:sp>
        <p:nvSpPr>
          <p:cNvPr id="22549" name="Rectangle 21">
            <a:extLst>
              <a:ext uri="{FF2B5EF4-FFF2-40B4-BE49-F238E27FC236}">
                <a16:creationId xmlns:a16="http://schemas.microsoft.com/office/drawing/2014/main" id="{B9F00B2D-A244-4189-A29C-B2D16AEE3B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2362200"/>
            <a:ext cx="533400" cy="3200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22550" name="Line 22">
            <a:extLst>
              <a:ext uri="{FF2B5EF4-FFF2-40B4-BE49-F238E27FC236}">
                <a16:creationId xmlns:a16="http://schemas.microsoft.com/office/drawing/2014/main" id="{9D6CAC3C-3D8D-4CA1-86F0-2152A687ACAC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5800" y="4953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22551" name="Line 23">
            <a:extLst>
              <a:ext uri="{FF2B5EF4-FFF2-40B4-BE49-F238E27FC236}">
                <a16:creationId xmlns:a16="http://schemas.microsoft.com/office/drawing/2014/main" id="{77E055D2-4645-4CE9-BAFC-CE6F9B7C1A67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5800" y="42672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22552" name="Line 24">
            <a:extLst>
              <a:ext uri="{FF2B5EF4-FFF2-40B4-BE49-F238E27FC236}">
                <a16:creationId xmlns:a16="http://schemas.microsoft.com/office/drawing/2014/main" id="{74AFD8B3-F085-4504-8C70-C6F4486B92F4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5800" y="3657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22553" name="Line 25">
            <a:extLst>
              <a:ext uri="{FF2B5EF4-FFF2-40B4-BE49-F238E27FC236}">
                <a16:creationId xmlns:a16="http://schemas.microsoft.com/office/drawing/2014/main" id="{C4DA217B-32FC-4ADD-AA47-C1C534EA7F7E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5800" y="3048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22554" name="Line 26">
            <a:extLst>
              <a:ext uri="{FF2B5EF4-FFF2-40B4-BE49-F238E27FC236}">
                <a16:creationId xmlns:a16="http://schemas.microsoft.com/office/drawing/2014/main" id="{6B406471-7164-4F63-99B1-7C3C6C7A013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27432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22555" name="Line 27">
            <a:extLst>
              <a:ext uri="{FF2B5EF4-FFF2-40B4-BE49-F238E27FC236}">
                <a16:creationId xmlns:a16="http://schemas.microsoft.com/office/drawing/2014/main" id="{C7D0713D-4430-42BB-8902-CBC54BE868EB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33528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22556" name="Line 28">
            <a:extLst>
              <a:ext uri="{FF2B5EF4-FFF2-40B4-BE49-F238E27FC236}">
                <a16:creationId xmlns:a16="http://schemas.microsoft.com/office/drawing/2014/main" id="{3E9D40A4-51A0-4DE9-980C-0CF39AEF765C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39624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22557" name="Line 29">
            <a:extLst>
              <a:ext uri="{FF2B5EF4-FFF2-40B4-BE49-F238E27FC236}">
                <a16:creationId xmlns:a16="http://schemas.microsoft.com/office/drawing/2014/main" id="{CFA1B6A1-A63B-4EC3-AC86-38833237C452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46482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22558" name="Line 30">
            <a:extLst>
              <a:ext uri="{FF2B5EF4-FFF2-40B4-BE49-F238E27FC236}">
                <a16:creationId xmlns:a16="http://schemas.microsoft.com/office/drawing/2014/main" id="{336FD1C8-F916-4BB2-85C1-C26FD2E1D88D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52578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22559" name="Text Box 31">
            <a:extLst>
              <a:ext uri="{FF2B5EF4-FFF2-40B4-BE49-F238E27FC236}">
                <a16:creationId xmlns:a16="http://schemas.microsoft.com/office/drawing/2014/main" id="{C5F92312-41DD-441D-BF75-C3910A9690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2514600"/>
            <a:ext cx="170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hi-IN" sz="2000"/>
              <a:t>2         3         4</a:t>
            </a:r>
          </a:p>
        </p:txBody>
      </p:sp>
      <p:sp>
        <p:nvSpPr>
          <p:cNvPr id="22560" name="Text Box 32">
            <a:extLst>
              <a:ext uri="{FF2B5EF4-FFF2-40B4-BE49-F238E27FC236}">
                <a16:creationId xmlns:a16="http://schemas.microsoft.com/office/drawing/2014/main" id="{FDE9CBB7-FE82-499F-9BD8-D2AA3DD910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3124200"/>
            <a:ext cx="10096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hi-IN" sz="2000"/>
              <a:t>1         4</a:t>
            </a:r>
          </a:p>
        </p:txBody>
      </p:sp>
      <p:sp>
        <p:nvSpPr>
          <p:cNvPr id="22561" name="Text Box 33">
            <a:extLst>
              <a:ext uri="{FF2B5EF4-FFF2-40B4-BE49-F238E27FC236}">
                <a16:creationId xmlns:a16="http://schemas.microsoft.com/office/drawing/2014/main" id="{8EC64605-DF95-4FB6-96F4-D908DE02E2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4419600"/>
            <a:ext cx="24066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hi-IN" sz="2000"/>
              <a:t>1         2         3         5</a:t>
            </a:r>
          </a:p>
        </p:txBody>
      </p:sp>
      <p:sp>
        <p:nvSpPr>
          <p:cNvPr id="22562" name="Text Box 34">
            <a:extLst>
              <a:ext uri="{FF2B5EF4-FFF2-40B4-BE49-F238E27FC236}">
                <a16:creationId xmlns:a16="http://schemas.microsoft.com/office/drawing/2014/main" id="{796BC8B1-C4DD-427E-9FE9-0E49239A46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3733800"/>
            <a:ext cx="170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hi-IN" sz="2000"/>
              <a:t>1         4         5</a:t>
            </a:r>
          </a:p>
        </p:txBody>
      </p:sp>
      <p:sp>
        <p:nvSpPr>
          <p:cNvPr id="22563" name="Text Box 35">
            <a:extLst>
              <a:ext uri="{FF2B5EF4-FFF2-40B4-BE49-F238E27FC236}">
                <a16:creationId xmlns:a16="http://schemas.microsoft.com/office/drawing/2014/main" id="{87DA882D-624B-46D7-A0A2-7AC8A98914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5029200"/>
            <a:ext cx="10096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hi-IN" sz="2000"/>
              <a:t>3         4</a:t>
            </a:r>
          </a:p>
        </p:txBody>
      </p:sp>
      <p:sp>
        <p:nvSpPr>
          <p:cNvPr id="22564" name="Line 36">
            <a:extLst>
              <a:ext uri="{FF2B5EF4-FFF2-40B4-BE49-F238E27FC236}">
                <a16:creationId xmlns:a16="http://schemas.microsoft.com/office/drawing/2014/main" id="{7A44A11D-CF35-4669-96D4-6E569B8BE6F8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1200" y="27432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22565" name="Line 37">
            <a:extLst>
              <a:ext uri="{FF2B5EF4-FFF2-40B4-BE49-F238E27FC236}">
                <a16:creationId xmlns:a16="http://schemas.microsoft.com/office/drawing/2014/main" id="{596756AC-6EEA-45F2-9AA4-1FF396BBD041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27432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22566" name="Line 38">
            <a:extLst>
              <a:ext uri="{FF2B5EF4-FFF2-40B4-BE49-F238E27FC236}">
                <a16:creationId xmlns:a16="http://schemas.microsoft.com/office/drawing/2014/main" id="{FDC39B48-A918-4DB7-BDB9-4FCEDE6E04CF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1200" y="33528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22567" name="Line 39">
            <a:extLst>
              <a:ext uri="{FF2B5EF4-FFF2-40B4-BE49-F238E27FC236}">
                <a16:creationId xmlns:a16="http://schemas.microsoft.com/office/drawing/2014/main" id="{E0438563-3150-4A8C-9C9D-3C5BDDF225A4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1200" y="39624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22568" name="Line 40">
            <a:extLst>
              <a:ext uri="{FF2B5EF4-FFF2-40B4-BE49-F238E27FC236}">
                <a16:creationId xmlns:a16="http://schemas.microsoft.com/office/drawing/2014/main" id="{10320AB7-8054-432A-B19A-1AC5E9CA8A90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39624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22569" name="Line 41">
            <a:extLst>
              <a:ext uri="{FF2B5EF4-FFF2-40B4-BE49-F238E27FC236}">
                <a16:creationId xmlns:a16="http://schemas.microsoft.com/office/drawing/2014/main" id="{80B69995-A5B6-4572-85BC-3743905A9D6F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1200" y="46482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22570" name="Line 42">
            <a:extLst>
              <a:ext uri="{FF2B5EF4-FFF2-40B4-BE49-F238E27FC236}">
                <a16:creationId xmlns:a16="http://schemas.microsoft.com/office/drawing/2014/main" id="{06C1661A-A37C-4EE5-B167-917DBE26212D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46482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22571" name="Line 43">
            <a:extLst>
              <a:ext uri="{FF2B5EF4-FFF2-40B4-BE49-F238E27FC236}">
                <a16:creationId xmlns:a16="http://schemas.microsoft.com/office/drawing/2014/main" id="{510C2218-D7C4-4EF6-8695-A58ACCF4D71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46482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22572" name="Line 44">
            <a:extLst>
              <a:ext uri="{FF2B5EF4-FFF2-40B4-BE49-F238E27FC236}">
                <a16:creationId xmlns:a16="http://schemas.microsoft.com/office/drawing/2014/main" id="{84EACA10-9DFC-4B51-B9C7-79FBC17BF511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1200" y="52578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80D885-6C35-4085-BE3A-856A4565B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34</a:t>
            </a:fld>
            <a:endParaRPr lang="en-US" altLang="hi-IN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8DD45-FB73-49BD-8DE8-F2ACFF1A6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i-IN" dirty="0">
                <a:solidFill>
                  <a:schemeClr val="tx1"/>
                </a:solidFill>
              </a:rPr>
              <a:t>Adjacency List</a:t>
            </a:r>
            <a:endParaRPr lang="hi-IN" dirty="0"/>
          </a:p>
        </p:txBody>
      </p:sp>
      <p:pic>
        <p:nvPicPr>
          <p:cNvPr id="9218" name="Picture 2" descr="A directed graph represented by adjacency lists. | Download ...">
            <a:extLst>
              <a:ext uri="{FF2B5EF4-FFF2-40B4-BE49-F238E27FC236}">
                <a16:creationId xmlns:a16="http://schemas.microsoft.com/office/drawing/2014/main" id="{F15D84BA-A140-4224-90ED-1E71F96526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400" y="1874045"/>
            <a:ext cx="6088549" cy="2071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 descr="Adjacency list graph representation using C++ STL in competitive ...">
            <a:extLst>
              <a:ext uri="{FF2B5EF4-FFF2-40B4-BE49-F238E27FC236}">
                <a16:creationId xmlns:a16="http://schemas.microsoft.com/office/drawing/2014/main" id="{BAE94BD4-8F59-409E-80C1-D42C08AAF2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3940653"/>
            <a:ext cx="5791200" cy="2796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5F52CF-7CE6-47E1-90F9-6CF18840E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35</a:t>
            </a:fld>
            <a:endParaRPr lang="en-US" altLang="hi-IN"/>
          </a:p>
        </p:txBody>
      </p:sp>
    </p:spTree>
    <p:extLst>
      <p:ext uri="{BB962C8B-B14F-4D97-AF65-F5344CB8AC3E}">
        <p14:creationId xmlns:p14="http://schemas.microsoft.com/office/powerpoint/2010/main" val="30952868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7C7A442A-8896-48C8-A786-47ADD55902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i-IN">
                <a:solidFill>
                  <a:schemeClr val="tx1"/>
                </a:solidFill>
              </a:rPr>
              <a:t>Tradeoffs Between Adjacency Lists and Adjacency Matrices</a:t>
            </a:r>
          </a:p>
        </p:txBody>
      </p:sp>
      <p:sp>
        <p:nvSpPr>
          <p:cNvPr id="23555" name="Text Box 3">
            <a:extLst>
              <a:ext uri="{FF2B5EF4-FFF2-40B4-BE49-F238E27FC236}">
                <a16:creationId xmlns:a16="http://schemas.microsoft.com/office/drawing/2014/main" id="{D75C8954-5D05-481F-A57B-E13B882048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0925" y="2251075"/>
            <a:ext cx="7845425" cy="396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lang="en-US" altLang="hi-IN" sz="2400" b="1"/>
              <a:t>Comparison</a:t>
            </a:r>
            <a:r>
              <a:rPr lang="en-US" altLang="hi-IN" sz="2400"/>
              <a:t>				</a:t>
            </a:r>
            <a:r>
              <a:rPr lang="en-US" altLang="hi-IN" sz="2400" b="1"/>
              <a:t>Winner (for worst case)</a:t>
            </a:r>
            <a:endParaRPr lang="en-US" altLang="hi-IN" sz="2400"/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lang="en-US" altLang="hi-IN" sz="2400"/>
              <a:t>Faster to test if (</a:t>
            </a:r>
            <a:r>
              <a:rPr lang="en-US" altLang="hi-IN" sz="2400" i="1"/>
              <a:t>x</a:t>
            </a:r>
            <a:r>
              <a:rPr lang="en-US" altLang="hi-IN" sz="2400"/>
              <a:t>, </a:t>
            </a:r>
            <a:r>
              <a:rPr lang="en-US" altLang="hi-IN" sz="2400" i="1"/>
              <a:t>y</a:t>
            </a:r>
            <a:r>
              <a:rPr lang="en-US" altLang="hi-IN" sz="2400"/>
              <a:t>) exists? 		matrices: </a:t>
            </a:r>
            <a:r>
              <a:rPr lang="en-US" altLang="hi-IN" sz="2400">
                <a:sym typeface="Symbol" panose="05050102010706020507" pitchFamily="18" charset="2"/>
              </a:rPr>
              <a:t>(1) vs. (</a:t>
            </a:r>
            <a:r>
              <a:rPr lang="en-US" altLang="hi-IN" sz="2400" i="1">
                <a:sym typeface="Symbol" panose="05050102010706020507" pitchFamily="18" charset="2"/>
              </a:rPr>
              <a:t>V</a:t>
            </a:r>
            <a:r>
              <a:rPr lang="en-US" altLang="hi-IN" sz="2400">
                <a:sym typeface="Symbol" panose="05050102010706020507" pitchFamily="18" charset="2"/>
              </a:rPr>
              <a:t>)</a:t>
            </a:r>
            <a:r>
              <a:rPr lang="en-US" altLang="hi-IN" sz="2400"/>
              <a:t> 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lang="en-US" altLang="hi-IN" sz="2400"/>
              <a:t>Faster to find vertex degree?		lists: </a:t>
            </a:r>
            <a:r>
              <a:rPr lang="en-US" altLang="hi-IN" sz="2400">
                <a:sym typeface="Symbol" panose="05050102010706020507" pitchFamily="18" charset="2"/>
              </a:rPr>
              <a:t>(1) vs. (</a:t>
            </a:r>
            <a:r>
              <a:rPr lang="en-US" altLang="hi-IN" sz="2400" i="1">
                <a:sym typeface="Symbol" panose="05050102010706020507" pitchFamily="18" charset="2"/>
              </a:rPr>
              <a:t>V</a:t>
            </a:r>
            <a:r>
              <a:rPr lang="en-US" altLang="hi-IN" sz="2400">
                <a:sym typeface="Symbol" panose="05050102010706020507" pitchFamily="18" charset="2"/>
              </a:rPr>
              <a:t>)</a:t>
            </a:r>
            <a:endParaRPr lang="en-US" altLang="hi-IN" sz="2400"/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lang="en-US" altLang="hi-IN" sz="2400"/>
              <a:t>Less memory on sparse graphs? 	lists: </a:t>
            </a:r>
            <a:r>
              <a:rPr lang="en-US" altLang="hi-IN" sz="2400">
                <a:sym typeface="Symbol" panose="05050102010706020507" pitchFamily="18" charset="2"/>
              </a:rPr>
              <a:t></a:t>
            </a:r>
            <a:r>
              <a:rPr lang="en-US" altLang="hi-IN" sz="2400"/>
              <a:t>(</a:t>
            </a:r>
            <a:r>
              <a:rPr lang="en-US" altLang="hi-IN" sz="2400" i="1"/>
              <a:t>V+E</a:t>
            </a:r>
            <a:r>
              <a:rPr lang="en-US" altLang="hi-IN" sz="2400"/>
              <a:t>) vs. </a:t>
            </a:r>
            <a:r>
              <a:rPr lang="en-US" altLang="hi-IN" sz="2400">
                <a:sym typeface="Symbol" panose="05050102010706020507" pitchFamily="18" charset="2"/>
              </a:rPr>
              <a:t></a:t>
            </a:r>
            <a:r>
              <a:rPr lang="en-US" altLang="hi-IN" sz="2400"/>
              <a:t>(</a:t>
            </a:r>
            <a:r>
              <a:rPr lang="en-US" altLang="hi-IN" sz="2400" i="1"/>
              <a:t>V</a:t>
            </a:r>
            <a:r>
              <a:rPr lang="en-US" altLang="hi-IN" sz="2400" baseline="30000"/>
              <a:t>2</a:t>
            </a:r>
            <a:r>
              <a:rPr lang="en-US" altLang="hi-IN" sz="2400"/>
              <a:t>)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lang="en-US" altLang="hi-IN" sz="2400"/>
              <a:t>Less memory on dense graphs? 	matrices: (small win)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lang="en-US" altLang="hi-IN" sz="2400"/>
              <a:t>Edge insertion or deletion? 		matrices: </a:t>
            </a:r>
            <a:r>
              <a:rPr lang="en-US" altLang="hi-IN" sz="2400">
                <a:sym typeface="Symbol" panose="05050102010706020507" pitchFamily="18" charset="2"/>
              </a:rPr>
              <a:t></a:t>
            </a:r>
            <a:r>
              <a:rPr lang="en-US" altLang="hi-IN" sz="2400"/>
              <a:t>(1) vs. </a:t>
            </a:r>
            <a:r>
              <a:rPr lang="en-US" altLang="hi-IN" sz="2400">
                <a:sym typeface="Symbol" panose="05050102010706020507" pitchFamily="18" charset="2"/>
              </a:rPr>
              <a:t>(</a:t>
            </a:r>
            <a:r>
              <a:rPr lang="en-US" altLang="hi-IN" sz="2400" i="1">
                <a:sym typeface="Symbol" panose="05050102010706020507" pitchFamily="18" charset="2"/>
              </a:rPr>
              <a:t>V</a:t>
            </a:r>
            <a:r>
              <a:rPr lang="en-US" altLang="hi-IN" sz="2400">
                <a:sym typeface="Symbol" panose="05050102010706020507" pitchFamily="18" charset="2"/>
              </a:rPr>
              <a:t>)</a:t>
            </a:r>
            <a:endParaRPr lang="en-US" altLang="hi-IN" sz="2400"/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lang="en-US" altLang="hi-IN" sz="2400"/>
              <a:t>Faster to traverse the graph? 		lists: </a:t>
            </a:r>
            <a:r>
              <a:rPr lang="en-US" altLang="hi-IN" sz="2400">
                <a:sym typeface="Symbol" panose="05050102010706020507" pitchFamily="18" charset="2"/>
              </a:rPr>
              <a:t></a:t>
            </a:r>
            <a:r>
              <a:rPr lang="en-US" altLang="hi-IN" sz="2400"/>
              <a:t>(</a:t>
            </a:r>
            <a:r>
              <a:rPr lang="en-US" altLang="hi-IN" sz="2400" i="1"/>
              <a:t>E+V)</a:t>
            </a:r>
            <a:r>
              <a:rPr lang="en-US" altLang="hi-IN" sz="2400"/>
              <a:t> vs. </a:t>
            </a:r>
            <a:r>
              <a:rPr lang="en-US" altLang="hi-IN" sz="2400">
                <a:sym typeface="Symbol" panose="05050102010706020507" pitchFamily="18" charset="2"/>
              </a:rPr>
              <a:t>(</a:t>
            </a:r>
            <a:r>
              <a:rPr lang="en-US" altLang="hi-IN" sz="2400" i="1">
                <a:sym typeface="Symbol" panose="05050102010706020507" pitchFamily="18" charset="2"/>
              </a:rPr>
              <a:t>V</a:t>
            </a:r>
            <a:r>
              <a:rPr lang="en-US" altLang="hi-IN" sz="2400" baseline="30000">
                <a:sym typeface="Symbol" panose="05050102010706020507" pitchFamily="18" charset="2"/>
              </a:rPr>
              <a:t>2</a:t>
            </a:r>
            <a:r>
              <a:rPr lang="en-US" altLang="hi-IN" sz="2400">
                <a:sym typeface="Symbol" panose="05050102010706020507" pitchFamily="18" charset="2"/>
              </a:rPr>
              <a:t>)</a:t>
            </a:r>
            <a:endParaRPr lang="en-US" altLang="hi-IN" sz="2400"/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lang="en-US" altLang="hi-IN" sz="2400"/>
              <a:t>Better for most problems? 		</a:t>
            </a:r>
            <a:r>
              <a:rPr lang="en-US" altLang="hi-IN" b="1"/>
              <a:t>lists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3FEBC5-8E99-49A3-BE37-F9723B65E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36</a:t>
            </a:fld>
            <a:endParaRPr lang="en-US" altLang="hi-IN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9EAE2C63-3951-4643-BC0D-C0E52642E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i-IN"/>
              <a:t>Incidence matrix</a:t>
            </a:r>
            <a:endParaRPr lang="en-IN" altLang="hi-IN"/>
          </a:p>
        </p:txBody>
      </p:sp>
      <p:pic>
        <p:nvPicPr>
          <p:cNvPr id="24579" name="Picture 2">
            <a:extLst>
              <a:ext uri="{FF2B5EF4-FFF2-40B4-BE49-F238E27FC236}">
                <a16:creationId xmlns:a16="http://schemas.microsoft.com/office/drawing/2014/main" id="{71242229-6288-48EC-B487-A1394EE569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088" y="1673592"/>
            <a:ext cx="7275512" cy="1662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0" name="Picture 3">
            <a:extLst>
              <a:ext uri="{FF2B5EF4-FFF2-40B4-BE49-F238E27FC236}">
                <a16:creationId xmlns:a16="http://schemas.microsoft.com/office/drawing/2014/main" id="{95423050-EF79-4340-A279-4FC21DCC3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599" y="4572000"/>
            <a:ext cx="3548793" cy="22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2" name="Picture 2">
            <a:extLst>
              <a:ext uri="{FF2B5EF4-FFF2-40B4-BE49-F238E27FC236}">
                <a16:creationId xmlns:a16="http://schemas.microsoft.com/office/drawing/2014/main" id="{C487E7EE-C4C0-4742-A69C-BE5192F4AF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0322" y="2438400"/>
            <a:ext cx="3129278" cy="4156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73CF06-49B0-4D94-817F-134495F9E6A3}"/>
              </a:ext>
            </a:extLst>
          </p:cNvPr>
          <p:cNvSpPr txBox="1"/>
          <p:nvPr/>
        </p:nvSpPr>
        <p:spPr>
          <a:xfrm>
            <a:off x="3105944" y="6410057"/>
            <a:ext cx="220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solidFill>
                  <a:srgbClr val="C00000"/>
                </a:solidFill>
                <a:sym typeface="Wingdings" panose="05000000000000000000" pitchFamily="2" charset="2"/>
              </a:rPr>
              <a:t></a:t>
            </a:r>
            <a:r>
              <a:rPr lang="en-US" sz="1800" dirty="0">
                <a:solidFill>
                  <a:srgbClr val="C00000"/>
                </a:solidFill>
              </a:rPr>
              <a:t>Try for this…</a:t>
            </a:r>
            <a:endParaRPr lang="hi-IN" sz="1800" dirty="0">
              <a:solidFill>
                <a:srgbClr val="C00000"/>
              </a:solidFill>
            </a:endParaRPr>
          </a:p>
        </p:txBody>
      </p:sp>
      <p:pic>
        <p:nvPicPr>
          <p:cNvPr id="10244" name="Picture 4" descr="Directed graph - Wikipedia">
            <a:extLst>
              <a:ext uri="{FF2B5EF4-FFF2-40B4-BE49-F238E27FC236}">
                <a16:creationId xmlns:a16="http://schemas.microsoft.com/office/drawing/2014/main" id="{5DF2D787-AA3C-415D-8958-55DD5BB0DF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522295"/>
            <a:ext cx="3014979" cy="1576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D208C5B-4224-4B2D-A2F2-1F3BC84E2566}"/>
              </a:ext>
            </a:extLst>
          </p:cNvPr>
          <p:cNvGrpSpPr/>
          <p:nvPr/>
        </p:nvGrpSpPr>
        <p:grpSpPr>
          <a:xfrm>
            <a:off x="1320800" y="2362200"/>
            <a:ext cx="431800" cy="656029"/>
            <a:chOff x="1320800" y="2362200"/>
            <a:chExt cx="431800" cy="656029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091A725-3854-42D9-97EA-47C1B906B2F5}"/>
                </a:ext>
              </a:extLst>
            </p:cNvPr>
            <p:cNvSpPr txBox="1"/>
            <p:nvPr/>
          </p:nvSpPr>
          <p:spPr>
            <a:xfrm>
              <a:off x="1371600" y="2362200"/>
              <a:ext cx="381000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1</a:t>
              </a:r>
              <a:endParaRPr lang="hi-IN" sz="1600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B04D056-F4FE-43A0-BA77-B63289AA0FDD}"/>
                </a:ext>
              </a:extLst>
            </p:cNvPr>
            <p:cNvSpPr txBox="1"/>
            <p:nvPr/>
          </p:nvSpPr>
          <p:spPr>
            <a:xfrm>
              <a:off x="1320800" y="2679675"/>
              <a:ext cx="381000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-1</a:t>
              </a:r>
              <a:endParaRPr lang="hi-IN" sz="1600" dirty="0"/>
            </a:p>
          </p:txBody>
        </p: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8B1139-A20A-44FA-9173-C182CC5F9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37</a:t>
            </a:fld>
            <a:endParaRPr lang="en-US" altLang="hi-IN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EC344A83-BB03-42C9-8C92-EF98BD0FCD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i-IN"/>
              <a:t>Graph Squaring</a:t>
            </a:r>
          </a:p>
        </p:txBody>
      </p:sp>
      <p:sp>
        <p:nvSpPr>
          <p:cNvPr id="26627" name="Text Box 3">
            <a:extLst>
              <a:ext uri="{FF2B5EF4-FFF2-40B4-BE49-F238E27FC236}">
                <a16:creationId xmlns:a16="http://schemas.microsoft.com/office/drawing/2014/main" id="{939C2596-9F6B-42D2-A059-5C37BB90A3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057400"/>
            <a:ext cx="8153400" cy="3539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hi-IN" dirty="0"/>
              <a:t>The square of a directed graph G = (V, E) is the graph G</a:t>
            </a:r>
            <a:r>
              <a:rPr lang="en-US" altLang="hi-IN" baseline="30000" dirty="0"/>
              <a:t>2</a:t>
            </a:r>
            <a:r>
              <a:rPr lang="en-US" altLang="hi-IN" dirty="0"/>
              <a:t> = (V, E</a:t>
            </a:r>
            <a:r>
              <a:rPr lang="en-US" altLang="hi-IN" baseline="30000" dirty="0"/>
              <a:t>2</a:t>
            </a:r>
            <a:r>
              <a:rPr lang="en-US" altLang="hi-IN" dirty="0"/>
              <a:t>), such that (</a:t>
            </a:r>
            <a:r>
              <a:rPr lang="en-US" altLang="hi-IN" i="1" dirty="0"/>
              <a:t>x</a:t>
            </a:r>
            <a:r>
              <a:rPr lang="en-US" altLang="hi-IN" dirty="0"/>
              <a:t>, </a:t>
            </a:r>
            <a:r>
              <a:rPr lang="en-US" altLang="hi-IN" i="1" dirty="0"/>
              <a:t>y</a:t>
            </a:r>
            <a:r>
              <a:rPr lang="en-US" altLang="hi-IN" dirty="0"/>
              <a:t>) </a:t>
            </a:r>
            <a:r>
              <a:rPr lang="en-US" altLang="hi-IN" b="1" dirty="0">
                <a:sym typeface="Symbol" panose="05050102010706020507" pitchFamily="18" charset="2"/>
              </a:rPr>
              <a:t></a:t>
            </a:r>
            <a:r>
              <a:rPr lang="en-US" altLang="hi-IN" dirty="0">
                <a:sym typeface="Symbol" panose="05050102010706020507" pitchFamily="18" charset="2"/>
              </a:rPr>
              <a:t> E</a:t>
            </a:r>
            <a:r>
              <a:rPr lang="en-US" altLang="hi-IN" baseline="30000" dirty="0">
                <a:sym typeface="Symbol" panose="05050102010706020507" pitchFamily="18" charset="2"/>
              </a:rPr>
              <a:t>2</a:t>
            </a:r>
            <a:r>
              <a:rPr lang="en-US" altLang="hi-IN" dirty="0">
                <a:sym typeface="Symbol" panose="05050102010706020507" pitchFamily="18" charset="2"/>
              </a:rPr>
              <a:t> </a:t>
            </a:r>
            <a:r>
              <a:rPr lang="en-US" altLang="hi-IN" dirty="0" err="1">
                <a:sym typeface="Symbol" panose="05050102010706020507" pitchFamily="18" charset="2"/>
              </a:rPr>
              <a:t>iff</a:t>
            </a:r>
            <a:r>
              <a:rPr lang="en-US" altLang="hi-IN" dirty="0">
                <a:sym typeface="Symbol" panose="05050102010706020507" pitchFamily="18" charset="2"/>
              </a:rPr>
              <a:t>, for some </a:t>
            </a:r>
            <a:r>
              <a:rPr lang="en-US" altLang="hi-IN" i="1" dirty="0">
                <a:sym typeface="Symbol" panose="05050102010706020507" pitchFamily="18" charset="2"/>
              </a:rPr>
              <a:t>z</a:t>
            </a:r>
            <a:r>
              <a:rPr lang="en-US" altLang="hi-IN" dirty="0">
                <a:sym typeface="Symbol" panose="05050102010706020507" pitchFamily="18" charset="2"/>
              </a:rPr>
              <a:t>, both (</a:t>
            </a:r>
            <a:r>
              <a:rPr lang="en-US" altLang="hi-IN" i="1" dirty="0">
                <a:sym typeface="Symbol" panose="05050102010706020507" pitchFamily="18" charset="2"/>
              </a:rPr>
              <a:t>x</a:t>
            </a:r>
            <a:r>
              <a:rPr lang="en-US" altLang="hi-IN" dirty="0">
                <a:sym typeface="Symbol" panose="05050102010706020507" pitchFamily="18" charset="2"/>
              </a:rPr>
              <a:t>, </a:t>
            </a:r>
            <a:r>
              <a:rPr lang="en-US" altLang="hi-IN" i="1" dirty="0">
                <a:sym typeface="Symbol" panose="05050102010706020507" pitchFamily="18" charset="2"/>
              </a:rPr>
              <a:t>z</a:t>
            </a:r>
            <a:r>
              <a:rPr lang="en-US" altLang="hi-IN" dirty="0">
                <a:sym typeface="Symbol" panose="05050102010706020507" pitchFamily="18" charset="2"/>
              </a:rPr>
              <a:t>) and (</a:t>
            </a:r>
            <a:r>
              <a:rPr lang="en-US" altLang="hi-IN" i="1" dirty="0">
                <a:sym typeface="Symbol" panose="05050102010706020507" pitchFamily="18" charset="2"/>
              </a:rPr>
              <a:t>z</a:t>
            </a:r>
            <a:r>
              <a:rPr lang="en-US" altLang="hi-IN" dirty="0">
                <a:sym typeface="Symbol" panose="05050102010706020507" pitchFamily="18" charset="2"/>
              </a:rPr>
              <a:t>, </a:t>
            </a:r>
            <a:r>
              <a:rPr lang="en-US" altLang="hi-IN" i="1" dirty="0">
                <a:sym typeface="Symbol" panose="05050102010706020507" pitchFamily="18" charset="2"/>
              </a:rPr>
              <a:t>y</a:t>
            </a:r>
            <a:r>
              <a:rPr lang="en-US" altLang="hi-IN" dirty="0">
                <a:sym typeface="Symbol" panose="05050102010706020507" pitchFamily="18" charset="2"/>
              </a:rPr>
              <a:t>) </a:t>
            </a:r>
            <a:r>
              <a:rPr lang="en-US" altLang="hi-IN" b="1" dirty="0">
                <a:sym typeface="Symbol" panose="05050102010706020507" pitchFamily="18" charset="2"/>
              </a:rPr>
              <a:t></a:t>
            </a:r>
            <a:r>
              <a:rPr lang="en-US" altLang="hi-IN" dirty="0">
                <a:sym typeface="Symbol" panose="05050102010706020507" pitchFamily="18" charset="2"/>
              </a:rPr>
              <a:t> E ; i.e., there is a path of exactly two edges.</a:t>
            </a:r>
          </a:p>
          <a:p>
            <a:pPr algn="l"/>
            <a:endParaRPr lang="en-US" altLang="hi-IN" dirty="0">
              <a:sym typeface="Symbol" panose="05050102010706020507" pitchFamily="18" charset="2"/>
            </a:endParaRPr>
          </a:p>
          <a:p>
            <a:pPr algn="l"/>
            <a:r>
              <a:rPr lang="en-US" altLang="hi-IN" b="1" dirty="0">
                <a:sym typeface="Symbol" panose="05050102010706020507" pitchFamily="18" charset="2"/>
              </a:rPr>
              <a:t>Try yourself….</a:t>
            </a:r>
          </a:p>
          <a:p>
            <a:pPr algn="l"/>
            <a:r>
              <a:rPr lang="en-US" altLang="hi-IN" dirty="0">
                <a:solidFill>
                  <a:srgbClr val="FF0000"/>
                </a:solidFill>
                <a:sym typeface="Symbol" panose="05050102010706020507" pitchFamily="18" charset="2"/>
              </a:rPr>
              <a:t>Give efficient algorithms to square a graph on both adjacency lists and matrices.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1B1D84-3728-4462-8011-B1321724F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38</a:t>
            </a:fld>
            <a:endParaRPr lang="en-US" altLang="hi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DA8BD-89DF-4879-9DB8-A33CB124E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</a:t>
            </a:r>
            <a:endParaRPr lang="hi-IN" dirty="0"/>
          </a:p>
        </p:txBody>
      </p:sp>
      <p:pic>
        <p:nvPicPr>
          <p:cNvPr id="2050" name="Picture 2" descr="1 An example of a graph G (left) and its square graph G 2 (right ...">
            <a:extLst>
              <a:ext uri="{FF2B5EF4-FFF2-40B4-BE49-F238E27FC236}">
                <a16:creationId xmlns:a16="http://schemas.microsoft.com/office/drawing/2014/main" id="{E1005D1C-2CAA-4489-B810-972DFB228B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887" y="2438400"/>
            <a:ext cx="7896225" cy="3105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AFB0D7C-9778-40A7-9341-E33A9FD96695}"/>
                  </a:ext>
                </a:extLst>
              </p14:cNvPr>
              <p14:cNvContentPartPr/>
              <p14:nvPr/>
            </p14:nvContentPartPr>
            <p14:xfrm>
              <a:off x="2146320" y="4578480"/>
              <a:ext cx="4750200" cy="2858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AFB0D7C-9778-40A7-9341-E33A9FD9669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36960" y="4569120"/>
                <a:ext cx="4768920" cy="30456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9B7DB3-526E-4605-85D3-9EDF126AF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39</a:t>
            </a:fld>
            <a:endParaRPr lang="en-US" altLang="hi-IN"/>
          </a:p>
        </p:txBody>
      </p:sp>
    </p:spTree>
    <p:extLst>
      <p:ext uri="{BB962C8B-B14F-4D97-AF65-F5344CB8AC3E}">
        <p14:creationId xmlns:p14="http://schemas.microsoft.com/office/powerpoint/2010/main" val="6805044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59407F8F-637D-411C-949B-8990033774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i-IN"/>
              <a:t>G</a:t>
            </a:r>
            <a:r>
              <a:rPr lang="en-US" altLang="hi-IN" baseline="30000"/>
              <a:t>2</a:t>
            </a:r>
            <a:r>
              <a:rPr lang="en-US" altLang="hi-IN"/>
              <a:t> with Adjacency Matrices</a:t>
            </a:r>
          </a:p>
        </p:txBody>
      </p:sp>
      <p:sp>
        <p:nvSpPr>
          <p:cNvPr id="27651" name="Text Box 3">
            <a:extLst>
              <a:ext uri="{FF2B5EF4-FFF2-40B4-BE49-F238E27FC236}">
                <a16:creationId xmlns:a16="http://schemas.microsoft.com/office/drawing/2014/main" id="{4BE63048-B56E-43C5-A953-0AB975A172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870075"/>
            <a:ext cx="8305800" cy="436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hi-IN"/>
              <a:t>To discover whether there is an edge (</a:t>
            </a:r>
            <a:r>
              <a:rPr lang="en-US" altLang="hi-IN" i="1"/>
              <a:t>x</a:t>
            </a:r>
            <a:r>
              <a:rPr lang="en-US" altLang="hi-IN"/>
              <a:t>, </a:t>
            </a:r>
            <a:r>
              <a:rPr lang="en-US" altLang="hi-IN" i="1"/>
              <a:t>y</a:t>
            </a:r>
            <a:r>
              <a:rPr lang="en-US" altLang="hi-IN"/>
              <a:t>) in E</a:t>
            </a:r>
            <a:r>
              <a:rPr lang="en-US" altLang="hi-IN" baseline="30000"/>
              <a:t>2</a:t>
            </a:r>
            <a:r>
              <a:rPr lang="en-US" altLang="hi-IN"/>
              <a:t>, we do the following.</a:t>
            </a:r>
          </a:p>
          <a:p>
            <a:pPr algn="l"/>
            <a:endParaRPr lang="en-US" altLang="hi-IN"/>
          </a:p>
          <a:p>
            <a:pPr lvl="1" algn="l"/>
            <a:r>
              <a:rPr lang="en-US" altLang="hi-IN"/>
              <a:t>For each possible intermediate vertex </a:t>
            </a:r>
            <a:r>
              <a:rPr lang="en-US" altLang="hi-IN" i="1"/>
              <a:t>z,</a:t>
            </a:r>
            <a:r>
              <a:rPr lang="en-US" altLang="hi-IN"/>
              <a:t> we check whether (</a:t>
            </a:r>
            <a:r>
              <a:rPr lang="en-US" altLang="hi-IN" i="1"/>
              <a:t>x, z</a:t>
            </a:r>
            <a:r>
              <a:rPr lang="en-US" altLang="hi-IN"/>
              <a:t>) and (</a:t>
            </a:r>
            <a:r>
              <a:rPr lang="en-US" altLang="hi-IN" i="1"/>
              <a:t>z, y</a:t>
            </a:r>
            <a:r>
              <a:rPr lang="en-US" altLang="hi-IN"/>
              <a:t>) exist in O(1); if so for any z, mark (x,y) in E</a:t>
            </a:r>
            <a:r>
              <a:rPr lang="en-US" altLang="hi-IN" baseline="30000"/>
              <a:t>2</a:t>
            </a:r>
            <a:r>
              <a:rPr lang="en-US" altLang="hi-IN"/>
              <a:t>.</a:t>
            </a:r>
          </a:p>
          <a:p>
            <a:pPr algn="l"/>
            <a:endParaRPr lang="en-US" altLang="hi-IN"/>
          </a:p>
          <a:p>
            <a:pPr algn="l"/>
            <a:r>
              <a:rPr lang="en-US" altLang="hi-IN"/>
              <a:t>Since there are O(</a:t>
            </a:r>
            <a:r>
              <a:rPr lang="en-US" altLang="hi-IN" i="1"/>
              <a:t>V</a:t>
            </a:r>
            <a:r>
              <a:rPr lang="en-US" altLang="hi-IN"/>
              <a:t>) intermediate vertices to check, and O(</a:t>
            </a:r>
            <a:r>
              <a:rPr lang="en-US" altLang="hi-IN" i="1"/>
              <a:t>V</a:t>
            </a:r>
            <a:r>
              <a:rPr lang="en-US" altLang="hi-IN" baseline="30000"/>
              <a:t>2</a:t>
            </a:r>
            <a:r>
              <a:rPr lang="en-US" altLang="hi-IN"/>
              <a:t>) pairs of vertices to ask about, this takes O(</a:t>
            </a:r>
            <a:r>
              <a:rPr lang="en-US" altLang="hi-IN" i="1"/>
              <a:t>V</a:t>
            </a:r>
            <a:r>
              <a:rPr lang="en-US" altLang="hi-IN" baseline="30000"/>
              <a:t>3</a:t>
            </a:r>
            <a:r>
              <a:rPr lang="en-US" altLang="hi-IN"/>
              <a:t>) time. 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21FC5E-26EA-4EFE-9817-414EB74FD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40</a:t>
            </a:fld>
            <a:endParaRPr lang="en-US" altLang="hi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185E0A03-0577-48CB-A741-325D4746D5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i-IN"/>
              <a:t>G</a:t>
            </a:r>
            <a:r>
              <a:rPr lang="en-US" altLang="hi-IN" baseline="30000"/>
              <a:t>2</a:t>
            </a:r>
            <a:r>
              <a:rPr lang="en-US" altLang="hi-IN"/>
              <a:t> with Adjacency Lists</a:t>
            </a:r>
          </a:p>
        </p:txBody>
      </p:sp>
      <p:sp>
        <p:nvSpPr>
          <p:cNvPr id="28675" name="Text Box 3">
            <a:extLst>
              <a:ext uri="{FF2B5EF4-FFF2-40B4-BE49-F238E27FC236}">
                <a16:creationId xmlns:a16="http://schemas.microsoft.com/office/drawing/2014/main" id="{FFA7233A-62B0-4E0B-A958-F508318633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828800"/>
            <a:ext cx="8534400" cy="4789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hi-IN"/>
              <a:t>We use an adjacency matrix as temporary storage.</a:t>
            </a:r>
          </a:p>
          <a:p>
            <a:pPr algn="l"/>
            <a:endParaRPr lang="en-US" altLang="hi-IN"/>
          </a:p>
          <a:p>
            <a:pPr algn="l"/>
            <a:r>
              <a:rPr lang="en-US" altLang="hi-IN"/>
              <a:t>For each edge (</a:t>
            </a:r>
            <a:r>
              <a:rPr lang="en-US" altLang="hi-IN" i="1"/>
              <a:t>x</a:t>
            </a:r>
            <a:r>
              <a:rPr lang="en-US" altLang="hi-IN"/>
              <a:t>, </a:t>
            </a:r>
            <a:r>
              <a:rPr lang="en-US" altLang="hi-IN" i="1"/>
              <a:t>z</a:t>
            </a:r>
            <a:r>
              <a:rPr lang="en-US" altLang="hi-IN"/>
              <a:t>), we run through all the edges (z,y) from </a:t>
            </a:r>
            <a:r>
              <a:rPr lang="en-US" altLang="hi-IN" i="1"/>
              <a:t>z</a:t>
            </a:r>
            <a:r>
              <a:rPr lang="en-US" altLang="hi-IN"/>
              <a:t> in O(</a:t>
            </a:r>
            <a:r>
              <a:rPr lang="en-US" altLang="hi-IN" i="1"/>
              <a:t>V</a:t>
            </a:r>
            <a:r>
              <a:rPr lang="en-US" altLang="hi-IN"/>
              <a:t>) time, updating the adjacency matrix for edge (x,y). We convert back to adjacency lists at the end.</a:t>
            </a:r>
          </a:p>
          <a:p>
            <a:pPr algn="l"/>
            <a:endParaRPr lang="en-US" altLang="hi-IN"/>
          </a:p>
          <a:p>
            <a:pPr algn="l"/>
            <a:r>
              <a:rPr lang="en-US" altLang="hi-IN"/>
              <a:t>It takes O(</a:t>
            </a:r>
            <a:r>
              <a:rPr lang="en-US" altLang="hi-IN" i="1"/>
              <a:t>VE</a:t>
            </a:r>
            <a:r>
              <a:rPr lang="en-US" altLang="hi-IN"/>
              <a:t>) to construct the edges, and O(</a:t>
            </a:r>
            <a:r>
              <a:rPr lang="en-US" altLang="hi-IN" i="1"/>
              <a:t>V</a:t>
            </a:r>
            <a:r>
              <a:rPr lang="en-US" altLang="hi-IN" baseline="30000"/>
              <a:t>2</a:t>
            </a:r>
            <a:r>
              <a:rPr lang="en-US" altLang="hi-IN"/>
              <a:t>) to initialize and read the adjacency matrix, for a total of </a:t>
            </a:r>
            <a:r>
              <a:rPr lang="en-US" altLang="hi-IN" i="1"/>
              <a:t>O</a:t>
            </a:r>
            <a:r>
              <a:rPr lang="en-US" altLang="hi-IN"/>
              <a:t>((</a:t>
            </a:r>
            <a:r>
              <a:rPr lang="en-US" altLang="hi-IN" i="1"/>
              <a:t>V</a:t>
            </a:r>
            <a:r>
              <a:rPr lang="en-US" altLang="hi-IN"/>
              <a:t>+</a:t>
            </a:r>
            <a:r>
              <a:rPr lang="en-US" altLang="hi-IN" i="1"/>
              <a:t>E</a:t>
            </a:r>
            <a:r>
              <a:rPr lang="en-US" altLang="hi-IN"/>
              <a:t>)</a:t>
            </a:r>
            <a:r>
              <a:rPr lang="en-US" altLang="hi-IN" i="1"/>
              <a:t>V</a:t>
            </a:r>
            <a:r>
              <a:rPr lang="en-US" altLang="hi-IN"/>
              <a:t>).  Since </a:t>
            </a:r>
            <a:r>
              <a:rPr lang="en-US" altLang="hi-IN" i="1"/>
              <a:t>E</a:t>
            </a:r>
            <a:r>
              <a:rPr lang="en-US" altLang="hi-IN"/>
              <a:t>+1 </a:t>
            </a:r>
            <a:r>
              <a:rPr lang="en-US" altLang="hi-IN">
                <a:sym typeface="Symbol" panose="05050102010706020507" pitchFamily="18" charset="2"/>
              </a:rPr>
              <a:t> </a:t>
            </a:r>
            <a:r>
              <a:rPr lang="en-US" altLang="hi-IN" i="1">
                <a:sym typeface="Symbol" panose="05050102010706020507" pitchFamily="18" charset="2"/>
              </a:rPr>
              <a:t>V</a:t>
            </a:r>
            <a:r>
              <a:rPr lang="en-US" altLang="hi-IN">
                <a:sym typeface="Symbol" panose="05050102010706020507" pitchFamily="18" charset="2"/>
              </a:rPr>
              <a:t>  (</a:t>
            </a:r>
            <a:r>
              <a:rPr lang="en-US" altLang="hi-IN"/>
              <a:t>unless the graph is disconnected), this is usually simplified to </a:t>
            </a:r>
            <a:r>
              <a:rPr lang="en-US" altLang="hi-IN" i="1"/>
              <a:t>O</a:t>
            </a:r>
            <a:r>
              <a:rPr lang="en-US" altLang="hi-IN"/>
              <a:t>(</a:t>
            </a:r>
            <a:r>
              <a:rPr lang="en-US" altLang="hi-IN" i="1"/>
              <a:t>VE</a:t>
            </a:r>
            <a:r>
              <a:rPr lang="en-US" altLang="hi-IN"/>
              <a:t>), and is faster than the previous algorithm on sparse graphs.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AA7AD9A-0EE7-49B3-8E88-B697F60B3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41</a:t>
            </a:fld>
            <a:endParaRPr lang="en-US" altLang="hi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BFDAFD02-F922-4C1C-AB61-953AD9F33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609600"/>
          </a:xfrm>
        </p:spPr>
        <p:txBody>
          <a:bodyPr/>
          <a:lstStyle/>
          <a:p>
            <a:r>
              <a:rPr lang="en-US" altLang="hi-IN"/>
              <a:t>Exercises</a:t>
            </a:r>
            <a:endParaRPr lang="en-IN" altLang="hi-IN"/>
          </a:p>
        </p:txBody>
      </p:sp>
      <p:sp>
        <p:nvSpPr>
          <p:cNvPr id="28675" name="Content Placeholder 2">
            <a:extLst>
              <a:ext uri="{FF2B5EF4-FFF2-40B4-BE49-F238E27FC236}">
                <a16:creationId xmlns:a16="http://schemas.microsoft.com/office/drawing/2014/main" id="{A4091C09-A115-4A5F-9732-D9258CEFE2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447800"/>
            <a:ext cx="7772400" cy="4648200"/>
          </a:xfrm>
        </p:spPr>
        <p:txBody>
          <a:bodyPr/>
          <a:lstStyle/>
          <a:p>
            <a:r>
              <a:rPr lang="en-IN" altLang="hi-IN"/>
              <a:t>Write the adjacency matrix, incidence matrix and adjacency list  representation of this graph</a:t>
            </a:r>
          </a:p>
          <a:p>
            <a:pPr>
              <a:buFontTx/>
              <a:buNone/>
            </a:pPr>
            <a:endParaRPr lang="en-IN" altLang="hi-IN"/>
          </a:p>
        </p:txBody>
      </p:sp>
      <p:pic>
        <p:nvPicPr>
          <p:cNvPr id="28676" name="Picture 3">
            <a:extLst>
              <a:ext uri="{FF2B5EF4-FFF2-40B4-BE49-F238E27FC236}">
                <a16:creationId xmlns:a16="http://schemas.microsoft.com/office/drawing/2014/main" id="{73029FAA-3D8E-4720-B0CF-BBE6C4B9D7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2667000"/>
            <a:ext cx="2945947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FC0350-0ED1-4105-BA4F-29319BC39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51D9C-B6AB-428B-A110-91A75E744F65}" type="slidenum">
              <a:rPr lang="en-US" altLang="hi-IN" smtClean="0"/>
              <a:pPr/>
              <a:t>42</a:t>
            </a:fld>
            <a:endParaRPr lang="en-US" altLang="hi-IN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D3201B95-381F-4308-B679-F45EC660FE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i-IN"/>
              <a:t>Graphs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67B7F1EC-E527-4343-AEA4-7A57BC2646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hi-IN"/>
              <a:t>Motivation and Terminology</a:t>
            </a:r>
          </a:p>
          <a:p>
            <a:r>
              <a:rPr lang="en-US" altLang="hi-IN"/>
              <a:t>Representations</a:t>
            </a:r>
          </a:p>
          <a:p>
            <a:r>
              <a:rPr lang="en-US" altLang="hi-IN">
                <a:solidFill>
                  <a:schemeClr val="accent2"/>
                </a:solidFill>
              </a:rPr>
              <a:t>Traversals</a:t>
            </a:r>
          </a:p>
          <a:p>
            <a:r>
              <a:rPr lang="en-US" altLang="hi-IN"/>
              <a:t>Three Problems</a:t>
            </a:r>
          </a:p>
          <a:p>
            <a:pPr>
              <a:buFontTx/>
              <a:buNone/>
            </a:pPr>
            <a:endParaRPr lang="en-US" altLang="hi-IN"/>
          </a:p>
          <a:p>
            <a:endParaRPr lang="en-US" altLang="hi-I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05F7FD-6E1A-41C5-A1B3-5CF067476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51D9C-B6AB-428B-A110-91A75E744F65}" type="slidenum">
              <a:rPr lang="en-US" altLang="hi-IN" smtClean="0"/>
              <a:pPr/>
              <a:t>43</a:t>
            </a:fld>
            <a:endParaRPr lang="en-US" altLang="hi-IN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68C531CB-3F58-4353-BFBE-04571D7BC7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r>
              <a:rPr lang="en-US" altLang="hi-IN">
                <a:solidFill>
                  <a:schemeClr val="tx1"/>
                </a:solidFill>
              </a:rPr>
              <a:t>Traversing a Graph</a:t>
            </a:r>
          </a:p>
        </p:txBody>
      </p:sp>
      <p:sp>
        <p:nvSpPr>
          <p:cNvPr id="30723" name="Text Box 3">
            <a:extLst>
              <a:ext uri="{FF2B5EF4-FFF2-40B4-BE49-F238E27FC236}">
                <a16:creationId xmlns:a16="http://schemas.microsoft.com/office/drawing/2014/main" id="{A05E2066-2AA3-4C5B-B2E9-E77C527F99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447800"/>
            <a:ext cx="8610600" cy="500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hi-IN"/>
              <a:t>One of the most fundamental graph problems is to traverse every edge and vertex in a graph. Applications include: </a:t>
            </a:r>
          </a:p>
          <a:p>
            <a:pPr lvl="1" algn="l">
              <a:spcBef>
                <a:spcPct val="50000"/>
              </a:spcBef>
              <a:buFont typeface="Symbol" panose="05050102010706020507" pitchFamily="18" charset="2"/>
              <a:buChar char="·"/>
            </a:pPr>
            <a:r>
              <a:rPr lang="en-US" altLang="hi-IN"/>
              <a:t> Printing out the contents of each edge and vertex. </a:t>
            </a:r>
          </a:p>
          <a:p>
            <a:pPr lvl="1" algn="l">
              <a:spcBef>
                <a:spcPct val="50000"/>
              </a:spcBef>
              <a:buFont typeface="Symbol" panose="05050102010706020507" pitchFamily="18" charset="2"/>
              <a:buChar char="·"/>
            </a:pPr>
            <a:r>
              <a:rPr lang="en-US" altLang="hi-IN"/>
              <a:t> Counting the number of edges. </a:t>
            </a:r>
          </a:p>
          <a:p>
            <a:pPr lvl="1" algn="l">
              <a:spcBef>
                <a:spcPct val="50000"/>
              </a:spcBef>
              <a:buFont typeface="Symbol" panose="05050102010706020507" pitchFamily="18" charset="2"/>
              <a:buChar char="·"/>
            </a:pPr>
            <a:r>
              <a:rPr lang="en-US" altLang="hi-IN"/>
              <a:t> Identifying connected components of a graph. </a:t>
            </a:r>
          </a:p>
          <a:p>
            <a:pPr algn="l">
              <a:spcBef>
                <a:spcPct val="50000"/>
              </a:spcBef>
            </a:pPr>
            <a:r>
              <a:rPr lang="en-US" altLang="hi-IN"/>
              <a:t>For </a:t>
            </a:r>
            <a:r>
              <a:rPr lang="en-US" altLang="hi-IN" i="1"/>
              <a:t>correctness</a:t>
            </a:r>
            <a:r>
              <a:rPr lang="en-US" altLang="hi-IN"/>
              <a:t>, we must do the traversal in a systematic way so that we don't miss anything. </a:t>
            </a:r>
          </a:p>
          <a:p>
            <a:pPr algn="l">
              <a:spcBef>
                <a:spcPct val="50000"/>
              </a:spcBef>
            </a:pPr>
            <a:r>
              <a:rPr lang="en-US" altLang="hi-IN"/>
              <a:t>For </a:t>
            </a:r>
            <a:r>
              <a:rPr lang="en-US" altLang="hi-IN" i="1"/>
              <a:t>efficiency</a:t>
            </a:r>
            <a:r>
              <a:rPr lang="en-US" altLang="hi-IN"/>
              <a:t>, we must make sure we visit each edge at most twice.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741ADD-630E-4E9B-8D70-CC04DAFB8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44</a:t>
            </a:fld>
            <a:endParaRPr lang="en-US" altLang="hi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0F6A2B1B-13F9-4D71-B0CF-859F349B07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r>
              <a:rPr lang="en-US" altLang="hi-IN">
                <a:solidFill>
                  <a:schemeClr val="tx1"/>
                </a:solidFill>
              </a:rPr>
              <a:t>Marking Vertices</a:t>
            </a:r>
          </a:p>
        </p:txBody>
      </p:sp>
      <p:sp>
        <p:nvSpPr>
          <p:cNvPr id="32771" name="Text Box 3">
            <a:extLst>
              <a:ext uri="{FF2B5EF4-FFF2-40B4-BE49-F238E27FC236}">
                <a16:creationId xmlns:a16="http://schemas.microsoft.com/office/drawing/2014/main" id="{D530B1AE-D0D7-412C-9C59-ED8FECE8CA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295400"/>
            <a:ext cx="8534400" cy="500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hi-IN" i="1"/>
              <a:t>The idea in graph traversal is that we mark each vertex when we first visit it, and keep track of what is not yet completely explored. </a:t>
            </a:r>
            <a:endParaRPr lang="en-US" altLang="hi-IN"/>
          </a:p>
          <a:p>
            <a:pPr algn="l">
              <a:spcBef>
                <a:spcPct val="50000"/>
              </a:spcBef>
            </a:pPr>
            <a:r>
              <a:rPr lang="en-US" altLang="hi-IN"/>
              <a:t>For each vertex, we maintain two flags: </a:t>
            </a:r>
          </a:p>
          <a:p>
            <a:pPr lvl="1" algn="l">
              <a:spcBef>
                <a:spcPct val="50000"/>
              </a:spcBef>
              <a:buFont typeface="Symbol" panose="05050102010706020507" pitchFamily="18" charset="2"/>
              <a:buChar char="·"/>
            </a:pPr>
            <a:r>
              <a:rPr lang="en-US" altLang="hi-IN" i="1"/>
              <a:t> </a:t>
            </a:r>
            <a:r>
              <a:rPr lang="en-US" altLang="hi-IN" b="1" i="1">
                <a:solidFill>
                  <a:schemeClr val="accent2"/>
                </a:solidFill>
              </a:rPr>
              <a:t>discovered</a:t>
            </a:r>
            <a:r>
              <a:rPr lang="en-US" altLang="hi-IN"/>
              <a:t> - have we encountered this vertex before? </a:t>
            </a:r>
          </a:p>
          <a:p>
            <a:pPr lvl="1" algn="l">
              <a:spcBef>
                <a:spcPct val="50000"/>
              </a:spcBef>
              <a:buFont typeface="Symbol" panose="05050102010706020507" pitchFamily="18" charset="2"/>
              <a:buChar char="·"/>
            </a:pPr>
            <a:r>
              <a:rPr lang="en-US" altLang="hi-IN" i="1"/>
              <a:t> </a:t>
            </a:r>
            <a:r>
              <a:rPr lang="en-US" altLang="hi-IN" b="1" i="1">
                <a:solidFill>
                  <a:schemeClr val="accent2"/>
                </a:solidFill>
              </a:rPr>
              <a:t>explored</a:t>
            </a:r>
            <a:r>
              <a:rPr lang="en-US" altLang="hi-IN"/>
              <a:t> - have we finished exploring this vertex? </a:t>
            </a:r>
          </a:p>
          <a:p>
            <a:pPr algn="l">
              <a:spcBef>
                <a:spcPct val="50000"/>
              </a:spcBef>
            </a:pPr>
            <a:r>
              <a:rPr lang="en-US" altLang="hi-IN"/>
              <a:t>We must maintain a structure containing all the vertices we have discovered but not yet completely explored. </a:t>
            </a:r>
          </a:p>
          <a:p>
            <a:pPr algn="l">
              <a:spcBef>
                <a:spcPct val="50000"/>
              </a:spcBef>
            </a:pPr>
            <a:r>
              <a:rPr lang="en-US" altLang="hi-IN"/>
              <a:t>Initially, only a single start vertex is set to be discovered. </a:t>
            </a:r>
            <a:endParaRPr lang="en-US" altLang="hi-IN" sz="240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9A7DCA-7B37-45D0-96CE-9ACEC01FE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45</a:t>
            </a:fld>
            <a:endParaRPr lang="en-US" altLang="hi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3382EC48-7877-4905-8EAD-2FF3D22FF2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i-IN">
                <a:solidFill>
                  <a:schemeClr val="tx1"/>
                </a:solidFill>
              </a:rPr>
              <a:t>Correctness of Graph Traversal</a:t>
            </a:r>
          </a:p>
        </p:txBody>
      </p:sp>
      <p:sp>
        <p:nvSpPr>
          <p:cNvPr id="32771" name="Text Box 3">
            <a:extLst>
              <a:ext uri="{FF2B5EF4-FFF2-40B4-BE49-F238E27FC236}">
                <a16:creationId xmlns:a16="http://schemas.microsoft.com/office/drawing/2014/main" id="{5D9AF291-CC29-4411-91D9-3409FAEF65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209800"/>
            <a:ext cx="8458200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lang="en-US" altLang="hi-IN"/>
              <a:t>Every edge and vertex in the connected component is eventually visited. 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endParaRPr lang="en-US" altLang="hi-IN"/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lang="en-US" altLang="hi-IN"/>
              <a:t>Suppose not, i.e. there exists a vertex which was unvisited whose neighbor </a:t>
            </a:r>
            <a:r>
              <a:rPr lang="en-US" altLang="hi-IN" i="1"/>
              <a:t>was</a:t>
            </a:r>
            <a:r>
              <a:rPr lang="en-US" altLang="hi-IN"/>
              <a:t> visited.  This neighbor will eventually be explored so we </a:t>
            </a:r>
            <a:r>
              <a:rPr lang="en-US" altLang="hi-IN" i="1"/>
              <a:t>would</a:t>
            </a:r>
            <a:r>
              <a:rPr lang="en-US" altLang="hi-IN"/>
              <a:t> visit it….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B95A692-D46C-414A-89D6-E92525FCA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46</a:t>
            </a:fld>
            <a:endParaRPr lang="en-US" altLang="hi-IN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EF9B533E-3259-452F-AE73-1262694B28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r>
              <a:rPr lang="en-US" altLang="hi-IN">
                <a:solidFill>
                  <a:schemeClr val="tx1"/>
                </a:solidFill>
              </a:rPr>
              <a:t>Traversal Orders</a:t>
            </a:r>
          </a:p>
        </p:txBody>
      </p:sp>
      <p:sp>
        <p:nvSpPr>
          <p:cNvPr id="35843" name="Text Box 3">
            <a:extLst>
              <a:ext uri="{FF2B5EF4-FFF2-40B4-BE49-F238E27FC236}">
                <a16:creationId xmlns:a16="http://schemas.microsoft.com/office/drawing/2014/main" id="{1DC3DF78-A98A-4523-A194-E2B2EF737F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447800"/>
            <a:ext cx="8610600" cy="436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lang="en-US" altLang="hi-IN" sz="2400"/>
              <a:t>The order we explore the vertices depends upon the data structure used to hold the discovered vertices yet to be fully explored: </a:t>
            </a:r>
          </a:p>
          <a:p>
            <a:pPr lvl="1" algn="l">
              <a:spcBef>
                <a:spcPts val="500"/>
              </a:spcBef>
              <a:spcAft>
                <a:spcPts val="500"/>
              </a:spcAft>
              <a:buFont typeface="Symbol" panose="05050102010706020507" pitchFamily="18" charset="2"/>
              <a:buChar char="·"/>
            </a:pPr>
            <a:r>
              <a:rPr lang="en-US" altLang="hi-IN" sz="2400" b="1" i="1"/>
              <a:t> Queue</a:t>
            </a:r>
            <a:r>
              <a:rPr lang="en-US" altLang="hi-IN" sz="2400"/>
              <a:t> - by storing the vertices in a first-in, first out (FIFO) queue, we explore the oldest unexplored vertices first. Thus we radiate out slowly from the starting vertex, defining a so-called </a:t>
            </a:r>
            <a:r>
              <a:rPr lang="en-US" altLang="hi-IN" sz="2400" i="1">
                <a:solidFill>
                  <a:schemeClr val="accent2"/>
                </a:solidFill>
              </a:rPr>
              <a:t>breadth-first search</a:t>
            </a:r>
            <a:r>
              <a:rPr lang="en-US" altLang="hi-IN" sz="2400"/>
              <a:t>. </a:t>
            </a:r>
          </a:p>
          <a:p>
            <a:pPr lvl="1" algn="l">
              <a:spcBef>
                <a:spcPts val="500"/>
              </a:spcBef>
              <a:spcAft>
                <a:spcPts val="500"/>
              </a:spcAft>
              <a:buFont typeface="Symbol" panose="05050102010706020507" pitchFamily="18" charset="2"/>
              <a:buChar char="·"/>
            </a:pPr>
            <a:r>
              <a:rPr lang="en-US" altLang="hi-IN" sz="2400" b="1" i="1"/>
              <a:t> Stack</a:t>
            </a:r>
            <a:r>
              <a:rPr lang="en-US" altLang="hi-IN" sz="2400"/>
              <a:t> - by storing the vertices in a last-in, first-out (LIFO) stack, we explore the vertices by constantly visiting a new neighbor if one is available; we back up only when surrounded by previously discovered vertices.  This defines a so-called </a:t>
            </a:r>
            <a:r>
              <a:rPr lang="en-US" altLang="hi-IN" sz="2400" i="1">
                <a:solidFill>
                  <a:schemeClr val="accent2"/>
                </a:solidFill>
              </a:rPr>
              <a:t>depth-first search</a:t>
            </a:r>
            <a:r>
              <a:rPr lang="en-US" altLang="hi-IN" sz="2400"/>
              <a:t>.</a:t>
            </a:r>
            <a:endParaRPr lang="en-US" altLang="hi-I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4BAD4B-FE79-467F-BE0F-28500F559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47</a:t>
            </a:fld>
            <a:endParaRPr lang="en-US" altLang="hi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Rectangle 3">
            <a:extLst>
              <a:ext uri="{FF2B5EF4-FFF2-40B4-BE49-F238E27FC236}">
                <a16:creationId xmlns:a16="http://schemas.microsoft.com/office/drawing/2014/main" id="{57929230-5CA3-4115-8069-4CFB1A57D9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152400"/>
            <a:ext cx="6019800" cy="6248400"/>
          </a:xfrm>
          <a:solidFill>
            <a:srgbClr val="CCECFF"/>
          </a:solidFill>
          <a:ln>
            <a:solidFill>
              <a:schemeClr val="tx1"/>
            </a:solidFill>
          </a:ln>
          <a:effectLst>
            <a:outerShdw dist="107763" dir="2700000" algn="ctr" rotWithShape="0">
              <a:schemeClr val="bg2"/>
            </a:outerShdw>
          </a:effectLst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1800" b="1" u="sng"/>
              <a:t>BFS(G,s)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1800" b="1"/>
              <a:t>1.	for</a:t>
            </a:r>
            <a:r>
              <a:rPr lang="en-US" sz="1800"/>
              <a:t> each vertex u in V[G] –  {s}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1800"/>
              <a:t>2		</a:t>
            </a:r>
            <a:r>
              <a:rPr lang="en-US" sz="1800" b="1"/>
              <a:t>do</a:t>
            </a:r>
            <a:r>
              <a:rPr lang="en-US" sz="1800"/>
              <a:t> </a:t>
            </a:r>
            <a:r>
              <a:rPr lang="en-US" sz="1800" i="1"/>
              <a:t>color</a:t>
            </a:r>
            <a:r>
              <a:rPr lang="en-US" sz="1800"/>
              <a:t>[</a:t>
            </a:r>
            <a:r>
              <a:rPr lang="en-US" sz="1800" i="1"/>
              <a:t>u</a:t>
            </a:r>
            <a:r>
              <a:rPr lang="en-US" sz="1800"/>
              <a:t>] </a:t>
            </a:r>
            <a:r>
              <a:rPr lang="en-US" sz="1800">
                <a:sym typeface="Symbol" pitchFamily="18" charset="2"/>
              </a:rPr>
              <a:t></a:t>
            </a:r>
            <a:r>
              <a:rPr lang="en-US" sz="1800"/>
              <a:t> white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1800"/>
              <a:t>3		     </a:t>
            </a:r>
            <a:r>
              <a:rPr lang="en-US" sz="1800" i="1"/>
              <a:t>d</a:t>
            </a:r>
            <a:r>
              <a:rPr lang="en-US" sz="1800"/>
              <a:t>[</a:t>
            </a:r>
            <a:r>
              <a:rPr lang="en-US" sz="1800" i="1"/>
              <a:t>u</a:t>
            </a:r>
            <a:r>
              <a:rPr lang="en-US" sz="1800"/>
              <a:t>] </a:t>
            </a:r>
            <a:r>
              <a:rPr lang="en-US" sz="1800">
                <a:sym typeface="Symbol" pitchFamily="18" charset="2"/>
              </a:rPr>
              <a:t></a:t>
            </a:r>
            <a:r>
              <a:rPr lang="en-US" sz="1800"/>
              <a:t> </a:t>
            </a:r>
            <a:r>
              <a:rPr lang="en-US" sz="1800">
                <a:sym typeface="Symbol" pitchFamily="18" charset="2"/>
              </a:rPr>
              <a:t></a:t>
            </a:r>
            <a:endParaRPr lang="en-US" sz="1800"/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1800"/>
              <a:t>4		     </a:t>
            </a:r>
            <a:r>
              <a:rPr lang="en-US" sz="1800">
                <a:sym typeface="Symbol" pitchFamily="18" charset="2"/>
              </a:rPr>
              <a:t>[</a:t>
            </a:r>
            <a:r>
              <a:rPr lang="en-US" sz="1800" i="1">
                <a:sym typeface="Symbol" pitchFamily="18" charset="2"/>
              </a:rPr>
              <a:t>u</a:t>
            </a:r>
            <a:r>
              <a:rPr lang="en-US" sz="1800">
                <a:sym typeface="Symbol" pitchFamily="18" charset="2"/>
              </a:rPr>
              <a:t>]  nil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1800">
                <a:sym typeface="Symbol" pitchFamily="18" charset="2"/>
              </a:rPr>
              <a:t>5	color[</a:t>
            </a:r>
            <a:r>
              <a:rPr lang="en-US" sz="1800" i="1">
                <a:sym typeface="Symbol" pitchFamily="18" charset="2"/>
              </a:rPr>
              <a:t>s</a:t>
            </a:r>
            <a:r>
              <a:rPr lang="en-US" sz="1800">
                <a:sym typeface="Symbol" pitchFamily="18" charset="2"/>
              </a:rPr>
              <a:t>]  gray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1800">
                <a:sym typeface="Symbol" pitchFamily="18" charset="2"/>
              </a:rPr>
              <a:t>6	d[</a:t>
            </a:r>
            <a:r>
              <a:rPr lang="en-US" sz="1800" i="1">
                <a:sym typeface="Symbol" pitchFamily="18" charset="2"/>
              </a:rPr>
              <a:t>s</a:t>
            </a:r>
            <a:r>
              <a:rPr lang="en-US" sz="1800">
                <a:sym typeface="Symbol" pitchFamily="18" charset="2"/>
              </a:rPr>
              <a:t>]  0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1800">
                <a:sym typeface="Symbol" pitchFamily="18" charset="2"/>
              </a:rPr>
              <a:t>7	 [</a:t>
            </a:r>
            <a:r>
              <a:rPr lang="en-US" sz="1800" i="1">
                <a:sym typeface="Symbol" pitchFamily="18" charset="2"/>
              </a:rPr>
              <a:t>s</a:t>
            </a:r>
            <a:r>
              <a:rPr lang="en-US" sz="1800">
                <a:sym typeface="Symbol" pitchFamily="18" charset="2"/>
              </a:rPr>
              <a:t>]  nil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1800">
                <a:sym typeface="Symbol" pitchFamily="18" charset="2"/>
              </a:rPr>
              <a:t>8	</a:t>
            </a:r>
            <a:r>
              <a:rPr lang="en-US" sz="1800" i="1">
                <a:sym typeface="Symbol" pitchFamily="18" charset="2"/>
              </a:rPr>
              <a:t>Q</a:t>
            </a:r>
            <a:r>
              <a:rPr lang="en-US" sz="1800">
                <a:sym typeface="Symbol" pitchFamily="18" charset="2"/>
              </a:rPr>
              <a:t>  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1800">
                <a:sym typeface="Symbol" pitchFamily="18" charset="2"/>
              </a:rPr>
              <a:t>9	enqueue(</a:t>
            </a:r>
            <a:r>
              <a:rPr lang="en-US" sz="1800" i="1">
                <a:sym typeface="Symbol" pitchFamily="18" charset="2"/>
              </a:rPr>
              <a:t>Q</a:t>
            </a:r>
            <a:r>
              <a:rPr lang="en-US" sz="1800">
                <a:sym typeface="Symbol" pitchFamily="18" charset="2"/>
              </a:rPr>
              <a:t>,s)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1800">
                <a:sym typeface="Symbol" pitchFamily="18" charset="2"/>
              </a:rPr>
              <a:t>10	</a:t>
            </a:r>
            <a:r>
              <a:rPr lang="en-US" sz="1800" b="1">
                <a:sym typeface="Symbol" pitchFamily="18" charset="2"/>
              </a:rPr>
              <a:t>while</a:t>
            </a:r>
            <a:r>
              <a:rPr lang="en-US" sz="1800">
                <a:sym typeface="Symbol" pitchFamily="18" charset="2"/>
              </a:rPr>
              <a:t> Q  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1800">
                <a:sym typeface="Symbol" pitchFamily="18" charset="2"/>
              </a:rPr>
              <a:t>11		</a:t>
            </a:r>
            <a:r>
              <a:rPr lang="en-US" sz="1800" b="1">
                <a:sym typeface="Symbol" pitchFamily="18" charset="2"/>
              </a:rPr>
              <a:t>do</a:t>
            </a:r>
            <a:r>
              <a:rPr lang="en-US" sz="1800">
                <a:sym typeface="Symbol" pitchFamily="18" charset="2"/>
              </a:rPr>
              <a:t> u  dequeue(Q)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1800">
                <a:sym typeface="Symbol" pitchFamily="18" charset="2"/>
              </a:rPr>
              <a:t>12			</a:t>
            </a:r>
            <a:r>
              <a:rPr lang="en-US" sz="1800" b="1">
                <a:sym typeface="Symbol" pitchFamily="18" charset="2"/>
              </a:rPr>
              <a:t>for</a:t>
            </a:r>
            <a:r>
              <a:rPr lang="en-US" sz="1800">
                <a:sym typeface="Symbol" pitchFamily="18" charset="2"/>
              </a:rPr>
              <a:t> each </a:t>
            </a:r>
            <a:r>
              <a:rPr lang="en-US" sz="1800" i="1">
                <a:sym typeface="Symbol" pitchFamily="18" charset="2"/>
              </a:rPr>
              <a:t>v</a:t>
            </a:r>
            <a:r>
              <a:rPr lang="en-US" sz="1800">
                <a:sym typeface="Symbol" pitchFamily="18" charset="2"/>
              </a:rPr>
              <a:t> in Adj[</a:t>
            </a:r>
            <a:r>
              <a:rPr lang="en-US" sz="1800" i="1">
                <a:sym typeface="Symbol" pitchFamily="18" charset="2"/>
              </a:rPr>
              <a:t>u</a:t>
            </a:r>
            <a:r>
              <a:rPr lang="en-US" sz="1800">
                <a:sym typeface="Symbol" pitchFamily="18" charset="2"/>
              </a:rPr>
              <a:t>]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1800">
                <a:sym typeface="Symbol" pitchFamily="18" charset="2"/>
              </a:rPr>
              <a:t>13				</a:t>
            </a:r>
            <a:r>
              <a:rPr lang="en-US" sz="1800" b="1">
                <a:sym typeface="Symbol" pitchFamily="18" charset="2"/>
              </a:rPr>
              <a:t>do</a:t>
            </a:r>
            <a:r>
              <a:rPr lang="en-US" sz="1800">
                <a:sym typeface="Symbol" pitchFamily="18" charset="2"/>
              </a:rPr>
              <a:t> </a:t>
            </a:r>
            <a:r>
              <a:rPr lang="en-US" sz="1800" b="1">
                <a:sym typeface="Symbol" pitchFamily="18" charset="2"/>
              </a:rPr>
              <a:t>if</a:t>
            </a:r>
            <a:r>
              <a:rPr lang="en-US" sz="1800">
                <a:sym typeface="Symbol" pitchFamily="18" charset="2"/>
              </a:rPr>
              <a:t> color[</a:t>
            </a:r>
            <a:r>
              <a:rPr lang="en-US" sz="1800" i="1">
                <a:sym typeface="Symbol" pitchFamily="18" charset="2"/>
              </a:rPr>
              <a:t>v</a:t>
            </a:r>
            <a:r>
              <a:rPr lang="en-US" sz="1800">
                <a:sym typeface="Symbol" pitchFamily="18" charset="2"/>
              </a:rPr>
              <a:t>] = white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1800">
                <a:sym typeface="Symbol" pitchFamily="18" charset="2"/>
              </a:rPr>
              <a:t>14					</a:t>
            </a:r>
            <a:r>
              <a:rPr lang="en-US" sz="1800" b="1">
                <a:sym typeface="Symbol" pitchFamily="18" charset="2"/>
              </a:rPr>
              <a:t>then</a:t>
            </a:r>
            <a:r>
              <a:rPr lang="en-US" sz="1800">
                <a:sym typeface="Symbol" pitchFamily="18" charset="2"/>
              </a:rPr>
              <a:t> color[</a:t>
            </a:r>
            <a:r>
              <a:rPr lang="en-US" sz="1800" i="1">
                <a:sym typeface="Symbol" pitchFamily="18" charset="2"/>
              </a:rPr>
              <a:t>v</a:t>
            </a:r>
            <a:r>
              <a:rPr lang="en-US" sz="1800">
                <a:sym typeface="Symbol" pitchFamily="18" charset="2"/>
              </a:rPr>
              <a:t>]  gray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1800">
                <a:sym typeface="Symbol" pitchFamily="18" charset="2"/>
              </a:rPr>
              <a:t>15					         </a:t>
            </a:r>
            <a:r>
              <a:rPr lang="en-US" sz="1800" i="1">
                <a:sym typeface="Symbol" pitchFamily="18" charset="2"/>
              </a:rPr>
              <a:t>d</a:t>
            </a:r>
            <a:r>
              <a:rPr lang="en-US" sz="1800">
                <a:sym typeface="Symbol" pitchFamily="18" charset="2"/>
              </a:rPr>
              <a:t>[</a:t>
            </a:r>
            <a:r>
              <a:rPr lang="en-US" sz="1800" i="1">
                <a:sym typeface="Symbol" pitchFamily="18" charset="2"/>
              </a:rPr>
              <a:t>v</a:t>
            </a:r>
            <a:r>
              <a:rPr lang="en-US" sz="1800">
                <a:sym typeface="Symbol" pitchFamily="18" charset="2"/>
              </a:rPr>
              <a:t>]  </a:t>
            </a:r>
            <a:r>
              <a:rPr lang="en-US" sz="1800" i="1">
                <a:sym typeface="Symbol" pitchFamily="18" charset="2"/>
              </a:rPr>
              <a:t>d</a:t>
            </a:r>
            <a:r>
              <a:rPr lang="en-US" sz="1800">
                <a:sym typeface="Symbol" pitchFamily="18" charset="2"/>
              </a:rPr>
              <a:t>[</a:t>
            </a:r>
            <a:r>
              <a:rPr lang="en-US" sz="1800" i="1">
                <a:sym typeface="Symbol" pitchFamily="18" charset="2"/>
              </a:rPr>
              <a:t>u</a:t>
            </a:r>
            <a:r>
              <a:rPr lang="en-US" sz="1800">
                <a:sym typeface="Symbol" pitchFamily="18" charset="2"/>
              </a:rPr>
              <a:t>] + 1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1800">
                <a:sym typeface="Symbol" pitchFamily="18" charset="2"/>
              </a:rPr>
              <a:t>16					         [</a:t>
            </a:r>
            <a:r>
              <a:rPr lang="en-US" sz="1800" i="1">
                <a:sym typeface="Symbol" pitchFamily="18" charset="2"/>
              </a:rPr>
              <a:t>v</a:t>
            </a:r>
            <a:r>
              <a:rPr lang="en-US" sz="1800">
                <a:sym typeface="Symbol" pitchFamily="18" charset="2"/>
              </a:rPr>
              <a:t>]  </a:t>
            </a:r>
            <a:r>
              <a:rPr lang="en-US" sz="1800" i="1">
                <a:sym typeface="Symbol" pitchFamily="18" charset="2"/>
              </a:rPr>
              <a:t>u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1800">
                <a:sym typeface="Symbol" pitchFamily="18" charset="2"/>
              </a:rPr>
              <a:t>17					         enqueue(</a:t>
            </a:r>
            <a:r>
              <a:rPr lang="en-US" sz="1800" i="1">
                <a:sym typeface="Symbol" pitchFamily="18" charset="2"/>
              </a:rPr>
              <a:t>Q</a:t>
            </a:r>
            <a:r>
              <a:rPr lang="en-US" sz="1800">
                <a:sym typeface="Symbol" pitchFamily="18" charset="2"/>
              </a:rPr>
              <a:t>,</a:t>
            </a:r>
            <a:r>
              <a:rPr lang="en-US" sz="1800" i="1">
                <a:sym typeface="Symbol" pitchFamily="18" charset="2"/>
              </a:rPr>
              <a:t>v</a:t>
            </a:r>
            <a:r>
              <a:rPr lang="en-US" sz="1800">
                <a:sym typeface="Symbol" pitchFamily="18" charset="2"/>
              </a:rPr>
              <a:t>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1800">
                <a:sym typeface="Symbol" pitchFamily="18" charset="2"/>
              </a:rPr>
              <a:t>18			color[</a:t>
            </a:r>
            <a:r>
              <a:rPr lang="en-US" sz="1800" i="1">
                <a:sym typeface="Symbol" pitchFamily="18" charset="2"/>
              </a:rPr>
              <a:t>u</a:t>
            </a:r>
            <a:r>
              <a:rPr lang="en-US" sz="1800">
                <a:sym typeface="Symbol" pitchFamily="18" charset="2"/>
              </a:rPr>
              <a:t>]  black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endParaRPr lang="en-US" sz="2800"/>
          </a:p>
        </p:txBody>
      </p:sp>
      <p:sp>
        <p:nvSpPr>
          <p:cNvPr id="59396" name="Text Box 4">
            <a:extLst>
              <a:ext uri="{FF2B5EF4-FFF2-40B4-BE49-F238E27FC236}">
                <a16:creationId xmlns:a16="http://schemas.microsoft.com/office/drawing/2014/main" id="{ACF1ECD9-43BE-4453-A737-2507F6F716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1371600"/>
            <a:ext cx="1858963" cy="854075"/>
          </a:xfrm>
          <a:prstGeom prst="rect">
            <a:avLst/>
          </a:prstGeom>
          <a:noFill/>
          <a:ln w="28575" cap="sq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kumimoji="1" lang="en-US" altLang="hi-IN" sz="1600"/>
              <a:t>white: undiscovered</a:t>
            </a:r>
          </a:p>
          <a:p>
            <a:r>
              <a:rPr kumimoji="1" lang="en-US" altLang="hi-IN" sz="1600"/>
              <a:t>gray: discovered</a:t>
            </a:r>
          </a:p>
          <a:p>
            <a:r>
              <a:rPr kumimoji="1" lang="en-US" altLang="hi-IN" sz="1600"/>
              <a:t>black: finished</a:t>
            </a:r>
            <a:endParaRPr kumimoji="1" lang="en-US" altLang="hi-IN"/>
          </a:p>
        </p:txBody>
      </p:sp>
      <p:sp>
        <p:nvSpPr>
          <p:cNvPr id="59397" name="Text Box 5">
            <a:extLst>
              <a:ext uri="{FF2B5EF4-FFF2-40B4-BE49-F238E27FC236}">
                <a16:creationId xmlns:a16="http://schemas.microsoft.com/office/drawing/2014/main" id="{6BBC4F80-F258-495D-96EE-3565B48717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2606675"/>
            <a:ext cx="2590800" cy="1343025"/>
          </a:xfrm>
          <a:prstGeom prst="rect">
            <a:avLst/>
          </a:prstGeom>
          <a:noFill/>
          <a:ln w="28575" cap="sq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kumimoji="1" lang="en-US" altLang="hi-IN" sz="1600" i="1"/>
              <a:t>Q</a:t>
            </a:r>
            <a:r>
              <a:rPr kumimoji="1" lang="en-US" altLang="hi-IN" sz="1600"/>
              <a:t>: a queue of discovered vertices</a:t>
            </a:r>
          </a:p>
          <a:p>
            <a:r>
              <a:rPr kumimoji="1" lang="en-US" altLang="hi-IN" sz="1600"/>
              <a:t>color[</a:t>
            </a:r>
            <a:r>
              <a:rPr kumimoji="1" lang="en-US" altLang="hi-IN" sz="1600" i="1"/>
              <a:t>v</a:t>
            </a:r>
            <a:r>
              <a:rPr kumimoji="1" lang="en-US" altLang="hi-IN" sz="1600"/>
              <a:t>]: color of v</a:t>
            </a:r>
          </a:p>
          <a:p>
            <a:r>
              <a:rPr kumimoji="1" lang="en-US" altLang="hi-IN" sz="1600"/>
              <a:t>d[</a:t>
            </a:r>
            <a:r>
              <a:rPr kumimoji="1" lang="en-US" altLang="hi-IN" sz="1600" i="1"/>
              <a:t>v</a:t>
            </a:r>
            <a:r>
              <a:rPr kumimoji="1" lang="en-US" altLang="hi-IN" sz="1600"/>
              <a:t>]: distance from s to v</a:t>
            </a:r>
          </a:p>
          <a:p>
            <a:r>
              <a:rPr kumimoji="1" lang="en-US" altLang="hi-IN" sz="1600">
                <a:sym typeface="Symbol" panose="05050102010706020507" pitchFamily="18" charset="2"/>
              </a:rPr>
              <a:t>[</a:t>
            </a:r>
            <a:r>
              <a:rPr kumimoji="1" lang="en-US" altLang="hi-IN" sz="1600" i="1">
                <a:sym typeface="Symbol" panose="05050102010706020507" pitchFamily="18" charset="2"/>
              </a:rPr>
              <a:t>u</a:t>
            </a:r>
            <a:r>
              <a:rPr kumimoji="1" lang="en-US" altLang="hi-IN" sz="1600">
                <a:sym typeface="Symbol" panose="05050102010706020507" pitchFamily="18" charset="2"/>
              </a:rPr>
              <a:t>]: predecessor of v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6922F68-B03F-42C6-B83A-BFA9D3431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51D9C-B6AB-428B-A110-91A75E744F65}" type="slidenum">
              <a:rPr lang="en-US" altLang="hi-IN" smtClean="0"/>
              <a:pPr/>
              <a:t>48</a:t>
            </a:fld>
            <a:endParaRPr lang="en-US" altLang="hi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9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9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6" grpId="0" animBg="1" autoUpdateAnimBg="0"/>
      <p:bldP spid="59397" grpId="0" animBg="1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2EFF7C49-563D-490F-86BE-6762E2A762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i-IN"/>
              <a:t>Example (BFS)</a:t>
            </a:r>
          </a:p>
        </p:txBody>
      </p:sp>
      <p:sp>
        <p:nvSpPr>
          <p:cNvPr id="35843" name="Oval 3">
            <a:extLst>
              <a:ext uri="{FF2B5EF4-FFF2-40B4-BE49-F238E27FC236}">
                <a16:creationId xmlns:a16="http://schemas.microsoft.com/office/drawing/2014/main" id="{6D853970-EA3B-4E8A-8546-8E717E71E2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6425" y="2497138"/>
            <a:ext cx="590550" cy="576262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35844" name="Text Box 4">
            <a:extLst>
              <a:ext uri="{FF2B5EF4-FFF2-40B4-BE49-F238E27FC236}">
                <a16:creationId xmlns:a16="http://schemas.microsoft.com/office/drawing/2014/main" id="{C8C4F2ED-912A-4BBE-9B11-63812F30A3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1675" y="2525713"/>
            <a:ext cx="401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</a:t>
            </a:r>
            <a:endParaRPr lang="en-US" altLang="hi-IN" b="1"/>
          </a:p>
        </p:txBody>
      </p:sp>
      <p:sp>
        <p:nvSpPr>
          <p:cNvPr id="35845" name="Oval 5">
            <a:extLst>
              <a:ext uri="{FF2B5EF4-FFF2-40B4-BE49-F238E27FC236}">
                <a16:creationId xmlns:a16="http://schemas.microsoft.com/office/drawing/2014/main" id="{CF442D4E-5E84-4AB2-B84F-47319728C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7563" y="2490788"/>
            <a:ext cx="590550" cy="576262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35846" name="Text Box 6">
            <a:extLst>
              <a:ext uri="{FF2B5EF4-FFF2-40B4-BE49-F238E27FC236}">
                <a16:creationId xmlns:a16="http://schemas.microsoft.com/office/drawing/2014/main" id="{F4809FA3-68A4-4F4C-83F1-303F378A5E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1388" y="25542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0</a:t>
            </a:r>
            <a:endParaRPr lang="en-US" altLang="hi-IN" b="1"/>
          </a:p>
        </p:txBody>
      </p:sp>
      <p:sp>
        <p:nvSpPr>
          <p:cNvPr id="35847" name="Line 7">
            <a:extLst>
              <a:ext uri="{FF2B5EF4-FFF2-40B4-BE49-F238E27FC236}">
                <a16:creationId xmlns:a16="http://schemas.microsoft.com/office/drawing/2014/main" id="{97C0933F-DF54-43B0-8F35-17EA89DB4FD0}"/>
              </a:ext>
            </a:extLst>
          </p:cNvPr>
          <p:cNvSpPr>
            <a:spLocks noChangeShapeType="1"/>
          </p:cNvSpPr>
          <p:nvPr/>
        </p:nvSpPr>
        <p:spPr bwMode="auto">
          <a:xfrm>
            <a:off x="2452688" y="2786063"/>
            <a:ext cx="923925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35848" name="Oval 8">
            <a:extLst>
              <a:ext uri="{FF2B5EF4-FFF2-40B4-BE49-F238E27FC236}">
                <a16:creationId xmlns:a16="http://schemas.microsoft.com/office/drawing/2014/main" id="{F97B6E22-F52C-4E4B-A270-7DAFE070F8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7563" y="3906838"/>
            <a:ext cx="590550" cy="576262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35849" name="Text Box 9">
            <a:extLst>
              <a:ext uri="{FF2B5EF4-FFF2-40B4-BE49-F238E27FC236}">
                <a16:creationId xmlns:a16="http://schemas.microsoft.com/office/drawing/2014/main" id="{702E9219-4428-4C54-8E64-469E64D66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2813" y="3935413"/>
            <a:ext cx="4016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</a:t>
            </a:r>
            <a:endParaRPr lang="en-US" altLang="hi-IN" b="1"/>
          </a:p>
        </p:txBody>
      </p:sp>
      <p:sp>
        <p:nvSpPr>
          <p:cNvPr id="35850" name="Oval 10">
            <a:extLst>
              <a:ext uri="{FF2B5EF4-FFF2-40B4-BE49-F238E27FC236}">
                <a16:creationId xmlns:a16="http://schemas.microsoft.com/office/drawing/2014/main" id="{44ADBF04-342F-4BFD-BFEE-04B02985D9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8700" y="3900488"/>
            <a:ext cx="590550" cy="576262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35851" name="Text Box 11">
            <a:extLst>
              <a:ext uri="{FF2B5EF4-FFF2-40B4-BE49-F238E27FC236}">
                <a16:creationId xmlns:a16="http://schemas.microsoft.com/office/drawing/2014/main" id="{979D465E-5C15-4F49-AEFD-FF55127D7A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3950" y="3929063"/>
            <a:ext cx="401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</a:t>
            </a:r>
            <a:endParaRPr lang="en-US" altLang="hi-IN" b="1"/>
          </a:p>
        </p:txBody>
      </p:sp>
      <p:sp>
        <p:nvSpPr>
          <p:cNvPr id="35852" name="Line 12">
            <a:extLst>
              <a:ext uri="{FF2B5EF4-FFF2-40B4-BE49-F238E27FC236}">
                <a16:creationId xmlns:a16="http://schemas.microsoft.com/office/drawing/2014/main" id="{A3FF7168-AF07-4441-94F5-7F7855C04D3C}"/>
              </a:ext>
            </a:extLst>
          </p:cNvPr>
          <p:cNvSpPr>
            <a:spLocks noChangeShapeType="1"/>
          </p:cNvSpPr>
          <p:nvPr/>
        </p:nvSpPr>
        <p:spPr bwMode="auto">
          <a:xfrm>
            <a:off x="3933825" y="4195763"/>
            <a:ext cx="923925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35853" name="Oval 13">
            <a:extLst>
              <a:ext uri="{FF2B5EF4-FFF2-40B4-BE49-F238E27FC236}">
                <a16:creationId xmlns:a16="http://schemas.microsoft.com/office/drawing/2014/main" id="{3558A5FC-B07A-47D5-92A6-4C420BEF0C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9838" y="3910013"/>
            <a:ext cx="590550" cy="576262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35854" name="Text Box 14">
            <a:extLst>
              <a:ext uri="{FF2B5EF4-FFF2-40B4-BE49-F238E27FC236}">
                <a16:creationId xmlns:a16="http://schemas.microsoft.com/office/drawing/2014/main" id="{9F50A49C-33F0-4010-ABEE-4604B3B90A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5088" y="3938588"/>
            <a:ext cx="4016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</a:t>
            </a:r>
            <a:endParaRPr lang="en-US" altLang="hi-IN" b="1"/>
          </a:p>
        </p:txBody>
      </p:sp>
      <p:sp>
        <p:nvSpPr>
          <p:cNvPr id="35855" name="Line 15">
            <a:extLst>
              <a:ext uri="{FF2B5EF4-FFF2-40B4-BE49-F238E27FC236}">
                <a16:creationId xmlns:a16="http://schemas.microsoft.com/office/drawing/2014/main" id="{6FBDDEAB-0A1E-48B6-8FF0-1FC1C666C113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4963" y="4205288"/>
            <a:ext cx="923925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35856" name="Oval 16">
            <a:extLst>
              <a:ext uri="{FF2B5EF4-FFF2-40B4-BE49-F238E27FC236}">
                <a16:creationId xmlns:a16="http://schemas.microsoft.com/office/drawing/2014/main" id="{EB36FC03-D70D-43C2-9FBD-602DF5A18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3938" y="2495550"/>
            <a:ext cx="590550" cy="576263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35857" name="Text Box 17">
            <a:extLst>
              <a:ext uri="{FF2B5EF4-FFF2-40B4-BE49-F238E27FC236}">
                <a16:creationId xmlns:a16="http://schemas.microsoft.com/office/drawing/2014/main" id="{AA64DC6F-D44C-4953-9F4E-74A5930C95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9188" y="2524125"/>
            <a:ext cx="4016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</a:t>
            </a:r>
            <a:endParaRPr lang="en-US" altLang="hi-IN" b="1"/>
          </a:p>
        </p:txBody>
      </p:sp>
      <p:sp>
        <p:nvSpPr>
          <p:cNvPr id="35858" name="Oval 18">
            <a:extLst>
              <a:ext uri="{FF2B5EF4-FFF2-40B4-BE49-F238E27FC236}">
                <a16:creationId xmlns:a16="http://schemas.microsoft.com/office/drawing/2014/main" id="{465D2A79-5E1A-4416-B0BB-9CD813B580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5075" y="2505075"/>
            <a:ext cx="590550" cy="576263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35859" name="Text Box 19">
            <a:extLst>
              <a:ext uri="{FF2B5EF4-FFF2-40B4-BE49-F238E27FC236}">
                <a16:creationId xmlns:a16="http://schemas.microsoft.com/office/drawing/2014/main" id="{D7CA3E7C-BB58-4D0E-8C79-C6EE3A8A42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0325" y="2533650"/>
            <a:ext cx="401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</a:t>
            </a:r>
            <a:endParaRPr lang="en-US" altLang="hi-IN" b="1"/>
          </a:p>
        </p:txBody>
      </p:sp>
      <p:sp>
        <p:nvSpPr>
          <p:cNvPr id="35860" name="Line 20">
            <a:extLst>
              <a:ext uri="{FF2B5EF4-FFF2-40B4-BE49-F238E27FC236}">
                <a16:creationId xmlns:a16="http://schemas.microsoft.com/office/drawing/2014/main" id="{BCEEA81A-DE14-4E30-B743-F9213618551B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2800350"/>
            <a:ext cx="923925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35861" name="Oval 21">
            <a:extLst>
              <a:ext uri="{FF2B5EF4-FFF2-40B4-BE49-F238E27FC236}">
                <a16:creationId xmlns:a16="http://schemas.microsoft.com/office/drawing/2014/main" id="{A80CADFA-F6A1-4312-8153-73295B4F64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7375" y="3906838"/>
            <a:ext cx="590550" cy="576262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35862" name="Text Box 22">
            <a:extLst>
              <a:ext uri="{FF2B5EF4-FFF2-40B4-BE49-F238E27FC236}">
                <a16:creationId xmlns:a16="http://schemas.microsoft.com/office/drawing/2014/main" id="{6B03AA58-5549-4465-9C70-88CB9CCF0C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2625" y="3935413"/>
            <a:ext cx="401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</a:t>
            </a:r>
            <a:endParaRPr lang="en-US" altLang="hi-IN" b="1"/>
          </a:p>
        </p:txBody>
      </p:sp>
      <p:sp>
        <p:nvSpPr>
          <p:cNvPr id="35863" name="Line 23">
            <a:extLst>
              <a:ext uri="{FF2B5EF4-FFF2-40B4-BE49-F238E27FC236}">
                <a16:creationId xmlns:a16="http://schemas.microsoft.com/office/drawing/2014/main" id="{288A5528-2F4A-4BE0-BFA5-5FA33CB75C59}"/>
              </a:ext>
            </a:extLst>
          </p:cNvPr>
          <p:cNvSpPr>
            <a:spLocks noChangeShapeType="1"/>
          </p:cNvSpPr>
          <p:nvPr/>
        </p:nvSpPr>
        <p:spPr bwMode="auto">
          <a:xfrm>
            <a:off x="2163763" y="3059113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35864" name="Line 24">
            <a:extLst>
              <a:ext uri="{FF2B5EF4-FFF2-40B4-BE49-F238E27FC236}">
                <a16:creationId xmlns:a16="http://schemas.microsoft.com/office/drawing/2014/main" id="{69C37C11-185E-41E0-A854-CA523D9C4DC6}"/>
              </a:ext>
            </a:extLst>
          </p:cNvPr>
          <p:cNvSpPr>
            <a:spLocks noChangeShapeType="1"/>
          </p:cNvSpPr>
          <p:nvPr/>
        </p:nvSpPr>
        <p:spPr bwMode="auto">
          <a:xfrm>
            <a:off x="3644900" y="3068638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35865" name="Line 25">
            <a:extLst>
              <a:ext uri="{FF2B5EF4-FFF2-40B4-BE49-F238E27FC236}">
                <a16:creationId xmlns:a16="http://schemas.microsoft.com/office/drawing/2014/main" id="{F3F05BDC-B01D-42EC-BD59-A02754A56A0F}"/>
              </a:ext>
            </a:extLst>
          </p:cNvPr>
          <p:cNvSpPr>
            <a:spLocks noChangeShapeType="1"/>
          </p:cNvSpPr>
          <p:nvPr/>
        </p:nvSpPr>
        <p:spPr bwMode="auto">
          <a:xfrm>
            <a:off x="5126038" y="3078163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35866" name="Line 26">
            <a:extLst>
              <a:ext uri="{FF2B5EF4-FFF2-40B4-BE49-F238E27FC236}">
                <a16:creationId xmlns:a16="http://schemas.microsoft.com/office/drawing/2014/main" id="{C3DD8D23-DBD8-4AE6-8FD0-F49C65E60561}"/>
              </a:ext>
            </a:extLst>
          </p:cNvPr>
          <p:cNvSpPr>
            <a:spLocks noChangeShapeType="1"/>
          </p:cNvSpPr>
          <p:nvPr/>
        </p:nvSpPr>
        <p:spPr bwMode="auto">
          <a:xfrm>
            <a:off x="6607175" y="3087688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35867" name="Line 27">
            <a:extLst>
              <a:ext uri="{FF2B5EF4-FFF2-40B4-BE49-F238E27FC236}">
                <a16:creationId xmlns:a16="http://schemas.microsoft.com/office/drawing/2014/main" id="{11A6ACA3-CD22-4587-BA45-B5EAC81EAB7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52863" y="2944813"/>
            <a:ext cx="1023937" cy="10287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35868" name="Text Box 28">
            <a:extLst>
              <a:ext uri="{FF2B5EF4-FFF2-40B4-BE49-F238E27FC236}">
                <a16:creationId xmlns:a16="http://schemas.microsoft.com/office/drawing/2014/main" id="{01ABEFCA-8973-4DBF-BB9D-F5D41A513B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2084388"/>
            <a:ext cx="285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r</a:t>
            </a:r>
          </a:p>
        </p:txBody>
      </p:sp>
      <p:sp>
        <p:nvSpPr>
          <p:cNvPr id="35869" name="Text Box 29">
            <a:extLst>
              <a:ext uri="{FF2B5EF4-FFF2-40B4-BE49-F238E27FC236}">
                <a16:creationId xmlns:a16="http://schemas.microsoft.com/office/drawing/2014/main" id="{FDCCCFE8-1862-44C9-BD0D-B3896E24C8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0" y="2093913"/>
            <a:ext cx="303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s</a:t>
            </a:r>
          </a:p>
        </p:txBody>
      </p:sp>
      <p:sp>
        <p:nvSpPr>
          <p:cNvPr id="35870" name="Text Box 30">
            <a:extLst>
              <a:ext uri="{FF2B5EF4-FFF2-40B4-BE49-F238E27FC236}">
                <a16:creationId xmlns:a16="http://schemas.microsoft.com/office/drawing/2014/main" id="{02F664D6-4475-40B5-B48A-DAA935DF3C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1100" y="2103438"/>
            <a:ext cx="268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t</a:t>
            </a:r>
          </a:p>
        </p:txBody>
      </p:sp>
      <p:sp>
        <p:nvSpPr>
          <p:cNvPr id="35871" name="Text Box 31">
            <a:extLst>
              <a:ext uri="{FF2B5EF4-FFF2-40B4-BE49-F238E27FC236}">
                <a16:creationId xmlns:a16="http://schemas.microsoft.com/office/drawing/2014/main" id="{78B51AEF-AFA6-42D5-A9A6-A4307A0B5D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7950" y="211296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u</a:t>
            </a:r>
          </a:p>
        </p:txBody>
      </p:sp>
      <p:sp>
        <p:nvSpPr>
          <p:cNvPr id="35872" name="Text Box 32">
            <a:extLst>
              <a:ext uri="{FF2B5EF4-FFF2-40B4-BE49-F238E27FC236}">
                <a16:creationId xmlns:a16="http://schemas.microsoft.com/office/drawing/2014/main" id="{D14F9BB6-C9AC-4B24-AD32-9B1E4D6536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9775" y="437991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v</a:t>
            </a:r>
          </a:p>
        </p:txBody>
      </p:sp>
      <p:sp>
        <p:nvSpPr>
          <p:cNvPr id="35873" name="Text Box 33">
            <a:extLst>
              <a:ext uri="{FF2B5EF4-FFF2-40B4-BE49-F238E27FC236}">
                <a16:creationId xmlns:a16="http://schemas.microsoft.com/office/drawing/2014/main" id="{0D3AEC4F-9919-4B28-8A64-A3BE52F746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0913" y="4389438"/>
            <a:ext cx="404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w</a:t>
            </a:r>
          </a:p>
        </p:txBody>
      </p:sp>
      <p:sp>
        <p:nvSpPr>
          <p:cNvPr id="35874" name="Text Box 34">
            <a:extLst>
              <a:ext uri="{FF2B5EF4-FFF2-40B4-BE49-F238E27FC236}">
                <a16:creationId xmlns:a16="http://schemas.microsoft.com/office/drawing/2014/main" id="{CFA45E2A-5933-4A2D-8A09-B1D5580929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6338" y="439896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x</a:t>
            </a:r>
          </a:p>
        </p:txBody>
      </p:sp>
      <p:sp>
        <p:nvSpPr>
          <p:cNvPr id="35875" name="Text Box 35">
            <a:extLst>
              <a:ext uri="{FF2B5EF4-FFF2-40B4-BE49-F238E27FC236}">
                <a16:creationId xmlns:a16="http://schemas.microsoft.com/office/drawing/2014/main" id="{B7F827AA-83B2-4E05-8831-BF457616C8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7475" y="4394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y</a:t>
            </a:r>
          </a:p>
        </p:txBody>
      </p:sp>
      <p:sp>
        <p:nvSpPr>
          <p:cNvPr id="35876" name="Text Box 36">
            <a:extLst>
              <a:ext uri="{FF2B5EF4-FFF2-40B4-BE49-F238E27FC236}">
                <a16:creationId xmlns:a16="http://schemas.microsoft.com/office/drawing/2014/main" id="{9AB83B9D-A5EB-46E6-BF8B-8B51A7490D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9700" y="5302250"/>
            <a:ext cx="822325" cy="850900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/>
              <a:t>Q:</a:t>
            </a:r>
            <a:r>
              <a:rPr lang="en-US" altLang="hi-IN"/>
              <a:t>  s</a:t>
            </a:r>
          </a:p>
          <a:p>
            <a:r>
              <a:rPr lang="en-US" altLang="hi-IN"/>
              <a:t>      0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165A68-392E-4C54-AC52-FE9414180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49</a:t>
            </a:fld>
            <a:endParaRPr lang="en-US" altLang="hi-IN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94F2AE3-5BF6-4621-8753-FDE9A250E082}"/>
              </a:ext>
            </a:extLst>
          </p:cNvPr>
          <p:cNvSpPr txBox="1"/>
          <p:nvPr/>
        </p:nvSpPr>
        <p:spPr>
          <a:xfrm>
            <a:off x="685800" y="5486400"/>
            <a:ext cx="28384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/>
              <a:t>Order of visit: </a:t>
            </a:r>
          </a:p>
          <a:p>
            <a:pPr algn="l"/>
            <a:r>
              <a:rPr lang="en-US" b="1" dirty="0"/>
              <a:t>s   </a:t>
            </a:r>
            <a:endParaRPr lang="hi-IN" b="1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D43D73EB-15F2-4A40-885E-F359C99FA8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i-IN"/>
              <a:t>Example (BFS)</a:t>
            </a:r>
          </a:p>
        </p:txBody>
      </p:sp>
      <p:sp>
        <p:nvSpPr>
          <p:cNvPr id="36867" name="Oval 3">
            <a:extLst>
              <a:ext uri="{FF2B5EF4-FFF2-40B4-BE49-F238E27FC236}">
                <a16:creationId xmlns:a16="http://schemas.microsoft.com/office/drawing/2014/main" id="{0063E57B-A7E1-4FCA-B017-3A364D2049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6425" y="2497138"/>
            <a:ext cx="590550" cy="576262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36868" name="Text Box 4">
            <a:extLst>
              <a:ext uri="{FF2B5EF4-FFF2-40B4-BE49-F238E27FC236}">
                <a16:creationId xmlns:a16="http://schemas.microsoft.com/office/drawing/2014/main" id="{0099C8CE-B86C-4057-9D1B-651A7C8102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0250" y="256063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1</a:t>
            </a:r>
            <a:endParaRPr lang="en-US" altLang="hi-IN" b="1"/>
          </a:p>
        </p:txBody>
      </p:sp>
      <p:sp>
        <p:nvSpPr>
          <p:cNvPr id="36869" name="Oval 5">
            <a:extLst>
              <a:ext uri="{FF2B5EF4-FFF2-40B4-BE49-F238E27FC236}">
                <a16:creationId xmlns:a16="http://schemas.microsoft.com/office/drawing/2014/main" id="{108D2C3F-09BB-42C5-87CA-0EDE45D76B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7563" y="2490788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36870" name="Text Box 6">
            <a:extLst>
              <a:ext uri="{FF2B5EF4-FFF2-40B4-BE49-F238E27FC236}">
                <a16:creationId xmlns:a16="http://schemas.microsoft.com/office/drawing/2014/main" id="{EEA3F82F-A5FF-47C0-954B-C8C6A80591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1388" y="25542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0</a:t>
            </a:r>
            <a:endParaRPr lang="en-US" altLang="hi-IN" b="1"/>
          </a:p>
        </p:txBody>
      </p:sp>
      <p:sp>
        <p:nvSpPr>
          <p:cNvPr id="36871" name="Line 7">
            <a:extLst>
              <a:ext uri="{FF2B5EF4-FFF2-40B4-BE49-F238E27FC236}">
                <a16:creationId xmlns:a16="http://schemas.microsoft.com/office/drawing/2014/main" id="{E7F2641D-1F5C-4BB0-B0D8-6EA2C34F3EDC}"/>
              </a:ext>
            </a:extLst>
          </p:cNvPr>
          <p:cNvSpPr>
            <a:spLocks noChangeShapeType="1"/>
          </p:cNvSpPr>
          <p:nvPr/>
        </p:nvSpPr>
        <p:spPr bwMode="auto">
          <a:xfrm>
            <a:off x="2452688" y="2786063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36872" name="Oval 8">
            <a:extLst>
              <a:ext uri="{FF2B5EF4-FFF2-40B4-BE49-F238E27FC236}">
                <a16:creationId xmlns:a16="http://schemas.microsoft.com/office/drawing/2014/main" id="{D3877ECA-2BEB-4334-AE4A-DC41A1BBA1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7563" y="3906838"/>
            <a:ext cx="590550" cy="576262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36873" name="Text Box 9">
            <a:extLst>
              <a:ext uri="{FF2B5EF4-FFF2-40B4-BE49-F238E27FC236}">
                <a16:creationId xmlns:a16="http://schemas.microsoft.com/office/drawing/2014/main" id="{67E24557-375D-43F8-B5C3-27ADDA5A8C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1388" y="395605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1</a:t>
            </a:r>
            <a:endParaRPr lang="en-US" altLang="hi-IN" b="1"/>
          </a:p>
        </p:txBody>
      </p:sp>
      <p:sp>
        <p:nvSpPr>
          <p:cNvPr id="36874" name="Oval 10">
            <a:extLst>
              <a:ext uri="{FF2B5EF4-FFF2-40B4-BE49-F238E27FC236}">
                <a16:creationId xmlns:a16="http://schemas.microsoft.com/office/drawing/2014/main" id="{DC2437C8-CB94-400A-86BD-40CE1EDEBA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8700" y="3900488"/>
            <a:ext cx="590550" cy="576262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36875" name="Text Box 11">
            <a:extLst>
              <a:ext uri="{FF2B5EF4-FFF2-40B4-BE49-F238E27FC236}">
                <a16:creationId xmlns:a16="http://schemas.microsoft.com/office/drawing/2014/main" id="{8209D810-564B-4385-9ACF-ACFD63AD49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3950" y="3929063"/>
            <a:ext cx="401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</a:t>
            </a:r>
            <a:endParaRPr lang="en-US" altLang="hi-IN" b="1"/>
          </a:p>
        </p:txBody>
      </p:sp>
      <p:sp>
        <p:nvSpPr>
          <p:cNvPr id="36876" name="Line 12">
            <a:extLst>
              <a:ext uri="{FF2B5EF4-FFF2-40B4-BE49-F238E27FC236}">
                <a16:creationId xmlns:a16="http://schemas.microsoft.com/office/drawing/2014/main" id="{513F37F1-D3C1-44C1-A54F-9EB2B22C422D}"/>
              </a:ext>
            </a:extLst>
          </p:cNvPr>
          <p:cNvSpPr>
            <a:spLocks noChangeShapeType="1"/>
          </p:cNvSpPr>
          <p:nvPr/>
        </p:nvSpPr>
        <p:spPr bwMode="auto">
          <a:xfrm>
            <a:off x="3933825" y="4195763"/>
            <a:ext cx="923925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36877" name="Oval 13">
            <a:extLst>
              <a:ext uri="{FF2B5EF4-FFF2-40B4-BE49-F238E27FC236}">
                <a16:creationId xmlns:a16="http://schemas.microsoft.com/office/drawing/2014/main" id="{6640E39F-ED40-427C-A433-44B88EB370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9838" y="3910013"/>
            <a:ext cx="590550" cy="576262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36878" name="Text Box 14">
            <a:extLst>
              <a:ext uri="{FF2B5EF4-FFF2-40B4-BE49-F238E27FC236}">
                <a16:creationId xmlns:a16="http://schemas.microsoft.com/office/drawing/2014/main" id="{FC4B85A2-BE7B-439A-96DA-58CA3477EA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5088" y="3938588"/>
            <a:ext cx="4016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</a:t>
            </a:r>
            <a:endParaRPr lang="en-US" altLang="hi-IN" b="1"/>
          </a:p>
        </p:txBody>
      </p:sp>
      <p:sp>
        <p:nvSpPr>
          <p:cNvPr id="36879" name="Line 15">
            <a:extLst>
              <a:ext uri="{FF2B5EF4-FFF2-40B4-BE49-F238E27FC236}">
                <a16:creationId xmlns:a16="http://schemas.microsoft.com/office/drawing/2014/main" id="{5AF59315-94DC-490B-A669-649B2AD1F281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4963" y="4205288"/>
            <a:ext cx="923925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36880" name="Oval 16">
            <a:extLst>
              <a:ext uri="{FF2B5EF4-FFF2-40B4-BE49-F238E27FC236}">
                <a16:creationId xmlns:a16="http://schemas.microsoft.com/office/drawing/2014/main" id="{F3F1E50F-7897-4B93-9D34-26225EABA8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3938" y="2495550"/>
            <a:ext cx="590550" cy="576263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36881" name="Text Box 17">
            <a:extLst>
              <a:ext uri="{FF2B5EF4-FFF2-40B4-BE49-F238E27FC236}">
                <a16:creationId xmlns:a16="http://schemas.microsoft.com/office/drawing/2014/main" id="{B0936912-C5B8-491C-88F6-A02FCCE445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9188" y="2524125"/>
            <a:ext cx="4016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</a:t>
            </a:r>
            <a:endParaRPr lang="en-US" altLang="hi-IN" b="1"/>
          </a:p>
        </p:txBody>
      </p:sp>
      <p:sp>
        <p:nvSpPr>
          <p:cNvPr id="36882" name="Oval 18">
            <a:extLst>
              <a:ext uri="{FF2B5EF4-FFF2-40B4-BE49-F238E27FC236}">
                <a16:creationId xmlns:a16="http://schemas.microsoft.com/office/drawing/2014/main" id="{4DD9419F-77B6-4CBD-BB53-6A147B77FF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5075" y="2505075"/>
            <a:ext cx="590550" cy="576263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36883" name="Text Box 19">
            <a:extLst>
              <a:ext uri="{FF2B5EF4-FFF2-40B4-BE49-F238E27FC236}">
                <a16:creationId xmlns:a16="http://schemas.microsoft.com/office/drawing/2014/main" id="{E3128011-D396-4911-9B10-1F6D89AA9D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0325" y="2533650"/>
            <a:ext cx="401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</a:t>
            </a:r>
            <a:endParaRPr lang="en-US" altLang="hi-IN" b="1"/>
          </a:p>
        </p:txBody>
      </p:sp>
      <p:sp>
        <p:nvSpPr>
          <p:cNvPr id="36884" name="Line 20">
            <a:extLst>
              <a:ext uri="{FF2B5EF4-FFF2-40B4-BE49-F238E27FC236}">
                <a16:creationId xmlns:a16="http://schemas.microsoft.com/office/drawing/2014/main" id="{6C4CBE56-29EF-4292-BD16-0B3D4C27CC22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2800350"/>
            <a:ext cx="923925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36885" name="Oval 21">
            <a:extLst>
              <a:ext uri="{FF2B5EF4-FFF2-40B4-BE49-F238E27FC236}">
                <a16:creationId xmlns:a16="http://schemas.microsoft.com/office/drawing/2014/main" id="{F7109C0C-3062-4277-A77E-9E30BB45DF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7375" y="3906838"/>
            <a:ext cx="590550" cy="576262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36886" name="Text Box 22">
            <a:extLst>
              <a:ext uri="{FF2B5EF4-FFF2-40B4-BE49-F238E27FC236}">
                <a16:creationId xmlns:a16="http://schemas.microsoft.com/office/drawing/2014/main" id="{0C7F2688-B5C0-4B71-8A12-2234CFC747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2625" y="3935413"/>
            <a:ext cx="401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</a:t>
            </a:r>
            <a:endParaRPr lang="en-US" altLang="hi-IN" b="1"/>
          </a:p>
        </p:txBody>
      </p:sp>
      <p:sp>
        <p:nvSpPr>
          <p:cNvPr id="36887" name="Line 23">
            <a:extLst>
              <a:ext uri="{FF2B5EF4-FFF2-40B4-BE49-F238E27FC236}">
                <a16:creationId xmlns:a16="http://schemas.microsoft.com/office/drawing/2014/main" id="{E66690B3-CAE1-4D9B-9185-AE022C0577E2}"/>
              </a:ext>
            </a:extLst>
          </p:cNvPr>
          <p:cNvSpPr>
            <a:spLocks noChangeShapeType="1"/>
          </p:cNvSpPr>
          <p:nvPr/>
        </p:nvSpPr>
        <p:spPr bwMode="auto">
          <a:xfrm>
            <a:off x="2163763" y="3059113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36888" name="Line 24">
            <a:extLst>
              <a:ext uri="{FF2B5EF4-FFF2-40B4-BE49-F238E27FC236}">
                <a16:creationId xmlns:a16="http://schemas.microsoft.com/office/drawing/2014/main" id="{E1257680-3F42-4100-AE36-0AB511E09342}"/>
              </a:ext>
            </a:extLst>
          </p:cNvPr>
          <p:cNvSpPr>
            <a:spLocks noChangeShapeType="1"/>
          </p:cNvSpPr>
          <p:nvPr/>
        </p:nvSpPr>
        <p:spPr bwMode="auto">
          <a:xfrm>
            <a:off x="3644900" y="3068638"/>
            <a:ext cx="0" cy="8429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36889" name="Line 25">
            <a:extLst>
              <a:ext uri="{FF2B5EF4-FFF2-40B4-BE49-F238E27FC236}">
                <a16:creationId xmlns:a16="http://schemas.microsoft.com/office/drawing/2014/main" id="{274DE417-0D41-4082-BBC2-125873717FA9}"/>
              </a:ext>
            </a:extLst>
          </p:cNvPr>
          <p:cNvSpPr>
            <a:spLocks noChangeShapeType="1"/>
          </p:cNvSpPr>
          <p:nvPr/>
        </p:nvSpPr>
        <p:spPr bwMode="auto">
          <a:xfrm>
            <a:off x="5126038" y="3078163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36890" name="Line 26">
            <a:extLst>
              <a:ext uri="{FF2B5EF4-FFF2-40B4-BE49-F238E27FC236}">
                <a16:creationId xmlns:a16="http://schemas.microsoft.com/office/drawing/2014/main" id="{959AF479-83F2-481E-AAC3-E6B257C4C63D}"/>
              </a:ext>
            </a:extLst>
          </p:cNvPr>
          <p:cNvSpPr>
            <a:spLocks noChangeShapeType="1"/>
          </p:cNvSpPr>
          <p:nvPr/>
        </p:nvSpPr>
        <p:spPr bwMode="auto">
          <a:xfrm>
            <a:off x="6607175" y="3087688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36891" name="Line 27">
            <a:extLst>
              <a:ext uri="{FF2B5EF4-FFF2-40B4-BE49-F238E27FC236}">
                <a16:creationId xmlns:a16="http://schemas.microsoft.com/office/drawing/2014/main" id="{78A6EF79-C8B4-4756-A4F0-3FEC12E8B07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52863" y="2944813"/>
            <a:ext cx="1023937" cy="10287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36892" name="Text Box 28">
            <a:extLst>
              <a:ext uri="{FF2B5EF4-FFF2-40B4-BE49-F238E27FC236}">
                <a16:creationId xmlns:a16="http://schemas.microsoft.com/office/drawing/2014/main" id="{5096F14A-65AB-4C4C-B2B8-87826DAD6D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2084388"/>
            <a:ext cx="285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r</a:t>
            </a:r>
          </a:p>
        </p:txBody>
      </p:sp>
      <p:sp>
        <p:nvSpPr>
          <p:cNvPr id="36893" name="Text Box 29">
            <a:extLst>
              <a:ext uri="{FF2B5EF4-FFF2-40B4-BE49-F238E27FC236}">
                <a16:creationId xmlns:a16="http://schemas.microsoft.com/office/drawing/2014/main" id="{0E5B2E0B-CF96-4956-8576-E9E72A7C92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0" y="2093913"/>
            <a:ext cx="303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s</a:t>
            </a:r>
          </a:p>
        </p:txBody>
      </p:sp>
      <p:sp>
        <p:nvSpPr>
          <p:cNvPr id="36894" name="Text Box 30">
            <a:extLst>
              <a:ext uri="{FF2B5EF4-FFF2-40B4-BE49-F238E27FC236}">
                <a16:creationId xmlns:a16="http://schemas.microsoft.com/office/drawing/2014/main" id="{CE9BDEC8-D14F-4598-8B44-8F7E0BF9D7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1100" y="2103438"/>
            <a:ext cx="268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t</a:t>
            </a:r>
          </a:p>
        </p:txBody>
      </p:sp>
      <p:sp>
        <p:nvSpPr>
          <p:cNvPr id="36895" name="Text Box 31">
            <a:extLst>
              <a:ext uri="{FF2B5EF4-FFF2-40B4-BE49-F238E27FC236}">
                <a16:creationId xmlns:a16="http://schemas.microsoft.com/office/drawing/2014/main" id="{528B8EF4-D032-4C92-96D2-15C5E0CC5C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7950" y="211296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u</a:t>
            </a:r>
          </a:p>
        </p:txBody>
      </p:sp>
      <p:sp>
        <p:nvSpPr>
          <p:cNvPr id="36896" name="Text Box 32">
            <a:extLst>
              <a:ext uri="{FF2B5EF4-FFF2-40B4-BE49-F238E27FC236}">
                <a16:creationId xmlns:a16="http://schemas.microsoft.com/office/drawing/2014/main" id="{4FEBAB04-9CFC-4A94-9F0A-96293886DE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9775" y="437991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v</a:t>
            </a:r>
          </a:p>
        </p:txBody>
      </p:sp>
      <p:sp>
        <p:nvSpPr>
          <p:cNvPr id="36897" name="Text Box 33">
            <a:extLst>
              <a:ext uri="{FF2B5EF4-FFF2-40B4-BE49-F238E27FC236}">
                <a16:creationId xmlns:a16="http://schemas.microsoft.com/office/drawing/2014/main" id="{E20558FC-472F-4659-8F8D-81B59D9E84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0913" y="4389438"/>
            <a:ext cx="404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w</a:t>
            </a:r>
          </a:p>
        </p:txBody>
      </p:sp>
      <p:sp>
        <p:nvSpPr>
          <p:cNvPr id="36898" name="Text Box 34">
            <a:extLst>
              <a:ext uri="{FF2B5EF4-FFF2-40B4-BE49-F238E27FC236}">
                <a16:creationId xmlns:a16="http://schemas.microsoft.com/office/drawing/2014/main" id="{C83ADB0B-0C10-4F8B-88AA-5F15C9E9CF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6338" y="439896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x</a:t>
            </a:r>
          </a:p>
        </p:txBody>
      </p:sp>
      <p:sp>
        <p:nvSpPr>
          <p:cNvPr id="36899" name="Text Box 35">
            <a:extLst>
              <a:ext uri="{FF2B5EF4-FFF2-40B4-BE49-F238E27FC236}">
                <a16:creationId xmlns:a16="http://schemas.microsoft.com/office/drawing/2014/main" id="{37D4A0AD-181E-40D5-A4DC-20A9420685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7475" y="4394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y</a:t>
            </a:r>
          </a:p>
        </p:txBody>
      </p:sp>
      <p:sp>
        <p:nvSpPr>
          <p:cNvPr id="36900" name="Text Box 36">
            <a:extLst>
              <a:ext uri="{FF2B5EF4-FFF2-40B4-BE49-F238E27FC236}">
                <a16:creationId xmlns:a16="http://schemas.microsoft.com/office/drawing/2014/main" id="{7EADCA83-36B0-4FE4-A03C-EFDD4981DF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9700" y="5302250"/>
            <a:ext cx="1203325" cy="850900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/>
              <a:t>Q:</a:t>
            </a:r>
            <a:r>
              <a:rPr lang="en-US" altLang="hi-IN"/>
              <a:t>  w  r</a:t>
            </a:r>
          </a:p>
          <a:p>
            <a:r>
              <a:rPr lang="en-US" altLang="hi-IN"/>
              <a:t>       1  1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A0063D-DE63-4D07-A592-6CDEC6E23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50</a:t>
            </a:fld>
            <a:endParaRPr lang="en-US" altLang="hi-IN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86854-9661-43B0-883A-9DC7D4D7B613}"/>
              </a:ext>
            </a:extLst>
          </p:cNvPr>
          <p:cNvSpPr txBox="1"/>
          <p:nvPr/>
        </p:nvSpPr>
        <p:spPr>
          <a:xfrm>
            <a:off x="685800" y="5486400"/>
            <a:ext cx="28384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/>
              <a:t>Order of visit: </a:t>
            </a:r>
          </a:p>
          <a:p>
            <a:pPr algn="l"/>
            <a:r>
              <a:rPr lang="en-US" b="1" dirty="0"/>
              <a:t>s, w, r</a:t>
            </a:r>
            <a:endParaRPr lang="hi-IN" b="1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7EE4116F-24E4-4BCF-AFF5-24EE90C589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i-IN"/>
              <a:t>Example (BFS)</a:t>
            </a:r>
          </a:p>
        </p:txBody>
      </p:sp>
      <p:sp>
        <p:nvSpPr>
          <p:cNvPr id="37891" name="Oval 3">
            <a:extLst>
              <a:ext uri="{FF2B5EF4-FFF2-40B4-BE49-F238E27FC236}">
                <a16:creationId xmlns:a16="http://schemas.microsoft.com/office/drawing/2014/main" id="{4BE31F30-DB2D-4961-A5BC-ACC7F32A8B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6425" y="2497138"/>
            <a:ext cx="590550" cy="576262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37892" name="Text Box 4">
            <a:extLst>
              <a:ext uri="{FF2B5EF4-FFF2-40B4-BE49-F238E27FC236}">
                <a16:creationId xmlns:a16="http://schemas.microsoft.com/office/drawing/2014/main" id="{C76DDBA0-1FED-47FC-BA11-A9D7D1ABEE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0250" y="256063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1</a:t>
            </a:r>
            <a:endParaRPr lang="en-US" altLang="hi-IN" b="1"/>
          </a:p>
        </p:txBody>
      </p:sp>
      <p:sp>
        <p:nvSpPr>
          <p:cNvPr id="37893" name="Oval 5">
            <a:extLst>
              <a:ext uri="{FF2B5EF4-FFF2-40B4-BE49-F238E27FC236}">
                <a16:creationId xmlns:a16="http://schemas.microsoft.com/office/drawing/2014/main" id="{D0625EE3-1A2A-4ECB-9AFF-4710A66414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7563" y="2490788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37894" name="Text Box 6">
            <a:extLst>
              <a:ext uri="{FF2B5EF4-FFF2-40B4-BE49-F238E27FC236}">
                <a16:creationId xmlns:a16="http://schemas.microsoft.com/office/drawing/2014/main" id="{A065FEB9-4E6D-4676-BC0C-5896694F7A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1388" y="25542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0</a:t>
            </a:r>
            <a:endParaRPr lang="en-US" altLang="hi-IN" b="1"/>
          </a:p>
        </p:txBody>
      </p:sp>
      <p:sp>
        <p:nvSpPr>
          <p:cNvPr id="37895" name="Line 7">
            <a:extLst>
              <a:ext uri="{FF2B5EF4-FFF2-40B4-BE49-F238E27FC236}">
                <a16:creationId xmlns:a16="http://schemas.microsoft.com/office/drawing/2014/main" id="{A3177396-4BAB-43AB-AF61-381EC85E3580}"/>
              </a:ext>
            </a:extLst>
          </p:cNvPr>
          <p:cNvSpPr>
            <a:spLocks noChangeShapeType="1"/>
          </p:cNvSpPr>
          <p:nvPr/>
        </p:nvSpPr>
        <p:spPr bwMode="auto">
          <a:xfrm>
            <a:off x="2452688" y="2786063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37896" name="Oval 8">
            <a:extLst>
              <a:ext uri="{FF2B5EF4-FFF2-40B4-BE49-F238E27FC236}">
                <a16:creationId xmlns:a16="http://schemas.microsoft.com/office/drawing/2014/main" id="{FE74C8F6-47E5-41FE-A10E-8D0F89269C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7563" y="3906838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37897" name="Text Box 9">
            <a:extLst>
              <a:ext uri="{FF2B5EF4-FFF2-40B4-BE49-F238E27FC236}">
                <a16:creationId xmlns:a16="http://schemas.microsoft.com/office/drawing/2014/main" id="{C0EA23B0-9DC0-4097-9D3E-9AF4C9A66E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1388" y="395605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1</a:t>
            </a:r>
            <a:endParaRPr lang="en-US" altLang="hi-IN" b="1"/>
          </a:p>
        </p:txBody>
      </p:sp>
      <p:sp>
        <p:nvSpPr>
          <p:cNvPr id="37898" name="Oval 10">
            <a:extLst>
              <a:ext uri="{FF2B5EF4-FFF2-40B4-BE49-F238E27FC236}">
                <a16:creationId xmlns:a16="http://schemas.microsoft.com/office/drawing/2014/main" id="{BF85B95F-FB4E-417A-8936-A65641B3F0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8700" y="3900488"/>
            <a:ext cx="590550" cy="576262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37899" name="Text Box 11">
            <a:extLst>
              <a:ext uri="{FF2B5EF4-FFF2-40B4-BE49-F238E27FC236}">
                <a16:creationId xmlns:a16="http://schemas.microsoft.com/office/drawing/2014/main" id="{E7EC9B0F-3911-4000-903D-A3A187E039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2525" y="393541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2</a:t>
            </a:r>
            <a:endParaRPr lang="en-US" altLang="hi-IN" b="1"/>
          </a:p>
        </p:txBody>
      </p:sp>
      <p:sp>
        <p:nvSpPr>
          <p:cNvPr id="37900" name="Line 12">
            <a:extLst>
              <a:ext uri="{FF2B5EF4-FFF2-40B4-BE49-F238E27FC236}">
                <a16:creationId xmlns:a16="http://schemas.microsoft.com/office/drawing/2014/main" id="{888233D7-8172-4AE7-8438-C663C4A14882}"/>
              </a:ext>
            </a:extLst>
          </p:cNvPr>
          <p:cNvSpPr>
            <a:spLocks noChangeShapeType="1"/>
          </p:cNvSpPr>
          <p:nvPr/>
        </p:nvSpPr>
        <p:spPr bwMode="auto">
          <a:xfrm>
            <a:off x="3933825" y="4195763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37901" name="Oval 13">
            <a:extLst>
              <a:ext uri="{FF2B5EF4-FFF2-40B4-BE49-F238E27FC236}">
                <a16:creationId xmlns:a16="http://schemas.microsoft.com/office/drawing/2014/main" id="{BDF91C9E-2E8A-4D3A-9D9D-9D1706C9F8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9838" y="3910013"/>
            <a:ext cx="590550" cy="576262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37902" name="Text Box 14">
            <a:extLst>
              <a:ext uri="{FF2B5EF4-FFF2-40B4-BE49-F238E27FC236}">
                <a16:creationId xmlns:a16="http://schemas.microsoft.com/office/drawing/2014/main" id="{585C1E2E-E820-4D40-9270-13E206E760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5088" y="3938588"/>
            <a:ext cx="4016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</a:t>
            </a:r>
            <a:endParaRPr lang="en-US" altLang="hi-IN" b="1"/>
          </a:p>
        </p:txBody>
      </p:sp>
      <p:sp>
        <p:nvSpPr>
          <p:cNvPr id="37903" name="Line 15">
            <a:extLst>
              <a:ext uri="{FF2B5EF4-FFF2-40B4-BE49-F238E27FC236}">
                <a16:creationId xmlns:a16="http://schemas.microsoft.com/office/drawing/2014/main" id="{6905C299-F0A5-48A7-8113-6D53BD1F3554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4963" y="4205288"/>
            <a:ext cx="923925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37904" name="Oval 16">
            <a:extLst>
              <a:ext uri="{FF2B5EF4-FFF2-40B4-BE49-F238E27FC236}">
                <a16:creationId xmlns:a16="http://schemas.microsoft.com/office/drawing/2014/main" id="{07E4D3E3-5314-4F3D-BF68-A1A41DB3F3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3938" y="2495550"/>
            <a:ext cx="590550" cy="576263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37905" name="Text Box 17">
            <a:extLst>
              <a:ext uri="{FF2B5EF4-FFF2-40B4-BE49-F238E27FC236}">
                <a16:creationId xmlns:a16="http://schemas.microsoft.com/office/drawing/2014/main" id="{BDA65282-49E7-4578-B0B3-07C28F4F06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7763" y="253047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2</a:t>
            </a:r>
            <a:endParaRPr lang="en-US" altLang="hi-IN" b="1"/>
          </a:p>
        </p:txBody>
      </p:sp>
      <p:sp>
        <p:nvSpPr>
          <p:cNvPr id="37906" name="Oval 18">
            <a:extLst>
              <a:ext uri="{FF2B5EF4-FFF2-40B4-BE49-F238E27FC236}">
                <a16:creationId xmlns:a16="http://schemas.microsoft.com/office/drawing/2014/main" id="{A3DFD089-E2C7-412A-A16B-9433829EAB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5075" y="2505075"/>
            <a:ext cx="590550" cy="576263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37907" name="Text Box 19">
            <a:extLst>
              <a:ext uri="{FF2B5EF4-FFF2-40B4-BE49-F238E27FC236}">
                <a16:creationId xmlns:a16="http://schemas.microsoft.com/office/drawing/2014/main" id="{6CD5AC0E-2DA7-48DC-80D0-38F53182E9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0325" y="2533650"/>
            <a:ext cx="401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</a:t>
            </a:r>
            <a:endParaRPr lang="en-US" altLang="hi-IN" b="1"/>
          </a:p>
        </p:txBody>
      </p:sp>
      <p:sp>
        <p:nvSpPr>
          <p:cNvPr id="37908" name="Line 20">
            <a:extLst>
              <a:ext uri="{FF2B5EF4-FFF2-40B4-BE49-F238E27FC236}">
                <a16:creationId xmlns:a16="http://schemas.microsoft.com/office/drawing/2014/main" id="{39511D27-9D01-486E-923F-B1256637410E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2800350"/>
            <a:ext cx="923925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37909" name="Oval 21">
            <a:extLst>
              <a:ext uri="{FF2B5EF4-FFF2-40B4-BE49-F238E27FC236}">
                <a16:creationId xmlns:a16="http://schemas.microsoft.com/office/drawing/2014/main" id="{F99195D8-1418-4156-AF52-DF3D47BB41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7375" y="3906838"/>
            <a:ext cx="590550" cy="576262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37910" name="Text Box 22">
            <a:extLst>
              <a:ext uri="{FF2B5EF4-FFF2-40B4-BE49-F238E27FC236}">
                <a16:creationId xmlns:a16="http://schemas.microsoft.com/office/drawing/2014/main" id="{13F5F0F3-8130-4851-8C7F-34F5980174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2625" y="3935413"/>
            <a:ext cx="401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</a:t>
            </a:r>
            <a:endParaRPr lang="en-US" altLang="hi-IN" b="1"/>
          </a:p>
        </p:txBody>
      </p:sp>
      <p:sp>
        <p:nvSpPr>
          <p:cNvPr id="37911" name="Line 23">
            <a:extLst>
              <a:ext uri="{FF2B5EF4-FFF2-40B4-BE49-F238E27FC236}">
                <a16:creationId xmlns:a16="http://schemas.microsoft.com/office/drawing/2014/main" id="{95AB0E27-BFFC-40E2-9327-2A92CFD9FDD7}"/>
              </a:ext>
            </a:extLst>
          </p:cNvPr>
          <p:cNvSpPr>
            <a:spLocks noChangeShapeType="1"/>
          </p:cNvSpPr>
          <p:nvPr/>
        </p:nvSpPr>
        <p:spPr bwMode="auto">
          <a:xfrm>
            <a:off x="2163763" y="3059113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37912" name="Line 24">
            <a:extLst>
              <a:ext uri="{FF2B5EF4-FFF2-40B4-BE49-F238E27FC236}">
                <a16:creationId xmlns:a16="http://schemas.microsoft.com/office/drawing/2014/main" id="{EE3A8014-3347-4A83-85AE-B0089D398201}"/>
              </a:ext>
            </a:extLst>
          </p:cNvPr>
          <p:cNvSpPr>
            <a:spLocks noChangeShapeType="1"/>
          </p:cNvSpPr>
          <p:nvPr/>
        </p:nvSpPr>
        <p:spPr bwMode="auto">
          <a:xfrm>
            <a:off x="3644900" y="3068638"/>
            <a:ext cx="0" cy="8429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37913" name="Line 25">
            <a:extLst>
              <a:ext uri="{FF2B5EF4-FFF2-40B4-BE49-F238E27FC236}">
                <a16:creationId xmlns:a16="http://schemas.microsoft.com/office/drawing/2014/main" id="{FE555D60-B2A0-4B23-B009-E1BCF9149255}"/>
              </a:ext>
            </a:extLst>
          </p:cNvPr>
          <p:cNvSpPr>
            <a:spLocks noChangeShapeType="1"/>
          </p:cNvSpPr>
          <p:nvPr/>
        </p:nvSpPr>
        <p:spPr bwMode="auto">
          <a:xfrm>
            <a:off x="5126038" y="3078163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37914" name="Line 26">
            <a:extLst>
              <a:ext uri="{FF2B5EF4-FFF2-40B4-BE49-F238E27FC236}">
                <a16:creationId xmlns:a16="http://schemas.microsoft.com/office/drawing/2014/main" id="{5ED41266-689C-4521-8DA6-FCD3565406BB}"/>
              </a:ext>
            </a:extLst>
          </p:cNvPr>
          <p:cNvSpPr>
            <a:spLocks noChangeShapeType="1"/>
          </p:cNvSpPr>
          <p:nvPr/>
        </p:nvSpPr>
        <p:spPr bwMode="auto">
          <a:xfrm>
            <a:off x="6607175" y="3087688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37915" name="Line 27">
            <a:extLst>
              <a:ext uri="{FF2B5EF4-FFF2-40B4-BE49-F238E27FC236}">
                <a16:creationId xmlns:a16="http://schemas.microsoft.com/office/drawing/2014/main" id="{CA711752-EEDD-46AB-AFA6-8AE5296D4B4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52863" y="2944813"/>
            <a:ext cx="1023937" cy="10287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37916" name="Text Box 28">
            <a:extLst>
              <a:ext uri="{FF2B5EF4-FFF2-40B4-BE49-F238E27FC236}">
                <a16:creationId xmlns:a16="http://schemas.microsoft.com/office/drawing/2014/main" id="{FF1FF27B-1DE2-47BA-A35D-7E07AF5C86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2084388"/>
            <a:ext cx="285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r</a:t>
            </a:r>
          </a:p>
        </p:txBody>
      </p:sp>
      <p:sp>
        <p:nvSpPr>
          <p:cNvPr id="37917" name="Text Box 29">
            <a:extLst>
              <a:ext uri="{FF2B5EF4-FFF2-40B4-BE49-F238E27FC236}">
                <a16:creationId xmlns:a16="http://schemas.microsoft.com/office/drawing/2014/main" id="{F6535B2D-2A07-4053-B1D2-7D70A26300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0" y="2093913"/>
            <a:ext cx="303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s</a:t>
            </a:r>
          </a:p>
        </p:txBody>
      </p:sp>
      <p:sp>
        <p:nvSpPr>
          <p:cNvPr id="37918" name="Text Box 30">
            <a:extLst>
              <a:ext uri="{FF2B5EF4-FFF2-40B4-BE49-F238E27FC236}">
                <a16:creationId xmlns:a16="http://schemas.microsoft.com/office/drawing/2014/main" id="{4C2F1209-3B38-4C8C-8869-CC4568B5D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1100" y="2103438"/>
            <a:ext cx="268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t</a:t>
            </a:r>
          </a:p>
        </p:txBody>
      </p:sp>
      <p:sp>
        <p:nvSpPr>
          <p:cNvPr id="37919" name="Text Box 31">
            <a:extLst>
              <a:ext uri="{FF2B5EF4-FFF2-40B4-BE49-F238E27FC236}">
                <a16:creationId xmlns:a16="http://schemas.microsoft.com/office/drawing/2014/main" id="{0F9347AB-7A1B-4CAF-8330-33B11FB961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7950" y="211296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u</a:t>
            </a:r>
          </a:p>
        </p:txBody>
      </p:sp>
      <p:sp>
        <p:nvSpPr>
          <p:cNvPr id="37920" name="Text Box 32">
            <a:extLst>
              <a:ext uri="{FF2B5EF4-FFF2-40B4-BE49-F238E27FC236}">
                <a16:creationId xmlns:a16="http://schemas.microsoft.com/office/drawing/2014/main" id="{857AB123-2B75-4D38-89A5-8B06233B85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9775" y="437991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v</a:t>
            </a:r>
          </a:p>
        </p:txBody>
      </p:sp>
      <p:sp>
        <p:nvSpPr>
          <p:cNvPr id="37921" name="Text Box 33">
            <a:extLst>
              <a:ext uri="{FF2B5EF4-FFF2-40B4-BE49-F238E27FC236}">
                <a16:creationId xmlns:a16="http://schemas.microsoft.com/office/drawing/2014/main" id="{26D8BC08-BC56-48C4-854D-0C198637C0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0913" y="4389438"/>
            <a:ext cx="404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w</a:t>
            </a:r>
          </a:p>
        </p:txBody>
      </p:sp>
      <p:sp>
        <p:nvSpPr>
          <p:cNvPr id="37922" name="Text Box 34">
            <a:extLst>
              <a:ext uri="{FF2B5EF4-FFF2-40B4-BE49-F238E27FC236}">
                <a16:creationId xmlns:a16="http://schemas.microsoft.com/office/drawing/2014/main" id="{12F78C1D-528B-41E6-AC6A-C3A4C9FC8B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6338" y="439896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x</a:t>
            </a:r>
          </a:p>
        </p:txBody>
      </p:sp>
      <p:sp>
        <p:nvSpPr>
          <p:cNvPr id="37923" name="Text Box 35">
            <a:extLst>
              <a:ext uri="{FF2B5EF4-FFF2-40B4-BE49-F238E27FC236}">
                <a16:creationId xmlns:a16="http://schemas.microsoft.com/office/drawing/2014/main" id="{D7EB57A4-90AE-4B2A-863F-AD14A047EC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7475" y="4394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y</a:t>
            </a:r>
          </a:p>
        </p:txBody>
      </p:sp>
      <p:sp>
        <p:nvSpPr>
          <p:cNvPr id="37924" name="Text Box 36">
            <a:extLst>
              <a:ext uri="{FF2B5EF4-FFF2-40B4-BE49-F238E27FC236}">
                <a16:creationId xmlns:a16="http://schemas.microsoft.com/office/drawing/2014/main" id="{A5EB319E-F612-4558-8D76-C0E1977BBC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9700" y="5302250"/>
            <a:ext cx="1431925" cy="850900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/>
              <a:t>Q:</a:t>
            </a:r>
            <a:r>
              <a:rPr lang="en-US" altLang="hi-IN"/>
              <a:t>  r   t  x</a:t>
            </a:r>
          </a:p>
          <a:p>
            <a:r>
              <a:rPr lang="en-US" altLang="hi-IN"/>
              <a:t>      1  2  2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3AA8A0-47DF-4923-941A-2C2340DC9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51</a:t>
            </a:fld>
            <a:endParaRPr lang="en-US" altLang="hi-IN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1D2D666-4BAF-4632-BDFA-FB565F54910B}"/>
              </a:ext>
            </a:extLst>
          </p:cNvPr>
          <p:cNvSpPr txBox="1"/>
          <p:nvPr/>
        </p:nvSpPr>
        <p:spPr>
          <a:xfrm>
            <a:off x="685800" y="5486400"/>
            <a:ext cx="28384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/>
              <a:t>Order of visit: </a:t>
            </a:r>
          </a:p>
          <a:p>
            <a:pPr algn="l"/>
            <a:r>
              <a:rPr lang="en-US" b="1" dirty="0"/>
              <a:t>s, w, r, t, x</a:t>
            </a:r>
            <a:endParaRPr lang="hi-IN" b="1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ECCBDA50-D13D-4413-BEE8-7A85FE8AF9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i-IN"/>
              <a:t>Example (BFS)</a:t>
            </a:r>
          </a:p>
        </p:txBody>
      </p:sp>
      <p:sp>
        <p:nvSpPr>
          <p:cNvPr id="38915" name="Oval 3">
            <a:extLst>
              <a:ext uri="{FF2B5EF4-FFF2-40B4-BE49-F238E27FC236}">
                <a16:creationId xmlns:a16="http://schemas.microsoft.com/office/drawing/2014/main" id="{A25C7199-0A89-4861-92BD-23EE72A1E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6425" y="2497138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38916" name="Text Box 4">
            <a:extLst>
              <a:ext uri="{FF2B5EF4-FFF2-40B4-BE49-F238E27FC236}">
                <a16:creationId xmlns:a16="http://schemas.microsoft.com/office/drawing/2014/main" id="{8AC1429E-0975-4EA6-AE94-838DEB1061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0250" y="256063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1</a:t>
            </a:r>
            <a:endParaRPr lang="en-US" altLang="hi-IN" b="1"/>
          </a:p>
        </p:txBody>
      </p:sp>
      <p:sp>
        <p:nvSpPr>
          <p:cNvPr id="38917" name="Oval 5">
            <a:extLst>
              <a:ext uri="{FF2B5EF4-FFF2-40B4-BE49-F238E27FC236}">
                <a16:creationId xmlns:a16="http://schemas.microsoft.com/office/drawing/2014/main" id="{ACBFFC18-CE55-460C-A318-D1982965FD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7563" y="2490788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38918" name="Text Box 6">
            <a:extLst>
              <a:ext uri="{FF2B5EF4-FFF2-40B4-BE49-F238E27FC236}">
                <a16:creationId xmlns:a16="http://schemas.microsoft.com/office/drawing/2014/main" id="{90A31536-03AF-4A8E-8132-2A7A8DED41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1388" y="25542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0</a:t>
            </a:r>
            <a:endParaRPr lang="en-US" altLang="hi-IN" b="1"/>
          </a:p>
        </p:txBody>
      </p:sp>
      <p:sp>
        <p:nvSpPr>
          <p:cNvPr id="38919" name="Line 7">
            <a:extLst>
              <a:ext uri="{FF2B5EF4-FFF2-40B4-BE49-F238E27FC236}">
                <a16:creationId xmlns:a16="http://schemas.microsoft.com/office/drawing/2014/main" id="{8F58258C-EF7C-4FA6-8D72-97A8D9C292EC}"/>
              </a:ext>
            </a:extLst>
          </p:cNvPr>
          <p:cNvSpPr>
            <a:spLocks noChangeShapeType="1"/>
          </p:cNvSpPr>
          <p:nvPr/>
        </p:nvSpPr>
        <p:spPr bwMode="auto">
          <a:xfrm>
            <a:off x="2452688" y="2786063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38920" name="Oval 8">
            <a:extLst>
              <a:ext uri="{FF2B5EF4-FFF2-40B4-BE49-F238E27FC236}">
                <a16:creationId xmlns:a16="http://schemas.microsoft.com/office/drawing/2014/main" id="{CFC86448-133B-4FB1-A234-3F85566293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7563" y="3906838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38921" name="Text Box 9">
            <a:extLst>
              <a:ext uri="{FF2B5EF4-FFF2-40B4-BE49-F238E27FC236}">
                <a16:creationId xmlns:a16="http://schemas.microsoft.com/office/drawing/2014/main" id="{3B1DF5AF-F342-4D65-8305-D0835FAF9F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1388" y="395605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1</a:t>
            </a:r>
            <a:endParaRPr lang="en-US" altLang="hi-IN" b="1"/>
          </a:p>
        </p:txBody>
      </p:sp>
      <p:sp>
        <p:nvSpPr>
          <p:cNvPr id="38922" name="Oval 10">
            <a:extLst>
              <a:ext uri="{FF2B5EF4-FFF2-40B4-BE49-F238E27FC236}">
                <a16:creationId xmlns:a16="http://schemas.microsoft.com/office/drawing/2014/main" id="{B7182CAA-7E69-4540-8C65-B307B7FECE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8700" y="3900488"/>
            <a:ext cx="590550" cy="576262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38923" name="Text Box 11">
            <a:extLst>
              <a:ext uri="{FF2B5EF4-FFF2-40B4-BE49-F238E27FC236}">
                <a16:creationId xmlns:a16="http://schemas.microsoft.com/office/drawing/2014/main" id="{833F3BD7-C4FB-4E4A-8B29-A232AC26E5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2525" y="393541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2</a:t>
            </a:r>
            <a:endParaRPr lang="en-US" altLang="hi-IN" b="1"/>
          </a:p>
        </p:txBody>
      </p:sp>
      <p:sp>
        <p:nvSpPr>
          <p:cNvPr id="38924" name="Line 12">
            <a:extLst>
              <a:ext uri="{FF2B5EF4-FFF2-40B4-BE49-F238E27FC236}">
                <a16:creationId xmlns:a16="http://schemas.microsoft.com/office/drawing/2014/main" id="{3702297B-D798-4C4D-BC26-E8DFD8EB8F4E}"/>
              </a:ext>
            </a:extLst>
          </p:cNvPr>
          <p:cNvSpPr>
            <a:spLocks noChangeShapeType="1"/>
          </p:cNvSpPr>
          <p:nvPr/>
        </p:nvSpPr>
        <p:spPr bwMode="auto">
          <a:xfrm>
            <a:off x="3933825" y="4195763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38925" name="Oval 13">
            <a:extLst>
              <a:ext uri="{FF2B5EF4-FFF2-40B4-BE49-F238E27FC236}">
                <a16:creationId xmlns:a16="http://schemas.microsoft.com/office/drawing/2014/main" id="{85995195-CDCC-415C-A4F4-E80C787BA8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9838" y="3910013"/>
            <a:ext cx="590550" cy="576262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38926" name="Text Box 14">
            <a:extLst>
              <a:ext uri="{FF2B5EF4-FFF2-40B4-BE49-F238E27FC236}">
                <a16:creationId xmlns:a16="http://schemas.microsoft.com/office/drawing/2014/main" id="{D1A2485A-5777-469A-A21B-FB80CAD9DE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5088" y="3938588"/>
            <a:ext cx="4016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</a:t>
            </a:r>
            <a:endParaRPr lang="en-US" altLang="hi-IN" b="1"/>
          </a:p>
        </p:txBody>
      </p:sp>
      <p:sp>
        <p:nvSpPr>
          <p:cNvPr id="38927" name="Line 15">
            <a:extLst>
              <a:ext uri="{FF2B5EF4-FFF2-40B4-BE49-F238E27FC236}">
                <a16:creationId xmlns:a16="http://schemas.microsoft.com/office/drawing/2014/main" id="{1B7AE6A6-8777-4ECC-B22A-CA604B02090C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4963" y="4205288"/>
            <a:ext cx="923925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38928" name="Oval 16">
            <a:extLst>
              <a:ext uri="{FF2B5EF4-FFF2-40B4-BE49-F238E27FC236}">
                <a16:creationId xmlns:a16="http://schemas.microsoft.com/office/drawing/2014/main" id="{4E877D4D-5D0F-4D64-9E8D-82CBC2E01A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3938" y="2495550"/>
            <a:ext cx="590550" cy="576263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38929" name="Text Box 17">
            <a:extLst>
              <a:ext uri="{FF2B5EF4-FFF2-40B4-BE49-F238E27FC236}">
                <a16:creationId xmlns:a16="http://schemas.microsoft.com/office/drawing/2014/main" id="{BA51FE58-DCF8-4044-9071-36D4A05920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7763" y="253047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2</a:t>
            </a:r>
            <a:endParaRPr lang="en-US" altLang="hi-IN" b="1"/>
          </a:p>
        </p:txBody>
      </p:sp>
      <p:sp>
        <p:nvSpPr>
          <p:cNvPr id="38930" name="Oval 18">
            <a:extLst>
              <a:ext uri="{FF2B5EF4-FFF2-40B4-BE49-F238E27FC236}">
                <a16:creationId xmlns:a16="http://schemas.microsoft.com/office/drawing/2014/main" id="{0DE64DF3-BB19-4251-ADDC-7F5D11F782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5075" y="2505075"/>
            <a:ext cx="590550" cy="576263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38931" name="Text Box 19">
            <a:extLst>
              <a:ext uri="{FF2B5EF4-FFF2-40B4-BE49-F238E27FC236}">
                <a16:creationId xmlns:a16="http://schemas.microsoft.com/office/drawing/2014/main" id="{13AEFF1B-E4C2-4A43-A53D-D588F500F8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0325" y="2533650"/>
            <a:ext cx="401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</a:t>
            </a:r>
            <a:endParaRPr lang="en-US" altLang="hi-IN" b="1"/>
          </a:p>
        </p:txBody>
      </p:sp>
      <p:sp>
        <p:nvSpPr>
          <p:cNvPr id="38932" name="Line 20">
            <a:extLst>
              <a:ext uri="{FF2B5EF4-FFF2-40B4-BE49-F238E27FC236}">
                <a16:creationId xmlns:a16="http://schemas.microsoft.com/office/drawing/2014/main" id="{F0CBC0D3-6108-44B4-9091-E0AEE47AA81F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2800350"/>
            <a:ext cx="923925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38933" name="Oval 21">
            <a:extLst>
              <a:ext uri="{FF2B5EF4-FFF2-40B4-BE49-F238E27FC236}">
                <a16:creationId xmlns:a16="http://schemas.microsoft.com/office/drawing/2014/main" id="{BB20A877-4994-41E9-B9EE-0970EC5188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7375" y="3906838"/>
            <a:ext cx="590550" cy="576262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38934" name="Text Box 22">
            <a:extLst>
              <a:ext uri="{FF2B5EF4-FFF2-40B4-BE49-F238E27FC236}">
                <a16:creationId xmlns:a16="http://schemas.microsoft.com/office/drawing/2014/main" id="{C45707CF-BE5E-47A8-B1DD-7E73F964B7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5488" y="395605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2</a:t>
            </a:r>
            <a:endParaRPr lang="en-US" altLang="hi-IN" b="1"/>
          </a:p>
        </p:txBody>
      </p:sp>
      <p:sp>
        <p:nvSpPr>
          <p:cNvPr id="38935" name="Line 23">
            <a:extLst>
              <a:ext uri="{FF2B5EF4-FFF2-40B4-BE49-F238E27FC236}">
                <a16:creationId xmlns:a16="http://schemas.microsoft.com/office/drawing/2014/main" id="{0DEEB96D-DAB9-4E78-8C19-3179181F1EC6}"/>
              </a:ext>
            </a:extLst>
          </p:cNvPr>
          <p:cNvSpPr>
            <a:spLocks noChangeShapeType="1"/>
          </p:cNvSpPr>
          <p:nvPr/>
        </p:nvSpPr>
        <p:spPr bwMode="auto">
          <a:xfrm>
            <a:off x="2163763" y="3059113"/>
            <a:ext cx="0" cy="8429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38936" name="Line 24">
            <a:extLst>
              <a:ext uri="{FF2B5EF4-FFF2-40B4-BE49-F238E27FC236}">
                <a16:creationId xmlns:a16="http://schemas.microsoft.com/office/drawing/2014/main" id="{AD7E4228-B0DE-4E89-9679-D02E794D85CF}"/>
              </a:ext>
            </a:extLst>
          </p:cNvPr>
          <p:cNvSpPr>
            <a:spLocks noChangeShapeType="1"/>
          </p:cNvSpPr>
          <p:nvPr/>
        </p:nvSpPr>
        <p:spPr bwMode="auto">
          <a:xfrm>
            <a:off x="3644900" y="3068638"/>
            <a:ext cx="0" cy="8429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38937" name="Line 25">
            <a:extLst>
              <a:ext uri="{FF2B5EF4-FFF2-40B4-BE49-F238E27FC236}">
                <a16:creationId xmlns:a16="http://schemas.microsoft.com/office/drawing/2014/main" id="{0A314B0B-53F0-485C-A091-2FFBDC98AC28}"/>
              </a:ext>
            </a:extLst>
          </p:cNvPr>
          <p:cNvSpPr>
            <a:spLocks noChangeShapeType="1"/>
          </p:cNvSpPr>
          <p:nvPr/>
        </p:nvSpPr>
        <p:spPr bwMode="auto">
          <a:xfrm>
            <a:off x="5126038" y="3078163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38938" name="Line 26">
            <a:extLst>
              <a:ext uri="{FF2B5EF4-FFF2-40B4-BE49-F238E27FC236}">
                <a16:creationId xmlns:a16="http://schemas.microsoft.com/office/drawing/2014/main" id="{C4E0AFCA-EA65-4C95-A858-B352E7C41774}"/>
              </a:ext>
            </a:extLst>
          </p:cNvPr>
          <p:cNvSpPr>
            <a:spLocks noChangeShapeType="1"/>
          </p:cNvSpPr>
          <p:nvPr/>
        </p:nvSpPr>
        <p:spPr bwMode="auto">
          <a:xfrm>
            <a:off x="6607175" y="3087688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38939" name="Line 27">
            <a:extLst>
              <a:ext uri="{FF2B5EF4-FFF2-40B4-BE49-F238E27FC236}">
                <a16:creationId xmlns:a16="http://schemas.microsoft.com/office/drawing/2014/main" id="{3C05875F-AB07-466C-8C90-0AC355741BF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52863" y="2944813"/>
            <a:ext cx="1023937" cy="10287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38940" name="Text Box 28">
            <a:extLst>
              <a:ext uri="{FF2B5EF4-FFF2-40B4-BE49-F238E27FC236}">
                <a16:creationId xmlns:a16="http://schemas.microsoft.com/office/drawing/2014/main" id="{D15EB698-CB3F-45DF-9D63-E3F5A0717A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2084388"/>
            <a:ext cx="285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r</a:t>
            </a:r>
          </a:p>
        </p:txBody>
      </p:sp>
      <p:sp>
        <p:nvSpPr>
          <p:cNvPr id="38941" name="Text Box 29">
            <a:extLst>
              <a:ext uri="{FF2B5EF4-FFF2-40B4-BE49-F238E27FC236}">
                <a16:creationId xmlns:a16="http://schemas.microsoft.com/office/drawing/2014/main" id="{0E33D99C-5C78-4479-8CEB-ED78191868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0" y="2093913"/>
            <a:ext cx="303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s</a:t>
            </a:r>
          </a:p>
        </p:txBody>
      </p:sp>
      <p:sp>
        <p:nvSpPr>
          <p:cNvPr id="38942" name="Text Box 30">
            <a:extLst>
              <a:ext uri="{FF2B5EF4-FFF2-40B4-BE49-F238E27FC236}">
                <a16:creationId xmlns:a16="http://schemas.microsoft.com/office/drawing/2014/main" id="{FCA9995F-087D-4D9D-91A7-E31BF1F179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1100" y="2103438"/>
            <a:ext cx="268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t</a:t>
            </a:r>
          </a:p>
        </p:txBody>
      </p:sp>
      <p:sp>
        <p:nvSpPr>
          <p:cNvPr id="38943" name="Text Box 31">
            <a:extLst>
              <a:ext uri="{FF2B5EF4-FFF2-40B4-BE49-F238E27FC236}">
                <a16:creationId xmlns:a16="http://schemas.microsoft.com/office/drawing/2014/main" id="{1BEFC920-725B-44DA-943D-BD3C5B805C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7950" y="211296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u</a:t>
            </a:r>
          </a:p>
        </p:txBody>
      </p:sp>
      <p:sp>
        <p:nvSpPr>
          <p:cNvPr id="38944" name="Text Box 32">
            <a:extLst>
              <a:ext uri="{FF2B5EF4-FFF2-40B4-BE49-F238E27FC236}">
                <a16:creationId xmlns:a16="http://schemas.microsoft.com/office/drawing/2014/main" id="{12152377-A3B6-4EE0-8841-70E38DCACB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9775" y="437991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v</a:t>
            </a:r>
          </a:p>
        </p:txBody>
      </p:sp>
      <p:sp>
        <p:nvSpPr>
          <p:cNvPr id="38945" name="Text Box 33">
            <a:extLst>
              <a:ext uri="{FF2B5EF4-FFF2-40B4-BE49-F238E27FC236}">
                <a16:creationId xmlns:a16="http://schemas.microsoft.com/office/drawing/2014/main" id="{78233165-E880-4F96-A65D-A6E0F6AE52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0913" y="4389438"/>
            <a:ext cx="404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w</a:t>
            </a:r>
          </a:p>
        </p:txBody>
      </p:sp>
      <p:sp>
        <p:nvSpPr>
          <p:cNvPr id="38946" name="Text Box 34">
            <a:extLst>
              <a:ext uri="{FF2B5EF4-FFF2-40B4-BE49-F238E27FC236}">
                <a16:creationId xmlns:a16="http://schemas.microsoft.com/office/drawing/2014/main" id="{697957F7-AD23-41E5-B294-896870C12C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6338" y="439896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x</a:t>
            </a:r>
          </a:p>
        </p:txBody>
      </p:sp>
      <p:sp>
        <p:nvSpPr>
          <p:cNvPr id="38947" name="Text Box 35">
            <a:extLst>
              <a:ext uri="{FF2B5EF4-FFF2-40B4-BE49-F238E27FC236}">
                <a16:creationId xmlns:a16="http://schemas.microsoft.com/office/drawing/2014/main" id="{D449B5DE-3F8F-45A1-942E-9CEFF4E1A0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7475" y="4394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y</a:t>
            </a:r>
          </a:p>
        </p:txBody>
      </p:sp>
      <p:sp>
        <p:nvSpPr>
          <p:cNvPr id="38948" name="Text Box 36">
            <a:extLst>
              <a:ext uri="{FF2B5EF4-FFF2-40B4-BE49-F238E27FC236}">
                <a16:creationId xmlns:a16="http://schemas.microsoft.com/office/drawing/2014/main" id="{DF35A5BB-EDBF-44A9-9EDF-12295EC1A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9700" y="5302250"/>
            <a:ext cx="1431925" cy="850900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/>
              <a:t>Q:</a:t>
            </a:r>
            <a:r>
              <a:rPr lang="en-US" altLang="hi-IN"/>
              <a:t>  t  x  v</a:t>
            </a:r>
          </a:p>
          <a:p>
            <a:r>
              <a:rPr lang="en-US" altLang="hi-IN"/>
              <a:t>      2  2  2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76B864-1789-4FB1-96F0-3DAD1316C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52</a:t>
            </a:fld>
            <a:endParaRPr lang="en-US" altLang="hi-IN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FD795CA-F445-4BDE-8C35-C23653D5E066}"/>
              </a:ext>
            </a:extLst>
          </p:cNvPr>
          <p:cNvSpPr txBox="1"/>
          <p:nvPr/>
        </p:nvSpPr>
        <p:spPr>
          <a:xfrm>
            <a:off x="685800" y="5486400"/>
            <a:ext cx="28384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/>
              <a:t>Order of visit: </a:t>
            </a:r>
          </a:p>
          <a:p>
            <a:pPr algn="l"/>
            <a:r>
              <a:rPr lang="en-US" b="1" dirty="0"/>
              <a:t>s, w, r, t, x, v</a:t>
            </a:r>
            <a:endParaRPr lang="hi-IN" b="1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54CCA721-3B7B-47D2-BF26-2E7707F75D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i-IN"/>
              <a:t>Example (BFS)</a:t>
            </a:r>
          </a:p>
        </p:txBody>
      </p:sp>
      <p:sp>
        <p:nvSpPr>
          <p:cNvPr id="39939" name="Oval 3">
            <a:extLst>
              <a:ext uri="{FF2B5EF4-FFF2-40B4-BE49-F238E27FC236}">
                <a16:creationId xmlns:a16="http://schemas.microsoft.com/office/drawing/2014/main" id="{EABBB4FF-C017-47A0-BA30-7339FFAE6F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6425" y="2497138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39940" name="Text Box 4">
            <a:extLst>
              <a:ext uri="{FF2B5EF4-FFF2-40B4-BE49-F238E27FC236}">
                <a16:creationId xmlns:a16="http://schemas.microsoft.com/office/drawing/2014/main" id="{A5CF1742-E394-4200-B621-9738ACA2F4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0250" y="256063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1</a:t>
            </a:r>
            <a:endParaRPr lang="en-US" altLang="hi-IN" b="1"/>
          </a:p>
        </p:txBody>
      </p:sp>
      <p:sp>
        <p:nvSpPr>
          <p:cNvPr id="39941" name="Oval 5">
            <a:extLst>
              <a:ext uri="{FF2B5EF4-FFF2-40B4-BE49-F238E27FC236}">
                <a16:creationId xmlns:a16="http://schemas.microsoft.com/office/drawing/2014/main" id="{9E1447AA-ACED-4455-9302-E8A5528484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7563" y="2490788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39942" name="Text Box 6">
            <a:extLst>
              <a:ext uri="{FF2B5EF4-FFF2-40B4-BE49-F238E27FC236}">
                <a16:creationId xmlns:a16="http://schemas.microsoft.com/office/drawing/2014/main" id="{D73ECB28-7505-4BEC-A869-C78F6249EB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1388" y="25542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0</a:t>
            </a:r>
            <a:endParaRPr lang="en-US" altLang="hi-IN" b="1"/>
          </a:p>
        </p:txBody>
      </p:sp>
      <p:sp>
        <p:nvSpPr>
          <p:cNvPr id="39943" name="Line 7">
            <a:extLst>
              <a:ext uri="{FF2B5EF4-FFF2-40B4-BE49-F238E27FC236}">
                <a16:creationId xmlns:a16="http://schemas.microsoft.com/office/drawing/2014/main" id="{896B419E-68EA-40D4-A32E-09A9A74413B8}"/>
              </a:ext>
            </a:extLst>
          </p:cNvPr>
          <p:cNvSpPr>
            <a:spLocks noChangeShapeType="1"/>
          </p:cNvSpPr>
          <p:nvPr/>
        </p:nvSpPr>
        <p:spPr bwMode="auto">
          <a:xfrm>
            <a:off x="2452688" y="2786063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39944" name="Oval 8">
            <a:extLst>
              <a:ext uri="{FF2B5EF4-FFF2-40B4-BE49-F238E27FC236}">
                <a16:creationId xmlns:a16="http://schemas.microsoft.com/office/drawing/2014/main" id="{41CF0F77-D3E6-4687-82EE-19ED937AF5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7563" y="3906838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39945" name="Text Box 9">
            <a:extLst>
              <a:ext uri="{FF2B5EF4-FFF2-40B4-BE49-F238E27FC236}">
                <a16:creationId xmlns:a16="http://schemas.microsoft.com/office/drawing/2014/main" id="{532E7DD5-7DC5-4083-9251-FCCD3D1DBE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1388" y="395605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1</a:t>
            </a:r>
            <a:endParaRPr lang="en-US" altLang="hi-IN" b="1"/>
          </a:p>
        </p:txBody>
      </p:sp>
      <p:sp>
        <p:nvSpPr>
          <p:cNvPr id="39946" name="Oval 10">
            <a:extLst>
              <a:ext uri="{FF2B5EF4-FFF2-40B4-BE49-F238E27FC236}">
                <a16:creationId xmlns:a16="http://schemas.microsoft.com/office/drawing/2014/main" id="{92E16572-48AE-4923-8CC3-0B81E2CDF6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8700" y="3900488"/>
            <a:ext cx="590550" cy="576262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39947" name="Text Box 11">
            <a:extLst>
              <a:ext uri="{FF2B5EF4-FFF2-40B4-BE49-F238E27FC236}">
                <a16:creationId xmlns:a16="http://schemas.microsoft.com/office/drawing/2014/main" id="{177318A5-DB28-4711-84C9-75665661BF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2525" y="393541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2</a:t>
            </a:r>
            <a:endParaRPr lang="en-US" altLang="hi-IN" b="1"/>
          </a:p>
        </p:txBody>
      </p:sp>
      <p:sp>
        <p:nvSpPr>
          <p:cNvPr id="39948" name="Line 12">
            <a:extLst>
              <a:ext uri="{FF2B5EF4-FFF2-40B4-BE49-F238E27FC236}">
                <a16:creationId xmlns:a16="http://schemas.microsoft.com/office/drawing/2014/main" id="{82FDC7C1-C4B6-4F87-BEC1-EDEB16F59645}"/>
              </a:ext>
            </a:extLst>
          </p:cNvPr>
          <p:cNvSpPr>
            <a:spLocks noChangeShapeType="1"/>
          </p:cNvSpPr>
          <p:nvPr/>
        </p:nvSpPr>
        <p:spPr bwMode="auto">
          <a:xfrm>
            <a:off x="3933825" y="4195763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39949" name="Oval 13">
            <a:extLst>
              <a:ext uri="{FF2B5EF4-FFF2-40B4-BE49-F238E27FC236}">
                <a16:creationId xmlns:a16="http://schemas.microsoft.com/office/drawing/2014/main" id="{811C42AD-F9C2-44A9-B1B4-0AD5B173DE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9838" y="3910013"/>
            <a:ext cx="590550" cy="576262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39950" name="Text Box 14">
            <a:extLst>
              <a:ext uri="{FF2B5EF4-FFF2-40B4-BE49-F238E27FC236}">
                <a16:creationId xmlns:a16="http://schemas.microsoft.com/office/drawing/2014/main" id="{9C1921FA-F4D5-4368-8A93-60ADFF4AA6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5088" y="3938588"/>
            <a:ext cx="4016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</a:t>
            </a:r>
            <a:endParaRPr lang="en-US" altLang="hi-IN" b="1"/>
          </a:p>
        </p:txBody>
      </p:sp>
      <p:sp>
        <p:nvSpPr>
          <p:cNvPr id="39951" name="Line 15">
            <a:extLst>
              <a:ext uri="{FF2B5EF4-FFF2-40B4-BE49-F238E27FC236}">
                <a16:creationId xmlns:a16="http://schemas.microsoft.com/office/drawing/2014/main" id="{D2FA8E4B-FDFA-4883-987E-FA7FA643EA61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4963" y="4205288"/>
            <a:ext cx="923925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39952" name="Oval 16">
            <a:extLst>
              <a:ext uri="{FF2B5EF4-FFF2-40B4-BE49-F238E27FC236}">
                <a16:creationId xmlns:a16="http://schemas.microsoft.com/office/drawing/2014/main" id="{E27D978E-F4E6-4E36-A177-2E0C2A638B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3938" y="2495550"/>
            <a:ext cx="590550" cy="576263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39953" name="Text Box 17">
            <a:extLst>
              <a:ext uri="{FF2B5EF4-FFF2-40B4-BE49-F238E27FC236}">
                <a16:creationId xmlns:a16="http://schemas.microsoft.com/office/drawing/2014/main" id="{C08F49B5-9799-44DD-9538-94ABE1A597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7763" y="253047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2</a:t>
            </a:r>
            <a:endParaRPr lang="en-US" altLang="hi-IN" b="1"/>
          </a:p>
        </p:txBody>
      </p:sp>
      <p:sp>
        <p:nvSpPr>
          <p:cNvPr id="39954" name="Oval 18">
            <a:extLst>
              <a:ext uri="{FF2B5EF4-FFF2-40B4-BE49-F238E27FC236}">
                <a16:creationId xmlns:a16="http://schemas.microsoft.com/office/drawing/2014/main" id="{22DF4DAC-9204-467E-AA63-79995572E0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5075" y="2505075"/>
            <a:ext cx="590550" cy="576263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39955" name="Text Box 19">
            <a:extLst>
              <a:ext uri="{FF2B5EF4-FFF2-40B4-BE49-F238E27FC236}">
                <a16:creationId xmlns:a16="http://schemas.microsoft.com/office/drawing/2014/main" id="{D3CE5D38-3C0C-47D9-ACB1-AF25DF8DFC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8900" y="25542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3</a:t>
            </a:r>
            <a:endParaRPr lang="en-US" altLang="hi-IN" b="1"/>
          </a:p>
        </p:txBody>
      </p:sp>
      <p:sp>
        <p:nvSpPr>
          <p:cNvPr id="39956" name="Line 20">
            <a:extLst>
              <a:ext uri="{FF2B5EF4-FFF2-40B4-BE49-F238E27FC236}">
                <a16:creationId xmlns:a16="http://schemas.microsoft.com/office/drawing/2014/main" id="{C2A86AD3-36E5-4FC6-9CC4-C329CEF72889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2800350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39957" name="Oval 21">
            <a:extLst>
              <a:ext uri="{FF2B5EF4-FFF2-40B4-BE49-F238E27FC236}">
                <a16:creationId xmlns:a16="http://schemas.microsoft.com/office/drawing/2014/main" id="{A131BB74-CF43-4C4F-95D9-9F11C2265D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7375" y="3906838"/>
            <a:ext cx="590550" cy="576262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39958" name="Text Box 22">
            <a:extLst>
              <a:ext uri="{FF2B5EF4-FFF2-40B4-BE49-F238E27FC236}">
                <a16:creationId xmlns:a16="http://schemas.microsoft.com/office/drawing/2014/main" id="{1C8A13E4-F57E-436D-98B6-B69C3AC859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5488" y="395605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2</a:t>
            </a:r>
            <a:endParaRPr lang="en-US" altLang="hi-IN" b="1"/>
          </a:p>
        </p:txBody>
      </p:sp>
      <p:sp>
        <p:nvSpPr>
          <p:cNvPr id="39959" name="Line 23">
            <a:extLst>
              <a:ext uri="{FF2B5EF4-FFF2-40B4-BE49-F238E27FC236}">
                <a16:creationId xmlns:a16="http://schemas.microsoft.com/office/drawing/2014/main" id="{8F8CF921-A82F-4C97-BD1A-D483C38059E6}"/>
              </a:ext>
            </a:extLst>
          </p:cNvPr>
          <p:cNvSpPr>
            <a:spLocks noChangeShapeType="1"/>
          </p:cNvSpPr>
          <p:nvPr/>
        </p:nvSpPr>
        <p:spPr bwMode="auto">
          <a:xfrm>
            <a:off x="2163763" y="3059113"/>
            <a:ext cx="0" cy="8429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39960" name="Line 24">
            <a:extLst>
              <a:ext uri="{FF2B5EF4-FFF2-40B4-BE49-F238E27FC236}">
                <a16:creationId xmlns:a16="http://schemas.microsoft.com/office/drawing/2014/main" id="{56BEA8B0-0FE5-42D4-8735-3123C9330AF5}"/>
              </a:ext>
            </a:extLst>
          </p:cNvPr>
          <p:cNvSpPr>
            <a:spLocks noChangeShapeType="1"/>
          </p:cNvSpPr>
          <p:nvPr/>
        </p:nvSpPr>
        <p:spPr bwMode="auto">
          <a:xfrm>
            <a:off x="3644900" y="3068638"/>
            <a:ext cx="0" cy="8429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39961" name="Line 25">
            <a:extLst>
              <a:ext uri="{FF2B5EF4-FFF2-40B4-BE49-F238E27FC236}">
                <a16:creationId xmlns:a16="http://schemas.microsoft.com/office/drawing/2014/main" id="{C1CD23A9-43B3-42BA-A560-45F61B0CB8E8}"/>
              </a:ext>
            </a:extLst>
          </p:cNvPr>
          <p:cNvSpPr>
            <a:spLocks noChangeShapeType="1"/>
          </p:cNvSpPr>
          <p:nvPr/>
        </p:nvSpPr>
        <p:spPr bwMode="auto">
          <a:xfrm>
            <a:off x="5126038" y="3078163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39962" name="Line 26">
            <a:extLst>
              <a:ext uri="{FF2B5EF4-FFF2-40B4-BE49-F238E27FC236}">
                <a16:creationId xmlns:a16="http://schemas.microsoft.com/office/drawing/2014/main" id="{1643B4B4-D4B1-4A71-835D-479B69BA450C}"/>
              </a:ext>
            </a:extLst>
          </p:cNvPr>
          <p:cNvSpPr>
            <a:spLocks noChangeShapeType="1"/>
          </p:cNvSpPr>
          <p:nvPr/>
        </p:nvSpPr>
        <p:spPr bwMode="auto">
          <a:xfrm>
            <a:off x="6607175" y="3087688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39963" name="Line 27">
            <a:extLst>
              <a:ext uri="{FF2B5EF4-FFF2-40B4-BE49-F238E27FC236}">
                <a16:creationId xmlns:a16="http://schemas.microsoft.com/office/drawing/2014/main" id="{650D61D1-80A7-466C-83F6-C098E6931B1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52863" y="2944813"/>
            <a:ext cx="1023937" cy="10287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39964" name="Text Box 28">
            <a:extLst>
              <a:ext uri="{FF2B5EF4-FFF2-40B4-BE49-F238E27FC236}">
                <a16:creationId xmlns:a16="http://schemas.microsoft.com/office/drawing/2014/main" id="{50D17D13-E759-46B7-AE0A-9DF3CFC864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2084388"/>
            <a:ext cx="285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r</a:t>
            </a:r>
          </a:p>
        </p:txBody>
      </p:sp>
      <p:sp>
        <p:nvSpPr>
          <p:cNvPr id="39965" name="Text Box 29">
            <a:extLst>
              <a:ext uri="{FF2B5EF4-FFF2-40B4-BE49-F238E27FC236}">
                <a16:creationId xmlns:a16="http://schemas.microsoft.com/office/drawing/2014/main" id="{311F00F0-A27F-4A30-9743-EA6D4CB4C8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0" y="2093913"/>
            <a:ext cx="303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s</a:t>
            </a:r>
          </a:p>
        </p:txBody>
      </p:sp>
      <p:sp>
        <p:nvSpPr>
          <p:cNvPr id="39966" name="Text Box 30">
            <a:extLst>
              <a:ext uri="{FF2B5EF4-FFF2-40B4-BE49-F238E27FC236}">
                <a16:creationId xmlns:a16="http://schemas.microsoft.com/office/drawing/2014/main" id="{13767DA2-A1B3-4CAC-909E-21C55EB8EB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1100" y="2103438"/>
            <a:ext cx="268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t</a:t>
            </a:r>
          </a:p>
        </p:txBody>
      </p:sp>
      <p:sp>
        <p:nvSpPr>
          <p:cNvPr id="39967" name="Text Box 31">
            <a:extLst>
              <a:ext uri="{FF2B5EF4-FFF2-40B4-BE49-F238E27FC236}">
                <a16:creationId xmlns:a16="http://schemas.microsoft.com/office/drawing/2014/main" id="{75A12BFA-71AE-4BB7-9A47-AA69B963CD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7950" y="211296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u</a:t>
            </a:r>
          </a:p>
        </p:txBody>
      </p:sp>
      <p:sp>
        <p:nvSpPr>
          <p:cNvPr id="39968" name="Text Box 32">
            <a:extLst>
              <a:ext uri="{FF2B5EF4-FFF2-40B4-BE49-F238E27FC236}">
                <a16:creationId xmlns:a16="http://schemas.microsoft.com/office/drawing/2014/main" id="{70F8095C-36F2-46BE-B022-1E0873D34E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9775" y="437991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v</a:t>
            </a:r>
          </a:p>
        </p:txBody>
      </p:sp>
      <p:sp>
        <p:nvSpPr>
          <p:cNvPr id="39969" name="Text Box 33">
            <a:extLst>
              <a:ext uri="{FF2B5EF4-FFF2-40B4-BE49-F238E27FC236}">
                <a16:creationId xmlns:a16="http://schemas.microsoft.com/office/drawing/2014/main" id="{AFE57F29-3D2B-44C6-91DE-7D0A622C93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0913" y="4389438"/>
            <a:ext cx="404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w</a:t>
            </a:r>
          </a:p>
        </p:txBody>
      </p:sp>
      <p:sp>
        <p:nvSpPr>
          <p:cNvPr id="39970" name="Text Box 34">
            <a:extLst>
              <a:ext uri="{FF2B5EF4-FFF2-40B4-BE49-F238E27FC236}">
                <a16:creationId xmlns:a16="http://schemas.microsoft.com/office/drawing/2014/main" id="{EF5A52F7-812D-4834-8E28-2752EECD2F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6338" y="439896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x</a:t>
            </a:r>
          </a:p>
        </p:txBody>
      </p:sp>
      <p:sp>
        <p:nvSpPr>
          <p:cNvPr id="39971" name="Text Box 35">
            <a:extLst>
              <a:ext uri="{FF2B5EF4-FFF2-40B4-BE49-F238E27FC236}">
                <a16:creationId xmlns:a16="http://schemas.microsoft.com/office/drawing/2014/main" id="{2F479592-AC7D-4B29-80AA-B5671BA4F8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7475" y="4394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y</a:t>
            </a:r>
          </a:p>
        </p:txBody>
      </p:sp>
      <p:sp>
        <p:nvSpPr>
          <p:cNvPr id="39972" name="Text Box 36">
            <a:extLst>
              <a:ext uri="{FF2B5EF4-FFF2-40B4-BE49-F238E27FC236}">
                <a16:creationId xmlns:a16="http://schemas.microsoft.com/office/drawing/2014/main" id="{9738C8EA-43F9-4FC5-8A3D-F167BEF8CE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9700" y="5302250"/>
            <a:ext cx="1465263" cy="850900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/>
              <a:t>Q:</a:t>
            </a:r>
            <a:r>
              <a:rPr lang="en-US" altLang="hi-IN"/>
              <a:t>  x  v  u</a:t>
            </a:r>
          </a:p>
          <a:p>
            <a:r>
              <a:rPr lang="en-US" altLang="hi-IN"/>
              <a:t>      2  2  3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597D9D-A208-4901-A468-30169F3AD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53</a:t>
            </a:fld>
            <a:endParaRPr lang="en-US" altLang="hi-IN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66BB68C-EB8F-4951-94DF-69DCE6ECEFE1}"/>
              </a:ext>
            </a:extLst>
          </p:cNvPr>
          <p:cNvSpPr txBox="1"/>
          <p:nvPr/>
        </p:nvSpPr>
        <p:spPr>
          <a:xfrm>
            <a:off x="685800" y="5486400"/>
            <a:ext cx="28384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/>
              <a:t>Order of visit: </a:t>
            </a:r>
          </a:p>
          <a:p>
            <a:pPr algn="l"/>
            <a:r>
              <a:rPr lang="en-US" b="1" dirty="0"/>
              <a:t>s, w, r, t, x, v, u</a:t>
            </a:r>
            <a:endParaRPr lang="hi-IN" b="1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DAE9C5D9-E4D0-42F3-9068-57D4AB4C45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i-IN"/>
              <a:t>Example (BFS)</a:t>
            </a:r>
          </a:p>
        </p:txBody>
      </p:sp>
      <p:sp>
        <p:nvSpPr>
          <p:cNvPr id="40963" name="Oval 3">
            <a:extLst>
              <a:ext uri="{FF2B5EF4-FFF2-40B4-BE49-F238E27FC236}">
                <a16:creationId xmlns:a16="http://schemas.microsoft.com/office/drawing/2014/main" id="{3A300990-89C9-4380-8776-2BC45A905D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6425" y="2497138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40964" name="Text Box 4">
            <a:extLst>
              <a:ext uri="{FF2B5EF4-FFF2-40B4-BE49-F238E27FC236}">
                <a16:creationId xmlns:a16="http://schemas.microsoft.com/office/drawing/2014/main" id="{B6ED017F-EF5E-4D2B-BDFE-3206F1F61A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0250" y="256063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1</a:t>
            </a:r>
            <a:endParaRPr lang="en-US" altLang="hi-IN" b="1"/>
          </a:p>
        </p:txBody>
      </p:sp>
      <p:sp>
        <p:nvSpPr>
          <p:cNvPr id="40965" name="Oval 5">
            <a:extLst>
              <a:ext uri="{FF2B5EF4-FFF2-40B4-BE49-F238E27FC236}">
                <a16:creationId xmlns:a16="http://schemas.microsoft.com/office/drawing/2014/main" id="{B964B4D6-4006-4CB1-B4DF-982CFF529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7563" y="2490788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40966" name="Text Box 6">
            <a:extLst>
              <a:ext uri="{FF2B5EF4-FFF2-40B4-BE49-F238E27FC236}">
                <a16:creationId xmlns:a16="http://schemas.microsoft.com/office/drawing/2014/main" id="{3DCD28FE-6BEF-44E2-ACA7-97965D93CE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1388" y="25542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0</a:t>
            </a:r>
            <a:endParaRPr lang="en-US" altLang="hi-IN" b="1"/>
          </a:p>
        </p:txBody>
      </p:sp>
      <p:sp>
        <p:nvSpPr>
          <p:cNvPr id="40967" name="Line 7">
            <a:extLst>
              <a:ext uri="{FF2B5EF4-FFF2-40B4-BE49-F238E27FC236}">
                <a16:creationId xmlns:a16="http://schemas.microsoft.com/office/drawing/2014/main" id="{C763F7C5-4A62-4433-9003-9793F5A63E0F}"/>
              </a:ext>
            </a:extLst>
          </p:cNvPr>
          <p:cNvSpPr>
            <a:spLocks noChangeShapeType="1"/>
          </p:cNvSpPr>
          <p:nvPr/>
        </p:nvSpPr>
        <p:spPr bwMode="auto">
          <a:xfrm>
            <a:off x="2452688" y="2786063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40968" name="Oval 8">
            <a:extLst>
              <a:ext uri="{FF2B5EF4-FFF2-40B4-BE49-F238E27FC236}">
                <a16:creationId xmlns:a16="http://schemas.microsoft.com/office/drawing/2014/main" id="{C937D7F7-B6C6-4FEA-9455-E81672E8F6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7563" y="3906838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40969" name="Text Box 9">
            <a:extLst>
              <a:ext uri="{FF2B5EF4-FFF2-40B4-BE49-F238E27FC236}">
                <a16:creationId xmlns:a16="http://schemas.microsoft.com/office/drawing/2014/main" id="{51F19433-4E2E-4EE6-97D6-2C96D28555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1388" y="395605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1</a:t>
            </a:r>
            <a:endParaRPr lang="en-US" altLang="hi-IN" b="1"/>
          </a:p>
        </p:txBody>
      </p:sp>
      <p:sp>
        <p:nvSpPr>
          <p:cNvPr id="40970" name="Oval 10">
            <a:extLst>
              <a:ext uri="{FF2B5EF4-FFF2-40B4-BE49-F238E27FC236}">
                <a16:creationId xmlns:a16="http://schemas.microsoft.com/office/drawing/2014/main" id="{E2D9D171-0262-400B-8604-F792A300FD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8700" y="3900488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40971" name="Text Box 11">
            <a:extLst>
              <a:ext uri="{FF2B5EF4-FFF2-40B4-BE49-F238E27FC236}">
                <a16:creationId xmlns:a16="http://schemas.microsoft.com/office/drawing/2014/main" id="{FC832E0E-D4AB-48E4-987D-DAB0CE8216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2525" y="393541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2</a:t>
            </a:r>
            <a:endParaRPr lang="en-US" altLang="hi-IN" b="1"/>
          </a:p>
        </p:txBody>
      </p:sp>
      <p:sp>
        <p:nvSpPr>
          <p:cNvPr id="40972" name="Line 12">
            <a:extLst>
              <a:ext uri="{FF2B5EF4-FFF2-40B4-BE49-F238E27FC236}">
                <a16:creationId xmlns:a16="http://schemas.microsoft.com/office/drawing/2014/main" id="{6D69DB9F-9DB2-4CF3-8E60-079401BBB250}"/>
              </a:ext>
            </a:extLst>
          </p:cNvPr>
          <p:cNvSpPr>
            <a:spLocks noChangeShapeType="1"/>
          </p:cNvSpPr>
          <p:nvPr/>
        </p:nvSpPr>
        <p:spPr bwMode="auto">
          <a:xfrm>
            <a:off x="3933825" y="4195763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40973" name="Oval 13">
            <a:extLst>
              <a:ext uri="{FF2B5EF4-FFF2-40B4-BE49-F238E27FC236}">
                <a16:creationId xmlns:a16="http://schemas.microsoft.com/office/drawing/2014/main" id="{BED154C8-76E1-46EE-AEDA-1DA0D5BE24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9838" y="3910013"/>
            <a:ext cx="590550" cy="576262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40974" name="Text Box 14">
            <a:extLst>
              <a:ext uri="{FF2B5EF4-FFF2-40B4-BE49-F238E27FC236}">
                <a16:creationId xmlns:a16="http://schemas.microsoft.com/office/drawing/2014/main" id="{AA54749C-AE21-4D42-AEE3-DC689B2680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75" y="394493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3</a:t>
            </a:r>
            <a:endParaRPr lang="en-US" altLang="hi-IN" b="1"/>
          </a:p>
        </p:txBody>
      </p:sp>
      <p:sp>
        <p:nvSpPr>
          <p:cNvPr id="40975" name="Line 15">
            <a:extLst>
              <a:ext uri="{FF2B5EF4-FFF2-40B4-BE49-F238E27FC236}">
                <a16:creationId xmlns:a16="http://schemas.microsoft.com/office/drawing/2014/main" id="{36AFD1E8-31A2-4319-98DF-D5B4C6B7FB9F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4963" y="4205288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40976" name="Oval 16">
            <a:extLst>
              <a:ext uri="{FF2B5EF4-FFF2-40B4-BE49-F238E27FC236}">
                <a16:creationId xmlns:a16="http://schemas.microsoft.com/office/drawing/2014/main" id="{0BFE6A63-CF47-4A01-92AB-2AB19BE472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3938" y="2495550"/>
            <a:ext cx="590550" cy="576263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40977" name="Text Box 17">
            <a:extLst>
              <a:ext uri="{FF2B5EF4-FFF2-40B4-BE49-F238E27FC236}">
                <a16:creationId xmlns:a16="http://schemas.microsoft.com/office/drawing/2014/main" id="{42221747-AAE5-4614-A29D-4A3C3FDCEB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7763" y="253047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2</a:t>
            </a:r>
            <a:endParaRPr lang="en-US" altLang="hi-IN" b="1"/>
          </a:p>
        </p:txBody>
      </p:sp>
      <p:sp>
        <p:nvSpPr>
          <p:cNvPr id="40978" name="Oval 18">
            <a:extLst>
              <a:ext uri="{FF2B5EF4-FFF2-40B4-BE49-F238E27FC236}">
                <a16:creationId xmlns:a16="http://schemas.microsoft.com/office/drawing/2014/main" id="{DBCA07BB-3DA5-4AE5-B12E-F4A618F542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5075" y="2505075"/>
            <a:ext cx="590550" cy="576263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40979" name="Text Box 19">
            <a:extLst>
              <a:ext uri="{FF2B5EF4-FFF2-40B4-BE49-F238E27FC236}">
                <a16:creationId xmlns:a16="http://schemas.microsoft.com/office/drawing/2014/main" id="{2A306B8E-6365-41FB-BEEE-40BB6210F5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8900" y="25542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3</a:t>
            </a:r>
            <a:endParaRPr lang="en-US" altLang="hi-IN" b="1"/>
          </a:p>
        </p:txBody>
      </p:sp>
      <p:sp>
        <p:nvSpPr>
          <p:cNvPr id="40980" name="Line 20">
            <a:extLst>
              <a:ext uri="{FF2B5EF4-FFF2-40B4-BE49-F238E27FC236}">
                <a16:creationId xmlns:a16="http://schemas.microsoft.com/office/drawing/2014/main" id="{2860FCCB-8B9E-4DF7-9C57-B3371CD4B74E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2800350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40981" name="Oval 21">
            <a:extLst>
              <a:ext uri="{FF2B5EF4-FFF2-40B4-BE49-F238E27FC236}">
                <a16:creationId xmlns:a16="http://schemas.microsoft.com/office/drawing/2014/main" id="{92A0EF7D-BC62-41CA-AFDE-EA6CA56F32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7375" y="3906838"/>
            <a:ext cx="590550" cy="576262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40982" name="Text Box 22">
            <a:extLst>
              <a:ext uri="{FF2B5EF4-FFF2-40B4-BE49-F238E27FC236}">
                <a16:creationId xmlns:a16="http://schemas.microsoft.com/office/drawing/2014/main" id="{E1D0F9F0-E2C0-4967-A492-8CA2E6F7E9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5488" y="395605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2</a:t>
            </a:r>
            <a:endParaRPr lang="en-US" altLang="hi-IN" b="1"/>
          </a:p>
        </p:txBody>
      </p:sp>
      <p:sp>
        <p:nvSpPr>
          <p:cNvPr id="40983" name="Line 23">
            <a:extLst>
              <a:ext uri="{FF2B5EF4-FFF2-40B4-BE49-F238E27FC236}">
                <a16:creationId xmlns:a16="http://schemas.microsoft.com/office/drawing/2014/main" id="{B0F5EC20-C85F-44E3-B023-D6B360C6554A}"/>
              </a:ext>
            </a:extLst>
          </p:cNvPr>
          <p:cNvSpPr>
            <a:spLocks noChangeShapeType="1"/>
          </p:cNvSpPr>
          <p:nvPr/>
        </p:nvSpPr>
        <p:spPr bwMode="auto">
          <a:xfrm>
            <a:off x="2163763" y="3059113"/>
            <a:ext cx="0" cy="8429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40984" name="Line 24">
            <a:extLst>
              <a:ext uri="{FF2B5EF4-FFF2-40B4-BE49-F238E27FC236}">
                <a16:creationId xmlns:a16="http://schemas.microsoft.com/office/drawing/2014/main" id="{1CD6FA2B-5333-48D5-9170-E68A282F4D09}"/>
              </a:ext>
            </a:extLst>
          </p:cNvPr>
          <p:cNvSpPr>
            <a:spLocks noChangeShapeType="1"/>
          </p:cNvSpPr>
          <p:nvPr/>
        </p:nvSpPr>
        <p:spPr bwMode="auto">
          <a:xfrm>
            <a:off x="3644900" y="3068638"/>
            <a:ext cx="0" cy="8429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40985" name="Line 25">
            <a:extLst>
              <a:ext uri="{FF2B5EF4-FFF2-40B4-BE49-F238E27FC236}">
                <a16:creationId xmlns:a16="http://schemas.microsoft.com/office/drawing/2014/main" id="{ABD6D3FA-61D6-4B34-8E0D-F8EAEF5A3FA9}"/>
              </a:ext>
            </a:extLst>
          </p:cNvPr>
          <p:cNvSpPr>
            <a:spLocks noChangeShapeType="1"/>
          </p:cNvSpPr>
          <p:nvPr/>
        </p:nvSpPr>
        <p:spPr bwMode="auto">
          <a:xfrm>
            <a:off x="5126038" y="3078163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40986" name="Line 26">
            <a:extLst>
              <a:ext uri="{FF2B5EF4-FFF2-40B4-BE49-F238E27FC236}">
                <a16:creationId xmlns:a16="http://schemas.microsoft.com/office/drawing/2014/main" id="{0D5E0558-87FB-4CA2-9B87-187509A2F34F}"/>
              </a:ext>
            </a:extLst>
          </p:cNvPr>
          <p:cNvSpPr>
            <a:spLocks noChangeShapeType="1"/>
          </p:cNvSpPr>
          <p:nvPr/>
        </p:nvSpPr>
        <p:spPr bwMode="auto">
          <a:xfrm>
            <a:off x="6607175" y="3087688"/>
            <a:ext cx="0" cy="842962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40987" name="Line 27">
            <a:extLst>
              <a:ext uri="{FF2B5EF4-FFF2-40B4-BE49-F238E27FC236}">
                <a16:creationId xmlns:a16="http://schemas.microsoft.com/office/drawing/2014/main" id="{AA1499C0-487E-44CC-B26C-4A12DB62AFC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52863" y="2944813"/>
            <a:ext cx="1023937" cy="10287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40988" name="Text Box 28">
            <a:extLst>
              <a:ext uri="{FF2B5EF4-FFF2-40B4-BE49-F238E27FC236}">
                <a16:creationId xmlns:a16="http://schemas.microsoft.com/office/drawing/2014/main" id="{E74655C3-47C8-4944-BF51-ABDC39E09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2084388"/>
            <a:ext cx="285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r</a:t>
            </a:r>
          </a:p>
        </p:txBody>
      </p:sp>
      <p:sp>
        <p:nvSpPr>
          <p:cNvPr id="40989" name="Text Box 29">
            <a:extLst>
              <a:ext uri="{FF2B5EF4-FFF2-40B4-BE49-F238E27FC236}">
                <a16:creationId xmlns:a16="http://schemas.microsoft.com/office/drawing/2014/main" id="{CF6595C5-11C5-4F4C-B71E-7FCAAF56C8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0" y="2093913"/>
            <a:ext cx="303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s</a:t>
            </a:r>
          </a:p>
        </p:txBody>
      </p:sp>
      <p:sp>
        <p:nvSpPr>
          <p:cNvPr id="40990" name="Text Box 30">
            <a:extLst>
              <a:ext uri="{FF2B5EF4-FFF2-40B4-BE49-F238E27FC236}">
                <a16:creationId xmlns:a16="http://schemas.microsoft.com/office/drawing/2014/main" id="{F78645EC-1478-4BA0-A24C-D8FAD2864A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1100" y="2103438"/>
            <a:ext cx="268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t</a:t>
            </a:r>
          </a:p>
        </p:txBody>
      </p:sp>
      <p:sp>
        <p:nvSpPr>
          <p:cNvPr id="40991" name="Text Box 31">
            <a:extLst>
              <a:ext uri="{FF2B5EF4-FFF2-40B4-BE49-F238E27FC236}">
                <a16:creationId xmlns:a16="http://schemas.microsoft.com/office/drawing/2014/main" id="{6A00A5FF-FCD0-4438-A677-23CA36D0C0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7950" y="211296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u</a:t>
            </a:r>
          </a:p>
        </p:txBody>
      </p:sp>
      <p:sp>
        <p:nvSpPr>
          <p:cNvPr id="40992" name="Text Box 32">
            <a:extLst>
              <a:ext uri="{FF2B5EF4-FFF2-40B4-BE49-F238E27FC236}">
                <a16:creationId xmlns:a16="http://schemas.microsoft.com/office/drawing/2014/main" id="{88AF7ACE-B6EE-44F4-876D-E4D93AF907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9775" y="437991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v</a:t>
            </a:r>
          </a:p>
        </p:txBody>
      </p:sp>
      <p:sp>
        <p:nvSpPr>
          <p:cNvPr id="40993" name="Text Box 33">
            <a:extLst>
              <a:ext uri="{FF2B5EF4-FFF2-40B4-BE49-F238E27FC236}">
                <a16:creationId xmlns:a16="http://schemas.microsoft.com/office/drawing/2014/main" id="{AD2BAC03-2210-4E33-8459-3F1931C0E7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0913" y="4389438"/>
            <a:ext cx="404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w</a:t>
            </a:r>
          </a:p>
        </p:txBody>
      </p:sp>
      <p:sp>
        <p:nvSpPr>
          <p:cNvPr id="40994" name="Text Box 34">
            <a:extLst>
              <a:ext uri="{FF2B5EF4-FFF2-40B4-BE49-F238E27FC236}">
                <a16:creationId xmlns:a16="http://schemas.microsoft.com/office/drawing/2014/main" id="{48BD9822-1118-45DB-AD7C-52ECC1C287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6338" y="439896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x</a:t>
            </a:r>
          </a:p>
        </p:txBody>
      </p:sp>
      <p:sp>
        <p:nvSpPr>
          <p:cNvPr id="40995" name="Text Box 35">
            <a:extLst>
              <a:ext uri="{FF2B5EF4-FFF2-40B4-BE49-F238E27FC236}">
                <a16:creationId xmlns:a16="http://schemas.microsoft.com/office/drawing/2014/main" id="{7B481F3A-C028-4650-B765-2DCD15FF50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7475" y="4394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y</a:t>
            </a:r>
          </a:p>
        </p:txBody>
      </p:sp>
      <p:sp>
        <p:nvSpPr>
          <p:cNvPr id="40996" name="Text Box 36">
            <a:extLst>
              <a:ext uri="{FF2B5EF4-FFF2-40B4-BE49-F238E27FC236}">
                <a16:creationId xmlns:a16="http://schemas.microsoft.com/office/drawing/2014/main" id="{186E670B-4176-420A-9B70-04438F9A11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9700" y="5302250"/>
            <a:ext cx="1465263" cy="850900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/>
              <a:t>Q:</a:t>
            </a:r>
            <a:r>
              <a:rPr lang="en-US" altLang="hi-IN"/>
              <a:t>  v  u  y</a:t>
            </a:r>
          </a:p>
          <a:p>
            <a:r>
              <a:rPr lang="en-US" altLang="hi-IN"/>
              <a:t>      2  3  3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3DA372C-B715-4384-90C0-218F32CCC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54</a:t>
            </a:fld>
            <a:endParaRPr lang="en-US" altLang="hi-IN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0F7C01E-2C30-4491-9C42-9C6681705182}"/>
              </a:ext>
            </a:extLst>
          </p:cNvPr>
          <p:cNvSpPr txBox="1"/>
          <p:nvPr/>
        </p:nvSpPr>
        <p:spPr>
          <a:xfrm>
            <a:off x="685800" y="5486400"/>
            <a:ext cx="28384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/>
              <a:t>Order of visit: </a:t>
            </a:r>
          </a:p>
          <a:p>
            <a:pPr algn="l"/>
            <a:r>
              <a:rPr lang="en-US" b="1" dirty="0"/>
              <a:t>s, w, r, t, x, v, u, y</a:t>
            </a:r>
            <a:endParaRPr lang="hi-IN" b="1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DD317F54-4D88-47BA-9A78-364DF90CCC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i-IN"/>
              <a:t>Example (BFS)</a:t>
            </a:r>
          </a:p>
        </p:txBody>
      </p:sp>
      <p:sp>
        <p:nvSpPr>
          <p:cNvPr id="41987" name="Oval 3">
            <a:extLst>
              <a:ext uri="{FF2B5EF4-FFF2-40B4-BE49-F238E27FC236}">
                <a16:creationId xmlns:a16="http://schemas.microsoft.com/office/drawing/2014/main" id="{05A8BCF9-4F6B-4632-9538-C4DA50E786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6425" y="2497138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41988" name="Text Box 4">
            <a:extLst>
              <a:ext uri="{FF2B5EF4-FFF2-40B4-BE49-F238E27FC236}">
                <a16:creationId xmlns:a16="http://schemas.microsoft.com/office/drawing/2014/main" id="{EFE91A1D-0C72-49AA-BF5A-BF4403D9D9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0250" y="256063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1</a:t>
            </a:r>
            <a:endParaRPr lang="en-US" altLang="hi-IN" b="1"/>
          </a:p>
        </p:txBody>
      </p:sp>
      <p:sp>
        <p:nvSpPr>
          <p:cNvPr id="41989" name="Oval 5">
            <a:extLst>
              <a:ext uri="{FF2B5EF4-FFF2-40B4-BE49-F238E27FC236}">
                <a16:creationId xmlns:a16="http://schemas.microsoft.com/office/drawing/2014/main" id="{841A357B-8C4E-4EC8-8999-B370EE8250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7563" y="2490788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41990" name="Text Box 6">
            <a:extLst>
              <a:ext uri="{FF2B5EF4-FFF2-40B4-BE49-F238E27FC236}">
                <a16:creationId xmlns:a16="http://schemas.microsoft.com/office/drawing/2014/main" id="{2243FB69-A61A-471B-9AC3-27F3AE9BBE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1388" y="25542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0</a:t>
            </a:r>
            <a:endParaRPr lang="en-US" altLang="hi-IN" b="1"/>
          </a:p>
        </p:txBody>
      </p:sp>
      <p:sp>
        <p:nvSpPr>
          <p:cNvPr id="41991" name="Line 7">
            <a:extLst>
              <a:ext uri="{FF2B5EF4-FFF2-40B4-BE49-F238E27FC236}">
                <a16:creationId xmlns:a16="http://schemas.microsoft.com/office/drawing/2014/main" id="{1166E2AF-A6CF-4DAC-990B-CEA9735BFC7D}"/>
              </a:ext>
            </a:extLst>
          </p:cNvPr>
          <p:cNvSpPr>
            <a:spLocks noChangeShapeType="1"/>
          </p:cNvSpPr>
          <p:nvPr/>
        </p:nvSpPr>
        <p:spPr bwMode="auto">
          <a:xfrm>
            <a:off x="2452688" y="2786063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41992" name="Oval 8">
            <a:extLst>
              <a:ext uri="{FF2B5EF4-FFF2-40B4-BE49-F238E27FC236}">
                <a16:creationId xmlns:a16="http://schemas.microsoft.com/office/drawing/2014/main" id="{6E93A149-2913-4934-AA14-7C8041D3A7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7563" y="3906838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41993" name="Text Box 9">
            <a:extLst>
              <a:ext uri="{FF2B5EF4-FFF2-40B4-BE49-F238E27FC236}">
                <a16:creationId xmlns:a16="http://schemas.microsoft.com/office/drawing/2014/main" id="{C14BDFF8-14D8-43CC-8986-7D32193F9D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1388" y="395605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1</a:t>
            </a:r>
            <a:endParaRPr lang="en-US" altLang="hi-IN" b="1"/>
          </a:p>
        </p:txBody>
      </p:sp>
      <p:sp>
        <p:nvSpPr>
          <p:cNvPr id="41994" name="Oval 10">
            <a:extLst>
              <a:ext uri="{FF2B5EF4-FFF2-40B4-BE49-F238E27FC236}">
                <a16:creationId xmlns:a16="http://schemas.microsoft.com/office/drawing/2014/main" id="{26D680B4-A5CE-4076-9FC5-1A0DD5D146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8700" y="3900488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41995" name="Text Box 11">
            <a:extLst>
              <a:ext uri="{FF2B5EF4-FFF2-40B4-BE49-F238E27FC236}">
                <a16:creationId xmlns:a16="http://schemas.microsoft.com/office/drawing/2014/main" id="{F141467A-0BA2-4068-89AC-D9A9C8BEE0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2525" y="393541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2</a:t>
            </a:r>
            <a:endParaRPr lang="en-US" altLang="hi-IN" b="1"/>
          </a:p>
        </p:txBody>
      </p:sp>
      <p:sp>
        <p:nvSpPr>
          <p:cNvPr id="41996" name="Line 12">
            <a:extLst>
              <a:ext uri="{FF2B5EF4-FFF2-40B4-BE49-F238E27FC236}">
                <a16:creationId xmlns:a16="http://schemas.microsoft.com/office/drawing/2014/main" id="{BF5D2D4A-CF26-4B7F-9E5D-869E2AC68060}"/>
              </a:ext>
            </a:extLst>
          </p:cNvPr>
          <p:cNvSpPr>
            <a:spLocks noChangeShapeType="1"/>
          </p:cNvSpPr>
          <p:nvPr/>
        </p:nvSpPr>
        <p:spPr bwMode="auto">
          <a:xfrm>
            <a:off x="3933825" y="4195763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41997" name="Oval 13">
            <a:extLst>
              <a:ext uri="{FF2B5EF4-FFF2-40B4-BE49-F238E27FC236}">
                <a16:creationId xmlns:a16="http://schemas.microsoft.com/office/drawing/2014/main" id="{0A5DA258-F752-425F-A04A-FF0E12637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9838" y="3910013"/>
            <a:ext cx="590550" cy="576262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41998" name="Text Box 14">
            <a:extLst>
              <a:ext uri="{FF2B5EF4-FFF2-40B4-BE49-F238E27FC236}">
                <a16:creationId xmlns:a16="http://schemas.microsoft.com/office/drawing/2014/main" id="{9AC3FEED-A1BB-4075-988B-1D27A18F81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75" y="394493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3</a:t>
            </a:r>
            <a:endParaRPr lang="en-US" altLang="hi-IN" b="1"/>
          </a:p>
        </p:txBody>
      </p:sp>
      <p:sp>
        <p:nvSpPr>
          <p:cNvPr id="41999" name="Line 15">
            <a:extLst>
              <a:ext uri="{FF2B5EF4-FFF2-40B4-BE49-F238E27FC236}">
                <a16:creationId xmlns:a16="http://schemas.microsoft.com/office/drawing/2014/main" id="{FB491D10-9DF8-40FF-9540-CCC3021E12AB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4963" y="4205288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42000" name="Oval 16">
            <a:extLst>
              <a:ext uri="{FF2B5EF4-FFF2-40B4-BE49-F238E27FC236}">
                <a16:creationId xmlns:a16="http://schemas.microsoft.com/office/drawing/2014/main" id="{F8871F11-F796-4FE4-89C9-A2210BCAE1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3938" y="2495550"/>
            <a:ext cx="590550" cy="576263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42001" name="Text Box 17">
            <a:extLst>
              <a:ext uri="{FF2B5EF4-FFF2-40B4-BE49-F238E27FC236}">
                <a16:creationId xmlns:a16="http://schemas.microsoft.com/office/drawing/2014/main" id="{9E4B4D22-5014-40EA-B44D-DE4F3DDDE3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7763" y="253047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2</a:t>
            </a:r>
            <a:endParaRPr lang="en-US" altLang="hi-IN" b="1"/>
          </a:p>
        </p:txBody>
      </p:sp>
      <p:sp>
        <p:nvSpPr>
          <p:cNvPr id="42002" name="Oval 18">
            <a:extLst>
              <a:ext uri="{FF2B5EF4-FFF2-40B4-BE49-F238E27FC236}">
                <a16:creationId xmlns:a16="http://schemas.microsoft.com/office/drawing/2014/main" id="{249E409B-2ABA-4056-A2DF-FE75330573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5075" y="2505075"/>
            <a:ext cx="590550" cy="576263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42003" name="Text Box 19">
            <a:extLst>
              <a:ext uri="{FF2B5EF4-FFF2-40B4-BE49-F238E27FC236}">
                <a16:creationId xmlns:a16="http://schemas.microsoft.com/office/drawing/2014/main" id="{42B51B11-EC5C-49C0-B0F5-8CF3B49F9B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8900" y="25542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3</a:t>
            </a:r>
            <a:endParaRPr lang="en-US" altLang="hi-IN" b="1"/>
          </a:p>
        </p:txBody>
      </p:sp>
      <p:sp>
        <p:nvSpPr>
          <p:cNvPr id="42004" name="Line 20">
            <a:extLst>
              <a:ext uri="{FF2B5EF4-FFF2-40B4-BE49-F238E27FC236}">
                <a16:creationId xmlns:a16="http://schemas.microsoft.com/office/drawing/2014/main" id="{F31C08F1-29A6-44AE-BFC8-DA395E90A832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2800350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42005" name="Oval 21">
            <a:extLst>
              <a:ext uri="{FF2B5EF4-FFF2-40B4-BE49-F238E27FC236}">
                <a16:creationId xmlns:a16="http://schemas.microsoft.com/office/drawing/2014/main" id="{8FFDE155-2C09-4EE3-B084-1103ABD01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7375" y="3906838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42006" name="Text Box 22">
            <a:extLst>
              <a:ext uri="{FF2B5EF4-FFF2-40B4-BE49-F238E27FC236}">
                <a16:creationId xmlns:a16="http://schemas.microsoft.com/office/drawing/2014/main" id="{1B2CA62A-9632-42FE-B10C-A188B0F7A5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5488" y="395605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2</a:t>
            </a:r>
            <a:endParaRPr lang="en-US" altLang="hi-IN" b="1"/>
          </a:p>
        </p:txBody>
      </p:sp>
      <p:sp>
        <p:nvSpPr>
          <p:cNvPr id="42007" name="Line 23">
            <a:extLst>
              <a:ext uri="{FF2B5EF4-FFF2-40B4-BE49-F238E27FC236}">
                <a16:creationId xmlns:a16="http://schemas.microsoft.com/office/drawing/2014/main" id="{920E12C7-8535-4A63-B048-10964A7AE0B8}"/>
              </a:ext>
            </a:extLst>
          </p:cNvPr>
          <p:cNvSpPr>
            <a:spLocks noChangeShapeType="1"/>
          </p:cNvSpPr>
          <p:nvPr/>
        </p:nvSpPr>
        <p:spPr bwMode="auto">
          <a:xfrm>
            <a:off x="2163763" y="3059113"/>
            <a:ext cx="0" cy="8429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42008" name="Line 24">
            <a:extLst>
              <a:ext uri="{FF2B5EF4-FFF2-40B4-BE49-F238E27FC236}">
                <a16:creationId xmlns:a16="http://schemas.microsoft.com/office/drawing/2014/main" id="{25192E74-215E-4C9B-A7AA-7165409ECD28}"/>
              </a:ext>
            </a:extLst>
          </p:cNvPr>
          <p:cNvSpPr>
            <a:spLocks noChangeShapeType="1"/>
          </p:cNvSpPr>
          <p:nvPr/>
        </p:nvSpPr>
        <p:spPr bwMode="auto">
          <a:xfrm>
            <a:off x="3644900" y="3068638"/>
            <a:ext cx="0" cy="8429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42009" name="Line 25">
            <a:extLst>
              <a:ext uri="{FF2B5EF4-FFF2-40B4-BE49-F238E27FC236}">
                <a16:creationId xmlns:a16="http://schemas.microsoft.com/office/drawing/2014/main" id="{BD0EEB09-5C80-434F-8354-EC2741E60CEA}"/>
              </a:ext>
            </a:extLst>
          </p:cNvPr>
          <p:cNvSpPr>
            <a:spLocks noChangeShapeType="1"/>
          </p:cNvSpPr>
          <p:nvPr/>
        </p:nvSpPr>
        <p:spPr bwMode="auto">
          <a:xfrm>
            <a:off x="5126038" y="3078163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42010" name="Line 26">
            <a:extLst>
              <a:ext uri="{FF2B5EF4-FFF2-40B4-BE49-F238E27FC236}">
                <a16:creationId xmlns:a16="http://schemas.microsoft.com/office/drawing/2014/main" id="{171E1D84-C9A6-4E5F-B68A-2D49CC1D26E5}"/>
              </a:ext>
            </a:extLst>
          </p:cNvPr>
          <p:cNvSpPr>
            <a:spLocks noChangeShapeType="1"/>
          </p:cNvSpPr>
          <p:nvPr/>
        </p:nvSpPr>
        <p:spPr bwMode="auto">
          <a:xfrm>
            <a:off x="6607175" y="3087688"/>
            <a:ext cx="0" cy="842962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42011" name="Line 27">
            <a:extLst>
              <a:ext uri="{FF2B5EF4-FFF2-40B4-BE49-F238E27FC236}">
                <a16:creationId xmlns:a16="http://schemas.microsoft.com/office/drawing/2014/main" id="{661D08A7-A418-4460-85BC-6EEEE3FDCC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52863" y="2944813"/>
            <a:ext cx="1023937" cy="10287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42012" name="Text Box 28">
            <a:extLst>
              <a:ext uri="{FF2B5EF4-FFF2-40B4-BE49-F238E27FC236}">
                <a16:creationId xmlns:a16="http://schemas.microsoft.com/office/drawing/2014/main" id="{699CABC2-06DE-4C05-B3CC-3AFCED4900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2084388"/>
            <a:ext cx="285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r</a:t>
            </a:r>
          </a:p>
        </p:txBody>
      </p:sp>
      <p:sp>
        <p:nvSpPr>
          <p:cNvPr id="42013" name="Text Box 29">
            <a:extLst>
              <a:ext uri="{FF2B5EF4-FFF2-40B4-BE49-F238E27FC236}">
                <a16:creationId xmlns:a16="http://schemas.microsoft.com/office/drawing/2014/main" id="{D89592A8-9953-4E8B-8BA5-BA54F24BD5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0" y="2093913"/>
            <a:ext cx="303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s</a:t>
            </a:r>
          </a:p>
        </p:txBody>
      </p:sp>
      <p:sp>
        <p:nvSpPr>
          <p:cNvPr id="42014" name="Text Box 30">
            <a:extLst>
              <a:ext uri="{FF2B5EF4-FFF2-40B4-BE49-F238E27FC236}">
                <a16:creationId xmlns:a16="http://schemas.microsoft.com/office/drawing/2014/main" id="{9F182E91-43D7-424E-94FA-1AEF66DA48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1100" y="2103438"/>
            <a:ext cx="268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t</a:t>
            </a:r>
          </a:p>
        </p:txBody>
      </p:sp>
      <p:sp>
        <p:nvSpPr>
          <p:cNvPr id="42015" name="Text Box 31">
            <a:extLst>
              <a:ext uri="{FF2B5EF4-FFF2-40B4-BE49-F238E27FC236}">
                <a16:creationId xmlns:a16="http://schemas.microsoft.com/office/drawing/2014/main" id="{FF722433-0D48-4603-BF6E-B18177E534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7950" y="211296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u</a:t>
            </a:r>
          </a:p>
        </p:txBody>
      </p:sp>
      <p:sp>
        <p:nvSpPr>
          <p:cNvPr id="42016" name="Text Box 32">
            <a:extLst>
              <a:ext uri="{FF2B5EF4-FFF2-40B4-BE49-F238E27FC236}">
                <a16:creationId xmlns:a16="http://schemas.microsoft.com/office/drawing/2014/main" id="{AE9B72EE-BC3F-4BF5-AD01-CA8FF24DD0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9775" y="437991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v</a:t>
            </a:r>
          </a:p>
        </p:txBody>
      </p:sp>
      <p:sp>
        <p:nvSpPr>
          <p:cNvPr id="42017" name="Text Box 33">
            <a:extLst>
              <a:ext uri="{FF2B5EF4-FFF2-40B4-BE49-F238E27FC236}">
                <a16:creationId xmlns:a16="http://schemas.microsoft.com/office/drawing/2014/main" id="{4AE11F68-3EC2-40C0-82BD-A54E75FD21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0913" y="4389438"/>
            <a:ext cx="404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w</a:t>
            </a:r>
          </a:p>
        </p:txBody>
      </p:sp>
      <p:sp>
        <p:nvSpPr>
          <p:cNvPr id="42018" name="Text Box 34">
            <a:extLst>
              <a:ext uri="{FF2B5EF4-FFF2-40B4-BE49-F238E27FC236}">
                <a16:creationId xmlns:a16="http://schemas.microsoft.com/office/drawing/2014/main" id="{0C95B4E8-4725-4AF5-AB34-3654810762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6338" y="439896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x</a:t>
            </a:r>
          </a:p>
        </p:txBody>
      </p:sp>
      <p:sp>
        <p:nvSpPr>
          <p:cNvPr id="42019" name="Text Box 35">
            <a:extLst>
              <a:ext uri="{FF2B5EF4-FFF2-40B4-BE49-F238E27FC236}">
                <a16:creationId xmlns:a16="http://schemas.microsoft.com/office/drawing/2014/main" id="{A90A0EB3-887B-4381-BCF5-0CCBCE4D7C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7475" y="4394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y</a:t>
            </a:r>
          </a:p>
        </p:txBody>
      </p:sp>
      <p:sp>
        <p:nvSpPr>
          <p:cNvPr id="42020" name="Text Box 36">
            <a:extLst>
              <a:ext uri="{FF2B5EF4-FFF2-40B4-BE49-F238E27FC236}">
                <a16:creationId xmlns:a16="http://schemas.microsoft.com/office/drawing/2014/main" id="{5297939E-58F4-46FA-8881-A10229A41E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9700" y="5302250"/>
            <a:ext cx="1160463" cy="850900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/>
              <a:t>Q:</a:t>
            </a:r>
            <a:r>
              <a:rPr lang="en-US" altLang="hi-IN"/>
              <a:t>  u  y</a:t>
            </a:r>
          </a:p>
          <a:p>
            <a:r>
              <a:rPr lang="en-US" altLang="hi-IN"/>
              <a:t>      3  3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54DF5B-CAE6-4683-A352-8776EB060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55</a:t>
            </a:fld>
            <a:endParaRPr lang="en-US" altLang="hi-IN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2803DA1-C380-4DB0-8F6B-467C71081B88}"/>
              </a:ext>
            </a:extLst>
          </p:cNvPr>
          <p:cNvSpPr txBox="1"/>
          <p:nvPr/>
        </p:nvSpPr>
        <p:spPr>
          <a:xfrm>
            <a:off x="685800" y="5486400"/>
            <a:ext cx="28384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/>
              <a:t>Order of visit: </a:t>
            </a:r>
          </a:p>
          <a:p>
            <a:pPr algn="l"/>
            <a:r>
              <a:rPr lang="en-US" b="1" dirty="0"/>
              <a:t>s, w, r, t, x, v, u, y</a:t>
            </a:r>
            <a:endParaRPr lang="hi-IN" b="1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80AE8717-65EF-457E-82A5-C4B01898DE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i-IN"/>
              <a:t>Example (BFS)</a:t>
            </a:r>
          </a:p>
        </p:txBody>
      </p:sp>
      <p:sp>
        <p:nvSpPr>
          <p:cNvPr id="43011" name="Oval 3">
            <a:extLst>
              <a:ext uri="{FF2B5EF4-FFF2-40B4-BE49-F238E27FC236}">
                <a16:creationId xmlns:a16="http://schemas.microsoft.com/office/drawing/2014/main" id="{3525605C-B77D-493F-90EB-A11D612617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6425" y="2497138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43012" name="Text Box 4">
            <a:extLst>
              <a:ext uri="{FF2B5EF4-FFF2-40B4-BE49-F238E27FC236}">
                <a16:creationId xmlns:a16="http://schemas.microsoft.com/office/drawing/2014/main" id="{936B038F-ADA4-4921-8285-EF546097D7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0250" y="256063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1</a:t>
            </a:r>
            <a:endParaRPr lang="en-US" altLang="hi-IN" b="1"/>
          </a:p>
        </p:txBody>
      </p:sp>
      <p:sp>
        <p:nvSpPr>
          <p:cNvPr id="43013" name="Oval 5">
            <a:extLst>
              <a:ext uri="{FF2B5EF4-FFF2-40B4-BE49-F238E27FC236}">
                <a16:creationId xmlns:a16="http://schemas.microsoft.com/office/drawing/2014/main" id="{41D136A3-7F7A-444E-B9E9-88F2BAF97D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7563" y="2490788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43014" name="Text Box 6">
            <a:extLst>
              <a:ext uri="{FF2B5EF4-FFF2-40B4-BE49-F238E27FC236}">
                <a16:creationId xmlns:a16="http://schemas.microsoft.com/office/drawing/2014/main" id="{C51F21A8-5390-4B96-BDCF-9AEB44A1B8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1388" y="25542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0</a:t>
            </a:r>
            <a:endParaRPr lang="en-US" altLang="hi-IN" b="1"/>
          </a:p>
        </p:txBody>
      </p:sp>
      <p:sp>
        <p:nvSpPr>
          <p:cNvPr id="43015" name="Line 7">
            <a:extLst>
              <a:ext uri="{FF2B5EF4-FFF2-40B4-BE49-F238E27FC236}">
                <a16:creationId xmlns:a16="http://schemas.microsoft.com/office/drawing/2014/main" id="{5D7BC2C7-ADE9-4E29-A6B7-AB29B5963BA3}"/>
              </a:ext>
            </a:extLst>
          </p:cNvPr>
          <p:cNvSpPr>
            <a:spLocks noChangeShapeType="1"/>
          </p:cNvSpPr>
          <p:nvPr/>
        </p:nvSpPr>
        <p:spPr bwMode="auto">
          <a:xfrm>
            <a:off x="2452688" y="2786063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43016" name="Oval 8">
            <a:extLst>
              <a:ext uri="{FF2B5EF4-FFF2-40B4-BE49-F238E27FC236}">
                <a16:creationId xmlns:a16="http://schemas.microsoft.com/office/drawing/2014/main" id="{5597BFB0-4AEE-46BA-9C36-BF3482460C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7563" y="3906838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43017" name="Text Box 9">
            <a:extLst>
              <a:ext uri="{FF2B5EF4-FFF2-40B4-BE49-F238E27FC236}">
                <a16:creationId xmlns:a16="http://schemas.microsoft.com/office/drawing/2014/main" id="{FD3A2AB9-7C2D-4F73-A4F3-09E53C8EC0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1388" y="395605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1</a:t>
            </a:r>
            <a:endParaRPr lang="en-US" altLang="hi-IN" b="1"/>
          </a:p>
        </p:txBody>
      </p:sp>
      <p:sp>
        <p:nvSpPr>
          <p:cNvPr id="43018" name="Oval 10">
            <a:extLst>
              <a:ext uri="{FF2B5EF4-FFF2-40B4-BE49-F238E27FC236}">
                <a16:creationId xmlns:a16="http://schemas.microsoft.com/office/drawing/2014/main" id="{D7ABB8E9-944E-400B-B698-DCAFE52B4D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8700" y="3900488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43019" name="Text Box 11">
            <a:extLst>
              <a:ext uri="{FF2B5EF4-FFF2-40B4-BE49-F238E27FC236}">
                <a16:creationId xmlns:a16="http://schemas.microsoft.com/office/drawing/2014/main" id="{E11EE0BE-C0A5-4B28-903D-21EF7CCA43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2525" y="393541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2</a:t>
            </a:r>
            <a:endParaRPr lang="en-US" altLang="hi-IN" b="1"/>
          </a:p>
        </p:txBody>
      </p:sp>
      <p:sp>
        <p:nvSpPr>
          <p:cNvPr id="43020" name="Line 12">
            <a:extLst>
              <a:ext uri="{FF2B5EF4-FFF2-40B4-BE49-F238E27FC236}">
                <a16:creationId xmlns:a16="http://schemas.microsoft.com/office/drawing/2014/main" id="{23394A64-D733-4380-B523-9841208D9B36}"/>
              </a:ext>
            </a:extLst>
          </p:cNvPr>
          <p:cNvSpPr>
            <a:spLocks noChangeShapeType="1"/>
          </p:cNvSpPr>
          <p:nvPr/>
        </p:nvSpPr>
        <p:spPr bwMode="auto">
          <a:xfrm>
            <a:off x="3933825" y="4195763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43021" name="Oval 13">
            <a:extLst>
              <a:ext uri="{FF2B5EF4-FFF2-40B4-BE49-F238E27FC236}">
                <a16:creationId xmlns:a16="http://schemas.microsoft.com/office/drawing/2014/main" id="{E51DF563-8458-480C-BC61-0F4F9865F3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9838" y="3910013"/>
            <a:ext cx="590550" cy="576262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43022" name="Text Box 14">
            <a:extLst>
              <a:ext uri="{FF2B5EF4-FFF2-40B4-BE49-F238E27FC236}">
                <a16:creationId xmlns:a16="http://schemas.microsoft.com/office/drawing/2014/main" id="{FDF0E884-261D-4F5B-8C31-26DCC56E29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75" y="394493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3</a:t>
            </a:r>
            <a:endParaRPr lang="en-US" altLang="hi-IN" b="1"/>
          </a:p>
        </p:txBody>
      </p:sp>
      <p:sp>
        <p:nvSpPr>
          <p:cNvPr id="43023" name="Line 15">
            <a:extLst>
              <a:ext uri="{FF2B5EF4-FFF2-40B4-BE49-F238E27FC236}">
                <a16:creationId xmlns:a16="http://schemas.microsoft.com/office/drawing/2014/main" id="{71FF9663-22FC-4FD4-9B07-57575D12EFC3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4963" y="4205288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43024" name="Oval 16">
            <a:extLst>
              <a:ext uri="{FF2B5EF4-FFF2-40B4-BE49-F238E27FC236}">
                <a16:creationId xmlns:a16="http://schemas.microsoft.com/office/drawing/2014/main" id="{D15651A8-F420-45FD-839A-DBC778E8F2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3938" y="2495550"/>
            <a:ext cx="590550" cy="576263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43025" name="Text Box 17">
            <a:extLst>
              <a:ext uri="{FF2B5EF4-FFF2-40B4-BE49-F238E27FC236}">
                <a16:creationId xmlns:a16="http://schemas.microsoft.com/office/drawing/2014/main" id="{71BFC9A9-B53F-4B11-8393-97D739FC7A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7763" y="253047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2</a:t>
            </a:r>
            <a:endParaRPr lang="en-US" altLang="hi-IN" b="1"/>
          </a:p>
        </p:txBody>
      </p:sp>
      <p:sp>
        <p:nvSpPr>
          <p:cNvPr id="43026" name="Oval 18">
            <a:extLst>
              <a:ext uri="{FF2B5EF4-FFF2-40B4-BE49-F238E27FC236}">
                <a16:creationId xmlns:a16="http://schemas.microsoft.com/office/drawing/2014/main" id="{D1EEDAC6-A1A4-4125-8C61-5725DE0CF7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5075" y="2505075"/>
            <a:ext cx="590550" cy="576263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43027" name="Text Box 19">
            <a:extLst>
              <a:ext uri="{FF2B5EF4-FFF2-40B4-BE49-F238E27FC236}">
                <a16:creationId xmlns:a16="http://schemas.microsoft.com/office/drawing/2014/main" id="{6CB47495-6C9D-41DF-8262-CB4E98D27D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8900" y="25542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3</a:t>
            </a:r>
            <a:endParaRPr lang="en-US" altLang="hi-IN" b="1"/>
          </a:p>
        </p:txBody>
      </p:sp>
      <p:sp>
        <p:nvSpPr>
          <p:cNvPr id="43028" name="Line 20">
            <a:extLst>
              <a:ext uri="{FF2B5EF4-FFF2-40B4-BE49-F238E27FC236}">
                <a16:creationId xmlns:a16="http://schemas.microsoft.com/office/drawing/2014/main" id="{7A37CDEA-80E4-453D-8EE7-247185FB7171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2800350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43029" name="Oval 21">
            <a:extLst>
              <a:ext uri="{FF2B5EF4-FFF2-40B4-BE49-F238E27FC236}">
                <a16:creationId xmlns:a16="http://schemas.microsoft.com/office/drawing/2014/main" id="{478B0C57-981F-4526-A632-91A22B5087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7375" y="3906838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43030" name="Text Box 22">
            <a:extLst>
              <a:ext uri="{FF2B5EF4-FFF2-40B4-BE49-F238E27FC236}">
                <a16:creationId xmlns:a16="http://schemas.microsoft.com/office/drawing/2014/main" id="{73FA9771-249C-489E-BEBC-B4DD414B03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5488" y="395605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2</a:t>
            </a:r>
            <a:endParaRPr lang="en-US" altLang="hi-IN" b="1"/>
          </a:p>
        </p:txBody>
      </p:sp>
      <p:sp>
        <p:nvSpPr>
          <p:cNvPr id="43031" name="Line 23">
            <a:extLst>
              <a:ext uri="{FF2B5EF4-FFF2-40B4-BE49-F238E27FC236}">
                <a16:creationId xmlns:a16="http://schemas.microsoft.com/office/drawing/2014/main" id="{14FD44A2-D7A1-47F9-BACB-36D6674E19DF}"/>
              </a:ext>
            </a:extLst>
          </p:cNvPr>
          <p:cNvSpPr>
            <a:spLocks noChangeShapeType="1"/>
          </p:cNvSpPr>
          <p:nvPr/>
        </p:nvSpPr>
        <p:spPr bwMode="auto">
          <a:xfrm>
            <a:off x="2163763" y="3059113"/>
            <a:ext cx="0" cy="8429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43032" name="Line 24">
            <a:extLst>
              <a:ext uri="{FF2B5EF4-FFF2-40B4-BE49-F238E27FC236}">
                <a16:creationId xmlns:a16="http://schemas.microsoft.com/office/drawing/2014/main" id="{F8D7DB99-C973-4B43-833F-2185D04997F0}"/>
              </a:ext>
            </a:extLst>
          </p:cNvPr>
          <p:cNvSpPr>
            <a:spLocks noChangeShapeType="1"/>
          </p:cNvSpPr>
          <p:nvPr/>
        </p:nvSpPr>
        <p:spPr bwMode="auto">
          <a:xfrm>
            <a:off x="3644900" y="3068638"/>
            <a:ext cx="0" cy="8429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43033" name="Line 25">
            <a:extLst>
              <a:ext uri="{FF2B5EF4-FFF2-40B4-BE49-F238E27FC236}">
                <a16:creationId xmlns:a16="http://schemas.microsoft.com/office/drawing/2014/main" id="{6AA8CABF-9B37-4EC8-8F89-5C7C79A7B69A}"/>
              </a:ext>
            </a:extLst>
          </p:cNvPr>
          <p:cNvSpPr>
            <a:spLocks noChangeShapeType="1"/>
          </p:cNvSpPr>
          <p:nvPr/>
        </p:nvSpPr>
        <p:spPr bwMode="auto">
          <a:xfrm>
            <a:off x="5126038" y="3078163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43034" name="Line 26">
            <a:extLst>
              <a:ext uri="{FF2B5EF4-FFF2-40B4-BE49-F238E27FC236}">
                <a16:creationId xmlns:a16="http://schemas.microsoft.com/office/drawing/2014/main" id="{F8C2541D-5DA6-4169-A930-DC38E657D8E9}"/>
              </a:ext>
            </a:extLst>
          </p:cNvPr>
          <p:cNvSpPr>
            <a:spLocks noChangeShapeType="1"/>
          </p:cNvSpPr>
          <p:nvPr/>
        </p:nvSpPr>
        <p:spPr bwMode="auto">
          <a:xfrm>
            <a:off x="6607175" y="3087688"/>
            <a:ext cx="0" cy="842962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43035" name="Line 27">
            <a:extLst>
              <a:ext uri="{FF2B5EF4-FFF2-40B4-BE49-F238E27FC236}">
                <a16:creationId xmlns:a16="http://schemas.microsoft.com/office/drawing/2014/main" id="{BF819494-585C-42D5-9CCD-792F6382114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52863" y="2944813"/>
            <a:ext cx="1023937" cy="10287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43036" name="Text Box 28">
            <a:extLst>
              <a:ext uri="{FF2B5EF4-FFF2-40B4-BE49-F238E27FC236}">
                <a16:creationId xmlns:a16="http://schemas.microsoft.com/office/drawing/2014/main" id="{6BAA8F26-75BA-45F8-A450-D7E0DE6194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2084388"/>
            <a:ext cx="285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r</a:t>
            </a:r>
          </a:p>
        </p:txBody>
      </p:sp>
      <p:sp>
        <p:nvSpPr>
          <p:cNvPr id="43037" name="Text Box 29">
            <a:extLst>
              <a:ext uri="{FF2B5EF4-FFF2-40B4-BE49-F238E27FC236}">
                <a16:creationId xmlns:a16="http://schemas.microsoft.com/office/drawing/2014/main" id="{87266B90-B339-4962-A055-96F91BE38F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0" y="2093913"/>
            <a:ext cx="303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s</a:t>
            </a:r>
          </a:p>
        </p:txBody>
      </p:sp>
      <p:sp>
        <p:nvSpPr>
          <p:cNvPr id="43038" name="Text Box 30">
            <a:extLst>
              <a:ext uri="{FF2B5EF4-FFF2-40B4-BE49-F238E27FC236}">
                <a16:creationId xmlns:a16="http://schemas.microsoft.com/office/drawing/2014/main" id="{F6CA0FB1-FC5D-41C3-BAF0-5F8EB434EA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1100" y="2103438"/>
            <a:ext cx="268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t</a:t>
            </a:r>
          </a:p>
        </p:txBody>
      </p:sp>
      <p:sp>
        <p:nvSpPr>
          <p:cNvPr id="43039" name="Text Box 31">
            <a:extLst>
              <a:ext uri="{FF2B5EF4-FFF2-40B4-BE49-F238E27FC236}">
                <a16:creationId xmlns:a16="http://schemas.microsoft.com/office/drawing/2014/main" id="{C637D29E-076A-4973-94AE-4D9D15AC84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7950" y="211296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u</a:t>
            </a:r>
          </a:p>
        </p:txBody>
      </p:sp>
      <p:sp>
        <p:nvSpPr>
          <p:cNvPr id="43040" name="Text Box 32">
            <a:extLst>
              <a:ext uri="{FF2B5EF4-FFF2-40B4-BE49-F238E27FC236}">
                <a16:creationId xmlns:a16="http://schemas.microsoft.com/office/drawing/2014/main" id="{9AE44AD6-5B96-437D-89BE-DBA3FD108E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9775" y="437991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v</a:t>
            </a:r>
          </a:p>
        </p:txBody>
      </p:sp>
      <p:sp>
        <p:nvSpPr>
          <p:cNvPr id="43041" name="Text Box 33">
            <a:extLst>
              <a:ext uri="{FF2B5EF4-FFF2-40B4-BE49-F238E27FC236}">
                <a16:creationId xmlns:a16="http://schemas.microsoft.com/office/drawing/2014/main" id="{76A5CE52-3C56-417A-974E-43494A64C5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0913" y="4389438"/>
            <a:ext cx="404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w</a:t>
            </a:r>
          </a:p>
        </p:txBody>
      </p:sp>
      <p:sp>
        <p:nvSpPr>
          <p:cNvPr id="43042" name="Text Box 34">
            <a:extLst>
              <a:ext uri="{FF2B5EF4-FFF2-40B4-BE49-F238E27FC236}">
                <a16:creationId xmlns:a16="http://schemas.microsoft.com/office/drawing/2014/main" id="{725FCD94-05E5-4ED3-A779-BC01D1A0F6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6338" y="439896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x</a:t>
            </a:r>
          </a:p>
        </p:txBody>
      </p:sp>
      <p:sp>
        <p:nvSpPr>
          <p:cNvPr id="43043" name="Text Box 35">
            <a:extLst>
              <a:ext uri="{FF2B5EF4-FFF2-40B4-BE49-F238E27FC236}">
                <a16:creationId xmlns:a16="http://schemas.microsoft.com/office/drawing/2014/main" id="{EB0AB8CC-7635-4B65-B967-27288F370D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7475" y="4394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y</a:t>
            </a:r>
          </a:p>
        </p:txBody>
      </p:sp>
      <p:sp>
        <p:nvSpPr>
          <p:cNvPr id="43044" name="Text Box 36">
            <a:extLst>
              <a:ext uri="{FF2B5EF4-FFF2-40B4-BE49-F238E27FC236}">
                <a16:creationId xmlns:a16="http://schemas.microsoft.com/office/drawing/2014/main" id="{A2C17CD3-85AB-4A0E-8E62-496224D619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9700" y="5302250"/>
            <a:ext cx="855663" cy="850900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/>
              <a:t>Q:</a:t>
            </a:r>
            <a:r>
              <a:rPr lang="en-US" altLang="hi-IN"/>
              <a:t>  y</a:t>
            </a:r>
          </a:p>
          <a:p>
            <a:r>
              <a:rPr lang="en-US" altLang="hi-IN"/>
              <a:t>      3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24EBD3-781D-4EEB-8B45-2945CA918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56</a:t>
            </a:fld>
            <a:endParaRPr lang="en-US" altLang="hi-IN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BBA6BDF-78DF-45EA-B74D-872CE68CEB73}"/>
              </a:ext>
            </a:extLst>
          </p:cNvPr>
          <p:cNvSpPr txBox="1"/>
          <p:nvPr/>
        </p:nvSpPr>
        <p:spPr>
          <a:xfrm>
            <a:off x="685800" y="5486400"/>
            <a:ext cx="28384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/>
              <a:t>Order of visit: </a:t>
            </a:r>
          </a:p>
          <a:p>
            <a:pPr algn="l"/>
            <a:r>
              <a:rPr lang="en-US" b="1" dirty="0"/>
              <a:t>s, w, r, t, x, v, u, y</a:t>
            </a:r>
            <a:endParaRPr lang="hi-IN" b="1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FB04A3A0-252E-43C5-823C-E444FA72C6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i-IN"/>
              <a:t>Example (BFS)</a:t>
            </a:r>
          </a:p>
        </p:txBody>
      </p:sp>
      <p:sp>
        <p:nvSpPr>
          <p:cNvPr id="44035" name="Oval 3">
            <a:extLst>
              <a:ext uri="{FF2B5EF4-FFF2-40B4-BE49-F238E27FC236}">
                <a16:creationId xmlns:a16="http://schemas.microsoft.com/office/drawing/2014/main" id="{6041C4AA-B5AF-4346-8572-F95286CE7E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6425" y="2497138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44036" name="Text Box 4">
            <a:extLst>
              <a:ext uri="{FF2B5EF4-FFF2-40B4-BE49-F238E27FC236}">
                <a16:creationId xmlns:a16="http://schemas.microsoft.com/office/drawing/2014/main" id="{F34DA328-1308-4C20-AA22-EF499FA2D6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0250" y="256063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1</a:t>
            </a:r>
            <a:endParaRPr lang="en-US" altLang="hi-IN" b="1"/>
          </a:p>
        </p:txBody>
      </p:sp>
      <p:sp>
        <p:nvSpPr>
          <p:cNvPr id="44037" name="Oval 5">
            <a:extLst>
              <a:ext uri="{FF2B5EF4-FFF2-40B4-BE49-F238E27FC236}">
                <a16:creationId xmlns:a16="http://schemas.microsoft.com/office/drawing/2014/main" id="{CEAB14CE-0A9F-4FAE-9799-8369182D37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7563" y="2490788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44038" name="Text Box 6">
            <a:extLst>
              <a:ext uri="{FF2B5EF4-FFF2-40B4-BE49-F238E27FC236}">
                <a16:creationId xmlns:a16="http://schemas.microsoft.com/office/drawing/2014/main" id="{9BA9349D-357A-4DC3-89F4-0E6343C31B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1388" y="25542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0</a:t>
            </a:r>
            <a:endParaRPr lang="en-US" altLang="hi-IN" b="1"/>
          </a:p>
        </p:txBody>
      </p:sp>
      <p:sp>
        <p:nvSpPr>
          <p:cNvPr id="44039" name="Line 7">
            <a:extLst>
              <a:ext uri="{FF2B5EF4-FFF2-40B4-BE49-F238E27FC236}">
                <a16:creationId xmlns:a16="http://schemas.microsoft.com/office/drawing/2014/main" id="{AF391C0B-930C-4298-8553-7216F750FB23}"/>
              </a:ext>
            </a:extLst>
          </p:cNvPr>
          <p:cNvSpPr>
            <a:spLocks noChangeShapeType="1"/>
          </p:cNvSpPr>
          <p:nvPr/>
        </p:nvSpPr>
        <p:spPr bwMode="auto">
          <a:xfrm>
            <a:off x="2452688" y="2786063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44040" name="Oval 8">
            <a:extLst>
              <a:ext uri="{FF2B5EF4-FFF2-40B4-BE49-F238E27FC236}">
                <a16:creationId xmlns:a16="http://schemas.microsoft.com/office/drawing/2014/main" id="{01313EDF-EB26-489A-82C8-D6C14B0194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7563" y="3906838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44041" name="Text Box 9">
            <a:extLst>
              <a:ext uri="{FF2B5EF4-FFF2-40B4-BE49-F238E27FC236}">
                <a16:creationId xmlns:a16="http://schemas.microsoft.com/office/drawing/2014/main" id="{93631A90-80EA-4FC1-B868-BB0230CB33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1388" y="395605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1</a:t>
            </a:r>
            <a:endParaRPr lang="en-US" altLang="hi-IN" b="1"/>
          </a:p>
        </p:txBody>
      </p:sp>
      <p:sp>
        <p:nvSpPr>
          <p:cNvPr id="44042" name="Oval 10">
            <a:extLst>
              <a:ext uri="{FF2B5EF4-FFF2-40B4-BE49-F238E27FC236}">
                <a16:creationId xmlns:a16="http://schemas.microsoft.com/office/drawing/2014/main" id="{744683E2-BAAE-4EDF-BFCD-C3FABE83D8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8700" y="3900488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44043" name="Text Box 11">
            <a:extLst>
              <a:ext uri="{FF2B5EF4-FFF2-40B4-BE49-F238E27FC236}">
                <a16:creationId xmlns:a16="http://schemas.microsoft.com/office/drawing/2014/main" id="{354AD430-4F2F-448D-BFBC-BB3F700496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2525" y="393541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2</a:t>
            </a:r>
            <a:endParaRPr lang="en-US" altLang="hi-IN" b="1"/>
          </a:p>
        </p:txBody>
      </p:sp>
      <p:sp>
        <p:nvSpPr>
          <p:cNvPr id="44044" name="Line 12">
            <a:extLst>
              <a:ext uri="{FF2B5EF4-FFF2-40B4-BE49-F238E27FC236}">
                <a16:creationId xmlns:a16="http://schemas.microsoft.com/office/drawing/2014/main" id="{B9AB0C8B-19A2-4634-86EB-8A19F11A6CD8}"/>
              </a:ext>
            </a:extLst>
          </p:cNvPr>
          <p:cNvSpPr>
            <a:spLocks noChangeShapeType="1"/>
          </p:cNvSpPr>
          <p:nvPr/>
        </p:nvSpPr>
        <p:spPr bwMode="auto">
          <a:xfrm>
            <a:off x="3933825" y="4195763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44045" name="Oval 13">
            <a:extLst>
              <a:ext uri="{FF2B5EF4-FFF2-40B4-BE49-F238E27FC236}">
                <a16:creationId xmlns:a16="http://schemas.microsoft.com/office/drawing/2014/main" id="{D9463A65-BC6F-4D00-9944-0F735F806A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9838" y="3910013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44046" name="Text Box 14">
            <a:extLst>
              <a:ext uri="{FF2B5EF4-FFF2-40B4-BE49-F238E27FC236}">
                <a16:creationId xmlns:a16="http://schemas.microsoft.com/office/drawing/2014/main" id="{EC551196-64A9-417E-A100-62920E360D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75" y="394493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3</a:t>
            </a:r>
            <a:endParaRPr lang="en-US" altLang="hi-IN" b="1"/>
          </a:p>
        </p:txBody>
      </p:sp>
      <p:sp>
        <p:nvSpPr>
          <p:cNvPr id="44047" name="Line 15">
            <a:extLst>
              <a:ext uri="{FF2B5EF4-FFF2-40B4-BE49-F238E27FC236}">
                <a16:creationId xmlns:a16="http://schemas.microsoft.com/office/drawing/2014/main" id="{DC1B7D65-C1BA-4E14-A714-FCB373A80F77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4963" y="4205288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44048" name="Oval 16">
            <a:extLst>
              <a:ext uri="{FF2B5EF4-FFF2-40B4-BE49-F238E27FC236}">
                <a16:creationId xmlns:a16="http://schemas.microsoft.com/office/drawing/2014/main" id="{289B9592-F332-4D61-A98B-A072ABF826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3938" y="2495550"/>
            <a:ext cx="590550" cy="576263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44049" name="Text Box 17">
            <a:extLst>
              <a:ext uri="{FF2B5EF4-FFF2-40B4-BE49-F238E27FC236}">
                <a16:creationId xmlns:a16="http://schemas.microsoft.com/office/drawing/2014/main" id="{B7B431D6-95CF-4DEA-BC73-FA37C5317F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7763" y="253047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2</a:t>
            </a:r>
            <a:endParaRPr lang="en-US" altLang="hi-IN" b="1"/>
          </a:p>
        </p:txBody>
      </p:sp>
      <p:sp>
        <p:nvSpPr>
          <p:cNvPr id="44050" name="Oval 18">
            <a:extLst>
              <a:ext uri="{FF2B5EF4-FFF2-40B4-BE49-F238E27FC236}">
                <a16:creationId xmlns:a16="http://schemas.microsoft.com/office/drawing/2014/main" id="{87F2C671-4895-4AE8-8DF5-AD70308DFF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5075" y="2505075"/>
            <a:ext cx="590550" cy="576263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44051" name="Text Box 19">
            <a:extLst>
              <a:ext uri="{FF2B5EF4-FFF2-40B4-BE49-F238E27FC236}">
                <a16:creationId xmlns:a16="http://schemas.microsoft.com/office/drawing/2014/main" id="{8F337EF8-6059-4BE8-8ECE-0B9DE37614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8900" y="25542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3</a:t>
            </a:r>
            <a:endParaRPr lang="en-US" altLang="hi-IN" b="1"/>
          </a:p>
        </p:txBody>
      </p:sp>
      <p:sp>
        <p:nvSpPr>
          <p:cNvPr id="44052" name="Line 20">
            <a:extLst>
              <a:ext uri="{FF2B5EF4-FFF2-40B4-BE49-F238E27FC236}">
                <a16:creationId xmlns:a16="http://schemas.microsoft.com/office/drawing/2014/main" id="{00F81ABA-1650-43BE-8757-BB4AACC47DB5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2800350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44053" name="Oval 21">
            <a:extLst>
              <a:ext uri="{FF2B5EF4-FFF2-40B4-BE49-F238E27FC236}">
                <a16:creationId xmlns:a16="http://schemas.microsoft.com/office/drawing/2014/main" id="{4843DBF7-A5B0-4D2B-ADA0-3A35399F0C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7375" y="3906838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44054" name="Text Box 22">
            <a:extLst>
              <a:ext uri="{FF2B5EF4-FFF2-40B4-BE49-F238E27FC236}">
                <a16:creationId xmlns:a16="http://schemas.microsoft.com/office/drawing/2014/main" id="{73F1C21D-AF00-410F-B69A-53A8BC1424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5488" y="395605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2</a:t>
            </a:r>
            <a:endParaRPr lang="en-US" altLang="hi-IN" b="1"/>
          </a:p>
        </p:txBody>
      </p:sp>
      <p:sp>
        <p:nvSpPr>
          <p:cNvPr id="44055" name="Line 23">
            <a:extLst>
              <a:ext uri="{FF2B5EF4-FFF2-40B4-BE49-F238E27FC236}">
                <a16:creationId xmlns:a16="http://schemas.microsoft.com/office/drawing/2014/main" id="{1C73C189-9F08-4791-8F68-3CA139186C43}"/>
              </a:ext>
            </a:extLst>
          </p:cNvPr>
          <p:cNvSpPr>
            <a:spLocks noChangeShapeType="1"/>
          </p:cNvSpPr>
          <p:nvPr/>
        </p:nvSpPr>
        <p:spPr bwMode="auto">
          <a:xfrm>
            <a:off x="2163763" y="3059113"/>
            <a:ext cx="0" cy="8429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44056" name="Line 24">
            <a:extLst>
              <a:ext uri="{FF2B5EF4-FFF2-40B4-BE49-F238E27FC236}">
                <a16:creationId xmlns:a16="http://schemas.microsoft.com/office/drawing/2014/main" id="{B5A7E9A3-E92C-4FB3-9C1E-E0047D25E137}"/>
              </a:ext>
            </a:extLst>
          </p:cNvPr>
          <p:cNvSpPr>
            <a:spLocks noChangeShapeType="1"/>
          </p:cNvSpPr>
          <p:nvPr/>
        </p:nvSpPr>
        <p:spPr bwMode="auto">
          <a:xfrm>
            <a:off x="3644900" y="3068638"/>
            <a:ext cx="0" cy="8429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44057" name="Line 25">
            <a:extLst>
              <a:ext uri="{FF2B5EF4-FFF2-40B4-BE49-F238E27FC236}">
                <a16:creationId xmlns:a16="http://schemas.microsoft.com/office/drawing/2014/main" id="{8166673E-0D35-482A-81D3-01D11071E730}"/>
              </a:ext>
            </a:extLst>
          </p:cNvPr>
          <p:cNvSpPr>
            <a:spLocks noChangeShapeType="1"/>
          </p:cNvSpPr>
          <p:nvPr/>
        </p:nvSpPr>
        <p:spPr bwMode="auto">
          <a:xfrm>
            <a:off x="5126038" y="3078163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44058" name="Line 26">
            <a:extLst>
              <a:ext uri="{FF2B5EF4-FFF2-40B4-BE49-F238E27FC236}">
                <a16:creationId xmlns:a16="http://schemas.microsoft.com/office/drawing/2014/main" id="{98BF487E-9041-41AC-A51D-0026585B0936}"/>
              </a:ext>
            </a:extLst>
          </p:cNvPr>
          <p:cNvSpPr>
            <a:spLocks noChangeShapeType="1"/>
          </p:cNvSpPr>
          <p:nvPr/>
        </p:nvSpPr>
        <p:spPr bwMode="auto">
          <a:xfrm>
            <a:off x="6607175" y="3087688"/>
            <a:ext cx="0" cy="842962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44059" name="Line 27">
            <a:extLst>
              <a:ext uri="{FF2B5EF4-FFF2-40B4-BE49-F238E27FC236}">
                <a16:creationId xmlns:a16="http://schemas.microsoft.com/office/drawing/2014/main" id="{7C8117B3-4EC3-4243-BD0A-EB020A8B1CF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52863" y="2944813"/>
            <a:ext cx="1023937" cy="10287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44060" name="Text Box 28">
            <a:extLst>
              <a:ext uri="{FF2B5EF4-FFF2-40B4-BE49-F238E27FC236}">
                <a16:creationId xmlns:a16="http://schemas.microsoft.com/office/drawing/2014/main" id="{27CFFE3B-C6DC-451B-B0A9-15850DFC73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2084388"/>
            <a:ext cx="285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r</a:t>
            </a:r>
          </a:p>
        </p:txBody>
      </p:sp>
      <p:sp>
        <p:nvSpPr>
          <p:cNvPr id="44061" name="Text Box 29">
            <a:extLst>
              <a:ext uri="{FF2B5EF4-FFF2-40B4-BE49-F238E27FC236}">
                <a16:creationId xmlns:a16="http://schemas.microsoft.com/office/drawing/2014/main" id="{EEF670B6-8141-481C-A4C9-1F6BE597C7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0" y="2093913"/>
            <a:ext cx="303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s</a:t>
            </a:r>
          </a:p>
        </p:txBody>
      </p:sp>
      <p:sp>
        <p:nvSpPr>
          <p:cNvPr id="44062" name="Text Box 30">
            <a:extLst>
              <a:ext uri="{FF2B5EF4-FFF2-40B4-BE49-F238E27FC236}">
                <a16:creationId xmlns:a16="http://schemas.microsoft.com/office/drawing/2014/main" id="{02B941A6-5BE8-426D-A071-20300BCD72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1100" y="2103438"/>
            <a:ext cx="268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t</a:t>
            </a:r>
          </a:p>
        </p:txBody>
      </p:sp>
      <p:sp>
        <p:nvSpPr>
          <p:cNvPr id="44063" name="Text Box 31">
            <a:extLst>
              <a:ext uri="{FF2B5EF4-FFF2-40B4-BE49-F238E27FC236}">
                <a16:creationId xmlns:a16="http://schemas.microsoft.com/office/drawing/2014/main" id="{CE42CCEB-D9E6-48F3-92DF-31457E139C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7950" y="211296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u</a:t>
            </a:r>
          </a:p>
        </p:txBody>
      </p:sp>
      <p:sp>
        <p:nvSpPr>
          <p:cNvPr id="44064" name="Text Box 32">
            <a:extLst>
              <a:ext uri="{FF2B5EF4-FFF2-40B4-BE49-F238E27FC236}">
                <a16:creationId xmlns:a16="http://schemas.microsoft.com/office/drawing/2014/main" id="{2CA084E2-6AEE-46FA-9A45-4341E89F4A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9775" y="437991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v</a:t>
            </a:r>
          </a:p>
        </p:txBody>
      </p:sp>
      <p:sp>
        <p:nvSpPr>
          <p:cNvPr id="44065" name="Text Box 33">
            <a:extLst>
              <a:ext uri="{FF2B5EF4-FFF2-40B4-BE49-F238E27FC236}">
                <a16:creationId xmlns:a16="http://schemas.microsoft.com/office/drawing/2014/main" id="{83479781-9F2B-485F-8BB4-67C10FD739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0913" y="4389438"/>
            <a:ext cx="404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w</a:t>
            </a:r>
          </a:p>
        </p:txBody>
      </p:sp>
      <p:sp>
        <p:nvSpPr>
          <p:cNvPr id="44066" name="Text Box 34">
            <a:extLst>
              <a:ext uri="{FF2B5EF4-FFF2-40B4-BE49-F238E27FC236}">
                <a16:creationId xmlns:a16="http://schemas.microsoft.com/office/drawing/2014/main" id="{79018579-57E5-4048-8546-4A9C0AD27C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6338" y="439896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x</a:t>
            </a:r>
          </a:p>
        </p:txBody>
      </p:sp>
      <p:sp>
        <p:nvSpPr>
          <p:cNvPr id="44067" name="Text Box 35">
            <a:extLst>
              <a:ext uri="{FF2B5EF4-FFF2-40B4-BE49-F238E27FC236}">
                <a16:creationId xmlns:a16="http://schemas.microsoft.com/office/drawing/2014/main" id="{D0AC08CC-F667-4810-A0FD-86D1B7C6FA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7475" y="4394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y</a:t>
            </a:r>
          </a:p>
        </p:txBody>
      </p:sp>
      <p:sp>
        <p:nvSpPr>
          <p:cNvPr id="44068" name="Text Box 36">
            <a:extLst>
              <a:ext uri="{FF2B5EF4-FFF2-40B4-BE49-F238E27FC236}">
                <a16:creationId xmlns:a16="http://schemas.microsoft.com/office/drawing/2014/main" id="{68D4A0A0-C873-4432-B4BC-19ABEF969F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9700" y="5295900"/>
            <a:ext cx="954088" cy="485775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/>
              <a:t>Q:</a:t>
            </a:r>
            <a:r>
              <a:rPr lang="en-US" altLang="hi-IN"/>
              <a:t>  </a:t>
            </a:r>
            <a:r>
              <a:rPr lang="en-US" altLang="hi-IN">
                <a:sym typeface="Symbol" panose="05050102010706020507" pitchFamily="18" charset="2"/>
              </a:rPr>
              <a:t></a:t>
            </a:r>
            <a:endParaRPr lang="en-US" altLang="hi-I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03A6D45-67A7-4FAD-B48A-3C022F8C9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57</a:t>
            </a:fld>
            <a:endParaRPr lang="en-US" altLang="hi-IN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504D335-7ADB-4294-A30E-D83517E433D8}"/>
              </a:ext>
            </a:extLst>
          </p:cNvPr>
          <p:cNvSpPr txBox="1"/>
          <p:nvPr/>
        </p:nvSpPr>
        <p:spPr>
          <a:xfrm>
            <a:off x="685800" y="5486400"/>
            <a:ext cx="28384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/>
              <a:t>Order of visit: </a:t>
            </a:r>
          </a:p>
          <a:p>
            <a:pPr algn="l"/>
            <a:r>
              <a:rPr lang="en-US" b="1" dirty="0"/>
              <a:t>s, w, r, t, x, v, u, y</a:t>
            </a:r>
            <a:endParaRPr lang="hi-IN" b="1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4D5C575E-1B39-43F7-A06B-462C7369E0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i-IN"/>
              <a:t>Example (BFS)</a:t>
            </a:r>
          </a:p>
        </p:txBody>
      </p:sp>
      <p:sp>
        <p:nvSpPr>
          <p:cNvPr id="45059" name="Oval 3">
            <a:extLst>
              <a:ext uri="{FF2B5EF4-FFF2-40B4-BE49-F238E27FC236}">
                <a16:creationId xmlns:a16="http://schemas.microsoft.com/office/drawing/2014/main" id="{8C9ECB6B-F2A6-40EA-A33A-E5829E0865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6425" y="2497138"/>
            <a:ext cx="590550" cy="576262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45060" name="Text Box 4">
            <a:extLst>
              <a:ext uri="{FF2B5EF4-FFF2-40B4-BE49-F238E27FC236}">
                <a16:creationId xmlns:a16="http://schemas.microsoft.com/office/drawing/2014/main" id="{9A2F0100-D6A2-4F9E-A5ED-BFFC2D1A75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0250" y="256063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1</a:t>
            </a:r>
            <a:endParaRPr lang="en-US" altLang="hi-IN" b="1"/>
          </a:p>
        </p:txBody>
      </p:sp>
      <p:sp>
        <p:nvSpPr>
          <p:cNvPr id="45061" name="Oval 5">
            <a:extLst>
              <a:ext uri="{FF2B5EF4-FFF2-40B4-BE49-F238E27FC236}">
                <a16:creationId xmlns:a16="http://schemas.microsoft.com/office/drawing/2014/main" id="{8BF8A782-9475-4C40-A701-C363155581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7563" y="2490788"/>
            <a:ext cx="590550" cy="576262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45062" name="Text Box 6">
            <a:extLst>
              <a:ext uri="{FF2B5EF4-FFF2-40B4-BE49-F238E27FC236}">
                <a16:creationId xmlns:a16="http://schemas.microsoft.com/office/drawing/2014/main" id="{C78356EA-E4E3-4821-B27A-12979F7648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1388" y="25542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0</a:t>
            </a:r>
            <a:endParaRPr lang="en-US" altLang="hi-IN" b="1"/>
          </a:p>
        </p:txBody>
      </p:sp>
      <p:sp>
        <p:nvSpPr>
          <p:cNvPr id="45063" name="Line 7">
            <a:extLst>
              <a:ext uri="{FF2B5EF4-FFF2-40B4-BE49-F238E27FC236}">
                <a16:creationId xmlns:a16="http://schemas.microsoft.com/office/drawing/2014/main" id="{15022AEC-E30E-4C67-894B-456F577C5766}"/>
              </a:ext>
            </a:extLst>
          </p:cNvPr>
          <p:cNvSpPr>
            <a:spLocks noChangeShapeType="1"/>
          </p:cNvSpPr>
          <p:nvPr/>
        </p:nvSpPr>
        <p:spPr bwMode="auto">
          <a:xfrm>
            <a:off x="2452688" y="2786063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45064" name="Oval 8">
            <a:extLst>
              <a:ext uri="{FF2B5EF4-FFF2-40B4-BE49-F238E27FC236}">
                <a16:creationId xmlns:a16="http://schemas.microsoft.com/office/drawing/2014/main" id="{DD8B243F-1B74-4A99-B3D1-1621502B7B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7563" y="3906838"/>
            <a:ext cx="590550" cy="576262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45065" name="Text Box 9">
            <a:extLst>
              <a:ext uri="{FF2B5EF4-FFF2-40B4-BE49-F238E27FC236}">
                <a16:creationId xmlns:a16="http://schemas.microsoft.com/office/drawing/2014/main" id="{95D8DA7E-1F16-4125-A250-E449AE151D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1388" y="395605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1</a:t>
            </a:r>
            <a:endParaRPr lang="en-US" altLang="hi-IN" b="1"/>
          </a:p>
        </p:txBody>
      </p:sp>
      <p:sp>
        <p:nvSpPr>
          <p:cNvPr id="45066" name="Oval 10">
            <a:extLst>
              <a:ext uri="{FF2B5EF4-FFF2-40B4-BE49-F238E27FC236}">
                <a16:creationId xmlns:a16="http://schemas.microsoft.com/office/drawing/2014/main" id="{7CB44E37-ED9A-4187-8EAE-CBF77CE75B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8700" y="3900488"/>
            <a:ext cx="590550" cy="576262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45067" name="Text Box 11">
            <a:extLst>
              <a:ext uri="{FF2B5EF4-FFF2-40B4-BE49-F238E27FC236}">
                <a16:creationId xmlns:a16="http://schemas.microsoft.com/office/drawing/2014/main" id="{4CCE7EBE-E284-4758-A0CE-0ACBC40985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2525" y="393541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2</a:t>
            </a:r>
            <a:endParaRPr lang="en-US" altLang="hi-IN" b="1"/>
          </a:p>
        </p:txBody>
      </p:sp>
      <p:sp>
        <p:nvSpPr>
          <p:cNvPr id="45068" name="Line 12">
            <a:extLst>
              <a:ext uri="{FF2B5EF4-FFF2-40B4-BE49-F238E27FC236}">
                <a16:creationId xmlns:a16="http://schemas.microsoft.com/office/drawing/2014/main" id="{4E42787A-DB4C-48F9-8066-35DA0D14935E}"/>
              </a:ext>
            </a:extLst>
          </p:cNvPr>
          <p:cNvSpPr>
            <a:spLocks noChangeShapeType="1"/>
          </p:cNvSpPr>
          <p:nvPr/>
        </p:nvSpPr>
        <p:spPr bwMode="auto">
          <a:xfrm>
            <a:off x="3933825" y="4195763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45069" name="Oval 13">
            <a:extLst>
              <a:ext uri="{FF2B5EF4-FFF2-40B4-BE49-F238E27FC236}">
                <a16:creationId xmlns:a16="http://schemas.microsoft.com/office/drawing/2014/main" id="{90197C90-4FCC-4584-8100-55FBEFE3D9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9838" y="3910013"/>
            <a:ext cx="590550" cy="576262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45070" name="Text Box 14">
            <a:extLst>
              <a:ext uri="{FF2B5EF4-FFF2-40B4-BE49-F238E27FC236}">
                <a16:creationId xmlns:a16="http://schemas.microsoft.com/office/drawing/2014/main" id="{C379DFAE-2715-4A8D-AAFE-7ED42D7220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75" y="394493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3</a:t>
            </a:r>
            <a:endParaRPr lang="en-US" altLang="hi-IN" b="1"/>
          </a:p>
        </p:txBody>
      </p:sp>
      <p:sp>
        <p:nvSpPr>
          <p:cNvPr id="45071" name="Line 15">
            <a:extLst>
              <a:ext uri="{FF2B5EF4-FFF2-40B4-BE49-F238E27FC236}">
                <a16:creationId xmlns:a16="http://schemas.microsoft.com/office/drawing/2014/main" id="{E335BB00-FD7F-4814-B161-0F5B8EA0858C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4963" y="4205288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45072" name="Oval 16">
            <a:extLst>
              <a:ext uri="{FF2B5EF4-FFF2-40B4-BE49-F238E27FC236}">
                <a16:creationId xmlns:a16="http://schemas.microsoft.com/office/drawing/2014/main" id="{6F35C4D3-EEEE-42FF-B207-9D8A492937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3938" y="2495550"/>
            <a:ext cx="590550" cy="576263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45073" name="Text Box 17">
            <a:extLst>
              <a:ext uri="{FF2B5EF4-FFF2-40B4-BE49-F238E27FC236}">
                <a16:creationId xmlns:a16="http://schemas.microsoft.com/office/drawing/2014/main" id="{B993A454-DF78-447D-AF8F-E4DE4CC02B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7763" y="253047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2</a:t>
            </a:r>
            <a:endParaRPr lang="en-US" altLang="hi-IN" b="1"/>
          </a:p>
        </p:txBody>
      </p:sp>
      <p:sp>
        <p:nvSpPr>
          <p:cNvPr id="45074" name="Oval 18">
            <a:extLst>
              <a:ext uri="{FF2B5EF4-FFF2-40B4-BE49-F238E27FC236}">
                <a16:creationId xmlns:a16="http://schemas.microsoft.com/office/drawing/2014/main" id="{7BF7B8E1-C1B0-444A-9762-10F3D79764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5075" y="2505075"/>
            <a:ext cx="590550" cy="576263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45075" name="Text Box 19">
            <a:extLst>
              <a:ext uri="{FF2B5EF4-FFF2-40B4-BE49-F238E27FC236}">
                <a16:creationId xmlns:a16="http://schemas.microsoft.com/office/drawing/2014/main" id="{064C9020-173B-467A-AAB5-393FCB7485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8900" y="25542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3</a:t>
            </a:r>
            <a:endParaRPr lang="en-US" altLang="hi-IN" b="1"/>
          </a:p>
        </p:txBody>
      </p:sp>
      <p:sp>
        <p:nvSpPr>
          <p:cNvPr id="45076" name="Line 20">
            <a:extLst>
              <a:ext uri="{FF2B5EF4-FFF2-40B4-BE49-F238E27FC236}">
                <a16:creationId xmlns:a16="http://schemas.microsoft.com/office/drawing/2014/main" id="{6AC0FBFF-9701-4E8A-84A1-8337E497C1ED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2800350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45077" name="Oval 21">
            <a:extLst>
              <a:ext uri="{FF2B5EF4-FFF2-40B4-BE49-F238E27FC236}">
                <a16:creationId xmlns:a16="http://schemas.microsoft.com/office/drawing/2014/main" id="{9906D2B2-5AEA-415F-BAA2-1E3D7C881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7375" y="3906838"/>
            <a:ext cx="590550" cy="576262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45078" name="Text Box 22">
            <a:extLst>
              <a:ext uri="{FF2B5EF4-FFF2-40B4-BE49-F238E27FC236}">
                <a16:creationId xmlns:a16="http://schemas.microsoft.com/office/drawing/2014/main" id="{C406111F-A54D-468E-974E-C642C8A060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5488" y="395605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2</a:t>
            </a:r>
            <a:endParaRPr lang="en-US" altLang="hi-IN" b="1"/>
          </a:p>
        </p:txBody>
      </p:sp>
      <p:sp>
        <p:nvSpPr>
          <p:cNvPr id="45079" name="Line 23">
            <a:extLst>
              <a:ext uri="{FF2B5EF4-FFF2-40B4-BE49-F238E27FC236}">
                <a16:creationId xmlns:a16="http://schemas.microsoft.com/office/drawing/2014/main" id="{FDBB5D5B-BD75-4D45-8B8B-018CB68A0155}"/>
              </a:ext>
            </a:extLst>
          </p:cNvPr>
          <p:cNvSpPr>
            <a:spLocks noChangeShapeType="1"/>
          </p:cNvSpPr>
          <p:nvPr/>
        </p:nvSpPr>
        <p:spPr bwMode="auto">
          <a:xfrm>
            <a:off x="2163763" y="3059113"/>
            <a:ext cx="0" cy="8429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45080" name="Line 24">
            <a:extLst>
              <a:ext uri="{FF2B5EF4-FFF2-40B4-BE49-F238E27FC236}">
                <a16:creationId xmlns:a16="http://schemas.microsoft.com/office/drawing/2014/main" id="{AA88393E-7296-4C58-AC75-1FD6761DE859}"/>
              </a:ext>
            </a:extLst>
          </p:cNvPr>
          <p:cNvSpPr>
            <a:spLocks noChangeShapeType="1"/>
          </p:cNvSpPr>
          <p:nvPr/>
        </p:nvSpPr>
        <p:spPr bwMode="auto">
          <a:xfrm>
            <a:off x="3644900" y="3068638"/>
            <a:ext cx="0" cy="8429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45081" name="Line 25">
            <a:extLst>
              <a:ext uri="{FF2B5EF4-FFF2-40B4-BE49-F238E27FC236}">
                <a16:creationId xmlns:a16="http://schemas.microsoft.com/office/drawing/2014/main" id="{ACFC775F-A134-4ED9-8494-4B633A85301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52863" y="2944813"/>
            <a:ext cx="1023937" cy="10287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45082" name="Text Box 26">
            <a:extLst>
              <a:ext uri="{FF2B5EF4-FFF2-40B4-BE49-F238E27FC236}">
                <a16:creationId xmlns:a16="http://schemas.microsoft.com/office/drawing/2014/main" id="{2083BE73-DD71-4A10-8757-2E4238433A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2084388"/>
            <a:ext cx="285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r</a:t>
            </a:r>
          </a:p>
        </p:txBody>
      </p:sp>
      <p:sp>
        <p:nvSpPr>
          <p:cNvPr id="45083" name="Text Box 27">
            <a:extLst>
              <a:ext uri="{FF2B5EF4-FFF2-40B4-BE49-F238E27FC236}">
                <a16:creationId xmlns:a16="http://schemas.microsoft.com/office/drawing/2014/main" id="{8D0C2044-FAF1-4A0B-84FC-1A919DC164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0" y="2093913"/>
            <a:ext cx="303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s</a:t>
            </a:r>
          </a:p>
        </p:txBody>
      </p:sp>
      <p:sp>
        <p:nvSpPr>
          <p:cNvPr id="45084" name="Text Box 28">
            <a:extLst>
              <a:ext uri="{FF2B5EF4-FFF2-40B4-BE49-F238E27FC236}">
                <a16:creationId xmlns:a16="http://schemas.microsoft.com/office/drawing/2014/main" id="{531B6AA2-7F66-4BDE-B5A3-DBF52092FA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1100" y="2103438"/>
            <a:ext cx="268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t</a:t>
            </a:r>
          </a:p>
        </p:txBody>
      </p:sp>
      <p:sp>
        <p:nvSpPr>
          <p:cNvPr id="45085" name="Text Box 29">
            <a:extLst>
              <a:ext uri="{FF2B5EF4-FFF2-40B4-BE49-F238E27FC236}">
                <a16:creationId xmlns:a16="http://schemas.microsoft.com/office/drawing/2014/main" id="{969B2B9A-894A-47BB-8465-F5A1D091DB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7950" y="211296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u</a:t>
            </a:r>
          </a:p>
        </p:txBody>
      </p:sp>
      <p:sp>
        <p:nvSpPr>
          <p:cNvPr id="45086" name="Text Box 30">
            <a:extLst>
              <a:ext uri="{FF2B5EF4-FFF2-40B4-BE49-F238E27FC236}">
                <a16:creationId xmlns:a16="http://schemas.microsoft.com/office/drawing/2014/main" id="{BD61907F-EF83-4DEE-8749-C4788612C1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9775" y="437991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v</a:t>
            </a:r>
          </a:p>
        </p:txBody>
      </p:sp>
      <p:sp>
        <p:nvSpPr>
          <p:cNvPr id="45087" name="Text Box 31">
            <a:extLst>
              <a:ext uri="{FF2B5EF4-FFF2-40B4-BE49-F238E27FC236}">
                <a16:creationId xmlns:a16="http://schemas.microsoft.com/office/drawing/2014/main" id="{ACD480BB-AA26-4900-BDBA-4D8CDDFB80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0913" y="4389438"/>
            <a:ext cx="404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w</a:t>
            </a:r>
          </a:p>
        </p:txBody>
      </p:sp>
      <p:sp>
        <p:nvSpPr>
          <p:cNvPr id="45088" name="Text Box 32">
            <a:extLst>
              <a:ext uri="{FF2B5EF4-FFF2-40B4-BE49-F238E27FC236}">
                <a16:creationId xmlns:a16="http://schemas.microsoft.com/office/drawing/2014/main" id="{AB9ADF1A-47BE-4093-A8E2-93AE1B33BE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6338" y="439896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x</a:t>
            </a:r>
          </a:p>
        </p:txBody>
      </p:sp>
      <p:sp>
        <p:nvSpPr>
          <p:cNvPr id="45089" name="Text Box 33">
            <a:extLst>
              <a:ext uri="{FF2B5EF4-FFF2-40B4-BE49-F238E27FC236}">
                <a16:creationId xmlns:a16="http://schemas.microsoft.com/office/drawing/2014/main" id="{6CB7B96F-BE9F-414F-8936-C644295046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7475" y="4394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y</a:t>
            </a:r>
          </a:p>
        </p:txBody>
      </p:sp>
      <p:sp>
        <p:nvSpPr>
          <p:cNvPr id="45090" name="Text Box 34">
            <a:extLst>
              <a:ext uri="{FF2B5EF4-FFF2-40B4-BE49-F238E27FC236}">
                <a16:creationId xmlns:a16="http://schemas.microsoft.com/office/drawing/2014/main" id="{A94D9F18-4F71-49A6-B051-37B12D2673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5900" y="5173662"/>
            <a:ext cx="1257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 dirty="0"/>
              <a:t>BF Tree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9C61B3-2F53-4128-995F-4A300BCB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58</a:t>
            </a:fld>
            <a:endParaRPr lang="en-US" altLang="hi-IN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E6BA7C5-A259-49B3-8CA7-875767C534BA}"/>
              </a:ext>
            </a:extLst>
          </p:cNvPr>
          <p:cNvCxnSpPr>
            <a:cxnSpLocks/>
            <a:stCxn id="45072" idx="4"/>
            <a:endCxn id="45067" idx="0"/>
          </p:cNvCxnSpPr>
          <p:nvPr/>
        </p:nvCxnSpPr>
        <p:spPr bwMode="auto">
          <a:xfrm>
            <a:off x="5129213" y="3071813"/>
            <a:ext cx="1587" cy="863600"/>
          </a:xfrm>
          <a:prstGeom prst="line">
            <a:avLst/>
          </a:prstGeom>
          <a:ln w="38100">
            <a:prstDash val="sysDot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CFBB5E7-81D2-4902-8C26-F8E1AFA6A016}"/>
              </a:ext>
            </a:extLst>
          </p:cNvPr>
          <p:cNvCxnSpPr>
            <a:cxnSpLocks/>
            <a:stCxn id="45074" idx="4"/>
          </p:cNvCxnSpPr>
          <p:nvPr/>
        </p:nvCxnSpPr>
        <p:spPr bwMode="auto">
          <a:xfrm>
            <a:off x="6610350" y="3081338"/>
            <a:ext cx="19050" cy="838200"/>
          </a:xfrm>
          <a:prstGeom prst="line">
            <a:avLst/>
          </a:prstGeom>
          <a:ln w="38100">
            <a:prstDash val="sysDot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A9F9FB0-1431-4519-9AFE-E9CABEDB06BF}"/>
              </a:ext>
            </a:extLst>
          </p:cNvPr>
          <p:cNvSpPr txBox="1"/>
          <p:nvPr/>
        </p:nvSpPr>
        <p:spPr>
          <a:xfrm>
            <a:off x="5234781" y="3214866"/>
            <a:ext cx="3889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  <a:endParaRPr lang="hi-IN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C2CB75E-9888-47C1-9354-B072E58530B6}"/>
              </a:ext>
            </a:extLst>
          </p:cNvPr>
          <p:cNvSpPr txBox="1"/>
          <p:nvPr/>
        </p:nvSpPr>
        <p:spPr>
          <a:xfrm>
            <a:off x="6743382" y="3174980"/>
            <a:ext cx="3889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  <a:endParaRPr lang="hi-IN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4350118-6D46-4E14-84EB-B8D78E9A6BB9}"/>
              </a:ext>
            </a:extLst>
          </p:cNvPr>
          <p:cNvSpPr txBox="1"/>
          <p:nvPr/>
        </p:nvSpPr>
        <p:spPr>
          <a:xfrm>
            <a:off x="5634830" y="2276515"/>
            <a:ext cx="3900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  <a:endParaRPr lang="hi-IN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8CF8B92-923B-4030-A6C9-097C5DF030C8}"/>
              </a:ext>
            </a:extLst>
          </p:cNvPr>
          <p:cNvSpPr txBox="1"/>
          <p:nvPr/>
        </p:nvSpPr>
        <p:spPr>
          <a:xfrm>
            <a:off x="5715000" y="4201180"/>
            <a:ext cx="3900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  <a:endParaRPr lang="hi-IN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9EC24E0-1511-45E1-A3E4-A970576610E1}"/>
              </a:ext>
            </a:extLst>
          </p:cNvPr>
          <p:cNvSpPr txBox="1"/>
          <p:nvPr/>
        </p:nvSpPr>
        <p:spPr>
          <a:xfrm>
            <a:off x="4191000" y="2981980"/>
            <a:ext cx="3900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  <a:endParaRPr lang="hi-IN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EBB65A4-9A2C-4E42-A003-BB72D93D1846}"/>
              </a:ext>
            </a:extLst>
          </p:cNvPr>
          <p:cNvSpPr txBox="1"/>
          <p:nvPr/>
        </p:nvSpPr>
        <p:spPr>
          <a:xfrm>
            <a:off x="4267200" y="4124980"/>
            <a:ext cx="3900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  <a:endParaRPr lang="hi-IN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D409BE2-3B54-4F09-80EE-38E0052A4515}"/>
              </a:ext>
            </a:extLst>
          </p:cNvPr>
          <p:cNvSpPr txBox="1"/>
          <p:nvPr/>
        </p:nvSpPr>
        <p:spPr>
          <a:xfrm>
            <a:off x="2667000" y="2286000"/>
            <a:ext cx="3900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  <a:endParaRPr lang="hi-IN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83E3822-2059-49A6-AA61-943569B22857}"/>
              </a:ext>
            </a:extLst>
          </p:cNvPr>
          <p:cNvSpPr txBox="1"/>
          <p:nvPr/>
        </p:nvSpPr>
        <p:spPr>
          <a:xfrm>
            <a:off x="1682672" y="3242003"/>
            <a:ext cx="3900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  <a:endParaRPr lang="hi-IN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AEAC5A7-309D-4B3C-84A0-263E4198E319}"/>
              </a:ext>
            </a:extLst>
          </p:cNvPr>
          <p:cNvSpPr txBox="1"/>
          <p:nvPr/>
        </p:nvSpPr>
        <p:spPr>
          <a:xfrm>
            <a:off x="3167063" y="3264537"/>
            <a:ext cx="3900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  <a:endParaRPr lang="hi-IN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3D6C274-FC9E-46BE-B85A-E7C36E5671FE}"/>
              </a:ext>
            </a:extLst>
          </p:cNvPr>
          <p:cNvSpPr txBox="1"/>
          <p:nvPr/>
        </p:nvSpPr>
        <p:spPr>
          <a:xfrm>
            <a:off x="685800" y="5486400"/>
            <a:ext cx="28384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/>
              <a:t>BFS traversal: </a:t>
            </a:r>
          </a:p>
          <a:p>
            <a:pPr algn="l"/>
            <a:r>
              <a:rPr lang="en-US" b="1" dirty="0"/>
              <a:t>s, w, r, t, x, v, u, y</a:t>
            </a:r>
            <a:endParaRPr lang="hi-IN" b="1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9A2D3130-5727-40CC-BA9E-B25823F28C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r>
              <a:rPr lang="en-US" altLang="hi-IN"/>
              <a:t>Analysis of BFS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A1CF04FB-5057-40F8-A5B8-1E775B8D42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1066800"/>
            <a:ext cx="8985250" cy="518160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10000"/>
              </a:spcBef>
            </a:pPr>
            <a:r>
              <a:rPr lang="en-US" altLang="hi-IN"/>
              <a:t>Initialization takes </a:t>
            </a:r>
            <a:r>
              <a:rPr lang="en-US" altLang="hi-IN" i="1"/>
              <a:t>O</a:t>
            </a:r>
            <a:r>
              <a:rPr lang="en-US" altLang="hi-IN"/>
              <a:t>(</a:t>
            </a:r>
            <a:r>
              <a:rPr lang="en-US" altLang="hi-IN" i="1"/>
              <a:t>V</a:t>
            </a:r>
            <a:r>
              <a:rPr lang="en-US" altLang="hi-IN"/>
              <a:t>)</a:t>
            </a:r>
            <a:r>
              <a:rPr lang="en-US" altLang="hi-IN" i="1"/>
              <a:t>.</a:t>
            </a:r>
            <a:endParaRPr lang="en-US" altLang="hi-IN" sz="2400"/>
          </a:p>
          <a:p>
            <a:pPr>
              <a:lnSpc>
                <a:spcPct val="90000"/>
              </a:lnSpc>
              <a:spcBef>
                <a:spcPct val="10000"/>
              </a:spcBef>
            </a:pPr>
            <a:r>
              <a:rPr lang="en-US" altLang="hi-IN"/>
              <a:t>Traversal Loop</a:t>
            </a:r>
          </a:p>
          <a:p>
            <a:pPr lvl="1">
              <a:lnSpc>
                <a:spcPct val="90000"/>
              </a:lnSpc>
              <a:spcBef>
                <a:spcPct val="10000"/>
              </a:spcBef>
            </a:pPr>
            <a:r>
              <a:rPr lang="en-US" altLang="hi-IN"/>
              <a:t>After initialization, each vertex is enqueued and dequeued at most once, and each operation takes </a:t>
            </a:r>
            <a:r>
              <a:rPr lang="en-US" altLang="hi-IN" i="1"/>
              <a:t>O</a:t>
            </a:r>
            <a:r>
              <a:rPr lang="en-US" altLang="hi-IN"/>
              <a:t>(1)</a:t>
            </a:r>
            <a:r>
              <a:rPr lang="en-US" altLang="hi-IN" i="1"/>
              <a:t>.</a:t>
            </a:r>
            <a:r>
              <a:rPr lang="en-US" altLang="hi-IN"/>
              <a:t>  So, total time for queuing is </a:t>
            </a:r>
            <a:r>
              <a:rPr lang="en-US" altLang="hi-IN" i="1"/>
              <a:t>O</a:t>
            </a:r>
            <a:r>
              <a:rPr lang="en-US" altLang="hi-IN"/>
              <a:t>(</a:t>
            </a:r>
            <a:r>
              <a:rPr lang="en-US" altLang="hi-IN" i="1"/>
              <a:t>V</a:t>
            </a:r>
            <a:r>
              <a:rPr lang="en-US" altLang="hi-IN"/>
              <a:t>)</a:t>
            </a:r>
            <a:r>
              <a:rPr lang="en-US" altLang="hi-IN" i="1"/>
              <a:t>.</a:t>
            </a:r>
            <a:endParaRPr lang="en-US" altLang="hi-IN" sz="2000"/>
          </a:p>
          <a:p>
            <a:pPr lvl="1">
              <a:lnSpc>
                <a:spcPct val="90000"/>
              </a:lnSpc>
              <a:spcBef>
                <a:spcPct val="10000"/>
              </a:spcBef>
            </a:pPr>
            <a:r>
              <a:rPr lang="en-US" altLang="hi-IN"/>
              <a:t>The adjacency list of each vertex is scanned at most once.  The sum of lengths of all adjacency lists is </a:t>
            </a:r>
            <a:r>
              <a:rPr lang="en-US" altLang="hi-IN" i="1">
                <a:sym typeface="Symbol" panose="05050102010706020507" pitchFamily="18" charset="2"/>
              </a:rPr>
              <a:t></a:t>
            </a:r>
            <a:r>
              <a:rPr lang="en-US" altLang="hi-IN"/>
              <a:t>(</a:t>
            </a:r>
            <a:r>
              <a:rPr lang="en-US" altLang="hi-IN" i="1"/>
              <a:t>E</a:t>
            </a:r>
            <a:r>
              <a:rPr lang="en-US" altLang="hi-IN"/>
              <a:t>)</a:t>
            </a:r>
            <a:r>
              <a:rPr lang="en-US" altLang="hi-IN" i="1"/>
              <a:t>.</a:t>
            </a:r>
            <a:endParaRPr lang="en-US" altLang="hi-IN" sz="2000"/>
          </a:p>
          <a:p>
            <a:pPr>
              <a:lnSpc>
                <a:spcPct val="90000"/>
              </a:lnSpc>
              <a:spcBef>
                <a:spcPct val="10000"/>
              </a:spcBef>
            </a:pPr>
            <a:r>
              <a:rPr lang="en-US" altLang="hi-IN"/>
              <a:t>Summing up over all vertices =&gt; total running time of BFS is</a:t>
            </a:r>
            <a:r>
              <a:rPr lang="en-US" altLang="hi-IN" i="1"/>
              <a:t> O</a:t>
            </a:r>
            <a:r>
              <a:rPr lang="en-US" altLang="hi-IN"/>
              <a:t>(</a:t>
            </a:r>
            <a:r>
              <a:rPr lang="en-US" altLang="hi-IN" i="1"/>
              <a:t>V+E</a:t>
            </a:r>
            <a:r>
              <a:rPr lang="en-US" altLang="hi-IN"/>
              <a:t>),</a:t>
            </a:r>
            <a:r>
              <a:rPr lang="en-US" altLang="hi-IN" i="1"/>
              <a:t> </a:t>
            </a:r>
            <a:r>
              <a:rPr lang="en-US" altLang="hi-IN"/>
              <a:t>linear in the size of the adjacency list representation of graph.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9DFABB-63C1-4991-90CE-4ABA3C28D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51D9C-B6AB-428B-A110-91A75E744F65}" type="slidenum">
              <a:rPr lang="en-US" altLang="hi-IN" smtClean="0"/>
              <a:pPr/>
              <a:t>59</a:t>
            </a:fld>
            <a:endParaRPr lang="en-US" altLang="hi-IN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08EAD-D6C7-48B8-90BE-B8C784309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BFS- Example 2</a:t>
            </a:r>
            <a:endParaRPr lang="hi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C955B-8FD6-4529-8B89-7C6F3570D6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i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5DF43D-0C9C-4641-8838-F037FC5D76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133600"/>
            <a:ext cx="3495675" cy="21621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10B81A-8D1C-4720-8130-43ACF39742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200" y="4295775"/>
            <a:ext cx="5133975" cy="226695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99C07-7DFA-46A0-B7E6-4D1AA088B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51D9C-B6AB-428B-A110-91A75E744F65}" type="slidenum">
              <a:rPr lang="en-US" altLang="hi-IN" smtClean="0"/>
              <a:pPr/>
              <a:t>60</a:t>
            </a:fld>
            <a:endParaRPr lang="en-US" altLang="hi-IN"/>
          </a:p>
        </p:txBody>
      </p:sp>
    </p:spTree>
    <p:extLst>
      <p:ext uri="{BB962C8B-B14F-4D97-AF65-F5344CB8AC3E}">
        <p14:creationId xmlns:p14="http://schemas.microsoft.com/office/powerpoint/2010/main" val="20420677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1F316-FE11-457B-9749-3F009FE3E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BFS- Example 2</a:t>
            </a:r>
            <a:endParaRPr lang="hi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C4919-6BE1-4B7B-8E96-947A886A9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i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1DC603-409A-4CC6-B7AB-72A6BBA74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" y="1828800"/>
            <a:ext cx="5143500" cy="18859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6350055-66B3-4BC5-989B-2F0EE1624D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4038600"/>
            <a:ext cx="4972050" cy="2295525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6EDD8A-0ABF-4A4A-9C12-6F5E24EC8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51D9C-B6AB-428B-A110-91A75E744F65}" type="slidenum">
              <a:rPr lang="en-US" altLang="hi-IN" smtClean="0"/>
              <a:pPr/>
              <a:t>61</a:t>
            </a:fld>
            <a:endParaRPr lang="en-US" altLang="hi-IN"/>
          </a:p>
        </p:txBody>
      </p:sp>
    </p:spTree>
    <p:extLst>
      <p:ext uri="{BB962C8B-B14F-4D97-AF65-F5344CB8AC3E}">
        <p14:creationId xmlns:p14="http://schemas.microsoft.com/office/powerpoint/2010/main" val="386730891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1F316-FE11-457B-9749-3F009FE3E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BFS- Example 2</a:t>
            </a:r>
            <a:endParaRPr lang="hi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C4919-6BE1-4B7B-8E96-947A886A9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i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F9EB77-892F-4165-8B5A-F6E4FE731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51D9C-B6AB-428B-A110-91A75E744F65}" type="slidenum">
              <a:rPr lang="en-US" altLang="hi-IN" smtClean="0"/>
              <a:pPr/>
              <a:t>62</a:t>
            </a:fld>
            <a:endParaRPr lang="en-US" altLang="hi-IN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7DF444B-0DBC-4927-B808-0BB9B20D474C}"/>
              </a:ext>
            </a:extLst>
          </p:cNvPr>
          <p:cNvGrpSpPr/>
          <p:nvPr/>
        </p:nvGrpSpPr>
        <p:grpSpPr>
          <a:xfrm>
            <a:off x="914400" y="1447799"/>
            <a:ext cx="7162800" cy="5262049"/>
            <a:chOff x="914400" y="1447799"/>
            <a:chExt cx="7162800" cy="5262049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23E36E3-80E5-4BC4-B7C7-DE5AFA4040F3}"/>
                </a:ext>
              </a:extLst>
            </p:cNvPr>
            <p:cNvGrpSpPr/>
            <p:nvPr/>
          </p:nvGrpSpPr>
          <p:grpSpPr>
            <a:xfrm>
              <a:off x="914400" y="1447799"/>
              <a:ext cx="7162800" cy="5262049"/>
              <a:chOff x="914400" y="1447799"/>
              <a:chExt cx="7162800" cy="5262049"/>
            </a:xfrm>
          </p:grpSpPr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CD2B079E-78CC-4C0C-9701-D265CDE78A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914400" y="1447799"/>
                <a:ext cx="7162800" cy="5262049"/>
              </a:xfrm>
              <a:prstGeom prst="rect">
                <a:avLst/>
              </a:prstGeom>
              <a:solidFill>
                <a:schemeClr val="bg1"/>
              </a:solidFill>
              <a:ln w="60325">
                <a:noFill/>
                <a:prstDash val="sysDot"/>
              </a:ln>
              <a:effectLst>
                <a:outerShdw blurRad="50800" dist="50800" dir="5400000" algn="ctr" rotWithShape="0">
                  <a:srgbClr val="000000"/>
                </a:outerShdw>
              </a:effectLst>
            </p:spPr>
          </p:pic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3CAD3C3F-E69C-4B37-B569-D60E5E4C03FE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019800" y="4114800"/>
                <a:ext cx="0" cy="304800"/>
              </a:xfrm>
              <a:prstGeom prst="line">
                <a:avLst/>
              </a:prstGeom>
              <a:solidFill>
                <a:schemeClr val="accent1"/>
              </a:solidFill>
              <a:ln w="60325" cap="flat" cmpd="sng" algn="ctr">
                <a:solidFill>
                  <a:srgbClr val="C00000"/>
                </a:solidFill>
                <a:prstDash val="sysDot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71767884-3B65-452A-B9C7-7D38130059CC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6172200" y="4114800"/>
                <a:ext cx="457200" cy="304800"/>
              </a:xfrm>
              <a:prstGeom prst="line">
                <a:avLst/>
              </a:prstGeom>
              <a:solidFill>
                <a:schemeClr val="accent1"/>
              </a:solidFill>
              <a:ln w="60325" cap="flat" cmpd="sng" algn="ctr">
                <a:solidFill>
                  <a:srgbClr val="C00000"/>
                </a:solidFill>
                <a:prstDash val="sysDot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8A91330-102D-4D08-AA13-3155539998C6}"/>
                </a:ext>
              </a:extLst>
            </p:cNvPr>
            <p:cNvSpPr txBox="1"/>
            <p:nvPr/>
          </p:nvSpPr>
          <p:spPr>
            <a:xfrm>
              <a:off x="5669280" y="4013200"/>
              <a:ext cx="3505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b="1" dirty="0"/>
                <a:t>C</a:t>
              </a:r>
              <a:endParaRPr lang="hi-IN" sz="1800" b="1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AB080AD-FCA5-47CF-BAE5-8164D12F5C77}"/>
                </a:ext>
              </a:extLst>
            </p:cNvPr>
            <p:cNvSpPr txBox="1"/>
            <p:nvPr/>
          </p:nvSpPr>
          <p:spPr>
            <a:xfrm>
              <a:off x="6225540" y="3965694"/>
              <a:ext cx="3505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b="1" dirty="0"/>
                <a:t>C</a:t>
              </a:r>
              <a:endParaRPr lang="hi-IN" sz="1800" b="1" dirty="0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E999F255-20CC-4D77-9EEA-A7209169F2E1}"/>
              </a:ext>
            </a:extLst>
          </p:cNvPr>
          <p:cNvSpPr txBox="1"/>
          <p:nvPr/>
        </p:nvSpPr>
        <p:spPr>
          <a:xfrm>
            <a:off x="4806315" y="5184180"/>
            <a:ext cx="28384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/>
              <a:t>BFS traversal: </a:t>
            </a:r>
          </a:p>
          <a:p>
            <a:pPr algn="l"/>
            <a:r>
              <a:rPr lang="en-US" b="1" dirty="0"/>
              <a:t>1, 2, 5, 3, 6, 4, 7</a:t>
            </a:r>
            <a:endParaRPr lang="hi-IN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D431232-DFFE-4853-A7AD-A771B00180B9}"/>
              </a:ext>
            </a:extLst>
          </p:cNvPr>
          <p:cNvSpPr txBox="1"/>
          <p:nvPr/>
        </p:nvSpPr>
        <p:spPr>
          <a:xfrm>
            <a:off x="6873875" y="3351560"/>
            <a:ext cx="15843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/>
              <a:t>BFS tree</a:t>
            </a:r>
            <a:endParaRPr lang="hi-IN" b="1" dirty="0"/>
          </a:p>
        </p:txBody>
      </p:sp>
    </p:spTree>
    <p:extLst>
      <p:ext uri="{BB962C8B-B14F-4D97-AF65-F5344CB8AC3E}">
        <p14:creationId xmlns:p14="http://schemas.microsoft.com/office/powerpoint/2010/main" val="134372836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1F316-FE11-457B-9749-3F009FE3E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BFS- Example 2</a:t>
            </a:r>
            <a:endParaRPr lang="hi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C4919-6BE1-4B7B-8E96-947A886A9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i-IN"/>
          </a:p>
        </p:txBody>
      </p:sp>
      <p:pic>
        <p:nvPicPr>
          <p:cNvPr id="3074" name="Picture 2" descr="animation of BFS">
            <a:extLst>
              <a:ext uri="{FF2B5EF4-FFF2-40B4-BE49-F238E27FC236}">
                <a16:creationId xmlns:a16="http://schemas.microsoft.com/office/drawing/2014/main" id="{92F002FD-ACC2-423A-9D87-A5D35B78A34E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438400"/>
            <a:ext cx="725805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35C24-0C53-4E65-BADD-F57DFB635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51D9C-B6AB-428B-A110-91A75E744F65}" type="slidenum">
              <a:rPr lang="en-US" altLang="hi-IN" smtClean="0"/>
              <a:pPr/>
              <a:t>63</a:t>
            </a:fld>
            <a:endParaRPr lang="en-US" altLang="hi-IN"/>
          </a:p>
        </p:txBody>
      </p:sp>
    </p:spTree>
    <p:extLst>
      <p:ext uri="{BB962C8B-B14F-4D97-AF65-F5344CB8AC3E}">
        <p14:creationId xmlns:p14="http://schemas.microsoft.com/office/powerpoint/2010/main" val="249232951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37883164-6DCF-4CE9-A17C-86B130EC6C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hi-IN" dirty="0"/>
              <a:t>Exercise- Find the BFS tree and the traversal</a:t>
            </a:r>
          </a:p>
        </p:txBody>
      </p:sp>
      <p:grpSp>
        <p:nvGrpSpPr>
          <p:cNvPr id="47107" name="Group 43">
            <a:extLst>
              <a:ext uri="{FF2B5EF4-FFF2-40B4-BE49-F238E27FC236}">
                <a16:creationId xmlns:a16="http://schemas.microsoft.com/office/drawing/2014/main" id="{4650E21C-F627-48DD-8DE0-0963B30A889A}"/>
              </a:ext>
            </a:extLst>
          </p:cNvPr>
          <p:cNvGrpSpPr>
            <a:grpSpLocks/>
          </p:cNvGrpSpPr>
          <p:nvPr/>
        </p:nvGrpSpPr>
        <p:grpSpPr bwMode="auto">
          <a:xfrm>
            <a:off x="1447800" y="2133600"/>
            <a:ext cx="6477000" cy="3810000"/>
            <a:chOff x="912" y="1440"/>
            <a:chExt cx="4080" cy="2400"/>
          </a:xfrm>
        </p:grpSpPr>
        <p:sp>
          <p:nvSpPr>
            <p:cNvPr id="47108" name="Line 3">
              <a:extLst>
                <a:ext uri="{FF2B5EF4-FFF2-40B4-BE49-F238E27FC236}">
                  <a16:creationId xmlns:a16="http://schemas.microsoft.com/office/drawing/2014/main" id="{633D0BCB-00BF-4B05-9462-1DB917C9BF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56" y="2112"/>
              <a:ext cx="144" cy="12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i-IN"/>
            </a:p>
          </p:txBody>
        </p:sp>
        <p:sp>
          <p:nvSpPr>
            <p:cNvPr id="47109" name="Line 4">
              <a:extLst>
                <a:ext uri="{FF2B5EF4-FFF2-40B4-BE49-F238E27FC236}">
                  <a16:creationId xmlns:a16="http://schemas.microsoft.com/office/drawing/2014/main" id="{664CB9DD-2A9A-4B41-BFE8-27F20E737A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00" y="1584"/>
              <a:ext cx="1584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i-IN"/>
            </a:p>
          </p:txBody>
        </p:sp>
        <p:sp>
          <p:nvSpPr>
            <p:cNvPr id="47110" name="Line 5">
              <a:extLst>
                <a:ext uri="{FF2B5EF4-FFF2-40B4-BE49-F238E27FC236}">
                  <a16:creationId xmlns:a16="http://schemas.microsoft.com/office/drawing/2014/main" id="{218CD34A-C705-4332-A3E5-EBAD1D6966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2112"/>
              <a:ext cx="576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i-IN"/>
            </a:p>
          </p:txBody>
        </p:sp>
        <p:sp>
          <p:nvSpPr>
            <p:cNvPr id="47111" name="Line 6">
              <a:extLst>
                <a:ext uri="{FF2B5EF4-FFF2-40B4-BE49-F238E27FC236}">
                  <a16:creationId xmlns:a16="http://schemas.microsoft.com/office/drawing/2014/main" id="{EA30B0B5-EB22-4449-BAA2-115C0866F0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56" y="2832"/>
              <a:ext cx="72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i-IN"/>
            </a:p>
          </p:txBody>
        </p:sp>
        <p:sp>
          <p:nvSpPr>
            <p:cNvPr id="47112" name="Line 7">
              <a:extLst>
                <a:ext uri="{FF2B5EF4-FFF2-40B4-BE49-F238E27FC236}">
                  <a16:creationId xmlns:a16="http://schemas.microsoft.com/office/drawing/2014/main" id="{4AF76EEC-D302-4AAE-829B-E4F13C59DE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1584"/>
              <a:ext cx="48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i-IN"/>
            </a:p>
          </p:txBody>
        </p:sp>
        <p:sp>
          <p:nvSpPr>
            <p:cNvPr id="47113" name="Line 8">
              <a:extLst>
                <a:ext uri="{FF2B5EF4-FFF2-40B4-BE49-F238E27FC236}">
                  <a16:creationId xmlns:a16="http://schemas.microsoft.com/office/drawing/2014/main" id="{1953F473-2124-4361-9A36-3F54BBB6D8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96" y="1584"/>
              <a:ext cx="288" cy="8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i-IN"/>
            </a:p>
          </p:txBody>
        </p:sp>
        <p:sp>
          <p:nvSpPr>
            <p:cNvPr id="47114" name="Line 9">
              <a:extLst>
                <a:ext uri="{FF2B5EF4-FFF2-40B4-BE49-F238E27FC236}">
                  <a16:creationId xmlns:a16="http://schemas.microsoft.com/office/drawing/2014/main" id="{5590A29A-8A0C-44C7-B8F7-874B1B6EEA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2832"/>
              <a:ext cx="384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i-IN"/>
            </a:p>
          </p:txBody>
        </p:sp>
        <p:sp>
          <p:nvSpPr>
            <p:cNvPr id="47115" name="Line 10">
              <a:extLst>
                <a:ext uri="{FF2B5EF4-FFF2-40B4-BE49-F238E27FC236}">
                  <a16:creationId xmlns:a16="http://schemas.microsoft.com/office/drawing/2014/main" id="{4F25BCDB-B4CE-4B9E-B60F-83DA9918D9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64" y="1920"/>
              <a:ext cx="76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i-IN"/>
            </a:p>
          </p:txBody>
        </p:sp>
        <p:sp>
          <p:nvSpPr>
            <p:cNvPr id="47116" name="Line 11">
              <a:extLst>
                <a:ext uri="{FF2B5EF4-FFF2-40B4-BE49-F238E27FC236}">
                  <a16:creationId xmlns:a16="http://schemas.microsoft.com/office/drawing/2014/main" id="{13CC9B27-4016-4457-B7CA-F4F92CB6C5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2448"/>
              <a:ext cx="528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i-IN"/>
            </a:p>
          </p:txBody>
        </p:sp>
        <p:sp>
          <p:nvSpPr>
            <p:cNvPr id="47117" name="Line 12">
              <a:extLst>
                <a:ext uri="{FF2B5EF4-FFF2-40B4-BE49-F238E27FC236}">
                  <a16:creationId xmlns:a16="http://schemas.microsoft.com/office/drawing/2014/main" id="{BC882796-70F6-424A-8DA2-37A6687E8F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1920"/>
              <a:ext cx="144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i-IN"/>
            </a:p>
          </p:txBody>
        </p:sp>
        <p:sp>
          <p:nvSpPr>
            <p:cNvPr id="47118" name="Line 13">
              <a:extLst>
                <a:ext uri="{FF2B5EF4-FFF2-40B4-BE49-F238E27FC236}">
                  <a16:creationId xmlns:a16="http://schemas.microsoft.com/office/drawing/2014/main" id="{4023DC09-DFCA-4FF0-9D98-687AA8A031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76" y="2064"/>
              <a:ext cx="672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i-IN"/>
            </a:p>
          </p:txBody>
        </p:sp>
        <p:sp>
          <p:nvSpPr>
            <p:cNvPr id="47119" name="Line 14">
              <a:extLst>
                <a:ext uri="{FF2B5EF4-FFF2-40B4-BE49-F238E27FC236}">
                  <a16:creationId xmlns:a16="http://schemas.microsoft.com/office/drawing/2014/main" id="{9C2B7FD6-AFB6-4FEF-B215-B1CC92AB31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2496"/>
              <a:ext cx="96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i-IN"/>
            </a:p>
          </p:txBody>
        </p:sp>
        <p:sp>
          <p:nvSpPr>
            <p:cNvPr id="47120" name="Line 15">
              <a:extLst>
                <a:ext uri="{FF2B5EF4-FFF2-40B4-BE49-F238E27FC236}">
                  <a16:creationId xmlns:a16="http://schemas.microsoft.com/office/drawing/2014/main" id="{A4E3EFDA-D634-43A6-AE68-05CEE6B0D0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2448"/>
              <a:ext cx="72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i-IN"/>
            </a:p>
          </p:txBody>
        </p:sp>
        <p:sp>
          <p:nvSpPr>
            <p:cNvPr id="47121" name="Line 16">
              <a:extLst>
                <a:ext uri="{FF2B5EF4-FFF2-40B4-BE49-F238E27FC236}">
                  <a16:creationId xmlns:a16="http://schemas.microsoft.com/office/drawing/2014/main" id="{73C9DD43-0993-4248-9DFB-255D013819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1584"/>
              <a:ext cx="129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i-IN"/>
            </a:p>
          </p:txBody>
        </p:sp>
        <p:sp>
          <p:nvSpPr>
            <p:cNvPr id="47122" name="Line 17">
              <a:extLst>
                <a:ext uri="{FF2B5EF4-FFF2-40B4-BE49-F238E27FC236}">
                  <a16:creationId xmlns:a16="http://schemas.microsoft.com/office/drawing/2014/main" id="{67B4E01C-762F-49E7-8740-2C252E8D8C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1920"/>
              <a:ext cx="81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i-IN"/>
            </a:p>
          </p:txBody>
        </p:sp>
        <p:sp>
          <p:nvSpPr>
            <p:cNvPr id="47123" name="Line 18">
              <a:extLst>
                <a:ext uri="{FF2B5EF4-FFF2-40B4-BE49-F238E27FC236}">
                  <a16:creationId xmlns:a16="http://schemas.microsoft.com/office/drawing/2014/main" id="{CC9553C2-F449-4F81-BFC8-C333E230C7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60" y="3024"/>
              <a:ext cx="864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i-IN"/>
            </a:p>
          </p:txBody>
        </p:sp>
        <p:sp>
          <p:nvSpPr>
            <p:cNvPr id="47124" name="Line 19">
              <a:extLst>
                <a:ext uri="{FF2B5EF4-FFF2-40B4-BE49-F238E27FC236}">
                  <a16:creationId xmlns:a16="http://schemas.microsoft.com/office/drawing/2014/main" id="{3F8FF798-5E34-493E-8225-C0462ACA51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24" y="2208"/>
              <a:ext cx="240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i-IN"/>
            </a:p>
          </p:txBody>
        </p:sp>
        <p:sp>
          <p:nvSpPr>
            <p:cNvPr id="47125" name="Oval 20">
              <a:extLst>
                <a:ext uri="{FF2B5EF4-FFF2-40B4-BE49-F238E27FC236}">
                  <a16:creationId xmlns:a16="http://schemas.microsoft.com/office/drawing/2014/main" id="{F731A6DF-68A6-4E9D-9469-9E4713AF85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968"/>
              <a:ext cx="288" cy="28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hi-IN"/>
            </a:p>
          </p:txBody>
        </p:sp>
        <p:sp>
          <p:nvSpPr>
            <p:cNvPr id="47126" name="Oval 21">
              <a:extLst>
                <a:ext uri="{FF2B5EF4-FFF2-40B4-BE49-F238E27FC236}">
                  <a16:creationId xmlns:a16="http://schemas.microsoft.com/office/drawing/2014/main" id="{D04821F3-0F5F-4466-AFDF-F105F27112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2688"/>
              <a:ext cx="288" cy="28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hi-IN"/>
            </a:p>
          </p:txBody>
        </p:sp>
        <p:sp>
          <p:nvSpPr>
            <p:cNvPr id="47127" name="Oval 22">
              <a:extLst>
                <a:ext uri="{FF2B5EF4-FFF2-40B4-BE49-F238E27FC236}">
                  <a16:creationId xmlns:a16="http://schemas.microsoft.com/office/drawing/2014/main" id="{929385FC-020E-4E9D-9669-DFBCAF9C6E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2304"/>
              <a:ext cx="288" cy="28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hi-IN"/>
            </a:p>
          </p:txBody>
        </p:sp>
        <p:sp>
          <p:nvSpPr>
            <p:cNvPr id="47128" name="Oval 23">
              <a:extLst>
                <a:ext uri="{FF2B5EF4-FFF2-40B4-BE49-F238E27FC236}">
                  <a16:creationId xmlns:a16="http://schemas.microsoft.com/office/drawing/2014/main" id="{6ADF8807-9720-4BBA-A65A-6D538C6666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2352"/>
              <a:ext cx="288" cy="28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hi-IN"/>
            </a:p>
          </p:txBody>
        </p:sp>
        <p:sp>
          <p:nvSpPr>
            <p:cNvPr id="47129" name="Oval 24">
              <a:extLst>
                <a:ext uri="{FF2B5EF4-FFF2-40B4-BE49-F238E27FC236}">
                  <a16:creationId xmlns:a16="http://schemas.microsoft.com/office/drawing/2014/main" id="{4C1C5C39-978D-4F81-896C-D86B874D1B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1776"/>
              <a:ext cx="288" cy="28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hi-IN"/>
            </a:p>
          </p:txBody>
        </p:sp>
        <p:sp>
          <p:nvSpPr>
            <p:cNvPr id="47130" name="Oval 25">
              <a:extLst>
                <a:ext uri="{FF2B5EF4-FFF2-40B4-BE49-F238E27FC236}">
                  <a16:creationId xmlns:a16="http://schemas.microsoft.com/office/drawing/2014/main" id="{A8D44905-8944-4332-8514-63416D5DA5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2064"/>
              <a:ext cx="288" cy="28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hi-IN"/>
            </a:p>
          </p:txBody>
        </p:sp>
        <p:sp>
          <p:nvSpPr>
            <p:cNvPr id="47131" name="Oval 26">
              <a:extLst>
                <a:ext uri="{FF2B5EF4-FFF2-40B4-BE49-F238E27FC236}">
                  <a16:creationId xmlns:a16="http://schemas.microsoft.com/office/drawing/2014/main" id="{F766867F-82F5-48DE-A09F-4C7BCB1F2E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3264"/>
              <a:ext cx="288" cy="28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hi-IN"/>
                <a:t>A</a:t>
              </a:r>
            </a:p>
          </p:txBody>
        </p:sp>
        <p:sp>
          <p:nvSpPr>
            <p:cNvPr id="47132" name="Oval 27">
              <a:extLst>
                <a:ext uri="{FF2B5EF4-FFF2-40B4-BE49-F238E27FC236}">
                  <a16:creationId xmlns:a16="http://schemas.microsoft.com/office/drawing/2014/main" id="{EB5C4729-D89C-47FB-A40D-9C31A84CFB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3312"/>
              <a:ext cx="288" cy="28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hi-IN"/>
            </a:p>
          </p:txBody>
        </p:sp>
        <p:sp>
          <p:nvSpPr>
            <p:cNvPr id="47133" name="Oval 28">
              <a:extLst>
                <a:ext uri="{FF2B5EF4-FFF2-40B4-BE49-F238E27FC236}">
                  <a16:creationId xmlns:a16="http://schemas.microsoft.com/office/drawing/2014/main" id="{F21D3E0A-A630-4197-B741-3587A4F85C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2880"/>
              <a:ext cx="288" cy="28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hi-IN"/>
            </a:p>
          </p:txBody>
        </p:sp>
        <p:sp>
          <p:nvSpPr>
            <p:cNvPr id="47134" name="Oval 29">
              <a:extLst>
                <a:ext uri="{FF2B5EF4-FFF2-40B4-BE49-F238E27FC236}">
                  <a16:creationId xmlns:a16="http://schemas.microsoft.com/office/drawing/2014/main" id="{9F4E0860-EAF9-445C-895C-373A176B6B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1440"/>
              <a:ext cx="288" cy="28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hi-IN"/>
            </a:p>
          </p:txBody>
        </p:sp>
        <p:sp>
          <p:nvSpPr>
            <p:cNvPr id="47135" name="Oval 30">
              <a:extLst>
                <a:ext uri="{FF2B5EF4-FFF2-40B4-BE49-F238E27FC236}">
                  <a16:creationId xmlns:a16="http://schemas.microsoft.com/office/drawing/2014/main" id="{BBFBB307-2266-4E20-B4E3-5C5F096510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1920"/>
              <a:ext cx="288" cy="28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hi-IN"/>
            </a:p>
          </p:txBody>
        </p:sp>
        <p:sp>
          <p:nvSpPr>
            <p:cNvPr id="47136" name="Oval 31">
              <a:extLst>
                <a:ext uri="{FF2B5EF4-FFF2-40B4-BE49-F238E27FC236}">
                  <a16:creationId xmlns:a16="http://schemas.microsoft.com/office/drawing/2014/main" id="{97E112A9-DAD6-472A-8393-3DDF0E6C86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3552"/>
              <a:ext cx="288" cy="28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hi-IN"/>
            </a:p>
          </p:txBody>
        </p:sp>
        <p:sp>
          <p:nvSpPr>
            <p:cNvPr id="47137" name="Oval 32">
              <a:extLst>
                <a:ext uri="{FF2B5EF4-FFF2-40B4-BE49-F238E27FC236}">
                  <a16:creationId xmlns:a16="http://schemas.microsoft.com/office/drawing/2014/main" id="{500B0974-3E9B-4156-9B8A-F12EA39E8C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1440"/>
              <a:ext cx="288" cy="28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hi-IN"/>
                <a:t>D</a:t>
              </a:r>
            </a:p>
          </p:txBody>
        </p:sp>
        <p:sp>
          <p:nvSpPr>
            <p:cNvPr id="47138" name="Oval 33">
              <a:extLst>
                <a:ext uri="{FF2B5EF4-FFF2-40B4-BE49-F238E27FC236}">
                  <a16:creationId xmlns:a16="http://schemas.microsoft.com/office/drawing/2014/main" id="{CA52E3D7-65BE-48A6-BB78-7E9810E099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968"/>
              <a:ext cx="288" cy="28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hi-IN"/>
                <a:t>B</a:t>
              </a:r>
            </a:p>
          </p:txBody>
        </p:sp>
        <p:sp>
          <p:nvSpPr>
            <p:cNvPr id="47139" name="Oval 34">
              <a:extLst>
                <a:ext uri="{FF2B5EF4-FFF2-40B4-BE49-F238E27FC236}">
                  <a16:creationId xmlns:a16="http://schemas.microsoft.com/office/drawing/2014/main" id="{1B3A460A-AB85-4BFF-ADDC-705660C216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3552"/>
              <a:ext cx="288" cy="28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hi-IN"/>
                <a:t>L</a:t>
              </a:r>
            </a:p>
          </p:txBody>
        </p:sp>
        <p:sp>
          <p:nvSpPr>
            <p:cNvPr id="47140" name="Oval 35">
              <a:extLst>
                <a:ext uri="{FF2B5EF4-FFF2-40B4-BE49-F238E27FC236}">
                  <a16:creationId xmlns:a16="http://schemas.microsoft.com/office/drawing/2014/main" id="{F93F3D94-E81E-4EF9-B00B-59C9982C1B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2352"/>
              <a:ext cx="288" cy="28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hi-IN"/>
                <a:t>K</a:t>
              </a:r>
            </a:p>
          </p:txBody>
        </p:sp>
        <p:sp>
          <p:nvSpPr>
            <p:cNvPr id="47141" name="Oval 36">
              <a:extLst>
                <a:ext uri="{FF2B5EF4-FFF2-40B4-BE49-F238E27FC236}">
                  <a16:creationId xmlns:a16="http://schemas.microsoft.com/office/drawing/2014/main" id="{0D0BC1FE-C3B1-4509-A7FD-6D192C661B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1920"/>
              <a:ext cx="288" cy="28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hi-IN"/>
                <a:t>J</a:t>
              </a:r>
            </a:p>
          </p:txBody>
        </p:sp>
        <p:sp>
          <p:nvSpPr>
            <p:cNvPr id="47142" name="Oval 37">
              <a:extLst>
                <a:ext uri="{FF2B5EF4-FFF2-40B4-BE49-F238E27FC236}">
                  <a16:creationId xmlns:a16="http://schemas.microsoft.com/office/drawing/2014/main" id="{E1511EC3-4967-4C6E-BA7B-815F9C8906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1776"/>
              <a:ext cx="288" cy="28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hi-IN"/>
                <a:t>G</a:t>
              </a:r>
            </a:p>
          </p:txBody>
        </p:sp>
        <p:sp>
          <p:nvSpPr>
            <p:cNvPr id="47143" name="Oval 38">
              <a:extLst>
                <a:ext uri="{FF2B5EF4-FFF2-40B4-BE49-F238E27FC236}">
                  <a16:creationId xmlns:a16="http://schemas.microsoft.com/office/drawing/2014/main" id="{AC4C9E13-857D-4F7F-8AF1-3C073F1CCB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2064"/>
              <a:ext cx="288" cy="28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hi-IN"/>
                <a:t>H</a:t>
              </a:r>
            </a:p>
          </p:txBody>
        </p:sp>
        <p:sp>
          <p:nvSpPr>
            <p:cNvPr id="47144" name="Oval 39">
              <a:extLst>
                <a:ext uri="{FF2B5EF4-FFF2-40B4-BE49-F238E27FC236}">
                  <a16:creationId xmlns:a16="http://schemas.microsoft.com/office/drawing/2014/main" id="{EF6A5E99-F768-41C4-9B0E-9F91FC8546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2880"/>
              <a:ext cx="288" cy="28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hi-IN"/>
                <a:t>I</a:t>
              </a:r>
            </a:p>
          </p:txBody>
        </p:sp>
        <p:sp>
          <p:nvSpPr>
            <p:cNvPr id="47145" name="Oval 40">
              <a:extLst>
                <a:ext uri="{FF2B5EF4-FFF2-40B4-BE49-F238E27FC236}">
                  <a16:creationId xmlns:a16="http://schemas.microsoft.com/office/drawing/2014/main" id="{11CAE3FA-0194-41F0-B3C5-F9A5A5FF50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3312"/>
              <a:ext cx="288" cy="28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hi-IN"/>
                <a:t>F</a:t>
              </a:r>
            </a:p>
          </p:txBody>
        </p:sp>
        <p:sp>
          <p:nvSpPr>
            <p:cNvPr id="47146" name="Oval 41">
              <a:extLst>
                <a:ext uri="{FF2B5EF4-FFF2-40B4-BE49-F238E27FC236}">
                  <a16:creationId xmlns:a16="http://schemas.microsoft.com/office/drawing/2014/main" id="{8A1DF9E7-CD22-465C-91B1-1AE9DD7568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2688"/>
              <a:ext cx="288" cy="28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hi-IN"/>
                <a:t>C</a:t>
              </a:r>
            </a:p>
          </p:txBody>
        </p:sp>
        <p:sp>
          <p:nvSpPr>
            <p:cNvPr id="47147" name="Oval 42">
              <a:extLst>
                <a:ext uri="{FF2B5EF4-FFF2-40B4-BE49-F238E27FC236}">
                  <a16:creationId xmlns:a16="http://schemas.microsoft.com/office/drawing/2014/main" id="{70484F95-FF74-4782-8DFB-DC6BA062AC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2304"/>
              <a:ext cx="288" cy="28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hi-IN"/>
                <a:t>E</a:t>
              </a: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B4CB20-6370-401F-8CFF-428E3D80F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64</a:t>
            </a:fld>
            <a:endParaRPr lang="en-US" altLang="hi-IN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F2983D41-F473-4283-9841-A027B8626B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1143000"/>
          </a:xfrm>
        </p:spPr>
        <p:txBody>
          <a:bodyPr/>
          <a:lstStyle/>
          <a:p>
            <a:r>
              <a:rPr lang="en-US" altLang="hi-IN"/>
              <a:t>Depth-first Search (DFS)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4FF40956-5EF7-4714-AA08-91F7E23E70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066800"/>
            <a:ext cx="8472488" cy="5334000"/>
          </a:xfrm>
        </p:spPr>
        <p:txBody>
          <a:bodyPr/>
          <a:lstStyle/>
          <a:p>
            <a:r>
              <a:rPr lang="en-US" altLang="hi-IN" sz="2800"/>
              <a:t>Explore edges out of the most recently discovered vertex </a:t>
            </a:r>
            <a:r>
              <a:rPr lang="en-US" altLang="hi-IN" sz="2800" i="1"/>
              <a:t>v</a:t>
            </a:r>
            <a:r>
              <a:rPr lang="en-US" altLang="hi-IN" sz="2800"/>
              <a:t>.</a:t>
            </a:r>
          </a:p>
          <a:p>
            <a:r>
              <a:rPr lang="en-US" altLang="hi-IN" sz="2800"/>
              <a:t>When all edges of </a:t>
            </a:r>
            <a:r>
              <a:rPr lang="en-US" altLang="hi-IN" sz="2800" i="1"/>
              <a:t>v</a:t>
            </a:r>
            <a:r>
              <a:rPr lang="en-US" altLang="hi-IN" sz="2800"/>
              <a:t> have been explored, backtrack to explore other edges leaving the vertex from which </a:t>
            </a:r>
            <a:r>
              <a:rPr lang="en-US" altLang="hi-IN" sz="2800" i="1"/>
              <a:t>v</a:t>
            </a:r>
            <a:r>
              <a:rPr lang="en-US" altLang="hi-IN" sz="2800"/>
              <a:t> was discovered (its </a:t>
            </a:r>
            <a:r>
              <a:rPr lang="en-US" altLang="hi-IN" sz="2800" i="1">
                <a:solidFill>
                  <a:srgbClr val="CC3300"/>
                </a:solidFill>
              </a:rPr>
              <a:t>predecessor</a:t>
            </a:r>
            <a:r>
              <a:rPr lang="en-US" altLang="hi-IN" sz="2800"/>
              <a:t>).</a:t>
            </a:r>
          </a:p>
          <a:p>
            <a:r>
              <a:rPr lang="en-US" altLang="hi-IN" sz="2800"/>
              <a:t>“Search as deep as possible first.”</a:t>
            </a:r>
          </a:p>
          <a:p>
            <a:r>
              <a:rPr lang="en-US" altLang="hi-IN" sz="2800"/>
              <a:t>Continue until all vertices reachable from the original source are discovered.</a:t>
            </a:r>
          </a:p>
          <a:p>
            <a:r>
              <a:rPr lang="en-US" altLang="hi-IN" sz="2800"/>
              <a:t>If any undiscovered vertices remain, then one of them is chosen as a new source and search is repeated from that source.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4BBBF3A-B758-4E30-B599-5306AF345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51D9C-B6AB-428B-A110-91A75E744F65}" type="slidenum">
              <a:rPr lang="en-US" altLang="hi-IN" smtClean="0"/>
              <a:pPr/>
              <a:t>65</a:t>
            </a:fld>
            <a:endParaRPr lang="en-US" altLang="hi-IN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98FDDBA9-AE5E-485F-9F19-982447F18E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76200"/>
            <a:ext cx="7772400" cy="1143000"/>
          </a:xfrm>
        </p:spPr>
        <p:txBody>
          <a:bodyPr/>
          <a:lstStyle/>
          <a:p>
            <a:r>
              <a:rPr lang="en-US" altLang="hi-IN"/>
              <a:t>Depth-first Search</a:t>
            </a: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B48F2718-CB5B-47A5-AD75-ACA1F2B316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990600"/>
            <a:ext cx="8839200" cy="5410200"/>
          </a:xfrm>
        </p:spPr>
        <p:txBody>
          <a:bodyPr/>
          <a:lstStyle/>
          <a:p>
            <a:r>
              <a:rPr lang="en-US" altLang="hi-IN" sz="2800" b="1">
                <a:solidFill>
                  <a:srgbClr val="CC3300"/>
                </a:solidFill>
              </a:rPr>
              <a:t>Input:</a:t>
            </a:r>
            <a:r>
              <a:rPr lang="en-US" altLang="hi-IN" sz="2800" b="1"/>
              <a:t> </a:t>
            </a:r>
            <a:r>
              <a:rPr lang="en-US" altLang="hi-IN" sz="2800" i="1"/>
              <a:t>G </a:t>
            </a:r>
            <a:r>
              <a:rPr lang="en-US" altLang="hi-IN" sz="2800">
                <a:latin typeface="MTSYN"/>
              </a:rPr>
              <a:t>= </a:t>
            </a:r>
            <a:r>
              <a:rPr lang="en-US" altLang="hi-IN" sz="2800">
                <a:latin typeface="RMTMI"/>
              </a:rPr>
              <a:t>(</a:t>
            </a:r>
            <a:r>
              <a:rPr lang="en-US" altLang="hi-IN" sz="2800" i="1"/>
              <a:t>V</a:t>
            </a:r>
            <a:r>
              <a:rPr lang="en-US" altLang="hi-IN" sz="2800">
                <a:latin typeface="RMTMI"/>
              </a:rPr>
              <a:t>,</a:t>
            </a:r>
            <a:r>
              <a:rPr lang="en-US" altLang="hi-IN" sz="2800" i="1">
                <a:latin typeface="RMTMI"/>
              </a:rPr>
              <a:t> </a:t>
            </a:r>
            <a:r>
              <a:rPr lang="en-US" altLang="hi-IN" sz="2800" i="1"/>
              <a:t>E</a:t>
            </a:r>
            <a:r>
              <a:rPr lang="en-US" altLang="hi-IN" sz="2800">
                <a:latin typeface="RMTMI"/>
              </a:rPr>
              <a:t>)</a:t>
            </a:r>
            <a:r>
              <a:rPr lang="en-US" altLang="hi-IN" sz="2800"/>
              <a:t>, directed or undirected. No source vertex given!</a:t>
            </a:r>
          </a:p>
          <a:p>
            <a:r>
              <a:rPr lang="en-US" altLang="hi-IN" sz="2800" b="1">
                <a:solidFill>
                  <a:srgbClr val="CC3300"/>
                </a:solidFill>
              </a:rPr>
              <a:t>Output:</a:t>
            </a:r>
          </a:p>
          <a:p>
            <a:pPr lvl="1"/>
            <a:r>
              <a:rPr lang="en-US" altLang="hi-IN" sz="2400" b="1"/>
              <a:t> </a:t>
            </a:r>
            <a:r>
              <a:rPr lang="en-US" altLang="hi-IN" sz="2400"/>
              <a:t>2 </a:t>
            </a:r>
            <a:r>
              <a:rPr lang="en-US" altLang="hi-IN" sz="2400" b="1"/>
              <a:t>timestamps</a:t>
            </a:r>
            <a:r>
              <a:rPr lang="en-US" altLang="hi-IN" sz="2400" b="1" i="1"/>
              <a:t> </a:t>
            </a:r>
            <a:r>
              <a:rPr lang="en-US" altLang="hi-IN" sz="2400"/>
              <a:t>on each vertex. Integers between 1 and 2|V|.</a:t>
            </a:r>
          </a:p>
          <a:p>
            <a:pPr lvl="2"/>
            <a:r>
              <a:rPr lang="en-US" altLang="hi-IN" sz="2000" i="1"/>
              <a:t>d</a:t>
            </a:r>
            <a:r>
              <a:rPr lang="en-US" altLang="hi-IN" sz="2000"/>
              <a:t>[</a:t>
            </a:r>
            <a:r>
              <a:rPr lang="en-US" altLang="hi-IN" sz="2000" i="1"/>
              <a:t>v</a:t>
            </a:r>
            <a:r>
              <a:rPr lang="en-US" altLang="hi-IN" sz="2000"/>
              <a:t>] </a:t>
            </a:r>
            <a:r>
              <a:rPr lang="en-US" altLang="hi-IN" sz="2000">
                <a:latin typeface="MTSYN"/>
              </a:rPr>
              <a:t>= </a:t>
            </a:r>
            <a:r>
              <a:rPr lang="en-US" altLang="hi-IN" sz="2000" b="1" i="1"/>
              <a:t>discovery time </a:t>
            </a:r>
            <a:r>
              <a:rPr lang="en-US" altLang="hi-IN" sz="2000"/>
              <a:t>(</a:t>
            </a:r>
            <a:r>
              <a:rPr lang="en-US" altLang="hi-IN" sz="2000" i="1"/>
              <a:t>v </a:t>
            </a:r>
            <a:r>
              <a:rPr lang="en-US" altLang="hi-IN" sz="2000"/>
              <a:t>turns from white to gray)</a:t>
            </a:r>
            <a:endParaRPr lang="en-US" altLang="hi-IN" sz="2000" b="1" i="1"/>
          </a:p>
          <a:p>
            <a:pPr lvl="2"/>
            <a:r>
              <a:rPr lang="en-US" altLang="hi-IN" sz="2000" i="1"/>
              <a:t>f </a:t>
            </a:r>
            <a:r>
              <a:rPr lang="en-US" altLang="hi-IN" sz="2000"/>
              <a:t>[</a:t>
            </a:r>
            <a:r>
              <a:rPr lang="en-US" altLang="hi-IN" sz="2000" i="1"/>
              <a:t>v</a:t>
            </a:r>
            <a:r>
              <a:rPr lang="en-US" altLang="hi-IN" sz="2000"/>
              <a:t>] </a:t>
            </a:r>
            <a:r>
              <a:rPr lang="en-US" altLang="hi-IN" sz="2000">
                <a:latin typeface="MTSYN"/>
              </a:rPr>
              <a:t>= </a:t>
            </a:r>
            <a:r>
              <a:rPr lang="en-US" altLang="hi-IN" sz="2000" b="1" i="1"/>
              <a:t>finishing time</a:t>
            </a:r>
            <a:r>
              <a:rPr lang="en-US" altLang="hi-IN" sz="2000" b="1"/>
              <a:t> </a:t>
            </a:r>
            <a:r>
              <a:rPr lang="en-US" altLang="hi-IN" sz="2000"/>
              <a:t>(</a:t>
            </a:r>
            <a:r>
              <a:rPr lang="en-US" altLang="hi-IN" sz="2000" i="1"/>
              <a:t>v</a:t>
            </a:r>
            <a:r>
              <a:rPr lang="en-US" altLang="hi-IN" sz="2000"/>
              <a:t> turns from gray to black)</a:t>
            </a:r>
            <a:endParaRPr lang="en-US" altLang="hi-IN" sz="2000" b="1" i="1"/>
          </a:p>
          <a:p>
            <a:pPr lvl="1"/>
            <a:r>
              <a:rPr lang="en-US" altLang="hi-IN" sz="2400">
                <a:sym typeface="Symbol" panose="05050102010706020507" pitchFamily="18" charset="2"/>
              </a:rPr>
              <a:t></a:t>
            </a:r>
            <a:r>
              <a:rPr lang="en-US" altLang="hi-IN" sz="2400"/>
              <a:t>[</a:t>
            </a:r>
            <a:r>
              <a:rPr lang="en-US" altLang="hi-IN" sz="2400" i="1"/>
              <a:t>v</a:t>
            </a:r>
            <a:r>
              <a:rPr lang="en-US" altLang="hi-IN" sz="2400"/>
              <a:t>] : predecessor of </a:t>
            </a:r>
            <a:r>
              <a:rPr lang="en-US" altLang="hi-IN" sz="2400" i="1"/>
              <a:t>v = u</a:t>
            </a:r>
            <a:r>
              <a:rPr lang="en-US" altLang="hi-IN" sz="2400"/>
              <a:t>, such that </a:t>
            </a:r>
            <a:r>
              <a:rPr lang="en-US" altLang="hi-IN" sz="2400" i="1"/>
              <a:t>v</a:t>
            </a:r>
            <a:r>
              <a:rPr lang="en-US" altLang="hi-IN" sz="2400"/>
              <a:t> was discovered during the scan of </a:t>
            </a:r>
            <a:r>
              <a:rPr lang="en-US" altLang="hi-IN" sz="2400" i="1"/>
              <a:t>u</a:t>
            </a:r>
            <a:r>
              <a:rPr lang="en-US" altLang="hi-IN" sz="2400"/>
              <a:t>’s adjacency list.</a:t>
            </a:r>
          </a:p>
          <a:p>
            <a:r>
              <a:rPr lang="en-US" altLang="hi-IN" sz="2800"/>
              <a:t>Uses the same coloring scheme for vertices as BFS.</a:t>
            </a:r>
          </a:p>
          <a:p>
            <a:pPr lvl="1"/>
            <a:endParaRPr lang="en-US" altLang="hi-IN" sz="2400" b="1" i="1"/>
          </a:p>
          <a:p>
            <a:endParaRPr lang="en-US" altLang="hi-IN" sz="2800"/>
          </a:p>
          <a:p>
            <a:endParaRPr lang="en-US" altLang="hi-I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25DDE2-EF5E-41AF-87A8-7A3811949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51D9C-B6AB-428B-A110-91A75E744F65}" type="slidenum">
              <a:rPr lang="en-US" altLang="hi-IN" smtClean="0"/>
              <a:pPr/>
              <a:t>66</a:t>
            </a:fld>
            <a:endParaRPr lang="en-US" altLang="hi-IN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B237783D-5E52-4F59-B874-F684A46075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143000"/>
          </a:xfrm>
        </p:spPr>
        <p:txBody>
          <a:bodyPr/>
          <a:lstStyle/>
          <a:p>
            <a:r>
              <a:rPr lang="en-US" altLang="hi-IN"/>
              <a:t>Pseudo-code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FB620AB6-0DB9-458C-ADCE-1ED4211446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1066800"/>
            <a:ext cx="3581400" cy="3124200"/>
          </a:xfrm>
          <a:solidFill>
            <a:srgbClr val="CCECFF"/>
          </a:solidFill>
          <a:ln>
            <a:solidFill>
              <a:schemeClr val="tx1"/>
            </a:solidFill>
          </a:ln>
          <a:effectLst>
            <a:outerShdw dist="107763" dir="2700000" algn="ctr" rotWithShape="0">
              <a:schemeClr val="bg2"/>
            </a:outerShdw>
          </a:effectLst>
        </p:spPr>
        <p:txBody>
          <a:bodyPr/>
          <a:lstStyle/>
          <a:p>
            <a:pPr marL="609600" indent="-609600">
              <a:buFont typeface="Wingdings" pitchFamily="2" charset="2"/>
              <a:buNone/>
              <a:defRPr/>
            </a:pPr>
            <a:r>
              <a:rPr lang="en-US" sz="2000" b="1" u="sng"/>
              <a:t>DFS(</a:t>
            </a:r>
            <a:r>
              <a:rPr lang="en-US" sz="2000" b="1" i="1" u="sng"/>
              <a:t>G</a:t>
            </a:r>
            <a:r>
              <a:rPr lang="en-US" sz="2000" b="1" u="sng"/>
              <a:t>)</a:t>
            </a:r>
          </a:p>
          <a:p>
            <a:pPr marL="609600" indent="-609600">
              <a:buFont typeface="Wingdings" pitchFamily="2" charset="2"/>
              <a:buNone/>
              <a:defRPr/>
            </a:pPr>
            <a:r>
              <a:rPr lang="en-US" sz="2000"/>
              <a:t>1.  </a:t>
            </a:r>
            <a:r>
              <a:rPr lang="en-US" sz="2000" b="1"/>
              <a:t>for</a:t>
            </a:r>
            <a:r>
              <a:rPr lang="en-US" sz="2000"/>
              <a:t> each vertex </a:t>
            </a:r>
            <a:r>
              <a:rPr lang="en-US" sz="2000" i="1"/>
              <a:t>u </a:t>
            </a:r>
            <a:r>
              <a:rPr lang="en-US" sz="2000" i="1">
                <a:sym typeface="Symbol" pitchFamily="18" charset="2"/>
              </a:rPr>
              <a:t></a:t>
            </a:r>
            <a:r>
              <a:rPr lang="en-US" sz="2000" i="1"/>
              <a:t> V</a:t>
            </a:r>
            <a:r>
              <a:rPr lang="en-US" sz="2000"/>
              <a:t>[</a:t>
            </a:r>
            <a:r>
              <a:rPr lang="en-US" sz="2000" i="1"/>
              <a:t>G</a:t>
            </a:r>
            <a:r>
              <a:rPr lang="en-US" sz="2000"/>
              <a:t>]</a:t>
            </a:r>
          </a:p>
          <a:p>
            <a:pPr marL="609600" indent="-609600">
              <a:buFont typeface="Wingdings" pitchFamily="2" charset="2"/>
              <a:buNone/>
              <a:defRPr/>
            </a:pPr>
            <a:r>
              <a:rPr lang="en-US" sz="2000"/>
              <a:t>2.       </a:t>
            </a:r>
            <a:r>
              <a:rPr lang="en-US" sz="2000" b="1"/>
              <a:t>do</a:t>
            </a:r>
            <a:r>
              <a:rPr lang="en-US" sz="2000"/>
              <a:t> </a:t>
            </a:r>
            <a:r>
              <a:rPr lang="en-US" sz="2000" i="1"/>
              <a:t>color</a:t>
            </a:r>
            <a:r>
              <a:rPr lang="en-US" sz="2000"/>
              <a:t>[</a:t>
            </a:r>
            <a:r>
              <a:rPr lang="en-US" sz="2000" i="1"/>
              <a:t>u</a:t>
            </a:r>
            <a:r>
              <a:rPr lang="en-US" sz="2000"/>
              <a:t>] </a:t>
            </a:r>
            <a:r>
              <a:rPr lang="en-US" sz="2000">
                <a:sym typeface="Symbol" pitchFamily="18" charset="2"/>
              </a:rPr>
              <a:t></a:t>
            </a:r>
            <a:r>
              <a:rPr lang="en-US" sz="2000"/>
              <a:t> white</a:t>
            </a:r>
          </a:p>
          <a:p>
            <a:pPr marL="609600" indent="-609600">
              <a:buFont typeface="Wingdings" pitchFamily="2" charset="2"/>
              <a:buNone/>
              <a:defRPr/>
            </a:pPr>
            <a:r>
              <a:rPr lang="en-US" sz="2000"/>
              <a:t>3.            </a:t>
            </a:r>
            <a:r>
              <a:rPr lang="en-US" sz="2000">
                <a:sym typeface="Symbol" pitchFamily="18" charset="2"/>
              </a:rPr>
              <a:t></a:t>
            </a:r>
            <a:r>
              <a:rPr lang="en-US" sz="2000"/>
              <a:t>[</a:t>
            </a:r>
            <a:r>
              <a:rPr lang="en-US" sz="2000" i="1"/>
              <a:t>u</a:t>
            </a:r>
            <a:r>
              <a:rPr lang="en-US" sz="2000"/>
              <a:t>] </a:t>
            </a:r>
            <a:r>
              <a:rPr lang="en-US" sz="2000">
                <a:sym typeface="Symbol" pitchFamily="18" charset="2"/>
              </a:rPr>
              <a:t></a:t>
            </a:r>
            <a:r>
              <a:rPr lang="en-US" sz="2000"/>
              <a:t> NIL</a:t>
            </a:r>
          </a:p>
          <a:p>
            <a:pPr marL="609600" indent="-609600">
              <a:buFont typeface="Wingdings" pitchFamily="2" charset="2"/>
              <a:buNone/>
              <a:defRPr/>
            </a:pPr>
            <a:r>
              <a:rPr lang="en-US" sz="2000"/>
              <a:t>4.  </a:t>
            </a:r>
            <a:r>
              <a:rPr lang="en-US" sz="2000" i="1"/>
              <a:t>time</a:t>
            </a:r>
            <a:r>
              <a:rPr lang="en-US" sz="2000"/>
              <a:t> </a:t>
            </a:r>
            <a:r>
              <a:rPr lang="en-US" sz="2000">
                <a:sym typeface="Symbol" pitchFamily="18" charset="2"/>
              </a:rPr>
              <a:t></a:t>
            </a:r>
            <a:r>
              <a:rPr lang="en-US" sz="2000"/>
              <a:t> 0</a:t>
            </a:r>
          </a:p>
          <a:p>
            <a:pPr marL="609600" indent="-609600">
              <a:buFont typeface="Wingdings" pitchFamily="2" charset="2"/>
              <a:buNone/>
              <a:defRPr/>
            </a:pPr>
            <a:r>
              <a:rPr lang="en-US" sz="2000"/>
              <a:t>5.  </a:t>
            </a:r>
            <a:r>
              <a:rPr lang="en-US" sz="2000" b="1"/>
              <a:t>for</a:t>
            </a:r>
            <a:r>
              <a:rPr lang="en-US" sz="2000"/>
              <a:t> each vertex </a:t>
            </a:r>
            <a:r>
              <a:rPr lang="en-US" sz="2000" i="1"/>
              <a:t>u </a:t>
            </a:r>
            <a:r>
              <a:rPr lang="en-US" sz="2000" i="1">
                <a:sym typeface="Symbol" pitchFamily="18" charset="2"/>
              </a:rPr>
              <a:t></a:t>
            </a:r>
            <a:r>
              <a:rPr lang="en-US" sz="2000" i="1"/>
              <a:t> V</a:t>
            </a:r>
            <a:r>
              <a:rPr lang="en-US" sz="2000"/>
              <a:t>[</a:t>
            </a:r>
            <a:r>
              <a:rPr lang="en-US" sz="2000" i="1"/>
              <a:t>G</a:t>
            </a:r>
            <a:r>
              <a:rPr lang="en-US" sz="2000"/>
              <a:t>]</a:t>
            </a:r>
          </a:p>
          <a:p>
            <a:pPr marL="609600" indent="-609600">
              <a:buFont typeface="Wingdings" pitchFamily="2" charset="2"/>
              <a:buNone/>
              <a:defRPr/>
            </a:pPr>
            <a:r>
              <a:rPr lang="en-US" sz="2000"/>
              <a:t>6.        </a:t>
            </a:r>
            <a:r>
              <a:rPr lang="en-US" sz="2000" b="1"/>
              <a:t>do</a:t>
            </a:r>
            <a:r>
              <a:rPr lang="en-US" sz="2000"/>
              <a:t> </a:t>
            </a:r>
            <a:r>
              <a:rPr lang="en-US" sz="2000" b="1"/>
              <a:t>if</a:t>
            </a:r>
            <a:r>
              <a:rPr lang="en-US" sz="2000"/>
              <a:t> </a:t>
            </a:r>
            <a:r>
              <a:rPr lang="en-US" sz="2000" i="1"/>
              <a:t>color</a:t>
            </a:r>
            <a:r>
              <a:rPr lang="en-US" sz="2000"/>
              <a:t>[</a:t>
            </a:r>
            <a:r>
              <a:rPr lang="en-US" sz="2000" i="1"/>
              <a:t>u</a:t>
            </a:r>
            <a:r>
              <a:rPr lang="en-US" sz="2000"/>
              <a:t>] </a:t>
            </a:r>
            <a:r>
              <a:rPr lang="en-US" sz="2000">
                <a:sym typeface="Symbol" pitchFamily="18" charset="2"/>
              </a:rPr>
              <a:t>=</a:t>
            </a:r>
            <a:r>
              <a:rPr lang="en-US" sz="2000"/>
              <a:t> white</a:t>
            </a:r>
          </a:p>
          <a:p>
            <a:pPr marL="609600" indent="-609600">
              <a:buFont typeface="Wingdings" pitchFamily="2" charset="2"/>
              <a:buNone/>
              <a:defRPr/>
            </a:pPr>
            <a:r>
              <a:rPr lang="en-US" sz="2000"/>
              <a:t>7.                 </a:t>
            </a:r>
            <a:r>
              <a:rPr lang="en-US" sz="2000" b="1"/>
              <a:t>then</a:t>
            </a:r>
            <a:r>
              <a:rPr lang="en-US" sz="2000"/>
              <a:t> DFS-Visit(</a:t>
            </a:r>
            <a:r>
              <a:rPr lang="en-US" sz="2000" i="1"/>
              <a:t>u</a:t>
            </a:r>
            <a:r>
              <a:rPr lang="en-US" sz="2000"/>
              <a:t>)</a:t>
            </a:r>
          </a:p>
        </p:txBody>
      </p:sp>
      <p:sp>
        <p:nvSpPr>
          <p:cNvPr id="50180" name="Text Box 4">
            <a:extLst>
              <a:ext uri="{FF2B5EF4-FFF2-40B4-BE49-F238E27FC236}">
                <a16:creationId xmlns:a16="http://schemas.microsoft.com/office/drawing/2014/main" id="{A328FAA9-1577-4839-B5BA-305D97E97B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4648200"/>
            <a:ext cx="3263900" cy="415925"/>
          </a:xfrm>
          <a:prstGeom prst="rect">
            <a:avLst/>
          </a:prstGeom>
          <a:noFill/>
          <a:ln w="19050">
            <a:solidFill>
              <a:schemeClr val="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2000"/>
              <a:t>Uses a global timestamp </a:t>
            </a:r>
            <a:r>
              <a:rPr lang="en-US" altLang="hi-IN" sz="2000" b="1" i="1">
                <a:solidFill>
                  <a:srgbClr val="CC3300"/>
                </a:solidFill>
              </a:rPr>
              <a:t>time</a:t>
            </a:r>
            <a:r>
              <a:rPr lang="en-US" altLang="hi-IN" sz="2000"/>
              <a:t>.</a:t>
            </a:r>
          </a:p>
        </p:txBody>
      </p:sp>
      <p:sp>
        <p:nvSpPr>
          <p:cNvPr id="52229" name="Rectangle 5">
            <a:extLst>
              <a:ext uri="{FF2B5EF4-FFF2-40B4-BE49-F238E27FC236}">
                <a16:creationId xmlns:a16="http://schemas.microsoft.com/office/drawing/2014/main" id="{EF3B71B7-DB9E-4425-A57F-A1AB6ADF44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1066800"/>
            <a:ext cx="4800600" cy="4419600"/>
          </a:xfrm>
          <a:prstGeom prst="rect">
            <a:avLst/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lIns="92075" tIns="46038" rIns="92075" bIns="46038"/>
          <a:lstStyle/>
          <a:p>
            <a:pPr marL="609600" indent="-609600" algn="l"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en-US" sz="2000" b="1" dirty="0">
                <a:solidFill>
                  <a:srgbClr val="010000"/>
                </a:solidFill>
              </a:rPr>
              <a:t>DFS-Visit(</a:t>
            </a:r>
            <a:r>
              <a:rPr lang="en-US" sz="2000" b="1" i="1" dirty="0">
                <a:solidFill>
                  <a:srgbClr val="010000"/>
                </a:solidFill>
              </a:rPr>
              <a:t>u</a:t>
            </a:r>
            <a:r>
              <a:rPr lang="en-US" sz="2000" b="1" dirty="0">
                <a:solidFill>
                  <a:srgbClr val="010000"/>
                </a:solidFill>
              </a:rPr>
              <a:t>)</a:t>
            </a:r>
            <a:endParaRPr lang="en-US" sz="2000" b="1" i="1" dirty="0">
              <a:solidFill>
                <a:srgbClr val="010000"/>
              </a:solidFill>
            </a:endParaRPr>
          </a:p>
          <a:p>
            <a:pPr marL="609600" indent="-609600" algn="l">
              <a:spcBef>
                <a:spcPct val="20000"/>
              </a:spcBef>
              <a:buFont typeface="Wingdings" pitchFamily="2" charset="2"/>
              <a:buAutoNum type="arabicPeriod"/>
              <a:defRPr/>
            </a:pPr>
            <a:r>
              <a:rPr lang="en-US" sz="2000" i="1" dirty="0">
                <a:solidFill>
                  <a:srgbClr val="010000"/>
                </a:solidFill>
              </a:rPr>
              <a:t>color</a:t>
            </a:r>
            <a:r>
              <a:rPr lang="en-US" sz="2000" dirty="0">
                <a:solidFill>
                  <a:srgbClr val="010000"/>
                </a:solidFill>
              </a:rPr>
              <a:t>[</a:t>
            </a:r>
            <a:r>
              <a:rPr lang="en-US" sz="2000" i="1" dirty="0">
                <a:solidFill>
                  <a:srgbClr val="010000"/>
                </a:solidFill>
              </a:rPr>
              <a:t>u</a:t>
            </a:r>
            <a:r>
              <a:rPr lang="en-US" sz="2000" dirty="0">
                <a:solidFill>
                  <a:srgbClr val="010000"/>
                </a:solidFill>
              </a:rPr>
              <a:t>] </a:t>
            </a:r>
            <a:r>
              <a:rPr lang="en-US" sz="2000" dirty="0">
                <a:solidFill>
                  <a:srgbClr val="010000"/>
                </a:solidFill>
                <a:sym typeface="Symbol" pitchFamily="18" charset="2"/>
              </a:rPr>
              <a:t></a:t>
            </a:r>
            <a:r>
              <a:rPr lang="en-US" sz="2000" dirty="0">
                <a:solidFill>
                  <a:srgbClr val="010000"/>
                </a:solidFill>
              </a:rPr>
              <a:t> GRAY  </a:t>
            </a:r>
            <a:r>
              <a:rPr lang="en-US" sz="2000" dirty="0">
                <a:solidFill>
                  <a:srgbClr val="010000"/>
                </a:solidFill>
                <a:sym typeface="Symbol" pitchFamily="18" charset="2"/>
              </a:rPr>
              <a:t> White vertex </a:t>
            </a:r>
            <a:r>
              <a:rPr lang="en-US" sz="2000" i="1" dirty="0">
                <a:solidFill>
                  <a:srgbClr val="010000"/>
                </a:solidFill>
              </a:rPr>
              <a:t>u</a:t>
            </a:r>
            <a:r>
              <a:rPr lang="en-US" sz="2000" dirty="0">
                <a:solidFill>
                  <a:srgbClr val="010000"/>
                </a:solidFill>
                <a:sym typeface="Symbol" pitchFamily="18" charset="2"/>
              </a:rPr>
              <a:t> has been discovered</a:t>
            </a:r>
          </a:p>
          <a:p>
            <a:pPr marL="609600" indent="-609600" algn="l">
              <a:spcBef>
                <a:spcPct val="20000"/>
              </a:spcBef>
              <a:buFont typeface="Wingdings" pitchFamily="2" charset="2"/>
              <a:buAutoNum type="arabicPeriod"/>
              <a:defRPr/>
            </a:pPr>
            <a:r>
              <a:rPr lang="en-US" sz="2000" i="1" dirty="0">
                <a:solidFill>
                  <a:srgbClr val="010000"/>
                </a:solidFill>
                <a:sym typeface="Symbol" pitchFamily="18" charset="2"/>
              </a:rPr>
              <a:t>time</a:t>
            </a:r>
            <a:r>
              <a:rPr lang="en-US" sz="2000" dirty="0">
                <a:solidFill>
                  <a:srgbClr val="010000"/>
                </a:solidFill>
                <a:sym typeface="Symbol" pitchFamily="18" charset="2"/>
              </a:rPr>
              <a:t>  </a:t>
            </a:r>
            <a:r>
              <a:rPr lang="en-US" sz="2000" i="1" dirty="0">
                <a:solidFill>
                  <a:srgbClr val="010000"/>
                </a:solidFill>
                <a:sym typeface="Symbol" pitchFamily="18" charset="2"/>
              </a:rPr>
              <a:t>time</a:t>
            </a:r>
            <a:r>
              <a:rPr lang="en-US" sz="2000" dirty="0">
                <a:solidFill>
                  <a:srgbClr val="010000"/>
                </a:solidFill>
                <a:sym typeface="Symbol" pitchFamily="18" charset="2"/>
              </a:rPr>
              <a:t> + 1</a:t>
            </a:r>
            <a:endParaRPr lang="en-US" sz="1400" i="1" dirty="0">
              <a:solidFill>
                <a:srgbClr val="010000"/>
              </a:solidFill>
              <a:sym typeface="Symbol" pitchFamily="18" charset="2"/>
            </a:endParaRPr>
          </a:p>
          <a:p>
            <a:pPr marL="609600" indent="-609600" algn="l">
              <a:spcBef>
                <a:spcPct val="20000"/>
              </a:spcBef>
              <a:buFont typeface="Wingdings" pitchFamily="2" charset="2"/>
              <a:buAutoNum type="arabicPeriod"/>
              <a:defRPr/>
            </a:pPr>
            <a:r>
              <a:rPr lang="en-US" sz="2000" dirty="0">
                <a:solidFill>
                  <a:srgbClr val="010000"/>
                </a:solidFill>
              </a:rPr>
              <a:t> </a:t>
            </a:r>
            <a:r>
              <a:rPr lang="en-US" sz="2000" i="1" dirty="0">
                <a:solidFill>
                  <a:srgbClr val="010000"/>
                </a:solidFill>
              </a:rPr>
              <a:t>d</a:t>
            </a:r>
            <a:r>
              <a:rPr lang="en-US" sz="2000" dirty="0">
                <a:solidFill>
                  <a:srgbClr val="010000"/>
                </a:solidFill>
              </a:rPr>
              <a:t>[</a:t>
            </a:r>
            <a:r>
              <a:rPr lang="en-US" sz="2000" i="1" dirty="0">
                <a:solidFill>
                  <a:srgbClr val="010000"/>
                </a:solidFill>
              </a:rPr>
              <a:t>u</a:t>
            </a:r>
            <a:r>
              <a:rPr lang="en-US" sz="2000" dirty="0">
                <a:solidFill>
                  <a:srgbClr val="010000"/>
                </a:solidFill>
              </a:rPr>
              <a:t>] </a:t>
            </a:r>
            <a:r>
              <a:rPr lang="en-US" sz="2000" dirty="0">
                <a:solidFill>
                  <a:srgbClr val="010000"/>
                </a:solidFill>
                <a:sym typeface="Symbol" pitchFamily="18" charset="2"/>
              </a:rPr>
              <a:t></a:t>
            </a:r>
            <a:r>
              <a:rPr lang="en-US" sz="2000" dirty="0">
                <a:solidFill>
                  <a:srgbClr val="010000"/>
                </a:solidFill>
              </a:rPr>
              <a:t> </a:t>
            </a:r>
            <a:r>
              <a:rPr lang="en-US" sz="2000" i="1" dirty="0">
                <a:solidFill>
                  <a:srgbClr val="010000"/>
                </a:solidFill>
              </a:rPr>
              <a:t>time</a:t>
            </a:r>
            <a:endParaRPr lang="en-US" sz="2000" dirty="0">
              <a:solidFill>
                <a:srgbClr val="010000"/>
              </a:solidFill>
            </a:endParaRPr>
          </a:p>
          <a:p>
            <a:pPr marL="609600" indent="-609600" algn="l">
              <a:spcBef>
                <a:spcPct val="20000"/>
              </a:spcBef>
              <a:buFont typeface="Wingdings" pitchFamily="2" charset="2"/>
              <a:buAutoNum type="arabicPeriod"/>
              <a:defRPr/>
            </a:pPr>
            <a:r>
              <a:rPr lang="en-US" sz="2000" dirty="0">
                <a:solidFill>
                  <a:srgbClr val="010000"/>
                </a:solidFill>
              </a:rPr>
              <a:t> </a:t>
            </a:r>
            <a:r>
              <a:rPr lang="en-US" sz="2000" b="1" dirty="0">
                <a:solidFill>
                  <a:srgbClr val="010000"/>
                </a:solidFill>
              </a:rPr>
              <a:t>for</a:t>
            </a:r>
            <a:r>
              <a:rPr lang="en-US" sz="2000" dirty="0">
                <a:solidFill>
                  <a:srgbClr val="010000"/>
                </a:solidFill>
              </a:rPr>
              <a:t> each </a:t>
            </a:r>
            <a:r>
              <a:rPr lang="en-US" sz="2000" i="1" dirty="0">
                <a:solidFill>
                  <a:srgbClr val="010000"/>
                </a:solidFill>
              </a:rPr>
              <a:t>v </a:t>
            </a:r>
            <a:r>
              <a:rPr lang="en-US" sz="2000" dirty="0">
                <a:solidFill>
                  <a:srgbClr val="010000"/>
                </a:solidFill>
                <a:sym typeface="Symbol" pitchFamily="18" charset="2"/>
              </a:rPr>
              <a:t></a:t>
            </a:r>
            <a:r>
              <a:rPr lang="en-US" sz="2000" i="1" dirty="0">
                <a:solidFill>
                  <a:srgbClr val="010000"/>
                </a:solidFill>
              </a:rPr>
              <a:t> </a:t>
            </a:r>
            <a:r>
              <a:rPr lang="en-US" sz="2000" i="1" dirty="0" err="1">
                <a:solidFill>
                  <a:srgbClr val="010000"/>
                </a:solidFill>
              </a:rPr>
              <a:t>Adj</a:t>
            </a:r>
            <a:r>
              <a:rPr lang="en-US" sz="2000" dirty="0">
                <a:solidFill>
                  <a:srgbClr val="010000"/>
                </a:solidFill>
              </a:rPr>
              <a:t>[</a:t>
            </a:r>
            <a:r>
              <a:rPr lang="en-US" sz="2000" i="1" dirty="0">
                <a:solidFill>
                  <a:srgbClr val="010000"/>
                </a:solidFill>
              </a:rPr>
              <a:t>u</a:t>
            </a:r>
            <a:r>
              <a:rPr lang="en-US" sz="2000" dirty="0">
                <a:solidFill>
                  <a:srgbClr val="010000"/>
                </a:solidFill>
              </a:rPr>
              <a:t>]</a:t>
            </a:r>
          </a:p>
          <a:p>
            <a:pPr marL="609600" indent="-609600" algn="l">
              <a:spcBef>
                <a:spcPct val="20000"/>
              </a:spcBef>
              <a:buFont typeface="Wingdings" pitchFamily="2" charset="2"/>
              <a:buAutoNum type="arabicPeriod"/>
              <a:defRPr/>
            </a:pPr>
            <a:r>
              <a:rPr lang="en-US" sz="2000" dirty="0">
                <a:solidFill>
                  <a:srgbClr val="010000"/>
                </a:solidFill>
              </a:rPr>
              <a:t>       </a:t>
            </a:r>
            <a:r>
              <a:rPr lang="en-US" sz="2000" b="1" dirty="0">
                <a:solidFill>
                  <a:srgbClr val="010000"/>
                </a:solidFill>
              </a:rPr>
              <a:t>do</a:t>
            </a:r>
            <a:r>
              <a:rPr lang="en-US" sz="2000" dirty="0">
                <a:solidFill>
                  <a:srgbClr val="010000"/>
                </a:solidFill>
              </a:rPr>
              <a:t> </a:t>
            </a:r>
            <a:r>
              <a:rPr lang="en-US" sz="2000" b="1" dirty="0">
                <a:solidFill>
                  <a:srgbClr val="010000"/>
                </a:solidFill>
              </a:rPr>
              <a:t>if</a:t>
            </a:r>
            <a:r>
              <a:rPr lang="en-US" sz="2000" dirty="0">
                <a:solidFill>
                  <a:srgbClr val="010000"/>
                </a:solidFill>
              </a:rPr>
              <a:t> </a:t>
            </a:r>
            <a:r>
              <a:rPr lang="en-US" sz="2000" i="1" dirty="0">
                <a:solidFill>
                  <a:srgbClr val="010000"/>
                </a:solidFill>
              </a:rPr>
              <a:t>color</a:t>
            </a:r>
            <a:r>
              <a:rPr lang="en-US" sz="2000" dirty="0">
                <a:solidFill>
                  <a:srgbClr val="010000"/>
                </a:solidFill>
              </a:rPr>
              <a:t>[</a:t>
            </a:r>
            <a:r>
              <a:rPr lang="en-US" sz="2000" i="1" dirty="0">
                <a:solidFill>
                  <a:srgbClr val="010000"/>
                </a:solidFill>
              </a:rPr>
              <a:t>v</a:t>
            </a:r>
            <a:r>
              <a:rPr lang="en-US" sz="2000" dirty="0">
                <a:solidFill>
                  <a:srgbClr val="010000"/>
                </a:solidFill>
              </a:rPr>
              <a:t>] </a:t>
            </a:r>
            <a:r>
              <a:rPr lang="en-US" sz="2000" dirty="0">
                <a:solidFill>
                  <a:srgbClr val="010000"/>
                </a:solidFill>
                <a:sym typeface="Symbol" pitchFamily="18" charset="2"/>
              </a:rPr>
              <a:t>=</a:t>
            </a:r>
            <a:r>
              <a:rPr lang="en-US" sz="2000" dirty="0">
                <a:solidFill>
                  <a:srgbClr val="010000"/>
                </a:solidFill>
              </a:rPr>
              <a:t> WHITE</a:t>
            </a:r>
          </a:p>
          <a:p>
            <a:pPr marL="609600" indent="-609600" algn="l">
              <a:spcBef>
                <a:spcPct val="20000"/>
              </a:spcBef>
              <a:buFont typeface="Wingdings" pitchFamily="2" charset="2"/>
              <a:buAutoNum type="arabicPeriod"/>
              <a:defRPr/>
            </a:pPr>
            <a:r>
              <a:rPr lang="en-US" sz="2000" dirty="0">
                <a:solidFill>
                  <a:srgbClr val="010000"/>
                </a:solidFill>
              </a:rPr>
              <a:t>                 </a:t>
            </a:r>
            <a:r>
              <a:rPr lang="en-US" sz="2000" b="1" dirty="0">
                <a:solidFill>
                  <a:srgbClr val="010000"/>
                </a:solidFill>
              </a:rPr>
              <a:t>then</a:t>
            </a:r>
            <a:r>
              <a:rPr lang="en-US" sz="2000" dirty="0">
                <a:solidFill>
                  <a:srgbClr val="010000"/>
                </a:solidFill>
              </a:rPr>
              <a:t> </a:t>
            </a:r>
            <a:r>
              <a:rPr lang="en-US" sz="2000" dirty="0">
                <a:solidFill>
                  <a:srgbClr val="010000"/>
                </a:solidFill>
                <a:sym typeface="Symbol" pitchFamily="18" charset="2"/>
              </a:rPr>
              <a:t></a:t>
            </a:r>
            <a:r>
              <a:rPr lang="en-US" sz="2000" dirty="0">
                <a:solidFill>
                  <a:srgbClr val="010000"/>
                </a:solidFill>
              </a:rPr>
              <a:t>[</a:t>
            </a:r>
            <a:r>
              <a:rPr lang="en-US" sz="2000" i="1" dirty="0">
                <a:solidFill>
                  <a:srgbClr val="010000"/>
                </a:solidFill>
              </a:rPr>
              <a:t>v</a:t>
            </a:r>
            <a:r>
              <a:rPr lang="en-US" sz="2000" dirty="0">
                <a:solidFill>
                  <a:srgbClr val="010000"/>
                </a:solidFill>
              </a:rPr>
              <a:t>] </a:t>
            </a:r>
            <a:r>
              <a:rPr lang="en-US" sz="2000" dirty="0">
                <a:solidFill>
                  <a:srgbClr val="010000"/>
                </a:solidFill>
                <a:sym typeface="Symbol" pitchFamily="18" charset="2"/>
              </a:rPr>
              <a:t></a:t>
            </a:r>
            <a:r>
              <a:rPr lang="en-US" sz="2000" dirty="0">
                <a:solidFill>
                  <a:srgbClr val="010000"/>
                </a:solidFill>
              </a:rPr>
              <a:t> </a:t>
            </a:r>
            <a:r>
              <a:rPr lang="en-US" sz="2000" i="1" dirty="0">
                <a:solidFill>
                  <a:srgbClr val="010000"/>
                </a:solidFill>
              </a:rPr>
              <a:t>u</a:t>
            </a:r>
            <a:endParaRPr lang="en-US" sz="2000" dirty="0">
              <a:solidFill>
                <a:srgbClr val="010000"/>
              </a:solidFill>
            </a:endParaRPr>
          </a:p>
          <a:p>
            <a:pPr marL="609600" indent="-609600" algn="l">
              <a:spcBef>
                <a:spcPct val="20000"/>
              </a:spcBef>
              <a:buFont typeface="Wingdings" pitchFamily="2" charset="2"/>
              <a:buAutoNum type="arabicPeriod"/>
              <a:defRPr/>
            </a:pPr>
            <a:r>
              <a:rPr lang="en-US" sz="2000" dirty="0">
                <a:solidFill>
                  <a:srgbClr val="010000"/>
                </a:solidFill>
              </a:rPr>
              <a:t>                          DFS-Visit(</a:t>
            </a:r>
            <a:r>
              <a:rPr lang="en-US" sz="2000" i="1" dirty="0">
                <a:solidFill>
                  <a:srgbClr val="010000"/>
                </a:solidFill>
              </a:rPr>
              <a:t>v</a:t>
            </a:r>
            <a:r>
              <a:rPr lang="en-US" sz="2000" dirty="0">
                <a:solidFill>
                  <a:srgbClr val="010000"/>
                </a:solidFill>
              </a:rPr>
              <a:t>)</a:t>
            </a:r>
          </a:p>
          <a:p>
            <a:pPr marL="609600" indent="-609600" algn="l">
              <a:spcBef>
                <a:spcPct val="20000"/>
              </a:spcBef>
              <a:buFont typeface="Wingdings" pitchFamily="2" charset="2"/>
              <a:buAutoNum type="arabicPeriod"/>
              <a:defRPr/>
            </a:pPr>
            <a:r>
              <a:rPr lang="en-US" sz="2000" dirty="0">
                <a:solidFill>
                  <a:srgbClr val="010000"/>
                </a:solidFill>
              </a:rPr>
              <a:t>  </a:t>
            </a:r>
            <a:r>
              <a:rPr lang="en-US" sz="2000" i="1" dirty="0">
                <a:solidFill>
                  <a:srgbClr val="010000"/>
                </a:solidFill>
              </a:rPr>
              <a:t>color</a:t>
            </a:r>
            <a:r>
              <a:rPr lang="en-US" sz="2000" dirty="0">
                <a:solidFill>
                  <a:srgbClr val="010000"/>
                </a:solidFill>
              </a:rPr>
              <a:t>[</a:t>
            </a:r>
            <a:r>
              <a:rPr lang="en-US" sz="2000" i="1" dirty="0">
                <a:solidFill>
                  <a:srgbClr val="010000"/>
                </a:solidFill>
              </a:rPr>
              <a:t>u</a:t>
            </a:r>
            <a:r>
              <a:rPr lang="en-US" sz="2000" dirty="0">
                <a:solidFill>
                  <a:srgbClr val="010000"/>
                </a:solidFill>
              </a:rPr>
              <a:t>] </a:t>
            </a:r>
            <a:r>
              <a:rPr lang="en-US" sz="2000" dirty="0">
                <a:solidFill>
                  <a:srgbClr val="010000"/>
                </a:solidFill>
                <a:sym typeface="Symbol" pitchFamily="18" charset="2"/>
              </a:rPr>
              <a:t></a:t>
            </a:r>
            <a:r>
              <a:rPr lang="en-US" sz="2000" dirty="0">
                <a:solidFill>
                  <a:srgbClr val="010000"/>
                </a:solidFill>
              </a:rPr>
              <a:t> BLACK     </a:t>
            </a:r>
            <a:r>
              <a:rPr lang="en-US" sz="2000" dirty="0">
                <a:solidFill>
                  <a:srgbClr val="010000"/>
                </a:solidFill>
                <a:sym typeface="Symbol" pitchFamily="18" charset="2"/>
              </a:rPr>
              <a:t> Blacken </a:t>
            </a:r>
            <a:r>
              <a:rPr lang="en-US" sz="2000" i="1" dirty="0">
                <a:solidFill>
                  <a:srgbClr val="010000"/>
                </a:solidFill>
              </a:rPr>
              <a:t>u</a:t>
            </a:r>
            <a:r>
              <a:rPr lang="en-US" sz="2000" dirty="0">
                <a:solidFill>
                  <a:srgbClr val="010000"/>
                </a:solidFill>
              </a:rPr>
              <a:t>;  it is finished.</a:t>
            </a:r>
          </a:p>
          <a:p>
            <a:pPr marL="609600" indent="-609600" algn="l">
              <a:spcBef>
                <a:spcPct val="20000"/>
              </a:spcBef>
              <a:buFont typeface="Wingdings" pitchFamily="2" charset="2"/>
              <a:buAutoNum type="arabicPeriod"/>
              <a:defRPr/>
            </a:pPr>
            <a:r>
              <a:rPr lang="en-US" sz="2000" dirty="0">
                <a:solidFill>
                  <a:srgbClr val="010000"/>
                </a:solidFill>
              </a:rPr>
              <a:t>  </a:t>
            </a:r>
            <a:r>
              <a:rPr lang="en-US" sz="2000" i="1" dirty="0">
                <a:solidFill>
                  <a:srgbClr val="010000"/>
                </a:solidFill>
              </a:rPr>
              <a:t>f</a:t>
            </a:r>
            <a:r>
              <a:rPr lang="en-US" sz="2000" dirty="0">
                <a:solidFill>
                  <a:srgbClr val="010000"/>
                </a:solidFill>
              </a:rPr>
              <a:t>[</a:t>
            </a:r>
            <a:r>
              <a:rPr lang="en-US" sz="2000" i="1" dirty="0">
                <a:solidFill>
                  <a:srgbClr val="010000"/>
                </a:solidFill>
              </a:rPr>
              <a:t>u</a:t>
            </a:r>
            <a:r>
              <a:rPr lang="en-US" sz="2000" dirty="0">
                <a:solidFill>
                  <a:srgbClr val="010000"/>
                </a:solidFill>
              </a:rPr>
              <a:t>] </a:t>
            </a:r>
            <a:r>
              <a:rPr lang="en-US" sz="2000" dirty="0">
                <a:solidFill>
                  <a:srgbClr val="010000"/>
                </a:solidFill>
                <a:sym typeface="Symbol" pitchFamily="18" charset="2"/>
              </a:rPr>
              <a:t></a:t>
            </a:r>
            <a:r>
              <a:rPr lang="en-US" sz="2000" dirty="0">
                <a:solidFill>
                  <a:srgbClr val="010000"/>
                </a:solidFill>
              </a:rPr>
              <a:t> </a:t>
            </a:r>
            <a:r>
              <a:rPr lang="en-US" sz="2000" i="1" dirty="0">
                <a:solidFill>
                  <a:srgbClr val="010000"/>
                </a:solidFill>
              </a:rPr>
              <a:t>time </a:t>
            </a:r>
            <a:r>
              <a:rPr lang="en-US" sz="2000" dirty="0">
                <a:solidFill>
                  <a:srgbClr val="010000"/>
                </a:solidFill>
                <a:sym typeface="Symbol" pitchFamily="18" charset="2"/>
              </a:rPr>
              <a:t></a:t>
            </a:r>
            <a:r>
              <a:rPr lang="en-US" sz="2000" i="1" dirty="0">
                <a:solidFill>
                  <a:srgbClr val="010000"/>
                </a:solidFill>
              </a:rPr>
              <a:t> time </a:t>
            </a:r>
            <a:r>
              <a:rPr lang="en-US" sz="2000" dirty="0">
                <a:solidFill>
                  <a:srgbClr val="010000"/>
                </a:solidFill>
              </a:rPr>
              <a:t>+ 1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5B73A5-FADD-4C95-B27D-4D4DF32CF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51D9C-B6AB-428B-A110-91A75E744F65}" type="slidenum">
              <a:rPr lang="en-US" altLang="hi-IN" smtClean="0"/>
              <a:pPr/>
              <a:t>67</a:t>
            </a:fld>
            <a:endParaRPr lang="en-US" altLang="hi-IN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56E622CE-6F38-477C-A5D5-6A44896669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i-IN"/>
              <a:t>Example (DFS)</a:t>
            </a:r>
          </a:p>
        </p:txBody>
      </p:sp>
      <p:sp>
        <p:nvSpPr>
          <p:cNvPr id="51203" name="Oval 3">
            <a:extLst>
              <a:ext uri="{FF2B5EF4-FFF2-40B4-BE49-F238E27FC236}">
                <a16:creationId xmlns:a16="http://schemas.microsoft.com/office/drawing/2014/main" id="{B34C912A-7647-4D8C-83EB-1FE572C39B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8113" y="2303463"/>
            <a:ext cx="590550" cy="576262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51204" name="Text Box 4">
            <a:extLst>
              <a:ext uri="{FF2B5EF4-FFF2-40B4-BE49-F238E27FC236}">
                <a16:creationId xmlns:a16="http://schemas.microsoft.com/office/drawing/2014/main" id="{126106F1-B05E-4C49-8BD4-7AA02DDE76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6213" y="2366963"/>
            <a:ext cx="420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1/</a:t>
            </a:r>
            <a:endParaRPr lang="en-US" altLang="hi-IN" b="1"/>
          </a:p>
        </p:txBody>
      </p:sp>
      <p:sp>
        <p:nvSpPr>
          <p:cNvPr id="51205" name="Oval 5">
            <a:extLst>
              <a:ext uri="{FF2B5EF4-FFF2-40B4-BE49-F238E27FC236}">
                <a16:creationId xmlns:a16="http://schemas.microsoft.com/office/drawing/2014/main" id="{5328A100-DF0E-4726-B8D0-61743FE50D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8113" y="3719513"/>
            <a:ext cx="590550" cy="576262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51206" name="Text Box 6">
            <a:extLst>
              <a:ext uri="{FF2B5EF4-FFF2-40B4-BE49-F238E27FC236}">
                <a16:creationId xmlns:a16="http://schemas.microsoft.com/office/drawing/2014/main" id="{7AA4E775-B760-40AD-964C-7A295805A3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3363" y="3754438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i-IN" altLang="hi-IN" b="1"/>
          </a:p>
        </p:txBody>
      </p:sp>
      <p:sp>
        <p:nvSpPr>
          <p:cNvPr id="51207" name="Oval 7">
            <a:extLst>
              <a:ext uri="{FF2B5EF4-FFF2-40B4-BE49-F238E27FC236}">
                <a16:creationId xmlns:a16="http://schemas.microsoft.com/office/drawing/2014/main" id="{2B5DBAFA-105C-4D44-923B-B34650B978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9250" y="3713163"/>
            <a:ext cx="590550" cy="576262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51208" name="Line 8">
            <a:extLst>
              <a:ext uri="{FF2B5EF4-FFF2-40B4-BE49-F238E27FC236}">
                <a16:creationId xmlns:a16="http://schemas.microsoft.com/office/drawing/2014/main" id="{AB139DCC-1E02-4901-A661-040C292C3EBB}"/>
              </a:ext>
            </a:extLst>
          </p:cNvPr>
          <p:cNvSpPr>
            <a:spLocks noChangeShapeType="1"/>
          </p:cNvSpPr>
          <p:nvPr/>
        </p:nvSpPr>
        <p:spPr bwMode="auto">
          <a:xfrm>
            <a:off x="3254375" y="4008438"/>
            <a:ext cx="923925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51209" name="Oval 9">
            <a:extLst>
              <a:ext uri="{FF2B5EF4-FFF2-40B4-BE49-F238E27FC236}">
                <a16:creationId xmlns:a16="http://schemas.microsoft.com/office/drawing/2014/main" id="{D0EE93FD-BF86-4593-A6DD-2B7255D57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0388" y="3722688"/>
            <a:ext cx="590550" cy="576262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51210" name="Oval 10">
            <a:extLst>
              <a:ext uri="{FF2B5EF4-FFF2-40B4-BE49-F238E27FC236}">
                <a16:creationId xmlns:a16="http://schemas.microsoft.com/office/drawing/2014/main" id="{7BF3A1C2-4377-4880-92EC-020C49158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4488" y="2308225"/>
            <a:ext cx="590550" cy="576263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51211" name="Oval 11">
            <a:extLst>
              <a:ext uri="{FF2B5EF4-FFF2-40B4-BE49-F238E27FC236}">
                <a16:creationId xmlns:a16="http://schemas.microsoft.com/office/drawing/2014/main" id="{3890C72E-49A7-4CB2-97FD-B3B2A83FCC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5625" y="2317750"/>
            <a:ext cx="590550" cy="576263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51212" name="Line 12">
            <a:extLst>
              <a:ext uri="{FF2B5EF4-FFF2-40B4-BE49-F238E27FC236}">
                <a16:creationId xmlns:a16="http://schemas.microsoft.com/office/drawing/2014/main" id="{DBD889B3-D7A3-49FB-A767-36579EBD3910}"/>
              </a:ext>
            </a:extLst>
          </p:cNvPr>
          <p:cNvSpPr>
            <a:spLocks noChangeShapeType="1"/>
          </p:cNvSpPr>
          <p:nvPr/>
        </p:nvSpPr>
        <p:spPr bwMode="auto">
          <a:xfrm>
            <a:off x="2965450" y="2881313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51213" name="Line 13">
            <a:extLst>
              <a:ext uri="{FF2B5EF4-FFF2-40B4-BE49-F238E27FC236}">
                <a16:creationId xmlns:a16="http://schemas.microsoft.com/office/drawing/2014/main" id="{FB9C602C-A58C-4109-8EAF-6B92EBDF09BF}"/>
              </a:ext>
            </a:extLst>
          </p:cNvPr>
          <p:cNvSpPr>
            <a:spLocks noChangeShapeType="1"/>
          </p:cNvSpPr>
          <p:nvPr/>
        </p:nvSpPr>
        <p:spPr bwMode="auto">
          <a:xfrm>
            <a:off x="4446588" y="2890838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51214" name="Line 14">
            <a:extLst>
              <a:ext uri="{FF2B5EF4-FFF2-40B4-BE49-F238E27FC236}">
                <a16:creationId xmlns:a16="http://schemas.microsoft.com/office/drawing/2014/main" id="{A80FC375-A25E-4CA2-89AB-0265DEF06727}"/>
              </a:ext>
            </a:extLst>
          </p:cNvPr>
          <p:cNvSpPr>
            <a:spLocks noChangeShapeType="1"/>
          </p:cNvSpPr>
          <p:nvPr/>
        </p:nvSpPr>
        <p:spPr bwMode="auto">
          <a:xfrm>
            <a:off x="5927725" y="2900363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51215" name="Line 15">
            <a:extLst>
              <a:ext uri="{FF2B5EF4-FFF2-40B4-BE49-F238E27FC236}">
                <a16:creationId xmlns:a16="http://schemas.microsoft.com/office/drawing/2014/main" id="{7CF4C388-F215-40E6-85CE-DB3F5F46774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73413" y="2757488"/>
            <a:ext cx="1023937" cy="10287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51216" name="Text Box 16">
            <a:extLst>
              <a:ext uri="{FF2B5EF4-FFF2-40B4-BE49-F238E27FC236}">
                <a16:creationId xmlns:a16="http://schemas.microsoft.com/office/drawing/2014/main" id="{D5D55390-CB58-479A-A2D7-05DE698A5C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4800" y="19065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u</a:t>
            </a:r>
          </a:p>
        </p:txBody>
      </p:sp>
      <p:sp>
        <p:nvSpPr>
          <p:cNvPr id="51217" name="Text Box 17">
            <a:extLst>
              <a:ext uri="{FF2B5EF4-FFF2-40B4-BE49-F238E27FC236}">
                <a16:creationId xmlns:a16="http://schemas.microsoft.com/office/drawing/2014/main" id="{FFD985FB-C503-4D5C-8544-21C94A4E16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1650" y="191611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v</a:t>
            </a:r>
          </a:p>
        </p:txBody>
      </p:sp>
      <p:sp>
        <p:nvSpPr>
          <p:cNvPr id="51218" name="Text Box 18">
            <a:extLst>
              <a:ext uri="{FF2B5EF4-FFF2-40B4-BE49-F238E27FC236}">
                <a16:creationId xmlns:a16="http://schemas.microsoft.com/office/drawing/2014/main" id="{5676A322-3FBF-4CEC-A763-EB098902A1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8500" y="1925638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w</a:t>
            </a:r>
          </a:p>
        </p:txBody>
      </p:sp>
      <p:sp>
        <p:nvSpPr>
          <p:cNvPr id="51219" name="Text Box 19">
            <a:extLst>
              <a:ext uri="{FF2B5EF4-FFF2-40B4-BE49-F238E27FC236}">
                <a16:creationId xmlns:a16="http://schemas.microsoft.com/office/drawing/2014/main" id="{9C097314-4333-40FE-9F89-817C45D5F2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1463" y="420211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x</a:t>
            </a:r>
          </a:p>
        </p:txBody>
      </p:sp>
      <p:sp>
        <p:nvSpPr>
          <p:cNvPr id="51220" name="Text Box 20">
            <a:extLst>
              <a:ext uri="{FF2B5EF4-FFF2-40B4-BE49-F238E27FC236}">
                <a16:creationId xmlns:a16="http://schemas.microsoft.com/office/drawing/2014/main" id="{74658E5A-A2F1-4E8E-8A55-C19A3BBA07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421163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y</a:t>
            </a:r>
          </a:p>
        </p:txBody>
      </p:sp>
      <p:sp>
        <p:nvSpPr>
          <p:cNvPr id="51221" name="Text Box 21">
            <a:extLst>
              <a:ext uri="{FF2B5EF4-FFF2-40B4-BE49-F238E27FC236}">
                <a16:creationId xmlns:a16="http://schemas.microsoft.com/office/drawing/2014/main" id="{F28139CC-A923-4D74-B453-FF32748D7C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8025" y="4206875"/>
            <a:ext cx="319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z</a:t>
            </a:r>
          </a:p>
        </p:txBody>
      </p:sp>
      <p:sp>
        <p:nvSpPr>
          <p:cNvPr id="51222" name="Line 22">
            <a:extLst>
              <a:ext uri="{FF2B5EF4-FFF2-40B4-BE49-F238E27FC236}">
                <a16:creationId xmlns:a16="http://schemas.microsoft.com/office/drawing/2014/main" id="{C624476F-FEB2-40A9-B190-053A6C81D365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3900" y="2617788"/>
            <a:ext cx="923925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51223" name="Line 23">
            <a:extLst>
              <a:ext uri="{FF2B5EF4-FFF2-40B4-BE49-F238E27FC236}">
                <a16:creationId xmlns:a16="http://schemas.microsoft.com/office/drawing/2014/main" id="{956B63DE-DE3A-4B14-8A20-7A54B4AF0AE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81538" y="2779713"/>
            <a:ext cx="1023937" cy="10287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51224" name="Freeform 24">
            <a:extLst>
              <a:ext uri="{FF2B5EF4-FFF2-40B4-BE49-F238E27FC236}">
                <a16:creationId xmlns:a16="http://schemas.microsoft.com/office/drawing/2014/main" id="{75F7C69D-73F3-418C-B457-E297F8589AAA}"/>
              </a:ext>
            </a:extLst>
          </p:cNvPr>
          <p:cNvSpPr>
            <a:spLocks/>
          </p:cNvSpPr>
          <p:nvPr/>
        </p:nvSpPr>
        <p:spPr bwMode="auto">
          <a:xfrm>
            <a:off x="6146800" y="3797300"/>
            <a:ext cx="598488" cy="590550"/>
          </a:xfrm>
          <a:custGeom>
            <a:avLst/>
            <a:gdLst>
              <a:gd name="T0" fmla="*/ 0 w 377"/>
              <a:gd name="T1" fmla="*/ 2147483647 h 372"/>
              <a:gd name="T2" fmla="*/ 2147483647 w 377"/>
              <a:gd name="T3" fmla="*/ 2147483647 h 372"/>
              <a:gd name="T4" fmla="*/ 2147483647 w 377"/>
              <a:gd name="T5" fmla="*/ 2147483647 h 372"/>
              <a:gd name="T6" fmla="*/ 2147483647 w 377"/>
              <a:gd name="T7" fmla="*/ 2147483647 h 372"/>
              <a:gd name="T8" fmla="*/ 2147483647 w 377"/>
              <a:gd name="T9" fmla="*/ 2147483647 h 372"/>
              <a:gd name="T10" fmla="*/ 2147483647 w 377"/>
              <a:gd name="T11" fmla="*/ 2147483647 h 3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77"/>
              <a:gd name="T19" fmla="*/ 0 h 372"/>
              <a:gd name="T20" fmla="*/ 377 w 377"/>
              <a:gd name="T21" fmla="*/ 372 h 37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77" h="372">
                <a:moveTo>
                  <a:pt x="0" y="254"/>
                </a:moveTo>
                <a:cubicBezTo>
                  <a:pt x="44" y="304"/>
                  <a:pt x="88" y="354"/>
                  <a:pt x="145" y="363"/>
                </a:cubicBezTo>
                <a:cubicBezTo>
                  <a:pt x="202" y="372"/>
                  <a:pt x="313" y="346"/>
                  <a:pt x="345" y="308"/>
                </a:cubicBezTo>
                <a:cubicBezTo>
                  <a:pt x="377" y="270"/>
                  <a:pt x="359" y="184"/>
                  <a:pt x="336" y="136"/>
                </a:cubicBezTo>
                <a:cubicBezTo>
                  <a:pt x="313" y="88"/>
                  <a:pt x="259" y="34"/>
                  <a:pt x="209" y="17"/>
                </a:cubicBezTo>
                <a:cubicBezTo>
                  <a:pt x="159" y="0"/>
                  <a:pt x="97" y="18"/>
                  <a:pt x="36" y="36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B856D3-6C3E-4646-B202-07AD0797B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68</a:t>
            </a:fld>
            <a:endParaRPr lang="en-US" altLang="hi-IN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C64BC323-14E4-4E01-8AAF-DD12DFE354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i-IN"/>
              <a:t>Example (DFS)</a:t>
            </a:r>
          </a:p>
        </p:txBody>
      </p:sp>
      <p:sp>
        <p:nvSpPr>
          <p:cNvPr id="52227" name="Oval 3">
            <a:extLst>
              <a:ext uri="{FF2B5EF4-FFF2-40B4-BE49-F238E27FC236}">
                <a16:creationId xmlns:a16="http://schemas.microsoft.com/office/drawing/2014/main" id="{F7DB85F6-CB13-437D-82D2-96167CD65B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8113" y="2303463"/>
            <a:ext cx="590550" cy="576262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52228" name="Text Box 4">
            <a:extLst>
              <a:ext uri="{FF2B5EF4-FFF2-40B4-BE49-F238E27FC236}">
                <a16:creationId xmlns:a16="http://schemas.microsoft.com/office/drawing/2014/main" id="{459E226A-1840-40E1-9E23-256F7A11CB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6213" y="2366963"/>
            <a:ext cx="420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1/</a:t>
            </a:r>
            <a:endParaRPr lang="en-US" altLang="hi-IN" b="1"/>
          </a:p>
        </p:txBody>
      </p:sp>
      <p:sp>
        <p:nvSpPr>
          <p:cNvPr id="52229" name="Oval 5">
            <a:extLst>
              <a:ext uri="{FF2B5EF4-FFF2-40B4-BE49-F238E27FC236}">
                <a16:creationId xmlns:a16="http://schemas.microsoft.com/office/drawing/2014/main" id="{4A54CEFD-3F78-4F1D-B9BF-FA972ED3E1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8113" y="3719513"/>
            <a:ext cx="590550" cy="576262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52230" name="Text Box 6">
            <a:extLst>
              <a:ext uri="{FF2B5EF4-FFF2-40B4-BE49-F238E27FC236}">
                <a16:creationId xmlns:a16="http://schemas.microsoft.com/office/drawing/2014/main" id="{B867423F-E674-4ECE-A1B2-FA42D9DCC5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3363" y="3754438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i-IN" altLang="hi-IN" b="1"/>
          </a:p>
        </p:txBody>
      </p:sp>
      <p:sp>
        <p:nvSpPr>
          <p:cNvPr id="52231" name="Oval 7">
            <a:extLst>
              <a:ext uri="{FF2B5EF4-FFF2-40B4-BE49-F238E27FC236}">
                <a16:creationId xmlns:a16="http://schemas.microsoft.com/office/drawing/2014/main" id="{D8ACCD31-6803-4027-9B8B-F0A16D90CD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9250" y="3713163"/>
            <a:ext cx="590550" cy="576262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52232" name="Line 8">
            <a:extLst>
              <a:ext uri="{FF2B5EF4-FFF2-40B4-BE49-F238E27FC236}">
                <a16:creationId xmlns:a16="http://schemas.microsoft.com/office/drawing/2014/main" id="{45922DF2-8266-4BC2-80D8-8AB6E06C8A7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54375" y="4008438"/>
            <a:ext cx="923925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52233" name="Oval 9">
            <a:extLst>
              <a:ext uri="{FF2B5EF4-FFF2-40B4-BE49-F238E27FC236}">
                <a16:creationId xmlns:a16="http://schemas.microsoft.com/office/drawing/2014/main" id="{A223A40F-C5DA-42D1-8DA1-276510547C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0388" y="3722688"/>
            <a:ext cx="590550" cy="576262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52234" name="Oval 10">
            <a:extLst>
              <a:ext uri="{FF2B5EF4-FFF2-40B4-BE49-F238E27FC236}">
                <a16:creationId xmlns:a16="http://schemas.microsoft.com/office/drawing/2014/main" id="{6DAE1751-C951-4EE8-BFB6-ADAF503288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4488" y="2308225"/>
            <a:ext cx="590550" cy="576263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b="1"/>
              <a:t>2/</a:t>
            </a:r>
          </a:p>
        </p:txBody>
      </p:sp>
      <p:sp>
        <p:nvSpPr>
          <p:cNvPr id="52235" name="Oval 11">
            <a:extLst>
              <a:ext uri="{FF2B5EF4-FFF2-40B4-BE49-F238E27FC236}">
                <a16:creationId xmlns:a16="http://schemas.microsoft.com/office/drawing/2014/main" id="{CEB33B63-C76B-41AF-86D5-BF0079DC01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5625" y="2317750"/>
            <a:ext cx="590550" cy="576263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52236" name="Line 12">
            <a:extLst>
              <a:ext uri="{FF2B5EF4-FFF2-40B4-BE49-F238E27FC236}">
                <a16:creationId xmlns:a16="http://schemas.microsoft.com/office/drawing/2014/main" id="{56D0F2DD-6EAA-489D-BF97-364DC09894D8}"/>
              </a:ext>
            </a:extLst>
          </p:cNvPr>
          <p:cNvSpPr>
            <a:spLocks noChangeShapeType="1"/>
          </p:cNvSpPr>
          <p:nvPr/>
        </p:nvSpPr>
        <p:spPr bwMode="auto">
          <a:xfrm>
            <a:off x="2965450" y="2881313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52237" name="Line 13">
            <a:extLst>
              <a:ext uri="{FF2B5EF4-FFF2-40B4-BE49-F238E27FC236}">
                <a16:creationId xmlns:a16="http://schemas.microsoft.com/office/drawing/2014/main" id="{6D1AC06B-B02B-422C-9800-24BE19590E8E}"/>
              </a:ext>
            </a:extLst>
          </p:cNvPr>
          <p:cNvSpPr>
            <a:spLocks noChangeShapeType="1"/>
          </p:cNvSpPr>
          <p:nvPr/>
        </p:nvSpPr>
        <p:spPr bwMode="auto">
          <a:xfrm>
            <a:off x="4446588" y="2890838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52238" name="Line 14">
            <a:extLst>
              <a:ext uri="{FF2B5EF4-FFF2-40B4-BE49-F238E27FC236}">
                <a16:creationId xmlns:a16="http://schemas.microsoft.com/office/drawing/2014/main" id="{D5DC6576-B45C-421F-9202-ACB4C87311C2}"/>
              </a:ext>
            </a:extLst>
          </p:cNvPr>
          <p:cNvSpPr>
            <a:spLocks noChangeShapeType="1"/>
          </p:cNvSpPr>
          <p:nvPr/>
        </p:nvSpPr>
        <p:spPr bwMode="auto">
          <a:xfrm>
            <a:off x="5927725" y="2900363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52239" name="Line 15">
            <a:extLst>
              <a:ext uri="{FF2B5EF4-FFF2-40B4-BE49-F238E27FC236}">
                <a16:creationId xmlns:a16="http://schemas.microsoft.com/office/drawing/2014/main" id="{025368AA-2F3B-4CFD-B52E-381456981E9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73413" y="2757488"/>
            <a:ext cx="1023937" cy="10287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52240" name="Text Box 16">
            <a:extLst>
              <a:ext uri="{FF2B5EF4-FFF2-40B4-BE49-F238E27FC236}">
                <a16:creationId xmlns:a16="http://schemas.microsoft.com/office/drawing/2014/main" id="{B775C9D7-2639-45E3-8C2B-B781357941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4800" y="19065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u</a:t>
            </a:r>
          </a:p>
        </p:txBody>
      </p:sp>
      <p:sp>
        <p:nvSpPr>
          <p:cNvPr id="52241" name="Text Box 17">
            <a:extLst>
              <a:ext uri="{FF2B5EF4-FFF2-40B4-BE49-F238E27FC236}">
                <a16:creationId xmlns:a16="http://schemas.microsoft.com/office/drawing/2014/main" id="{5994440F-5A03-4F8A-8A91-58A2C2701A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1650" y="191611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v</a:t>
            </a:r>
          </a:p>
        </p:txBody>
      </p:sp>
      <p:sp>
        <p:nvSpPr>
          <p:cNvPr id="52242" name="Text Box 18">
            <a:extLst>
              <a:ext uri="{FF2B5EF4-FFF2-40B4-BE49-F238E27FC236}">
                <a16:creationId xmlns:a16="http://schemas.microsoft.com/office/drawing/2014/main" id="{937CF940-0747-4945-BE62-AC5A1D1E06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8500" y="1925638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w</a:t>
            </a:r>
          </a:p>
        </p:txBody>
      </p:sp>
      <p:sp>
        <p:nvSpPr>
          <p:cNvPr id="52243" name="Text Box 19">
            <a:extLst>
              <a:ext uri="{FF2B5EF4-FFF2-40B4-BE49-F238E27FC236}">
                <a16:creationId xmlns:a16="http://schemas.microsoft.com/office/drawing/2014/main" id="{60B71F91-B27A-4AAB-BEE1-8A0DA14AB4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1463" y="420211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x</a:t>
            </a:r>
          </a:p>
        </p:txBody>
      </p:sp>
      <p:sp>
        <p:nvSpPr>
          <p:cNvPr id="52244" name="Text Box 20">
            <a:extLst>
              <a:ext uri="{FF2B5EF4-FFF2-40B4-BE49-F238E27FC236}">
                <a16:creationId xmlns:a16="http://schemas.microsoft.com/office/drawing/2014/main" id="{F995D0C6-0808-40EF-99FB-4D6AB3D3BA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421163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y</a:t>
            </a:r>
          </a:p>
        </p:txBody>
      </p:sp>
      <p:sp>
        <p:nvSpPr>
          <p:cNvPr id="52245" name="Text Box 21">
            <a:extLst>
              <a:ext uri="{FF2B5EF4-FFF2-40B4-BE49-F238E27FC236}">
                <a16:creationId xmlns:a16="http://schemas.microsoft.com/office/drawing/2014/main" id="{7594760B-732D-46F3-9003-02AD6A8722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8025" y="4206875"/>
            <a:ext cx="319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z</a:t>
            </a:r>
          </a:p>
        </p:txBody>
      </p:sp>
      <p:sp>
        <p:nvSpPr>
          <p:cNvPr id="52246" name="Line 22">
            <a:extLst>
              <a:ext uri="{FF2B5EF4-FFF2-40B4-BE49-F238E27FC236}">
                <a16:creationId xmlns:a16="http://schemas.microsoft.com/office/drawing/2014/main" id="{5B794444-52A6-4879-ADD7-567B9027872A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3900" y="2617788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52247" name="Line 23">
            <a:extLst>
              <a:ext uri="{FF2B5EF4-FFF2-40B4-BE49-F238E27FC236}">
                <a16:creationId xmlns:a16="http://schemas.microsoft.com/office/drawing/2014/main" id="{40222D1C-4BDC-445D-BBFC-248BD525EF3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81538" y="2779713"/>
            <a:ext cx="1023937" cy="10287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52248" name="Freeform 24">
            <a:extLst>
              <a:ext uri="{FF2B5EF4-FFF2-40B4-BE49-F238E27FC236}">
                <a16:creationId xmlns:a16="http://schemas.microsoft.com/office/drawing/2014/main" id="{B534F091-5E82-4DAF-BEBB-76600E25C215}"/>
              </a:ext>
            </a:extLst>
          </p:cNvPr>
          <p:cNvSpPr>
            <a:spLocks/>
          </p:cNvSpPr>
          <p:nvPr/>
        </p:nvSpPr>
        <p:spPr bwMode="auto">
          <a:xfrm>
            <a:off x="6146800" y="3797300"/>
            <a:ext cx="598488" cy="590550"/>
          </a:xfrm>
          <a:custGeom>
            <a:avLst/>
            <a:gdLst>
              <a:gd name="T0" fmla="*/ 0 w 377"/>
              <a:gd name="T1" fmla="*/ 2147483647 h 372"/>
              <a:gd name="T2" fmla="*/ 2147483647 w 377"/>
              <a:gd name="T3" fmla="*/ 2147483647 h 372"/>
              <a:gd name="T4" fmla="*/ 2147483647 w 377"/>
              <a:gd name="T5" fmla="*/ 2147483647 h 372"/>
              <a:gd name="T6" fmla="*/ 2147483647 w 377"/>
              <a:gd name="T7" fmla="*/ 2147483647 h 372"/>
              <a:gd name="T8" fmla="*/ 2147483647 w 377"/>
              <a:gd name="T9" fmla="*/ 2147483647 h 372"/>
              <a:gd name="T10" fmla="*/ 2147483647 w 377"/>
              <a:gd name="T11" fmla="*/ 2147483647 h 3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77"/>
              <a:gd name="T19" fmla="*/ 0 h 372"/>
              <a:gd name="T20" fmla="*/ 377 w 377"/>
              <a:gd name="T21" fmla="*/ 372 h 37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77" h="372">
                <a:moveTo>
                  <a:pt x="0" y="254"/>
                </a:moveTo>
                <a:cubicBezTo>
                  <a:pt x="44" y="304"/>
                  <a:pt x="88" y="354"/>
                  <a:pt x="145" y="363"/>
                </a:cubicBezTo>
                <a:cubicBezTo>
                  <a:pt x="202" y="372"/>
                  <a:pt x="313" y="346"/>
                  <a:pt x="345" y="308"/>
                </a:cubicBezTo>
                <a:cubicBezTo>
                  <a:pt x="377" y="270"/>
                  <a:pt x="359" y="184"/>
                  <a:pt x="336" y="136"/>
                </a:cubicBezTo>
                <a:cubicBezTo>
                  <a:pt x="313" y="88"/>
                  <a:pt x="259" y="34"/>
                  <a:pt x="209" y="17"/>
                </a:cubicBezTo>
                <a:cubicBezTo>
                  <a:pt x="159" y="0"/>
                  <a:pt x="97" y="18"/>
                  <a:pt x="36" y="36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85DF46-BE51-4FFB-A31D-0971C89FD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69</a:t>
            </a:fld>
            <a:endParaRPr lang="en-US" altLang="hi-IN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2AB930E5-60CE-410F-A00E-ABC0D44473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i-IN"/>
              <a:t>Example (DFS)</a:t>
            </a:r>
          </a:p>
        </p:txBody>
      </p:sp>
      <p:sp>
        <p:nvSpPr>
          <p:cNvPr id="53251" name="Oval 3">
            <a:extLst>
              <a:ext uri="{FF2B5EF4-FFF2-40B4-BE49-F238E27FC236}">
                <a16:creationId xmlns:a16="http://schemas.microsoft.com/office/drawing/2014/main" id="{C90093BA-69E9-48EE-B2E6-75F2775868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8113" y="2303463"/>
            <a:ext cx="590550" cy="576262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53252" name="Text Box 4">
            <a:extLst>
              <a:ext uri="{FF2B5EF4-FFF2-40B4-BE49-F238E27FC236}">
                <a16:creationId xmlns:a16="http://schemas.microsoft.com/office/drawing/2014/main" id="{B97B8D0C-0B22-427C-BABD-BC800386A2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6213" y="2366963"/>
            <a:ext cx="420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1/</a:t>
            </a:r>
            <a:endParaRPr lang="en-US" altLang="hi-IN" b="1"/>
          </a:p>
        </p:txBody>
      </p:sp>
      <p:sp>
        <p:nvSpPr>
          <p:cNvPr id="53253" name="Oval 5">
            <a:extLst>
              <a:ext uri="{FF2B5EF4-FFF2-40B4-BE49-F238E27FC236}">
                <a16:creationId xmlns:a16="http://schemas.microsoft.com/office/drawing/2014/main" id="{20AA3545-C94B-427B-8883-A1CD3BC088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8113" y="3719513"/>
            <a:ext cx="590550" cy="576262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53254" name="Text Box 6">
            <a:extLst>
              <a:ext uri="{FF2B5EF4-FFF2-40B4-BE49-F238E27FC236}">
                <a16:creationId xmlns:a16="http://schemas.microsoft.com/office/drawing/2014/main" id="{4BD26936-6A05-4FC7-9970-0D17F44F3C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3363" y="3754438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i-IN" altLang="hi-IN" b="1"/>
          </a:p>
        </p:txBody>
      </p:sp>
      <p:sp>
        <p:nvSpPr>
          <p:cNvPr id="53255" name="Oval 7">
            <a:extLst>
              <a:ext uri="{FF2B5EF4-FFF2-40B4-BE49-F238E27FC236}">
                <a16:creationId xmlns:a16="http://schemas.microsoft.com/office/drawing/2014/main" id="{D786D3C2-5CA5-40A6-A37E-6FAAB9BFC6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9250" y="3713163"/>
            <a:ext cx="590550" cy="576262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b="1"/>
              <a:t>3/</a:t>
            </a:r>
          </a:p>
        </p:txBody>
      </p:sp>
      <p:sp>
        <p:nvSpPr>
          <p:cNvPr id="53256" name="Line 8">
            <a:extLst>
              <a:ext uri="{FF2B5EF4-FFF2-40B4-BE49-F238E27FC236}">
                <a16:creationId xmlns:a16="http://schemas.microsoft.com/office/drawing/2014/main" id="{1C69329D-402F-4305-BFD8-BE6FC31537D5}"/>
              </a:ext>
            </a:extLst>
          </p:cNvPr>
          <p:cNvSpPr>
            <a:spLocks noChangeShapeType="1"/>
          </p:cNvSpPr>
          <p:nvPr/>
        </p:nvSpPr>
        <p:spPr bwMode="auto">
          <a:xfrm>
            <a:off x="3254375" y="4008438"/>
            <a:ext cx="923925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53257" name="Oval 9">
            <a:extLst>
              <a:ext uri="{FF2B5EF4-FFF2-40B4-BE49-F238E27FC236}">
                <a16:creationId xmlns:a16="http://schemas.microsoft.com/office/drawing/2014/main" id="{F73BD1DC-9F66-46EC-9DE8-9DFD8B208E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0388" y="3722688"/>
            <a:ext cx="590550" cy="576262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53258" name="Oval 10">
            <a:extLst>
              <a:ext uri="{FF2B5EF4-FFF2-40B4-BE49-F238E27FC236}">
                <a16:creationId xmlns:a16="http://schemas.microsoft.com/office/drawing/2014/main" id="{185E66F5-4474-4EF6-A927-FEC1447B57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4488" y="2308225"/>
            <a:ext cx="590550" cy="576263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b="1"/>
              <a:t>2/</a:t>
            </a:r>
          </a:p>
        </p:txBody>
      </p:sp>
      <p:sp>
        <p:nvSpPr>
          <p:cNvPr id="53259" name="Oval 11">
            <a:extLst>
              <a:ext uri="{FF2B5EF4-FFF2-40B4-BE49-F238E27FC236}">
                <a16:creationId xmlns:a16="http://schemas.microsoft.com/office/drawing/2014/main" id="{98E14298-AB11-4706-A19E-34B7DBC20D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5625" y="2317750"/>
            <a:ext cx="590550" cy="576263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53260" name="Line 12">
            <a:extLst>
              <a:ext uri="{FF2B5EF4-FFF2-40B4-BE49-F238E27FC236}">
                <a16:creationId xmlns:a16="http://schemas.microsoft.com/office/drawing/2014/main" id="{89FBC500-EAB4-4164-AD03-23F1B0BB431B}"/>
              </a:ext>
            </a:extLst>
          </p:cNvPr>
          <p:cNvSpPr>
            <a:spLocks noChangeShapeType="1"/>
          </p:cNvSpPr>
          <p:nvPr/>
        </p:nvSpPr>
        <p:spPr bwMode="auto">
          <a:xfrm>
            <a:off x="2965450" y="2881313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53261" name="Line 13">
            <a:extLst>
              <a:ext uri="{FF2B5EF4-FFF2-40B4-BE49-F238E27FC236}">
                <a16:creationId xmlns:a16="http://schemas.microsoft.com/office/drawing/2014/main" id="{70A8773D-EAD1-4EC8-B3EB-ED7003BE9FB1}"/>
              </a:ext>
            </a:extLst>
          </p:cNvPr>
          <p:cNvSpPr>
            <a:spLocks noChangeShapeType="1"/>
          </p:cNvSpPr>
          <p:nvPr/>
        </p:nvSpPr>
        <p:spPr bwMode="auto">
          <a:xfrm>
            <a:off x="4446588" y="2890838"/>
            <a:ext cx="0" cy="8429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53262" name="Line 14">
            <a:extLst>
              <a:ext uri="{FF2B5EF4-FFF2-40B4-BE49-F238E27FC236}">
                <a16:creationId xmlns:a16="http://schemas.microsoft.com/office/drawing/2014/main" id="{877AD684-9A1E-431F-92E7-6DC9EB2DF4DC}"/>
              </a:ext>
            </a:extLst>
          </p:cNvPr>
          <p:cNvSpPr>
            <a:spLocks noChangeShapeType="1"/>
          </p:cNvSpPr>
          <p:nvPr/>
        </p:nvSpPr>
        <p:spPr bwMode="auto">
          <a:xfrm>
            <a:off x="5927725" y="2900363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53263" name="Line 15">
            <a:extLst>
              <a:ext uri="{FF2B5EF4-FFF2-40B4-BE49-F238E27FC236}">
                <a16:creationId xmlns:a16="http://schemas.microsoft.com/office/drawing/2014/main" id="{DA961845-C34F-4514-8305-C133341E30C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73413" y="2757488"/>
            <a:ext cx="1023937" cy="10287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53264" name="Text Box 16">
            <a:extLst>
              <a:ext uri="{FF2B5EF4-FFF2-40B4-BE49-F238E27FC236}">
                <a16:creationId xmlns:a16="http://schemas.microsoft.com/office/drawing/2014/main" id="{A07B4BF3-2BEF-4CBA-9D30-9DD9E3AB3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4800" y="19065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u</a:t>
            </a:r>
          </a:p>
        </p:txBody>
      </p:sp>
      <p:sp>
        <p:nvSpPr>
          <p:cNvPr id="53265" name="Text Box 17">
            <a:extLst>
              <a:ext uri="{FF2B5EF4-FFF2-40B4-BE49-F238E27FC236}">
                <a16:creationId xmlns:a16="http://schemas.microsoft.com/office/drawing/2014/main" id="{8F749A5D-036D-4164-B479-95D2650CB7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1650" y="191611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v</a:t>
            </a:r>
          </a:p>
        </p:txBody>
      </p:sp>
      <p:sp>
        <p:nvSpPr>
          <p:cNvPr id="53266" name="Text Box 18">
            <a:extLst>
              <a:ext uri="{FF2B5EF4-FFF2-40B4-BE49-F238E27FC236}">
                <a16:creationId xmlns:a16="http://schemas.microsoft.com/office/drawing/2014/main" id="{106BDF0B-7CDF-4BCC-AAFA-3D2D3CEF22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8500" y="1925638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w</a:t>
            </a:r>
          </a:p>
        </p:txBody>
      </p:sp>
      <p:sp>
        <p:nvSpPr>
          <p:cNvPr id="53267" name="Text Box 19">
            <a:extLst>
              <a:ext uri="{FF2B5EF4-FFF2-40B4-BE49-F238E27FC236}">
                <a16:creationId xmlns:a16="http://schemas.microsoft.com/office/drawing/2014/main" id="{23615F2F-E221-4C6C-94DF-84FD9DC71B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1463" y="420211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x</a:t>
            </a:r>
          </a:p>
        </p:txBody>
      </p:sp>
      <p:sp>
        <p:nvSpPr>
          <p:cNvPr id="53268" name="Text Box 20">
            <a:extLst>
              <a:ext uri="{FF2B5EF4-FFF2-40B4-BE49-F238E27FC236}">
                <a16:creationId xmlns:a16="http://schemas.microsoft.com/office/drawing/2014/main" id="{67AF20BC-2522-4597-9DDC-D60526323A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421163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y</a:t>
            </a:r>
          </a:p>
        </p:txBody>
      </p:sp>
      <p:sp>
        <p:nvSpPr>
          <p:cNvPr id="53269" name="Text Box 21">
            <a:extLst>
              <a:ext uri="{FF2B5EF4-FFF2-40B4-BE49-F238E27FC236}">
                <a16:creationId xmlns:a16="http://schemas.microsoft.com/office/drawing/2014/main" id="{677AEB3F-8E30-4670-AF94-FF10203AFA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8025" y="4206875"/>
            <a:ext cx="319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z</a:t>
            </a:r>
          </a:p>
        </p:txBody>
      </p:sp>
      <p:sp>
        <p:nvSpPr>
          <p:cNvPr id="53270" name="Line 22">
            <a:extLst>
              <a:ext uri="{FF2B5EF4-FFF2-40B4-BE49-F238E27FC236}">
                <a16:creationId xmlns:a16="http://schemas.microsoft.com/office/drawing/2014/main" id="{EAEEFF65-2E42-446A-AF79-26A6B131D5F4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3900" y="2617788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53271" name="Line 23">
            <a:extLst>
              <a:ext uri="{FF2B5EF4-FFF2-40B4-BE49-F238E27FC236}">
                <a16:creationId xmlns:a16="http://schemas.microsoft.com/office/drawing/2014/main" id="{6450050E-6E44-4935-ACF6-3340DF638F5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81538" y="2779713"/>
            <a:ext cx="1023937" cy="10287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53272" name="Freeform 24">
            <a:extLst>
              <a:ext uri="{FF2B5EF4-FFF2-40B4-BE49-F238E27FC236}">
                <a16:creationId xmlns:a16="http://schemas.microsoft.com/office/drawing/2014/main" id="{7A578BCE-B15F-405E-A757-31EE261E8D32}"/>
              </a:ext>
            </a:extLst>
          </p:cNvPr>
          <p:cNvSpPr>
            <a:spLocks/>
          </p:cNvSpPr>
          <p:nvPr/>
        </p:nvSpPr>
        <p:spPr bwMode="auto">
          <a:xfrm>
            <a:off x="6146800" y="3797300"/>
            <a:ext cx="598488" cy="590550"/>
          </a:xfrm>
          <a:custGeom>
            <a:avLst/>
            <a:gdLst>
              <a:gd name="T0" fmla="*/ 0 w 377"/>
              <a:gd name="T1" fmla="*/ 2147483647 h 372"/>
              <a:gd name="T2" fmla="*/ 2147483647 w 377"/>
              <a:gd name="T3" fmla="*/ 2147483647 h 372"/>
              <a:gd name="T4" fmla="*/ 2147483647 w 377"/>
              <a:gd name="T5" fmla="*/ 2147483647 h 372"/>
              <a:gd name="T6" fmla="*/ 2147483647 w 377"/>
              <a:gd name="T7" fmla="*/ 2147483647 h 372"/>
              <a:gd name="T8" fmla="*/ 2147483647 w 377"/>
              <a:gd name="T9" fmla="*/ 2147483647 h 372"/>
              <a:gd name="T10" fmla="*/ 2147483647 w 377"/>
              <a:gd name="T11" fmla="*/ 2147483647 h 3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77"/>
              <a:gd name="T19" fmla="*/ 0 h 372"/>
              <a:gd name="T20" fmla="*/ 377 w 377"/>
              <a:gd name="T21" fmla="*/ 372 h 37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77" h="372">
                <a:moveTo>
                  <a:pt x="0" y="254"/>
                </a:moveTo>
                <a:cubicBezTo>
                  <a:pt x="44" y="304"/>
                  <a:pt x="88" y="354"/>
                  <a:pt x="145" y="363"/>
                </a:cubicBezTo>
                <a:cubicBezTo>
                  <a:pt x="202" y="372"/>
                  <a:pt x="313" y="346"/>
                  <a:pt x="345" y="308"/>
                </a:cubicBezTo>
                <a:cubicBezTo>
                  <a:pt x="377" y="270"/>
                  <a:pt x="359" y="184"/>
                  <a:pt x="336" y="136"/>
                </a:cubicBezTo>
                <a:cubicBezTo>
                  <a:pt x="313" y="88"/>
                  <a:pt x="259" y="34"/>
                  <a:pt x="209" y="17"/>
                </a:cubicBezTo>
                <a:cubicBezTo>
                  <a:pt x="159" y="0"/>
                  <a:pt x="97" y="18"/>
                  <a:pt x="36" y="36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8503EF1-45B8-40F6-90C9-8B3405D6D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70</a:t>
            </a:fld>
            <a:endParaRPr lang="en-US" altLang="hi-IN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2BCEA7B0-7A9C-4E21-B70F-7EFA9ABFBD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i-IN"/>
              <a:t>Example (DFS)</a:t>
            </a:r>
          </a:p>
        </p:txBody>
      </p:sp>
      <p:sp>
        <p:nvSpPr>
          <p:cNvPr id="54275" name="Oval 3">
            <a:extLst>
              <a:ext uri="{FF2B5EF4-FFF2-40B4-BE49-F238E27FC236}">
                <a16:creationId xmlns:a16="http://schemas.microsoft.com/office/drawing/2014/main" id="{CC9820AB-34A3-4D8A-828A-0278E39219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8113" y="2303463"/>
            <a:ext cx="590550" cy="576262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54276" name="Text Box 4">
            <a:extLst>
              <a:ext uri="{FF2B5EF4-FFF2-40B4-BE49-F238E27FC236}">
                <a16:creationId xmlns:a16="http://schemas.microsoft.com/office/drawing/2014/main" id="{E83E1D25-7F48-4311-983C-5B5FD7DD27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6213" y="2366963"/>
            <a:ext cx="420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1/</a:t>
            </a:r>
            <a:endParaRPr lang="en-US" altLang="hi-IN" b="1"/>
          </a:p>
        </p:txBody>
      </p:sp>
      <p:sp>
        <p:nvSpPr>
          <p:cNvPr id="54277" name="Oval 5">
            <a:extLst>
              <a:ext uri="{FF2B5EF4-FFF2-40B4-BE49-F238E27FC236}">
                <a16:creationId xmlns:a16="http://schemas.microsoft.com/office/drawing/2014/main" id="{274906C3-D967-4122-AAD9-206F01C61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8113" y="3719513"/>
            <a:ext cx="590550" cy="576262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b="1"/>
              <a:t>4/</a:t>
            </a:r>
          </a:p>
        </p:txBody>
      </p:sp>
      <p:sp>
        <p:nvSpPr>
          <p:cNvPr id="54278" name="Text Box 6">
            <a:extLst>
              <a:ext uri="{FF2B5EF4-FFF2-40B4-BE49-F238E27FC236}">
                <a16:creationId xmlns:a16="http://schemas.microsoft.com/office/drawing/2014/main" id="{C13AD95D-F749-4339-9735-CC73B0E1F4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3363" y="3754438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i-IN" altLang="hi-IN" b="1"/>
          </a:p>
        </p:txBody>
      </p:sp>
      <p:sp>
        <p:nvSpPr>
          <p:cNvPr id="54279" name="Oval 7">
            <a:extLst>
              <a:ext uri="{FF2B5EF4-FFF2-40B4-BE49-F238E27FC236}">
                <a16:creationId xmlns:a16="http://schemas.microsoft.com/office/drawing/2014/main" id="{C8BD1F6B-7A2A-4DBE-AFC4-6270421B8C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9250" y="3713163"/>
            <a:ext cx="590550" cy="576262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b="1"/>
              <a:t>3/</a:t>
            </a:r>
          </a:p>
        </p:txBody>
      </p:sp>
      <p:sp>
        <p:nvSpPr>
          <p:cNvPr id="54280" name="Line 8">
            <a:extLst>
              <a:ext uri="{FF2B5EF4-FFF2-40B4-BE49-F238E27FC236}">
                <a16:creationId xmlns:a16="http://schemas.microsoft.com/office/drawing/2014/main" id="{7C99EF19-9EA3-4D9B-9D94-0B86C34D382E}"/>
              </a:ext>
            </a:extLst>
          </p:cNvPr>
          <p:cNvSpPr>
            <a:spLocks noChangeShapeType="1"/>
          </p:cNvSpPr>
          <p:nvPr/>
        </p:nvSpPr>
        <p:spPr bwMode="auto">
          <a:xfrm>
            <a:off x="3254375" y="4008438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54281" name="Oval 9">
            <a:extLst>
              <a:ext uri="{FF2B5EF4-FFF2-40B4-BE49-F238E27FC236}">
                <a16:creationId xmlns:a16="http://schemas.microsoft.com/office/drawing/2014/main" id="{FE46C4B9-D7FA-49D9-AE9C-CC0F10A723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0388" y="3722688"/>
            <a:ext cx="590550" cy="576262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54282" name="Oval 10">
            <a:extLst>
              <a:ext uri="{FF2B5EF4-FFF2-40B4-BE49-F238E27FC236}">
                <a16:creationId xmlns:a16="http://schemas.microsoft.com/office/drawing/2014/main" id="{12CC1B9C-EABC-46C0-8BFB-AC602212FC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4488" y="2308225"/>
            <a:ext cx="590550" cy="576263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b="1"/>
              <a:t>2/</a:t>
            </a:r>
          </a:p>
        </p:txBody>
      </p:sp>
      <p:sp>
        <p:nvSpPr>
          <p:cNvPr id="54283" name="Oval 11">
            <a:extLst>
              <a:ext uri="{FF2B5EF4-FFF2-40B4-BE49-F238E27FC236}">
                <a16:creationId xmlns:a16="http://schemas.microsoft.com/office/drawing/2014/main" id="{B869A5EA-8E81-49ED-B0CE-EA19CDDD87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5625" y="2317750"/>
            <a:ext cx="590550" cy="576263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54284" name="Line 12">
            <a:extLst>
              <a:ext uri="{FF2B5EF4-FFF2-40B4-BE49-F238E27FC236}">
                <a16:creationId xmlns:a16="http://schemas.microsoft.com/office/drawing/2014/main" id="{CDF86368-40DE-4C03-A7A2-6A8469847094}"/>
              </a:ext>
            </a:extLst>
          </p:cNvPr>
          <p:cNvSpPr>
            <a:spLocks noChangeShapeType="1"/>
          </p:cNvSpPr>
          <p:nvPr/>
        </p:nvSpPr>
        <p:spPr bwMode="auto">
          <a:xfrm>
            <a:off x="2965450" y="2881313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54285" name="Line 13">
            <a:extLst>
              <a:ext uri="{FF2B5EF4-FFF2-40B4-BE49-F238E27FC236}">
                <a16:creationId xmlns:a16="http://schemas.microsoft.com/office/drawing/2014/main" id="{70AADF66-7C33-47DC-B07D-E71902D26A69}"/>
              </a:ext>
            </a:extLst>
          </p:cNvPr>
          <p:cNvSpPr>
            <a:spLocks noChangeShapeType="1"/>
          </p:cNvSpPr>
          <p:nvPr/>
        </p:nvSpPr>
        <p:spPr bwMode="auto">
          <a:xfrm>
            <a:off x="4446588" y="2890838"/>
            <a:ext cx="0" cy="8429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54286" name="Line 14">
            <a:extLst>
              <a:ext uri="{FF2B5EF4-FFF2-40B4-BE49-F238E27FC236}">
                <a16:creationId xmlns:a16="http://schemas.microsoft.com/office/drawing/2014/main" id="{C1A20C38-3EA1-4B1A-8AD7-13B7FE394E91}"/>
              </a:ext>
            </a:extLst>
          </p:cNvPr>
          <p:cNvSpPr>
            <a:spLocks noChangeShapeType="1"/>
          </p:cNvSpPr>
          <p:nvPr/>
        </p:nvSpPr>
        <p:spPr bwMode="auto">
          <a:xfrm>
            <a:off x="5927725" y="2900363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54287" name="Line 15">
            <a:extLst>
              <a:ext uri="{FF2B5EF4-FFF2-40B4-BE49-F238E27FC236}">
                <a16:creationId xmlns:a16="http://schemas.microsoft.com/office/drawing/2014/main" id="{E1F2D911-3706-4A92-9630-164C6CF6584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73413" y="2757488"/>
            <a:ext cx="1023937" cy="10287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54288" name="Text Box 16">
            <a:extLst>
              <a:ext uri="{FF2B5EF4-FFF2-40B4-BE49-F238E27FC236}">
                <a16:creationId xmlns:a16="http://schemas.microsoft.com/office/drawing/2014/main" id="{9AA6B61F-928B-4491-9BB1-9B11CC16CA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4800" y="19065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u</a:t>
            </a:r>
          </a:p>
        </p:txBody>
      </p:sp>
      <p:sp>
        <p:nvSpPr>
          <p:cNvPr id="54289" name="Text Box 17">
            <a:extLst>
              <a:ext uri="{FF2B5EF4-FFF2-40B4-BE49-F238E27FC236}">
                <a16:creationId xmlns:a16="http://schemas.microsoft.com/office/drawing/2014/main" id="{2BE3102B-38CE-44C2-8EF6-3533F09751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1650" y="191611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v</a:t>
            </a:r>
          </a:p>
        </p:txBody>
      </p:sp>
      <p:sp>
        <p:nvSpPr>
          <p:cNvPr id="54290" name="Text Box 18">
            <a:extLst>
              <a:ext uri="{FF2B5EF4-FFF2-40B4-BE49-F238E27FC236}">
                <a16:creationId xmlns:a16="http://schemas.microsoft.com/office/drawing/2014/main" id="{FB5ECB1F-F9AE-422E-9550-88F9E46CFC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8500" y="1925638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w</a:t>
            </a:r>
          </a:p>
        </p:txBody>
      </p:sp>
      <p:sp>
        <p:nvSpPr>
          <p:cNvPr id="54291" name="Text Box 19">
            <a:extLst>
              <a:ext uri="{FF2B5EF4-FFF2-40B4-BE49-F238E27FC236}">
                <a16:creationId xmlns:a16="http://schemas.microsoft.com/office/drawing/2014/main" id="{763C164A-0428-423C-9ECC-2B7BF8E40C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1463" y="420211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x</a:t>
            </a:r>
          </a:p>
        </p:txBody>
      </p:sp>
      <p:sp>
        <p:nvSpPr>
          <p:cNvPr id="54292" name="Text Box 20">
            <a:extLst>
              <a:ext uri="{FF2B5EF4-FFF2-40B4-BE49-F238E27FC236}">
                <a16:creationId xmlns:a16="http://schemas.microsoft.com/office/drawing/2014/main" id="{B60DD599-16BF-464B-9FB4-14EDFDE5DC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421163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y</a:t>
            </a:r>
          </a:p>
        </p:txBody>
      </p:sp>
      <p:sp>
        <p:nvSpPr>
          <p:cNvPr id="54293" name="Text Box 21">
            <a:extLst>
              <a:ext uri="{FF2B5EF4-FFF2-40B4-BE49-F238E27FC236}">
                <a16:creationId xmlns:a16="http://schemas.microsoft.com/office/drawing/2014/main" id="{92D2203D-DBA3-4020-B1D8-1AE19955B0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8025" y="4206875"/>
            <a:ext cx="319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z</a:t>
            </a:r>
          </a:p>
        </p:txBody>
      </p:sp>
      <p:sp>
        <p:nvSpPr>
          <p:cNvPr id="54294" name="Line 22">
            <a:extLst>
              <a:ext uri="{FF2B5EF4-FFF2-40B4-BE49-F238E27FC236}">
                <a16:creationId xmlns:a16="http://schemas.microsoft.com/office/drawing/2014/main" id="{CB6A8BB6-0E27-49AB-AB59-77702FDA0848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3900" y="2617788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54295" name="Line 23">
            <a:extLst>
              <a:ext uri="{FF2B5EF4-FFF2-40B4-BE49-F238E27FC236}">
                <a16:creationId xmlns:a16="http://schemas.microsoft.com/office/drawing/2014/main" id="{AAE393FB-6D5F-42DC-A705-995BF292141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81538" y="2779713"/>
            <a:ext cx="1023937" cy="10287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54296" name="Freeform 24">
            <a:extLst>
              <a:ext uri="{FF2B5EF4-FFF2-40B4-BE49-F238E27FC236}">
                <a16:creationId xmlns:a16="http://schemas.microsoft.com/office/drawing/2014/main" id="{E6B5E180-8D6C-4BB9-915B-D824D8D2A785}"/>
              </a:ext>
            </a:extLst>
          </p:cNvPr>
          <p:cNvSpPr>
            <a:spLocks/>
          </p:cNvSpPr>
          <p:nvPr/>
        </p:nvSpPr>
        <p:spPr bwMode="auto">
          <a:xfrm>
            <a:off x="6146800" y="3797300"/>
            <a:ext cx="598488" cy="590550"/>
          </a:xfrm>
          <a:custGeom>
            <a:avLst/>
            <a:gdLst>
              <a:gd name="T0" fmla="*/ 0 w 377"/>
              <a:gd name="T1" fmla="*/ 2147483647 h 372"/>
              <a:gd name="T2" fmla="*/ 2147483647 w 377"/>
              <a:gd name="T3" fmla="*/ 2147483647 h 372"/>
              <a:gd name="T4" fmla="*/ 2147483647 w 377"/>
              <a:gd name="T5" fmla="*/ 2147483647 h 372"/>
              <a:gd name="T6" fmla="*/ 2147483647 w 377"/>
              <a:gd name="T7" fmla="*/ 2147483647 h 372"/>
              <a:gd name="T8" fmla="*/ 2147483647 w 377"/>
              <a:gd name="T9" fmla="*/ 2147483647 h 372"/>
              <a:gd name="T10" fmla="*/ 2147483647 w 377"/>
              <a:gd name="T11" fmla="*/ 2147483647 h 3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77"/>
              <a:gd name="T19" fmla="*/ 0 h 372"/>
              <a:gd name="T20" fmla="*/ 377 w 377"/>
              <a:gd name="T21" fmla="*/ 372 h 37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77" h="372">
                <a:moveTo>
                  <a:pt x="0" y="254"/>
                </a:moveTo>
                <a:cubicBezTo>
                  <a:pt x="44" y="304"/>
                  <a:pt x="88" y="354"/>
                  <a:pt x="145" y="363"/>
                </a:cubicBezTo>
                <a:cubicBezTo>
                  <a:pt x="202" y="372"/>
                  <a:pt x="313" y="346"/>
                  <a:pt x="345" y="308"/>
                </a:cubicBezTo>
                <a:cubicBezTo>
                  <a:pt x="377" y="270"/>
                  <a:pt x="359" y="184"/>
                  <a:pt x="336" y="136"/>
                </a:cubicBezTo>
                <a:cubicBezTo>
                  <a:pt x="313" y="88"/>
                  <a:pt x="259" y="34"/>
                  <a:pt x="209" y="17"/>
                </a:cubicBezTo>
                <a:cubicBezTo>
                  <a:pt x="159" y="0"/>
                  <a:pt x="97" y="18"/>
                  <a:pt x="36" y="36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E70B02-D1A7-42B5-A5D2-EC395E950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71</a:t>
            </a:fld>
            <a:endParaRPr lang="en-US" altLang="hi-IN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492F3465-C4EB-444D-A95E-F7196D6A4E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i-IN"/>
              <a:t>Example (DFS)</a:t>
            </a:r>
          </a:p>
        </p:txBody>
      </p:sp>
      <p:sp>
        <p:nvSpPr>
          <p:cNvPr id="55299" name="Oval 3">
            <a:extLst>
              <a:ext uri="{FF2B5EF4-FFF2-40B4-BE49-F238E27FC236}">
                <a16:creationId xmlns:a16="http://schemas.microsoft.com/office/drawing/2014/main" id="{00E297CA-04E7-4099-86FC-F1CF268DB3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8113" y="2303463"/>
            <a:ext cx="590550" cy="576262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55300" name="Text Box 4">
            <a:extLst>
              <a:ext uri="{FF2B5EF4-FFF2-40B4-BE49-F238E27FC236}">
                <a16:creationId xmlns:a16="http://schemas.microsoft.com/office/drawing/2014/main" id="{FA570213-0670-4B6D-B3B9-6A121D0A57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6213" y="2366963"/>
            <a:ext cx="420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1/</a:t>
            </a:r>
            <a:endParaRPr lang="en-US" altLang="hi-IN" b="1"/>
          </a:p>
        </p:txBody>
      </p:sp>
      <p:sp>
        <p:nvSpPr>
          <p:cNvPr id="55301" name="Oval 5">
            <a:extLst>
              <a:ext uri="{FF2B5EF4-FFF2-40B4-BE49-F238E27FC236}">
                <a16:creationId xmlns:a16="http://schemas.microsoft.com/office/drawing/2014/main" id="{2A55F662-A4DE-4105-8952-7F812D6456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8113" y="3719513"/>
            <a:ext cx="590550" cy="576262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b="1"/>
              <a:t>4/</a:t>
            </a:r>
          </a:p>
        </p:txBody>
      </p:sp>
      <p:sp>
        <p:nvSpPr>
          <p:cNvPr id="55302" name="Text Box 6">
            <a:extLst>
              <a:ext uri="{FF2B5EF4-FFF2-40B4-BE49-F238E27FC236}">
                <a16:creationId xmlns:a16="http://schemas.microsoft.com/office/drawing/2014/main" id="{9343AFC9-71DF-4602-BB06-0187CF0F18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3363" y="3754438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i-IN" altLang="hi-IN" b="1"/>
          </a:p>
        </p:txBody>
      </p:sp>
      <p:sp>
        <p:nvSpPr>
          <p:cNvPr id="55303" name="Oval 7">
            <a:extLst>
              <a:ext uri="{FF2B5EF4-FFF2-40B4-BE49-F238E27FC236}">
                <a16:creationId xmlns:a16="http://schemas.microsoft.com/office/drawing/2014/main" id="{F629CDF4-CFD4-4B0C-9970-A896945B4E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9250" y="3713163"/>
            <a:ext cx="590550" cy="576262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b="1"/>
              <a:t>3/</a:t>
            </a:r>
          </a:p>
        </p:txBody>
      </p:sp>
      <p:sp>
        <p:nvSpPr>
          <p:cNvPr id="55304" name="Line 8">
            <a:extLst>
              <a:ext uri="{FF2B5EF4-FFF2-40B4-BE49-F238E27FC236}">
                <a16:creationId xmlns:a16="http://schemas.microsoft.com/office/drawing/2014/main" id="{738ED856-DCDC-4231-8A21-5FAE185AFF4A}"/>
              </a:ext>
            </a:extLst>
          </p:cNvPr>
          <p:cNvSpPr>
            <a:spLocks noChangeShapeType="1"/>
          </p:cNvSpPr>
          <p:nvPr/>
        </p:nvSpPr>
        <p:spPr bwMode="auto">
          <a:xfrm>
            <a:off x="3254375" y="4008438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55305" name="Oval 9">
            <a:extLst>
              <a:ext uri="{FF2B5EF4-FFF2-40B4-BE49-F238E27FC236}">
                <a16:creationId xmlns:a16="http://schemas.microsoft.com/office/drawing/2014/main" id="{59233EF7-3C9E-4027-B39A-70A5B966DC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0388" y="3722688"/>
            <a:ext cx="590550" cy="576262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55306" name="Oval 10">
            <a:extLst>
              <a:ext uri="{FF2B5EF4-FFF2-40B4-BE49-F238E27FC236}">
                <a16:creationId xmlns:a16="http://schemas.microsoft.com/office/drawing/2014/main" id="{901BF15C-6ED3-4923-824E-6924BA74DA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4488" y="2308225"/>
            <a:ext cx="590550" cy="576263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b="1"/>
              <a:t>2/</a:t>
            </a:r>
          </a:p>
        </p:txBody>
      </p:sp>
      <p:sp>
        <p:nvSpPr>
          <p:cNvPr id="55307" name="Oval 11">
            <a:extLst>
              <a:ext uri="{FF2B5EF4-FFF2-40B4-BE49-F238E27FC236}">
                <a16:creationId xmlns:a16="http://schemas.microsoft.com/office/drawing/2014/main" id="{67AD92B6-1764-4CA2-9388-11A1E283E0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5625" y="2317750"/>
            <a:ext cx="590550" cy="576263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55308" name="Line 12">
            <a:extLst>
              <a:ext uri="{FF2B5EF4-FFF2-40B4-BE49-F238E27FC236}">
                <a16:creationId xmlns:a16="http://schemas.microsoft.com/office/drawing/2014/main" id="{55EEF7C1-CC52-40CA-938E-273B159AB830}"/>
              </a:ext>
            </a:extLst>
          </p:cNvPr>
          <p:cNvSpPr>
            <a:spLocks noChangeShapeType="1"/>
          </p:cNvSpPr>
          <p:nvPr/>
        </p:nvSpPr>
        <p:spPr bwMode="auto">
          <a:xfrm>
            <a:off x="2965450" y="2881313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55309" name="Line 13">
            <a:extLst>
              <a:ext uri="{FF2B5EF4-FFF2-40B4-BE49-F238E27FC236}">
                <a16:creationId xmlns:a16="http://schemas.microsoft.com/office/drawing/2014/main" id="{81224A78-174D-4140-BF64-CB7AA3AE97E5}"/>
              </a:ext>
            </a:extLst>
          </p:cNvPr>
          <p:cNvSpPr>
            <a:spLocks noChangeShapeType="1"/>
          </p:cNvSpPr>
          <p:nvPr/>
        </p:nvSpPr>
        <p:spPr bwMode="auto">
          <a:xfrm>
            <a:off x="4446588" y="2890838"/>
            <a:ext cx="0" cy="8429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55310" name="Line 14">
            <a:extLst>
              <a:ext uri="{FF2B5EF4-FFF2-40B4-BE49-F238E27FC236}">
                <a16:creationId xmlns:a16="http://schemas.microsoft.com/office/drawing/2014/main" id="{A5E4C607-3B6B-4EDD-8B84-69DFFDA9FE7C}"/>
              </a:ext>
            </a:extLst>
          </p:cNvPr>
          <p:cNvSpPr>
            <a:spLocks noChangeShapeType="1"/>
          </p:cNvSpPr>
          <p:nvPr/>
        </p:nvSpPr>
        <p:spPr bwMode="auto">
          <a:xfrm>
            <a:off x="5927725" y="2900363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55311" name="Line 15">
            <a:extLst>
              <a:ext uri="{FF2B5EF4-FFF2-40B4-BE49-F238E27FC236}">
                <a16:creationId xmlns:a16="http://schemas.microsoft.com/office/drawing/2014/main" id="{A1D68F5C-6C2D-4F55-8A3C-DAD083B9A8B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73413" y="2757488"/>
            <a:ext cx="1023937" cy="102870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55312" name="Text Box 16">
            <a:extLst>
              <a:ext uri="{FF2B5EF4-FFF2-40B4-BE49-F238E27FC236}">
                <a16:creationId xmlns:a16="http://schemas.microsoft.com/office/drawing/2014/main" id="{7678DFBD-CFE7-4D38-B4A2-00B9195484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4800" y="19065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u</a:t>
            </a:r>
          </a:p>
        </p:txBody>
      </p:sp>
      <p:sp>
        <p:nvSpPr>
          <p:cNvPr id="55313" name="Text Box 17">
            <a:extLst>
              <a:ext uri="{FF2B5EF4-FFF2-40B4-BE49-F238E27FC236}">
                <a16:creationId xmlns:a16="http://schemas.microsoft.com/office/drawing/2014/main" id="{B0673EDA-A738-415C-A33F-FCE1C28210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1650" y="191611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v</a:t>
            </a:r>
          </a:p>
        </p:txBody>
      </p:sp>
      <p:sp>
        <p:nvSpPr>
          <p:cNvPr id="55314" name="Text Box 18">
            <a:extLst>
              <a:ext uri="{FF2B5EF4-FFF2-40B4-BE49-F238E27FC236}">
                <a16:creationId xmlns:a16="http://schemas.microsoft.com/office/drawing/2014/main" id="{C6069356-34D7-46AD-A017-0451A32C1D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8500" y="1925638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w</a:t>
            </a:r>
          </a:p>
        </p:txBody>
      </p:sp>
      <p:sp>
        <p:nvSpPr>
          <p:cNvPr id="55315" name="Text Box 19">
            <a:extLst>
              <a:ext uri="{FF2B5EF4-FFF2-40B4-BE49-F238E27FC236}">
                <a16:creationId xmlns:a16="http://schemas.microsoft.com/office/drawing/2014/main" id="{E2DB1FE5-3B58-4D7D-B3B1-C6344B24E7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1463" y="420211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x</a:t>
            </a:r>
          </a:p>
        </p:txBody>
      </p:sp>
      <p:sp>
        <p:nvSpPr>
          <p:cNvPr id="55316" name="Text Box 20">
            <a:extLst>
              <a:ext uri="{FF2B5EF4-FFF2-40B4-BE49-F238E27FC236}">
                <a16:creationId xmlns:a16="http://schemas.microsoft.com/office/drawing/2014/main" id="{F75FFA34-C722-4E96-B5A3-CDED3CD877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421163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y</a:t>
            </a:r>
          </a:p>
        </p:txBody>
      </p:sp>
      <p:sp>
        <p:nvSpPr>
          <p:cNvPr id="55317" name="Text Box 21">
            <a:extLst>
              <a:ext uri="{FF2B5EF4-FFF2-40B4-BE49-F238E27FC236}">
                <a16:creationId xmlns:a16="http://schemas.microsoft.com/office/drawing/2014/main" id="{6BDE2FF6-283A-40E3-9C07-2E162AD295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8025" y="4206875"/>
            <a:ext cx="319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z</a:t>
            </a:r>
          </a:p>
        </p:txBody>
      </p:sp>
      <p:sp>
        <p:nvSpPr>
          <p:cNvPr id="55318" name="Line 22">
            <a:extLst>
              <a:ext uri="{FF2B5EF4-FFF2-40B4-BE49-F238E27FC236}">
                <a16:creationId xmlns:a16="http://schemas.microsoft.com/office/drawing/2014/main" id="{4F54360E-5EAD-4772-808A-E5F344DF1064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3900" y="2617788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55319" name="Line 23">
            <a:extLst>
              <a:ext uri="{FF2B5EF4-FFF2-40B4-BE49-F238E27FC236}">
                <a16:creationId xmlns:a16="http://schemas.microsoft.com/office/drawing/2014/main" id="{659D6024-57CB-495F-92C0-B1B1268EA5D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81538" y="2779713"/>
            <a:ext cx="1023937" cy="10287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55320" name="Freeform 24">
            <a:extLst>
              <a:ext uri="{FF2B5EF4-FFF2-40B4-BE49-F238E27FC236}">
                <a16:creationId xmlns:a16="http://schemas.microsoft.com/office/drawing/2014/main" id="{697E3C96-AE0A-4983-92FF-A2003EDCC5B7}"/>
              </a:ext>
            </a:extLst>
          </p:cNvPr>
          <p:cNvSpPr>
            <a:spLocks/>
          </p:cNvSpPr>
          <p:nvPr/>
        </p:nvSpPr>
        <p:spPr bwMode="auto">
          <a:xfrm>
            <a:off x="6146800" y="3797300"/>
            <a:ext cx="598488" cy="590550"/>
          </a:xfrm>
          <a:custGeom>
            <a:avLst/>
            <a:gdLst>
              <a:gd name="T0" fmla="*/ 0 w 377"/>
              <a:gd name="T1" fmla="*/ 2147483647 h 372"/>
              <a:gd name="T2" fmla="*/ 2147483647 w 377"/>
              <a:gd name="T3" fmla="*/ 2147483647 h 372"/>
              <a:gd name="T4" fmla="*/ 2147483647 w 377"/>
              <a:gd name="T5" fmla="*/ 2147483647 h 372"/>
              <a:gd name="T6" fmla="*/ 2147483647 w 377"/>
              <a:gd name="T7" fmla="*/ 2147483647 h 372"/>
              <a:gd name="T8" fmla="*/ 2147483647 w 377"/>
              <a:gd name="T9" fmla="*/ 2147483647 h 372"/>
              <a:gd name="T10" fmla="*/ 2147483647 w 377"/>
              <a:gd name="T11" fmla="*/ 2147483647 h 3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77"/>
              <a:gd name="T19" fmla="*/ 0 h 372"/>
              <a:gd name="T20" fmla="*/ 377 w 377"/>
              <a:gd name="T21" fmla="*/ 372 h 37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77" h="372">
                <a:moveTo>
                  <a:pt x="0" y="254"/>
                </a:moveTo>
                <a:cubicBezTo>
                  <a:pt x="44" y="304"/>
                  <a:pt x="88" y="354"/>
                  <a:pt x="145" y="363"/>
                </a:cubicBezTo>
                <a:cubicBezTo>
                  <a:pt x="202" y="372"/>
                  <a:pt x="313" y="346"/>
                  <a:pt x="345" y="308"/>
                </a:cubicBezTo>
                <a:cubicBezTo>
                  <a:pt x="377" y="270"/>
                  <a:pt x="359" y="184"/>
                  <a:pt x="336" y="136"/>
                </a:cubicBezTo>
                <a:cubicBezTo>
                  <a:pt x="313" y="88"/>
                  <a:pt x="259" y="34"/>
                  <a:pt x="209" y="17"/>
                </a:cubicBezTo>
                <a:cubicBezTo>
                  <a:pt x="159" y="0"/>
                  <a:pt x="97" y="18"/>
                  <a:pt x="36" y="36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55321" name="Text Box 25">
            <a:extLst>
              <a:ext uri="{FF2B5EF4-FFF2-40B4-BE49-F238E27FC236}">
                <a16:creationId xmlns:a16="http://schemas.microsoft.com/office/drawing/2014/main" id="{427FAC7C-3B6C-4316-B12A-409D0DBFB4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7563" y="2951163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/>
              <a:t>B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B646D0-69E9-4074-9D77-54283D88E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72</a:t>
            </a:fld>
            <a:endParaRPr lang="en-US" altLang="hi-IN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43D03A1F-FD11-4C33-A265-1C29C8A9DF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i-IN"/>
              <a:t>Example (DFS)</a:t>
            </a:r>
          </a:p>
        </p:txBody>
      </p:sp>
      <p:sp>
        <p:nvSpPr>
          <p:cNvPr id="56323" name="Oval 3">
            <a:extLst>
              <a:ext uri="{FF2B5EF4-FFF2-40B4-BE49-F238E27FC236}">
                <a16:creationId xmlns:a16="http://schemas.microsoft.com/office/drawing/2014/main" id="{F5918992-22E1-44D2-98BE-25A0DAC2AF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8113" y="2303463"/>
            <a:ext cx="590550" cy="576262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56324" name="Text Box 4">
            <a:extLst>
              <a:ext uri="{FF2B5EF4-FFF2-40B4-BE49-F238E27FC236}">
                <a16:creationId xmlns:a16="http://schemas.microsoft.com/office/drawing/2014/main" id="{4F47D8AA-9C9B-4AEA-A960-0D85CC5213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6213" y="2366963"/>
            <a:ext cx="420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1/</a:t>
            </a:r>
            <a:endParaRPr lang="en-US" altLang="hi-IN" b="1"/>
          </a:p>
        </p:txBody>
      </p:sp>
      <p:sp>
        <p:nvSpPr>
          <p:cNvPr id="56325" name="Oval 5">
            <a:extLst>
              <a:ext uri="{FF2B5EF4-FFF2-40B4-BE49-F238E27FC236}">
                <a16:creationId xmlns:a16="http://schemas.microsoft.com/office/drawing/2014/main" id="{C3ADE337-9F90-4DA7-96A9-7115AEFC88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8113" y="3719513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b="1"/>
              <a:t>4/5</a:t>
            </a:r>
          </a:p>
        </p:txBody>
      </p:sp>
      <p:sp>
        <p:nvSpPr>
          <p:cNvPr id="56326" name="Text Box 6">
            <a:extLst>
              <a:ext uri="{FF2B5EF4-FFF2-40B4-BE49-F238E27FC236}">
                <a16:creationId xmlns:a16="http://schemas.microsoft.com/office/drawing/2014/main" id="{56039FF8-A6A8-4BDB-9FAC-557B0B48A1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3363" y="3754438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i-IN" altLang="hi-IN" b="1"/>
          </a:p>
        </p:txBody>
      </p:sp>
      <p:sp>
        <p:nvSpPr>
          <p:cNvPr id="56327" name="Oval 7">
            <a:extLst>
              <a:ext uri="{FF2B5EF4-FFF2-40B4-BE49-F238E27FC236}">
                <a16:creationId xmlns:a16="http://schemas.microsoft.com/office/drawing/2014/main" id="{BCA78974-523E-42A9-89F0-9F13953C7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9250" y="3713163"/>
            <a:ext cx="590550" cy="576262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b="1"/>
              <a:t>3/</a:t>
            </a:r>
          </a:p>
        </p:txBody>
      </p:sp>
      <p:sp>
        <p:nvSpPr>
          <p:cNvPr id="56328" name="Line 8">
            <a:extLst>
              <a:ext uri="{FF2B5EF4-FFF2-40B4-BE49-F238E27FC236}">
                <a16:creationId xmlns:a16="http://schemas.microsoft.com/office/drawing/2014/main" id="{FE1BBD1E-8CE7-4ECF-8364-FAE7EBEBB13D}"/>
              </a:ext>
            </a:extLst>
          </p:cNvPr>
          <p:cNvSpPr>
            <a:spLocks noChangeShapeType="1"/>
          </p:cNvSpPr>
          <p:nvPr/>
        </p:nvSpPr>
        <p:spPr bwMode="auto">
          <a:xfrm>
            <a:off x="3254375" y="4008438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56329" name="Oval 9">
            <a:extLst>
              <a:ext uri="{FF2B5EF4-FFF2-40B4-BE49-F238E27FC236}">
                <a16:creationId xmlns:a16="http://schemas.microsoft.com/office/drawing/2014/main" id="{09D77331-61BA-4322-8378-005FE95CE7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0388" y="3722688"/>
            <a:ext cx="590550" cy="576262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56330" name="Oval 10">
            <a:extLst>
              <a:ext uri="{FF2B5EF4-FFF2-40B4-BE49-F238E27FC236}">
                <a16:creationId xmlns:a16="http://schemas.microsoft.com/office/drawing/2014/main" id="{5EEB7B79-B4EC-45BD-AD7F-2514F3210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4488" y="2308225"/>
            <a:ext cx="590550" cy="576263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b="1"/>
              <a:t>2/</a:t>
            </a:r>
          </a:p>
        </p:txBody>
      </p:sp>
      <p:sp>
        <p:nvSpPr>
          <p:cNvPr id="56331" name="Oval 11">
            <a:extLst>
              <a:ext uri="{FF2B5EF4-FFF2-40B4-BE49-F238E27FC236}">
                <a16:creationId xmlns:a16="http://schemas.microsoft.com/office/drawing/2014/main" id="{11C70E41-DC2D-4730-B8CC-B31288113B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5625" y="2317750"/>
            <a:ext cx="590550" cy="576263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56332" name="Line 12">
            <a:extLst>
              <a:ext uri="{FF2B5EF4-FFF2-40B4-BE49-F238E27FC236}">
                <a16:creationId xmlns:a16="http://schemas.microsoft.com/office/drawing/2014/main" id="{ADCC9D63-3B12-4DBB-99FB-DCE9390403FB}"/>
              </a:ext>
            </a:extLst>
          </p:cNvPr>
          <p:cNvSpPr>
            <a:spLocks noChangeShapeType="1"/>
          </p:cNvSpPr>
          <p:nvPr/>
        </p:nvSpPr>
        <p:spPr bwMode="auto">
          <a:xfrm>
            <a:off x="2965450" y="2881313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56333" name="Line 13">
            <a:extLst>
              <a:ext uri="{FF2B5EF4-FFF2-40B4-BE49-F238E27FC236}">
                <a16:creationId xmlns:a16="http://schemas.microsoft.com/office/drawing/2014/main" id="{BB785490-F6B7-4C61-96E7-02D38E43B0F3}"/>
              </a:ext>
            </a:extLst>
          </p:cNvPr>
          <p:cNvSpPr>
            <a:spLocks noChangeShapeType="1"/>
          </p:cNvSpPr>
          <p:nvPr/>
        </p:nvSpPr>
        <p:spPr bwMode="auto">
          <a:xfrm>
            <a:off x="4446588" y="2890838"/>
            <a:ext cx="0" cy="8429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56334" name="Line 14">
            <a:extLst>
              <a:ext uri="{FF2B5EF4-FFF2-40B4-BE49-F238E27FC236}">
                <a16:creationId xmlns:a16="http://schemas.microsoft.com/office/drawing/2014/main" id="{42712F86-D12D-4F52-ACD5-537D317BC007}"/>
              </a:ext>
            </a:extLst>
          </p:cNvPr>
          <p:cNvSpPr>
            <a:spLocks noChangeShapeType="1"/>
          </p:cNvSpPr>
          <p:nvPr/>
        </p:nvSpPr>
        <p:spPr bwMode="auto">
          <a:xfrm>
            <a:off x="5927725" y="2900363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56335" name="Line 15">
            <a:extLst>
              <a:ext uri="{FF2B5EF4-FFF2-40B4-BE49-F238E27FC236}">
                <a16:creationId xmlns:a16="http://schemas.microsoft.com/office/drawing/2014/main" id="{00FB8250-B337-4C0B-A867-B8BF0C5543F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73413" y="2757488"/>
            <a:ext cx="1023937" cy="102870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56336" name="Text Box 16">
            <a:extLst>
              <a:ext uri="{FF2B5EF4-FFF2-40B4-BE49-F238E27FC236}">
                <a16:creationId xmlns:a16="http://schemas.microsoft.com/office/drawing/2014/main" id="{02CDF38A-CD0C-4C56-BCBB-596ACF35E3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4800" y="19065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u</a:t>
            </a:r>
          </a:p>
        </p:txBody>
      </p:sp>
      <p:sp>
        <p:nvSpPr>
          <p:cNvPr id="56337" name="Text Box 17">
            <a:extLst>
              <a:ext uri="{FF2B5EF4-FFF2-40B4-BE49-F238E27FC236}">
                <a16:creationId xmlns:a16="http://schemas.microsoft.com/office/drawing/2014/main" id="{7DD4DA49-598A-49F8-B792-9697AD2865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1650" y="191611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v</a:t>
            </a:r>
          </a:p>
        </p:txBody>
      </p:sp>
      <p:sp>
        <p:nvSpPr>
          <p:cNvPr id="56338" name="Text Box 18">
            <a:extLst>
              <a:ext uri="{FF2B5EF4-FFF2-40B4-BE49-F238E27FC236}">
                <a16:creationId xmlns:a16="http://schemas.microsoft.com/office/drawing/2014/main" id="{A52F1D35-BF67-43D1-AF4B-C66EAB5291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8500" y="1925638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w</a:t>
            </a:r>
          </a:p>
        </p:txBody>
      </p:sp>
      <p:sp>
        <p:nvSpPr>
          <p:cNvPr id="56339" name="Text Box 19">
            <a:extLst>
              <a:ext uri="{FF2B5EF4-FFF2-40B4-BE49-F238E27FC236}">
                <a16:creationId xmlns:a16="http://schemas.microsoft.com/office/drawing/2014/main" id="{94DE169C-A5D8-4EAD-B657-B82326BDE1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1463" y="420211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x</a:t>
            </a:r>
          </a:p>
        </p:txBody>
      </p:sp>
      <p:sp>
        <p:nvSpPr>
          <p:cNvPr id="56340" name="Text Box 20">
            <a:extLst>
              <a:ext uri="{FF2B5EF4-FFF2-40B4-BE49-F238E27FC236}">
                <a16:creationId xmlns:a16="http://schemas.microsoft.com/office/drawing/2014/main" id="{628B9CAA-7F0C-40D1-B040-4FB30B414C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421163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y</a:t>
            </a:r>
          </a:p>
        </p:txBody>
      </p:sp>
      <p:sp>
        <p:nvSpPr>
          <p:cNvPr id="56341" name="Text Box 21">
            <a:extLst>
              <a:ext uri="{FF2B5EF4-FFF2-40B4-BE49-F238E27FC236}">
                <a16:creationId xmlns:a16="http://schemas.microsoft.com/office/drawing/2014/main" id="{9920E5C2-2488-4930-A19A-3BF572916A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8025" y="4206875"/>
            <a:ext cx="319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z</a:t>
            </a:r>
          </a:p>
        </p:txBody>
      </p:sp>
      <p:sp>
        <p:nvSpPr>
          <p:cNvPr id="56342" name="Line 22">
            <a:extLst>
              <a:ext uri="{FF2B5EF4-FFF2-40B4-BE49-F238E27FC236}">
                <a16:creationId xmlns:a16="http://schemas.microsoft.com/office/drawing/2014/main" id="{E5ED2785-2DDC-43F6-B50A-573A3BF9FB8A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3900" y="2617788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56343" name="Line 23">
            <a:extLst>
              <a:ext uri="{FF2B5EF4-FFF2-40B4-BE49-F238E27FC236}">
                <a16:creationId xmlns:a16="http://schemas.microsoft.com/office/drawing/2014/main" id="{C0F509A9-B2E4-4685-B508-AE987162191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81538" y="2779713"/>
            <a:ext cx="1023937" cy="10287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56344" name="Freeform 24">
            <a:extLst>
              <a:ext uri="{FF2B5EF4-FFF2-40B4-BE49-F238E27FC236}">
                <a16:creationId xmlns:a16="http://schemas.microsoft.com/office/drawing/2014/main" id="{F96F6AB4-4110-46FC-B6B1-713D12CB3631}"/>
              </a:ext>
            </a:extLst>
          </p:cNvPr>
          <p:cNvSpPr>
            <a:spLocks/>
          </p:cNvSpPr>
          <p:nvPr/>
        </p:nvSpPr>
        <p:spPr bwMode="auto">
          <a:xfrm>
            <a:off x="6146800" y="3797300"/>
            <a:ext cx="598488" cy="590550"/>
          </a:xfrm>
          <a:custGeom>
            <a:avLst/>
            <a:gdLst>
              <a:gd name="T0" fmla="*/ 0 w 377"/>
              <a:gd name="T1" fmla="*/ 2147483647 h 372"/>
              <a:gd name="T2" fmla="*/ 2147483647 w 377"/>
              <a:gd name="T3" fmla="*/ 2147483647 h 372"/>
              <a:gd name="T4" fmla="*/ 2147483647 w 377"/>
              <a:gd name="T5" fmla="*/ 2147483647 h 372"/>
              <a:gd name="T6" fmla="*/ 2147483647 w 377"/>
              <a:gd name="T7" fmla="*/ 2147483647 h 372"/>
              <a:gd name="T8" fmla="*/ 2147483647 w 377"/>
              <a:gd name="T9" fmla="*/ 2147483647 h 372"/>
              <a:gd name="T10" fmla="*/ 2147483647 w 377"/>
              <a:gd name="T11" fmla="*/ 2147483647 h 3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77"/>
              <a:gd name="T19" fmla="*/ 0 h 372"/>
              <a:gd name="T20" fmla="*/ 377 w 377"/>
              <a:gd name="T21" fmla="*/ 372 h 37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77" h="372">
                <a:moveTo>
                  <a:pt x="0" y="254"/>
                </a:moveTo>
                <a:cubicBezTo>
                  <a:pt x="44" y="304"/>
                  <a:pt x="88" y="354"/>
                  <a:pt x="145" y="363"/>
                </a:cubicBezTo>
                <a:cubicBezTo>
                  <a:pt x="202" y="372"/>
                  <a:pt x="313" y="346"/>
                  <a:pt x="345" y="308"/>
                </a:cubicBezTo>
                <a:cubicBezTo>
                  <a:pt x="377" y="270"/>
                  <a:pt x="359" y="184"/>
                  <a:pt x="336" y="136"/>
                </a:cubicBezTo>
                <a:cubicBezTo>
                  <a:pt x="313" y="88"/>
                  <a:pt x="259" y="34"/>
                  <a:pt x="209" y="17"/>
                </a:cubicBezTo>
                <a:cubicBezTo>
                  <a:pt x="159" y="0"/>
                  <a:pt x="97" y="18"/>
                  <a:pt x="36" y="36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56345" name="Text Box 25">
            <a:extLst>
              <a:ext uri="{FF2B5EF4-FFF2-40B4-BE49-F238E27FC236}">
                <a16:creationId xmlns:a16="http://schemas.microsoft.com/office/drawing/2014/main" id="{68E52F2E-A64A-4B5C-A23C-E1B159752E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7563" y="2951163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/>
              <a:t>B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6EC722-F1C8-4963-9634-87527333C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73</a:t>
            </a:fld>
            <a:endParaRPr lang="en-US" altLang="hi-IN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5AAC4C76-076C-48FF-80D8-D0C98FF763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i-IN"/>
              <a:t>Example (DFS)</a:t>
            </a:r>
          </a:p>
        </p:txBody>
      </p:sp>
      <p:sp>
        <p:nvSpPr>
          <p:cNvPr id="57347" name="Oval 3">
            <a:extLst>
              <a:ext uri="{FF2B5EF4-FFF2-40B4-BE49-F238E27FC236}">
                <a16:creationId xmlns:a16="http://schemas.microsoft.com/office/drawing/2014/main" id="{1ED223CD-1E16-46CD-BC87-E288F0759A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8113" y="2303463"/>
            <a:ext cx="590550" cy="576262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57348" name="Text Box 4">
            <a:extLst>
              <a:ext uri="{FF2B5EF4-FFF2-40B4-BE49-F238E27FC236}">
                <a16:creationId xmlns:a16="http://schemas.microsoft.com/office/drawing/2014/main" id="{FD167E24-3EE6-40E8-BD98-C1F2D5F58E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6213" y="2366963"/>
            <a:ext cx="420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1/</a:t>
            </a:r>
            <a:endParaRPr lang="en-US" altLang="hi-IN" b="1"/>
          </a:p>
        </p:txBody>
      </p:sp>
      <p:sp>
        <p:nvSpPr>
          <p:cNvPr id="57349" name="Oval 5">
            <a:extLst>
              <a:ext uri="{FF2B5EF4-FFF2-40B4-BE49-F238E27FC236}">
                <a16:creationId xmlns:a16="http://schemas.microsoft.com/office/drawing/2014/main" id="{DD722C32-9C5C-433B-A5A3-8FB93EB299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8113" y="3719513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b="1"/>
              <a:t>4/5</a:t>
            </a:r>
          </a:p>
        </p:txBody>
      </p:sp>
      <p:sp>
        <p:nvSpPr>
          <p:cNvPr id="57350" name="Text Box 6">
            <a:extLst>
              <a:ext uri="{FF2B5EF4-FFF2-40B4-BE49-F238E27FC236}">
                <a16:creationId xmlns:a16="http://schemas.microsoft.com/office/drawing/2014/main" id="{4B777186-CD7C-43EB-8071-A2828A7843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3363" y="3754438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i-IN" altLang="hi-IN" b="1"/>
          </a:p>
        </p:txBody>
      </p:sp>
      <p:sp>
        <p:nvSpPr>
          <p:cNvPr id="57351" name="Oval 7">
            <a:extLst>
              <a:ext uri="{FF2B5EF4-FFF2-40B4-BE49-F238E27FC236}">
                <a16:creationId xmlns:a16="http://schemas.microsoft.com/office/drawing/2014/main" id="{82E67DC2-F265-4E56-B890-D92702C38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9250" y="3713163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b="1"/>
              <a:t>3/6</a:t>
            </a:r>
          </a:p>
        </p:txBody>
      </p:sp>
      <p:sp>
        <p:nvSpPr>
          <p:cNvPr id="57352" name="Line 8">
            <a:extLst>
              <a:ext uri="{FF2B5EF4-FFF2-40B4-BE49-F238E27FC236}">
                <a16:creationId xmlns:a16="http://schemas.microsoft.com/office/drawing/2014/main" id="{778EEB56-CB5A-47B2-8FCD-19261B3A62A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54375" y="4008438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57353" name="Oval 9">
            <a:extLst>
              <a:ext uri="{FF2B5EF4-FFF2-40B4-BE49-F238E27FC236}">
                <a16:creationId xmlns:a16="http://schemas.microsoft.com/office/drawing/2014/main" id="{2452FE41-9E1A-4313-AA37-98CE234BF5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0388" y="3722688"/>
            <a:ext cx="590550" cy="576262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57354" name="Oval 10">
            <a:extLst>
              <a:ext uri="{FF2B5EF4-FFF2-40B4-BE49-F238E27FC236}">
                <a16:creationId xmlns:a16="http://schemas.microsoft.com/office/drawing/2014/main" id="{2A0BBD8A-4B67-4552-A42A-5C154598DA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4488" y="2308225"/>
            <a:ext cx="590550" cy="576263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b="1"/>
              <a:t>2/</a:t>
            </a:r>
          </a:p>
        </p:txBody>
      </p:sp>
      <p:sp>
        <p:nvSpPr>
          <p:cNvPr id="57355" name="Oval 11">
            <a:extLst>
              <a:ext uri="{FF2B5EF4-FFF2-40B4-BE49-F238E27FC236}">
                <a16:creationId xmlns:a16="http://schemas.microsoft.com/office/drawing/2014/main" id="{5D605347-04D7-45C0-B47D-3E4C2529DF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5625" y="2317750"/>
            <a:ext cx="590550" cy="576263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57356" name="Line 12">
            <a:extLst>
              <a:ext uri="{FF2B5EF4-FFF2-40B4-BE49-F238E27FC236}">
                <a16:creationId xmlns:a16="http://schemas.microsoft.com/office/drawing/2014/main" id="{B6235FCD-9161-4D83-83B1-F13F723DE723}"/>
              </a:ext>
            </a:extLst>
          </p:cNvPr>
          <p:cNvSpPr>
            <a:spLocks noChangeShapeType="1"/>
          </p:cNvSpPr>
          <p:nvPr/>
        </p:nvSpPr>
        <p:spPr bwMode="auto">
          <a:xfrm>
            <a:off x="2965450" y="2881313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57357" name="Line 13">
            <a:extLst>
              <a:ext uri="{FF2B5EF4-FFF2-40B4-BE49-F238E27FC236}">
                <a16:creationId xmlns:a16="http://schemas.microsoft.com/office/drawing/2014/main" id="{A7D4092B-CC6F-4E51-8D2F-0AB53AB2D1EF}"/>
              </a:ext>
            </a:extLst>
          </p:cNvPr>
          <p:cNvSpPr>
            <a:spLocks noChangeShapeType="1"/>
          </p:cNvSpPr>
          <p:nvPr/>
        </p:nvSpPr>
        <p:spPr bwMode="auto">
          <a:xfrm>
            <a:off x="4446588" y="2890838"/>
            <a:ext cx="0" cy="8429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57358" name="Line 14">
            <a:extLst>
              <a:ext uri="{FF2B5EF4-FFF2-40B4-BE49-F238E27FC236}">
                <a16:creationId xmlns:a16="http://schemas.microsoft.com/office/drawing/2014/main" id="{D4EA1809-6303-4A82-92F2-8F860A68DEF6}"/>
              </a:ext>
            </a:extLst>
          </p:cNvPr>
          <p:cNvSpPr>
            <a:spLocks noChangeShapeType="1"/>
          </p:cNvSpPr>
          <p:nvPr/>
        </p:nvSpPr>
        <p:spPr bwMode="auto">
          <a:xfrm>
            <a:off x="5927725" y="2900363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57359" name="Line 15">
            <a:extLst>
              <a:ext uri="{FF2B5EF4-FFF2-40B4-BE49-F238E27FC236}">
                <a16:creationId xmlns:a16="http://schemas.microsoft.com/office/drawing/2014/main" id="{BC43415C-3FC4-41C1-AA85-CF59F608151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73413" y="2757488"/>
            <a:ext cx="1023937" cy="102870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57360" name="Text Box 16">
            <a:extLst>
              <a:ext uri="{FF2B5EF4-FFF2-40B4-BE49-F238E27FC236}">
                <a16:creationId xmlns:a16="http://schemas.microsoft.com/office/drawing/2014/main" id="{0605214C-F63B-45ED-A0DF-F38530077C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4800" y="19065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u</a:t>
            </a:r>
          </a:p>
        </p:txBody>
      </p:sp>
      <p:sp>
        <p:nvSpPr>
          <p:cNvPr id="57361" name="Text Box 17">
            <a:extLst>
              <a:ext uri="{FF2B5EF4-FFF2-40B4-BE49-F238E27FC236}">
                <a16:creationId xmlns:a16="http://schemas.microsoft.com/office/drawing/2014/main" id="{747A952F-3369-4FC8-A536-F933A54389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1650" y="191611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v</a:t>
            </a:r>
          </a:p>
        </p:txBody>
      </p:sp>
      <p:sp>
        <p:nvSpPr>
          <p:cNvPr id="57362" name="Text Box 18">
            <a:extLst>
              <a:ext uri="{FF2B5EF4-FFF2-40B4-BE49-F238E27FC236}">
                <a16:creationId xmlns:a16="http://schemas.microsoft.com/office/drawing/2014/main" id="{D9B98A8E-BC31-4864-AA5C-686BDE6DB9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8500" y="1925638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w</a:t>
            </a:r>
          </a:p>
        </p:txBody>
      </p:sp>
      <p:sp>
        <p:nvSpPr>
          <p:cNvPr id="57363" name="Text Box 19">
            <a:extLst>
              <a:ext uri="{FF2B5EF4-FFF2-40B4-BE49-F238E27FC236}">
                <a16:creationId xmlns:a16="http://schemas.microsoft.com/office/drawing/2014/main" id="{13BD4C85-E283-431E-91C9-89729DEEBF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1463" y="420211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x</a:t>
            </a:r>
          </a:p>
        </p:txBody>
      </p:sp>
      <p:sp>
        <p:nvSpPr>
          <p:cNvPr id="57364" name="Text Box 20">
            <a:extLst>
              <a:ext uri="{FF2B5EF4-FFF2-40B4-BE49-F238E27FC236}">
                <a16:creationId xmlns:a16="http://schemas.microsoft.com/office/drawing/2014/main" id="{8B95BC3E-1AC9-4A2C-88AF-FAF4C6C9FC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421163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y</a:t>
            </a:r>
          </a:p>
        </p:txBody>
      </p:sp>
      <p:sp>
        <p:nvSpPr>
          <p:cNvPr id="57365" name="Text Box 21">
            <a:extLst>
              <a:ext uri="{FF2B5EF4-FFF2-40B4-BE49-F238E27FC236}">
                <a16:creationId xmlns:a16="http://schemas.microsoft.com/office/drawing/2014/main" id="{AC1B2FF6-2805-445C-80A5-2E20D1AFBF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8025" y="4206875"/>
            <a:ext cx="319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z</a:t>
            </a:r>
          </a:p>
        </p:txBody>
      </p:sp>
      <p:sp>
        <p:nvSpPr>
          <p:cNvPr id="57366" name="Line 22">
            <a:extLst>
              <a:ext uri="{FF2B5EF4-FFF2-40B4-BE49-F238E27FC236}">
                <a16:creationId xmlns:a16="http://schemas.microsoft.com/office/drawing/2014/main" id="{DB28E41B-1822-4998-9533-59806EEF6C2B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3900" y="2617788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57367" name="Line 23">
            <a:extLst>
              <a:ext uri="{FF2B5EF4-FFF2-40B4-BE49-F238E27FC236}">
                <a16:creationId xmlns:a16="http://schemas.microsoft.com/office/drawing/2014/main" id="{E83BD5E4-E8A5-473C-87C4-F27C6E1FE60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81538" y="2779713"/>
            <a:ext cx="1023937" cy="10287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57368" name="Freeform 24">
            <a:extLst>
              <a:ext uri="{FF2B5EF4-FFF2-40B4-BE49-F238E27FC236}">
                <a16:creationId xmlns:a16="http://schemas.microsoft.com/office/drawing/2014/main" id="{82A30964-B436-44DF-B359-8A71F82FE5ED}"/>
              </a:ext>
            </a:extLst>
          </p:cNvPr>
          <p:cNvSpPr>
            <a:spLocks/>
          </p:cNvSpPr>
          <p:nvPr/>
        </p:nvSpPr>
        <p:spPr bwMode="auto">
          <a:xfrm>
            <a:off x="6146800" y="3797300"/>
            <a:ext cx="598488" cy="590550"/>
          </a:xfrm>
          <a:custGeom>
            <a:avLst/>
            <a:gdLst>
              <a:gd name="T0" fmla="*/ 0 w 377"/>
              <a:gd name="T1" fmla="*/ 2147483647 h 372"/>
              <a:gd name="T2" fmla="*/ 2147483647 w 377"/>
              <a:gd name="T3" fmla="*/ 2147483647 h 372"/>
              <a:gd name="T4" fmla="*/ 2147483647 w 377"/>
              <a:gd name="T5" fmla="*/ 2147483647 h 372"/>
              <a:gd name="T6" fmla="*/ 2147483647 w 377"/>
              <a:gd name="T7" fmla="*/ 2147483647 h 372"/>
              <a:gd name="T8" fmla="*/ 2147483647 w 377"/>
              <a:gd name="T9" fmla="*/ 2147483647 h 372"/>
              <a:gd name="T10" fmla="*/ 2147483647 w 377"/>
              <a:gd name="T11" fmla="*/ 2147483647 h 3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77"/>
              <a:gd name="T19" fmla="*/ 0 h 372"/>
              <a:gd name="T20" fmla="*/ 377 w 377"/>
              <a:gd name="T21" fmla="*/ 372 h 37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77" h="372">
                <a:moveTo>
                  <a:pt x="0" y="254"/>
                </a:moveTo>
                <a:cubicBezTo>
                  <a:pt x="44" y="304"/>
                  <a:pt x="88" y="354"/>
                  <a:pt x="145" y="363"/>
                </a:cubicBezTo>
                <a:cubicBezTo>
                  <a:pt x="202" y="372"/>
                  <a:pt x="313" y="346"/>
                  <a:pt x="345" y="308"/>
                </a:cubicBezTo>
                <a:cubicBezTo>
                  <a:pt x="377" y="270"/>
                  <a:pt x="359" y="184"/>
                  <a:pt x="336" y="136"/>
                </a:cubicBezTo>
                <a:cubicBezTo>
                  <a:pt x="313" y="88"/>
                  <a:pt x="259" y="34"/>
                  <a:pt x="209" y="17"/>
                </a:cubicBezTo>
                <a:cubicBezTo>
                  <a:pt x="159" y="0"/>
                  <a:pt x="97" y="18"/>
                  <a:pt x="36" y="36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57369" name="Text Box 25">
            <a:extLst>
              <a:ext uri="{FF2B5EF4-FFF2-40B4-BE49-F238E27FC236}">
                <a16:creationId xmlns:a16="http://schemas.microsoft.com/office/drawing/2014/main" id="{AFACCFAD-6471-4ED8-8BB6-F35AF20A39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7563" y="2951163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/>
              <a:t>B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F011E08-225A-475A-B387-8CAD8903F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74</a:t>
            </a:fld>
            <a:endParaRPr lang="en-US" altLang="hi-IN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E69DB0AE-0D40-47EA-9B46-29C2C29349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i-IN"/>
              <a:t>Example (DFS)</a:t>
            </a:r>
          </a:p>
        </p:txBody>
      </p:sp>
      <p:sp>
        <p:nvSpPr>
          <p:cNvPr id="58371" name="Oval 3">
            <a:extLst>
              <a:ext uri="{FF2B5EF4-FFF2-40B4-BE49-F238E27FC236}">
                <a16:creationId xmlns:a16="http://schemas.microsoft.com/office/drawing/2014/main" id="{33ABC2B0-7BB2-4DEE-8D65-D926A1E31B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8113" y="2303463"/>
            <a:ext cx="590550" cy="576262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58372" name="Text Box 4">
            <a:extLst>
              <a:ext uri="{FF2B5EF4-FFF2-40B4-BE49-F238E27FC236}">
                <a16:creationId xmlns:a16="http://schemas.microsoft.com/office/drawing/2014/main" id="{14608B6F-1457-4ED2-A8AE-5C7C22B4A6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6213" y="2366963"/>
            <a:ext cx="420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1/</a:t>
            </a:r>
            <a:endParaRPr lang="en-US" altLang="hi-IN" b="1"/>
          </a:p>
        </p:txBody>
      </p:sp>
      <p:sp>
        <p:nvSpPr>
          <p:cNvPr id="58373" name="Oval 5">
            <a:extLst>
              <a:ext uri="{FF2B5EF4-FFF2-40B4-BE49-F238E27FC236}">
                <a16:creationId xmlns:a16="http://schemas.microsoft.com/office/drawing/2014/main" id="{A4ACCDF7-5611-4D2D-876C-EBF6412687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8113" y="3719513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b="1"/>
              <a:t>4/5</a:t>
            </a:r>
          </a:p>
        </p:txBody>
      </p:sp>
      <p:sp>
        <p:nvSpPr>
          <p:cNvPr id="58374" name="Text Box 6">
            <a:extLst>
              <a:ext uri="{FF2B5EF4-FFF2-40B4-BE49-F238E27FC236}">
                <a16:creationId xmlns:a16="http://schemas.microsoft.com/office/drawing/2014/main" id="{D647F384-2F1B-4C58-9267-3B855D6674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3363" y="3754438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i-IN" altLang="hi-IN" b="1"/>
          </a:p>
        </p:txBody>
      </p:sp>
      <p:sp>
        <p:nvSpPr>
          <p:cNvPr id="58375" name="Oval 7">
            <a:extLst>
              <a:ext uri="{FF2B5EF4-FFF2-40B4-BE49-F238E27FC236}">
                <a16:creationId xmlns:a16="http://schemas.microsoft.com/office/drawing/2014/main" id="{1CDD2BDC-09CA-4694-8895-E9D4333997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9250" y="3713163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b="1"/>
              <a:t>3/6</a:t>
            </a:r>
          </a:p>
        </p:txBody>
      </p:sp>
      <p:sp>
        <p:nvSpPr>
          <p:cNvPr id="58376" name="Line 8">
            <a:extLst>
              <a:ext uri="{FF2B5EF4-FFF2-40B4-BE49-F238E27FC236}">
                <a16:creationId xmlns:a16="http://schemas.microsoft.com/office/drawing/2014/main" id="{D8A687E2-BACF-4CCD-B98B-F1B23626CB22}"/>
              </a:ext>
            </a:extLst>
          </p:cNvPr>
          <p:cNvSpPr>
            <a:spLocks noChangeShapeType="1"/>
          </p:cNvSpPr>
          <p:nvPr/>
        </p:nvSpPr>
        <p:spPr bwMode="auto">
          <a:xfrm>
            <a:off x="3254375" y="4008438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58377" name="Oval 9">
            <a:extLst>
              <a:ext uri="{FF2B5EF4-FFF2-40B4-BE49-F238E27FC236}">
                <a16:creationId xmlns:a16="http://schemas.microsoft.com/office/drawing/2014/main" id="{BACD5178-38D8-42C8-B0DC-B9D1A78C53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0388" y="3722688"/>
            <a:ext cx="590550" cy="576262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58378" name="Oval 10">
            <a:extLst>
              <a:ext uri="{FF2B5EF4-FFF2-40B4-BE49-F238E27FC236}">
                <a16:creationId xmlns:a16="http://schemas.microsoft.com/office/drawing/2014/main" id="{D0463EEE-B99A-4F02-895C-05D59318D6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4488" y="2308225"/>
            <a:ext cx="590550" cy="576263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b="1"/>
              <a:t>2/7</a:t>
            </a:r>
          </a:p>
        </p:txBody>
      </p:sp>
      <p:sp>
        <p:nvSpPr>
          <p:cNvPr id="58379" name="Oval 11">
            <a:extLst>
              <a:ext uri="{FF2B5EF4-FFF2-40B4-BE49-F238E27FC236}">
                <a16:creationId xmlns:a16="http://schemas.microsoft.com/office/drawing/2014/main" id="{1BEDA6C2-6495-4236-A671-41683DD02C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5625" y="2317750"/>
            <a:ext cx="590550" cy="576263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58380" name="Line 12">
            <a:extLst>
              <a:ext uri="{FF2B5EF4-FFF2-40B4-BE49-F238E27FC236}">
                <a16:creationId xmlns:a16="http://schemas.microsoft.com/office/drawing/2014/main" id="{FE7F82DC-E89B-4308-B4AA-9621BD98FBFE}"/>
              </a:ext>
            </a:extLst>
          </p:cNvPr>
          <p:cNvSpPr>
            <a:spLocks noChangeShapeType="1"/>
          </p:cNvSpPr>
          <p:nvPr/>
        </p:nvSpPr>
        <p:spPr bwMode="auto">
          <a:xfrm>
            <a:off x="2965450" y="2881313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58381" name="Line 13">
            <a:extLst>
              <a:ext uri="{FF2B5EF4-FFF2-40B4-BE49-F238E27FC236}">
                <a16:creationId xmlns:a16="http://schemas.microsoft.com/office/drawing/2014/main" id="{72FEC2D1-3F1D-4329-BCF9-0429D794937A}"/>
              </a:ext>
            </a:extLst>
          </p:cNvPr>
          <p:cNvSpPr>
            <a:spLocks noChangeShapeType="1"/>
          </p:cNvSpPr>
          <p:nvPr/>
        </p:nvSpPr>
        <p:spPr bwMode="auto">
          <a:xfrm>
            <a:off x="4446588" y="2890838"/>
            <a:ext cx="0" cy="8429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58382" name="Line 14">
            <a:extLst>
              <a:ext uri="{FF2B5EF4-FFF2-40B4-BE49-F238E27FC236}">
                <a16:creationId xmlns:a16="http://schemas.microsoft.com/office/drawing/2014/main" id="{D29C2BF7-797E-48B4-AC90-AB31FD38AC55}"/>
              </a:ext>
            </a:extLst>
          </p:cNvPr>
          <p:cNvSpPr>
            <a:spLocks noChangeShapeType="1"/>
          </p:cNvSpPr>
          <p:nvPr/>
        </p:nvSpPr>
        <p:spPr bwMode="auto">
          <a:xfrm>
            <a:off x="5927725" y="2900363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58383" name="Line 15">
            <a:extLst>
              <a:ext uri="{FF2B5EF4-FFF2-40B4-BE49-F238E27FC236}">
                <a16:creationId xmlns:a16="http://schemas.microsoft.com/office/drawing/2014/main" id="{1FFCE5BB-2512-4B5D-8505-7DE68BD7CB9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73413" y="2757488"/>
            <a:ext cx="1023937" cy="102870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58384" name="Text Box 16">
            <a:extLst>
              <a:ext uri="{FF2B5EF4-FFF2-40B4-BE49-F238E27FC236}">
                <a16:creationId xmlns:a16="http://schemas.microsoft.com/office/drawing/2014/main" id="{CF63DD4E-E7D7-472C-9FA6-663B5CBB7D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4800" y="19065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u</a:t>
            </a:r>
          </a:p>
        </p:txBody>
      </p:sp>
      <p:sp>
        <p:nvSpPr>
          <p:cNvPr id="58385" name="Text Box 17">
            <a:extLst>
              <a:ext uri="{FF2B5EF4-FFF2-40B4-BE49-F238E27FC236}">
                <a16:creationId xmlns:a16="http://schemas.microsoft.com/office/drawing/2014/main" id="{DD261BE3-FC5D-439C-98E6-9E52A1DE25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1650" y="191611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v</a:t>
            </a:r>
          </a:p>
        </p:txBody>
      </p:sp>
      <p:sp>
        <p:nvSpPr>
          <p:cNvPr id="58386" name="Text Box 18">
            <a:extLst>
              <a:ext uri="{FF2B5EF4-FFF2-40B4-BE49-F238E27FC236}">
                <a16:creationId xmlns:a16="http://schemas.microsoft.com/office/drawing/2014/main" id="{1EF63D9D-B910-4547-B1C2-D74038BB9A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8500" y="1925638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w</a:t>
            </a:r>
          </a:p>
        </p:txBody>
      </p:sp>
      <p:sp>
        <p:nvSpPr>
          <p:cNvPr id="58387" name="Text Box 19">
            <a:extLst>
              <a:ext uri="{FF2B5EF4-FFF2-40B4-BE49-F238E27FC236}">
                <a16:creationId xmlns:a16="http://schemas.microsoft.com/office/drawing/2014/main" id="{B7EE8AF9-3E2A-40DD-8EF4-C5A7C9C980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1463" y="420211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x</a:t>
            </a:r>
          </a:p>
        </p:txBody>
      </p:sp>
      <p:sp>
        <p:nvSpPr>
          <p:cNvPr id="58388" name="Text Box 20">
            <a:extLst>
              <a:ext uri="{FF2B5EF4-FFF2-40B4-BE49-F238E27FC236}">
                <a16:creationId xmlns:a16="http://schemas.microsoft.com/office/drawing/2014/main" id="{9985BEAC-AA50-4BE7-B0A1-8576EABBAC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421163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y</a:t>
            </a:r>
          </a:p>
        </p:txBody>
      </p:sp>
      <p:sp>
        <p:nvSpPr>
          <p:cNvPr id="58389" name="Text Box 21">
            <a:extLst>
              <a:ext uri="{FF2B5EF4-FFF2-40B4-BE49-F238E27FC236}">
                <a16:creationId xmlns:a16="http://schemas.microsoft.com/office/drawing/2014/main" id="{88A87CAF-04E7-4DE9-9963-039DBF7C22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8025" y="4206875"/>
            <a:ext cx="319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z</a:t>
            </a:r>
          </a:p>
        </p:txBody>
      </p:sp>
      <p:sp>
        <p:nvSpPr>
          <p:cNvPr id="58390" name="Line 22">
            <a:extLst>
              <a:ext uri="{FF2B5EF4-FFF2-40B4-BE49-F238E27FC236}">
                <a16:creationId xmlns:a16="http://schemas.microsoft.com/office/drawing/2014/main" id="{B2E5C0AF-36A8-4760-8B6D-D61FC73DD61C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3900" y="2617788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58391" name="Line 23">
            <a:extLst>
              <a:ext uri="{FF2B5EF4-FFF2-40B4-BE49-F238E27FC236}">
                <a16:creationId xmlns:a16="http://schemas.microsoft.com/office/drawing/2014/main" id="{08E3119A-F45B-4F08-972B-69281EC3724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81538" y="2779713"/>
            <a:ext cx="1023937" cy="10287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58392" name="Freeform 24">
            <a:extLst>
              <a:ext uri="{FF2B5EF4-FFF2-40B4-BE49-F238E27FC236}">
                <a16:creationId xmlns:a16="http://schemas.microsoft.com/office/drawing/2014/main" id="{60E5EF70-C63C-4CDE-86B1-36E721C9E073}"/>
              </a:ext>
            </a:extLst>
          </p:cNvPr>
          <p:cNvSpPr>
            <a:spLocks/>
          </p:cNvSpPr>
          <p:nvPr/>
        </p:nvSpPr>
        <p:spPr bwMode="auto">
          <a:xfrm>
            <a:off x="6146800" y="3797300"/>
            <a:ext cx="598488" cy="590550"/>
          </a:xfrm>
          <a:custGeom>
            <a:avLst/>
            <a:gdLst>
              <a:gd name="T0" fmla="*/ 0 w 377"/>
              <a:gd name="T1" fmla="*/ 2147483647 h 372"/>
              <a:gd name="T2" fmla="*/ 2147483647 w 377"/>
              <a:gd name="T3" fmla="*/ 2147483647 h 372"/>
              <a:gd name="T4" fmla="*/ 2147483647 w 377"/>
              <a:gd name="T5" fmla="*/ 2147483647 h 372"/>
              <a:gd name="T6" fmla="*/ 2147483647 w 377"/>
              <a:gd name="T7" fmla="*/ 2147483647 h 372"/>
              <a:gd name="T8" fmla="*/ 2147483647 w 377"/>
              <a:gd name="T9" fmla="*/ 2147483647 h 372"/>
              <a:gd name="T10" fmla="*/ 2147483647 w 377"/>
              <a:gd name="T11" fmla="*/ 2147483647 h 3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77"/>
              <a:gd name="T19" fmla="*/ 0 h 372"/>
              <a:gd name="T20" fmla="*/ 377 w 377"/>
              <a:gd name="T21" fmla="*/ 372 h 37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77" h="372">
                <a:moveTo>
                  <a:pt x="0" y="254"/>
                </a:moveTo>
                <a:cubicBezTo>
                  <a:pt x="44" y="304"/>
                  <a:pt x="88" y="354"/>
                  <a:pt x="145" y="363"/>
                </a:cubicBezTo>
                <a:cubicBezTo>
                  <a:pt x="202" y="372"/>
                  <a:pt x="313" y="346"/>
                  <a:pt x="345" y="308"/>
                </a:cubicBezTo>
                <a:cubicBezTo>
                  <a:pt x="377" y="270"/>
                  <a:pt x="359" y="184"/>
                  <a:pt x="336" y="136"/>
                </a:cubicBezTo>
                <a:cubicBezTo>
                  <a:pt x="313" y="88"/>
                  <a:pt x="259" y="34"/>
                  <a:pt x="209" y="17"/>
                </a:cubicBezTo>
                <a:cubicBezTo>
                  <a:pt x="159" y="0"/>
                  <a:pt x="97" y="18"/>
                  <a:pt x="36" y="36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58393" name="Text Box 25">
            <a:extLst>
              <a:ext uri="{FF2B5EF4-FFF2-40B4-BE49-F238E27FC236}">
                <a16:creationId xmlns:a16="http://schemas.microsoft.com/office/drawing/2014/main" id="{8FFBEF0E-A9D2-459B-8887-9C2EC9F35E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7563" y="2951163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/>
              <a:t>B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66B8BE-A2AB-45AD-9FE4-2FDA28CE3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75</a:t>
            </a:fld>
            <a:endParaRPr lang="en-US" altLang="hi-IN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8A9C5DED-7AF3-4D80-A149-BD4CD2CB37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i-IN"/>
              <a:t>Example (DFS)</a:t>
            </a:r>
          </a:p>
        </p:txBody>
      </p:sp>
      <p:sp>
        <p:nvSpPr>
          <p:cNvPr id="59395" name="Oval 3">
            <a:extLst>
              <a:ext uri="{FF2B5EF4-FFF2-40B4-BE49-F238E27FC236}">
                <a16:creationId xmlns:a16="http://schemas.microsoft.com/office/drawing/2014/main" id="{AEE4EC18-EC25-493A-A69E-D056F4404F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8113" y="2303463"/>
            <a:ext cx="590550" cy="576262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59396" name="Text Box 4">
            <a:extLst>
              <a:ext uri="{FF2B5EF4-FFF2-40B4-BE49-F238E27FC236}">
                <a16:creationId xmlns:a16="http://schemas.microsoft.com/office/drawing/2014/main" id="{C615E350-5DF5-4CB2-A358-D489849FD9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6213" y="2366963"/>
            <a:ext cx="420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1/</a:t>
            </a:r>
            <a:endParaRPr lang="en-US" altLang="hi-IN" b="1"/>
          </a:p>
        </p:txBody>
      </p:sp>
      <p:sp>
        <p:nvSpPr>
          <p:cNvPr id="59397" name="Oval 5">
            <a:extLst>
              <a:ext uri="{FF2B5EF4-FFF2-40B4-BE49-F238E27FC236}">
                <a16:creationId xmlns:a16="http://schemas.microsoft.com/office/drawing/2014/main" id="{13C5C889-A95E-4BAA-9155-46456BDE7E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8113" y="3719513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b="1"/>
              <a:t>4/5</a:t>
            </a:r>
          </a:p>
        </p:txBody>
      </p:sp>
      <p:sp>
        <p:nvSpPr>
          <p:cNvPr id="59398" name="Text Box 6">
            <a:extLst>
              <a:ext uri="{FF2B5EF4-FFF2-40B4-BE49-F238E27FC236}">
                <a16:creationId xmlns:a16="http://schemas.microsoft.com/office/drawing/2014/main" id="{74008C6B-89AD-40AB-9648-6C2B3A5E23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3363" y="3754438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i-IN" altLang="hi-IN" b="1"/>
          </a:p>
        </p:txBody>
      </p:sp>
      <p:sp>
        <p:nvSpPr>
          <p:cNvPr id="59399" name="Oval 7">
            <a:extLst>
              <a:ext uri="{FF2B5EF4-FFF2-40B4-BE49-F238E27FC236}">
                <a16:creationId xmlns:a16="http://schemas.microsoft.com/office/drawing/2014/main" id="{78BBC201-EEC5-4EC0-8C1B-2F63C95729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9250" y="3713163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b="1"/>
              <a:t>3/6</a:t>
            </a:r>
          </a:p>
        </p:txBody>
      </p:sp>
      <p:sp>
        <p:nvSpPr>
          <p:cNvPr id="59400" name="Line 8">
            <a:extLst>
              <a:ext uri="{FF2B5EF4-FFF2-40B4-BE49-F238E27FC236}">
                <a16:creationId xmlns:a16="http://schemas.microsoft.com/office/drawing/2014/main" id="{04AEA833-79C5-4A66-9AC1-2367632696E8}"/>
              </a:ext>
            </a:extLst>
          </p:cNvPr>
          <p:cNvSpPr>
            <a:spLocks noChangeShapeType="1"/>
          </p:cNvSpPr>
          <p:nvPr/>
        </p:nvSpPr>
        <p:spPr bwMode="auto">
          <a:xfrm>
            <a:off x="3254375" y="4008438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59401" name="Oval 9">
            <a:extLst>
              <a:ext uri="{FF2B5EF4-FFF2-40B4-BE49-F238E27FC236}">
                <a16:creationId xmlns:a16="http://schemas.microsoft.com/office/drawing/2014/main" id="{D0D770C0-87D0-46DB-AA76-54B6D3227F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0388" y="3722688"/>
            <a:ext cx="590550" cy="576262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59402" name="Oval 10">
            <a:extLst>
              <a:ext uri="{FF2B5EF4-FFF2-40B4-BE49-F238E27FC236}">
                <a16:creationId xmlns:a16="http://schemas.microsoft.com/office/drawing/2014/main" id="{34958883-3716-4E31-A6EB-253C7E5798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4488" y="2308225"/>
            <a:ext cx="590550" cy="576263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b="1"/>
              <a:t>2/7</a:t>
            </a:r>
          </a:p>
        </p:txBody>
      </p:sp>
      <p:sp>
        <p:nvSpPr>
          <p:cNvPr id="59403" name="Oval 11">
            <a:extLst>
              <a:ext uri="{FF2B5EF4-FFF2-40B4-BE49-F238E27FC236}">
                <a16:creationId xmlns:a16="http://schemas.microsoft.com/office/drawing/2014/main" id="{2B3B281D-5827-4B4F-823F-678832DD29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5625" y="2317750"/>
            <a:ext cx="590550" cy="576263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59404" name="Line 12">
            <a:extLst>
              <a:ext uri="{FF2B5EF4-FFF2-40B4-BE49-F238E27FC236}">
                <a16:creationId xmlns:a16="http://schemas.microsoft.com/office/drawing/2014/main" id="{AC41B63E-3481-4C12-B1BF-C9E94C3CAB9D}"/>
              </a:ext>
            </a:extLst>
          </p:cNvPr>
          <p:cNvSpPr>
            <a:spLocks noChangeShapeType="1"/>
          </p:cNvSpPr>
          <p:nvPr/>
        </p:nvSpPr>
        <p:spPr bwMode="auto">
          <a:xfrm>
            <a:off x="2965450" y="2881313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59405" name="Line 13">
            <a:extLst>
              <a:ext uri="{FF2B5EF4-FFF2-40B4-BE49-F238E27FC236}">
                <a16:creationId xmlns:a16="http://schemas.microsoft.com/office/drawing/2014/main" id="{D6EF615A-30F7-48FE-B6A6-018F19413044}"/>
              </a:ext>
            </a:extLst>
          </p:cNvPr>
          <p:cNvSpPr>
            <a:spLocks noChangeShapeType="1"/>
          </p:cNvSpPr>
          <p:nvPr/>
        </p:nvSpPr>
        <p:spPr bwMode="auto">
          <a:xfrm>
            <a:off x="4446588" y="2890838"/>
            <a:ext cx="0" cy="8429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59406" name="Line 14">
            <a:extLst>
              <a:ext uri="{FF2B5EF4-FFF2-40B4-BE49-F238E27FC236}">
                <a16:creationId xmlns:a16="http://schemas.microsoft.com/office/drawing/2014/main" id="{BCB5EC04-5605-427F-B06C-CC06A3C29B42}"/>
              </a:ext>
            </a:extLst>
          </p:cNvPr>
          <p:cNvSpPr>
            <a:spLocks noChangeShapeType="1"/>
          </p:cNvSpPr>
          <p:nvPr/>
        </p:nvSpPr>
        <p:spPr bwMode="auto">
          <a:xfrm>
            <a:off x="5927725" y="2900363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59407" name="Line 15">
            <a:extLst>
              <a:ext uri="{FF2B5EF4-FFF2-40B4-BE49-F238E27FC236}">
                <a16:creationId xmlns:a16="http://schemas.microsoft.com/office/drawing/2014/main" id="{1A67A38F-1F9B-4AC1-A983-44800BE9AC1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73413" y="2757488"/>
            <a:ext cx="1023937" cy="102870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59408" name="Text Box 16">
            <a:extLst>
              <a:ext uri="{FF2B5EF4-FFF2-40B4-BE49-F238E27FC236}">
                <a16:creationId xmlns:a16="http://schemas.microsoft.com/office/drawing/2014/main" id="{E0834137-3A2A-43DC-BAFC-DCD040A563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4800" y="19065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u</a:t>
            </a:r>
          </a:p>
        </p:txBody>
      </p:sp>
      <p:sp>
        <p:nvSpPr>
          <p:cNvPr id="59409" name="Text Box 17">
            <a:extLst>
              <a:ext uri="{FF2B5EF4-FFF2-40B4-BE49-F238E27FC236}">
                <a16:creationId xmlns:a16="http://schemas.microsoft.com/office/drawing/2014/main" id="{A29BA70A-D51B-42E9-B61E-BAFA71F2A2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1650" y="191611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v</a:t>
            </a:r>
          </a:p>
        </p:txBody>
      </p:sp>
      <p:sp>
        <p:nvSpPr>
          <p:cNvPr id="59410" name="Text Box 18">
            <a:extLst>
              <a:ext uri="{FF2B5EF4-FFF2-40B4-BE49-F238E27FC236}">
                <a16:creationId xmlns:a16="http://schemas.microsoft.com/office/drawing/2014/main" id="{F63CD486-62D7-4AD1-A118-FF12F3073A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8500" y="1925638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w</a:t>
            </a:r>
          </a:p>
        </p:txBody>
      </p:sp>
      <p:sp>
        <p:nvSpPr>
          <p:cNvPr id="59411" name="Text Box 19">
            <a:extLst>
              <a:ext uri="{FF2B5EF4-FFF2-40B4-BE49-F238E27FC236}">
                <a16:creationId xmlns:a16="http://schemas.microsoft.com/office/drawing/2014/main" id="{80FE4E43-1D37-4FB5-9E35-521B1D0C5C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1463" y="420211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x</a:t>
            </a:r>
          </a:p>
        </p:txBody>
      </p:sp>
      <p:sp>
        <p:nvSpPr>
          <p:cNvPr id="59412" name="Text Box 20">
            <a:extLst>
              <a:ext uri="{FF2B5EF4-FFF2-40B4-BE49-F238E27FC236}">
                <a16:creationId xmlns:a16="http://schemas.microsoft.com/office/drawing/2014/main" id="{BE5C268D-75FB-40AE-9556-2CA561B94F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421163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y</a:t>
            </a:r>
          </a:p>
        </p:txBody>
      </p:sp>
      <p:sp>
        <p:nvSpPr>
          <p:cNvPr id="59413" name="Text Box 21">
            <a:extLst>
              <a:ext uri="{FF2B5EF4-FFF2-40B4-BE49-F238E27FC236}">
                <a16:creationId xmlns:a16="http://schemas.microsoft.com/office/drawing/2014/main" id="{4A594342-A467-4BE7-9864-438267F896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8025" y="4206875"/>
            <a:ext cx="319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z</a:t>
            </a:r>
          </a:p>
        </p:txBody>
      </p:sp>
      <p:sp>
        <p:nvSpPr>
          <p:cNvPr id="59414" name="Line 22">
            <a:extLst>
              <a:ext uri="{FF2B5EF4-FFF2-40B4-BE49-F238E27FC236}">
                <a16:creationId xmlns:a16="http://schemas.microsoft.com/office/drawing/2014/main" id="{9698E248-72AD-403B-AD9E-C1DD40F220EE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3900" y="2617788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59415" name="Line 23">
            <a:extLst>
              <a:ext uri="{FF2B5EF4-FFF2-40B4-BE49-F238E27FC236}">
                <a16:creationId xmlns:a16="http://schemas.microsoft.com/office/drawing/2014/main" id="{88B5B2B2-B87B-4885-A2B0-2FCF48683E2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81538" y="2779713"/>
            <a:ext cx="1023937" cy="10287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59416" name="Freeform 24">
            <a:extLst>
              <a:ext uri="{FF2B5EF4-FFF2-40B4-BE49-F238E27FC236}">
                <a16:creationId xmlns:a16="http://schemas.microsoft.com/office/drawing/2014/main" id="{68542966-1C96-4B47-922C-6F02F5DE40E0}"/>
              </a:ext>
            </a:extLst>
          </p:cNvPr>
          <p:cNvSpPr>
            <a:spLocks/>
          </p:cNvSpPr>
          <p:nvPr/>
        </p:nvSpPr>
        <p:spPr bwMode="auto">
          <a:xfrm>
            <a:off x="6146800" y="3797300"/>
            <a:ext cx="598488" cy="590550"/>
          </a:xfrm>
          <a:custGeom>
            <a:avLst/>
            <a:gdLst>
              <a:gd name="T0" fmla="*/ 0 w 377"/>
              <a:gd name="T1" fmla="*/ 2147483647 h 372"/>
              <a:gd name="T2" fmla="*/ 2147483647 w 377"/>
              <a:gd name="T3" fmla="*/ 2147483647 h 372"/>
              <a:gd name="T4" fmla="*/ 2147483647 w 377"/>
              <a:gd name="T5" fmla="*/ 2147483647 h 372"/>
              <a:gd name="T6" fmla="*/ 2147483647 w 377"/>
              <a:gd name="T7" fmla="*/ 2147483647 h 372"/>
              <a:gd name="T8" fmla="*/ 2147483647 w 377"/>
              <a:gd name="T9" fmla="*/ 2147483647 h 372"/>
              <a:gd name="T10" fmla="*/ 2147483647 w 377"/>
              <a:gd name="T11" fmla="*/ 2147483647 h 3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77"/>
              <a:gd name="T19" fmla="*/ 0 h 372"/>
              <a:gd name="T20" fmla="*/ 377 w 377"/>
              <a:gd name="T21" fmla="*/ 372 h 37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77" h="372">
                <a:moveTo>
                  <a:pt x="0" y="254"/>
                </a:moveTo>
                <a:cubicBezTo>
                  <a:pt x="44" y="304"/>
                  <a:pt x="88" y="354"/>
                  <a:pt x="145" y="363"/>
                </a:cubicBezTo>
                <a:cubicBezTo>
                  <a:pt x="202" y="372"/>
                  <a:pt x="313" y="346"/>
                  <a:pt x="345" y="308"/>
                </a:cubicBezTo>
                <a:cubicBezTo>
                  <a:pt x="377" y="270"/>
                  <a:pt x="359" y="184"/>
                  <a:pt x="336" y="136"/>
                </a:cubicBezTo>
                <a:cubicBezTo>
                  <a:pt x="313" y="88"/>
                  <a:pt x="259" y="34"/>
                  <a:pt x="209" y="17"/>
                </a:cubicBezTo>
                <a:cubicBezTo>
                  <a:pt x="159" y="0"/>
                  <a:pt x="97" y="18"/>
                  <a:pt x="36" y="36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59417" name="Text Box 25">
            <a:extLst>
              <a:ext uri="{FF2B5EF4-FFF2-40B4-BE49-F238E27FC236}">
                <a16:creationId xmlns:a16="http://schemas.microsoft.com/office/drawing/2014/main" id="{BCC9E6B1-DB71-4E74-817C-AF633AF83A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7563" y="2951163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/>
              <a:t>B</a:t>
            </a:r>
          </a:p>
        </p:txBody>
      </p:sp>
      <p:sp>
        <p:nvSpPr>
          <p:cNvPr id="59418" name="Text Box 26">
            <a:extLst>
              <a:ext uri="{FF2B5EF4-FFF2-40B4-BE49-F238E27FC236}">
                <a16:creationId xmlns:a16="http://schemas.microsoft.com/office/drawing/2014/main" id="{6C2829BE-5A4A-42C2-A82A-3A80831BD4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6675" y="3022600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/>
              <a:t>F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04A710C-1235-4D0E-B589-2077463E1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76</a:t>
            </a:fld>
            <a:endParaRPr lang="en-US" altLang="hi-IN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80FAB1F1-99D7-4CF7-82F0-D92203A642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i-IN"/>
              <a:t>Example (DFS)</a:t>
            </a:r>
          </a:p>
        </p:txBody>
      </p:sp>
      <p:sp>
        <p:nvSpPr>
          <p:cNvPr id="60419" name="Oval 3">
            <a:extLst>
              <a:ext uri="{FF2B5EF4-FFF2-40B4-BE49-F238E27FC236}">
                <a16:creationId xmlns:a16="http://schemas.microsoft.com/office/drawing/2014/main" id="{29D0745C-378C-47D3-A8CE-EDFECFF48A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8113" y="2303463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60420" name="Text Box 4">
            <a:extLst>
              <a:ext uri="{FF2B5EF4-FFF2-40B4-BE49-F238E27FC236}">
                <a16:creationId xmlns:a16="http://schemas.microsoft.com/office/drawing/2014/main" id="{D878664C-6F63-4B92-B44B-0D00AAC1B6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6213" y="2366963"/>
            <a:ext cx="573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1/8</a:t>
            </a:r>
            <a:endParaRPr lang="en-US" altLang="hi-IN" b="1"/>
          </a:p>
        </p:txBody>
      </p:sp>
      <p:sp>
        <p:nvSpPr>
          <p:cNvPr id="60421" name="Oval 5">
            <a:extLst>
              <a:ext uri="{FF2B5EF4-FFF2-40B4-BE49-F238E27FC236}">
                <a16:creationId xmlns:a16="http://schemas.microsoft.com/office/drawing/2014/main" id="{3FED05C4-5CD9-4C1B-BB44-06BC1586FF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8113" y="3719513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b="1"/>
              <a:t>4/5</a:t>
            </a:r>
          </a:p>
        </p:txBody>
      </p:sp>
      <p:sp>
        <p:nvSpPr>
          <p:cNvPr id="60422" name="Text Box 6">
            <a:extLst>
              <a:ext uri="{FF2B5EF4-FFF2-40B4-BE49-F238E27FC236}">
                <a16:creationId xmlns:a16="http://schemas.microsoft.com/office/drawing/2014/main" id="{847777E5-5666-40AE-B1F9-1DCE20A2A6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3363" y="3754438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i-IN" altLang="hi-IN" b="1"/>
          </a:p>
        </p:txBody>
      </p:sp>
      <p:sp>
        <p:nvSpPr>
          <p:cNvPr id="60423" name="Oval 7">
            <a:extLst>
              <a:ext uri="{FF2B5EF4-FFF2-40B4-BE49-F238E27FC236}">
                <a16:creationId xmlns:a16="http://schemas.microsoft.com/office/drawing/2014/main" id="{53079736-A464-404F-B537-CED258ADD5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9250" y="3713163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b="1"/>
              <a:t>3/6</a:t>
            </a:r>
          </a:p>
        </p:txBody>
      </p:sp>
      <p:sp>
        <p:nvSpPr>
          <p:cNvPr id="60424" name="Line 8">
            <a:extLst>
              <a:ext uri="{FF2B5EF4-FFF2-40B4-BE49-F238E27FC236}">
                <a16:creationId xmlns:a16="http://schemas.microsoft.com/office/drawing/2014/main" id="{33179773-2ABC-42B3-B49B-9756513AE811}"/>
              </a:ext>
            </a:extLst>
          </p:cNvPr>
          <p:cNvSpPr>
            <a:spLocks noChangeShapeType="1"/>
          </p:cNvSpPr>
          <p:nvPr/>
        </p:nvSpPr>
        <p:spPr bwMode="auto">
          <a:xfrm>
            <a:off x="3254375" y="4008438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60425" name="Oval 9">
            <a:extLst>
              <a:ext uri="{FF2B5EF4-FFF2-40B4-BE49-F238E27FC236}">
                <a16:creationId xmlns:a16="http://schemas.microsoft.com/office/drawing/2014/main" id="{B1347D1E-163E-4E0A-8A17-3A5AB155E1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0388" y="3722688"/>
            <a:ext cx="590550" cy="576262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60426" name="Oval 10">
            <a:extLst>
              <a:ext uri="{FF2B5EF4-FFF2-40B4-BE49-F238E27FC236}">
                <a16:creationId xmlns:a16="http://schemas.microsoft.com/office/drawing/2014/main" id="{35C9C440-7B4F-4FF1-AF47-08D262B987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4488" y="2308225"/>
            <a:ext cx="590550" cy="576263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b="1"/>
              <a:t>2/7</a:t>
            </a:r>
          </a:p>
        </p:txBody>
      </p:sp>
      <p:sp>
        <p:nvSpPr>
          <p:cNvPr id="60427" name="Oval 11">
            <a:extLst>
              <a:ext uri="{FF2B5EF4-FFF2-40B4-BE49-F238E27FC236}">
                <a16:creationId xmlns:a16="http://schemas.microsoft.com/office/drawing/2014/main" id="{1C862487-5BDE-4570-941A-50DFA8FB69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5625" y="2317750"/>
            <a:ext cx="590550" cy="576263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60428" name="Line 12">
            <a:extLst>
              <a:ext uri="{FF2B5EF4-FFF2-40B4-BE49-F238E27FC236}">
                <a16:creationId xmlns:a16="http://schemas.microsoft.com/office/drawing/2014/main" id="{6C5C3629-B9AD-4831-9E51-7EDBDD4248EC}"/>
              </a:ext>
            </a:extLst>
          </p:cNvPr>
          <p:cNvSpPr>
            <a:spLocks noChangeShapeType="1"/>
          </p:cNvSpPr>
          <p:nvPr/>
        </p:nvSpPr>
        <p:spPr bwMode="auto">
          <a:xfrm>
            <a:off x="2965450" y="2881313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60429" name="Line 13">
            <a:extLst>
              <a:ext uri="{FF2B5EF4-FFF2-40B4-BE49-F238E27FC236}">
                <a16:creationId xmlns:a16="http://schemas.microsoft.com/office/drawing/2014/main" id="{9A04B30D-AF5F-43E8-A6FA-D235908F7107}"/>
              </a:ext>
            </a:extLst>
          </p:cNvPr>
          <p:cNvSpPr>
            <a:spLocks noChangeShapeType="1"/>
          </p:cNvSpPr>
          <p:nvPr/>
        </p:nvSpPr>
        <p:spPr bwMode="auto">
          <a:xfrm>
            <a:off x="4446588" y="2890838"/>
            <a:ext cx="0" cy="8429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60430" name="Line 14">
            <a:extLst>
              <a:ext uri="{FF2B5EF4-FFF2-40B4-BE49-F238E27FC236}">
                <a16:creationId xmlns:a16="http://schemas.microsoft.com/office/drawing/2014/main" id="{B25D2DAD-59F7-4F9D-93C3-50940913EB62}"/>
              </a:ext>
            </a:extLst>
          </p:cNvPr>
          <p:cNvSpPr>
            <a:spLocks noChangeShapeType="1"/>
          </p:cNvSpPr>
          <p:nvPr/>
        </p:nvSpPr>
        <p:spPr bwMode="auto">
          <a:xfrm>
            <a:off x="5927725" y="2900363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60431" name="Line 15">
            <a:extLst>
              <a:ext uri="{FF2B5EF4-FFF2-40B4-BE49-F238E27FC236}">
                <a16:creationId xmlns:a16="http://schemas.microsoft.com/office/drawing/2014/main" id="{8EEC2860-893D-4A10-B88D-CA445DA4BE8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73413" y="2757488"/>
            <a:ext cx="1023937" cy="102870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60432" name="Text Box 16">
            <a:extLst>
              <a:ext uri="{FF2B5EF4-FFF2-40B4-BE49-F238E27FC236}">
                <a16:creationId xmlns:a16="http://schemas.microsoft.com/office/drawing/2014/main" id="{2E6B0C32-75AA-433C-90E9-905532B3ED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4800" y="19065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u</a:t>
            </a:r>
          </a:p>
        </p:txBody>
      </p:sp>
      <p:sp>
        <p:nvSpPr>
          <p:cNvPr id="60433" name="Text Box 17">
            <a:extLst>
              <a:ext uri="{FF2B5EF4-FFF2-40B4-BE49-F238E27FC236}">
                <a16:creationId xmlns:a16="http://schemas.microsoft.com/office/drawing/2014/main" id="{F2842E26-7689-4A69-A671-38042D6FC1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1650" y="191611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v</a:t>
            </a:r>
          </a:p>
        </p:txBody>
      </p:sp>
      <p:sp>
        <p:nvSpPr>
          <p:cNvPr id="60434" name="Text Box 18">
            <a:extLst>
              <a:ext uri="{FF2B5EF4-FFF2-40B4-BE49-F238E27FC236}">
                <a16:creationId xmlns:a16="http://schemas.microsoft.com/office/drawing/2014/main" id="{D48597A9-5ACE-473C-8025-33D72A81D3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8500" y="1925638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w</a:t>
            </a:r>
          </a:p>
        </p:txBody>
      </p:sp>
      <p:sp>
        <p:nvSpPr>
          <p:cNvPr id="60435" name="Text Box 19">
            <a:extLst>
              <a:ext uri="{FF2B5EF4-FFF2-40B4-BE49-F238E27FC236}">
                <a16:creationId xmlns:a16="http://schemas.microsoft.com/office/drawing/2014/main" id="{BF5E5E72-845A-4DEA-AF3A-A1E0900C1C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1463" y="420211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x</a:t>
            </a:r>
          </a:p>
        </p:txBody>
      </p:sp>
      <p:sp>
        <p:nvSpPr>
          <p:cNvPr id="60436" name="Text Box 20">
            <a:extLst>
              <a:ext uri="{FF2B5EF4-FFF2-40B4-BE49-F238E27FC236}">
                <a16:creationId xmlns:a16="http://schemas.microsoft.com/office/drawing/2014/main" id="{31D4FCD8-3C59-4A96-BB52-A14A51FF1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421163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y</a:t>
            </a:r>
          </a:p>
        </p:txBody>
      </p:sp>
      <p:sp>
        <p:nvSpPr>
          <p:cNvPr id="60437" name="Text Box 21">
            <a:extLst>
              <a:ext uri="{FF2B5EF4-FFF2-40B4-BE49-F238E27FC236}">
                <a16:creationId xmlns:a16="http://schemas.microsoft.com/office/drawing/2014/main" id="{CAC0FE44-1F57-4457-A1AE-E9156FB14B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8025" y="4206875"/>
            <a:ext cx="319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z</a:t>
            </a:r>
          </a:p>
        </p:txBody>
      </p:sp>
      <p:sp>
        <p:nvSpPr>
          <p:cNvPr id="60438" name="Line 22">
            <a:extLst>
              <a:ext uri="{FF2B5EF4-FFF2-40B4-BE49-F238E27FC236}">
                <a16:creationId xmlns:a16="http://schemas.microsoft.com/office/drawing/2014/main" id="{66F9742E-F980-447C-A6F7-F5DA25E8A41E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3900" y="2617788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60439" name="Line 23">
            <a:extLst>
              <a:ext uri="{FF2B5EF4-FFF2-40B4-BE49-F238E27FC236}">
                <a16:creationId xmlns:a16="http://schemas.microsoft.com/office/drawing/2014/main" id="{9AD6E0D2-36E1-41CE-8366-160F3BFC26E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81538" y="2779713"/>
            <a:ext cx="1023937" cy="10287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60440" name="Freeform 24">
            <a:extLst>
              <a:ext uri="{FF2B5EF4-FFF2-40B4-BE49-F238E27FC236}">
                <a16:creationId xmlns:a16="http://schemas.microsoft.com/office/drawing/2014/main" id="{6D29B25F-D82D-409F-92F0-44E83C1CC42A}"/>
              </a:ext>
            </a:extLst>
          </p:cNvPr>
          <p:cNvSpPr>
            <a:spLocks/>
          </p:cNvSpPr>
          <p:nvPr/>
        </p:nvSpPr>
        <p:spPr bwMode="auto">
          <a:xfrm>
            <a:off x="6146800" y="3797300"/>
            <a:ext cx="598488" cy="590550"/>
          </a:xfrm>
          <a:custGeom>
            <a:avLst/>
            <a:gdLst>
              <a:gd name="T0" fmla="*/ 0 w 377"/>
              <a:gd name="T1" fmla="*/ 2147483647 h 372"/>
              <a:gd name="T2" fmla="*/ 2147483647 w 377"/>
              <a:gd name="T3" fmla="*/ 2147483647 h 372"/>
              <a:gd name="T4" fmla="*/ 2147483647 w 377"/>
              <a:gd name="T5" fmla="*/ 2147483647 h 372"/>
              <a:gd name="T6" fmla="*/ 2147483647 w 377"/>
              <a:gd name="T7" fmla="*/ 2147483647 h 372"/>
              <a:gd name="T8" fmla="*/ 2147483647 w 377"/>
              <a:gd name="T9" fmla="*/ 2147483647 h 372"/>
              <a:gd name="T10" fmla="*/ 2147483647 w 377"/>
              <a:gd name="T11" fmla="*/ 2147483647 h 3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77"/>
              <a:gd name="T19" fmla="*/ 0 h 372"/>
              <a:gd name="T20" fmla="*/ 377 w 377"/>
              <a:gd name="T21" fmla="*/ 372 h 37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77" h="372">
                <a:moveTo>
                  <a:pt x="0" y="254"/>
                </a:moveTo>
                <a:cubicBezTo>
                  <a:pt x="44" y="304"/>
                  <a:pt x="88" y="354"/>
                  <a:pt x="145" y="363"/>
                </a:cubicBezTo>
                <a:cubicBezTo>
                  <a:pt x="202" y="372"/>
                  <a:pt x="313" y="346"/>
                  <a:pt x="345" y="308"/>
                </a:cubicBezTo>
                <a:cubicBezTo>
                  <a:pt x="377" y="270"/>
                  <a:pt x="359" y="184"/>
                  <a:pt x="336" y="136"/>
                </a:cubicBezTo>
                <a:cubicBezTo>
                  <a:pt x="313" y="88"/>
                  <a:pt x="259" y="34"/>
                  <a:pt x="209" y="17"/>
                </a:cubicBezTo>
                <a:cubicBezTo>
                  <a:pt x="159" y="0"/>
                  <a:pt x="97" y="18"/>
                  <a:pt x="36" y="36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60441" name="Text Box 25">
            <a:extLst>
              <a:ext uri="{FF2B5EF4-FFF2-40B4-BE49-F238E27FC236}">
                <a16:creationId xmlns:a16="http://schemas.microsoft.com/office/drawing/2014/main" id="{98802EFC-5FB3-455C-8380-53601CB68A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7563" y="2951163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/>
              <a:t>B</a:t>
            </a:r>
          </a:p>
        </p:txBody>
      </p:sp>
      <p:sp>
        <p:nvSpPr>
          <p:cNvPr id="60442" name="Text Box 26">
            <a:extLst>
              <a:ext uri="{FF2B5EF4-FFF2-40B4-BE49-F238E27FC236}">
                <a16:creationId xmlns:a16="http://schemas.microsoft.com/office/drawing/2014/main" id="{85883238-39A5-42DD-A455-FCF9705962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6675" y="3022600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/>
              <a:t>F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C912D6-720F-4118-B382-1B6069F8A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77</a:t>
            </a:fld>
            <a:endParaRPr lang="en-US" altLang="hi-IN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B459CEBE-D958-4105-9F43-0C5EDC2B8E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i-IN"/>
              <a:t>Example (DFS)</a:t>
            </a:r>
          </a:p>
        </p:txBody>
      </p:sp>
      <p:sp>
        <p:nvSpPr>
          <p:cNvPr id="61443" name="Oval 3">
            <a:extLst>
              <a:ext uri="{FF2B5EF4-FFF2-40B4-BE49-F238E27FC236}">
                <a16:creationId xmlns:a16="http://schemas.microsoft.com/office/drawing/2014/main" id="{B8736E18-F99F-4930-8906-6AA2A5613B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8113" y="2303463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61444" name="Text Box 4">
            <a:extLst>
              <a:ext uri="{FF2B5EF4-FFF2-40B4-BE49-F238E27FC236}">
                <a16:creationId xmlns:a16="http://schemas.microsoft.com/office/drawing/2014/main" id="{2BA25AAF-D845-49AF-B062-622A4B24C0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6213" y="2366963"/>
            <a:ext cx="573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1/8</a:t>
            </a:r>
            <a:endParaRPr lang="en-US" altLang="hi-IN" b="1"/>
          </a:p>
        </p:txBody>
      </p:sp>
      <p:sp>
        <p:nvSpPr>
          <p:cNvPr id="61445" name="Oval 5">
            <a:extLst>
              <a:ext uri="{FF2B5EF4-FFF2-40B4-BE49-F238E27FC236}">
                <a16:creationId xmlns:a16="http://schemas.microsoft.com/office/drawing/2014/main" id="{BB0C3D41-AD1F-48D8-BD7A-6E8CD9A604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8113" y="3719513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b="1"/>
              <a:t>4/5</a:t>
            </a:r>
          </a:p>
        </p:txBody>
      </p:sp>
      <p:sp>
        <p:nvSpPr>
          <p:cNvPr id="61446" name="Text Box 6">
            <a:extLst>
              <a:ext uri="{FF2B5EF4-FFF2-40B4-BE49-F238E27FC236}">
                <a16:creationId xmlns:a16="http://schemas.microsoft.com/office/drawing/2014/main" id="{0632B2DC-FADD-4400-9D99-D0B533F7CF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3363" y="3754438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i-IN" altLang="hi-IN" b="1"/>
          </a:p>
        </p:txBody>
      </p:sp>
      <p:sp>
        <p:nvSpPr>
          <p:cNvPr id="61447" name="Oval 7">
            <a:extLst>
              <a:ext uri="{FF2B5EF4-FFF2-40B4-BE49-F238E27FC236}">
                <a16:creationId xmlns:a16="http://schemas.microsoft.com/office/drawing/2014/main" id="{8B4097F6-3A31-435B-BC18-4BD3A4255D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9250" y="3713163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b="1"/>
              <a:t>3/6</a:t>
            </a:r>
          </a:p>
        </p:txBody>
      </p:sp>
      <p:sp>
        <p:nvSpPr>
          <p:cNvPr id="61448" name="Line 8">
            <a:extLst>
              <a:ext uri="{FF2B5EF4-FFF2-40B4-BE49-F238E27FC236}">
                <a16:creationId xmlns:a16="http://schemas.microsoft.com/office/drawing/2014/main" id="{00D9B986-A41A-49B0-854A-892FB79B5A1A}"/>
              </a:ext>
            </a:extLst>
          </p:cNvPr>
          <p:cNvSpPr>
            <a:spLocks noChangeShapeType="1"/>
          </p:cNvSpPr>
          <p:nvPr/>
        </p:nvSpPr>
        <p:spPr bwMode="auto">
          <a:xfrm>
            <a:off x="3254375" y="4008438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61449" name="Oval 9">
            <a:extLst>
              <a:ext uri="{FF2B5EF4-FFF2-40B4-BE49-F238E27FC236}">
                <a16:creationId xmlns:a16="http://schemas.microsoft.com/office/drawing/2014/main" id="{56DA15F7-6CA0-4041-AB12-8D283BA80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0388" y="3722688"/>
            <a:ext cx="590550" cy="576262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61450" name="Oval 10">
            <a:extLst>
              <a:ext uri="{FF2B5EF4-FFF2-40B4-BE49-F238E27FC236}">
                <a16:creationId xmlns:a16="http://schemas.microsoft.com/office/drawing/2014/main" id="{20D2DCEC-A4C6-46C0-9220-B112641A52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4488" y="2308225"/>
            <a:ext cx="590550" cy="576263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b="1"/>
              <a:t>2/7</a:t>
            </a:r>
          </a:p>
        </p:txBody>
      </p:sp>
      <p:sp>
        <p:nvSpPr>
          <p:cNvPr id="61451" name="Oval 11">
            <a:extLst>
              <a:ext uri="{FF2B5EF4-FFF2-40B4-BE49-F238E27FC236}">
                <a16:creationId xmlns:a16="http://schemas.microsoft.com/office/drawing/2014/main" id="{96E84F1B-5CA3-4BE9-8C7C-6EEB94AF07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5625" y="2317750"/>
            <a:ext cx="590550" cy="576263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b="1"/>
              <a:t>9/</a:t>
            </a:r>
          </a:p>
        </p:txBody>
      </p:sp>
      <p:sp>
        <p:nvSpPr>
          <p:cNvPr id="61452" name="Line 12">
            <a:extLst>
              <a:ext uri="{FF2B5EF4-FFF2-40B4-BE49-F238E27FC236}">
                <a16:creationId xmlns:a16="http://schemas.microsoft.com/office/drawing/2014/main" id="{ED2303EC-7996-43EA-A1B6-E5C270548D1E}"/>
              </a:ext>
            </a:extLst>
          </p:cNvPr>
          <p:cNvSpPr>
            <a:spLocks noChangeShapeType="1"/>
          </p:cNvSpPr>
          <p:nvPr/>
        </p:nvSpPr>
        <p:spPr bwMode="auto">
          <a:xfrm>
            <a:off x="2965450" y="2881313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61453" name="Line 13">
            <a:extLst>
              <a:ext uri="{FF2B5EF4-FFF2-40B4-BE49-F238E27FC236}">
                <a16:creationId xmlns:a16="http://schemas.microsoft.com/office/drawing/2014/main" id="{D1673401-E1E1-4593-8FA9-BDC71F963B05}"/>
              </a:ext>
            </a:extLst>
          </p:cNvPr>
          <p:cNvSpPr>
            <a:spLocks noChangeShapeType="1"/>
          </p:cNvSpPr>
          <p:nvPr/>
        </p:nvSpPr>
        <p:spPr bwMode="auto">
          <a:xfrm>
            <a:off x="4446588" y="2890838"/>
            <a:ext cx="0" cy="8429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61454" name="Line 14">
            <a:extLst>
              <a:ext uri="{FF2B5EF4-FFF2-40B4-BE49-F238E27FC236}">
                <a16:creationId xmlns:a16="http://schemas.microsoft.com/office/drawing/2014/main" id="{7D6ACCA4-A9C1-4787-B5FD-FB4D61249C8B}"/>
              </a:ext>
            </a:extLst>
          </p:cNvPr>
          <p:cNvSpPr>
            <a:spLocks noChangeShapeType="1"/>
          </p:cNvSpPr>
          <p:nvPr/>
        </p:nvSpPr>
        <p:spPr bwMode="auto">
          <a:xfrm>
            <a:off x="5927725" y="2900363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61455" name="Line 15">
            <a:extLst>
              <a:ext uri="{FF2B5EF4-FFF2-40B4-BE49-F238E27FC236}">
                <a16:creationId xmlns:a16="http://schemas.microsoft.com/office/drawing/2014/main" id="{51C94C19-DE89-4E97-BDBD-617FD07EC1B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73413" y="2757488"/>
            <a:ext cx="1023937" cy="102870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61456" name="Text Box 16">
            <a:extLst>
              <a:ext uri="{FF2B5EF4-FFF2-40B4-BE49-F238E27FC236}">
                <a16:creationId xmlns:a16="http://schemas.microsoft.com/office/drawing/2014/main" id="{CA027019-072F-49B5-B943-024123802C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4800" y="19065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u</a:t>
            </a:r>
          </a:p>
        </p:txBody>
      </p:sp>
      <p:sp>
        <p:nvSpPr>
          <p:cNvPr id="61457" name="Text Box 17">
            <a:extLst>
              <a:ext uri="{FF2B5EF4-FFF2-40B4-BE49-F238E27FC236}">
                <a16:creationId xmlns:a16="http://schemas.microsoft.com/office/drawing/2014/main" id="{7298BDF3-0707-462A-99DD-325B8F52A0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1650" y="191611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v</a:t>
            </a:r>
          </a:p>
        </p:txBody>
      </p:sp>
      <p:sp>
        <p:nvSpPr>
          <p:cNvPr id="61458" name="Text Box 18">
            <a:extLst>
              <a:ext uri="{FF2B5EF4-FFF2-40B4-BE49-F238E27FC236}">
                <a16:creationId xmlns:a16="http://schemas.microsoft.com/office/drawing/2014/main" id="{CF9E9771-5DB4-4412-BA48-04E43F07B2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8500" y="1925638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w</a:t>
            </a:r>
          </a:p>
        </p:txBody>
      </p:sp>
      <p:sp>
        <p:nvSpPr>
          <p:cNvPr id="61459" name="Text Box 19">
            <a:extLst>
              <a:ext uri="{FF2B5EF4-FFF2-40B4-BE49-F238E27FC236}">
                <a16:creationId xmlns:a16="http://schemas.microsoft.com/office/drawing/2014/main" id="{3A3AF4A7-2B35-4A8B-85C2-42D68B5181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1463" y="420211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x</a:t>
            </a:r>
          </a:p>
        </p:txBody>
      </p:sp>
      <p:sp>
        <p:nvSpPr>
          <p:cNvPr id="61460" name="Text Box 20">
            <a:extLst>
              <a:ext uri="{FF2B5EF4-FFF2-40B4-BE49-F238E27FC236}">
                <a16:creationId xmlns:a16="http://schemas.microsoft.com/office/drawing/2014/main" id="{38E70F0B-78CF-4E63-A8D7-990B5D0FDE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421163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y</a:t>
            </a:r>
          </a:p>
        </p:txBody>
      </p:sp>
      <p:sp>
        <p:nvSpPr>
          <p:cNvPr id="61461" name="Text Box 21">
            <a:extLst>
              <a:ext uri="{FF2B5EF4-FFF2-40B4-BE49-F238E27FC236}">
                <a16:creationId xmlns:a16="http://schemas.microsoft.com/office/drawing/2014/main" id="{1AB8F7E4-7EA3-4B49-A83B-FB758DBA7B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8025" y="4206875"/>
            <a:ext cx="319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z</a:t>
            </a:r>
          </a:p>
        </p:txBody>
      </p:sp>
      <p:sp>
        <p:nvSpPr>
          <p:cNvPr id="61462" name="Line 22">
            <a:extLst>
              <a:ext uri="{FF2B5EF4-FFF2-40B4-BE49-F238E27FC236}">
                <a16:creationId xmlns:a16="http://schemas.microsoft.com/office/drawing/2014/main" id="{FDC6EA1B-5F37-4D7B-8242-A3608EE19088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3900" y="2617788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61463" name="Line 23">
            <a:extLst>
              <a:ext uri="{FF2B5EF4-FFF2-40B4-BE49-F238E27FC236}">
                <a16:creationId xmlns:a16="http://schemas.microsoft.com/office/drawing/2014/main" id="{A16A6512-ADB3-4999-90A9-5F6FB120127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81538" y="2779713"/>
            <a:ext cx="1023937" cy="10287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61464" name="Freeform 24">
            <a:extLst>
              <a:ext uri="{FF2B5EF4-FFF2-40B4-BE49-F238E27FC236}">
                <a16:creationId xmlns:a16="http://schemas.microsoft.com/office/drawing/2014/main" id="{B1155E12-802D-407B-BA9F-30D302072A84}"/>
              </a:ext>
            </a:extLst>
          </p:cNvPr>
          <p:cNvSpPr>
            <a:spLocks/>
          </p:cNvSpPr>
          <p:nvPr/>
        </p:nvSpPr>
        <p:spPr bwMode="auto">
          <a:xfrm>
            <a:off x="6146800" y="3797300"/>
            <a:ext cx="598488" cy="590550"/>
          </a:xfrm>
          <a:custGeom>
            <a:avLst/>
            <a:gdLst>
              <a:gd name="T0" fmla="*/ 0 w 377"/>
              <a:gd name="T1" fmla="*/ 2147483647 h 372"/>
              <a:gd name="T2" fmla="*/ 2147483647 w 377"/>
              <a:gd name="T3" fmla="*/ 2147483647 h 372"/>
              <a:gd name="T4" fmla="*/ 2147483647 w 377"/>
              <a:gd name="T5" fmla="*/ 2147483647 h 372"/>
              <a:gd name="T6" fmla="*/ 2147483647 w 377"/>
              <a:gd name="T7" fmla="*/ 2147483647 h 372"/>
              <a:gd name="T8" fmla="*/ 2147483647 w 377"/>
              <a:gd name="T9" fmla="*/ 2147483647 h 372"/>
              <a:gd name="T10" fmla="*/ 2147483647 w 377"/>
              <a:gd name="T11" fmla="*/ 2147483647 h 3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77"/>
              <a:gd name="T19" fmla="*/ 0 h 372"/>
              <a:gd name="T20" fmla="*/ 377 w 377"/>
              <a:gd name="T21" fmla="*/ 372 h 37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77" h="372">
                <a:moveTo>
                  <a:pt x="0" y="254"/>
                </a:moveTo>
                <a:cubicBezTo>
                  <a:pt x="44" y="304"/>
                  <a:pt x="88" y="354"/>
                  <a:pt x="145" y="363"/>
                </a:cubicBezTo>
                <a:cubicBezTo>
                  <a:pt x="202" y="372"/>
                  <a:pt x="313" y="346"/>
                  <a:pt x="345" y="308"/>
                </a:cubicBezTo>
                <a:cubicBezTo>
                  <a:pt x="377" y="270"/>
                  <a:pt x="359" y="184"/>
                  <a:pt x="336" y="136"/>
                </a:cubicBezTo>
                <a:cubicBezTo>
                  <a:pt x="313" y="88"/>
                  <a:pt x="259" y="34"/>
                  <a:pt x="209" y="17"/>
                </a:cubicBezTo>
                <a:cubicBezTo>
                  <a:pt x="159" y="0"/>
                  <a:pt x="97" y="18"/>
                  <a:pt x="36" y="36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61465" name="Text Box 25">
            <a:extLst>
              <a:ext uri="{FF2B5EF4-FFF2-40B4-BE49-F238E27FC236}">
                <a16:creationId xmlns:a16="http://schemas.microsoft.com/office/drawing/2014/main" id="{CDE9E8C6-248E-4B76-B56C-D67FCB1A74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7563" y="2951163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/>
              <a:t>B</a:t>
            </a:r>
          </a:p>
        </p:txBody>
      </p:sp>
      <p:sp>
        <p:nvSpPr>
          <p:cNvPr id="61466" name="Text Box 26">
            <a:extLst>
              <a:ext uri="{FF2B5EF4-FFF2-40B4-BE49-F238E27FC236}">
                <a16:creationId xmlns:a16="http://schemas.microsoft.com/office/drawing/2014/main" id="{C4C69E85-5E02-42F4-AA2A-B0338CBFDB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6675" y="3022600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/>
              <a:t>F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150B62-EDE1-4557-9CE6-C2500E161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78</a:t>
            </a:fld>
            <a:endParaRPr lang="en-US" altLang="hi-IN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D7784D4D-0EE8-451D-B7DF-FD25FAF388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i-IN"/>
              <a:t>Example (DFS)</a:t>
            </a:r>
          </a:p>
        </p:txBody>
      </p:sp>
      <p:sp>
        <p:nvSpPr>
          <p:cNvPr id="62467" name="Oval 3">
            <a:extLst>
              <a:ext uri="{FF2B5EF4-FFF2-40B4-BE49-F238E27FC236}">
                <a16:creationId xmlns:a16="http://schemas.microsoft.com/office/drawing/2014/main" id="{40A83E9D-92CB-45D3-8AF9-F6D77C38FC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8113" y="2303463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62468" name="Text Box 4">
            <a:extLst>
              <a:ext uri="{FF2B5EF4-FFF2-40B4-BE49-F238E27FC236}">
                <a16:creationId xmlns:a16="http://schemas.microsoft.com/office/drawing/2014/main" id="{DA6C47C9-34C0-4337-96C7-3EF8CF70E6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6213" y="2366963"/>
            <a:ext cx="573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1/8</a:t>
            </a:r>
            <a:endParaRPr lang="en-US" altLang="hi-IN" b="1"/>
          </a:p>
        </p:txBody>
      </p:sp>
      <p:sp>
        <p:nvSpPr>
          <p:cNvPr id="62469" name="Oval 5">
            <a:extLst>
              <a:ext uri="{FF2B5EF4-FFF2-40B4-BE49-F238E27FC236}">
                <a16:creationId xmlns:a16="http://schemas.microsoft.com/office/drawing/2014/main" id="{57C3694E-088F-40D3-ADE2-16458223A2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8113" y="3719513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b="1"/>
              <a:t>4/5</a:t>
            </a:r>
          </a:p>
        </p:txBody>
      </p:sp>
      <p:sp>
        <p:nvSpPr>
          <p:cNvPr id="62470" name="Text Box 6">
            <a:extLst>
              <a:ext uri="{FF2B5EF4-FFF2-40B4-BE49-F238E27FC236}">
                <a16:creationId xmlns:a16="http://schemas.microsoft.com/office/drawing/2014/main" id="{F5C341E8-9A26-44CF-AEBC-EBB49CEC98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3363" y="3754438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i-IN" altLang="hi-IN" b="1"/>
          </a:p>
        </p:txBody>
      </p:sp>
      <p:sp>
        <p:nvSpPr>
          <p:cNvPr id="62471" name="Oval 7">
            <a:extLst>
              <a:ext uri="{FF2B5EF4-FFF2-40B4-BE49-F238E27FC236}">
                <a16:creationId xmlns:a16="http://schemas.microsoft.com/office/drawing/2014/main" id="{68F02EBB-CEB9-4221-BEE7-34C5E00D9F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9250" y="3713163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b="1"/>
              <a:t>3/6</a:t>
            </a:r>
          </a:p>
        </p:txBody>
      </p:sp>
      <p:sp>
        <p:nvSpPr>
          <p:cNvPr id="62472" name="Line 8">
            <a:extLst>
              <a:ext uri="{FF2B5EF4-FFF2-40B4-BE49-F238E27FC236}">
                <a16:creationId xmlns:a16="http://schemas.microsoft.com/office/drawing/2014/main" id="{1CA54669-439A-4513-A6E3-D5C94A9B9D1A}"/>
              </a:ext>
            </a:extLst>
          </p:cNvPr>
          <p:cNvSpPr>
            <a:spLocks noChangeShapeType="1"/>
          </p:cNvSpPr>
          <p:nvPr/>
        </p:nvSpPr>
        <p:spPr bwMode="auto">
          <a:xfrm>
            <a:off x="3254375" y="4008438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62473" name="Oval 9">
            <a:extLst>
              <a:ext uri="{FF2B5EF4-FFF2-40B4-BE49-F238E27FC236}">
                <a16:creationId xmlns:a16="http://schemas.microsoft.com/office/drawing/2014/main" id="{981E02B6-E68C-46C0-B612-E6DE06B1C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0388" y="3722688"/>
            <a:ext cx="590550" cy="576262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62474" name="Oval 10">
            <a:extLst>
              <a:ext uri="{FF2B5EF4-FFF2-40B4-BE49-F238E27FC236}">
                <a16:creationId xmlns:a16="http://schemas.microsoft.com/office/drawing/2014/main" id="{82C1F2A4-71C6-4450-9FEB-15DAB24368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4488" y="2308225"/>
            <a:ext cx="590550" cy="576263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b="1"/>
              <a:t>2/7</a:t>
            </a:r>
          </a:p>
        </p:txBody>
      </p:sp>
      <p:sp>
        <p:nvSpPr>
          <p:cNvPr id="62475" name="Oval 11">
            <a:extLst>
              <a:ext uri="{FF2B5EF4-FFF2-40B4-BE49-F238E27FC236}">
                <a16:creationId xmlns:a16="http://schemas.microsoft.com/office/drawing/2014/main" id="{0D791865-DB93-4D46-BDD8-DB39B0F450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5625" y="2317750"/>
            <a:ext cx="590550" cy="576263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b="1"/>
              <a:t>9/</a:t>
            </a:r>
          </a:p>
        </p:txBody>
      </p:sp>
      <p:sp>
        <p:nvSpPr>
          <p:cNvPr id="62476" name="Line 12">
            <a:extLst>
              <a:ext uri="{FF2B5EF4-FFF2-40B4-BE49-F238E27FC236}">
                <a16:creationId xmlns:a16="http://schemas.microsoft.com/office/drawing/2014/main" id="{D55BF94D-F593-4F6E-8C5D-46EDF9B8029D}"/>
              </a:ext>
            </a:extLst>
          </p:cNvPr>
          <p:cNvSpPr>
            <a:spLocks noChangeShapeType="1"/>
          </p:cNvSpPr>
          <p:nvPr/>
        </p:nvSpPr>
        <p:spPr bwMode="auto">
          <a:xfrm>
            <a:off x="2965450" y="2881313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62477" name="Line 13">
            <a:extLst>
              <a:ext uri="{FF2B5EF4-FFF2-40B4-BE49-F238E27FC236}">
                <a16:creationId xmlns:a16="http://schemas.microsoft.com/office/drawing/2014/main" id="{2766DBC0-5C4A-4D9F-952A-DEA2EC1313D4}"/>
              </a:ext>
            </a:extLst>
          </p:cNvPr>
          <p:cNvSpPr>
            <a:spLocks noChangeShapeType="1"/>
          </p:cNvSpPr>
          <p:nvPr/>
        </p:nvSpPr>
        <p:spPr bwMode="auto">
          <a:xfrm>
            <a:off x="4446588" y="2890838"/>
            <a:ext cx="0" cy="8429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62478" name="Line 14">
            <a:extLst>
              <a:ext uri="{FF2B5EF4-FFF2-40B4-BE49-F238E27FC236}">
                <a16:creationId xmlns:a16="http://schemas.microsoft.com/office/drawing/2014/main" id="{B32A07DB-049A-45CC-AFD5-928FECB6EEBB}"/>
              </a:ext>
            </a:extLst>
          </p:cNvPr>
          <p:cNvSpPr>
            <a:spLocks noChangeShapeType="1"/>
          </p:cNvSpPr>
          <p:nvPr/>
        </p:nvSpPr>
        <p:spPr bwMode="auto">
          <a:xfrm>
            <a:off x="5927725" y="2900363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62479" name="Line 15">
            <a:extLst>
              <a:ext uri="{FF2B5EF4-FFF2-40B4-BE49-F238E27FC236}">
                <a16:creationId xmlns:a16="http://schemas.microsoft.com/office/drawing/2014/main" id="{63F4E037-542A-4BF4-AB23-645F8DFF9CA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73413" y="2757488"/>
            <a:ext cx="1023937" cy="102870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62480" name="Text Box 16">
            <a:extLst>
              <a:ext uri="{FF2B5EF4-FFF2-40B4-BE49-F238E27FC236}">
                <a16:creationId xmlns:a16="http://schemas.microsoft.com/office/drawing/2014/main" id="{3AE1C25F-E755-499F-BB0B-E29F438C90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4800" y="19065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u</a:t>
            </a:r>
          </a:p>
        </p:txBody>
      </p:sp>
      <p:sp>
        <p:nvSpPr>
          <p:cNvPr id="62481" name="Text Box 17">
            <a:extLst>
              <a:ext uri="{FF2B5EF4-FFF2-40B4-BE49-F238E27FC236}">
                <a16:creationId xmlns:a16="http://schemas.microsoft.com/office/drawing/2014/main" id="{4BBC6032-44E6-4403-B921-603883906D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1650" y="191611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v</a:t>
            </a:r>
          </a:p>
        </p:txBody>
      </p:sp>
      <p:sp>
        <p:nvSpPr>
          <p:cNvPr id="62482" name="Text Box 18">
            <a:extLst>
              <a:ext uri="{FF2B5EF4-FFF2-40B4-BE49-F238E27FC236}">
                <a16:creationId xmlns:a16="http://schemas.microsoft.com/office/drawing/2014/main" id="{57E5A792-001A-49C6-9CAA-E51F8E5758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8500" y="1925638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w</a:t>
            </a:r>
          </a:p>
        </p:txBody>
      </p:sp>
      <p:sp>
        <p:nvSpPr>
          <p:cNvPr id="62483" name="Text Box 19">
            <a:extLst>
              <a:ext uri="{FF2B5EF4-FFF2-40B4-BE49-F238E27FC236}">
                <a16:creationId xmlns:a16="http://schemas.microsoft.com/office/drawing/2014/main" id="{A2596613-6C0B-49E4-9F93-95B53D0ADB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1463" y="420211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x</a:t>
            </a:r>
          </a:p>
        </p:txBody>
      </p:sp>
      <p:sp>
        <p:nvSpPr>
          <p:cNvPr id="62484" name="Text Box 20">
            <a:extLst>
              <a:ext uri="{FF2B5EF4-FFF2-40B4-BE49-F238E27FC236}">
                <a16:creationId xmlns:a16="http://schemas.microsoft.com/office/drawing/2014/main" id="{E29BED50-9562-407C-AB9B-7DB043D028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421163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y</a:t>
            </a:r>
          </a:p>
        </p:txBody>
      </p:sp>
      <p:sp>
        <p:nvSpPr>
          <p:cNvPr id="62485" name="Text Box 21">
            <a:extLst>
              <a:ext uri="{FF2B5EF4-FFF2-40B4-BE49-F238E27FC236}">
                <a16:creationId xmlns:a16="http://schemas.microsoft.com/office/drawing/2014/main" id="{9A84DD07-B08B-4258-8BAE-AF4B40D4F7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8025" y="4206875"/>
            <a:ext cx="319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z</a:t>
            </a:r>
          </a:p>
        </p:txBody>
      </p:sp>
      <p:sp>
        <p:nvSpPr>
          <p:cNvPr id="62486" name="Line 22">
            <a:extLst>
              <a:ext uri="{FF2B5EF4-FFF2-40B4-BE49-F238E27FC236}">
                <a16:creationId xmlns:a16="http://schemas.microsoft.com/office/drawing/2014/main" id="{EE845CAB-38A8-4476-9CC3-7F4DB9E4E937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3900" y="2617788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62487" name="Line 23">
            <a:extLst>
              <a:ext uri="{FF2B5EF4-FFF2-40B4-BE49-F238E27FC236}">
                <a16:creationId xmlns:a16="http://schemas.microsoft.com/office/drawing/2014/main" id="{7C8A2C83-4969-47FF-BC6F-6D1D3D3B516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81538" y="2779713"/>
            <a:ext cx="1023937" cy="102870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62488" name="Freeform 24">
            <a:extLst>
              <a:ext uri="{FF2B5EF4-FFF2-40B4-BE49-F238E27FC236}">
                <a16:creationId xmlns:a16="http://schemas.microsoft.com/office/drawing/2014/main" id="{7748E77F-3708-49CE-BFB8-07BE33ACF4E6}"/>
              </a:ext>
            </a:extLst>
          </p:cNvPr>
          <p:cNvSpPr>
            <a:spLocks/>
          </p:cNvSpPr>
          <p:nvPr/>
        </p:nvSpPr>
        <p:spPr bwMode="auto">
          <a:xfrm>
            <a:off x="6146800" y="3797300"/>
            <a:ext cx="598488" cy="590550"/>
          </a:xfrm>
          <a:custGeom>
            <a:avLst/>
            <a:gdLst>
              <a:gd name="T0" fmla="*/ 0 w 377"/>
              <a:gd name="T1" fmla="*/ 2147483647 h 372"/>
              <a:gd name="T2" fmla="*/ 2147483647 w 377"/>
              <a:gd name="T3" fmla="*/ 2147483647 h 372"/>
              <a:gd name="T4" fmla="*/ 2147483647 w 377"/>
              <a:gd name="T5" fmla="*/ 2147483647 h 372"/>
              <a:gd name="T6" fmla="*/ 2147483647 w 377"/>
              <a:gd name="T7" fmla="*/ 2147483647 h 372"/>
              <a:gd name="T8" fmla="*/ 2147483647 w 377"/>
              <a:gd name="T9" fmla="*/ 2147483647 h 372"/>
              <a:gd name="T10" fmla="*/ 2147483647 w 377"/>
              <a:gd name="T11" fmla="*/ 2147483647 h 3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77"/>
              <a:gd name="T19" fmla="*/ 0 h 372"/>
              <a:gd name="T20" fmla="*/ 377 w 377"/>
              <a:gd name="T21" fmla="*/ 372 h 37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77" h="372">
                <a:moveTo>
                  <a:pt x="0" y="254"/>
                </a:moveTo>
                <a:cubicBezTo>
                  <a:pt x="44" y="304"/>
                  <a:pt x="88" y="354"/>
                  <a:pt x="145" y="363"/>
                </a:cubicBezTo>
                <a:cubicBezTo>
                  <a:pt x="202" y="372"/>
                  <a:pt x="313" y="346"/>
                  <a:pt x="345" y="308"/>
                </a:cubicBezTo>
                <a:cubicBezTo>
                  <a:pt x="377" y="270"/>
                  <a:pt x="359" y="184"/>
                  <a:pt x="336" y="136"/>
                </a:cubicBezTo>
                <a:cubicBezTo>
                  <a:pt x="313" y="88"/>
                  <a:pt x="259" y="34"/>
                  <a:pt x="209" y="17"/>
                </a:cubicBezTo>
                <a:cubicBezTo>
                  <a:pt x="159" y="0"/>
                  <a:pt x="97" y="18"/>
                  <a:pt x="36" y="36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62489" name="Text Box 25">
            <a:extLst>
              <a:ext uri="{FF2B5EF4-FFF2-40B4-BE49-F238E27FC236}">
                <a16:creationId xmlns:a16="http://schemas.microsoft.com/office/drawing/2014/main" id="{8AE72D44-C84B-4A64-BF4B-E8ED840DDE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7563" y="2951163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/>
              <a:t>B</a:t>
            </a:r>
          </a:p>
        </p:txBody>
      </p:sp>
      <p:sp>
        <p:nvSpPr>
          <p:cNvPr id="62490" name="Text Box 26">
            <a:extLst>
              <a:ext uri="{FF2B5EF4-FFF2-40B4-BE49-F238E27FC236}">
                <a16:creationId xmlns:a16="http://schemas.microsoft.com/office/drawing/2014/main" id="{56BA091A-D9DE-4504-9E52-1524E0D0F3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6675" y="3022600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/>
              <a:t>F</a:t>
            </a:r>
          </a:p>
        </p:txBody>
      </p:sp>
      <p:sp>
        <p:nvSpPr>
          <p:cNvPr id="62491" name="Text Box 27">
            <a:extLst>
              <a:ext uri="{FF2B5EF4-FFF2-40B4-BE49-F238E27FC236}">
                <a16:creationId xmlns:a16="http://schemas.microsoft.com/office/drawing/2014/main" id="{34E363C8-BAD9-4F57-8A59-4E7F7E2E6E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2038" y="2951163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/>
              <a:t>C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D9206F0-942A-463C-A2D9-011B48641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79</a:t>
            </a:fld>
            <a:endParaRPr lang="en-US" altLang="hi-IN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DFEA6113-DDE5-414F-AB70-DEED44A518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i-IN"/>
              <a:t>Example (DFS)</a:t>
            </a:r>
          </a:p>
        </p:txBody>
      </p:sp>
      <p:sp>
        <p:nvSpPr>
          <p:cNvPr id="63491" name="Oval 3">
            <a:extLst>
              <a:ext uri="{FF2B5EF4-FFF2-40B4-BE49-F238E27FC236}">
                <a16:creationId xmlns:a16="http://schemas.microsoft.com/office/drawing/2014/main" id="{507B0E31-5973-4542-A64D-B9999D9EA6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8113" y="2303463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63492" name="Text Box 4">
            <a:extLst>
              <a:ext uri="{FF2B5EF4-FFF2-40B4-BE49-F238E27FC236}">
                <a16:creationId xmlns:a16="http://schemas.microsoft.com/office/drawing/2014/main" id="{E51C240F-9513-4977-9850-0C0F7D95ED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6213" y="2366963"/>
            <a:ext cx="573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1/8</a:t>
            </a:r>
            <a:endParaRPr lang="en-US" altLang="hi-IN" b="1"/>
          </a:p>
        </p:txBody>
      </p:sp>
      <p:sp>
        <p:nvSpPr>
          <p:cNvPr id="63493" name="Oval 5">
            <a:extLst>
              <a:ext uri="{FF2B5EF4-FFF2-40B4-BE49-F238E27FC236}">
                <a16:creationId xmlns:a16="http://schemas.microsoft.com/office/drawing/2014/main" id="{32924227-E29D-4B7E-92ED-36CCE94DBB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8113" y="3719513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b="1"/>
              <a:t>4/5</a:t>
            </a:r>
          </a:p>
        </p:txBody>
      </p:sp>
      <p:sp>
        <p:nvSpPr>
          <p:cNvPr id="63494" name="Text Box 6">
            <a:extLst>
              <a:ext uri="{FF2B5EF4-FFF2-40B4-BE49-F238E27FC236}">
                <a16:creationId xmlns:a16="http://schemas.microsoft.com/office/drawing/2014/main" id="{1B930817-8BD4-43E6-B814-C9552447B8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3363" y="3754438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i-IN" altLang="hi-IN" b="1"/>
          </a:p>
        </p:txBody>
      </p:sp>
      <p:sp>
        <p:nvSpPr>
          <p:cNvPr id="63495" name="Oval 7">
            <a:extLst>
              <a:ext uri="{FF2B5EF4-FFF2-40B4-BE49-F238E27FC236}">
                <a16:creationId xmlns:a16="http://schemas.microsoft.com/office/drawing/2014/main" id="{82768F69-EC77-4EED-B38D-5573C81B69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9250" y="3713163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b="1"/>
              <a:t>3/6</a:t>
            </a:r>
          </a:p>
        </p:txBody>
      </p:sp>
      <p:sp>
        <p:nvSpPr>
          <p:cNvPr id="63496" name="Line 8">
            <a:extLst>
              <a:ext uri="{FF2B5EF4-FFF2-40B4-BE49-F238E27FC236}">
                <a16:creationId xmlns:a16="http://schemas.microsoft.com/office/drawing/2014/main" id="{8EDFD2F1-BB01-468D-977E-4C7A92CEB41F}"/>
              </a:ext>
            </a:extLst>
          </p:cNvPr>
          <p:cNvSpPr>
            <a:spLocks noChangeShapeType="1"/>
          </p:cNvSpPr>
          <p:nvPr/>
        </p:nvSpPr>
        <p:spPr bwMode="auto">
          <a:xfrm>
            <a:off x="3254375" y="4008438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63497" name="Oval 9">
            <a:extLst>
              <a:ext uri="{FF2B5EF4-FFF2-40B4-BE49-F238E27FC236}">
                <a16:creationId xmlns:a16="http://schemas.microsoft.com/office/drawing/2014/main" id="{EB05BBC3-9CFA-4AA0-81CD-6F85C4F8F2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0388" y="3722688"/>
            <a:ext cx="590550" cy="576262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b="1"/>
              <a:t>10/</a:t>
            </a:r>
          </a:p>
        </p:txBody>
      </p:sp>
      <p:sp>
        <p:nvSpPr>
          <p:cNvPr id="63498" name="Oval 10">
            <a:extLst>
              <a:ext uri="{FF2B5EF4-FFF2-40B4-BE49-F238E27FC236}">
                <a16:creationId xmlns:a16="http://schemas.microsoft.com/office/drawing/2014/main" id="{F825495A-A834-4F1E-969A-ACA2E3AC56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4488" y="2308225"/>
            <a:ext cx="590550" cy="576263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b="1"/>
              <a:t>2/7</a:t>
            </a:r>
          </a:p>
        </p:txBody>
      </p:sp>
      <p:sp>
        <p:nvSpPr>
          <p:cNvPr id="63499" name="Oval 11">
            <a:extLst>
              <a:ext uri="{FF2B5EF4-FFF2-40B4-BE49-F238E27FC236}">
                <a16:creationId xmlns:a16="http://schemas.microsoft.com/office/drawing/2014/main" id="{592A8CA2-A548-4AE5-87D3-FF7EDC0E04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5625" y="2317750"/>
            <a:ext cx="590550" cy="576263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b="1"/>
              <a:t>9/</a:t>
            </a:r>
          </a:p>
        </p:txBody>
      </p:sp>
      <p:sp>
        <p:nvSpPr>
          <p:cNvPr id="63500" name="Line 12">
            <a:extLst>
              <a:ext uri="{FF2B5EF4-FFF2-40B4-BE49-F238E27FC236}">
                <a16:creationId xmlns:a16="http://schemas.microsoft.com/office/drawing/2014/main" id="{D2D2F0CE-D16F-4E7E-9EA3-26A0CDD3B66D}"/>
              </a:ext>
            </a:extLst>
          </p:cNvPr>
          <p:cNvSpPr>
            <a:spLocks noChangeShapeType="1"/>
          </p:cNvSpPr>
          <p:nvPr/>
        </p:nvSpPr>
        <p:spPr bwMode="auto">
          <a:xfrm>
            <a:off x="2965450" y="2881313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63501" name="Line 13">
            <a:extLst>
              <a:ext uri="{FF2B5EF4-FFF2-40B4-BE49-F238E27FC236}">
                <a16:creationId xmlns:a16="http://schemas.microsoft.com/office/drawing/2014/main" id="{190EE734-342A-4C8C-8D0B-8CB66D7239D7}"/>
              </a:ext>
            </a:extLst>
          </p:cNvPr>
          <p:cNvSpPr>
            <a:spLocks noChangeShapeType="1"/>
          </p:cNvSpPr>
          <p:nvPr/>
        </p:nvSpPr>
        <p:spPr bwMode="auto">
          <a:xfrm>
            <a:off x="4446588" y="2890838"/>
            <a:ext cx="0" cy="8429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63502" name="Line 14">
            <a:extLst>
              <a:ext uri="{FF2B5EF4-FFF2-40B4-BE49-F238E27FC236}">
                <a16:creationId xmlns:a16="http://schemas.microsoft.com/office/drawing/2014/main" id="{CED943C8-C7EC-4970-8376-D7DCF7FD186A}"/>
              </a:ext>
            </a:extLst>
          </p:cNvPr>
          <p:cNvSpPr>
            <a:spLocks noChangeShapeType="1"/>
          </p:cNvSpPr>
          <p:nvPr/>
        </p:nvSpPr>
        <p:spPr bwMode="auto">
          <a:xfrm>
            <a:off x="5927725" y="2900363"/>
            <a:ext cx="0" cy="8429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63503" name="Line 15">
            <a:extLst>
              <a:ext uri="{FF2B5EF4-FFF2-40B4-BE49-F238E27FC236}">
                <a16:creationId xmlns:a16="http://schemas.microsoft.com/office/drawing/2014/main" id="{F0F4D66D-9D51-4B39-8D72-1E0375B1D75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73413" y="2757488"/>
            <a:ext cx="1023937" cy="102870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63504" name="Text Box 16">
            <a:extLst>
              <a:ext uri="{FF2B5EF4-FFF2-40B4-BE49-F238E27FC236}">
                <a16:creationId xmlns:a16="http://schemas.microsoft.com/office/drawing/2014/main" id="{083E8F24-1810-40CA-9345-F80C0F69A9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4800" y="19065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u</a:t>
            </a:r>
          </a:p>
        </p:txBody>
      </p:sp>
      <p:sp>
        <p:nvSpPr>
          <p:cNvPr id="63505" name="Text Box 17">
            <a:extLst>
              <a:ext uri="{FF2B5EF4-FFF2-40B4-BE49-F238E27FC236}">
                <a16:creationId xmlns:a16="http://schemas.microsoft.com/office/drawing/2014/main" id="{19C9A159-E618-46A0-A2BF-A5088C2785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1650" y="191611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v</a:t>
            </a:r>
          </a:p>
        </p:txBody>
      </p:sp>
      <p:sp>
        <p:nvSpPr>
          <p:cNvPr id="63506" name="Text Box 18">
            <a:extLst>
              <a:ext uri="{FF2B5EF4-FFF2-40B4-BE49-F238E27FC236}">
                <a16:creationId xmlns:a16="http://schemas.microsoft.com/office/drawing/2014/main" id="{3126EACF-7728-46D0-B10D-6FF521511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8500" y="1925638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w</a:t>
            </a:r>
          </a:p>
        </p:txBody>
      </p:sp>
      <p:sp>
        <p:nvSpPr>
          <p:cNvPr id="63507" name="Text Box 19">
            <a:extLst>
              <a:ext uri="{FF2B5EF4-FFF2-40B4-BE49-F238E27FC236}">
                <a16:creationId xmlns:a16="http://schemas.microsoft.com/office/drawing/2014/main" id="{B41D16D7-DFC7-46AA-8919-C930C2A4D0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1463" y="420211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x</a:t>
            </a:r>
          </a:p>
        </p:txBody>
      </p:sp>
      <p:sp>
        <p:nvSpPr>
          <p:cNvPr id="63508" name="Text Box 20">
            <a:extLst>
              <a:ext uri="{FF2B5EF4-FFF2-40B4-BE49-F238E27FC236}">
                <a16:creationId xmlns:a16="http://schemas.microsoft.com/office/drawing/2014/main" id="{1F439B35-2C3B-4A09-AC9F-4B01BA8824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421163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y</a:t>
            </a:r>
          </a:p>
        </p:txBody>
      </p:sp>
      <p:sp>
        <p:nvSpPr>
          <p:cNvPr id="63509" name="Text Box 21">
            <a:extLst>
              <a:ext uri="{FF2B5EF4-FFF2-40B4-BE49-F238E27FC236}">
                <a16:creationId xmlns:a16="http://schemas.microsoft.com/office/drawing/2014/main" id="{1E73D458-48F3-4E0D-9DBF-8E8C620DEA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8025" y="4206875"/>
            <a:ext cx="319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z</a:t>
            </a:r>
          </a:p>
        </p:txBody>
      </p:sp>
      <p:sp>
        <p:nvSpPr>
          <p:cNvPr id="63510" name="Line 22">
            <a:extLst>
              <a:ext uri="{FF2B5EF4-FFF2-40B4-BE49-F238E27FC236}">
                <a16:creationId xmlns:a16="http://schemas.microsoft.com/office/drawing/2014/main" id="{FFED2C63-D8B2-42CE-AD8F-AAEC7F31B1D8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3900" y="2617788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63511" name="Line 23">
            <a:extLst>
              <a:ext uri="{FF2B5EF4-FFF2-40B4-BE49-F238E27FC236}">
                <a16:creationId xmlns:a16="http://schemas.microsoft.com/office/drawing/2014/main" id="{AC4EBD47-A723-41FE-A3E3-505918E4D3E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81538" y="2779713"/>
            <a:ext cx="1023937" cy="102870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63512" name="Freeform 24">
            <a:extLst>
              <a:ext uri="{FF2B5EF4-FFF2-40B4-BE49-F238E27FC236}">
                <a16:creationId xmlns:a16="http://schemas.microsoft.com/office/drawing/2014/main" id="{B98F061E-30C7-46A1-BFB9-83D4402602CC}"/>
              </a:ext>
            </a:extLst>
          </p:cNvPr>
          <p:cNvSpPr>
            <a:spLocks/>
          </p:cNvSpPr>
          <p:nvPr/>
        </p:nvSpPr>
        <p:spPr bwMode="auto">
          <a:xfrm>
            <a:off x="6146800" y="3797300"/>
            <a:ext cx="598488" cy="590550"/>
          </a:xfrm>
          <a:custGeom>
            <a:avLst/>
            <a:gdLst>
              <a:gd name="T0" fmla="*/ 0 w 377"/>
              <a:gd name="T1" fmla="*/ 2147483647 h 372"/>
              <a:gd name="T2" fmla="*/ 2147483647 w 377"/>
              <a:gd name="T3" fmla="*/ 2147483647 h 372"/>
              <a:gd name="T4" fmla="*/ 2147483647 w 377"/>
              <a:gd name="T5" fmla="*/ 2147483647 h 372"/>
              <a:gd name="T6" fmla="*/ 2147483647 w 377"/>
              <a:gd name="T7" fmla="*/ 2147483647 h 372"/>
              <a:gd name="T8" fmla="*/ 2147483647 w 377"/>
              <a:gd name="T9" fmla="*/ 2147483647 h 372"/>
              <a:gd name="T10" fmla="*/ 2147483647 w 377"/>
              <a:gd name="T11" fmla="*/ 2147483647 h 3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77"/>
              <a:gd name="T19" fmla="*/ 0 h 372"/>
              <a:gd name="T20" fmla="*/ 377 w 377"/>
              <a:gd name="T21" fmla="*/ 372 h 37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77" h="372">
                <a:moveTo>
                  <a:pt x="0" y="254"/>
                </a:moveTo>
                <a:cubicBezTo>
                  <a:pt x="44" y="304"/>
                  <a:pt x="88" y="354"/>
                  <a:pt x="145" y="363"/>
                </a:cubicBezTo>
                <a:cubicBezTo>
                  <a:pt x="202" y="372"/>
                  <a:pt x="313" y="346"/>
                  <a:pt x="345" y="308"/>
                </a:cubicBezTo>
                <a:cubicBezTo>
                  <a:pt x="377" y="270"/>
                  <a:pt x="359" y="184"/>
                  <a:pt x="336" y="136"/>
                </a:cubicBezTo>
                <a:cubicBezTo>
                  <a:pt x="313" y="88"/>
                  <a:pt x="259" y="34"/>
                  <a:pt x="209" y="17"/>
                </a:cubicBezTo>
                <a:cubicBezTo>
                  <a:pt x="159" y="0"/>
                  <a:pt x="97" y="18"/>
                  <a:pt x="36" y="36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63513" name="Text Box 25">
            <a:extLst>
              <a:ext uri="{FF2B5EF4-FFF2-40B4-BE49-F238E27FC236}">
                <a16:creationId xmlns:a16="http://schemas.microsoft.com/office/drawing/2014/main" id="{0E172B89-16A3-4437-826C-75CDE69DB3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7563" y="2951163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/>
              <a:t>B</a:t>
            </a:r>
          </a:p>
        </p:txBody>
      </p:sp>
      <p:sp>
        <p:nvSpPr>
          <p:cNvPr id="63514" name="Text Box 26">
            <a:extLst>
              <a:ext uri="{FF2B5EF4-FFF2-40B4-BE49-F238E27FC236}">
                <a16:creationId xmlns:a16="http://schemas.microsoft.com/office/drawing/2014/main" id="{06BC73E6-BAF2-41FD-8D17-988C276551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6675" y="3022600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/>
              <a:t>F</a:t>
            </a:r>
          </a:p>
        </p:txBody>
      </p:sp>
      <p:sp>
        <p:nvSpPr>
          <p:cNvPr id="63515" name="Text Box 27">
            <a:extLst>
              <a:ext uri="{FF2B5EF4-FFF2-40B4-BE49-F238E27FC236}">
                <a16:creationId xmlns:a16="http://schemas.microsoft.com/office/drawing/2014/main" id="{1194973D-86C9-47FC-850D-B1D1584E77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2038" y="2951163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/>
              <a:t>C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A42001-78BF-48D5-9505-46FC5450A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80</a:t>
            </a:fld>
            <a:endParaRPr lang="en-US" altLang="hi-IN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63908E02-38F7-44DD-A94F-E3AD150705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i-IN"/>
              <a:t>Example (DFS)</a:t>
            </a:r>
          </a:p>
        </p:txBody>
      </p:sp>
      <p:sp>
        <p:nvSpPr>
          <p:cNvPr id="64515" name="Oval 3">
            <a:extLst>
              <a:ext uri="{FF2B5EF4-FFF2-40B4-BE49-F238E27FC236}">
                <a16:creationId xmlns:a16="http://schemas.microsoft.com/office/drawing/2014/main" id="{CC3F4BF9-BF14-4E67-8529-4399E204DD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8113" y="2303463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64516" name="Text Box 4">
            <a:extLst>
              <a:ext uri="{FF2B5EF4-FFF2-40B4-BE49-F238E27FC236}">
                <a16:creationId xmlns:a16="http://schemas.microsoft.com/office/drawing/2014/main" id="{7B49581B-5237-4EC2-96CB-C7296ACF11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6213" y="2366963"/>
            <a:ext cx="573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1/8</a:t>
            </a:r>
            <a:endParaRPr lang="en-US" altLang="hi-IN" b="1"/>
          </a:p>
        </p:txBody>
      </p:sp>
      <p:sp>
        <p:nvSpPr>
          <p:cNvPr id="64517" name="Oval 5">
            <a:extLst>
              <a:ext uri="{FF2B5EF4-FFF2-40B4-BE49-F238E27FC236}">
                <a16:creationId xmlns:a16="http://schemas.microsoft.com/office/drawing/2014/main" id="{17B85FC9-C967-4815-BE80-845D7B97A2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8113" y="3719513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b="1"/>
              <a:t>4/5</a:t>
            </a:r>
          </a:p>
        </p:txBody>
      </p:sp>
      <p:sp>
        <p:nvSpPr>
          <p:cNvPr id="64518" name="Text Box 6">
            <a:extLst>
              <a:ext uri="{FF2B5EF4-FFF2-40B4-BE49-F238E27FC236}">
                <a16:creationId xmlns:a16="http://schemas.microsoft.com/office/drawing/2014/main" id="{2AC2AF1E-965B-4001-88C0-BD220A8CF5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3363" y="3754438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i-IN" altLang="hi-IN" b="1"/>
          </a:p>
        </p:txBody>
      </p:sp>
      <p:sp>
        <p:nvSpPr>
          <p:cNvPr id="64519" name="Oval 7">
            <a:extLst>
              <a:ext uri="{FF2B5EF4-FFF2-40B4-BE49-F238E27FC236}">
                <a16:creationId xmlns:a16="http://schemas.microsoft.com/office/drawing/2014/main" id="{E0F4D3BD-BC39-4B72-BA6B-4313D0DE0D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9250" y="3713163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b="1"/>
              <a:t>3/6</a:t>
            </a:r>
          </a:p>
        </p:txBody>
      </p:sp>
      <p:sp>
        <p:nvSpPr>
          <p:cNvPr id="64520" name="Line 8">
            <a:extLst>
              <a:ext uri="{FF2B5EF4-FFF2-40B4-BE49-F238E27FC236}">
                <a16:creationId xmlns:a16="http://schemas.microsoft.com/office/drawing/2014/main" id="{85F80273-0AC3-4B00-A41B-2A9D6963C136}"/>
              </a:ext>
            </a:extLst>
          </p:cNvPr>
          <p:cNvSpPr>
            <a:spLocks noChangeShapeType="1"/>
          </p:cNvSpPr>
          <p:nvPr/>
        </p:nvSpPr>
        <p:spPr bwMode="auto">
          <a:xfrm>
            <a:off x="3254375" y="4008438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64521" name="Oval 9">
            <a:extLst>
              <a:ext uri="{FF2B5EF4-FFF2-40B4-BE49-F238E27FC236}">
                <a16:creationId xmlns:a16="http://schemas.microsoft.com/office/drawing/2014/main" id="{CD578C91-C907-48E8-9061-5E9B90E194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0388" y="3722688"/>
            <a:ext cx="590550" cy="576262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b="1"/>
              <a:t>10/</a:t>
            </a:r>
          </a:p>
        </p:txBody>
      </p:sp>
      <p:sp>
        <p:nvSpPr>
          <p:cNvPr id="64522" name="Oval 10">
            <a:extLst>
              <a:ext uri="{FF2B5EF4-FFF2-40B4-BE49-F238E27FC236}">
                <a16:creationId xmlns:a16="http://schemas.microsoft.com/office/drawing/2014/main" id="{2838E1E8-E509-4A03-876F-0EA43BBE06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4488" y="2308225"/>
            <a:ext cx="590550" cy="576263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b="1"/>
              <a:t>2/7</a:t>
            </a:r>
          </a:p>
        </p:txBody>
      </p:sp>
      <p:sp>
        <p:nvSpPr>
          <p:cNvPr id="64523" name="Oval 11">
            <a:extLst>
              <a:ext uri="{FF2B5EF4-FFF2-40B4-BE49-F238E27FC236}">
                <a16:creationId xmlns:a16="http://schemas.microsoft.com/office/drawing/2014/main" id="{758D02C9-4ED2-4691-9ED1-87E248E6A6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5625" y="2317750"/>
            <a:ext cx="590550" cy="576263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b="1"/>
              <a:t>9/</a:t>
            </a:r>
          </a:p>
        </p:txBody>
      </p:sp>
      <p:sp>
        <p:nvSpPr>
          <p:cNvPr id="64524" name="Line 12">
            <a:extLst>
              <a:ext uri="{FF2B5EF4-FFF2-40B4-BE49-F238E27FC236}">
                <a16:creationId xmlns:a16="http://schemas.microsoft.com/office/drawing/2014/main" id="{285A6F48-9941-45C7-A311-8B69A4B30ACE}"/>
              </a:ext>
            </a:extLst>
          </p:cNvPr>
          <p:cNvSpPr>
            <a:spLocks noChangeShapeType="1"/>
          </p:cNvSpPr>
          <p:nvPr/>
        </p:nvSpPr>
        <p:spPr bwMode="auto">
          <a:xfrm>
            <a:off x="2965450" y="2881313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64525" name="Line 13">
            <a:extLst>
              <a:ext uri="{FF2B5EF4-FFF2-40B4-BE49-F238E27FC236}">
                <a16:creationId xmlns:a16="http://schemas.microsoft.com/office/drawing/2014/main" id="{03015573-8380-42F1-9C84-B614A0DC5E19}"/>
              </a:ext>
            </a:extLst>
          </p:cNvPr>
          <p:cNvSpPr>
            <a:spLocks noChangeShapeType="1"/>
          </p:cNvSpPr>
          <p:nvPr/>
        </p:nvSpPr>
        <p:spPr bwMode="auto">
          <a:xfrm>
            <a:off x="4446588" y="2890838"/>
            <a:ext cx="0" cy="8429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64526" name="Line 14">
            <a:extLst>
              <a:ext uri="{FF2B5EF4-FFF2-40B4-BE49-F238E27FC236}">
                <a16:creationId xmlns:a16="http://schemas.microsoft.com/office/drawing/2014/main" id="{7D6E39C5-7D5F-46C6-B0CB-A00223798987}"/>
              </a:ext>
            </a:extLst>
          </p:cNvPr>
          <p:cNvSpPr>
            <a:spLocks noChangeShapeType="1"/>
          </p:cNvSpPr>
          <p:nvPr/>
        </p:nvSpPr>
        <p:spPr bwMode="auto">
          <a:xfrm>
            <a:off x="5927725" y="2900363"/>
            <a:ext cx="0" cy="8429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64527" name="Line 15">
            <a:extLst>
              <a:ext uri="{FF2B5EF4-FFF2-40B4-BE49-F238E27FC236}">
                <a16:creationId xmlns:a16="http://schemas.microsoft.com/office/drawing/2014/main" id="{E0EEF941-0929-4B10-ADFE-D35FB35EEF7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73413" y="2757488"/>
            <a:ext cx="1023937" cy="102870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64528" name="Text Box 16">
            <a:extLst>
              <a:ext uri="{FF2B5EF4-FFF2-40B4-BE49-F238E27FC236}">
                <a16:creationId xmlns:a16="http://schemas.microsoft.com/office/drawing/2014/main" id="{FDDF7A8B-866A-4AF7-A1BA-359BE9893C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4800" y="19065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u</a:t>
            </a:r>
          </a:p>
        </p:txBody>
      </p:sp>
      <p:sp>
        <p:nvSpPr>
          <p:cNvPr id="64529" name="Text Box 17">
            <a:extLst>
              <a:ext uri="{FF2B5EF4-FFF2-40B4-BE49-F238E27FC236}">
                <a16:creationId xmlns:a16="http://schemas.microsoft.com/office/drawing/2014/main" id="{BDA1826E-5CA3-496A-AFF5-6B6E9BEC51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1650" y="191611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v</a:t>
            </a:r>
          </a:p>
        </p:txBody>
      </p:sp>
      <p:sp>
        <p:nvSpPr>
          <p:cNvPr id="64530" name="Text Box 18">
            <a:extLst>
              <a:ext uri="{FF2B5EF4-FFF2-40B4-BE49-F238E27FC236}">
                <a16:creationId xmlns:a16="http://schemas.microsoft.com/office/drawing/2014/main" id="{A7BF05CA-A719-4E8C-9B1B-3BD376A566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8500" y="1925638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w</a:t>
            </a:r>
          </a:p>
        </p:txBody>
      </p:sp>
      <p:sp>
        <p:nvSpPr>
          <p:cNvPr id="64531" name="Text Box 19">
            <a:extLst>
              <a:ext uri="{FF2B5EF4-FFF2-40B4-BE49-F238E27FC236}">
                <a16:creationId xmlns:a16="http://schemas.microsoft.com/office/drawing/2014/main" id="{9BA9B0B4-C645-4A6E-88A7-72F27396BF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1463" y="420211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x</a:t>
            </a:r>
          </a:p>
        </p:txBody>
      </p:sp>
      <p:sp>
        <p:nvSpPr>
          <p:cNvPr id="64532" name="Text Box 20">
            <a:extLst>
              <a:ext uri="{FF2B5EF4-FFF2-40B4-BE49-F238E27FC236}">
                <a16:creationId xmlns:a16="http://schemas.microsoft.com/office/drawing/2014/main" id="{77C78FB6-B210-4C9B-9A09-FAD3A54997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421163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y</a:t>
            </a:r>
          </a:p>
        </p:txBody>
      </p:sp>
      <p:sp>
        <p:nvSpPr>
          <p:cNvPr id="64533" name="Text Box 21">
            <a:extLst>
              <a:ext uri="{FF2B5EF4-FFF2-40B4-BE49-F238E27FC236}">
                <a16:creationId xmlns:a16="http://schemas.microsoft.com/office/drawing/2014/main" id="{FE364890-17B8-4382-84DE-BD528EBBD3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8025" y="4206875"/>
            <a:ext cx="319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z</a:t>
            </a:r>
          </a:p>
        </p:txBody>
      </p:sp>
      <p:sp>
        <p:nvSpPr>
          <p:cNvPr id="64534" name="Line 22">
            <a:extLst>
              <a:ext uri="{FF2B5EF4-FFF2-40B4-BE49-F238E27FC236}">
                <a16:creationId xmlns:a16="http://schemas.microsoft.com/office/drawing/2014/main" id="{FC984156-92A6-4A15-AAC2-3815CAD07583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3900" y="2617788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64535" name="Line 23">
            <a:extLst>
              <a:ext uri="{FF2B5EF4-FFF2-40B4-BE49-F238E27FC236}">
                <a16:creationId xmlns:a16="http://schemas.microsoft.com/office/drawing/2014/main" id="{FD242120-8DB4-4755-9196-B9C196870B3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81538" y="2779713"/>
            <a:ext cx="1023937" cy="102870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64536" name="Freeform 24">
            <a:extLst>
              <a:ext uri="{FF2B5EF4-FFF2-40B4-BE49-F238E27FC236}">
                <a16:creationId xmlns:a16="http://schemas.microsoft.com/office/drawing/2014/main" id="{585D285D-F575-4DAC-8017-016734580B53}"/>
              </a:ext>
            </a:extLst>
          </p:cNvPr>
          <p:cNvSpPr>
            <a:spLocks/>
          </p:cNvSpPr>
          <p:nvPr/>
        </p:nvSpPr>
        <p:spPr bwMode="auto">
          <a:xfrm>
            <a:off x="6146800" y="3797300"/>
            <a:ext cx="598488" cy="590550"/>
          </a:xfrm>
          <a:custGeom>
            <a:avLst/>
            <a:gdLst>
              <a:gd name="T0" fmla="*/ 0 w 377"/>
              <a:gd name="T1" fmla="*/ 2147483647 h 372"/>
              <a:gd name="T2" fmla="*/ 2147483647 w 377"/>
              <a:gd name="T3" fmla="*/ 2147483647 h 372"/>
              <a:gd name="T4" fmla="*/ 2147483647 w 377"/>
              <a:gd name="T5" fmla="*/ 2147483647 h 372"/>
              <a:gd name="T6" fmla="*/ 2147483647 w 377"/>
              <a:gd name="T7" fmla="*/ 2147483647 h 372"/>
              <a:gd name="T8" fmla="*/ 2147483647 w 377"/>
              <a:gd name="T9" fmla="*/ 2147483647 h 372"/>
              <a:gd name="T10" fmla="*/ 2147483647 w 377"/>
              <a:gd name="T11" fmla="*/ 2147483647 h 3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77"/>
              <a:gd name="T19" fmla="*/ 0 h 372"/>
              <a:gd name="T20" fmla="*/ 377 w 377"/>
              <a:gd name="T21" fmla="*/ 372 h 37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77" h="372">
                <a:moveTo>
                  <a:pt x="0" y="254"/>
                </a:moveTo>
                <a:cubicBezTo>
                  <a:pt x="44" y="304"/>
                  <a:pt x="88" y="354"/>
                  <a:pt x="145" y="363"/>
                </a:cubicBezTo>
                <a:cubicBezTo>
                  <a:pt x="202" y="372"/>
                  <a:pt x="313" y="346"/>
                  <a:pt x="345" y="308"/>
                </a:cubicBezTo>
                <a:cubicBezTo>
                  <a:pt x="377" y="270"/>
                  <a:pt x="359" y="184"/>
                  <a:pt x="336" y="136"/>
                </a:cubicBezTo>
                <a:cubicBezTo>
                  <a:pt x="313" y="88"/>
                  <a:pt x="259" y="34"/>
                  <a:pt x="209" y="17"/>
                </a:cubicBezTo>
                <a:cubicBezTo>
                  <a:pt x="159" y="0"/>
                  <a:pt x="97" y="18"/>
                  <a:pt x="36" y="36"/>
                </a:cubicBezTo>
              </a:path>
            </a:pathLst>
          </a:custGeom>
          <a:noFill/>
          <a:ln w="9525">
            <a:solidFill>
              <a:schemeClr val="tx2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64537" name="Text Box 25">
            <a:extLst>
              <a:ext uri="{FF2B5EF4-FFF2-40B4-BE49-F238E27FC236}">
                <a16:creationId xmlns:a16="http://schemas.microsoft.com/office/drawing/2014/main" id="{18438AAF-B10F-4EC4-B07B-4D194A9BA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7563" y="2951163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/>
              <a:t>B</a:t>
            </a:r>
          </a:p>
        </p:txBody>
      </p:sp>
      <p:sp>
        <p:nvSpPr>
          <p:cNvPr id="64538" name="Text Box 26">
            <a:extLst>
              <a:ext uri="{FF2B5EF4-FFF2-40B4-BE49-F238E27FC236}">
                <a16:creationId xmlns:a16="http://schemas.microsoft.com/office/drawing/2014/main" id="{F617BF36-5763-4AA3-BE73-A3ED4033B4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6675" y="3022600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/>
              <a:t>F</a:t>
            </a:r>
          </a:p>
        </p:txBody>
      </p:sp>
      <p:sp>
        <p:nvSpPr>
          <p:cNvPr id="64539" name="Text Box 27">
            <a:extLst>
              <a:ext uri="{FF2B5EF4-FFF2-40B4-BE49-F238E27FC236}">
                <a16:creationId xmlns:a16="http://schemas.microsoft.com/office/drawing/2014/main" id="{BB66544D-1671-46DC-9AD2-4DAA579639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2038" y="2951163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/>
              <a:t>C</a:t>
            </a:r>
          </a:p>
        </p:txBody>
      </p:sp>
      <p:sp>
        <p:nvSpPr>
          <p:cNvPr id="64540" name="Text Box 28">
            <a:extLst>
              <a:ext uri="{FF2B5EF4-FFF2-40B4-BE49-F238E27FC236}">
                <a16:creationId xmlns:a16="http://schemas.microsoft.com/office/drawing/2014/main" id="{A57DA1C9-5522-4C46-BEBB-69B228F96C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4175" y="3802063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/>
              <a:t>B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2F76C1-1A8B-4680-8BC3-1C3CAB248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81</a:t>
            </a:fld>
            <a:endParaRPr lang="en-US" altLang="hi-IN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6D53B500-1387-402F-80F7-AB0CFA7A4F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i-IN"/>
              <a:t>Example (DFS)</a:t>
            </a:r>
          </a:p>
        </p:txBody>
      </p:sp>
      <p:sp>
        <p:nvSpPr>
          <p:cNvPr id="65539" name="Oval 3">
            <a:extLst>
              <a:ext uri="{FF2B5EF4-FFF2-40B4-BE49-F238E27FC236}">
                <a16:creationId xmlns:a16="http://schemas.microsoft.com/office/drawing/2014/main" id="{A7E636C0-6955-4D38-815C-E59E8F0A29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8113" y="2303463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65540" name="Text Box 4">
            <a:extLst>
              <a:ext uri="{FF2B5EF4-FFF2-40B4-BE49-F238E27FC236}">
                <a16:creationId xmlns:a16="http://schemas.microsoft.com/office/drawing/2014/main" id="{31798C05-2F22-42D7-A2B1-4711710FB2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6213" y="2366963"/>
            <a:ext cx="573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1/8</a:t>
            </a:r>
            <a:endParaRPr lang="en-US" altLang="hi-IN" b="1"/>
          </a:p>
        </p:txBody>
      </p:sp>
      <p:sp>
        <p:nvSpPr>
          <p:cNvPr id="65541" name="Oval 5">
            <a:extLst>
              <a:ext uri="{FF2B5EF4-FFF2-40B4-BE49-F238E27FC236}">
                <a16:creationId xmlns:a16="http://schemas.microsoft.com/office/drawing/2014/main" id="{B0839667-A111-4C52-8BF0-F9D7D829A5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8113" y="3719513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b="1"/>
              <a:t>4/5</a:t>
            </a:r>
          </a:p>
        </p:txBody>
      </p:sp>
      <p:sp>
        <p:nvSpPr>
          <p:cNvPr id="65542" name="Text Box 6">
            <a:extLst>
              <a:ext uri="{FF2B5EF4-FFF2-40B4-BE49-F238E27FC236}">
                <a16:creationId xmlns:a16="http://schemas.microsoft.com/office/drawing/2014/main" id="{C2D39CE1-8FF9-49C8-8AE9-D31F02369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3363" y="3754438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i-IN" altLang="hi-IN" b="1"/>
          </a:p>
        </p:txBody>
      </p:sp>
      <p:sp>
        <p:nvSpPr>
          <p:cNvPr id="65543" name="Oval 7">
            <a:extLst>
              <a:ext uri="{FF2B5EF4-FFF2-40B4-BE49-F238E27FC236}">
                <a16:creationId xmlns:a16="http://schemas.microsoft.com/office/drawing/2014/main" id="{48682E10-BAC7-4A4F-8DB9-47D12E43E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9250" y="3713163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b="1"/>
              <a:t>3/6</a:t>
            </a:r>
          </a:p>
        </p:txBody>
      </p:sp>
      <p:sp>
        <p:nvSpPr>
          <p:cNvPr id="65544" name="Line 8">
            <a:extLst>
              <a:ext uri="{FF2B5EF4-FFF2-40B4-BE49-F238E27FC236}">
                <a16:creationId xmlns:a16="http://schemas.microsoft.com/office/drawing/2014/main" id="{344168CC-7F8D-4E1F-9687-069DBAA85CC1}"/>
              </a:ext>
            </a:extLst>
          </p:cNvPr>
          <p:cNvSpPr>
            <a:spLocks noChangeShapeType="1"/>
          </p:cNvSpPr>
          <p:nvPr/>
        </p:nvSpPr>
        <p:spPr bwMode="auto">
          <a:xfrm>
            <a:off x="3254375" y="4008438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65545" name="Oval 9">
            <a:extLst>
              <a:ext uri="{FF2B5EF4-FFF2-40B4-BE49-F238E27FC236}">
                <a16:creationId xmlns:a16="http://schemas.microsoft.com/office/drawing/2014/main" id="{0B185290-837B-46F3-B7AD-477F2D4F3B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0388" y="3722688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2000" b="1"/>
              <a:t>10/11</a:t>
            </a:r>
            <a:endParaRPr lang="en-US" altLang="hi-IN" b="1"/>
          </a:p>
        </p:txBody>
      </p:sp>
      <p:sp>
        <p:nvSpPr>
          <p:cNvPr id="65546" name="Oval 10">
            <a:extLst>
              <a:ext uri="{FF2B5EF4-FFF2-40B4-BE49-F238E27FC236}">
                <a16:creationId xmlns:a16="http://schemas.microsoft.com/office/drawing/2014/main" id="{DDABCA3D-0F58-4776-98A0-20CF90CDA8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4488" y="2308225"/>
            <a:ext cx="590550" cy="576263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b="1"/>
              <a:t>2/7</a:t>
            </a:r>
          </a:p>
        </p:txBody>
      </p:sp>
      <p:sp>
        <p:nvSpPr>
          <p:cNvPr id="65547" name="Oval 11">
            <a:extLst>
              <a:ext uri="{FF2B5EF4-FFF2-40B4-BE49-F238E27FC236}">
                <a16:creationId xmlns:a16="http://schemas.microsoft.com/office/drawing/2014/main" id="{2C2E45CF-9653-4C9A-9E1B-ECB7EA0C72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5625" y="2317750"/>
            <a:ext cx="590550" cy="576263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b="1"/>
              <a:t>9/</a:t>
            </a:r>
          </a:p>
        </p:txBody>
      </p:sp>
      <p:sp>
        <p:nvSpPr>
          <p:cNvPr id="65548" name="Line 12">
            <a:extLst>
              <a:ext uri="{FF2B5EF4-FFF2-40B4-BE49-F238E27FC236}">
                <a16:creationId xmlns:a16="http://schemas.microsoft.com/office/drawing/2014/main" id="{C3B57F3D-45C9-435A-BF27-C8F9C18B3CFA}"/>
              </a:ext>
            </a:extLst>
          </p:cNvPr>
          <p:cNvSpPr>
            <a:spLocks noChangeShapeType="1"/>
          </p:cNvSpPr>
          <p:nvPr/>
        </p:nvSpPr>
        <p:spPr bwMode="auto">
          <a:xfrm>
            <a:off x="2965450" y="2881313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65549" name="Line 13">
            <a:extLst>
              <a:ext uri="{FF2B5EF4-FFF2-40B4-BE49-F238E27FC236}">
                <a16:creationId xmlns:a16="http://schemas.microsoft.com/office/drawing/2014/main" id="{32661078-E2B6-468B-A7C7-E525DF69A3E4}"/>
              </a:ext>
            </a:extLst>
          </p:cNvPr>
          <p:cNvSpPr>
            <a:spLocks noChangeShapeType="1"/>
          </p:cNvSpPr>
          <p:nvPr/>
        </p:nvSpPr>
        <p:spPr bwMode="auto">
          <a:xfrm>
            <a:off x="4446588" y="2890838"/>
            <a:ext cx="0" cy="8429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65550" name="Line 14">
            <a:extLst>
              <a:ext uri="{FF2B5EF4-FFF2-40B4-BE49-F238E27FC236}">
                <a16:creationId xmlns:a16="http://schemas.microsoft.com/office/drawing/2014/main" id="{7BEEE209-EA7B-4D9C-BBF7-6B99A7422503}"/>
              </a:ext>
            </a:extLst>
          </p:cNvPr>
          <p:cNvSpPr>
            <a:spLocks noChangeShapeType="1"/>
          </p:cNvSpPr>
          <p:nvPr/>
        </p:nvSpPr>
        <p:spPr bwMode="auto">
          <a:xfrm>
            <a:off x="5927725" y="2900363"/>
            <a:ext cx="0" cy="8429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65551" name="Line 15">
            <a:extLst>
              <a:ext uri="{FF2B5EF4-FFF2-40B4-BE49-F238E27FC236}">
                <a16:creationId xmlns:a16="http://schemas.microsoft.com/office/drawing/2014/main" id="{A69A343A-7B26-4DF2-B7C4-3FF1FAC9BDE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73413" y="2757488"/>
            <a:ext cx="1023937" cy="102870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65552" name="Text Box 16">
            <a:extLst>
              <a:ext uri="{FF2B5EF4-FFF2-40B4-BE49-F238E27FC236}">
                <a16:creationId xmlns:a16="http://schemas.microsoft.com/office/drawing/2014/main" id="{775BBF94-BA0B-42F7-B8C2-04DCB46653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4800" y="19065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u</a:t>
            </a:r>
          </a:p>
        </p:txBody>
      </p:sp>
      <p:sp>
        <p:nvSpPr>
          <p:cNvPr id="65553" name="Text Box 17">
            <a:extLst>
              <a:ext uri="{FF2B5EF4-FFF2-40B4-BE49-F238E27FC236}">
                <a16:creationId xmlns:a16="http://schemas.microsoft.com/office/drawing/2014/main" id="{B9667E46-4645-4B70-93D8-4C18DDFCA8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1650" y="191611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v</a:t>
            </a:r>
          </a:p>
        </p:txBody>
      </p:sp>
      <p:sp>
        <p:nvSpPr>
          <p:cNvPr id="65554" name="Text Box 18">
            <a:extLst>
              <a:ext uri="{FF2B5EF4-FFF2-40B4-BE49-F238E27FC236}">
                <a16:creationId xmlns:a16="http://schemas.microsoft.com/office/drawing/2014/main" id="{F77C22AF-BB85-4013-8680-305C5D84E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8500" y="1925638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w</a:t>
            </a:r>
          </a:p>
        </p:txBody>
      </p:sp>
      <p:sp>
        <p:nvSpPr>
          <p:cNvPr id="65555" name="Text Box 19">
            <a:extLst>
              <a:ext uri="{FF2B5EF4-FFF2-40B4-BE49-F238E27FC236}">
                <a16:creationId xmlns:a16="http://schemas.microsoft.com/office/drawing/2014/main" id="{C990293B-464C-4D8D-93C9-9EE9600E2F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1463" y="420211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x</a:t>
            </a:r>
          </a:p>
        </p:txBody>
      </p:sp>
      <p:sp>
        <p:nvSpPr>
          <p:cNvPr id="65556" name="Text Box 20">
            <a:extLst>
              <a:ext uri="{FF2B5EF4-FFF2-40B4-BE49-F238E27FC236}">
                <a16:creationId xmlns:a16="http://schemas.microsoft.com/office/drawing/2014/main" id="{3703C3DD-F6E2-4587-A821-517619EADE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421163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y</a:t>
            </a:r>
          </a:p>
        </p:txBody>
      </p:sp>
      <p:sp>
        <p:nvSpPr>
          <p:cNvPr id="65557" name="Text Box 21">
            <a:extLst>
              <a:ext uri="{FF2B5EF4-FFF2-40B4-BE49-F238E27FC236}">
                <a16:creationId xmlns:a16="http://schemas.microsoft.com/office/drawing/2014/main" id="{1FF42399-BA5C-47DF-8E16-EFDE80771E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8025" y="4206875"/>
            <a:ext cx="319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z</a:t>
            </a:r>
          </a:p>
        </p:txBody>
      </p:sp>
      <p:sp>
        <p:nvSpPr>
          <p:cNvPr id="65558" name="Line 22">
            <a:extLst>
              <a:ext uri="{FF2B5EF4-FFF2-40B4-BE49-F238E27FC236}">
                <a16:creationId xmlns:a16="http://schemas.microsoft.com/office/drawing/2014/main" id="{8BBE2FC7-4414-46D2-B610-7A10B1CDD78A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3900" y="2617788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65559" name="Line 23">
            <a:extLst>
              <a:ext uri="{FF2B5EF4-FFF2-40B4-BE49-F238E27FC236}">
                <a16:creationId xmlns:a16="http://schemas.microsoft.com/office/drawing/2014/main" id="{3F88012A-EED6-4576-9198-DE2AC6D4453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81538" y="2779713"/>
            <a:ext cx="1023937" cy="102870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65560" name="Freeform 24">
            <a:extLst>
              <a:ext uri="{FF2B5EF4-FFF2-40B4-BE49-F238E27FC236}">
                <a16:creationId xmlns:a16="http://schemas.microsoft.com/office/drawing/2014/main" id="{FA5E1B56-2651-4C61-ACDE-90951BB810CC}"/>
              </a:ext>
            </a:extLst>
          </p:cNvPr>
          <p:cNvSpPr>
            <a:spLocks/>
          </p:cNvSpPr>
          <p:nvPr/>
        </p:nvSpPr>
        <p:spPr bwMode="auto">
          <a:xfrm>
            <a:off x="6146800" y="3797300"/>
            <a:ext cx="598488" cy="590550"/>
          </a:xfrm>
          <a:custGeom>
            <a:avLst/>
            <a:gdLst>
              <a:gd name="T0" fmla="*/ 0 w 377"/>
              <a:gd name="T1" fmla="*/ 2147483647 h 372"/>
              <a:gd name="T2" fmla="*/ 2147483647 w 377"/>
              <a:gd name="T3" fmla="*/ 2147483647 h 372"/>
              <a:gd name="T4" fmla="*/ 2147483647 w 377"/>
              <a:gd name="T5" fmla="*/ 2147483647 h 372"/>
              <a:gd name="T6" fmla="*/ 2147483647 w 377"/>
              <a:gd name="T7" fmla="*/ 2147483647 h 372"/>
              <a:gd name="T8" fmla="*/ 2147483647 w 377"/>
              <a:gd name="T9" fmla="*/ 2147483647 h 372"/>
              <a:gd name="T10" fmla="*/ 2147483647 w 377"/>
              <a:gd name="T11" fmla="*/ 2147483647 h 3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77"/>
              <a:gd name="T19" fmla="*/ 0 h 372"/>
              <a:gd name="T20" fmla="*/ 377 w 377"/>
              <a:gd name="T21" fmla="*/ 372 h 37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77" h="372">
                <a:moveTo>
                  <a:pt x="0" y="254"/>
                </a:moveTo>
                <a:cubicBezTo>
                  <a:pt x="44" y="304"/>
                  <a:pt x="88" y="354"/>
                  <a:pt x="145" y="363"/>
                </a:cubicBezTo>
                <a:cubicBezTo>
                  <a:pt x="202" y="372"/>
                  <a:pt x="313" y="346"/>
                  <a:pt x="345" y="308"/>
                </a:cubicBezTo>
                <a:cubicBezTo>
                  <a:pt x="377" y="270"/>
                  <a:pt x="359" y="184"/>
                  <a:pt x="336" y="136"/>
                </a:cubicBezTo>
                <a:cubicBezTo>
                  <a:pt x="313" y="88"/>
                  <a:pt x="259" y="34"/>
                  <a:pt x="209" y="17"/>
                </a:cubicBezTo>
                <a:cubicBezTo>
                  <a:pt x="159" y="0"/>
                  <a:pt x="97" y="18"/>
                  <a:pt x="36" y="36"/>
                </a:cubicBezTo>
              </a:path>
            </a:pathLst>
          </a:custGeom>
          <a:noFill/>
          <a:ln w="9525">
            <a:solidFill>
              <a:schemeClr val="tx2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65561" name="Text Box 25">
            <a:extLst>
              <a:ext uri="{FF2B5EF4-FFF2-40B4-BE49-F238E27FC236}">
                <a16:creationId xmlns:a16="http://schemas.microsoft.com/office/drawing/2014/main" id="{71618A70-9351-46EF-BBD5-F71AA2A537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7563" y="2951163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/>
              <a:t>B</a:t>
            </a:r>
          </a:p>
        </p:txBody>
      </p:sp>
      <p:sp>
        <p:nvSpPr>
          <p:cNvPr id="65562" name="Text Box 26">
            <a:extLst>
              <a:ext uri="{FF2B5EF4-FFF2-40B4-BE49-F238E27FC236}">
                <a16:creationId xmlns:a16="http://schemas.microsoft.com/office/drawing/2014/main" id="{039959C3-422B-415F-B466-D0B287BD37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6675" y="3022600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/>
              <a:t>F</a:t>
            </a:r>
          </a:p>
        </p:txBody>
      </p:sp>
      <p:sp>
        <p:nvSpPr>
          <p:cNvPr id="65563" name="Text Box 27">
            <a:extLst>
              <a:ext uri="{FF2B5EF4-FFF2-40B4-BE49-F238E27FC236}">
                <a16:creationId xmlns:a16="http://schemas.microsoft.com/office/drawing/2014/main" id="{70163E6A-1200-4184-A450-22FF865390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2038" y="2951163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/>
              <a:t>C</a:t>
            </a:r>
          </a:p>
        </p:txBody>
      </p:sp>
      <p:sp>
        <p:nvSpPr>
          <p:cNvPr id="65564" name="Text Box 28">
            <a:extLst>
              <a:ext uri="{FF2B5EF4-FFF2-40B4-BE49-F238E27FC236}">
                <a16:creationId xmlns:a16="http://schemas.microsoft.com/office/drawing/2014/main" id="{C90F8BD0-69E3-47D2-9C3F-ED760C9C61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4175" y="3802063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/>
              <a:t>B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F3877DB-C9F9-480D-8239-F42DB31D5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82</a:t>
            </a:fld>
            <a:endParaRPr lang="en-US" altLang="hi-IN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4A2E28D4-3697-4643-B82D-E4A143EBEE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i-IN"/>
              <a:t>Example (DFS)</a:t>
            </a:r>
          </a:p>
        </p:txBody>
      </p:sp>
      <p:sp>
        <p:nvSpPr>
          <p:cNvPr id="66563" name="Oval 3">
            <a:extLst>
              <a:ext uri="{FF2B5EF4-FFF2-40B4-BE49-F238E27FC236}">
                <a16:creationId xmlns:a16="http://schemas.microsoft.com/office/drawing/2014/main" id="{A8D8D69D-3DDF-4406-BEF3-4EBD368004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8113" y="2303463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66564" name="Text Box 4">
            <a:extLst>
              <a:ext uri="{FF2B5EF4-FFF2-40B4-BE49-F238E27FC236}">
                <a16:creationId xmlns:a16="http://schemas.microsoft.com/office/drawing/2014/main" id="{A7B1245E-41A7-4887-95C1-00C82389D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6213" y="2366963"/>
            <a:ext cx="573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>
                <a:sym typeface="Symbol" panose="05050102010706020507" pitchFamily="18" charset="2"/>
              </a:rPr>
              <a:t>1/8</a:t>
            </a:r>
            <a:endParaRPr lang="en-US" altLang="hi-IN" b="1"/>
          </a:p>
        </p:txBody>
      </p:sp>
      <p:sp>
        <p:nvSpPr>
          <p:cNvPr id="66565" name="Oval 5">
            <a:extLst>
              <a:ext uri="{FF2B5EF4-FFF2-40B4-BE49-F238E27FC236}">
                <a16:creationId xmlns:a16="http://schemas.microsoft.com/office/drawing/2014/main" id="{06B6CABC-A7FB-4F55-BB2E-42B4BE38B2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8113" y="3719513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b="1"/>
              <a:t>4/5</a:t>
            </a:r>
          </a:p>
        </p:txBody>
      </p:sp>
      <p:sp>
        <p:nvSpPr>
          <p:cNvPr id="66566" name="Text Box 6">
            <a:extLst>
              <a:ext uri="{FF2B5EF4-FFF2-40B4-BE49-F238E27FC236}">
                <a16:creationId xmlns:a16="http://schemas.microsoft.com/office/drawing/2014/main" id="{78ED3E38-F9CB-4191-AF67-3D3CAD64BC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3363" y="3754438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i-IN" altLang="hi-IN" b="1"/>
          </a:p>
        </p:txBody>
      </p:sp>
      <p:sp>
        <p:nvSpPr>
          <p:cNvPr id="66567" name="Oval 7">
            <a:extLst>
              <a:ext uri="{FF2B5EF4-FFF2-40B4-BE49-F238E27FC236}">
                <a16:creationId xmlns:a16="http://schemas.microsoft.com/office/drawing/2014/main" id="{16D9DD3A-4AA9-4F8E-BDB5-4A5EE321FB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9250" y="3713163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b="1"/>
              <a:t>3/6</a:t>
            </a:r>
          </a:p>
        </p:txBody>
      </p:sp>
      <p:sp>
        <p:nvSpPr>
          <p:cNvPr id="66568" name="Line 8">
            <a:extLst>
              <a:ext uri="{FF2B5EF4-FFF2-40B4-BE49-F238E27FC236}">
                <a16:creationId xmlns:a16="http://schemas.microsoft.com/office/drawing/2014/main" id="{0A71A529-0C1D-4B32-AF1B-4E4E72F45C8F}"/>
              </a:ext>
            </a:extLst>
          </p:cNvPr>
          <p:cNvSpPr>
            <a:spLocks noChangeShapeType="1"/>
          </p:cNvSpPr>
          <p:nvPr/>
        </p:nvSpPr>
        <p:spPr bwMode="auto">
          <a:xfrm>
            <a:off x="3254375" y="4008438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66569" name="Oval 9">
            <a:extLst>
              <a:ext uri="{FF2B5EF4-FFF2-40B4-BE49-F238E27FC236}">
                <a16:creationId xmlns:a16="http://schemas.microsoft.com/office/drawing/2014/main" id="{EF0AB7AD-42F2-47FE-8FAD-CB10E66AF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0388" y="3722688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2000" b="1"/>
              <a:t>10/11</a:t>
            </a:r>
            <a:endParaRPr lang="en-US" altLang="hi-IN" b="1"/>
          </a:p>
        </p:txBody>
      </p:sp>
      <p:sp>
        <p:nvSpPr>
          <p:cNvPr id="66570" name="Oval 10">
            <a:extLst>
              <a:ext uri="{FF2B5EF4-FFF2-40B4-BE49-F238E27FC236}">
                <a16:creationId xmlns:a16="http://schemas.microsoft.com/office/drawing/2014/main" id="{2C5E6901-D262-4F0E-9EC4-F934226086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4488" y="2308225"/>
            <a:ext cx="590550" cy="576263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b="1"/>
              <a:t>2/7</a:t>
            </a:r>
          </a:p>
        </p:txBody>
      </p:sp>
      <p:sp>
        <p:nvSpPr>
          <p:cNvPr id="66571" name="Oval 11">
            <a:extLst>
              <a:ext uri="{FF2B5EF4-FFF2-40B4-BE49-F238E27FC236}">
                <a16:creationId xmlns:a16="http://schemas.microsoft.com/office/drawing/2014/main" id="{5B165A3A-97A2-4CBF-8048-9DCADBC338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5625" y="2317750"/>
            <a:ext cx="590550" cy="576263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b="1"/>
              <a:t>9/12</a:t>
            </a:r>
          </a:p>
        </p:txBody>
      </p:sp>
      <p:sp>
        <p:nvSpPr>
          <p:cNvPr id="66572" name="Line 12">
            <a:extLst>
              <a:ext uri="{FF2B5EF4-FFF2-40B4-BE49-F238E27FC236}">
                <a16:creationId xmlns:a16="http://schemas.microsoft.com/office/drawing/2014/main" id="{0B6E219E-2577-4359-B4DD-FC26F660F8F1}"/>
              </a:ext>
            </a:extLst>
          </p:cNvPr>
          <p:cNvSpPr>
            <a:spLocks noChangeShapeType="1"/>
          </p:cNvSpPr>
          <p:nvPr/>
        </p:nvSpPr>
        <p:spPr bwMode="auto">
          <a:xfrm>
            <a:off x="2965450" y="2881313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66573" name="Line 13">
            <a:extLst>
              <a:ext uri="{FF2B5EF4-FFF2-40B4-BE49-F238E27FC236}">
                <a16:creationId xmlns:a16="http://schemas.microsoft.com/office/drawing/2014/main" id="{92672BB5-2F3D-4BAF-9083-DDD2CFD55D55}"/>
              </a:ext>
            </a:extLst>
          </p:cNvPr>
          <p:cNvSpPr>
            <a:spLocks noChangeShapeType="1"/>
          </p:cNvSpPr>
          <p:nvPr/>
        </p:nvSpPr>
        <p:spPr bwMode="auto">
          <a:xfrm>
            <a:off x="4446588" y="2890838"/>
            <a:ext cx="0" cy="8429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66574" name="Line 14">
            <a:extLst>
              <a:ext uri="{FF2B5EF4-FFF2-40B4-BE49-F238E27FC236}">
                <a16:creationId xmlns:a16="http://schemas.microsoft.com/office/drawing/2014/main" id="{6E9E3A29-FD1B-42A4-9257-E6DBFF5F7AD7}"/>
              </a:ext>
            </a:extLst>
          </p:cNvPr>
          <p:cNvSpPr>
            <a:spLocks noChangeShapeType="1"/>
          </p:cNvSpPr>
          <p:nvPr/>
        </p:nvSpPr>
        <p:spPr bwMode="auto">
          <a:xfrm>
            <a:off x="5927725" y="2900363"/>
            <a:ext cx="0" cy="8429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66575" name="Line 15">
            <a:extLst>
              <a:ext uri="{FF2B5EF4-FFF2-40B4-BE49-F238E27FC236}">
                <a16:creationId xmlns:a16="http://schemas.microsoft.com/office/drawing/2014/main" id="{5271B0D0-B495-4C21-8195-0C455ADFC35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73413" y="2757488"/>
            <a:ext cx="1023937" cy="102870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66576" name="Text Box 16">
            <a:extLst>
              <a:ext uri="{FF2B5EF4-FFF2-40B4-BE49-F238E27FC236}">
                <a16:creationId xmlns:a16="http://schemas.microsoft.com/office/drawing/2014/main" id="{6D1D562A-4E62-433E-A691-2DD36A651E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4800" y="19065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u</a:t>
            </a:r>
          </a:p>
        </p:txBody>
      </p:sp>
      <p:sp>
        <p:nvSpPr>
          <p:cNvPr id="66577" name="Text Box 17">
            <a:extLst>
              <a:ext uri="{FF2B5EF4-FFF2-40B4-BE49-F238E27FC236}">
                <a16:creationId xmlns:a16="http://schemas.microsoft.com/office/drawing/2014/main" id="{4EE37DFE-177C-4C1C-8A0B-55E1A25B0F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1650" y="191611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v</a:t>
            </a:r>
          </a:p>
        </p:txBody>
      </p:sp>
      <p:sp>
        <p:nvSpPr>
          <p:cNvPr id="66578" name="Text Box 18">
            <a:extLst>
              <a:ext uri="{FF2B5EF4-FFF2-40B4-BE49-F238E27FC236}">
                <a16:creationId xmlns:a16="http://schemas.microsoft.com/office/drawing/2014/main" id="{E3FC50B4-957C-43B5-8640-03E3A637BB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8500" y="1925638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w</a:t>
            </a:r>
          </a:p>
        </p:txBody>
      </p:sp>
      <p:sp>
        <p:nvSpPr>
          <p:cNvPr id="66579" name="Text Box 19">
            <a:extLst>
              <a:ext uri="{FF2B5EF4-FFF2-40B4-BE49-F238E27FC236}">
                <a16:creationId xmlns:a16="http://schemas.microsoft.com/office/drawing/2014/main" id="{69F01129-0A78-41D2-94E8-957569C359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1463" y="420211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x</a:t>
            </a:r>
          </a:p>
        </p:txBody>
      </p:sp>
      <p:sp>
        <p:nvSpPr>
          <p:cNvPr id="66580" name="Text Box 20">
            <a:extLst>
              <a:ext uri="{FF2B5EF4-FFF2-40B4-BE49-F238E27FC236}">
                <a16:creationId xmlns:a16="http://schemas.microsoft.com/office/drawing/2014/main" id="{D2886FFB-B1AA-4127-8E1A-D23BB7EFBB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421163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y</a:t>
            </a:r>
          </a:p>
        </p:txBody>
      </p:sp>
      <p:sp>
        <p:nvSpPr>
          <p:cNvPr id="66581" name="Text Box 21">
            <a:extLst>
              <a:ext uri="{FF2B5EF4-FFF2-40B4-BE49-F238E27FC236}">
                <a16:creationId xmlns:a16="http://schemas.microsoft.com/office/drawing/2014/main" id="{39E373E1-C8FB-45F6-88AD-F2A229DBCD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8025" y="4206875"/>
            <a:ext cx="319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>
                <a:solidFill>
                  <a:srgbClr val="CC0000"/>
                </a:solidFill>
              </a:rPr>
              <a:t>z</a:t>
            </a:r>
          </a:p>
        </p:txBody>
      </p:sp>
      <p:sp>
        <p:nvSpPr>
          <p:cNvPr id="66582" name="Line 22">
            <a:extLst>
              <a:ext uri="{FF2B5EF4-FFF2-40B4-BE49-F238E27FC236}">
                <a16:creationId xmlns:a16="http://schemas.microsoft.com/office/drawing/2014/main" id="{DBD6EEC6-6575-4155-9002-9317E2426905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3900" y="2617788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66583" name="Line 23">
            <a:extLst>
              <a:ext uri="{FF2B5EF4-FFF2-40B4-BE49-F238E27FC236}">
                <a16:creationId xmlns:a16="http://schemas.microsoft.com/office/drawing/2014/main" id="{A2A92C05-A040-48EE-AE44-67A89EFE911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81538" y="2779713"/>
            <a:ext cx="1023937" cy="102870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i-IN"/>
          </a:p>
        </p:txBody>
      </p:sp>
      <p:sp>
        <p:nvSpPr>
          <p:cNvPr id="66584" name="Freeform 24">
            <a:extLst>
              <a:ext uri="{FF2B5EF4-FFF2-40B4-BE49-F238E27FC236}">
                <a16:creationId xmlns:a16="http://schemas.microsoft.com/office/drawing/2014/main" id="{206BDFBE-E70E-4185-98BA-3C2A7FF55CD4}"/>
              </a:ext>
            </a:extLst>
          </p:cNvPr>
          <p:cNvSpPr>
            <a:spLocks/>
          </p:cNvSpPr>
          <p:nvPr/>
        </p:nvSpPr>
        <p:spPr bwMode="auto">
          <a:xfrm>
            <a:off x="6146800" y="3797300"/>
            <a:ext cx="598488" cy="590550"/>
          </a:xfrm>
          <a:custGeom>
            <a:avLst/>
            <a:gdLst>
              <a:gd name="T0" fmla="*/ 0 w 377"/>
              <a:gd name="T1" fmla="*/ 2147483647 h 372"/>
              <a:gd name="T2" fmla="*/ 2147483647 w 377"/>
              <a:gd name="T3" fmla="*/ 2147483647 h 372"/>
              <a:gd name="T4" fmla="*/ 2147483647 w 377"/>
              <a:gd name="T5" fmla="*/ 2147483647 h 372"/>
              <a:gd name="T6" fmla="*/ 2147483647 w 377"/>
              <a:gd name="T7" fmla="*/ 2147483647 h 372"/>
              <a:gd name="T8" fmla="*/ 2147483647 w 377"/>
              <a:gd name="T9" fmla="*/ 2147483647 h 372"/>
              <a:gd name="T10" fmla="*/ 2147483647 w 377"/>
              <a:gd name="T11" fmla="*/ 2147483647 h 3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77"/>
              <a:gd name="T19" fmla="*/ 0 h 372"/>
              <a:gd name="T20" fmla="*/ 377 w 377"/>
              <a:gd name="T21" fmla="*/ 372 h 37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77" h="372">
                <a:moveTo>
                  <a:pt x="0" y="254"/>
                </a:moveTo>
                <a:cubicBezTo>
                  <a:pt x="44" y="304"/>
                  <a:pt x="88" y="354"/>
                  <a:pt x="145" y="363"/>
                </a:cubicBezTo>
                <a:cubicBezTo>
                  <a:pt x="202" y="372"/>
                  <a:pt x="313" y="346"/>
                  <a:pt x="345" y="308"/>
                </a:cubicBezTo>
                <a:cubicBezTo>
                  <a:pt x="377" y="270"/>
                  <a:pt x="359" y="184"/>
                  <a:pt x="336" y="136"/>
                </a:cubicBezTo>
                <a:cubicBezTo>
                  <a:pt x="313" y="88"/>
                  <a:pt x="259" y="34"/>
                  <a:pt x="209" y="17"/>
                </a:cubicBezTo>
                <a:cubicBezTo>
                  <a:pt x="159" y="0"/>
                  <a:pt x="97" y="18"/>
                  <a:pt x="36" y="36"/>
                </a:cubicBezTo>
              </a:path>
            </a:pathLst>
          </a:custGeom>
          <a:noFill/>
          <a:ln w="9525">
            <a:solidFill>
              <a:schemeClr val="tx2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hi-IN"/>
          </a:p>
        </p:txBody>
      </p:sp>
      <p:sp>
        <p:nvSpPr>
          <p:cNvPr id="66585" name="Text Box 25">
            <a:extLst>
              <a:ext uri="{FF2B5EF4-FFF2-40B4-BE49-F238E27FC236}">
                <a16:creationId xmlns:a16="http://schemas.microsoft.com/office/drawing/2014/main" id="{549EA472-9543-461C-9611-7007B86846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7563" y="2951163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/>
              <a:t>B</a:t>
            </a:r>
          </a:p>
        </p:txBody>
      </p:sp>
      <p:sp>
        <p:nvSpPr>
          <p:cNvPr id="66586" name="Text Box 26">
            <a:extLst>
              <a:ext uri="{FF2B5EF4-FFF2-40B4-BE49-F238E27FC236}">
                <a16:creationId xmlns:a16="http://schemas.microsoft.com/office/drawing/2014/main" id="{22507443-BAE5-4A86-804E-1B357F8B5A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6675" y="3022600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/>
              <a:t>F</a:t>
            </a:r>
          </a:p>
        </p:txBody>
      </p:sp>
      <p:sp>
        <p:nvSpPr>
          <p:cNvPr id="66587" name="Text Box 27">
            <a:extLst>
              <a:ext uri="{FF2B5EF4-FFF2-40B4-BE49-F238E27FC236}">
                <a16:creationId xmlns:a16="http://schemas.microsoft.com/office/drawing/2014/main" id="{42D341DB-3203-44B0-8F11-C2DDC6CC19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2038" y="2951163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/>
              <a:t>C</a:t>
            </a:r>
          </a:p>
        </p:txBody>
      </p:sp>
      <p:sp>
        <p:nvSpPr>
          <p:cNvPr id="66588" name="Text Box 28">
            <a:extLst>
              <a:ext uri="{FF2B5EF4-FFF2-40B4-BE49-F238E27FC236}">
                <a16:creationId xmlns:a16="http://schemas.microsoft.com/office/drawing/2014/main" id="{030B0B1C-465F-4807-B8C0-851183C27C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4175" y="3802063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/>
              <a:t>B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23E2ED-F000-4A6A-AAAC-7C2B62E3D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83</a:t>
            </a:fld>
            <a:endParaRPr lang="en-US" altLang="hi-I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85124FC-CCFD-4542-8952-917476FC323A}"/>
              </a:ext>
            </a:extLst>
          </p:cNvPr>
          <p:cNvSpPr txBox="1"/>
          <p:nvPr/>
        </p:nvSpPr>
        <p:spPr>
          <a:xfrm>
            <a:off x="2355056" y="5294293"/>
            <a:ext cx="28384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/>
              <a:t>DFS traversal: </a:t>
            </a:r>
          </a:p>
          <a:p>
            <a:pPr algn="l"/>
            <a:r>
              <a:rPr lang="en-US" b="1" dirty="0"/>
              <a:t>u, v, y, x, w, z</a:t>
            </a:r>
            <a:endParaRPr lang="hi-IN" b="1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96557590-7418-4DFB-9C91-61BFFF015E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r>
              <a:rPr lang="en-US" altLang="hi-IN"/>
              <a:t>Analysis of DFS</a:t>
            </a:r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79D3B8AA-5D9A-404F-BB14-FD8F90E65D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219200"/>
            <a:ext cx="8556625" cy="4876800"/>
          </a:xfrm>
        </p:spPr>
        <p:txBody>
          <a:bodyPr/>
          <a:lstStyle/>
          <a:p>
            <a:r>
              <a:rPr lang="en-US" altLang="hi-IN" sz="2800"/>
              <a:t>Loops on lines 1-2 &amp; 5-7 take </a:t>
            </a:r>
            <a:r>
              <a:rPr lang="en-US" altLang="hi-IN" sz="2400">
                <a:solidFill>
                  <a:srgbClr val="CC3300"/>
                </a:solidFill>
                <a:sym typeface="Symbol" panose="05050102010706020507" pitchFamily="18" charset="2"/>
              </a:rPr>
              <a:t></a:t>
            </a:r>
            <a:r>
              <a:rPr lang="en-US" altLang="hi-IN" sz="2400">
                <a:solidFill>
                  <a:srgbClr val="CC3300"/>
                </a:solidFill>
              </a:rPr>
              <a:t>(</a:t>
            </a:r>
            <a:r>
              <a:rPr lang="en-US" altLang="hi-IN" sz="2400" i="1">
                <a:solidFill>
                  <a:srgbClr val="CC3300"/>
                </a:solidFill>
              </a:rPr>
              <a:t>V</a:t>
            </a:r>
            <a:r>
              <a:rPr lang="en-US" altLang="hi-IN" sz="2400">
                <a:solidFill>
                  <a:srgbClr val="CC3300"/>
                </a:solidFill>
              </a:rPr>
              <a:t>)</a:t>
            </a:r>
            <a:r>
              <a:rPr lang="en-US" altLang="hi-IN" sz="2800"/>
              <a:t> time, excluding time to execute DFS-Visit.</a:t>
            </a:r>
          </a:p>
          <a:p>
            <a:endParaRPr lang="en-US" altLang="hi-IN" sz="1200"/>
          </a:p>
          <a:p>
            <a:r>
              <a:rPr lang="en-US" altLang="hi-IN" sz="2800"/>
              <a:t>DFS-Visit is called once for each white vertex </a:t>
            </a:r>
            <a:r>
              <a:rPr lang="en-US" altLang="hi-IN" sz="2400" i="1"/>
              <a:t>v</a:t>
            </a:r>
            <a:r>
              <a:rPr lang="en-US" altLang="hi-IN" sz="2400">
                <a:sym typeface="Symbol" panose="05050102010706020507" pitchFamily="18" charset="2"/>
              </a:rPr>
              <a:t></a:t>
            </a:r>
            <a:r>
              <a:rPr lang="en-US" altLang="hi-IN" sz="2400" i="1">
                <a:sym typeface="Symbol" panose="05050102010706020507" pitchFamily="18" charset="2"/>
              </a:rPr>
              <a:t>V</a:t>
            </a:r>
            <a:r>
              <a:rPr lang="en-US" altLang="hi-IN" sz="2800"/>
              <a:t> when it’s painted gray the first time.  Lines 3-6 of DFS-Visit is executed |Adj[</a:t>
            </a:r>
            <a:r>
              <a:rPr lang="en-US" altLang="hi-IN" sz="2800" i="1"/>
              <a:t>v</a:t>
            </a:r>
            <a:r>
              <a:rPr lang="en-US" altLang="hi-IN" sz="2800"/>
              <a:t>]| times. The total cost of executing DFS-Visit is </a:t>
            </a:r>
            <a:r>
              <a:rPr lang="en-US" altLang="hi-IN" sz="2800">
                <a:solidFill>
                  <a:srgbClr val="CC3300"/>
                </a:solidFill>
                <a:sym typeface="Symbol" panose="05050102010706020507" pitchFamily="18" charset="2"/>
              </a:rPr>
              <a:t></a:t>
            </a:r>
            <a:r>
              <a:rPr lang="en-US" altLang="hi-IN" sz="2400" i="1" baseline="-25000">
                <a:solidFill>
                  <a:srgbClr val="CC3300"/>
                </a:solidFill>
              </a:rPr>
              <a:t>v</a:t>
            </a:r>
            <a:r>
              <a:rPr lang="en-US" altLang="hi-IN" sz="2400" baseline="-25000">
                <a:solidFill>
                  <a:srgbClr val="CC3300"/>
                </a:solidFill>
                <a:sym typeface="Symbol" panose="05050102010706020507" pitchFamily="18" charset="2"/>
              </a:rPr>
              <a:t></a:t>
            </a:r>
            <a:r>
              <a:rPr lang="en-US" altLang="hi-IN" sz="2400" i="1" baseline="-25000">
                <a:solidFill>
                  <a:srgbClr val="CC3300"/>
                </a:solidFill>
                <a:sym typeface="Symbol" panose="05050102010706020507" pitchFamily="18" charset="2"/>
              </a:rPr>
              <a:t>V</a:t>
            </a:r>
            <a:r>
              <a:rPr lang="en-US" altLang="hi-IN" sz="2800">
                <a:solidFill>
                  <a:srgbClr val="CC3300"/>
                </a:solidFill>
              </a:rPr>
              <a:t>|Adj[</a:t>
            </a:r>
            <a:r>
              <a:rPr lang="en-US" altLang="hi-IN" sz="2800" i="1">
                <a:solidFill>
                  <a:srgbClr val="CC3300"/>
                </a:solidFill>
              </a:rPr>
              <a:t>v</a:t>
            </a:r>
            <a:r>
              <a:rPr lang="en-US" altLang="hi-IN" sz="2800">
                <a:solidFill>
                  <a:srgbClr val="CC3300"/>
                </a:solidFill>
              </a:rPr>
              <a:t>]| = </a:t>
            </a:r>
            <a:r>
              <a:rPr lang="en-US" altLang="hi-IN" sz="2400">
                <a:solidFill>
                  <a:srgbClr val="CC3300"/>
                </a:solidFill>
                <a:sym typeface="Symbol" panose="05050102010706020507" pitchFamily="18" charset="2"/>
              </a:rPr>
              <a:t></a:t>
            </a:r>
            <a:r>
              <a:rPr lang="en-US" altLang="hi-IN" sz="2400">
                <a:solidFill>
                  <a:srgbClr val="CC3300"/>
                </a:solidFill>
              </a:rPr>
              <a:t>(</a:t>
            </a:r>
            <a:r>
              <a:rPr lang="en-US" altLang="hi-IN" sz="2400" i="1">
                <a:solidFill>
                  <a:srgbClr val="CC3300"/>
                </a:solidFill>
              </a:rPr>
              <a:t>E</a:t>
            </a:r>
            <a:r>
              <a:rPr lang="en-US" altLang="hi-IN" sz="2400">
                <a:solidFill>
                  <a:srgbClr val="CC3300"/>
                </a:solidFill>
              </a:rPr>
              <a:t>)</a:t>
            </a:r>
            <a:r>
              <a:rPr lang="en-US" altLang="hi-IN" sz="2800"/>
              <a:t> </a:t>
            </a:r>
          </a:p>
          <a:p>
            <a:endParaRPr lang="en-US" altLang="hi-IN" sz="1200"/>
          </a:p>
          <a:p>
            <a:r>
              <a:rPr lang="en-US" altLang="hi-IN" sz="2800"/>
              <a:t>Total running time of DFS is</a:t>
            </a:r>
            <a:r>
              <a:rPr lang="en-US" altLang="hi-IN" sz="2800" i="1"/>
              <a:t> </a:t>
            </a:r>
            <a:r>
              <a:rPr lang="en-US" altLang="hi-IN" sz="2800">
                <a:solidFill>
                  <a:srgbClr val="CC3300"/>
                </a:solidFill>
                <a:sym typeface="Symbol" panose="05050102010706020507" pitchFamily="18" charset="2"/>
              </a:rPr>
              <a:t></a:t>
            </a:r>
            <a:r>
              <a:rPr lang="en-US" altLang="hi-IN" sz="2800">
                <a:solidFill>
                  <a:srgbClr val="CC3300"/>
                </a:solidFill>
              </a:rPr>
              <a:t>(</a:t>
            </a:r>
            <a:r>
              <a:rPr lang="en-US" altLang="hi-IN" sz="2800" i="1">
                <a:solidFill>
                  <a:srgbClr val="CC3300"/>
                </a:solidFill>
              </a:rPr>
              <a:t>V+E</a:t>
            </a:r>
            <a:r>
              <a:rPr lang="en-US" altLang="hi-IN" sz="2800">
                <a:solidFill>
                  <a:srgbClr val="CC3300"/>
                </a:solidFill>
              </a:rPr>
              <a:t>)</a:t>
            </a:r>
            <a:r>
              <a:rPr lang="en-US" altLang="hi-IN" sz="2800" i="1"/>
              <a:t>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D55517F-458D-4A85-8FD9-E4C93D1C6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51D9C-B6AB-428B-A110-91A75E744F65}" type="slidenum">
              <a:rPr lang="en-US" altLang="hi-IN" smtClean="0"/>
              <a:pPr/>
              <a:t>84</a:t>
            </a:fld>
            <a:endParaRPr lang="en-US" altLang="hi-IN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02BC1-DDBF-4929-9006-079850037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DFS – Example 2</a:t>
            </a:r>
            <a:endParaRPr lang="hi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56603-2F2D-44EA-A42A-6DE4D3BD60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i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EC5E98-D0E8-4E9D-920F-20091AC2F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51D9C-B6AB-428B-A110-91A75E744F65}" type="slidenum">
              <a:rPr lang="en-US" altLang="hi-IN" smtClean="0"/>
              <a:pPr/>
              <a:t>85</a:t>
            </a:fld>
            <a:endParaRPr lang="en-US" altLang="hi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7CFFF1-9185-4801-AB7E-68B6645DA779}"/>
              </a:ext>
            </a:extLst>
          </p:cNvPr>
          <p:cNvSpPr txBox="1"/>
          <p:nvPr/>
        </p:nvSpPr>
        <p:spPr>
          <a:xfrm>
            <a:off x="5945184" y="5105400"/>
            <a:ext cx="28384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/>
              <a:t>DFS traversal: </a:t>
            </a:r>
          </a:p>
          <a:p>
            <a:pPr algn="l"/>
            <a:r>
              <a:rPr lang="en-US" b="1" dirty="0"/>
              <a:t>1, 2, 6</a:t>
            </a:r>
            <a:endParaRPr lang="hi-IN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5A4B3B-99C5-4E59-91B4-0B38DED6B614}"/>
              </a:ext>
            </a:extLst>
          </p:cNvPr>
          <p:cNvSpPr txBox="1"/>
          <p:nvPr/>
        </p:nvSpPr>
        <p:spPr>
          <a:xfrm>
            <a:off x="409575" y="5184180"/>
            <a:ext cx="28384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/>
              <a:t>DFS traversal: </a:t>
            </a:r>
          </a:p>
          <a:p>
            <a:pPr algn="l"/>
            <a:r>
              <a:rPr lang="en-US" b="1" dirty="0"/>
              <a:t>1</a:t>
            </a:r>
            <a:endParaRPr lang="hi-IN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5CD191-43C7-40E7-B3C5-90754341CEC4}"/>
              </a:ext>
            </a:extLst>
          </p:cNvPr>
          <p:cNvSpPr txBox="1"/>
          <p:nvPr/>
        </p:nvSpPr>
        <p:spPr>
          <a:xfrm>
            <a:off x="3057527" y="5184180"/>
            <a:ext cx="28384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/>
              <a:t>DFS traversal: </a:t>
            </a:r>
          </a:p>
          <a:p>
            <a:pPr algn="l"/>
            <a:r>
              <a:rPr lang="en-US" b="1" dirty="0"/>
              <a:t>1, 2, </a:t>
            </a:r>
            <a:endParaRPr lang="hi-IN" b="1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D3AB5FC-A26D-4B23-A06D-1000B93EDC6C}"/>
              </a:ext>
            </a:extLst>
          </p:cNvPr>
          <p:cNvGrpSpPr/>
          <p:nvPr/>
        </p:nvGrpSpPr>
        <p:grpSpPr>
          <a:xfrm>
            <a:off x="141930" y="2133600"/>
            <a:ext cx="8860140" cy="2590800"/>
            <a:chOff x="141930" y="2133600"/>
            <a:chExt cx="8860140" cy="259080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B1FC5C2-E513-466D-AFFE-8132358319A8}"/>
                </a:ext>
              </a:extLst>
            </p:cNvPr>
            <p:cNvGrpSpPr/>
            <p:nvPr/>
          </p:nvGrpSpPr>
          <p:grpSpPr>
            <a:xfrm>
              <a:off x="141930" y="2133600"/>
              <a:ext cx="8860140" cy="2590800"/>
              <a:chOff x="141930" y="2133600"/>
              <a:chExt cx="8860140" cy="2590800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3C18B5AF-4DB5-4427-B9BC-9B404239F4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41930" y="2133600"/>
                <a:ext cx="8860140" cy="2590800"/>
              </a:xfrm>
              <a:prstGeom prst="rect">
                <a:avLst/>
              </a:prstGeom>
            </p:spPr>
          </p:pic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E6C5E52-2563-4140-8A3B-9B1BD69611DE}"/>
                  </a:ext>
                </a:extLst>
              </p:cNvPr>
              <p:cNvSpPr txBox="1"/>
              <p:nvPr/>
            </p:nvSpPr>
            <p:spPr>
              <a:xfrm>
                <a:off x="1295400" y="3807916"/>
                <a:ext cx="533400" cy="21544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endParaRPr lang="hi-IN" sz="800" dirty="0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3E4434F-5801-41C9-8C9D-745C30FBBA04}"/>
                  </a:ext>
                </a:extLst>
              </p:cNvPr>
              <p:cNvSpPr txBox="1"/>
              <p:nvPr/>
            </p:nvSpPr>
            <p:spPr>
              <a:xfrm>
                <a:off x="4025900" y="3807916"/>
                <a:ext cx="533400" cy="21544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endParaRPr lang="hi-IN" sz="800" dirty="0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7348B69-4676-40BF-A67F-4F84E253D621}"/>
                  </a:ext>
                </a:extLst>
              </p:cNvPr>
              <p:cNvSpPr txBox="1"/>
              <p:nvPr/>
            </p:nvSpPr>
            <p:spPr>
              <a:xfrm>
                <a:off x="7010400" y="3807916"/>
                <a:ext cx="533400" cy="21544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endParaRPr lang="hi-IN" sz="800" dirty="0"/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3D09119-5E5C-42F2-9FBD-B21E68D3E68C}"/>
                </a:ext>
              </a:extLst>
            </p:cNvPr>
            <p:cNvSpPr txBox="1"/>
            <p:nvPr/>
          </p:nvSpPr>
          <p:spPr>
            <a:xfrm rot="19543790">
              <a:off x="4480513" y="3771297"/>
              <a:ext cx="658921" cy="28868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hi-IN" sz="80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63B9C54-75CE-420A-A266-45113934C4C9}"/>
                </a:ext>
              </a:extLst>
            </p:cNvPr>
            <p:cNvSpPr txBox="1"/>
            <p:nvPr/>
          </p:nvSpPr>
          <p:spPr>
            <a:xfrm rot="19543790">
              <a:off x="1798234" y="4003932"/>
              <a:ext cx="568447" cy="19653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hi-IN" sz="80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EB76878-65C0-42FD-8740-6CE02E0A27B8}"/>
                </a:ext>
              </a:extLst>
            </p:cNvPr>
            <p:cNvSpPr txBox="1"/>
            <p:nvPr/>
          </p:nvSpPr>
          <p:spPr>
            <a:xfrm rot="19543790">
              <a:off x="1663924" y="3818060"/>
              <a:ext cx="658921" cy="28868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hi-IN" sz="800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7D5F8A0-C51F-46A7-9286-27CC25D01B92}"/>
                </a:ext>
              </a:extLst>
            </p:cNvPr>
            <p:cNvSpPr txBox="1"/>
            <p:nvPr/>
          </p:nvSpPr>
          <p:spPr>
            <a:xfrm rot="19543790">
              <a:off x="7416886" y="3879019"/>
              <a:ext cx="658921" cy="28868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hi-IN" sz="800" dirty="0"/>
            </a:p>
          </p:txBody>
        </p:sp>
      </p:grpSp>
    </p:spTree>
    <p:extLst>
      <p:ext uri="{BB962C8B-B14F-4D97-AF65-F5344CB8AC3E}">
        <p14:creationId xmlns:p14="http://schemas.microsoft.com/office/powerpoint/2010/main" val="184743653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02BC1-DDBF-4929-9006-079850037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DFS – Example 2</a:t>
            </a:r>
            <a:endParaRPr lang="hi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56603-2F2D-44EA-A42A-6DE4D3BD60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851108-68A1-4447-89D2-DDBD575EE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51D9C-B6AB-428B-A110-91A75E744F65}" type="slidenum">
              <a:rPr lang="en-US" altLang="hi-IN" smtClean="0"/>
              <a:pPr/>
              <a:t>86</a:t>
            </a:fld>
            <a:endParaRPr lang="en-US" altLang="hi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4E26F8-38ED-48F1-92BA-B144A84980DA}"/>
              </a:ext>
            </a:extLst>
          </p:cNvPr>
          <p:cNvSpPr txBox="1"/>
          <p:nvPr/>
        </p:nvSpPr>
        <p:spPr>
          <a:xfrm>
            <a:off x="295275" y="5218093"/>
            <a:ext cx="28384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/>
              <a:t>DFS traversal: </a:t>
            </a:r>
          </a:p>
          <a:p>
            <a:pPr algn="l"/>
            <a:r>
              <a:rPr lang="en-US" b="1" dirty="0"/>
              <a:t>1, 2, 6</a:t>
            </a:r>
            <a:endParaRPr lang="hi-IN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75B956-A3DB-4247-9E17-4C3BCA497AFC}"/>
              </a:ext>
            </a:extLst>
          </p:cNvPr>
          <p:cNvSpPr txBox="1"/>
          <p:nvPr/>
        </p:nvSpPr>
        <p:spPr>
          <a:xfrm>
            <a:off x="3152775" y="5179993"/>
            <a:ext cx="28384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/>
              <a:t>DFS traversal: </a:t>
            </a:r>
          </a:p>
          <a:p>
            <a:pPr algn="l"/>
            <a:r>
              <a:rPr lang="en-US" b="1" dirty="0"/>
              <a:t>1, 2, 6, 4</a:t>
            </a:r>
            <a:endParaRPr lang="hi-IN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935D98-8AE5-46EE-8CFF-37F7E4822129}"/>
              </a:ext>
            </a:extLst>
          </p:cNvPr>
          <p:cNvSpPr txBox="1"/>
          <p:nvPr/>
        </p:nvSpPr>
        <p:spPr>
          <a:xfrm>
            <a:off x="6035993" y="5179993"/>
            <a:ext cx="28384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/>
              <a:t>DFS traversal: </a:t>
            </a:r>
          </a:p>
          <a:p>
            <a:pPr algn="l"/>
            <a:r>
              <a:rPr lang="en-US" b="1" dirty="0"/>
              <a:t>1, 2, 6, 4</a:t>
            </a:r>
            <a:endParaRPr lang="hi-IN" b="1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CA7B13B-64E6-4B03-AFDF-BB0F5200A7C5}"/>
              </a:ext>
            </a:extLst>
          </p:cNvPr>
          <p:cNvGrpSpPr/>
          <p:nvPr/>
        </p:nvGrpSpPr>
        <p:grpSpPr>
          <a:xfrm>
            <a:off x="377244" y="2133600"/>
            <a:ext cx="8364828" cy="2743200"/>
            <a:chOff x="377244" y="2133600"/>
            <a:chExt cx="8364828" cy="274320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6675D09-2188-456A-B65E-2844A3DDAE45}"/>
                </a:ext>
              </a:extLst>
            </p:cNvPr>
            <p:cNvGrpSpPr/>
            <p:nvPr/>
          </p:nvGrpSpPr>
          <p:grpSpPr>
            <a:xfrm>
              <a:off x="377244" y="2133600"/>
              <a:ext cx="8364828" cy="2743200"/>
              <a:chOff x="377244" y="2133600"/>
              <a:chExt cx="8364828" cy="2743200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A43F15DD-0B2C-44EC-829D-01FC317311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77244" y="2133600"/>
                <a:ext cx="8364828" cy="2743200"/>
              </a:xfrm>
              <a:prstGeom prst="rect">
                <a:avLst/>
              </a:prstGeom>
            </p:spPr>
          </p:pic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6FD5092-C6A7-4FBF-9B4F-2CFF0613B65E}"/>
                  </a:ext>
                </a:extLst>
              </p:cNvPr>
              <p:cNvSpPr txBox="1"/>
              <p:nvPr/>
            </p:nvSpPr>
            <p:spPr>
              <a:xfrm>
                <a:off x="1447800" y="3899356"/>
                <a:ext cx="533400" cy="21544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endParaRPr lang="hi-IN" sz="800" dirty="0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170A13-DE7D-4B1C-A426-448A05014B31}"/>
                  </a:ext>
                </a:extLst>
              </p:cNvPr>
              <p:cNvSpPr txBox="1"/>
              <p:nvPr/>
            </p:nvSpPr>
            <p:spPr>
              <a:xfrm>
                <a:off x="4267200" y="3899356"/>
                <a:ext cx="533400" cy="21544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endParaRPr lang="hi-IN" sz="800" dirty="0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20656D2-EEB2-492A-AB59-C6C9E1745D83}"/>
                  </a:ext>
                </a:extLst>
              </p:cNvPr>
              <p:cNvSpPr txBox="1"/>
              <p:nvPr/>
            </p:nvSpPr>
            <p:spPr>
              <a:xfrm>
                <a:off x="7086600" y="3899356"/>
                <a:ext cx="533400" cy="21544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endParaRPr lang="hi-IN" sz="800" dirty="0"/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38BC41D-1C18-48DA-86F6-4E3E662ECABA}"/>
                </a:ext>
              </a:extLst>
            </p:cNvPr>
            <p:cNvSpPr txBox="1"/>
            <p:nvPr/>
          </p:nvSpPr>
          <p:spPr>
            <a:xfrm rot="19543790">
              <a:off x="1859861" y="3894260"/>
              <a:ext cx="658921" cy="28868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hi-IN" sz="800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038C748-6A75-451C-B70D-2D5693FFB126}"/>
                </a:ext>
              </a:extLst>
            </p:cNvPr>
            <p:cNvSpPr txBox="1"/>
            <p:nvPr/>
          </p:nvSpPr>
          <p:spPr>
            <a:xfrm rot="19543790">
              <a:off x="1663924" y="3818060"/>
              <a:ext cx="658921" cy="28868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hi-IN" sz="80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E815820-8B4D-4AC4-8D3A-953F69173867}"/>
                </a:ext>
              </a:extLst>
            </p:cNvPr>
            <p:cNvSpPr txBox="1"/>
            <p:nvPr/>
          </p:nvSpPr>
          <p:spPr>
            <a:xfrm rot="19543790">
              <a:off x="4674182" y="3970459"/>
              <a:ext cx="658921" cy="28868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hi-IN" sz="80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932C4EA-2321-4048-A94D-7A5827DE0070}"/>
                </a:ext>
              </a:extLst>
            </p:cNvPr>
            <p:cNvSpPr txBox="1"/>
            <p:nvPr/>
          </p:nvSpPr>
          <p:spPr>
            <a:xfrm rot="19543790">
              <a:off x="7429935" y="3894261"/>
              <a:ext cx="658921" cy="28868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hi-IN" sz="800" dirty="0"/>
            </a:p>
          </p:txBody>
        </p:sp>
      </p:grpSp>
    </p:spTree>
    <p:extLst>
      <p:ext uri="{BB962C8B-B14F-4D97-AF65-F5344CB8AC3E}">
        <p14:creationId xmlns:p14="http://schemas.microsoft.com/office/powerpoint/2010/main" val="359636182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02BC1-DDBF-4929-9006-079850037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DFS – Example 2</a:t>
            </a:r>
            <a:endParaRPr lang="hi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56603-2F2D-44EA-A42A-6DE4D3BD60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193A98-1D9E-474C-9C4F-CAF8B50E3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51D9C-B6AB-428B-A110-91A75E744F65}" type="slidenum">
              <a:rPr lang="en-US" altLang="hi-IN" smtClean="0"/>
              <a:pPr/>
              <a:t>87</a:t>
            </a:fld>
            <a:endParaRPr lang="en-US" altLang="hi-IN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FDFA94B-3673-41B3-A2B8-30363BD1DDEF}"/>
              </a:ext>
            </a:extLst>
          </p:cNvPr>
          <p:cNvGrpSpPr/>
          <p:nvPr/>
        </p:nvGrpSpPr>
        <p:grpSpPr>
          <a:xfrm>
            <a:off x="152400" y="2057400"/>
            <a:ext cx="8382000" cy="2616915"/>
            <a:chOff x="152400" y="2057400"/>
            <a:chExt cx="8382000" cy="261691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6450B7D-94FC-4BD2-BF73-421EC375FA1B}"/>
                </a:ext>
              </a:extLst>
            </p:cNvPr>
            <p:cNvGrpSpPr/>
            <p:nvPr/>
          </p:nvGrpSpPr>
          <p:grpSpPr>
            <a:xfrm>
              <a:off x="152400" y="2057400"/>
              <a:ext cx="8382000" cy="2616915"/>
              <a:chOff x="152400" y="2057400"/>
              <a:chExt cx="8382000" cy="2616915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59555324-700A-4DBB-9A4A-0D673046C2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52400" y="2057400"/>
                <a:ext cx="8382000" cy="2616915"/>
              </a:xfrm>
              <a:prstGeom prst="rect">
                <a:avLst/>
              </a:prstGeom>
            </p:spPr>
          </p:pic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ADDB498-D242-4896-82A7-FF03F1FE8FEE}"/>
                  </a:ext>
                </a:extLst>
              </p:cNvPr>
              <p:cNvSpPr txBox="1"/>
              <p:nvPr/>
            </p:nvSpPr>
            <p:spPr>
              <a:xfrm>
                <a:off x="1295400" y="3594556"/>
                <a:ext cx="533400" cy="21544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endParaRPr lang="hi-IN" sz="800" dirty="0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04814EB-387C-4015-885D-DCCF65F6C6D2}"/>
                  </a:ext>
                </a:extLst>
              </p:cNvPr>
              <p:cNvSpPr txBox="1"/>
              <p:nvPr/>
            </p:nvSpPr>
            <p:spPr>
              <a:xfrm>
                <a:off x="4191000" y="3594556"/>
                <a:ext cx="533400" cy="21544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endParaRPr lang="hi-IN" sz="800" dirty="0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CB788D-7244-4BCE-B101-14061AE744DF}"/>
                  </a:ext>
                </a:extLst>
              </p:cNvPr>
              <p:cNvSpPr txBox="1"/>
              <p:nvPr/>
            </p:nvSpPr>
            <p:spPr>
              <a:xfrm>
                <a:off x="7010400" y="3581400"/>
                <a:ext cx="533400" cy="21544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endParaRPr lang="hi-IN" sz="800" dirty="0"/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6DDF7D6-09B1-4244-8E75-6141F4C92216}"/>
                </a:ext>
              </a:extLst>
            </p:cNvPr>
            <p:cNvSpPr txBox="1"/>
            <p:nvPr/>
          </p:nvSpPr>
          <p:spPr>
            <a:xfrm rot="19543790">
              <a:off x="1663924" y="3589459"/>
              <a:ext cx="658921" cy="28868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hi-IN" sz="8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385962F-DF35-4C5E-BB58-39C981299158}"/>
                </a:ext>
              </a:extLst>
            </p:cNvPr>
            <p:cNvSpPr txBox="1"/>
            <p:nvPr/>
          </p:nvSpPr>
          <p:spPr>
            <a:xfrm rot="19543790">
              <a:off x="4519881" y="3589459"/>
              <a:ext cx="658921" cy="28868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hi-IN" sz="80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813CF51-EA3B-4869-A73B-8E68D3984897}"/>
                </a:ext>
              </a:extLst>
            </p:cNvPr>
            <p:cNvSpPr txBox="1"/>
            <p:nvPr/>
          </p:nvSpPr>
          <p:spPr>
            <a:xfrm rot="19543790">
              <a:off x="7415481" y="3589460"/>
              <a:ext cx="658921" cy="28868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hi-IN" sz="800"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5A0592D8-774F-4FBD-9295-534161FCDC34}"/>
              </a:ext>
            </a:extLst>
          </p:cNvPr>
          <p:cNvSpPr txBox="1"/>
          <p:nvPr/>
        </p:nvSpPr>
        <p:spPr>
          <a:xfrm>
            <a:off x="0" y="4535439"/>
            <a:ext cx="28384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/>
              <a:t>DFS traversal: </a:t>
            </a:r>
          </a:p>
          <a:p>
            <a:pPr algn="l"/>
            <a:r>
              <a:rPr lang="en-US" b="1" dirty="0"/>
              <a:t>1, 2, 6, 4</a:t>
            </a:r>
            <a:endParaRPr lang="hi-IN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EE0599-E9FF-4D55-937D-06CB31D23E1C}"/>
              </a:ext>
            </a:extLst>
          </p:cNvPr>
          <p:cNvSpPr txBox="1"/>
          <p:nvPr/>
        </p:nvSpPr>
        <p:spPr>
          <a:xfrm>
            <a:off x="3467102" y="4639579"/>
            <a:ext cx="28384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/>
              <a:t>DFS traversal: </a:t>
            </a:r>
          </a:p>
          <a:p>
            <a:pPr algn="l"/>
            <a:r>
              <a:rPr lang="en-US" b="1" dirty="0"/>
              <a:t>1, 2, 6, 4, 5</a:t>
            </a:r>
            <a:endParaRPr lang="hi-IN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11DF5B-340B-4DDD-93CC-DDD0417F226B}"/>
              </a:ext>
            </a:extLst>
          </p:cNvPr>
          <p:cNvSpPr txBox="1"/>
          <p:nvPr/>
        </p:nvSpPr>
        <p:spPr>
          <a:xfrm>
            <a:off x="6239510" y="4741040"/>
            <a:ext cx="28384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/>
              <a:t>DFS traversal: </a:t>
            </a:r>
          </a:p>
          <a:p>
            <a:pPr algn="l"/>
            <a:r>
              <a:rPr lang="en-US" b="1" dirty="0"/>
              <a:t>1, 2, 6, 4, 5</a:t>
            </a:r>
            <a:endParaRPr lang="hi-IN" b="1" dirty="0"/>
          </a:p>
        </p:txBody>
      </p:sp>
    </p:spTree>
    <p:extLst>
      <p:ext uri="{BB962C8B-B14F-4D97-AF65-F5344CB8AC3E}">
        <p14:creationId xmlns:p14="http://schemas.microsoft.com/office/powerpoint/2010/main" val="368447406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02BC1-DDBF-4929-9006-079850037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DFS – Example 2</a:t>
            </a:r>
            <a:endParaRPr lang="hi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56603-2F2D-44EA-A42A-6DE4D3BD60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i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C51C18-EEBB-413A-8862-3E84CB247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51D9C-B6AB-428B-A110-91A75E744F65}" type="slidenum">
              <a:rPr lang="en-US" altLang="hi-IN" smtClean="0"/>
              <a:pPr/>
              <a:t>88</a:t>
            </a:fld>
            <a:endParaRPr lang="en-US" altLang="hi-IN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1F07C55-DCFE-4997-93F2-BD99FE6F996C}"/>
              </a:ext>
            </a:extLst>
          </p:cNvPr>
          <p:cNvGrpSpPr/>
          <p:nvPr/>
        </p:nvGrpSpPr>
        <p:grpSpPr>
          <a:xfrm>
            <a:off x="381000" y="2011680"/>
            <a:ext cx="8286721" cy="2484120"/>
            <a:chOff x="381000" y="2011680"/>
            <a:chExt cx="8286721" cy="248412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66240FB-CE0F-4793-8A50-93F7508018FF}"/>
                </a:ext>
              </a:extLst>
            </p:cNvPr>
            <p:cNvGrpSpPr/>
            <p:nvPr/>
          </p:nvGrpSpPr>
          <p:grpSpPr>
            <a:xfrm>
              <a:off x="381000" y="2011680"/>
              <a:ext cx="8286721" cy="2484120"/>
              <a:chOff x="381000" y="2011680"/>
              <a:chExt cx="8286721" cy="2484120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37F59F22-6334-45AE-B573-21C1A3E7D5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81000" y="2011680"/>
                <a:ext cx="8286721" cy="2484120"/>
              </a:xfrm>
              <a:prstGeom prst="rect">
                <a:avLst/>
              </a:prstGeom>
            </p:spPr>
          </p:pic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7693088-9E77-44F4-A5B2-29CA072C984E}"/>
                  </a:ext>
                </a:extLst>
              </p:cNvPr>
              <p:cNvSpPr txBox="1"/>
              <p:nvPr/>
            </p:nvSpPr>
            <p:spPr>
              <a:xfrm>
                <a:off x="1371600" y="3429000"/>
                <a:ext cx="533400" cy="21544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endParaRPr lang="hi-IN" sz="800" dirty="0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46AD93D-FA5B-443F-8328-27B748A9EA5E}"/>
                  </a:ext>
                </a:extLst>
              </p:cNvPr>
              <p:cNvSpPr txBox="1"/>
              <p:nvPr/>
            </p:nvSpPr>
            <p:spPr>
              <a:xfrm>
                <a:off x="4191000" y="3365956"/>
                <a:ext cx="533400" cy="21544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endParaRPr lang="hi-IN" sz="800" dirty="0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1097DD5-8395-438C-9457-341AA3B8DC0F}"/>
                  </a:ext>
                </a:extLst>
              </p:cNvPr>
              <p:cNvSpPr txBox="1"/>
              <p:nvPr/>
            </p:nvSpPr>
            <p:spPr>
              <a:xfrm>
                <a:off x="6858000" y="3352800"/>
                <a:ext cx="533400" cy="21544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endParaRPr lang="hi-IN" sz="800" dirty="0"/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150B69A-7FC7-4FEE-9014-5FBC8BA91A7F}"/>
                </a:ext>
              </a:extLst>
            </p:cNvPr>
            <p:cNvSpPr txBox="1"/>
            <p:nvPr/>
          </p:nvSpPr>
          <p:spPr>
            <a:xfrm rot="19543790">
              <a:off x="1755398" y="3392381"/>
              <a:ext cx="658921" cy="28868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hi-IN" sz="8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82760A2-34FD-4131-A5F5-48C8798B88F8}"/>
                </a:ext>
              </a:extLst>
            </p:cNvPr>
            <p:cNvSpPr txBox="1"/>
            <p:nvPr/>
          </p:nvSpPr>
          <p:spPr>
            <a:xfrm rot="19543790">
              <a:off x="4548440" y="3363984"/>
              <a:ext cx="658921" cy="28868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hi-IN" sz="80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B4CA4A5-BD55-424E-AD0C-075AAF1603F6}"/>
                </a:ext>
              </a:extLst>
            </p:cNvPr>
            <p:cNvSpPr txBox="1"/>
            <p:nvPr/>
          </p:nvSpPr>
          <p:spPr>
            <a:xfrm rot="19543790">
              <a:off x="7294799" y="3363982"/>
              <a:ext cx="658921" cy="28868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hi-IN" sz="800"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B891FE1D-C797-4A8B-8F7D-9C1F7DB1E43E}"/>
              </a:ext>
            </a:extLst>
          </p:cNvPr>
          <p:cNvSpPr txBox="1"/>
          <p:nvPr/>
        </p:nvSpPr>
        <p:spPr>
          <a:xfrm>
            <a:off x="0" y="4535439"/>
            <a:ext cx="28384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/>
              <a:t>DFS traversal: </a:t>
            </a:r>
          </a:p>
          <a:p>
            <a:pPr algn="l"/>
            <a:r>
              <a:rPr lang="en-US" b="1" dirty="0"/>
              <a:t>1, 2, 6, 4, 5, 3</a:t>
            </a:r>
            <a:endParaRPr lang="hi-IN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26334F-9EC2-42AD-A012-E248F5EBB8F3}"/>
              </a:ext>
            </a:extLst>
          </p:cNvPr>
          <p:cNvSpPr txBox="1"/>
          <p:nvPr/>
        </p:nvSpPr>
        <p:spPr>
          <a:xfrm>
            <a:off x="3467102" y="4639579"/>
            <a:ext cx="28384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/>
              <a:t>DFS traversal: </a:t>
            </a:r>
          </a:p>
          <a:p>
            <a:pPr algn="l"/>
            <a:r>
              <a:rPr lang="en-US" b="1" dirty="0"/>
              <a:t>1, 2, 6, 4, 5, 3, 7</a:t>
            </a:r>
            <a:endParaRPr lang="hi-IN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50402B-8736-4AF6-8DBA-B147FFF48275}"/>
              </a:ext>
            </a:extLst>
          </p:cNvPr>
          <p:cNvSpPr txBox="1"/>
          <p:nvPr/>
        </p:nvSpPr>
        <p:spPr>
          <a:xfrm>
            <a:off x="6239510" y="4741040"/>
            <a:ext cx="28384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/>
              <a:t>DFS traversal: </a:t>
            </a:r>
          </a:p>
          <a:p>
            <a:pPr algn="l"/>
            <a:r>
              <a:rPr lang="en-US" b="1" dirty="0"/>
              <a:t>1, 2, 6, 4, 5, 3, 7</a:t>
            </a:r>
            <a:endParaRPr lang="hi-IN" b="1" dirty="0"/>
          </a:p>
        </p:txBody>
      </p:sp>
    </p:spTree>
    <p:extLst>
      <p:ext uri="{BB962C8B-B14F-4D97-AF65-F5344CB8AC3E}">
        <p14:creationId xmlns:p14="http://schemas.microsoft.com/office/powerpoint/2010/main" val="271987603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11D86-41CA-434E-906B-A4204FD72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DFS – Example 2</a:t>
            </a:r>
            <a:endParaRPr lang="hi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8E2E7-22D5-4C65-B6C3-C964D395F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095FA1C-A93C-4ED3-97D2-5161D620E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51D9C-B6AB-428B-A110-91A75E744F65}" type="slidenum">
              <a:rPr lang="en-US" altLang="hi-IN" smtClean="0"/>
              <a:pPr/>
              <a:t>89</a:t>
            </a:fld>
            <a:endParaRPr lang="en-US" altLang="hi-IN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EE624B2-2EA9-4655-BF32-79D312AA26F2}"/>
              </a:ext>
            </a:extLst>
          </p:cNvPr>
          <p:cNvGrpSpPr/>
          <p:nvPr/>
        </p:nvGrpSpPr>
        <p:grpSpPr>
          <a:xfrm>
            <a:off x="838200" y="2195512"/>
            <a:ext cx="7564308" cy="3062288"/>
            <a:chOff x="838200" y="2195512"/>
            <a:chExt cx="7564308" cy="3062288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63BEF06B-804D-426E-993C-FED88D0B7B32}"/>
                </a:ext>
              </a:extLst>
            </p:cNvPr>
            <p:cNvGrpSpPr/>
            <p:nvPr/>
          </p:nvGrpSpPr>
          <p:grpSpPr>
            <a:xfrm>
              <a:off x="838200" y="2195512"/>
              <a:ext cx="7564308" cy="3062288"/>
              <a:chOff x="838200" y="2195512"/>
              <a:chExt cx="7564308" cy="3062288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51FFAE38-65A5-4989-95A4-53FFC724CF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38200" y="2195512"/>
                <a:ext cx="7564308" cy="3062288"/>
              </a:xfrm>
              <a:prstGeom prst="rect">
                <a:avLst/>
              </a:prstGeom>
            </p:spPr>
          </p:pic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950E6B8-80CC-40B1-86FC-EBF1315185E2}"/>
                  </a:ext>
                </a:extLst>
              </p:cNvPr>
              <p:cNvSpPr txBox="1"/>
              <p:nvPr/>
            </p:nvSpPr>
            <p:spPr>
              <a:xfrm>
                <a:off x="2743200" y="3962400"/>
                <a:ext cx="533400" cy="33855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endParaRPr lang="hi-IN" sz="1600" dirty="0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39210D9-9F85-41AB-9D8D-FFC14C79C026}"/>
                  </a:ext>
                </a:extLst>
              </p:cNvPr>
              <p:cNvSpPr txBox="1"/>
              <p:nvPr/>
            </p:nvSpPr>
            <p:spPr>
              <a:xfrm>
                <a:off x="6096000" y="3928646"/>
                <a:ext cx="533400" cy="33855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endParaRPr lang="hi-IN" sz="1600" dirty="0"/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327892C-7395-474A-B7EB-08D8D6947E53}"/>
                </a:ext>
              </a:extLst>
            </p:cNvPr>
            <p:cNvSpPr txBox="1"/>
            <p:nvPr/>
          </p:nvSpPr>
          <p:spPr>
            <a:xfrm rot="19543790">
              <a:off x="6403422" y="3844802"/>
              <a:ext cx="921540" cy="42875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hi-IN" sz="8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79A3BC3-F92B-4CC5-B1D1-58A5B1A352A2}"/>
                </a:ext>
              </a:extLst>
            </p:cNvPr>
            <p:cNvSpPr txBox="1"/>
            <p:nvPr/>
          </p:nvSpPr>
          <p:spPr>
            <a:xfrm rot="19543790">
              <a:off x="3281872" y="4086574"/>
              <a:ext cx="783936" cy="42875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hi-IN" sz="800" dirty="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E359C094-F0E8-4475-9F7F-44E2D256F2E1}"/>
              </a:ext>
            </a:extLst>
          </p:cNvPr>
          <p:cNvSpPr txBox="1"/>
          <p:nvPr/>
        </p:nvSpPr>
        <p:spPr>
          <a:xfrm>
            <a:off x="4876800" y="5315164"/>
            <a:ext cx="28384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/>
              <a:t>DFS traversal: </a:t>
            </a:r>
          </a:p>
          <a:p>
            <a:pPr algn="l"/>
            <a:r>
              <a:rPr lang="en-US" b="1" dirty="0"/>
              <a:t>1, 2, 6, 4, 5, 3, 7</a:t>
            </a:r>
            <a:endParaRPr lang="hi-IN" b="1" dirty="0"/>
          </a:p>
        </p:txBody>
      </p:sp>
    </p:spTree>
    <p:extLst>
      <p:ext uri="{BB962C8B-B14F-4D97-AF65-F5344CB8AC3E}">
        <p14:creationId xmlns:p14="http://schemas.microsoft.com/office/powerpoint/2010/main" val="37042491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11D86-41CA-434E-906B-A4204FD72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DFS – Example 2</a:t>
            </a:r>
            <a:endParaRPr lang="hi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8E2E7-22D5-4C65-B6C3-C964D395F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952AF-6796-4914-A533-0DC61EBBC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51D9C-B6AB-428B-A110-91A75E744F65}" type="slidenum">
              <a:rPr lang="en-US" altLang="hi-IN" smtClean="0"/>
              <a:pPr/>
              <a:t>90</a:t>
            </a:fld>
            <a:endParaRPr lang="en-US" altLang="hi-IN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6A3914D-6820-41E7-952E-E80C53CE64C7}"/>
              </a:ext>
            </a:extLst>
          </p:cNvPr>
          <p:cNvGrpSpPr/>
          <p:nvPr/>
        </p:nvGrpSpPr>
        <p:grpSpPr>
          <a:xfrm>
            <a:off x="381000" y="1945640"/>
            <a:ext cx="7909560" cy="3295650"/>
            <a:chOff x="381000" y="1945640"/>
            <a:chExt cx="7909560" cy="329565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4187C93-4B3F-4B65-AD02-F81A57FDC510}"/>
                </a:ext>
              </a:extLst>
            </p:cNvPr>
            <p:cNvGrpSpPr/>
            <p:nvPr/>
          </p:nvGrpSpPr>
          <p:grpSpPr>
            <a:xfrm>
              <a:off x="381000" y="1945640"/>
              <a:ext cx="7909560" cy="3295650"/>
              <a:chOff x="381000" y="1945640"/>
              <a:chExt cx="7909560" cy="3295650"/>
            </a:xfrm>
          </p:grpSpPr>
          <p:pic>
            <p:nvPicPr>
              <p:cNvPr id="4098" name="Picture 2" descr="animation of dfs">
                <a:extLst>
                  <a:ext uri="{FF2B5EF4-FFF2-40B4-BE49-F238E27FC236}">
                    <a16:creationId xmlns:a16="http://schemas.microsoft.com/office/drawing/2014/main" id="{E827A112-CFCC-4C97-B92C-C3958472732E}"/>
                  </a:ext>
                </a:extLst>
              </p:cNvPr>
              <p:cNvPicPr>
                <a:picLocks noChangeAspect="1" noChangeArrowheads="1" noCrop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1000" y="1945640"/>
                <a:ext cx="7909560" cy="32956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B8BDD98-F863-4C1A-8746-2B7E5DC2D31D}"/>
                  </a:ext>
                </a:extLst>
              </p:cNvPr>
              <p:cNvSpPr txBox="1"/>
              <p:nvPr/>
            </p:nvSpPr>
            <p:spPr>
              <a:xfrm>
                <a:off x="1905000" y="4019490"/>
                <a:ext cx="533400" cy="4001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endParaRPr lang="hi-IN" sz="2000" dirty="0"/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0830391-E9C6-4642-AE57-05D582D6FDB3}"/>
                </a:ext>
              </a:extLst>
            </p:cNvPr>
            <p:cNvSpPr txBox="1"/>
            <p:nvPr/>
          </p:nvSpPr>
          <p:spPr>
            <a:xfrm rot="19543790">
              <a:off x="2327546" y="3992871"/>
              <a:ext cx="1056807" cy="42875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hi-IN" sz="800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5FDAB093-2F6A-4CCD-91E9-DBF0C00193E4}"/>
              </a:ext>
            </a:extLst>
          </p:cNvPr>
          <p:cNvSpPr txBox="1"/>
          <p:nvPr/>
        </p:nvSpPr>
        <p:spPr>
          <a:xfrm>
            <a:off x="3408254" y="5421561"/>
            <a:ext cx="28384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/>
              <a:t>DFS traversal: </a:t>
            </a:r>
          </a:p>
          <a:p>
            <a:pPr algn="l"/>
            <a:r>
              <a:rPr lang="en-US" b="1" dirty="0"/>
              <a:t>1, 2, 6, 4, 5, 3, 7</a:t>
            </a:r>
            <a:endParaRPr lang="hi-IN" b="1" dirty="0"/>
          </a:p>
        </p:txBody>
      </p:sp>
    </p:spTree>
    <p:extLst>
      <p:ext uri="{BB962C8B-B14F-4D97-AF65-F5344CB8AC3E}">
        <p14:creationId xmlns:p14="http://schemas.microsoft.com/office/powerpoint/2010/main" val="270778521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E6918-23F2-445F-9F0F-0A9DBBB08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3 – Identify the edges</a:t>
            </a:r>
            <a:endParaRPr lang="hi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C1D63-88FA-4128-90B2-534CA25042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FE8AE4-FF02-4AE4-A2F7-8B1F2EAA3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51D9C-B6AB-428B-A110-91A75E744F65}" type="slidenum">
              <a:rPr lang="en-US" altLang="hi-IN" smtClean="0"/>
              <a:pPr/>
              <a:t>91</a:t>
            </a:fld>
            <a:endParaRPr lang="en-US" altLang="hi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E953E8-FDDF-4082-B0FE-6E6CA656C4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663" y="1981200"/>
            <a:ext cx="4695825" cy="33337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635B9BB-0C68-4032-9294-539C122C53BF}"/>
              </a:ext>
            </a:extLst>
          </p:cNvPr>
          <p:cNvSpPr txBox="1"/>
          <p:nvPr/>
        </p:nvSpPr>
        <p:spPr>
          <a:xfrm>
            <a:off x="2590800" y="5524500"/>
            <a:ext cx="304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/>
              <a:t>S, 1, 2, 3, 4, 5, 6, 7</a:t>
            </a:r>
            <a:endParaRPr lang="hi-IN" b="1" dirty="0"/>
          </a:p>
        </p:txBody>
      </p:sp>
    </p:spTree>
    <p:extLst>
      <p:ext uri="{BB962C8B-B14F-4D97-AF65-F5344CB8AC3E}">
        <p14:creationId xmlns:p14="http://schemas.microsoft.com/office/powerpoint/2010/main" val="364366827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549B7A11-746D-425F-8820-12FEAA871B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hi-IN" b="1" dirty="0"/>
              <a:t>Exercise </a:t>
            </a:r>
            <a:r>
              <a:rPr lang="en-US" altLang="hi-IN" b="1"/>
              <a:t>– Perform DFS </a:t>
            </a:r>
            <a:endParaRPr lang="en-US" altLang="hi-IN" b="1" dirty="0"/>
          </a:p>
        </p:txBody>
      </p:sp>
      <p:grpSp>
        <p:nvGrpSpPr>
          <p:cNvPr id="68611" name="Group 43">
            <a:extLst>
              <a:ext uri="{FF2B5EF4-FFF2-40B4-BE49-F238E27FC236}">
                <a16:creationId xmlns:a16="http://schemas.microsoft.com/office/drawing/2014/main" id="{F2F48E4F-5385-4A5C-953F-98C08287199B}"/>
              </a:ext>
            </a:extLst>
          </p:cNvPr>
          <p:cNvGrpSpPr>
            <a:grpSpLocks/>
          </p:cNvGrpSpPr>
          <p:nvPr/>
        </p:nvGrpSpPr>
        <p:grpSpPr bwMode="auto">
          <a:xfrm>
            <a:off x="1447800" y="2133600"/>
            <a:ext cx="6477000" cy="3810000"/>
            <a:chOff x="912" y="1440"/>
            <a:chExt cx="4080" cy="2400"/>
          </a:xfrm>
        </p:grpSpPr>
        <p:sp>
          <p:nvSpPr>
            <p:cNvPr id="68612" name="Line 3">
              <a:extLst>
                <a:ext uri="{FF2B5EF4-FFF2-40B4-BE49-F238E27FC236}">
                  <a16:creationId xmlns:a16="http://schemas.microsoft.com/office/drawing/2014/main" id="{F29B4AD7-1EDD-49E6-AEF4-7147C8C6FF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56" y="2112"/>
              <a:ext cx="144" cy="12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i-IN"/>
            </a:p>
          </p:txBody>
        </p:sp>
        <p:sp>
          <p:nvSpPr>
            <p:cNvPr id="68613" name="Line 4">
              <a:extLst>
                <a:ext uri="{FF2B5EF4-FFF2-40B4-BE49-F238E27FC236}">
                  <a16:creationId xmlns:a16="http://schemas.microsoft.com/office/drawing/2014/main" id="{B5541F7B-5011-4D1E-B8C5-9A059DDE87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00" y="1584"/>
              <a:ext cx="1584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i-IN"/>
            </a:p>
          </p:txBody>
        </p:sp>
        <p:sp>
          <p:nvSpPr>
            <p:cNvPr id="68614" name="Line 5">
              <a:extLst>
                <a:ext uri="{FF2B5EF4-FFF2-40B4-BE49-F238E27FC236}">
                  <a16:creationId xmlns:a16="http://schemas.microsoft.com/office/drawing/2014/main" id="{41BF4209-4D9B-4C2E-A917-1E72D9413D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2112"/>
              <a:ext cx="576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i-IN"/>
            </a:p>
          </p:txBody>
        </p:sp>
        <p:sp>
          <p:nvSpPr>
            <p:cNvPr id="68615" name="Line 6">
              <a:extLst>
                <a:ext uri="{FF2B5EF4-FFF2-40B4-BE49-F238E27FC236}">
                  <a16:creationId xmlns:a16="http://schemas.microsoft.com/office/drawing/2014/main" id="{B6B79729-933D-4716-AD3C-1CDC102971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56" y="2832"/>
              <a:ext cx="72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i-IN"/>
            </a:p>
          </p:txBody>
        </p:sp>
        <p:sp>
          <p:nvSpPr>
            <p:cNvPr id="68616" name="Line 7">
              <a:extLst>
                <a:ext uri="{FF2B5EF4-FFF2-40B4-BE49-F238E27FC236}">
                  <a16:creationId xmlns:a16="http://schemas.microsoft.com/office/drawing/2014/main" id="{61A9DF6E-51DC-4FCE-938E-AF2109A157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1584"/>
              <a:ext cx="48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i-IN"/>
            </a:p>
          </p:txBody>
        </p:sp>
        <p:sp>
          <p:nvSpPr>
            <p:cNvPr id="68617" name="Line 8">
              <a:extLst>
                <a:ext uri="{FF2B5EF4-FFF2-40B4-BE49-F238E27FC236}">
                  <a16:creationId xmlns:a16="http://schemas.microsoft.com/office/drawing/2014/main" id="{691C54E3-C394-4768-91B3-D397606B1E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96" y="1584"/>
              <a:ext cx="288" cy="8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i-IN"/>
            </a:p>
          </p:txBody>
        </p:sp>
        <p:sp>
          <p:nvSpPr>
            <p:cNvPr id="68618" name="Line 9">
              <a:extLst>
                <a:ext uri="{FF2B5EF4-FFF2-40B4-BE49-F238E27FC236}">
                  <a16:creationId xmlns:a16="http://schemas.microsoft.com/office/drawing/2014/main" id="{F05498C0-C93C-450A-A1C3-16A775BDCF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2832"/>
              <a:ext cx="384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i-IN"/>
            </a:p>
          </p:txBody>
        </p:sp>
        <p:sp>
          <p:nvSpPr>
            <p:cNvPr id="68619" name="Line 10">
              <a:extLst>
                <a:ext uri="{FF2B5EF4-FFF2-40B4-BE49-F238E27FC236}">
                  <a16:creationId xmlns:a16="http://schemas.microsoft.com/office/drawing/2014/main" id="{ECD78C93-E658-47E5-B349-CE2A510799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64" y="1920"/>
              <a:ext cx="76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i-IN"/>
            </a:p>
          </p:txBody>
        </p:sp>
        <p:sp>
          <p:nvSpPr>
            <p:cNvPr id="68620" name="Line 11">
              <a:extLst>
                <a:ext uri="{FF2B5EF4-FFF2-40B4-BE49-F238E27FC236}">
                  <a16:creationId xmlns:a16="http://schemas.microsoft.com/office/drawing/2014/main" id="{32F27FB7-6EC5-432D-BD9B-3BF42B7F5D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2448"/>
              <a:ext cx="528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i-IN"/>
            </a:p>
          </p:txBody>
        </p:sp>
        <p:sp>
          <p:nvSpPr>
            <p:cNvPr id="68621" name="Line 12">
              <a:extLst>
                <a:ext uri="{FF2B5EF4-FFF2-40B4-BE49-F238E27FC236}">
                  <a16:creationId xmlns:a16="http://schemas.microsoft.com/office/drawing/2014/main" id="{8455A48C-752F-4345-967F-0C8F68094F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1920"/>
              <a:ext cx="144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i-IN"/>
            </a:p>
          </p:txBody>
        </p:sp>
        <p:sp>
          <p:nvSpPr>
            <p:cNvPr id="68622" name="Line 13">
              <a:extLst>
                <a:ext uri="{FF2B5EF4-FFF2-40B4-BE49-F238E27FC236}">
                  <a16:creationId xmlns:a16="http://schemas.microsoft.com/office/drawing/2014/main" id="{E9AFAE98-3F2B-4935-AD25-22CDDA4EA8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76" y="2064"/>
              <a:ext cx="672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i-IN"/>
            </a:p>
          </p:txBody>
        </p:sp>
        <p:sp>
          <p:nvSpPr>
            <p:cNvPr id="68623" name="Line 14">
              <a:extLst>
                <a:ext uri="{FF2B5EF4-FFF2-40B4-BE49-F238E27FC236}">
                  <a16:creationId xmlns:a16="http://schemas.microsoft.com/office/drawing/2014/main" id="{37BD88E3-F3C3-49AA-BAF1-07C358826C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2496"/>
              <a:ext cx="96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i-IN"/>
            </a:p>
          </p:txBody>
        </p:sp>
        <p:sp>
          <p:nvSpPr>
            <p:cNvPr id="68624" name="Line 15">
              <a:extLst>
                <a:ext uri="{FF2B5EF4-FFF2-40B4-BE49-F238E27FC236}">
                  <a16:creationId xmlns:a16="http://schemas.microsoft.com/office/drawing/2014/main" id="{0CF74DF7-CCFA-4BDA-89E8-3974213020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2448"/>
              <a:ext cx="72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i-IN"/>
            </a:p>
          </p:txBody>
        </p:sp>
        <p:sp>
          <p:nvSpPr>
            <p:cNvPr id="68625" name="Line 16">
              <a:extLst>
                <a:ext uri="{FF2B5EF4-FFF2-40B4-BE49-F238E27FC236}">
                  <a16:creationId xmlns:a16="http://schemas.microsoft.com/office/drawing/2014/main" id="{0CB683B5-B0B6-4FBE-9C3E-843A27BA25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1584"/>
              <a:ext cx="129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i-IN"/>
            </a:p>
          </p:txBody>
        </p:sp>
        <p:sp>
          <p:nvSpPr>
            <p:cNvPr id="68626" name="Line 17">
              <a:extLst>
                <a:ext uri="{FF2B5EF4-FFF2-40B4-BE49-F238E27FC236}">
                  <a16:creationId xmlns:a16="http://schemas.microsoft.com/office/drawing/2014/main" id="{8401E3BA-E538-4485-8758-19BD22D46A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1920"/>
              <a:ext cx="81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i-IN"/>
            </a:p>
          </p:txBody>
        </p:sp>
        <p:sp>
          <p:nvSpPr>
            <p:cNvPr id="68627" name="Line 18">
              <a:extLst>
                <a:ext uri="{FF2B5EF4-FFF2-40B4-BE49-F238E27FC236}">
                  <a16:creationId xmlns:a16="http://schemas.microsoft.com/office/drawing/2014/main" id="{75870F61-6B58-4F80-9207-FD200BC261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60" y="3024"/>
              <a:ext cx="864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i-IN"/>
            </a:p>
          </p:txBody>
        </p:sp>
        <p:sp>
          <p:nvSpPr>
            <p:cNvPr id="68628" name="Line 19">
              <a:extLst>
                <a:ext uri="{FF2B5EF4-FFF2-40B4-BE49-F238E27FC236}">
                  <a16:creationId xmlns:a16="http://schemas.microsoft.com/office/drawing/2014/main" id="{5796E7EA-5C2F-4675-BC9A-D22C17CFC7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24" y="2208"/>
              <a:ext cx="240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i-IN"/>
            </a:p>
          </p:txBody>
        </p:sp>
        <p:sp>
          <p:nvSpPr>
            <p:cNvPr id="68629" name="Oval 20">
              <a:extLst>
                <a:ext uri="{FF2B5EF4-FFF2-40B4-BE49-F238E27FC236}">
                  <a16:creationId xmlns:a16="http://schemas.microsoft.com/office/drawing/2014/main" id="{3ADE00F8-E435-4454-9966-9D2544A9E0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968"/>
              <a:ext cx="288" cy="28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hi-IN"/>
            </a:p>
          </p:txBody>
        </p:sp>
        <p:sp>
          <p:nvSpPr>
            <p:cNvPr id="68630" name="Oval 21">
              <a:extLst>
                <a:ext uri="{FF2B5EF4-FFF2-40B4-BE49-F238E27FC236}">
                  <a16:creationId xmlns:a16="http://schemas.microsoft.com/office/drawing/2014/main" id="{72DC940E-8964-4D6E-9E89-92DD8EC10C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2688"/>
              <a:ext cx="288" cy="28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hi-IN"/>
            </a:p>
          </p:txBody>
        </p:sp>
        <p:sp>
          <p:nvSpPr>
            <p:cNvPr id="68631" name="Oval 22">
              <a:extLst>
                <a:ext uri="{FF2B5EF4-FFF2-40B4-BE49-F238E27FC236}">
                  <a16:creationId xmlns:a16="http://schemas.microsoft.com/office/drawing/2014/main" id="{54EC7D07-4FB6-4800-A198-11F8779A45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2304"/>
              <a:ext cx="288" cy="28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hi-IN"/>
            </a:p>
          </p:txBody>
        </p:sp>
        <p:sp>
          <p:nvSpPr>
            <p:cNvPr id="68632" name="Oval 23">
              <a:extLst>
                <a:ext uri="{FF2B5EF4-FFF2-40B4-BE49-F238E27FC236}">
                  <a16:creationId xmlns:a16="http://schemas.microsoft.com/office/drawing/2014/main" id="{20B0014E-C9AA-4A24-88AF-6FB4EB4099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2352"/>
              <a:ext cx="288" cy="28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hi-IN"/>
            </a:p>
          </p:txBody>
        </p:sp>
        <p:sp>
          <p:nvSpPr>
            <p:cNvPr id="68633" name="Oval 24">
              <a:extLst>
                <a:ext uri="{FF2B5EF4-FFF2-40B4-BE49-F238E27FC236}">
                  <a16:creationId xmlns:a16="http://schemas.microsoft.com/office/drawing/2014/main" id="{D7E63125-E27E-4C29-A4A1-F41DFF1A3E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1776"/>
              <a:ext cx="288" cy="28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hi-IN"/>
            </a:p>
          </p:txBody>
        </p:sp>
        <p:sp>
          <p:nvSpPr>
            <p:cNvPr id="68634" name="Oval 25">
              <a:extLst>
                <a:ext uri="{FF2B5EF4-FFF2-40B4-BE49-F238E27FC236}">
                  <a16:creationId xmlns:a16="http://schemas.microsoft.com/office/drawing/2014/main" id="{00043D40-744E-4D40-AC73-08C821FCBC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2064"/>
              <a:ext cx="288" cy="28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hi-IN"/>
            </a:p>
          </p:txBody>
        </p:sp>
        <p:sp>
          <p:nvSpPr>
            <p:cNvPr id="68635" name="Oval 26">
              <a:extLst>
                <a:ext uri="{FF2B5EF4-FFF2-40B4-BE49-F238E27FC236}">
                  <a16:creationId xmlns:a16="http://schemas.microsoft.com/office/drawing/2014/main" id="{573DEB19-3664-4CBD-B36E-11590B4E62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3264"/>
              <a:ext cx="288" cy="28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hi-IN"/>
                <a:t>A</a:t>
              </a:r>
            </a:p>
          </p:txBody>
        </p:sp>
        <p:sp>
          <p:nvSpPr>
            <p:cNvPr id="68636" name="Oval 27">
              <a:extLst>
                <a:ext uri="{FF2B5EF4-FFF2-40B4-BE49-F238E27FC236}">
                  <a16:creationId xmlns:a16="http://schemas.microsoft.com/office/drawing/2014/main" id="{7838D6DC-74C2-4092-B9B0-1E57B9CA7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3312"/>
              <a:ext cx="288" cy="28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hi-IN"/>
            </a:p>
          </p:txBody>
        </p:sp>
        <p:sp>
          <p:nvSpPr>
            <p:cNvPr id="68637" name="Oval 28">
              <a:extLst>
                <a:ext uri="{FF2B5EF4-FFF2-40B4-BE49-F238E27FC236}">
                  <a16:creationId xmlns:a16="http://schemas.microsoft.com/office/drawing/2014/main" id="{5406C482-2602-4BF2-96DF-26D8FB5840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2880"/>
              <a:ext cx="288" cy="28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hi-IN"/>
            </a:p>
          </p:txBody>
        </p:sp>
        <p:sp>
          <p:nvSpPr>
            <p:cNvPr id="68638" name="Oval 29">
              <a:extLst>
                <a:ext uri="{FF2B5EF4-FFF2-40B4-BE49-F238E27FC236}">
                  <a16:creationId xmlns:a16="http://schemas.microsoft.com/office/drawing/2014/main" id="{92A284E7-92B0-4EC1-A1E9-E77F06C996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1440"/>
              <a:ext cx="288" cy="28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hi-IN"/>
            </a:p>
          </p:txBody>
        </p:sp>
        <p:sp>
          <p:nvSpPr>
            <p:cNvPr id="68639" name="Oval 30">
              <a:extLst>
                <a:ext uri="{FF2B5EF4-FFF2-40B4-BE49-F238E27FC236}">
                  <a16:creationId xmlns:a16="http://schemas.microsoft.com/office/drawing/2014/main" id="{BE62F95D-3C9A-479F-B72F-3D243557E3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1920"/>
              <a:ext cx="288" cy="28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hi-IN"/>
            </a:p>
          </p:txBody>
        </p:sp>
        <p:sp>
          <p:nvSpPr>
            <p:cNvPr id="68640" name="Oval 31">
              <a:extLst>
                <a:ext uri="{FF2B5EF4-FFF2-40B4-BE49-F238E27FC236}">
                  <a16:creationId xmlns:a16="http://schemas.microsoft.com/office/drawing/2014/main" id="{212F63CC-FB57-4CE6-B6F9-84A76779D2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3552"/>
              <a:ext cx="288" cy="28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hi-IN"/>
            </a:p>
          </p:txBody>
        </p:sp>
        <p:sp>
          <p:nvSpPr>
            <p:cNvPr id="68641" name="Oval 32">
              <a:extLst>
                <a:ext uri="{FF2B5EF4-FFF2-40B4-BE49-F238E27FC236}">
                  <a16:creationId xmlns:a16="http://schemas.microsoft.com/office/drawing/2014/main" id="{A01DA3B4-1A22-4C62-8C53-31BC12F3B1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1440"/>
              <a:ext cx="288" cy="28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hi-IN"/>
                <a:t>D</a:t>
              </a:r>
            </a:p>
          </p:txBody>
        </p:sp>
        <p:sp>
          <p:nvSpPr>
            <p:cNvPr id="68642" name="Oval 33">
              <a:extLst>
                <a:ext uri="{FF2B5EF4-FFF2-40B4-BE49-F238E27FC236}">
                  <a16:creationId xmlns:a16="http://schemas.microsoft.com/office/drawing/2014/main" id="{C3814D6D-8945-46C9-99AE-A36520C825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968"/>
              <a:ext cx="288" cy="28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hi-IN"/>
                <a:t>B</a:t>
              </a:r>
            </a:p>
          </p:txBody>
        </p:sp>
        <p:sp>
          <p:nvSpPr>
            <p:cNvPr id="68643" name="Oval 34">
              <a:extLst>
                <a:ext uri="{FF2B5EF4-FFF2-40B4-BE49-F238E27FC236}">
                  <a16:creationId xmlns:a16="http://schemas.microsoft.com/office/drawing/2014/main" id="{18674090-EB23-4427-9D30-86A610DA18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3552"/>
              <a:ext cx="288" cy="28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hi-IN"/>
                <a:t>L</a:t>
              </a:r>
            </a:p>
          </p:txBody>
        </p:sp>
        <p:sp>
          <p:nvSpPr>
            <p:cNvPr id="68644" name="Oval 35">
              <a:extLst>
                <a:ext uri="{FF2B5EF4-FFF2-40B4-BE49-F238E27FC236}">
                  <a16:creationId xmlns:a16="http://schemas.microsoft.com/office/drawing/2014/main" id="{95FEF3FA-0C6E-4F51-8FEE-9CD511FB86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2352"/>
              <a:ext cx="288" cy="28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hi-IN"/>
                <a:t>K</a:t>
              </a:r>
            </a:p>
          </p:txBody>
        </p:sp>
        <p:sp>
          <p:nvSpPr>
            <p:cNvPr id="68645" name="Oval 36">
              <a:extLst>
                <a:ext uri="{FF2B5EF4-FFF2-40B4-BE49-F238E27FC236}">
                  <a16:creationId xmlns:a16="http://schemas.microsoft.com/office/drawing/2014/main" id="{A4B61EA6-2CB2-4D3F-A32B-102C502DA3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1920"/>
              <a:ext cx="288" cy="28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hi-IN"/>
                <a:t>J</a:t>
              </a:r>
            </a:p>
          </p:txBody>
        </p:sp>
        <p:sp>
          <p:nvSpPr>
            <p:cNvPr id="68646" name="Oval 37">
              <a:extLst>
                <a:ext uri="{FF2B5EF4-FFF2-40B4-BE49-F238E27FC236}">
                  <a16:creationId xmlns:a16="http://schemas.microsoft.com/office/drawing/2014/main" id="{2AB6FE0D-A04B-4049-A3B6-C72BE0314B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1776"/>
              <a:ext cx="288" cy="28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hi-IN"/>
                <a:t>G</a:t>
              </a:r>
            </a:p>
          </p:txBody>
        </p:sp>
        <p:sp>
          <p:nvSpPr>
            <p:cNvPr id="68647" name="Oval 38">
              <a:extLst>
                <a:ext uri="{FF2B5EF4-FFF2-40B4-BE49-F238E27FC236}">
                  <a16:creationId xmlns:a16="http://schemas.microsoft.com/office/drawing/2014/main" id="{B8AFFBD3-2453-4BD7-BDF7-871A53FD4A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2064"/>
              <a:ext cx="288" cy="28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hi-IN"/>
                <a:t>H</a:t>
              </a:r>
            </a:p>
          </p:txBody>
        </p:sp>
        <p:sp>
          <p:nvSpPr>
            <p:cNvPr id="68648" name="Oval 39">
              <a:extLst>
                <a:ext uri="{FF2B5EF4-FFF2-40B4-BE49-F238E27FC236}">
                  <a16:creationId xmlns:a16="http://schemas.microsoft.com/office/drawing/2014/main" id="{E2B770E3-E609-4B7D-8B85-9D6BFD7045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2880"/>
              <a:ext cx="288" cy="28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hi-IN"/>
                <a:t>I</a:t>
              </a:r>
            </a:p>
          </p:txBody>
        </p:sp>
        <p:sp>
          <p:nvSpPr>
            <p:cNvPr id="68649" name="Oval 40">
              <a:extLst>
                <a:ext uri="{FF2B5EF4-FFF2-40B4-BE49-F238E27FC236}">
                  <a16:creationId xmlns:a16="http://schemas.microsoft.com/office/drawing/2014/main" id="{62A7FC55-3FDD-49E4-A452-AC6E3F22D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3312"/>
              <a:ext cx="288" cy="28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hi-IN"/>
                <a:t>F</a:t>
              </a:r>
            </a:p>
          </p:txBody>
        </p:sp>
        <p:sp>
          <p:nvSpPr>
            <p:cNvPr id="68650" name="Oval 41">
              <a:extLst>
                <a:ext uri="{FF2B5EF4-FFF2-40B4-BE49-F238E27FC236}">
                  <a16:creationId xmlns:a16="http://schemas.microsoft.com/office/drawing/2014/main" id="{7C3FE6D6-A185-4C3A-B1AA-09C24EBFFF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2688"/>
              <a:ext cx="288" cy="28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hi-IN"/>
                <a:t>C</a:t>
              </a:r>
            </a:p>
          </p:txBody>
        </p:sp>
        <p:sp>
          <p:nvSpPr>
            <p:cNvPr id="68651" name="Oval 42">
              <a:extLst>
                <a:ext uri="{FF2B5EF4-FFF2-40B4-BE49-F238E27FC236}">
                  <a16:creationId xmlns:a16="http://schemas.microsoft.com/office/drawing/2014/main" id="{B0AE2DB6-8746-4AA2-89EF-21B9B2C565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2304"/>
              <a:ext cx="288" cy="28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hi-IN"/>
                <a:t>E</a:t>
              </a: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A58CC0-C7B0-4AFF-A4E2-C93724DA2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92</a:t>
            </a:fld>
            <a:endParaRPr lang="en-US" altLang="hi-IN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4DCFE219-90A7-4169-B1A4-6731DD8276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i-IN"/>
              <a:t>Directed Graph DFS trees</a:t>
            </a:r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07D3810E-840B-41AD-9231-6A7CF5A6C4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hi-IN"/>
              <a:t>Things are a bit more complicated</a:t>
            </a:r>
          </a:p>
          <a:p>
            <a:pPr lvl="1">
              <a:lnSpc>
                <a:spcPct val="90000"/>
              </a:lnSpc>
            </a:pPr>
            <a:r>
              <a:rPr lang="en-US" altLang="hi-IN"/>
              <a:t>Forward edges (ancestor to descendant)</a:t>
            </a:r>
          </a:p>
          <a:p>
            <a:pPr lvl="1">
              <a:lnSpc>
                <a:spcPct val="90000"/>
              </a:lnSpc>
            </a:pPr>
            <a:r>
              <a:rPr lang="en-US" altLang="hi-IN"/>
              <a:t>Cross Edges</a:t>
            </a:r>
          </a:p>
          <a:p>
            <a:pPr lvl="2">
              <a:lnSpc>
                <a:spcPct val="90000"/>
              </a:lnSpc>
            </a:pPr>
            <a:r>
              <a:rPr lang="en-US" altLang="hi-IN"/>
              <a:t>Not from an ancestor to a descendant</a:t>
            </a:r>
          </a:p>
          <a:p>
            <a:pPr>
              <a:lnSpc>
                <a:spcPct val="90000"/>
              </a:lnSpc>
            </a:pPr>
            <a:r>
              <a:rPr lang="en-US" altLang="hi-IN"/>
              <a:t>Parenthesis structure still holds</a:t>
            </a:r>
          </a:p>
          <a:p>
            <a:pPr lvl="1">
              <a:lnSpc>
                <a:spcPct val="90000"/>
              </a:lnSpc>
            </a:pPr>
            <a:r>
              <a:rPr lang="en-US" altLang="hi-IN"/>
              <a:t>The discovery and finishing times of nodes in a DFS tree have a parenthesis structure</a:t>
            </a:r>
          </a:p>
          <a:p>
            <a:pPr>
              <a:lnSpc>
                <a:spcPct val="90000"/>
              </a:lnSpc>
            </a:pPr>
            <a:r>
              <a:rPr lang="en-US" altLang="hi-IN"/>
              <a:t>Can create a forest of DFS trees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4D3FE6-3FE2-4D28-B260-9952CE4B7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51D9C-B6AB-428B-A110-91A75E744F65}" type="slidenum">
              <a:rPr lang="en-US" altLang="hi-IN" smtClean="0"/>
              <a:pPr/>
              <a:t>93</a:t>
            </a:fld>
            <a:endParaRPr lang="en-US" altLang="hi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5" grpId="0" build="p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662C87B2-5EB0-4D24-8C2F-C3190B7B56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76200"/>
            <a:ext cx="7772400" cy="1143000"/>
          </a:xfrm>
        </p:spPr>
        <p:txBody>
          <a:bodyPr/>
          <a:lstStyle/>
          <a:p>
            <a:r>
              <a:rPr lang="en-US" altLang="hi-IN"/>
              <a:t>Classification of Edges</a:t>
            </a:r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80362658-2D62-480E-8FE0-64F5B34062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990600"/>
            <a:ext cx="8839200" cy="3429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hi-IN" sz="2800" b="1">
                <a:solidFill>
                  <a:srgbClr val="CC3300"/>
                </a:solidFill>
              </a:rPr>
              <a:t>Tree edge:</a:t>
            </a:r>
            <a:r>
              <a:rPr lang="en-US" altLang="hi-IN" sz="2800" b="1" i="1"/>
              <a:t> </a:t>
            </a:r>
            <a:r>
              <a:rPr lang="en-US" altLang="hi-IN" sz="2800"/>
              <a:t>in the depth-first forest. Found by exploring </a:t>
            </a:r>
            <a:r>
              <a:rPr lang="en-US" altLang="hi-IN" sz="2800">
                <a:latin typeface="RMTMI"/>
              </a:rPr>
              <a:t>(</a:t>
            </a:r>
            <a:r>
              <a:rPr lang="en-US" altLang="hi-IN" sz="2800" i="1"/>
              <a:t>u</a:t>
            </a:r>
            <a:r>
              <a:rPr lang="en-US" altLang="hi-IN" sz="2800" i="1">
                <a:latin typeface="RMTMI"/>
              </a:rPr>
              <a:t>, </a:t>
            </a:r>
            <a:r>
              <a:rPr lang="en-US" altLang="hi-IN" sz="2800" i="1"/>
              <a:t>v</a:t>
            </a:r>
            <a:r>
              <a:rPr lang="en-US" altLang="hi-IN" sz="2800">
                <a:latin typeface="RMTMI"/>
              </a:rPr>
              <a:t>)</a:t>
            </a:r>
            <a:r>
              <a:rPr lang="en-US" altLang="hi-IN" sz="2800"/>
              <a:t>.</a:t>
            </a:r>
          </a:p>
          <a:p>
            <a:pPr>
              <a:lnSpc>
                <a:spcPct val="90000"/>
              </a:lnSpc>
            </a:pPr>
            <a:r>
              <a:rPr lang="en-US" altLang="hi-IN" sz="2800" b="1">
                <a:solidFill>
                  <a:srgbClr val="CC3300"/>
                </a:solidFill>
              </a:rPr>
              <a:t>Back edge:</a:t>
            </a:r>
            <a:r>
              <a:rPr lang="en-US" altLang="hi-IN" sz="2800" b="1" i="1"/>
              <a:t> </a:t>
            </a:r>
            <a:r>
              <a:rPr lang="en-US" altLang="hi-IN" sz="2800">
                <a:latin typeface="RMTMI"/>
              </a:rPr>
              <a:t>(</a:t>
            </a:r>
            <a:r>
              <a:rPr lang="en-US" altLang="hi-IN" sz="2800" i="1"/>
              <a:t>u</a:t>
            </a:r>
            <a:r>
              <a:rPr lang="en-US" altLang="hi-IN" sz="2800" i="1">
                <a:latin typeface="RMTMI"/>
              </a:rPr>
              <a:t>, </a:t>
            </a:r>
            <a:r>
              <a:rPr lang="en-US" altLang="hi-IN" sz="2800" i="1"/>
              <a:t>v</a:t>
            </a:r>
            <a:r>
              <a:rPr lang="en-US" altLang="hi-IN" sz="2800">
                <a:latin typeface="RMTMI"/>
              </a:rPr>
              <a:t>)</a:t>
            </a:r>
            <a:r>
              <a:rPr lang="en-US" altLang="hi-IN" sz="2800"/>
              <a:t>, where </a:t>
            </a:r>
            <a:r>
              <a:rPr lang="en-US" altLang="hi-IN" sz="2800" i="1"/>
              <a:t>u </a:t>
            </a:r>
            <a:r>
              <a:rPr lang="en-US" altLang="hi-IN" sz="2800"/>
              <a:t>is a descendant of </a:t>
            </a:r>
            <a:r>
              <a:rPr lang="en-US" altLang="hi-IN" sz="2800" i="1"/>
              <a:t>v</a:t>
            </a:r>
            <a:r>
              <a:rPr lang="en-US" altLang="hi-IN" sz="2800" i="1">
                <a:latin typeface="RMTMI"/>
              </a:rPr>
              <a:t> </a:t>
            </a:r>
            <a:r>
              <a:rPr lang="en-US" altLang="hi-IN" sz="2800">
                <a:latin typeface="RMTMI"/>
              </a:rPr>
              <a:t>(</a:t>
            </a:r>
            <a:r>
              <a:rPr lang="en-US" altLang="hi-IN" sz="2800"/>
              <a:t>in the depth-first tree</a:t>
            </a:r>
            <a:r>
              <a:rPr lang="en-US" altLang="hi-IN" sz="2800">
                <a:latin typeface="RMTMI"/>
              </a:rPr>
              <a:t>)</a:t>
            </a:r>
            <a:r>
              <a:rPr lang="en-US" altLang="hi-IN" sz="2800"/>
              <a:t>.</a:t>
            </a:r>
          </a:p>
          <a:p>
            <a:pPr>
              <a:lnSpc>
                <a:spcPct val="90000"/>
              </a:lnSpc>
            </a:pPr>
            <a:r>
              <a:rPr lang="en-US" altLang="hi-IN" sz="2800" b="1">
                <a:solidFill>
                  <a:srgbClr val="CC3300"/>
                </a:solidFill>
              </a:rPr>
              <a:t>Forward edge:</a:t>
            </a:r>
            <a:r>
              <a:rPr lang="en-US" altLang="hi-IN" sz="2800" b="1" i="1"/>
              <a:t> </a:t>
            </a:r>
            <a:r>
              <a:rPr lang="en-US" altLang="hi-IN" sz="2800">
                <a:latin typeface="RMTMI"/>
              </a:rPr>
              <a:t>(</a:t>
            </a:r>
            <a:r>
              <a:rPr lang="en-US" altLang="hi-IN" sz="2800" i="1"/>
              <a:t>u</a:t>
            </a:r>
            <a:r>
              <a:rPr lang="en-US" altLang="hi-IN" sz="2800" i="1">
                <a:latin typeface="RMTMI"/>
              </a:rPr>
              <a:t>, </a:t>
            </a:r>
            <a:r>
              <a:rPr lang="en-US" altLang="hi-IN" sz="2800" i="1"/>
              <a:t>v</a:t>
            </a:r>
            <a:r>
              <a:rPr lang="en-US" altLang="hi-IN" sz="2800">
                <a:latin typeface="RMTMI"/>
              </a:rPr>
              <a:t>)</a:t>
            </a:r>
            <a:r>
              <a:rPr lang="en-US" altLang="hi-IN" sz="2800"/>
              <a:t>, where </a:t>
            </a:r>
            <a:r>
              <a:rPr lang="en-US" altLang="hi-IN" sz="2800" i="1"/>
              <a:t>v</a:t>
            </a:r>
            <a:r>
              <a:rPr lang="en-US" altLang="hi-IN" sz="2800" i="1">
                <a:latin typeface="RMTMI"/>
              </a:rPr>
              <a:t> </a:t>
            </a:r>
            <a:r>
              <a:rPr lang="en-US" altLang="hi-IN" sz="2800"/>
              <a:t>is a descendant of </a:t>
            </a:r>
            <a:r>
              <a:rPr lang="en-US" altLang="hi-IN" sz="2800" i="1"/>
              <a:t>u</a:t>
            </a:r>
            <a:r>
              <a:rPr lang="en-US" altLang="hi-IN" sz="2800"/>
              <a:t>, but not a tree edge.</a:t>
            </a:r>
          </a:p>
          <a:p>
            <a:pPr>
              <a:lnSpc>
                <a:spcPct val="90000"/>
              </a:lnSpc>
            </a:pPr>
            <a:r>
              <a:rPr lang="en-US" altLang="hi-IN" sz="2800" b="1">
                <a:solidFill>
                  <a:srgbClr val="CC3300"/>
                </a:solidFill>
              </a:rPr>
              <a:t>Cross edge:</a:t>
            </a:r>
            <a:r>
              <a:rPr lang="en-US" altLang="hi-IN" sz="2800" b="1" i="1"/>
              <a:t> </a:t>
            </a:r>
            <a:r>
              <a:rPr lang="en-US" altLang="hi-IN" sz="2800"/>
              <a:t>any other edge. Can go between vertices in same depth-first tree or in different depth-first trees.</a:t>
            </a:r>
          </a:p>
          <a:p>
            <a:pPr>
              <a:lnSpc>
                <a:spcPct val="90000"/>
              </a:lnSpc>
            </a:pPr>
            <a:endParaRPr lang="en-US" altLang="hi-IN" sz="2800"/>
          </a:p>
        </p:txBody>
      </p:sp>
      <p:sp>
        <p:nvSpPr>
          <p:cNvPr id="70660" name="Text Box 4">
            <a:extLst>
              <a:ext uri="{FF2B5EF4-FFF2-40B4-BE49-F238E27FC236}">
                <a16:creationId xmlns:a16="http://schemas.microsoft.com/office/drawing/2014/main" id="{F978BF85-89C5-4646-BA14-D700178522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325" y="4613275"/>
            <a:ext cx="8321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i-IN" altLang="hi-IN"/>
          </a:p>
        </p:txBody>
      </p:sp>
      <p:sp>
        <p:nvSpPr>
          <p:cNvPr id="64517" name="Text Box 5">
            <a:extLst>
              <a:ext uri="{FF2B5EF4-FFF2-40B4-BE49-F238E27FC236}">
                <a16:creationId xmlns:a16="http://schemas.microsoft.com/office/drawing/2014/main" id="{7311EFB7-9AC4-4795-9BC1-B0531726F1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724400"/>
            <a:ext cx="8321675" cy="954088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algn="l">
              <a:defRPr/>
            </a:pPr>
            <a:r>
              <a:rPr lang="en-US" dirty="0"/>
              <a:t>In DFS of an undirected graph, we get only tree and back edges. No forward or cross edges.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453B3A4-9CB6-4F0A-AC8D-B2DFF80A3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51D9C-B6AB-428B-A110-91A75E744F65}" type="slidenum">
              <a:rPr lang="en-US" altLang="hi-IN" smtClean="0"/>
              <a:pPr/>
              <a:t>94</a:t>
            </a:fld>
            <a:endParaRPr lang="en-US" altLang="hi-IN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itle 1">
            <a:extLst>
              <a:ext uri="{FF2B5EF4-FFF2-40B4-BE49-F238E27FC236}">
                <a16:creationId xmlns:a16="http://schemas.microsoft.com/office/drawing/2014/main" id="{D6A15AD8-5538-4FE9-B115-C8B70799B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609600"/>
          </a:xfrm>
        </p:spPr>
        <p:txBody>
          <a:bodyPr/>
          <a:lstStyle/>
          <a:p>
            <a:r>
              <a:rPr lang="en-US" altLang="hi-IN"/>
              <a:t>Exercises</a:t>
            </a:r>
            <a:endParaRPr lang="en-IN" altLang="hi-IN"/>
          </a:p>
        </p:txBody>
      </p:sp>
      <p:sp>
        <p:nvSpPr>
          <p:cNvPr id="71683" name="Content Placeholder 2">
            <a:extLst>
              <a:ext uri="{FF2B5EF4-FFF2-40B4-BE49-F238E27FC236}">
                <a16:creationId xmlns:a16="http://schemas.microsoft.com/office/drawing/2014/main" id="{CDC2EB79-BF8C-4D59-97F7-BE7C91E1D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371600"/>
            <a:ext cx="7772400" cy="4724400"/>
          </a:xfrm>
        </p:spPr>
        <p:txBody>
          <a:bodyPr/>
          <a:lstStyle/>
          <a:p>
            <a:endParaRPr lang="en-IN" altLang="hi-IN"/>
          </a:p>
        </p:txBody>
      </p:sp>
      <p:pic>
        <p:nvPicPr>
          <p:cNvPr id="71684" name="Picture 4">
            <a:extLst>
              <a:ext uri="{FF2B5EF4-FFF2-40B4-BE49-F238E27FC236}">
                <a16:creationId xmlns:a16="http://schemas.microsoft.com/office/drawing/2014/main" id="{88070552-176A-4AFA-9949-728A70832F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447800"/>
            <a:ext cx="6477000" cy="435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309D25-B396-43E4-9C0A-9BDCEB0B7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51D9C-B6AB-428B-A110-91A75E744F65}" type="slidenum">
              <a:rPr lang="en-US" altLang="hi-IN" smtClean="0"/>
              <a:pPr/>
              <a:t>95</a:t>
            </a:fld>
            <a:endParaRPr lang="en-US" altLang="hi-IN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4E7EE89C-DE57-4784-9C2D-14FFE237C3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i-IN"/>
              <a:t>Graphs</a:t>
            </a:r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7690E06D-E4DF-4F1B-8A07-6CDC9C3AEF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hi-IN"/>
              <a:t>Motivation and Terminology</a:t>
            </a:r>
          </a:p>
          <a:p>
            <a:r>
              <a:rPr lang="en-US" altLang="hi-IN"/>
              <a:t>Representations</a:t>
            </a:r>
          </a:p>
          <a:p>
            <a:r>
              <a:rPr lang="en-US" altLang="hi-IN"/>
              <a:t>Traversals</a:t>
            </a:r>
          </a:p>
          <a:p>
            <a:r>
              <a:rPr lang="en-US" altLang="hi-IN">
                <a:solidFill>
                  <a:schemeClr val="accent2"/>
                </a:solidFill>
              </a:rPr>
              <a:t>Three Problems</a:t>
            </a:r>
          </a:p>
          <a:p>
            <a:pPr>
              <a:buFontTx/>
              <a:buNone/>
            </a:pPr>
            <a:endParaRPr lang="en-US" altLang="hi-IN">
              <a:solidFill>
                <a:schemeClr val="accent2"/>
              </a:solidFill>
            </a:endParaRPr>
          </a:p>
          <a:p>
            <a:endParaRPr lang="en-US" altLang="hi-I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03C77C8-A4A2-4430-8BB9-18D23450B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51D9C-B6AB-428B-A110-91A75E744F65}" type="slidenum">
              <a:rPr lang="en-US" altLang="hi-IN" smtClean="0"/>
              <a:pPr/>
              <a:t>96</a:t>
            </a:fld>
            <a:endParaRPr lang="en-US" altLang="hi-IN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437C4EE2-B2CA-4205-8493-7871A7C5F5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i-IN"/>
              <a:t>Bipartite Graph?</a:t>
            </a:r>
          </a:p>
        </p:txBody>
      </p:sp>
      <p:sp>
        <p:nvSpPr>
          <p:cNvPr id="73731" name="Text Box 3">
            <a:extLst>
              <a:ext uri="{FF2B5EF4-FFF2-40B4-BE49-F238E27FC236}">
                <a16:creationId xmlns:a16="http://schemas.microsoft.com/office/drawing/2014/main" id="{E85E8691-41A7-4B74-8088-6A9E3B0898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" y="1807029"/>
            <a:ext cx="86106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hi-IN" b="1" i="1" dirty="0"/>
              <a:t>Give an efficient algorithm to determine if a graph is bipartite</a:t>
            </a:r>
            <a:r>
              <a:rPr lang="en-US" altLang="hi-IN" dirty="0"/>
              <a:t>.  (Bipartite means that the graph can be colored with 2 colors such that all edges connect vertices of different colors. )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75614CE-7248-1C39-18A4-C6A0BC12F930}"/>
              </a:ext>
            </a:extLst>
          </p:cNvPr>
          <p:cNvGrpSpPr/>
          <p:nvPr/>
        </p:nvGrpSpPr>
        <p:grpSpPr>
          <a:xfrm>
            <a:off x="6498772" y="3712696"/>
            <a:ext cx="2286000" cy="1700892"/>
            <a:chOff x="2895600" y="4267200"/>
            <a:chExt cx="3048000" cy="2133600"/>
          </a:xfrm>
        </p:grpSpPr>
        <p:sp>
          <p:nvSpPr>
            <p:cNvPr id="73732" name="Line 4">
              <a:extLst>
                <a:ext uri="{FF2B5EF4-FFF2-40B4-BE49-F238E27FC236}">
                  <a16:creationId xmlns:a16="http://schemas.microsoft.com/office/drawing/2014/main" id="{1D18261A-AE03-47CA-B38F-7A089AE63F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48000" y="4648200"/>
              <a:ext cx="0" cy="1600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i-IN"/>
            </a:p>
          </p:txBody>
        </p:sp>
        <p:sp>
          <p:nvSpPr>
            <p:cNvPr id="73733" name="Line 5">
              <a:extLst>
                <a:ext uri="{FF2B5EF4-FFF2-40B4-BE49-F238E27FC236}">
                  <a16:creationId xmlns:a16="http://schemas.microsoft.com/office/drawing/2014/main" id="{526DC5E5-96EB-4678-AA3A-C4177A42CF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48000" y="4419600"/>
              <a:ext cx="137160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i-IN"/>
            </a:p>
          </p:txBody>
        </p:sp>
        <p:sp>
          <p:nvSpPr>
            <p:cNvPr id="73734" name="Line 6">
              <a:extLst>
                <a:ext uri="{FF2B5EF4-FFF2-40B4-BE49-F238E27FC236}">
                  <a16:creationId xmlns:a16="http://schemas.microsoft.com/office/drawing/2014/main" id="{ECD01834-541F-4054-A93E-CCF45FB47B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9600" y="4419600"/>
              <a:ext cx="137160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i-IN" dirty="0"/>
            </a:p>
          </p:txBody>
        </p:sp>
        <p:sp>
          <p:nvSpPr>
            <p:cNvPr id="73735" name="Line 7">
              <a:extLst>
                <a:ext uri="{FF2B5EF4-FFF2-40B4-BE49-F238E27FC236}">
                  <a16:creationId xmlns:a16="http://schemas.microsoft.com/office/drawing/2014/main" id="{2F094921-87C7-4781-87DA-AC575FAF2C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86400" y="4648200"/>
              <a:ext cx="304800" cy="1447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i-IN"/>
            </a:p>
          </p:txBody>
        </p:sp>
        <p:sp>
          <p:nvSpPr>
            <p:cNvPr id="73736" name="Line 8">
              <a:extLst>
                <a:ext uri="{FF2B5EF4-FFF2-40B4-BE49-F238E27FC236}">
                  <a16:creationId xmlns:a16="http://schemas.microsoft.com/office/drawing/2014/main" id="{FE058614-D865-4CA8-862A-74E14D36CB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48000" y="5410200"/>
              <a:ext cx="838200" cy="838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i-IN"/>
            </a:p>
          </p:txBody>
        </p:sp>
        <p:sp>
          <p:nvSpPr>
            <p:cNvPr id="73737" name="Line 9">
              <a:extLst>
                <a:ext uri="{FF2B5EF4-FFF2-40B4-BE49-F238E27FC236}">
                  <a16:creationId xmlns:a16="http://schemas.microsoft.com/office/drawing/2014/main" id="{B96726E9-1EE2-4324-84D4-5A224CF121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86200" y="4419600"/>
              <a:ext cx="533400" cy="990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i-IN"/>
            </a:p>
          </p:txBody>
        </p:sp>
        <p:sp>
          <p:nvSpPr>
            <p:cNvPr id="73738" name="Line 10">
              <a:extLst>
                <a:ext uri="{FF2B5EF4-FFF2-40B4-BE49-F238E27FC236}">
                  <a16:creationId xmlns:a16="http://schemas.microsoft.com/office/drawing/2014/main" id="{B6E47150-3739-495B-AEE8-284487F2CB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419600" y="4419600"/>
              <a:ext cx="304800" cy="914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i-IN"/>
            </a:p>
          </p:txBody>
        </p:sp>
        <p:sp>
          <p:nvSpPr>
            <p:cNvPr id="73739" name="Line 11">
              <a:extLst>
                <a:ext uri="{FF2B5EF4-FFF2-40B4-BE49-F238E27FC236}">
                  <a16:creationId xmlns:a16="http://schemas.microsoft.com/office/drawing/2014/main" id="{DF66FFC4-4DE2-413E-9BB8-B4FC04F587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24400" y="5334000"/>
              <a:ext cx="762000" cy="76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i-IN"/>
            </a:p>
          </p:txBody>
        </p:sp>
        <p:sp>
          <p:nvSpPr>
            <p:cNvPr id="73740" name="Line 12">
              <a:extLst>
                <a:ext uri="{FF2B5EF4-FFF2-40B4-BE49-F238E27FC236}">
                  <a16:creationId xmlns:a16="http://schemas.microsoft.com/office/drawing/2014/main" id="{4CDF1DB7-8073-4553-8635-FFDDECC871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6200" y="5410200"/>
              <a:ext cx="16002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i-IN" dirty="0"/>
            </a:p>
          </p:txBody>
        </p:sp>
        <p:sp>
          <p:nvSpPr>
            <p:cNvPr id="73741" name="Oval 13">
              <a:extLst>
                <a:ext uri="{FF2B5EF4-FFF2-40B4-BE49-F238E27FC236}">
                  <a16:creationId xmlns:a16="http://schemas.microsoft.com/office/drawing/2014/main" id="{02F045C4-ADF5-4EE0-833E-6DAC45CD5B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5600" y="44958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hi-IN"/>
            </a:p>
          </p:txBody>
        </p:sp>
        <p:sp>
          <p:nvSpPr>
            <p:cNvPr id="73742" name="Oval 14">
              <a:extLst>
                <a:ext uri="{FF2B5EF4-FFF2-40B4-BE49-F238E27FC236}">
                  <a16:creationId xmlns:a16="http://schemas.microsoft.com/office/drawing/2014/main" id="{20DA7458-6670-47A8-95C0-E2950F7484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0" y="51816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hi-IN"/>
            </a:p>
          </p:txBody>
        </p:sp>
        <p:sp>
          <p:nvSpPr>
            <p:cNvPr id="73743" name="Oval 15">
              <a:extLst>
                <a:ext uri="{FF2B5EF4-FFF2-40B4-BE49-F238E27FC236}">
                  <a16:creationId xmlns:a16="http://schemas.microsoft.com/office/drawing/2014/main" id="{7497E186-1A7D-4324-9AB5-0F24CD80F7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5600" y="6096000"/>
              <a:ext cx="304800" cy="304800"/>
            </a:xfrm>
            <a:prstGeom prst="ellipse">
              <a:avLst/>
            </a:prstGeom>
            <a:solidFill>
              <a:srgbClr val="CC99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hi-IN"/>
            </a:p>
          </p:txBody>
        </p:sp>
        <p:sp>
          <p:nvSpPr>
            <p:cNvPr id="73744" name="Oval 16">
              <a:extLst>
                <a:ext uri="{FF2B5EF4-FFF2-40B4-BE49-F238E27FC236}">
                  <a16:creationId xmlns:a16="http://schemas.microsoft.com/office/drawing/2014/main" id="{98038A8E-D6CF-4070-B238-82C2F3C659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3800" y="52578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hi-IN"/>
            </a:p>
          </p:txBody>
        </p:sp>
        <p:sp>
          <p:nvSpPr>
            <p:cNvPr id="73745" name="Oval 17">
              <a:extLst>
                <a:ext uri="{FF2B5EF4-FFF2-40B4-BE49-F238E27FC236}">
                  <a16:creationId xmlns:a16="http://schemas.microsoft.com/office/drawing/2014/main" id="{D735F806-0435-4ADC-832A-D6362F52A4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7200" y="4267200"/>
              <a:ext cx="304800" cy="304800"/>
            </a:xfrm>
            <a:prstGeom prst="ellipse">
              <a:avLst/>
            </a:prstGeom>
            <a:solidFill>
              <a:srgbClr val="CC99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hi-IN"/>
            </a:p>
          </p:txBody>
        </p:sp>
        <p:sp>
          <p:nvSpPr>
            <p:cNvPr id="73746" name="Oval 18">
              <a:extLst>
                <a:ext uri="{FF2B5EF4-FFF2-40B4-BE49-F238E27FC236}">
                  <a16:creationId xmlns:a16="http://schemas.microsoft.com/office/drawing/2014/main" id="{D0374B5E-4B52-47B3-9261-A28B57BD57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4000" y="5943600"/>
              <a:ext cx="304800" cy="304800"/>
            </a:xfrm>
            <a:prstGeom prst="ellipse">
              <a:avLst/>
            </a:prstGeom>
            <a:solidFill>
              <a:srgbClr val="CC99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hi-IN"/>
            </a:p>
          </p:txBody>
        </p:sp>
        <p:sp>
          <p:nvSpPr>
            <p:cNvPr id="73747" name="Oval 19">
              <a:extLst>
                <a:ext uri="{FF2B5EF4-FFF2-40B4-BE49-F238E27FC236}">
                  <a16:creationId xmlns:a16="http://schemas.microsoft.com/office/drawing/2014/main" id="{21C41825-3A08-4447-B34D-787E33B16A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8800" y="44958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hi-IN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FD93FD8-596F-4E94-9DC1-563BE3A65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97</a:t>
            </a:fld>
            <a:endParaRPr lang="en-US" altLang="hi-I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6F00751-21AF-E141-7E49-5DBCAF49FCF4}"/>
                  </a:ext>
                </a:extLst>
              </p:cNvPr>
              <p:cNvSpPr txBox="1"/>
              <p:nvPr/>
            </p:nvSpPr>
            <p:spPr>
              <a:xfrm>
                <a:off x="332015" y="3470130"/>
                <a:ext cx="5671457" cy="22467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buNone/>
                </a:pPr>
                <a:r>
                  <a:rPr lang="en-US" sz="2000" dirty="0">
                    <a:solidFill>
                      <a:srgbClr val="002060"/>
                    </a:solidFill>
                  </a:rPr>
                  <a:t>A graph is bipartite if: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002060"/>
                    </a:solidFill>
                  </a:rPr>
                  <a:t>Vertices can be split into two sets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AE" sz="20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rgbClr val="002060"/>
                    </a:solidFill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AE" sz="20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000" dirty="0">
                  <a:solidFill>
                    <a:srgbClr val="002060"/>
                  </a:solidFill>
                </a:endParaRP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solidFill>
                      <a:srgbClr val="002060"/>
                    </a:solidFill>
                  </a:rPr>
                  <a:t>Every edge (if it exists)</a:t>
                </a:r>
                <a:r>
                  <a:rPr lang="en-US" sz="2000" dirty="0">
                    <a:solidFill>
                      <a:srgbClr val="002060"/>
                    </a:solidFill>
                  </a:rPr>
                  <a:t> goes between the two sets 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002060"/>
                    </a:solidFill>
                  </a:rPr>
                  <a:t>There is </a:t>
                </a:r>
                <a:r>
                  <a:rPr lang="en-US" sz="2000" b="1" dirty="0">
                    <a:solidFill>
                      <a:srgbClr val="002060"/>
                    </a:solidFill>
                  </a:rPr>
                  <a:t>no requirement that every possible cross-edge must exist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solidFill>
                      <a:srgbClr val="002060"/>
                    </a:solidFill>
                  </a:rPr>
                  <a:t>No edges between the same sets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6F00751-21AF-E141-7E49-5DBCAF49FC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015" y="3470130"/>
                <a:ext cx="5671457" cy="2246769"/>
              </a:xfrm>
              <a:prstGeom prst="rect">
                <a:avLst/>
              </a:prstGeom>
              <a:blipFill>
                <a:blip r:embed="rId2"/>
                <a:stretch>
                  <a:fillRect l="-1074" t="-1355" r="-1074" b="-37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F89CEEA-157C-2A30-2A18-026C38DF2502}"/>
                  </a:ext>
                </a:extLst>
              </p:cNvPr>
              <p:cNvSpPr txBox="1"/>
              <p:nvPr/>
            </p:nvSpPr>
            <p:spPr>
              <a:xfrm>
                <a:off x="457200" y="5652867"/>
                <a:ext cx="7391400" cy="10290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buNone/>
                </a:pPr>
                <a:r>
                  <a:rPr lang="en-US" sz="2000" dirty="0">
                    <a:solidFill>
                      <a:srgbClr val="C00000"/>
                    </a:solidFill>
                  </a:rPr>
                  <a:t>A graph is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complete bipartite</a:t>
                </a:r>
                <a:r>
                  <a:rPr lang="en-US" sz="2000" dirty="0">
                    <a:solidFill>
                      <a:srgbClr val="C00000"/>
                    </a:solidFill>
                  </a:rPr>
                  <a:t> if: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C00000"/>
                    </a:solidFill>
                  </a:rPr>
                  <a:t>It is bipartite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and</a:t>
                </a:r>
                <a:r>
                  <a:rPr lang="en-US" sz="2000" dirty="0">
                    <a:solidFill>
                      <a:srgbClr val="C00000"/>
                    </a:solidFill>
                  </a:rPr>
                  <a:t> 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Every vertex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AE" sz="2000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b="1" dirty="0">
                    <a:solidFill>
                      <a:srgbClr val="C00000"/>
                    </a:solidFill>
                  </a:rPr>
                  <a:t>is connected to every vertex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AE" sz="2000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ar-AE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F89CEEA-157C-2A30-2A18-026C38DF25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5652867"/>
                <a:ext cx="7391400" cy="1029064"/>
              </a:xfrm>
              <a:prstGeom prst="rect">
                <a:avLst/>
              </a:prstGeom>
              <a:blipFill>
                <a:blip r:embed="rId3"/>
                <a:stretch>
                  <a:fillRect l="-824" t="-2959" b="-82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DF152F2A-E7E9-41E8-B7B0-AC79230C03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i-IN"/>
              <a:t>Cycle?</a:t>
            </a:r>
          </a:p>
        </p:txBody>
      </p:sp>
      <p:sp>
        <p:nvSpPr>
          <p:cNvPr id="74755" name="Text Box 3">
            <a:extLst>
              <a:ext uri="{FF2B5EF4-FFF2-40B4-BE49-F238E27FC236}">
                <a16:creationId xmlns:a16="http://schemas.microsoft.com/office/drawing/2014/main" id="{B75DD40B-8B81-43BD-B5AA-A5E6E9BACA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325" y="2047875"/>
            <a:ext cx="8321675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hi-IN" b="1" i="1"/>
              <a:t>Give an O(V) algorithm to determine if an undirected graph contains a cycle</a:t>
            </a:r>
            <a:r>
              <a:rPr lang="en-US" altLang="hi-IN"/>
              <a:t>.</a:t>
            </a:r>
          </a:p>
          <a:p>
            <a:pPr algn="l"/>
            <a:endParaRPr lang="en-US" altLang="hi-IN"/>
          </a:p>
          <a:p>
            <a:pPr algn="l"/>
            <a:r>
              <a:rPr lang="en-US" altLang="hi-IN"/>
              <a:t>Note: Full traversal by BFS and DFS both take O(V+E) time.</a:t>
            </a:r>
            <a:endParaRPr lang="en-US" altLang="hi-IN" sz="240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6424CE-A37C-4A05-9A75-17E93C6EB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98</a:t>
            </a:fld>
            <a:endParaRPr lang="en-US" altLang="hi-IN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175B1756-1A26-4A05-9C05-E3D7A6F0E6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i-IN"/>
              <a:t>Topological Sorting?</a:t>
            </a:r>
          </a:p>
        </p:txBody>
      </p:sp>
      <p:sp>
        <p:nvSpPr>
          <p:cNvPr id="75779" name="Text Box 3">
            <a:extLst>
              <a:ext uri="{FF2B5EF4-FFF2-40B4-BE49-F238E27FC236}">
                <a16:creationId xmlns:a16="http://schemas.microsoft.com/office/drawing/2014/main" id="{0F22A889-BDB0-4F21-9624-675469EB53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905000"/>
            <a:ext cx="8382000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buFontTx/>
              <a:buChar char="•"/>
            </a:pPr>
            <a:r>
              <a:rPr lang="en-US" altLang="hi-IN" sz="2400"/>
              <a:t>A </a:t>
            </a:r>
            <a:r>
              <a:rPr lang="en-US" altLang="hi-IN" sz="2400" i="1"/>
              <a:t>directed acyclic graph</a:t>
            </a:r>
            <a:r>
              <a:rPr lang="en-US" altLang="hi-IN" sz="2400"/>
              <a:t> (DAG) is a directed graph with no directed cycles.</a:t>
            </a:r>
          </a:p>
          <a:p>
            <a:pPr algn="l">
              <a:buFontTx/>
              <a:buChar char="•"/>
            </a:pPr>
            <a:r>
              <a:rPr lang="en-US" altLang="hi-IN" sz="2400"/>
              <a:t>A </a:t>
            </a:r>
            <a:r>
              <a:rPr lang="en-US" altLang="hi-IN" sz="2400" i="1"/>
              <a:t>topological sort</a:t>
            </a:r>
            <a:r>
              <a:rPr lang="en-US" altLang="hi-IN" sz="2400"/>
              <a:t> is an ordering of nodes where all edges go from left to right. </a:t>
            </a:r>
          </a:p>
          <a:p>
            <a:pPr algn="l">
              <a:buFontTx/>
              <a:buChar char="•"/>
            </a:pPr>
            <a:r>
              <a:rPr lang="en-US" altLang="hi-IN" sz="2400"/>
              <a:t>How can BFS or DFS help us topologically sort a directed graph (or determine the graph is not a DAG)?</a:t>
            </a:r>
          </a:p>
        </p:txBody>
      </p:sp>
      <p:grpSp>
        <p:nvGrpSpPr>
          <p:cNvPr id="75780" name="Group 4">
            <a:extLst>
              <a:ext uri="{FF2B5EF4-FFF2-40B4-BE49-F238E27FC236}">
                <a16:creationId xmlns:a16="http://schemas.microsoft.com/office/drawing/2014/main" id="{732F5E8F-2EEA-420D-B9BA-4D9B68366B9C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4191000"/>
            <a:ext cx="2895600" cy="2362200"/>
            <a:chOff x="480" y="528"/>
            <a:chExt cx="1824" cy="1488"/>
          </a:xfrm>
        </p:grpSpPr>
        <p:sp>
          <p:nvSpPr>
            <p:cNvPr id="75796" name="Oval 5">
              <a:extLst>
                <a:ext uri="{FF2B5EF4-FFF2-40B4-BE49-F238E27FC236}">
                  <a16:creationId xmlns:a16="http://schemas.microsoft.com/office/drawing/2014/main" id="{25B3AAD5-C4E4-4AA1-8C18-674B0D8D0D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528"/>
              <a:ext cx="288" cy="28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hi-IN"/>
                <a:t>A</a:t>
              </a:r>
            </a:p>
          </p:txBody>
        </p:sp>
        <p:sp>
          <p:nvSpPr>
            <p:cNvPr id="75797" name="Oval 6">
              <a:extLst>
                <a:ext uri="{FF2B5EF4-FFF2-40B4-BE49-F238E27FC236}">
                  <a16:creationId xmlns:a16="http://schemas.microsoft.com/office/drawing/2014/main" id="{9FEF526F-AF68-4C97-8EC6-393CDB789A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1728"/>
              <a:ext cx="288" cy="28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hi-IN"/>
                <a:t>F</a:t>
              </a:r>
            </a:p>
          </p:txBody>
        </p:sp>
        <p:sp>
          <p:nvSpPr>
            <p:cNvPr id="75798" name="Oval 7">
              <a:extLst>
                <a:ext uri="{FF2B5EF4-FFF2-40B4-BE49-F238E27FC236}">
                  <a16:creationId xmlns:a16="http://schemas.microsoft.com/office/drawing/2014/main" id="{A4C0EE31-CCAE-4AE7-97AD-A85596BD2A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1728"/>
              <a:ext cx="288" cy="28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hi-IN"/>
                <a:t>E</a:t>
              </a:r>
            </a:p>
          </p:txBody>
        </p:sp>
        <p:sp>
          <p:nvSpPr>
            <p:cNvPr id="75799" name="Oval 8">
              <a:extLst>
                <a:ext uri="{FF2B5EF4-FFF2-40B4-BE49-F238E27FC236}">
                  <a16:creationId xmlns:a16="http://schemas.microsoft.com/office/drawing/2014/main" id="{8F67F3CF-EB2D-41D5-9F57-979685BAC9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728"/>
              <a:ext cx="288" cy="28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hi-IN"/>
                <a:t>D</a:t>
              </a:r>
            </a:p>
          </p:txBody>
        </p:sp>
        <p:sp>
          <p:nvSpPr>
            <p:cNvPr id="75800" name="Line 9">
              <a:extLst>
                <a:ext uri="{FF2B5EF4-FFF2-40B4-BE49-F238E27FC236}">
                  <a16:creationId xmlns:a16="http://schemas.microsoft.com/office/drawing/2014/main" id="{884EC62D-8ABA-493D-B11B-9EAE2DDAD0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56" y="768"/>
              <a:ext cx="24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i-IN"/>
            </a:p>
          </p:txBody>
        </p:sp>
        <p:sp>
          <p:nvSpPr>
            <p:cNvPr id="75801" name="Line 10">
              <a:extLst>
                <a:ext uri="{FF2B5EF4-FFF2-40B4-BE49-F238E27FC236}">
                  <a16:creationId xmlns:a16="http://schemas.microsoft.com/office/drawing/2014/main" id="{137E9C06-35BE-4A12-B7DD-60A5CAA1F3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1344"/>
              <a:ext cx="24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i-IN"/>
            </a:p>
          </p:txBody>
        </p:sp>
        <p:sp>
          <p:nvSpPr>
            <p:cNvPr id="75802" name="Line 11">
              <a:extLst>
                <a:ext uri="{FF2B5EF4-FFF2-40B4-BE49-F238E27FC236}">
                  <a16:creationId xmlns:a16="http://schemas.microsoft.com/office/drawing/2014/main" id="{C1A3DDFA-F600-4F5D-A7BE-41D86A28D7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2" y="1344"/>
              <a:ext cx="24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i-IN"/>
            </a:p>
          </p:txBody>
        </p:sp>
        <p:sp>
          <p:nvSpPr>
            <p:cNvPr id="75803" name="Line 12">
              <a:extLst>
                <a:ext uri="{FF2B5EF4-FFF2-40B4-BE49-F238E27FC236}">
                  <a16:creationId xmlns:a16="http://schemas.microsoft.com/office/drawing/2014/main" id="{CB39E9BE-FB0B-425C-9114-E784FAFE38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768"/>
              <a:ext cx="24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i-IN"/>
            </a:p>
          </p:txBody>
        </p:sp>
        <p:sp>
          <p:nvSpPr>
            <p:cNvPr id="75804" name="Line 13">
              <a:extLst>
                <a:ext uri="{FF2B5EF4-FFF2-40B4-BE49-F238E27FC236}">
                  <a16:creationId xmlns:a16="http://schemas.microsoft.com/office/drawing/2014/main" id="{CFAE7A61-CDA2-4C32-A518-7822DABD90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344"/>
              <a:ext cx="24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i-IN"/>
            </a:p>
          </p:txBody>
        </p:sp>
        <p:sp>
          <p:nvSpPr>
            <p:cNvPr id="75805" name="Line 14">
              <a:extLst>
                <a:ext uri="{FF2B5EF4-FFF2-40B4-BE49-F238E27FC236}">
                  <a16:creationId xmlns:a16="http://schemas.microsoft.com/office/drawing/2014/main" id="{A8667169-BDAC-4565-A981-1E0B265500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36" y="1872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i-IN"/>
            </a:p>
          </p:txBody>
        </p:sp>
        <p:sp>
          <p:nvSpPr>
            <p:cNvPr id="75806" name="Line 15">
              <a:extLst>
                <a:ext uri="{FF2B5EF4-FFF2-40B4-BE49-F238E27FC236}">
                  <a16:creationId xmlns:a16="http://schemas.microsoft.com/office/drawing/2014/main" id="{C0BE9710-AB32-42DA-888D-DC2A2BB3B3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1872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i-IN"/>
            </a:p>
          </p:txBody>
        </p:sp>
        <p:sp>
          <p:nvSpPr>
            <p:cNvPr id="75807" name="Oval 16">
              <a:extLst>
                <a:ext uri="{FF2B5EF4-FFF2-40B4-BE49-F238E27FC236}">
                  <a16:creationId xmlns:a16="http://schemas.microsoft.com/office/drawing/2014/main" id="{B7169E5B-6CEF-460F-979F-9BDF10D775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1104"/>
              <a:ext cx="288" cy="28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hi-IN"/>
                <a:t>B</a:t>
              </a:r>
            </a:p>
          </p:txBody>
        </p:sp>
        <p:sp>
          <p:nvSpPr>
            <p:cNvPr id="75808" name="Line 17">
              <a:extLst>
                <a:ext uri="{FF2B5EF4-FFF2-40B4-BE49-F238E27FC236}">
                  <a16:creationId xmlns:a16="http://schemas.microsoft.com/office/drawing/2014/main" id="{25278AC5-1A74-4992-B23F-EBA236CD65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88" y="1344"/>
              <a:ext cx="24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i-IN"/>
            </a:p>
          </p:txBody>
        </p:sp>
        <p:sp>
          <p:nvSpPr>
            <p:cNvPr id="75809" name="Oval 18">
              <a:extLst>
                <a:ext uri="{FF2B5EF4-FFF2-40B4-BE49-F238E27FC236}">
                  <a16:creationId xmlns:a16="http://schemas.microsoft.com/office/drawing/2014/main" id="{50A9C4F6-A32A-46DC-B7AA-62A11C36BA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1104"/>
              <a:ext cx="288" cy="28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hi-IN"/>
                <a:t>C</a:t>
              </a:r>
            </a:p>
          </p:txBody>
        </p:sp>
      </p:grpSp>
      <p:grpSp>
        <p:nvGrpSpPr>
          <p:cNvPr id="3" name="Group 19">
            <a:extLst>
              <a:ext uri="{FF2B5EF4-FFF2-40B4-BE49-F238E27FC236}">
                <a16:creationId xmlns:a16="http://schemas.microsoft.com/office/drawing/2014/main" id="{CF984228-933A-4941-B877-C3C78D4BB7F3}"/>
              </a:ext>
            </a:extLst>
          </p:cNvPr>
          <p:cNvGrpSpPr>
            <a:grpSpLocks/>
          </p:cNvGrpSpPr>
          <p:nvPr/>
        </p:nvGrpSpPr>
        <p:grpSpPr bwMode="auto">
          <a:xfrm>
            <a:off x="2895600" y="5029200"/>
            <a:ext cx="6172200" cy="458788"/>
            <a:chOff x="720" y="3168"/>
            <a:chExt cx="3888" cy="289"/>
          </a:xfrm>
        </p:grpSpPr>
        <p:sp>
          <p:nvSpPr>
            <p:cNvPr id="75782" name="Oval 20">
              <a:extLst>
                <a:ext uri="{FF2B5EF4-FFF2-40B4-BE49-F238E27FC236}">
                  <a16:creationId xmlns:a16="http://schemas.microsoft.com/office/drawing/2014/main" id="{4ED9A201-BE9E-43FE-AEB3-9A69EBF76D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3168"/>
              <a:ext cx="288" cy="28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hi-IN"/>
                <a:t>A</a:t>
              </a:r>
            </a:p>
          </p:txBody>
        </p:sp>
        <p:sp>
          <p:nvSpPr>
            <p:cNvPr id="75783" name="Oval 21">
              <a:extLst>
                <a:ext uri="{FF2B5EF4-FFF2-40B4-BE49-F238E27FC236}">
                  <a16:creationId xmlns:a16="http://schemas.microsoft.com/office/drawing/2014/main" id="{7F5C100B-290B-4381-B076-164077C53F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3168"/>
              <a:ext cx="288" cy="28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hi-IN"/>
                <a:t>F</a:t>
              </a:r>
            </a:p>
          </p:txBody>
        </p:sp>
        <p:sp>
          <p:nvSpPr>
            <p:cNvPr id="75784" name="Oval 22">
              <a:extLst>
                <a:ext uri="{FF2B5EF4-FFF2-40B4-BE49-F238E27FC236}">
                  <a16:creationId xmlns:a16="http://schemas.microsoft.com/office/drawing/2014/main" id="{96CBCC7C-847F-49EE-9F6B-E404C8CDFD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168"/>
              <a:ext cx="288" cy="28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hi-IN"/>
                <a:t>E</a:t>
              </a:r>
            </a:p>
          </p:txBody>
        </p:sp>
        <p:sp>
          <p:nvSpPr>
            <p:cNvPr id="75785" name="Oval 23">
              <a:extLst>
                <a:ext uri="{FF2B5EF4-FFF2-40B4-BE49-F238E27FC236}">
                  <a16:creationId xmlns:a16="http://schemas.microsoft.com/office/drawing/2014/main" id="{324C616B-DA8C-425A-B497-BC413FA87A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3168"/>
              <a:ext cx="288" cy="28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hi-IN"/>
                <a:t>D</a:t>
              </a:r>
            </a:p>
          </p:txBody>
        </p:sp>
        <p:sp>
          <p:nvSpPr>
            <p:cNvPr id="75786" name="Oval 24">
              <a:extLst>
                <a:ext uri="{FF2B5EF4-FFF2-40B4-BE49-F238E27FC236}">
                  <a16:creationId xmlns:a16="http://schemas.microsoft.com/office/drawing/2014/main" id="{13410E49-633B-4555-AE5A-64F502963E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3168"/>
              <a:ext cx="288" cy="28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hi-IN"/>
                <a:t>B</a:t>
              </a:r>
            </a:p>
          </p:txBody>
        </p:sp>
        <p:sp>
          <p:nvSpPr>
            <p:cNvPr id="75787" name="Oval 25">
              <a:extLst>
                <a:ext uri="{FF2B5EF4-FFF2-40B4-BE49-F238E27FC236}">
                  <a16:creationId xmlns:a16="http://schemas.microsoft.com/office/drawing/2014/main" id="{14384497-7BF0-4BAF-8A2F-6E27BAE1C3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3168"/>
              <a:ext cx="288" cy="28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hi-IN"/>
                <a:t>C</a:t>
              </a:r>
            </a:p>
          </p:txBody>
        </p:sp>
        <p:cxnSp>
          <p:nvCxnSpPr>
            <p:cNvPr id="75788" name="AutoShape 26">
              <a:extLst>
                <a:ext uri="{FF2B5EF4-FFF2-40B4-BE49-F238E27FC236}">
                  <a16:creationId xmlns:a16="http://schemas.microsoft.com/office/drawing/2014/main" id="{1C0E20C0-3978-46AA-B20D-B379F01D9D05}"/>
                </a:ext>
              </a:extLst>
            </p:cNvPr>
            <p:cNvCxnSpPr>
              <a:cxnSpLocks noChangeShapeType="1"/>
              <a:stCxn id="75782" idx="0"/>
              <a:endCxn id="75786" idx="0"/>
            </p:cNvCxnSpPr>
            <p:nvPr/>
          </p:nvCxnSpPr>
          <p:spPr bwMode="auto">
            <a:xfrm rot="5400000" flipV="1">
              <a:off x="1943" y="2089"/>
              <a:ext cx="1" cy="2160"/>
            </a:xfrm>
            <a:prstGeom prst="curvedConnector3">
              <a:avLst>
                <a:gd name="adj1" fmla="val -37400014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5789" name="Line 27">
              <a:extLst>
                <a:ext uri="{FF2B5EF4-FFF2-40B4-BE49-F238E27FC236}">
                  <a16:creationId xmlns:a16="http://schemas.microsoft.com/office/drawing/2014/main" id="{036CDE1D-576F-48B2-AD4B-A2D6134AEF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3312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i-IN"/>
            </a:p>
          </p:txBody>
        </p:sp>
        <p:sp>
          <p:nvSpPr>
            <p:cNvPr id="75790" name="Line 28">
              <a:extLst>
                <a:ext uri="{FF2B5EF4-FFF2-40B4-BE49-F238E27FC236}">
                  <a16:creationId xmlns:a16="http://schemas.microsoft.com/office/drawing/2014/main" id="{DA58935F-4146-43AF-AE07-174222DC8C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3312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i-IN"/>
            </a:p>
          </p:txBody>
        </p:sp>
        <p:sp>
          <p:nvSpPr>
            <p:cNvPr id="75791" name="Line 29">
              <a:extLst>
                <a:ext uri="{FF2B5EF4-FFF2-40B4-BE49-F238E27FC236}">
                  <a16:creationId xmlns:a16="http://schemas.microsoft.com/office/drawing/2014/main" id="{11349754-8462-4E06-A082-A1182F033C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3312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i-IN"/>
            </a:p>
          </p:txBody>
        </p:sp>
        <p:sp>
          <p:nvSpPr>
            <p:cNvPr id="75792" name="Line 30">
              <a:extLst>
                <a:ext uri="{FF2B5EF4-FFF2-40B4-BE49-F238E27FC236}">
                  <a16:creationId xmlns:a16="http://schemas.microsoft.com/office/drawing/2014/main" id="{87634A42-60B1-4111-B057-7B23842422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3312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i-IN"/>
            </a:p>
          </p:txBody>
        </p:sp>
        <p:cxnSp>
          <p:nvCxnSpPr>
            <p:cNvPr id="75793" name="AutoShape 31">
              <a:extLst>
                <a:ext uri="{FF2B5EF4-FFF2-40B4-BE49-F238E27FC236}">
                  <a16:creationId xmlns:a16="http://schemas.microsoft.com/office/drawing/2014/main" id="{DC1BED4C-E78A-459E-92E1-D9162152296C}"/>
                </a:ext>
              </a:extLst>
            </p:cNvPr>
            <p:cNvCxnSpPr>
              <a:cxnSpLocks noChangeShapeType="1"/>
              <a:stCxn id="75787" idx="4"/>
              <a:endCxn id="75784" idx="4"/>
            </p:cNvCxnSpPr>
            <p:nvPr/>
          </p:nvCxnSpPr>
          <p:spPr bwMode="auto">
            <a:xfrm rot="16200000" flipH="1">
              <a:off x="3023" y="2017"/>
              <a:ext cx="1" cy="2880"/>
            </a:xfrm>
            <a:prstGeom prst="curvedConnector3">
              <a:avLst>
                <a:gd name="adj1" fmla="val 51999986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5794" name="AutoShape 32">
              <a:extLst>
                <a:ext uri="{FF2B5EF4-FFF2-40B4-BE49-F238E27FC236}">
                  <a16:creationId xmlns:a16="http://schemas.microsoft.com/office/drawing/2014/main" id="{4662B985-DBF5-4984-8A18-E00EAF600EFA}"/>
                </a:ext>
              </a:extLst>
            </p:cNvPr>
            <p:cNvCxnSpPr>
              <a:cxnSpLocks noChangeShapeType="1"/>
              <a:stCxn id="75783" idx="4"/>
              <a:endCxn id="75784" idx="3"/>
            </p:cNvCxnSpPr>
            <p:nvPr/>
          </p:nvCxnSpPr>
          <p:spPr bwMode="auto">
            <a:xfrm rot="5400000" flipH="1" flipV="1">
              <a:off x="3312" y="2406"/>
              <a:ext cx="42" cy="2058"/>
            </a:xfrm>
            <a:prstGeom prst="curvedConnector3">
              <a:avLst>
                <a:gd name="adj1" fmla="val -342856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5795" name="AutoShape 33">
              <a:extLst>
                <a:ext uri="{FF2B5EF4-FFF2-40B4-BE49-F238E27FC236}">
                  <a16:creationId xmlns:a16="http://schemas.microsoft.com/office/drawing/2014/main" id="{BCA29CBD-7299-4DAA-9B4B-ED3F0B3DFECB}"/>
                </a:ext>
              </a:extLst>
            </p:cNvPr>
            <p:cNvCxnSpPr>
              <a:cxnSpLocks noChangeShapeType="1"/>
              <a:stCxn id="75786" idx="7"/>
              <a:endCxn id="75784" idx="1"/>
            </p:cNvCxnSpPr>
            <p:nvPr/>
          </p:nvCxnSpPr>
          <p:spPr bwMode="auto">
            <a:xfrm rot="5400000" flipV="1">
              <a:off x="3743" y="2593"/>
              <a:ext cx="1" cy="1236"/>
            </a:xfrm>
            <a:prstGeom prst="curvedConnector3">
              <a:avLst>
                <a:gd name="adj1" fmla="val -23700009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4289CF-E4F9-4E05-A596-EEACA9B93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99</a:t>
            </a:fld>
            <a:endParaRPr lang="en-US" altLang="hi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7CA54F6D-C4E8-4155-A8FB-97BF785655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153400" cy="1143000"/>
          </a:xfrm>
        </p:spPr>
        <p:txBody>
          <a:bodyPr/>
          <a:lstStyle/>
          <a:p>
            <a:r>
              <a:rPr lang="en-US" altLang="hi-IN"/>
              <a:t>DAGs and Topological Ordering</a:t>
            </a:r>
          </a:p>
        </p:txBody>
      </p:sp>
      <p:sp>
        <p:nvSpPr>
          <p:cNvPr id="76803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A775A25F-59A4-4447-A88A-1749533282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752600"/>
            <a:ext cx="4114800" cy="4343400"/>
          </a:xfrm>
        </p:spPr>
        <p:txBody>
          <a:bodyPr/>
          <a:lstStyle/>
          <a:p>
            <a:r>
              <a:rPr lang="en-US" altLang="hi-IN" sz="1800"/>
              <a:t>A directed acyclic graph (DAG) is a digraph that has no directed cycles</a:t>
            </a:r>
          </a:p>
          <a:p>
            <a:r>
              <a:rPr lang="en-US" altLang="hi-IN" sz="1800"/>
              <a:t>A topological ordering of a digraph is a numbering 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en-US" altLang="hi-IN" sz="1800" b="1" i="1"/>
              <a:t>	v</a:t>
            </a:r>
            <a:r>
              <a:rPr lang="en-US" altLang="hi-IN" sz="1800" baseline="-25000"/>
              <a:t>1 </a:t>
            </a:r>
            <a:r>
              <a:rPr lang="en-US" altLang="hi-IN" sz="1800" b="1" i="1"/>
              <a:t>, …, v</a:t>
            </a:r>
            <a:r>
              <a:rPr lang="en-US" altLang="hi-IN" sz="1800" b="1" i="1" baseline="-25000"/>
              <a:t>n</a:t>
            </a:r>
            <a:r>
              <a:rPr lang="en-US" altLang="hi-IN" sz="1800"/>
              <a:t>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hi-IN" sz="1800"/>
              <a:t>	of the vertices such that for every edge (</a:t>
            </a:r>
            <a:r>
              <a:rPr lang="en-US" altLang="hi-IN" sz="1800" b="1" i="1"/>
              <a:t>v</a:t>
            </a:r>
            <a:r>
              <a:rPr lang="en-US" altLang="hi-IN" sz="1800" b="1" i="1" baseline="-25000"/>
              <a:t>i </a:t>
            </a:r>
            <a:r>
              <a:rPr lang="en-US" altLang="hi-IN" sz="1800" b="1" i="1"/>
              <a:t>, v</a:t>
            </a:r>
            <a:r>
              <a:rPr lang="en-US" altLang="hi-IN" sz="1800" b="1" i="1" baseline="-25000"/>
              <a:t>j</a:t>
            </a:r>
            <a:r>
              <a:rPr lang="en-US" altLang="hi-IN" sz="1800"/>
              <a:t>), we have </a:t>
            </a:r>
            <a:r>
              <a:rPr lang="en-US" altLang="hi-IN" sz="1800" b="1" i="1"/>
              <a:t>i </a:t>
            </a:r>
            <a:r>
              <a:rPr lang="en-US" altLang="hi-IN" sz="1800">
                <a:latin typeface="Symbol" panose="05050102010706020507" pitchFamily="18" charset="2"/>
              </a:rPr>
              <a:t>&lt;</a:t>
            </a:r>
            <a:r>
              <a:rPr lang="en-US" altLang="hi-IN" sz="1800" b="1" i="1"/>
              <a:t> j</a:t>
            </a:r>
          </a:p>
          <a:p>
            <a:r>
              <a:rPr lang="en-US" altLang="hi-IN" sz="1800"/>
              <a:t>Example: in a task scheduling digraph, a topological ordering a task sequence that satisfies the precedence constraints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hi-IN" sz="1800">
                <a:solidFill>
                  <a:schemeClr val="tx2"/>
                </a:solidFill>
              </a:rPr>
              <a:t>Theorem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hi-IN" sz="1800"/>
              <a:t>	A digraph admits a topological ordering if and only if it is a DAG</a:t>
            </a:r>
          </a:p>
        </p:txBody>
      </p:sp>
      <p:sp>
        <p:nvSpPr>
          <p:cNvPr id="76804" name="Oval 4">
            <a:extLst>
              <a:ext uri="{FF2B5EF4-FFF2-40B4-BE49-F238E27FC236}">
                <a16:creationId xmlns:a16="http://schemas.microsoft.com/office/drawing/2014/main" id="{E14BE550-AE22-4497-85CA-E73D532E30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2209800"/>
            <a:ext cx="457200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/>
              <a:t>B</a:t>
            </a:r>
          </a:p>
        </p:txBody>
      </p:sp>
      <p:sp>
        <p:nvSpPr>
          <p:cNvPr id="76805" name="Oval 5">
            <a:extLst>
              <a:ext uri="{FF2B5EF4-FFF2-40B4-BE49-F238E27FC236}">
                <a16:creationId xmlns:a16="http://schemas.microsoft.com/office/drawing/2014/main" id="{4A3DFA37-C84D-462C-90B3-82C70B5F9D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3200400"/>
            <a:ext cx="457200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/>
              <a:t>A</a:t>
            </a:r>
          </a:p>
        </p:txBody>
      </p:sp>
      <p:sp>
        <p:nvSpPr>
          <p:cNvPr id="76806" name="Oval 6">
            <a:extLst>
              <a:ext uri="{FF2B5EF4-FFF2-40B4-BE49-F238E27FC236}">
                <a16:creationId xmlns:a16="http://schemas.microsoft.com/office/drawing/2014/main" id="{2C3D76AF-1828-426E-BE4B-91010F00C4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1600200"/>
            <a:ext cx="457200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/>
              <a:t>D</a:t>
            </a:r>
          </a:p>
        </p:txBody>
      </p:sp>
      <p:sp>
        <p:nvSpPr>
          <p:cNvPr id="76807" name="Oval 7">
            <a:extLst>
              <a:ext uri="{FF2B5EF4-FFF2-40B4-BE49-F238E27FC236}">
                <a16:creationId xmlns:a16="http://schemas.microsoft.com/office/drawing/2014/main" id="{1DAA76B0-ADD3-4E5E-9553-B7A63E5C2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2743200"/>
            <a:ext cx="457200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/>
              <a:t>C</a:t>
            </a:r>
          </a:p>
        </p:txBody>
      </p:sp>
      <p:sp>
        <p:nvSpPr>
          <p:cNvPr id="76808" name="Oval 8">
            <a:extLst>
              <a:ext uri="{FF2B5EF4-FFF2-40B4-BE49-F238E27FC236}">
                <a16:creationId xmlns:a16="http://schemas.microsoft.com/office/drawing/2014/main" id="{73C0B44D-682A-4C8A-B4ED-9207750A19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6675" y="1600200"/>
            <a:ext cx="457200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/>
              <a:t>E</a:t>
            </a:r>
          </a:p>
        </p:txBody>
      </p:sp>
      <p:cxnSp>
        <p:nvCxnSpPr>
          <p:cNvPr id="76809" name="AutoShape 9">
            <a:extLst>
              <a:ext uri="{FF2B5EF4-FFF2-40B4-BE49-F238E27FC236}">
                <a16:creationId xmlns:a16="http://schemas.microsoft.com/office/drawing/2014/main" id="{BAC787FD-C917-45E0-928C-294D20D2FC8F}"/>
              </a:ext>
            </a:extLst>
          </p:cNvPr>
          <p:cNvCxnSpPr>
            <a:cxnSpLocks noChangeShapeType="1"/>
            <a:stCxn id="76804" idx="7"/>
            <a:endCxn id="76806" idx="2"/>
          </p:cNvCxnSpPr>
          <p:nvPr/>
        </p:nvCxnSpPr>
        <p:spPr bwMode="auto">
          <a:xfrm flipV="1">
            <a:off x="5495925" y="1828800"/>
            <a:ext cx="895350" cy="438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6810" name="AutoShape 10">
            <a:extLst>
              <a:ext uri="{FF2B5EF4-FFF2-40B4-BE49-F238E27FC236}">
                <a16:creationId xmlns:a16="http://schemas.microsoft.com/office/drawing/2014/main" id="{A7E4C28C-2E56-4EE7-8D60-86BEFEB6021A}"/>
              </a:ext>
            </a:extLst>
          </p:cNvPr>
          <p:cNvCxnSpPr>
            <a:cxnSpLocks noChangeShapeType="1"/>
            <a:stCxn id="76804" idx="5"/>
            <a:endCxn id="76807" idx="2"/>
          </p:cNvCxnSpPr>
          <p:nvPr/>
        </p:nvCxnSpPr>
        <p:spPr bwMode="auto">
          <a:xfrm>
            <a:off x="5495925" y="2609850"/>
            <a:ext cx="895350" cy="3619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6811" name="AutoShape 11">
            <a:extLst>
              <a:ext uri="{FF2B5EF4-FFF2-40B4-BE49-F238E27FC236}">
                <a16:creationId xmlns:a16="http://schemas.microsoft.com/office/drawing/2014/main" id="{51D46572-FDCB-4D13-99DF-34BA827E9EAB}"/>
              </a:ext>
            </a:extLst>
          </p:cNvPr>
          <p:cNvCxnSpPr>
            <a:cxnSpLocks noChangeShapeType="1"/>
            <a:stCxn id="76806" idx="6"/>
            <a:endCxn id="76808" idx="2"/>
          </p:cNvCxnSpPr>
          <p:nvPr/>
        </p:nvCxnSpPr>
        <p:spPr bwMode="auto">
          <a:xfrm>
            <a:off x="6867525" y="1828800"/>
            <a:ext cx="8096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6812" name="AutoShape 12">
            <a:extLst>
              <a:ext uri="{FF2B5EF4-FFF2-40B4-BE49-F238E27FC236}">
                <a16:creationId xmlns:a16="http://schemas.microsoft.com/office/drawing/2014/main" id="{4A79456D-8C1C-4401-9C83-286F4C315301}"/>
              </a:ext>
            </a:extLst>
          </p:cNvPr>
          <p:cNvCxnSpPr>
            <a:cxnSpLocks noChangeShapeType="1"/>
            <a:stCxn id="76807" idx="0"/>
            <a:endCxn id="76806" idx="4"/>
          </p:cNvCxnSpPr>
          <p:nvPr/>
        </p:nvCxnSpPr>
        <p:spPr bwMode="auto">
          <a:xfrm flipV="1">
            <a:off x="6629400" y="2066925"/>
            <a:ext cx="0" cy="6667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6813" name="AutoShape 13">
            <a:extLst>
              <a:ext uri="{FF2B5EF4-FFF2-40B4-BE49-F238E27FC236}">
                <a16:creationId xmlns:a16="http://schemas.microsoft.com/office/drawing/2014/main" id="{3EDF838D-C559-4CA7-A08F-9FA498995522}"/>
              </a:ext>
            </a:extLst>
          </p:cNvPr>
          <p:cNvCxnSpPr>
            <a:cxnSpLocks noChangeShapeType="1"/>
            <a:stCxn id="76805" idx="6"/>
            <a:endCxn id="76807" idx="3"/>
          </p:cNvCxnSpPr>
          <p:nvPr/>
        </p:nvCxnSpPr>
        <p:spPr bwMode="auto">
          <a:xfrm flipV="1">
            <a:off x="5572125" y="3143250"/>
            <a:ext cx="895350" cy="2857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6814" name="Text Box 14">
            <a:extLst>
              <a:ext uri="{FF2B5EF4-FFF2-40B4-BE49-F238E27FC236}">
                <a16:creationId xmlns:a16="http://schemas.microsoft.com/office/drawing/2014/main" id="{75F37D55-C38A-4E55-9E7E-BB11CA8B2B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6300" y="3200400"/>
            <a:ext cx="1092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/>
              <a:t>DAG </a:t>
            </a:r>
            <a:r>
              <a:rPr lang="en-US" altLang="hi-IN" b="1" i="1"/>
              <a:t>G</a:t>
            </a:r>
          </a:p>
        </p:txBody>
      </p:sp>
      <p:sp>
        <p:nvSpPr>
          <p:cNvPr id="76815" name="Oval 15">
            <a:extLst>
              <a:ext uri="{FF2B5EF4-FFF2-40B4-BE49-F238E27FC236}">
                <a16:creationId xmlns:a16="http://schemas.microsoft.com/office/drawing/2014/main" id="{28029408-EB8C-4238-BEEF-1BBCDC0780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4797425"/>
            <a:ext cx="457200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/>
              <a:t>B</a:t>
            </a:r>
          </a:p>
        </p:txBody>
      </p:sp>
      <p:sp>
        <p:nvSpPr>
          <p:cNvPr id="76816" name="Oval 16">
            <a:extLst>
              <a:ext uri="{FF2B5EF4-FFF2-40B4-BE49-F238E27FC236}">
                <a16:creationId xmlns:a16="http://schemas.microsoft.com/office/drawing/2014/main" id="{0D63F306-C679-4561-877F-2F533431EE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5788025"/>
            <a:ext cx="457200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/>
              <a:t>A</a:t>
            </a:r>
          </a:p>
        </p:txBody>
      </p:sp>
      <p:sp>
        <p:nvSpPr>
          <p:cNvPr id="76817" name="Oval 17">
            <a:extLst>
              <a:ext uri="{FF2B5EF4-FFF2-40B4-BE49-F238E27FC236}">
                <a16:creationId xmlns:a16="http://schemas.microsoft.com/office/drawing/2014/main" id="{2B1ABB9C-DFA3-4A74-9CC3-16976B4C6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4187825"/>
            <a:ext cx="457200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/>
              <a:t>D</a:t>
            </a:r>
          </a:p>
        </p:txBody>
      </p:sp>
      <p:sp>
        <p:nvSpPr>
          <p:cNvPr id="76818" name="Oval 18">
            <a:extLst>
              <a:ext uri="{FF2B5EF4-FFF2-40B4-BE49-F238E27FC236}">
                <a16:creationId xmlns:a16="http://schemas.microsoft.com/office/drawing/2014/main" id="{47A59C12-AE5E-44C0-B859-2D713D1133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5330825"/>
            <a:ext cx="457200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/>
              <a:t>C</a:t>
            </a:r>
          </a:p>
        </p:txBody>
      </p:sp>
      <p:sp>
        <p:nvSpPr>
          <p:cNvPr id="76819" name="Oval 19">
            <a:extLst>
              <a:ext uri="{FF2B5EF4-FFF2-40B4-BE49-F238E27FC236}">
                <a16:creationId xmlns:a16="http://schemas.microsoft.com/office/drawing/2014/main" id="{27FDBBB4-5BA0-4AEC-9E31-7123F3631E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6675" y="4187825"/>
            <a:ext cx="457200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/>
              <a:t>E</a:t>
            </a:r>
          </a:p>
        </p:txBody>
      </p:sp>
      <p:cxnSp>
        <p:nvCxnSpPr>
          <p:cNvPr id="76820" name="AutoShape 20">
            <a:extLst>
              <a:ext uri="{FF2B5EF4-FFF2-40B4-BE49-F238E27FC236}">
                <a16:creationId xmlns:a16="http://schemas.microsoft.com/office/drawing/2014/main" id="{E6B1EA6E-689D-4287-9018-1D2891440E7F}"/>
              </a:ext>
            </a:extLst>
          </p:cNvPr>
          <p:cNvCxnSpPr>
            <a:cxnSpLocks noChangeShapeType="1"/>
            <a:stCxn id="76815" idx="7"/>
            <a:endCxn id="76817" idx="2"/>
          </p:cNvCxnSpPr>
          <p:nvPr/>
        </p:nvCxnSpPr>
        <p:spPr bwMode="auto">
          <a:xfrm flipV="1">
            <a:off x="5495925" y="4416425"/>
            <a:ext cx="895350" cy="438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6821" name="AutoShape 21">
            <a:extLst>
              <a:ext uri="{FF2B5EF4-FFF2-40B4-BE49-F238E27FC236}">
                <a16:creationId xmlns:a16="http://schemas.microsoft.com/office/drawing/2014/main" id="{23E18E8C-BEB0-4489-8321-622E6C98E471}"/>
              </a:ext>
            </a:extLst>
          </p:cNvPr>
          <p:cNvCxnSpPr>
            <a:cxnSpLocks noChangeShapeType="1"/>
            <a:stCxn id="76815" idx="5"/>
            <a:endCxn id="76818" idx="2"/>
          </p:cNvCxnSpPr>
          <p:nvPr/>
        </p:nvCxnSpPr>
        <p:spPr bwMode="auto">
          <a:xfrm>
            <a:off x="5495925" y="5197475"/>
            <a:ext cx="895350" cy="3619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6822" name="AutoShape 22">
            <a:extLst>
              <a:ext uri="{FF2B5EF4-FFF2-40B4-BE49-F238E27FC236}">
                <a16:creationId xmlns:a16="http://schemas.microsoft.com/office/drawing/2014/main" id="{7912C52C-B653-4A0F-9C39-B28BC5114FF2}"/>
              </a:ext>
            </a:extLst>
          </p:cNvPr>
          <p:cNvCxnSpPr>
            <a:cxnSpLocks noChangeShapeType="1"/>
            <a:stCxn id="76817" idx="6"/>
            <a:endCxn id="76819" idx="2"/>
          </p:cNvCxnSpPr>
          <p:nvPr/>
        </p:nvCxnSpPr>
        <p:spPr bwMode="auto">
          <a:xfrm>
            <a:off x="6867525" y="4416425"/>
            <a:ext cx="8096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6823" name="AutoShape 23">
            <a:extLst>
              <a:ext uri="{FF2B5EF4-FFF2-40B4-BE49-F238E27FC236}">
                <a16:creationId xmlns:a16="http://schemas.microsoft.com/office/drawing/2014/main" id="{D83E31D0-8C5F-4958-AAED-06B209508693}"/>
              </a:ext>
            </a:extLst>
          </p:cNvPr>
          <p:cNvCxnSpPr>
            <a:cxnSpLocks noChangeShapeType="1"/>
            <a:stCxn id="76818" idx="0"/>
            <a:endCxn id="76817" idx="4"/>
          </p:cNvCxnSpPr>
          <p:nvPr/>
        </p:nvCxnSpPr>
        <p:spPr bwMode="auto">
          <a:xfrm flipV="1">
            <a:off x="6629400" y="4654550"/>
            <a:ext cx="0" cy="6667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6824" name="AutoShape 24">
            <a:extLst>
              <a:ext uri="{FF2B5EF4-FFF2-40B4-BE49-F238E27FC236}">
                <a16:creationId xmlns:a16="http://schemas.microsoft.com/office/drawing/2014/main" id="{D51F092F-400B-4762-9319-134EEFDCF8FE}"/>
              </a:ext>
            </a:extLst>
          </p:cNvPr>
          <p:cNvCxnSpPr>
            <a:cxnSpLocks noChangeShapeType="1"/>
            <a:stCxn id="76816" idx="6"/>
            <a:endCxn id="76818" idx="3"/>
          </p:cNvCxnSpPr>
          <p:nvPr/>
        </p:nvCxnSpPr>
        <p:spPr bwMode="auto">
          <a:xfrm flipV="1">
            <a:off x="5572125" y="5730875"/>
            <a:ext cx="895350" cy="2857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6825" name="Text Box 25">
            <a:extLst>
              <a:ext uri="{FF2B5EF4-FFF2-40B4-BE49-F238E27FC236}">
                <a16:creationId xmlns:a16="http://schemas.microsoft.com/office/drawing/2014/main" id="{139DB971-5A07-40D7-B4F9-E8156429EB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5562600"/>
            <a:ext cx="20828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/>
              <a:t>Topological ordering of </a:t>
            </a:r>
            <a:r>
              <a:rPr lang="en-US" altLang="hi-IN" b="1" i="1"/>
              <a:t>G</a:t>
            </a:r>
          </a:p>
        </p:txBody>
      </p:sp>
      <p:sp>
        <p:nvSpPr>
          <p:cNvPr id="76826" name="Text Box 26">
            <a:extLst>
              <a:ext uri="{FF2B5EF4-FFF2-40B4-BE49-F238E27FC236}">
                <a16:creationId xmlns:a16="http://schemas.microsoft.com/office/drawing/2014/main" id="{071EAD91-4ECC-4B03-B109-BA8BB95CC5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5410200"/>
            <a:ext cx="420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 i="1"/>
              <a:t>v</a:t>
            </a:r>
            <a:r>
              <a:rPr lang="en-US" altLang="hi-IN" baseline="-25000"/>
              <a:t>1</a:t>
            </a:r>
          </a:p>
        </p:txBody>
      </p:sp>
      <p:sp>
        <p:nvSpPr>
          <p:cNvPr id="76827" name="Text Box 27">
            <a:extLst>
              <a:ext uri="{FF2B5EF4-FFF2-40B4-BE49-F238E27FC236}">
                <a16:creationId xmlns:a16="http://schemas.microsoft.com/office/drawing/2014/main" id="{878261F4-0FAD-404E-96AC-742547AD6D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4419600"/>
            <a:ext cx="420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 i="1"/>
              <a:t>v</a:t>
            </a:r>
            <a:r>
              <a:rPr lang="en-US" altLang="hi-IN" baseline="-25000"/>
              <a:t>2</a:t>
            </a:r>
          </a:p>
        </p:txBody>
      </p:sp>
      <p:sp>
        <p:nvSpPr>
          <p:cNvPr id="76828" name="Text Box 28">
            <a:extLst>
              <a:ext uri="{FF2B5EF4-FFF2-40B4-BE49-F238E27FC236}">
                <a16:creationId xmlns:a16="http://schemas.microsoft.com/office/drawing/2014/main" id="{F5512F9A-9320-4491-BFD9-D79BFF64A3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5029200"/>
            <a:ext cx="420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 i="1"/>
              <a:t>v</a:t>
            </a:r>
            <a:r>
              <a:rPr lang="en-US" altLang="hi-IN" baseline="-25000"/>
              <a:t>3</a:t>
            </a:r>
          </a:p>
        </p:txBody>
      </p:sp>
      <p:sp>
        <p:nvSpPr>
          <p:cNvPr id="76829" name="Text Box 29">
            <a:extLst>
              <a:ext uri="{FF2B5EF4-FFF2-40B4-BE49-F238E27FC236}">
                <a16:creationId xmlns:a16="http://schemas.microsoft.com/office/drawing/2014/main" id="{D99A6239-E8B1-4EE1-8473-9DB729A66C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3810000"/>
            <a:ext cx="420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 i="1"/>
              <a:t>v</a:t>
            </a:r>
            <a:r>
              <a:rPr lang="en-US" altLang="hi-IN" baseline="-25000"/>
              <a:t>4</a:t>
            </a:r>
          </a:p>
        </p:txBody>
      </p:sp>
      <p:sp>
        <p:nvSpPr>
          <p:cNvPr id="76830" name="Text Box 30">
            <a:extLst>
              <a:ext uri="{FF2B5EF4-FFF2-40B4-BE49-F238E27FC236}">
                <a16:creationId xmlns:a16="http://schemas.microsoft.com/office/drawing/2014/main" id="{F426CD15-6705-485F-9F30-6A5C78F37A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4800" y="3810000"/>
            <a:ext cx="420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b="1" i="1"/>
              <a:t>v</a:t>
            </a:r>
            <a:r>
              <a:rPr lang="en-US" altLang="hi-IN" baseline="-2500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A5958E-238A-4F08-B3A8-F08DAB360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51D9C-B6AB-428B-A110-91A75E744F65}" type="slidenum">
              <a:rPr lang="en-US" altLang="hi-IN" smtClean="0"/>
              <a:pPr/>
              <a:t>100</a:t>
            </a:fld>
            <a:endParaRPr lang="en-US" altLang="hi-IN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9223B-0D14-400A-AA23-13984ED34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 – Topological Ordering</a:t>
            </a:r>
            <a:endParaRPr lang="hi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ADB59C-EA6C-42E2-A969-20666D1C2A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i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2A3B55-A7BE-4CE1-85E0-6A6B65C05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981200"/>
            <a:ext cx="8344341" cy="354584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3B4658-A063-4177-9F95-D88475D24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51D9C-B6AB-428B-A110-91A75E744F65}" type="slidenum">
              <a:rPr lang="en-US" altLang="hi-IN" smtClean="0"/>
              <a:pPr/>
              <a:t>101</a:t>
            </a:fld>
            <a:endParaRPr lang="en-US" altLang="hi-IN"/>
          </a:p>
        </p:txBody>
      </p:sp>
    </p:spTree>
    <p:extLst>
      <p:ext uri="{BB962C8B-B14F-4D97-AF65-F5344CB8AC3E}">
        <p14:creationId xmlns:p14="http://schemas.microsoft.com/office/powerpoint/2010/main" val="2167232303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37203-B298-4671-B7E8-FC4E85AED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  <a:endParaRPr lang="hi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E89F5-7CD1-49C4-B152-D50DFEF8ED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i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DB8529-CBEC-4305-84B2-D581A86266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981200"/>
            <a:ext cx="6528189" cy="38385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AE79C41-5DC7-4318-8B50-E9BC77E2D0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1235" y="594360"/>
            <a:ext cx="2828925" cy="1647825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7812C4-8338-4538-8445-944348BCC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51D9C-B6AB-428B-A110-91A75E744F65}" type="slidenum">
              <a:rPr lang="en-US" altLang="hi-IN" smtClean="0"/>
              <a:pPr/>
              <a:t>102</a:t>
            </a:fld>
            <a:endParaRPr lang="en-US" altLang="hi-IN"/>
          </a:p>
        </p:txBody>
      </p:sp>
    </p:spTree>
    <p:extLst>
      <p:ext uri="{BB962C8B-B14F-4D97-AF65-F5344CB8AC3E}">
        <p14:creationId xmlns:p14="http://schemas.microsoft.com/office/powerpoint/2010/main" val="637827262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37203-B298-4671-B7E8-FC4E85AED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  <a:endParaRPr lang="hi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E89F5-7CD1-49C4-B152-D50DFEF8ED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i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7B23F6-6D56-4D89-9F86-147DD2F85C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44065"/>
            <a:ext cx="6916719" cy="398906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BC95181-4CE5-4B36-8DAF-6B113519D1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1235" y="563880"/>
            <a:ext cx="2828925" cy="1647825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4E952C-15A0-4967-BCBD-6B09670E8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51D9C-B6AB-428B-A110-91A75E744F65}" type="slidenum">
              <a:rPr lang="en-US" altLang="hi-IN" smtClean="0"/>
              <a:pPr/>
              <a:t>103</a:t>
            </a:fld>
            <a:endParaRPr lang="en-US" altLang="hi-IN"/>
          </a:p>
        </p:txBody>
      </p:sp>
    </p:spTree>
    <p:extLst>
      <p:ext uri="{BB962C8B-B14F-4D97-AF65-F5344CB8AC3E}">
        <p14:creationId xmlns:p14="http://schemas.microsoft.com/office/powerpoint/2010/main" val="1606635183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37203-B298-4671-B7E8-FC4E85AED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  <a:endParaRPr lang="hi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E89F5-7CD1-49C4-B152-D50DFEF8ED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i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C95181-4CE5-4B36-8DAF-6B113519D1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1235" y="594360"/>
            <a:ext cx="2828925" cy="16478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B559DE8-B4F1-442A-9E6F-83254C441F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822" y="2355533"/>
            <a:ext cx="8423338" cy="276510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72FCE-AB13-4C86-97C4-81E411539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51D9C-B6AB-428B-A110-91A75E744F65}" type="slidenum">
              <a:rPr lang="en-US" altLang="hi-IN" smtClean="0"/>
              <a:pPr/>
              <a:t>104</a:t>
            </a:fld>
            <a:endParaRPr lang="en-US" altLang="hi-IN"/>
          </a:p>
        </p:txBody>
      </p:sp>
    </p:spTree>
    <p:extLst>
      <p:ext uri="{BB962C8B-B14F-4D97-AF65-F5344CB8AC3E}">
        <p14:creationId xmlns:p14="http://schemas.microsoft.com/office/powerpoint/2010/main" val="1103519542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134B3-0A88-46F8-B01B-6713EA771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</a:t>
            </a:r>
            <a:endParaRPr lang="hi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A1622-54A0-4C37-A4C0-326A8B792B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A62F18-7C18-46CB-81F9-1080AE605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51D9C-B6AB-428B-A110-91A75E744F65}" type="slidenum">
              <a:rPr lang="en-US" altLang="hi-IN" smtClean="0"/>
              <a:pPr/>
              <a:t>105</a:t>
            </a:fld>
            <a:endParaRPr lang="en-US" altLang="hi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7733E1-9253-465D-AD22-9DEB47DC3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64360"/>
            <a:ext cx="7010400" cy="4657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73825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F0630-97B0-4DF0-988F-1B85E407B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</a:t>
            </a:r>
            <a:endParaRPr lang="hi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B63EAA-A848-4001-920D-82F8B37343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EBF339-DBA0-46E4-AC3E-DB91F8D33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51D9C-B6AB-428B-A110-91A75E744F65}" type="slidenum">
              <a:rPr lang="en-US" altLang="hi-IN" smtClean="0"/>
              <a:pPr/>
              <a:t>106</a:t>
            </a:fld>
            <a:endParaRPr lang="en-US" altLang="hi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EB1B4B-4A12-44C7-9F30-FCD3BC4B73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87" y="1707515"/>
            <a:ext cx="8658225" cy="435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313562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1C21F1AF-D36A-4C40-AA77-3FFB516F52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i-IN" dirty="0"/>
              <a:t>Example 2 - Topological Sort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C9BE1DD-F51A-4205-9C9C-FF95FA60915F}"/>
              </a:ext>
            </a:extLst>
          </p:cNvPr>
          <p:cNvGrpSpPr/>
          <p:nvPr/>
        </p:nvGrpSpPr>
        <p:grpSpPr>
          <a:xfrm>
            <a:off x="1371600" y="2212975"/>
            <a:ext cx="3800475" cy="4416425"/>
            <a:chOff x="1371600" y="1066800"/>
            <a:chExt cx="3800475" cy="4416425"/>
          </a:xfrm>
        </p:grpSpPr>
        <p:sp>
          <p:nvSpPr>
            <p:cNvPr id="77827" name="Oval 63">
              <a:extLst>
                <a:ext uri="{FF2B5EF4-FFF2-40B4-BE49-F238E27FC236}">
                  <a16:creationId xmlns:a16="http://schemas.microsoft.com/office/drawing/2014/main" id="{7FD80127-AB66-4486-8221-DFC08FC26CE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71600" y="4652963"/>
              <a:ext cx="301625" cy="30162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hi-IN" sz="1400" b="1">
                  <a:latin typeface="Courier New" panose="02070309020205020404" pitchFamily="49" charset="0"/>
                </a:rPr>
                <a:t>F</a:t>
              </a:r>
            </a:p>
          </p:txBody>
        </p:sp>
        <p:sp>
          <p:nvSpPr>
            <p:cNvPr id="77828" name="Oval 64">
              <a:extLst>
                <a:ext uri="{FF2B5EF4-FFF2-40B4-BE49-F238E27FC236}">
                  <a16:creationId xmlns:a16="http://schemas.microsoft.com/office/drawing/2014/main" id="{CD4E936B-8006-48F5-AB21-81516B20144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74775" y="1066800"/>
              <a:ext cx="301625" cy="30321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hi-IN" sz="1400" b="1">
                  <a:latin typeface="Courier New" panose="02070309020205020404" pitchFamily="49" charset="0"/>
                </a:rPr>
                <a:t>C</a:t>
              </a:r>
            </a:p>
          </p:txBody>
        </p:sp>
        <p:sp>
          <p:nvSpPr>
            <p:cNvPr id="77829" name="Oval 65">
              <a:extLst>
                <a:ext uri="{FF2B5EF4-FFF2-40B4-BE49-F238E27FC236}">
                  <a16:creationId xmlns:a16="http://schemas.microsoft.com/office/drawing/2014/main" id="{38B05118-6A66-4FE7-87CE-75FDA4FE164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159000" y="2616200"/>
              <a:ext cx="301625" cy="30162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hi-IN" sz="1400" b="1">
                  <a:latin typeface="Courier New" panose="02070309020205020404" pitchFamily="49" charset="0"/>
                </a:rPr>
                <a:t>G</a:t>
              </a:r>
            </a:p>
          </p:txBody>
        </p:sp>
        <p:cxnSp>
          <p:nvCxnSpPr>
            <p:cNvPr id="77830" name="AutoShape 66">
              <a:extLst>
                <a:ext uri="{FF2B5EF4-FFF2-40B4-BE49-F238E27FC236}">
                  <a16:creationId xmlns:a16="http://schemas.microsoft.com/office/drawing/2014/main" id="{C35CB88F-1215-4197-B8CA-66ED4204A6BD}"/>
                </a:ext>
              </a:extLst>
            </p:cNvPr>
            <p:cNvCxnSpPr>
              <a:cxnSpLocks noChangeShapeType="1"/>
              <a:stCxn id="77827" idx="0"/>
              <a:endCxn id="77828" idx="4"/>
            </p:cNvCxnSpPr>
            <p:nvPr/>
          </p:nvCxnSpPr>
          <p:spPr bwMode="auto">
            <a:xfrm flipV="1">
              <a:off x="1522413" y="1370013"/>
              <a:ext cx="3175" cy="328295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triangl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7831" name="Oval 67">
              <a:extLst>
                <a:ext uri="{FF2B5EF4-FFF2-40B4-BE49-F238E27FC236}">
                  <a16:creationId xmlns:a16="http://schemas.microsoft.com/office/drawing/2014/main" id="{74601554-676F-4A44-A444-2BD3CD8CEF5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44900" y="2616200"/>
              <a:ext cx="301625" cy="30003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hi-IN" sz="1400" b="1">
                  <a:latin typeface="Courier New" panose="02070309020205020404" pitchFamily="49" charset="0"/>
                </a:rPr>
                <a:t>A</a:t>
              </a:r>
            </a:p>
          </p:txBody>
        </p:sp>
        <p:cxnSp>
          <p:nvCxnSpPr>
            <p:cNvPr id="77832" name="AutoShape 68">
              <a:extLst>
                <a:ext uri="{FF2B5EF4-FFF2-40B4-BE49-F238E27FC236}">
                  <a16:creationId xmlns:a16="http://schemas.microsoft.com/office/drawing/2014/main" id="{9DE452E4-ED8C-449B-BE7C-723B1BDEE9B7}"/>
                </a:ext>
              </a:extLst>
            </p:cNvPr>
            <p:cNvCxnSpPr>
              <a:cxnSpLocks noChangeShapeType="1"/>
              <a:stCxn id="77828" idx="5"/>
              <a:endCxn id="77831" idx="1"/>
            </p:cNvCxnSpPr>
            <p:nvPr/>
          </p:nvCxnSpPr>
          <p:spPr bwMode="auto">
            <a:xfrm>
              <a:off x="1631950" y="1325563"/>
              <a:ext cx="2057400" cy="133508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7833" name="Oval 69">
              <a:extLst>
                <a:ext uri="{FF2B5EF4-FFF2-40B4-BE49-F238E27FC236}">
                  <a16:creationId xmlns:a16="http://schemas.microsoft.com/office/drawing/2014/main" id="{A701D1C4-BA73-414C-98F9-A8E8A988AE9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870450" y="2616200"/>
              <a:ext cx="301625" cy="30162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hi-IN" sz="1400" b="1">
                  <a:latin typeface="Courier New" panose="02070309020205020404" pitchFamily="49" charset="0"/>
                </a:rPr>
                <a:t>B</a:t>
              </a:r>
            </a:p>
          </p:txBody>
        </p:sp>
        <p:cxnSp>
          <p:nvCxnSpPr>
            <p:cNvPr id="77834" name="AutoShape 70">
              <a:extLst>
                <a:ext uri="{FF2B5EF4-FFF2-40B4-BE49-F238E27FC236}">
                  <a16:creationId xmlns:a16="http://schemas.microsoft.com/office/drawing/2014/main" id="{3C56DDB9-D070-49E3-A7A8-5F0DAADC7E46}"/>
                </a:ext>
              </a:extLst>
            </p:cNvPr>
            <p:cNvCxnSpPr>
              <a:cxnSpLocks noChangeShapeType="1"/>
              <a:stCxn id="77828" idx="6"/>
              <a:endCxn id="77833" idx="1"/>
            </p:cNvCxnSpPr>
            <p:nvPr/>
          </p:nvCxnSpPr>
          <p:spPr bwMode="auto">
            <a:xfrm>
              <a:off x="1676400" y="1219200"/>
              <a:ext cx="3238500" cy="144145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7835" name="Oval 71">
              <a:extLst>
                <a:ext uri="{FF2B5EF4-FFF2-40B4-BE49-F238E27FC236}">
                  <a16:creationId xmlns:a16="http://schemas.microsoft.com/office/drawing/2014/main" id="{6543FD19-5CD4-4677-A319-16C14E2E04F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159000" y="3603625"/>
              <a:ext cx="301625" cy="30162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hi-IN" sz="1400" b="1">
                  <a:latin typeface="Courier New" panose="02070309020205020404" pitchFamily="49" charset="0"/>
                </a:rPr>
                <a:t>D</a:t>
              </a:r>
            </a:p>
          </p:txBody>
        </p:sp>
        <p:sp>
          <p:nvSpPr>
            <p:cNvPr id="77836" name="Oval 72">
              <a:extLst>
                <a:ext uri="{FF2B5EF4-FFF2-40B4-BE49-F238E27FC236}">
                  <a16:creationId xmlns:a16="http://schemas.microsoft.com/office/drawing/2014/main" id="{712F4B11-5E6C-4A43-B3DA-DADD8C79658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44900" y="3603625"/>
              <a:ext cx="301625" cy="29845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hi-IN" sz="1400" b="1">
                  <a:latin typeface="Courier New" panose="02070309020205020404" pitchFamily="49" charset="0"/>
                </a:rPr>
                <a:t>E</a:t>
              </a:r>
            </a:p>
          </p:txBody>
        </p:sp>
        <p:cxnSp>
          <p:nvCxnSpPr>
            <p:cNvPr id="77837" name="AutoShape 73">
              <a:extLst>
                <a:ext uri="{FF2B5EF4-FFF2-40B4-BE49-F238E27FC236}">
                  <a16:creationId xmlns:a16="http://schemas.microsoft.com/office/drawing/2014/main" id="{CD17F4A6-2D00-4C34-980A-43FB6EABFE6B}"/>
                </a:ext>
              </a:extLst>
            </p:cNvPr>
            <p:cNvCxnSpPr>
              <a:cxnSpLocks noChangeShapeType="1"/>
              <a:stCxn id="77828" idx="4"/>
              <a:endCxn id="77829" idx="1"/>
            </p:cNvCxnSpPr>
            <p:nvPr/>
          </p:nvCxnSpPr>
          <p:spPr bwMode="auto">
            <a:xfrm>
              <a:off x="1525588" y="1370013"/>
              <a:ext cx="677862" cy="129063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7838" name="AutoShape 74">
              <a:extLst>
                <a:ext uri="{FF2B5EF4-FFF2-40B4-BE49-F238E27FC236}">
                  <a16:creationId xmlns:a16="http://schemas.microsoft.com/office/drawing/2014/main" id="{D51FF271-1E91-4F2A-9CA1-D81A3BC0C57B}"/>
                </a:ext>
              </a:extLst>
            </p:cNvPr>
            <p:cNvCxnSpPr>
              <a:cxnSpLocks noChangeShapeType="1"/>
              <a:stCxn id="77836" idx="2"/>
              <a:endCxn id="77835" idx="6"/>
            </p:cNvCxnSpPr>
            <p:nvPr/>
          </p:nvCxnSpPr>
          <p:spPr bwMode="auto">
            <a:xfrm flipH="1">
              <a:off x="2460625" y="3752850"/>
              <a:ext cx="1184275" cy="15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triangl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7839" name="AutoShape 75">
              <a:extLst>
                <a:ext uri="{FF2B5EF4-FFF2-40B4-BE49-F238E27FC236}">
                  <a16:creationId xmlns:a16="http://schemas.microsoft.com/office/drawing/2014/main" id="{1FC12F33-5669-4A84-B30F-3D42A7A6F72E}"/>
                </a:ext>
              </a:extLst>
            </p:cNvPr>
            <p:cNvCxnSpPr>
              <a:cxnSpLocks noChangeShapeType="1"/>
              <a:stCxn id="77836" idx="3"/>
              <a:endCxn id="77827" idx="6"/>
            </p:cNvCxnSpPr>
            <p:nvPr/>
          </p:nvCxnSpPr>
          <p:spPr bwMode="auto">
            <a:xfrm flipH="1">
              <a:off x="1673225" y="3857625"/>
              <a:ext cx="2016125" cy="94615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7840" name="AutoShape 76">
              <a:extLst>
                <a:ext uri="{FF2B5EF4-FFF2-40B4-BE49-F238E27FC236}">
                  <a16:creationId xmlns:a16="http://schemas.microsoft.com/office/drawing/2014/main" id="{87D8FDBB-9C79-47E8-9EFF-A816398F6620}"/>
                </a:ext>
              </a:extLst>
            </p:cNvPr>
            <p:cNvCxnSpPr>
              <a:cxnSpLocks noChangeShapeType="1"/>
              <a:stCxn id="77827" idx="7"/>
              <a:endCxn id="77835" idx="3"/>
            </p:cNvCxnSpPr>
            <p:nvPr/>
          </p:nvCxnSpPr>
          <p:spPr bwMode="auto">
            <a:xfrm flipV="1">
              <a:off x="1628775" y="3860800"/>
              <a:ext cx="574675" cy="83661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triangl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7841" name="AutoShape 77">
              <a:extLst>
                <a:ext uri="{FF2B5EF4-FFF2-40B4-BE49-F238E27FC236}">
                  <a16:creationId xmlns:a16="http://schemas.microsoft.com/office/drawing/2014/main" id="{6DC7D91B-991B-4270-BD62-67F633EDB924}"/>
                </a:ext>
              </a:extLst>
            </p:cNvPr>
            <p:cNvCxnSpPr>
              <a:cxnSpLocks noChangeShapeType="1"/>
              <a:stCxn id="77836" idx="7"/>
              <a:endCxn id="77833" idx="3"/>
            </p:cNvCxnSpPr>
            <p:nvPr/>
          </p:nvCxnSpPr>
          <p:spPr bwMode="auto">
            <a:xfrm flipV="1">
              <a:off x="3902075" y="2873375"/>
              <a:ext cx="1012825" cy="7747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triangl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7842" name="AutoShape 78">
              <a:extLst>
                <a:ext uri="{FF2B5EF4-FFF2-40B4-BE49-F238E27FC236}">
                  <a16:creationId xmlns:a16="http://schemas.microsoft.com/office/drawing/2014/main" id="{3EC57623-A565-44BA-887D-6E62F7F0D9BD}"/>
                </a:ext>
              </a:extLst>
            </p:cNvPr>
            <p:cNvCxnSpPr>
              <a:cxnSpLocks noChangeShapeType="1"/>
              <a:stCxn id="77835" idx="7"/>
              <a:endCxn id="77831" idx="3"/>
            </p:cNvCxnSpPr>
            <p:nvPr/>
          </p:nvCxnSpPr>
          <p:spPr bwMode="auto">
            <a:xfrm flipV="1">
              <a:off x="2416175" y="2871788"/>
              <a:ext cx="1273175" cy="77628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triangl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7843" name="Oval 79">
              <a:extLst>
                <a:ext uri="{FF2B5EF4-FFF2-40B4-BE49-F238E27FC236}">
                  <a16:creationId xmlns:a16="http://schemas.microsoft.com/office/drawing/2014/main" id="{8B4AFC80-BA69-46C4-A5BA-78BDFB3BB6E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590800" y="5181600"/>
              <a:ext cx="301625" cy="30162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hi-IN" sz="1400" b="1">
                  <a:latin typeface="Courier New" panose="02070309020205020404" pitchFamily="49" charset="0"/>
                </a:rPr>
                <a:t>H</a:t>
              </a:r>
            </a:p>
          </p:txBody>
        </p:sp>
        <p:cxnSp>
          <p:nvCxnSpPr>
            <p:cNvPr id="77844" name="AutoShape 80">
              <a:extLst>
                <a:ext uri="{FF2B5EF4-FFF2-40B4-BE49-F238E27FC236}">
                  <a16:creationId xmlns:a16="http://schemas.microsoft.com/office/drawing/2014/main" id="{625D5EEF-F4C8-475C-A3D6-2DA4365B6164}"/>
                </a:ext>
              </a:extLst>
            </p:cNvPr>
            <p:cNvCxnSpPr>
              <a:cxnSpLocks noChangeShapeType="1"/>
              <a:stCxn id="77843" idx="2"/>
              <a:endCxn id="77827" idx="5"/>
            </p:cNvCxnSpPr>
            <p:nvPr/>
          </p:nvCxnSpPr>
          <p:spPr bwMode="auto">
            <a:xfrm flipH="1" flipV="1">
              <a:off x="1628775" y="4910138"/>
              <a:ext cx="962025" cy="42227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triangl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7845" name="AutoShape 81">
              <a:extLst>
                <a:ext uri="{FF2B5EF4-FFF2-40B4-BE49-F238E27FC236}">
                  <a16:creationId xmlns:a16="http://schemas.microsoft.com/office/drawing/2014/main" id="{C0E9B971-EE09-4C0C-9196-BF4C410BA1E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795713" y="2916238"/>
              <a:ext cx="0" cy="68738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triangl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27C642-0123-4866-AD1F-79096D876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107</a:t>
            </a:fld>
            <a:endParaRPr lang="en-US" altLang="hi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F96030-9D02-4D71-A0AE-B302F47EE9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8488" y="1683703"/>
            <a:ext cx="2333625" cy="41052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D4EFF-B3A5-4AAA-BFD1-2F91A5FC9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i-IN" dirty="0"/>
              <a:t>Example 2 - Topological Sort</a:t>
            </a:r>
            <a:endParaRPr lang="hi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948344-3EC4-4E37-9546-8EAD9B640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108</a:t>
            </a:fld>
            <a:endParaRPr lang="en-US" altLang="hi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189533-AF1F-4584-B612-1700FCD403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17498"/>
            <a:ext cx="9144000" cy="16115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0BE433F-340C-4AD3-8BFE-F3606C1BD3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" y="3441956"/>
            <a:ext cx="8296275" cy="15906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F67237A-7890-4B41-B819-7FE21D5E14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5055747"/>
            <a:ext cx="8410575" cy="16764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C6E0B62-FA03-4209-AC21-F4BE6D1547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6641" y="2607868"/>
            <a:ext cx="1692559" cy="2802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478003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D4EFF-B3A5-4AAA-BFD1-2F91A5FC9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i-IN" dirty="0"/>
              <a:t>Example 2 - Topological Sort</a:t>
            </a:r>
            <a:endParaRPr lang="hi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948344-3EC4-4E37-9546-8EAD9B640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109</a:t>
            </a:fld>
            <a:endParaRPr lang="en-US" altLang="hi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F4A630-072E-4617-AAFE-5BC3840D4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78623"/>
            <a:ext cx="9144000" cy="14503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242636A-5FE0-4E21-A43D-707BD4CE17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3454400"/>
            <a:ext cx="1520808" cy="2557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975567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D4EFF-B3A5-4AAA-BFD1-2F91A5FC9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i-IN" dirty="0"/>
              <a:t>Example 2 - Topological Sort</a:t>
            </a:r>
            <a:endParaRPr lang="hi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948344-3EC4-4E37-9546-8EAD9B640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110</a:t>
            </a:fld>
            <a:endParaRPr lang="en-US" altLang="hi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47135D-13B6-499C-B06D-E0C4C48DEF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00"/>
            <a:ext cx="9144000" cy="11699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8E0F4B-40C5-4EA9-8591-8A210504CF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5469" y="2751136"/>
            <a:ext cx="2096908" cy="369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634189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D4EFF-B3A5-4AAA-BFD1-2F91A5FC9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i-IN" dirty="0"/>
              <a:t>Example 2 - Topological Sort</a:t>
            </a:r>
            <a:endParaRPr lang="hi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948344-3EC4-4E37-9546-8EAD9B640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111</a:t>
            </a:fld>
            <a:endParaRPr lang="en-US" altLang="hi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40C5E5-A91B-47AA-AAFE-E559AC0726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3810000" cy="30194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7DEA910-9170-4810-8EA5-00A0CAA2A6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0" y="4076700"/>
            <a:ext cx="4343400" cy="2443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430869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D4EFF-B3A5-4AAA-BFD1-2F91A5FC9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i-IN" dirty="0"/>
              <a:t>Example 2 - Topological Sort</a:t>
            </a:r>
            <a:endParaRPr lang="hi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948344-3EC4-4E37-9546-8EAD9B640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112</a:t>
            </a:fld>
            <a:endParaRPr lang="en-US" altLang="hi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E01E3D-E286-4FD7-B766-0F5477BA1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57400"/>
            <a:ext cx="9144000" cy="10201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B1C0900-E866-4F97-A7BC-ED1262B02E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962400"/>
            <a:ext cx="4343400" cy="1734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06490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1C21F1AF-D36A-4C40-AA77-3FFB516F52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i-IN" dirty="0"/>
              <a:t>Example 2 - Topological Sort (Alternate Way)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C9BE1DD-F51A-4205-9C9C-FF95FA60915F}"/>
              </a:ext>
            </a:extLst>
          </p:cNvPr>
          <p:cNvGrpSpPr/>
          <p:nvPr/>
        </p:nvGrpSpPr>
        <p:grpSpPr>
          <a:xfrm>
            <a:off x="1371600" y="2212975"/>
            <a:ext cx="3800475" cy="4416425"/>
            <a:chOff x="1371600" y="1066800"/>
            <a:chExt cx="3800475" cy="4416425"/>
          </a:xfrm>
        </p:grpSpPr>
        <p:sp>
          <p:nvSpPr>
            <p:cNvPr id="77827" name="Oval 63">
              <a:extLst>
                <a:ext uri="{FF2B5EF4-FFF2-40B4-BE49-F238E27FC236}">
                  <a16:creationId xmlns:a16="http://schemas.microsoft.com/office/drawing/2014/main" id="{7FD80127-AB66-4486-8221-DFC08FC26CE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71600" y="4652963"/>
              <a:ext cx="301625" cy="30162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hi-IN" sz="1400" b="1">
                  <a:latin typeface="Courier New" panose="02070309020205020404" pitchFamily="49" charset="0"/>
                </a:rPr>
                <a:t>F</a:t>
              </a:r>
            </a:p>
          </p:txBody>
        </p:sp>
        <p:sp>
          <p:nvSpPr>
            <p:cNvPr id="77828" name="Oval 64">
              <a:extLst>
                <a:ext uri="{FF2B5EF4-FFF2-40B4-BE49-F238E27FC236}">
                  <a16:creationId xmlns:a16="http://schemas.microsoft.com/office/drawing/2014/main" id="{CD4E936B-8006-48F5-AB21-81516B20144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74775" y="1066800"/>
              <a:ext cx="301625" cy="30321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hi-IN" sz="1400" b="1">
                  <a:latin typeface="Courier New" panose="02070309020205020404" pitchFamily="49" charset="0"/>
                </a:rPr>
                <a:t>C</a:t>
              </a:r>
            </a:p>
          </p:txBody>
        </p:sp>
        <p:sp>
          <p:nvSpPr>
            <p:cNvPr id="77829" name="Oval 65">
              <a:extLst>
                <a:ext uri="{FF2B5EF4-FFF2-40B4-BE49-F238E27FC236}">
                  <a16:creationId xmlns:a16="http://schemas.microsoft.com/office/drawing/2014/main" id="{38B05118-6A66-4FE7-87CE-75FDA4FE164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159000" y="2616200"/>
              <a:ext cx="301625" cy="30162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hi-IN" sz="1400" b="1">
                  <a:latin typeface="Courier New" panose="02070309020205020404" pitchFamily="49" charset="0"/>
                </a:rPr>
                <a:t>G</a:t>
              </a:r>
            </a:p>
          </p:txBody>
        </p:sp>
        <p:cxnSp>
          <p:nvCxnSpPr>
            <p:cNvPr id="77830" name="AutoShape 66">
              <a:extLst>
                <a:ext uri="{FF2B5EF4-FFF2-40B4-BE49-F238E27FC236}">
                  <a16:creationId xmlns:a16="http://schemas.microsoft.com/office/drawing/2014/main" id="{C35CB88F-1215-4197-B8CA-66ED4204A6BD}"/>
                </a:ext>
              </a:extLst>
            </p:cNvPr>
            <p:cNvCxnSpPr>
              <a:cxnSpLocks noChangeShapeType="1"/>
              <a:stCxn id="77827" idx="0"/>
              <a:endCxn id="77828" idx="4"/>
            </p:cNvCxnSpPr>
            <p:nvPr/>
          </p:nvCxnSpPr>
          <p:spPr bwMode="auto">
            <a:xfrm flipV="1">
              <a:off x="1522413" y="1370013"/>
              <a:ext cx="3175" cy="328295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triangl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7831" name="Oval 67">
              <a:extLst>
                <a:ext uri="{FF2B5EF4-FFF2-40B4-BE49-F238E27FC236}">
                  <a16:creationId xmlns:a16="http://schemas.microsoft.com/office/drawing/2014/main" id="{74601554-676F-4A44-A444-2BD3CD8CEF5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44900" y="2616200"/>
              <a:ext cx="301625" cy="30003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hi-IN" sz="1400" b="1">
                  <a:latin typeface="Courier New" panose="02070309020205020404" pitchFamily="49" charset="0"/>
                </a:rPr>
                <a:t>A</a:t>
              </a:r>
            </a:p>
          </p:txBody>
        </p:sp>
        <p:cxnSp>
          <p:nvCxnSpPr>
            <p:cNvPr id="77832" name="AutoShape 68">
              <a:extLst>
                <a:ext uri="{FF2B5EF4-FFF2-40B4-BE49-F238E27FC236}">
                  <a16:creationId xmlns:a16="http://schemas.microsoft.com/office/drawing/2014/main" id="{9DE452E4-ED8C-449B-BE7C-723B1BDEE9B7}"/>
                </a:ext>
              </a:extLst>
            </p:cNvPr>
            <p:cNvCxnSpPr>
              <a:cxnSpLocks noChangeShapeType="1"/>
              <a:stCxn id="77828" idx="5"/>
              <a:endCxn id="77831" idx="1"/>
            </p:cNvCxnSpPr>
            <p:nvPr/>
          </p:nvCxnSpPr>
          <p:spPr bwMode="auto">
            <a:xfrm>
              <a:off x="1631950" y="1325563"/>
              <a:ext cx="2057400" cy="133508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7833" name="Oval 69">
              <a:extLst>
                <a:ext uri="{FF2B5EF4-FFF2-40B4-BE49-F238E27FC236}">
                  <a16:creationId xmlns:a16="http://schemas.microsoft.com/office/drawing/2014/main" id="{A701D1C4-BA73-414C-98F9-A8E8A988AE9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870450" y="2616200"/>
              <a:ext cx="301625" cy="30162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hi-IN" sz="1400" b="1">
                  <a:latin typeface="Courier New" panose="02070309020205020404" pitchFamily="49" charset="0"/>
                </a:rPr>
                <a:t>B</a:t>
              </a:r>
            </a:p>
          </p:txBody>
        </p:sp>
        <p:cxnSp>
          <p:nvCxnSpPr>
            <p:cNvPr id="77834" name="AutoShape 70">
              <a:extLst>
                <a:ext uri="{FF2B5EF4-FFF2-40B4-BE49-F238E27FC236}">
                  <a16:creationId xmlns:a16="http://schemas.microsoft.com/office/drawing/2014/main" id="{3C56DDB9-D070-49E3-A7A8-5F0DAADC7E46}"/>
                </a:ext>
              </a:extLst>
            </p:cNvPr>
            <p:cNvCxnSpPr>
              <a:cxnSpLocks noChangeShapeType="1"/>
              <a:stCxn id="77828" idx="6"/>
              <a:endCxn id="77833" idx="1"/>
            </p:cNvCxnSpPr>
            <p:nvPr/>
          </p:nvCxnSpPr>
          <p:spPr bwMode="auto">
            <a:xfrm>
              <a:off x="1676400" y="1219200"/>
              <a:ext cx="3238500" cy="144145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7835" name="Oval 71">
              <a:extLst>
                <a:ext uri="{FF2B5EF4-FFF2-40B4-BE49-F238E27FC236}">
                  <a16:creationId xmlns:a16="http://schemas.microsoft.com/office/drawing/2014/main" id="{6543FD19-5CD4-4677-A319-16C14E2E04F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159000" y="3603625"/>
              <a:ext cx="301625" cy="30162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hi-IN" sz="1400" b="1">
                  <a:latin typeface="Courier New" panose="02070309020205020404" pitchFamily="49" charset="0"/>
                </a:rPr>
                <a:t>D</a:t>
              </a:r>
            </a:p>
          </p:txBody>
        </p:sp>
        <p:sp>
          <p:nvSpPr>
            <p:cNvPr id="77836" name="Oval 72">
              <a:extLst>
                <a:ext uri="{FF2B5EF4-FFF2-40B4-BE49-F238E27FC236}">
                  <a16:creationId xmlns:a16="http://schemas.microsoft.com/office/drawing/2014/main" id="{712F4B11-5E6C-4A43-B3DA-DADD8C79658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44900" y="3603625"/>
              <a:ext cx="301625" cy="29845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hi-IN" sz="1400" b="1">
                  <a:latin typeface="Courier New" panose="02070309020205020404" pitchFamily="49" charset="0"/>
                </a:rPr>
                <a:t>E</a:t>
              </a:r>
            </a:p>
          </p:txBody>
        </p:sp>
        <p:cxnSp>
          <p:nvCxnSpPr>
            <p:cNvPr id="77837" name="AutoShape 73">
              <a:extLst>
                <a:ext uri="{FF2B5EF4-FFF2-40B4-BE49-F238E27FC236}">
                  <a16:creationId xmlns:a16="http://schemas.microsoft.com/office/drawing/2014/main" id="{CD17F4A6-2D00-4C34-980A-43FB6EABFE6B}"/>
                </a:ext>
              </a:extLst>
            </p:cNvPr>
            <p:cNvCxnSpPr>
              <a:cxnSpLocks noChangeShapeType="1"/>
              <a:stCxn id="77828" idx="4"/>
              <a:endCxn id="77829" idx="1"/>
            </p:cNvCxnSpPr>
            <p:nvPr/>
          </p:nvCxnSpPr>
          <p:spPr bwMode="auto">
            <a:xfrm>
              <a:off x="1525588" y="1370013"/>
              <a:ext cx="677862" cy="129063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7838" name="AutoShape 74">
              <a:extLst>
                <a:ext uri="{FF2B5EF4-FFF2-40B4-BE49-F238E27FC236}">
                  <a16:creationId xmlns:a16="http://schemas.microsoft.com/office/drawing/2014/main" id="{D51FF271-1E91-4F2A-9CA1-D81A3BC0C57B}"/>
                </a:ext>
              </a:extLst>
            </p:cNvPr>
            <p:cNvCxnSpPr>
              <a:cxnSpLocks noChangeShapeType="1"/>
              <a:stCxn id="77836" idx="2"/>
              <a:endCxn id="77835" idx="6"/>
            </p:cNvCxnSpPr>
            <p:nvPr/>
          </p:nvCxnSpPr>
          <p:spPr bwMode="auto">
            <a:xfrm flipH="1">
              <a:off x="2460625" y="3752850"/>
              <a:ext cx="1184275" cy="15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triangl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7839" name="AutoShape 75">
              <a:extLst>
                <a:ext uri="{FF2B5EF4-FFF2-40B4-BE49-F238E27FC236}">
                  <a16:creationId xmlns:a16="http://schemas.microsoft.com/office/drawing/2014/main" id="{1FC12F33-5669-4A84-B30F-3D42A7A6F72E}"/>
                </a:ext>
              </a:extLst>
            </p:cNvPr>
            <p:cNvCxnSpPr>
              <a:cxnSpLocks noChangeShapeType="1"/>
              <a:stCxn id="77836" idx="3"/>
              <a:endCxn id="77827" idx="6"/>
            </p:cNvCxnSpPr>
            <p:nvPr/>
          </p:nvCxnSpPr>
          <p:spPr bwMode="auto">
            <a:xfrm flipH="1">
              <a:off x="1673225" y="3857625"/>
              <a:ext cx="2016125" cy="94615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7840" name="AutoShape 76">
              <a:extLst>
                <a:ext uri="{FF2B5EF4-FFF2-40B4-BE49-F238E27FC236}">
                  <a16:creationId xmlns:a16="http://schemas.microsoft.com/office/drawing/2014/main" id="{87D8FDBB-9C79-47E8-9EFF-A816398F6620}"/>
                </a:ext>
              </a:extLst>
            </p:cNvPr>
            <p:cNvCxnSpPr>
              <a:cxnSpLocks noChangeShapeType="1"/>
              <a:stCxn id="77827" idx="7"/>
              <a:endCxn id="77835" idx="3"/>
            </p:cNvCxnSpPr>
            <p:nvPr/>
          </p:nvCxnSpPr>
          <p:spPr bwMode="auto">
            <a:xfrm flipV="1">
              <a:off x="1628775" y="3860800"/>
              <a:ext cx="574675" cy="83661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triangl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7841" name="AutoShape 77">
              <a:extLst>
                <a:ext uri="{FF2B5EF4-FFF2-40B4-BE49-F238E27FC236}">
                  <a16:creationId xmlns:a16="http://schemas.microsoft.com/office/drawing/2014/main" id="{6DC7D91B-991B-4270-BD62-67F633EDB924}"/>
                </a:ext>
              </a:extLst>
            </p:cNvPr>
            <p:cNvCxnSpPr>
              <a:cxnSpLocks noChangeShapeType="1"/>
              <a:stCxn id="77836" idx="7"/>
              <a:endCxn id="77833" idx="3"/>
            </p:cNvCxnSpPr>
            <p:nvPr/>
          </p:nvCxnSpPr>
          <p:spPr bwMode="auto">
            <a:xfrm flipV="1">
              <a:off x="3902075" y="2873375"/>
              <a:ext cx="1012825" cy="7747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triangl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7842" name="AutoShape 78">
              <a:extLst>
                <a:ext uri="{FF2B5EF4-FFF2-40B4-BE49-F238E27FC236}">
                  <a16:creationId xmlns:a16="http://schemas.microsoft.com/office/drawing/2014/main" id="{3EC57623-A565-44BA-887D-6E62F7F0D9BD}"/>
                </a:ext>
              </a:extLst>
            </p:cNvPr>
            <p:cNvCxnSpPr>
              <a:cxnSpLocks noChangeShapeType="1"/>
              <a:stCxn id="77835" idx="7"/>
              <a:endCxn id="77831" idx="3"/>
            </p:cNvCxnSpPr>
            <p:nvPr/>
          </p:nvCxnSpPr>
          <p:spPr bwMode="auto">
            <a:xfrm flipV="1">
              <a:off x="2416175" y="2871788"/>
              <a:ext cx="1273175" cy="77628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triangl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7843" name="Oval 79">
              <a:extLst>
                <a:ext uri="{FF2B5EF4-FFF2-40B4-BE49-F238E27FC236}">
                  <a16:creationId xmlns:a16="http://schemas.microsoft.com/office/drawing/2014/main" id="{8B4AFC80-BA69-46C4-A5BA-78BDFB3BB6E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590800" y="5181600"/>
              <a:ext cx="301625" cy="30162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hi-IN" sz="1400" b="1">
                  <a:latin typeface="Courier New" panose="02070309020205020404" pitchFamily="49" charset="0"/>
                </a:rPr>
                <a:t>H</a:t>
              </a:r>
            </a:p>
          </p:txBody>
        </p:sp>
        <p:cxnSp>
          <p:nvCxnSpPr>
            <p:cNvPr id="77844" name="AutoShape 80">
              <a:extLst>
                <a:ext uri="{FF2B5EF4-FFF2-40B4-BE49-F238E27FC236}">
                  <a16:creationId xmlns:a16="http://schemas.microsoft.com/office/drawing/2014/main" id="{625D5EEF-F4C8-475C-A3D6-2DA4365B6164}"/>
                </a:ext>
              </a:extLst>
            </p:cNvPr>
            <p:cNvCxnSpPr>
              <a:cxnSpLocks noChangeShapeType="1"/>
              <a:stCxn id="77843" idx="2"/>
              <a:endCxn id="77827" idx="5"/>
            </p:cNvCxnSpPr>
            <p:nvPr/>
          </p:nvCxnSpPr>
          <p:spPr bwMode="auto">
            <a:xfrm flipH="1" flipV="1">
              <a:off x="1628775" y="4910138"/>
              <a:ext cx="962025" cy="42227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triangl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7845" name="AutoShape 81">
              <a:extLst>
                <a:ext uri="{FF2B5EF4-FFF2-40B4-BE49-F238E27FC236}">
                  <a16:creationId xmlns:a16="http://schemas.microsoft.com/office/drawing/2014/main" id="{C0E9B971-EE09-4C0C-9196-BF4C410BA1E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795713" y="2916238"/>
              <a:ext cx="0" cy="68738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triangl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27C642-0123-4866-AD1F-79096D876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113</a:t>
            </a:fld>
            <a:endParaRPr lang="en-US" altLang="hi-IN"/>
          </a:p>
        </p:txBody>
      </p:sp>
    </p:spTree>
    <p:extLst>
      <p:ext uri="{BB962C8B-B14F-4D97-AF65-F5344CB8AC3E}">
        <p14:creationId xmlns:p14="http://schemas.microsoft.com/office/powerpoint/2010/main" val="1540179216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E5FAABD2-42CE-4E37-B925-506C3E7EBD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i-IN"/>
              <a:t>Topological Sort:  DFS</a:t>
            </a:r>
          </a:p>
        </p:txBody>
      </p:sp>
      <p:sp>
        <p:nvSpPr>
          <p:cNvPr id="78851" name="Oval 3">
            <a:extLst>
              <a:ext uri="{FF2B5EF4-FFF2-40B4-BE49-F238E27FC236}">
                <a16:creationId xmlns:a16="http://schemas.microsoft.com/office/drawing/2014/main" id="{CC78EDB5-D949-4613-AC80-4AE7A10684D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71600" y="4652963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78852" name="Oval 4">
            <a:extLst>
              <a:ext uri="{FF2B5EF4-FFF2-40B4-BE49-F238E27FC236}">
                <a16:creationId xmlns:a16="http://schemas.microsoft.com/office/drawing/2014/main" id="{56B47B78-FC5B-47A8-8F82-E41A928BE94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74775" y="1066800"/>
            <a:ext cx="301625" cy="303213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C</a:t>
            </a:r>
          </a:p>
        </p:txBody>
      </p:sp>
      <p:sp>
        <p:nvSpPr>
          <p:cNvPr id="78853" name="Oval 5">
            <a:extLst>
              <a:ext uri="{FF2B5EF4-FFF2-40B4-BE49-F238E27FC236}">
                <a16:creationId xmlns:a16="http://schemas.microsoft.com/office/drawing/2014/main" id="{3E737A2B-E640-4814-95AA-A555972A690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59000" y="2616200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G</a:t>
            </a:r>
          </a:p>
        </p:txBody>
      </p:sp>
      <p:cxnSp>
        <p:nvCxnSpPr>
          <p:cNvPr id="78854" name="AutoShape 6">
            <a:extLst>
              <a:ext uri="{FF2B5EF4-FFF2-40B4-BE49-F238E27FC236}">
                <a16:creationId xmlns:a16="http://schemas.microsoft.com/office/drawing/2014/main" id="{B6AFEB13-42C5-42B7-918E-CDDA42C02B52}"/>
              </a:ext>
            </a:extLst>
          </p:cNvPr>
          <p:cNvCxnSpPr>
            <a:cxnSpLocks noChangeShapeType="1"/>
            <a:stCxn id="78851" idx="0"/>
            <a:endCxn id="78852" idx="4"/>
          </p:cNvCxnSpPr>
          <p:nvPr/>
        </p:nvCxnSpPr>
        <p:spPr bwMode="auto">
          <a:xfrm flipV="1">
            <a:off x="1522413" y="1370013"/>
            <a:ext cx="3175" cy="32829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8855" name="Oval 7">
            <a:extLst>
              <a:ext uri="{FF2B5EF4-FFF2-40B4-BE49-F238E27FC236}">
                <a16:creationId xmlns:a16="http://schemas.microsoft.com/office/drawing/2014/main" id="{F922DC06-5C52-4C70-A39C-A9A45643345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44900" y="2616200"/>
            <a:ext cx="301625" cy="3000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solidFill>
                  <a:schemeClr val="bg1"/>
                </a:solidFill>
                <a:latin typeface="Courier New" panose="02070309020205020404" pitchFamily="49" charset="0"/>
              </a:rPr>
              <a:t>A</a:t>
            </a:r>
          </a:p>
        </p:txBody>
      </p:sp>
      <p:cxnSp>
        <p:nvCxnSpPr>
          <p:cNvPr id="78856" name="AutoShape 8">
            <a:extLst>
              <a:ext uri="{FF2B5EF4-FFF2-40B4-BE49-F238E27FC236}">
                <a16:creationId xmlns:a16="http://schemas.microsoft.com/office/drawing/2014/main" id="{44862C39-7410-4049-B8CA-32AF84915044}"/>
              </a:ext>
            </a:extLst>
          </p:cNvPr>
          <p:cNvCxnSpPr>
            <a:cxnSpLocks noChangeShapeType="1"/>
            <a:stCxn id="78852" idx="5"/>
            <a:endCxn id="78855" idx="1"/>
          </p:cNvCxnSpPr>
          <p:nvPr/>
        </p:nvCxnSpPr>
        <p:spPr bwMode="auto">
          <a:xfrm>
            <a:off x="1631950" y="1325563"/>
            <a:ext cx="2057400" cy="13350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8857" name="Oval 9">
            <a:extLst>
              <a:ext uri="{FF2B5EF4-FFF2-40B4-BE49-F238E27FC236}">
                <a16:creationId xmlns:a16="http://schemas.microsoft.com/office/drawing/2014/main" id="{65DC7B21-B864-452D-890F-7E30C18057D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70450" y="2616200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B</a:t>
            </a:r>
          </a:p>
        </p:txBody>
      </p:sp>
      <p:cxnSp>
        <p:nvCxnSpPr>
          <p:cNvPr id="78858" name="AutoShape 10">
            <a:extLst>
              <a:ext uri="{FF2B5EF4-FFF2-40B4-BE49-F238E27FC236}">
                <a16:creationId xmlns:a16="http://schemas.microsoft.com/office/drawing/2014/main" id="{2B6C2E3B-F181-4EFD-95DA-FC68AC3A0E0F}"/>
              </a:ext>
            </a:extLst>
          </p:cNvPr>
          <p:cNvCxnSpPr>
            <a:cxnSpLocks noChangeShapeType="1"/>
            <a:stCxn id="78852" idx="6"/>
            <a:endCxn id="78857" idx="1"/>
          </p:cNvCxnSpPr>
          <p:nvPr/>
        </p:nvCxnSpPr>
        <p:spPr bwMode="auto">
          <a:xfrm>
            <a:off x="1676400" y="1219200"/>
            <a:ext cx="3238500" cy="14414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8859" name="Oval 11">
            <a:extLst>
              <a:ext uri="{FF2B5EF4-FFF2-40B4-BE49-F238E27FC236}">
                <a16:creationId xmlns:a16="http://schemas.microsoft.com/office/drawing/2014/main" id="{89F0A4B7-9CC2-40AE-826D-EBB2441483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59000" y="3603625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D</a:t>
            </a:r>
          </a:p>
        </p:txBody>
      </p:sp>
      <p:sp>
        <p:nvSpPr>
          <p:cNvPr id="78860" name="Oval 12">
            <a:extLst>
              <a:ext uri="{FF2B5EF4-FFF2-40B4-BE49-F238E27FC236}">
                <a16:creationId xmlns:a16="http://schemas.microsoft.com/office/drawing/2014/main" id="{4E1C7E84-2B24-4A5E-B06B-56CDC70AEC5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44900" y="3603625"/>
            <a:ext cx="301625" cy="29845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E</a:t>
            </a:r>
          </a:p>
        </p:txBody>
      </p:sp>
      <p:cxnSp>
        <p:nvCxnSpPr>
          <p:cNvPr id="78861" name="AutoShape 13">
            <a:extLst>
              <a:ext uri="{FF2B5EF4-FFF2-40B4-BE49-F238E27FC236}">
                <a16:creationId xmlns:a16="http://schemas.microsoft.com/office/drawing/2014/main" id="{7EDBE109-9492-428D-939C-92CA96B85225}"/>
              </a:ext>
            </a:extLst>
          </p:cNvPr>
          <p:cNvCxnSpPr>
            <a:cxnSpLocks noChangeShapeType="1"/>
            <a:stCxn id="78852" idx="4"/>
            <a:endCxn id="78853" idx="1"/>
          </p:cNvCxnSpPr>
          <p:nvPr/>
        </p:nvCxnSpPr>
        <p:spPr bwMode="auto">
          <a:xfrm>
            <a:off x="1525588" y="1370013"/>
            <a:ext cx="677862" cy="12906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8862" name="AutoShape 14">
            <a:extLst>
              <a:ext uri="{FF2B5EF4-FFF2-40B4-BE49-F238E27FC236}">
                <a16:creationId xmlns:a16="http://schemas.microsoft.com/office/drawing/2014/main" id="{42C500FF-817C-4DC4-8F62-6D648EB518E7}"/>
              </a:ext>
            </a:extLst>
          </p:cNvPr>
          <p:cNvCxnSpPr>
            <a:cxnSpLocks noChangeShapeType="1"/>
            <a:stCxn id="78860" idx="2"/>
            <a:endCxn id="78859" idx="6"/>
          </p:cNvCxnSpPr>
          <p:nvPr/>
        </p:nvCxnSpPr>
        <p:spPr bwMode="auto">
          <a:xfrm flipH="1">
            <a:off x="2460625" y="3752850"/>
            <a:ext cx="1184275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8863" name="AutoShape 15">
            <a:extLst>
              <a:ext uri="{FF2B5EF4-FFF2-40B4-BE49-F238E27FC236}">
                <a16:creationId xmlns:a16="http://schemas.microsoft.com/office/drawing/2014/main" id="{B382DDDD-965A-4846-A47B-45A3C3D31AB9}"/>
              </a:ext>
            </a:extLst>
          </p:cNvPr>
          <p:cNvCxnSpPr>
            <a:cxnSpLocks noChangeShapeType="1"/>
            <a:stCxn id="78860" idx="3"/>
            <a:endCxn id="78851" idx="6"/>
          </p:cNvCxnSpPr>
          <p:nvPr/>
        </p:nvCxnSpPr>
        <p:spPr bwMode="auto">
          <a:xfrm flipH="1">
            <a:off x="1673225" y="3857625"/>
            <a:ext cx="2016125" cy="9461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8864" name="AutoShape 16">
            <a:extLst>
              <a:ext uri="{FF2B5EF4-FFF2-40B4-BE49-F238E27FC236}">
                <a16:creationId xmlns:a16="http://schemas.microsoft.com/office/drawing/2014/main" id="{5EBE8C38-34A8-4F5C-9CDD-9A6F0FB99DB7}"/>
              </a:ext>
            </a:extLst>
          </p:cNvPr>
          <p:cNvCxnSpPr>
            <a:cxnSpLocks noChangeShapeType="1"/>
            <a:stCxn id="78851" idx="7"/>
            <a:endCxn id="78859" idx="3"/>
          </p:cNvCxnSpPr>
          <p:nvPr/>
        </p:nvCxnSpPr>
        <p:spPr bwMode="auto">
          <a:xfrm flipV="1">
            <a:off x="1628775" y="3860800"/>
            <a:ext cx="574675" cy="8366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8865" name="AutoShape 17">
            <a:extLst>
              <a:ext uri="{FF2B5EF4-FFF2-40B4-BE49-F238E27FC236}">
                <a16:creationId xmlns:a16="http://schemas.microsoft.com/office/drawing/2014/main" id="{FFFB24B6-6212-49BC-A2FB-DC587516D104}"/>
              </a:ext>
            </a:extLst>
          </p:cNvPr>
          <p:cNvCxnSpPr>
            <a:cxnSpLocks noChangeShapeType="1"/>
            <a:stCxn id="78860" idx="7"/>
            <a:endCxn id="78857" idx="3"/>
          </p:cNvCxnSpPr>
          <p:nvPr/>
        </p:nvCxnSpPr>
        <p:spPr bwMode="auto">
          <a:xfrm flipV="1">
            <a:off x="3902075" y="2873375"/>
            <a:ext cx="1012825" cy="7747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8866" name="AutoShape 18">
            <a:extLst>
              <a:ext uri="{FF2B5EF4-FFF2-40B4-BE49-F238E27FC236}">
                <a16:creationId xmlns:a16="http://schemas.microsoft.com/office/drawing/2014/main" id="{634E5147-A7F9-4E60-84F2-E40C540BC36C}"/>
              </a:ext>
            </a:extLst>
          </p:cNvPr>
          <p:cNvCxnSpPr>
            <a:cxnSpLocks noChangeShapeType="1"/>
            <a:stCxn id="78859" idx="7"/>
            <a:endCxn id="78855" idx="3"/>
          </p:cNvCxnSpPr>
          <p:nvPr/>
        </p:nvCxnSpPr>
        <p:spPr bwMode="auto">
          <a:xfrm flipV="1">
            <a:off x="2416175" y="2871788"/>
            <a:ext cx="1273175" cy="7762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8867" name="Oval 19">
            <a:extLst>
              <a:ext uri="{FF2B5EF4-FFF2-40B4-BE49-F238E27FC236}">
                <a16:creationId xmlns:a16="http://schemas.microsoft.com/office/drawing/2014/main" id="{54EAC5ED-6477-4540-8710-487FBDEDCAA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90800" y="5181600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H</a:t>
            </a:r>
          </a:p>
        </p:txBody>
      </p:sp>
      <p:cxnSp>
        <p:nvCxnSpPr>
          <p:cNvPr id="78868" name="AutoShape 20">
            <a:extLst>
              <a:ext uri="{FF2B5EF4-FFF2-40B4-BE49-F238E27FC236}">
                <a16:creationId xmlns:a16="http://schemas.microsoft.com/office/drawing/2014/main" id="{3AA1D4A7-F114-403F-8C12-A01086D3550B}"/>
              </a:ext>
            </a:extLst>
          </p:cNvPr>
          <p:cNvCxnSpPr>
            <a:cxnSpLocks noChangeShapeType="1"/>
            <a:stCxn id="78867" idx="2"/>
            <a:endCxn id="78851" idx="5"/>
          </p:cNvCxnSpPr>
          <p:nvPr/>
        </p:nvCxnSpPr>
        <p:spPr bwMode="auto">
          <a:xfrm flipH="1" flipV="1">
            <a:off x="1628775" y="4910138"/>
            <a:ext cx="962025" cy="4222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8869" name="Rectangle 22">
            <a:extLst>
              <a:ext uri="{FF2B5EF4-FFF2-40B4-BE49-F238E27FC236}">
                <a16:creationId xmlns:a16="http://schemas.microsoft.com/office/drawing/2014/main" id="{9A5726B4-7893-4D6C-8D8D-722694822A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295400"/>
            <a:ext cx="915988" cy="38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hi-IN" sz="1600" b="1">
                <a:latin typeface="Courier New" panose="02070309020205020404" pitchFamily="49" charset="0"/>
              </a:rPr>
              <a:t>dfs(A)</a:t>
            </a:r>
          </a:p>
        </p:txBody>
      </p:sp>
      <p:cxnSp>
        <p:nvCxnSpPr>
          <p:cNvPr id="458775" name="AutoShape 23">
            <a:extLst>
              <a:ext uri="{FF2B5EF4-FFF2-40B4-BE49-F238E27FC236}">
                <a16:creationId xmlns:a16="http://schemas.microsoft.com/office/drawing/2014/main" id="{E867172E-5D2E-421F-A183-11D65CC6FB4F}"/>
              </a:ext>
            </a:extLst>
          </p:cNvPr>
          <p:cNvCxnSpPr>
            <a:cxnSpLocks noChangeShapeType="1"/>
            <a:stCxn id="78859" idx="7"/>
            <a:endCxn id="78855" idx="3"/>
          </p:cNvCxnSpPr>
          <p:nvPr/>
        </p:nvCxnSpPr>
        <p:spPr bwMode="auto">
          <a:xfrm flipV="1">
            <a:off x="2416175" y="2871788"/>
            <a:ext cx="1273175" cy="776287"/>
          </a:xfrm>
          <a:prstGeom prst="straightConnector1">
            <a:avLst/>
          </a:prstGeom>
          <a:noFill/>
          <a:ln w="50800">
            <a:solidFill>
              <a:schemeClr val="accent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8871" name="AutoShape 24">
            <a:extLst>
              <a:ext uri="{FF2B5EF4-FFF2-40B4-BE49-F238E27FC236}">
                <a16:creationId xmlns:a16="http://schemas.microsoft.com/office/drawing/2014/main" id="{97134D39-6523-4581-82A2-2F8432A5646C}"/>
              </a:ext>
            </a:extLst>
          </p:cNvPr>
          <p:cNvCxnSpPr>
            <a:cxnSpLocks noChangeShapeType="1"/>
            <a:stCxn id="78860" idx="0"/>
            <a:endCxn id="78855" idx="4"/>
          </p:cNvCxnSpPr>
          <p:nvPr/>
        </p:nvCxnSpPr>
        <p:spPr bwMode="auto">
          <a:xfrm flipV="1">
            <a:off x="3795713" y="2916238"/>
            <a:ext cx="0" cy="687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E7C48B-399C-4951-A026-898AD2BD3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114</a:t>
            </a:fld>
            <a:endParaRPr lang="en-US" altLang="hi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458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7B84264A-CCA2-4F9C-A668-7CEDC6A926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i-IN"/>
              <a:t>Topological Sort:  DFS</a:t>
            </a:r>
          </a:p>
        </p:txBody>
      </p:sp>
      <p:sp>
        <p:nvSpPr>
          <p:cNvPr id="79875" name="Rectangle 21">
            <a:extLst>
              <a:ext uri="{FF2B5EF4-FFF2-40B4-BE49-F238E27FC236}">
                <a16:creationId xmlns:a16="http://schemas.microsoft.com/office/drawing/2014/main" id="{90A9EDD0-3E4D-4810-B951-EB0B5D01D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295400"/>
            <a:ext cx="1160463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hi-IN" sz="1600" b="1">
                <a:latin typeface="Courier New" panose="02070309020205020404" pitchFamily="49" charset="0"/>
              </a:rPr>
              <a:t>dfs(A)</a:t>
            </a:r>
          </a:p>
          <a:p>
            <a:pPr>
              <a:lnSpc>
                <a:spcPct val="120000"/>
              </a:lnSpc>
            </a:pPr>
            <a:r>
              <a:rPr lang="en-US" altLang="hi-IN" sz="1600" b="1">
                <a:latin typeface="Courier New" panose="02070309020205020404" pitchFamily="49" charset="0"/>
              </a:rPr>
              <a:t>  dfs(D)</a:t>
            </a:r>
          </a:p>
        </p:txBody>
      </p:sp>
      <p:sp>
        <p:nvSpPr>
          <p:cNvPr id="79876" name="Oval 22">
            <a:extLst>
              <a:ext uri="{FF2B5EF4-FFF2-40B4-BE49-F238E27FC236}">
                <a16:creationId xmlns:a16="http://schemas.microsoft.com/office/drawing/2014/main" id="{39E05479-BB77-40C7-9A7E-A43E14437BF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71600" y="4652963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79877" name="Oval 23">
            <a:extLst>
              <a:ext uri="{FF2B5EF4-FFF2-40B4-BE49-F238E27FC236}">
                <a16:creationId xmlns:a16="http://schemas.microsoft.com/office/drawing/2014/main" id="{02E230F8-47E8-4E36-8307-6108F9B1D8C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74775" y="1066800"/>
            <a:ext cx="301625" cy="303213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C</a:t>
            </a:r>
          </a:p>
        </p:txBody>
      </p:sp>
      <p:sp>
        <p:nvSpPr>
          <p:cNvPr id="79878" name="Oval 24">
            <a:extLst>
              <a:ext uri="{FF2B5EF4-FFF2-40B4-BE49-F238E27FC236}">
                <a16:creationId xmlns:a16="http://schemas.microsoft.com/office/drawing/2014/main" id="{45D72939-38F3-4DDD-83F3-168BB3A83CA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59000" y="2616200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G</a:t>
            </a:r>
          </a:p>
        </p:txBody>
      </p:sp>
      <p:cxnSp>
        <p:nvCxnSpPr>
          <p:cNvPr id="79879" name="AutoShape 25">
            <a:extLst>
              <a:ext uri="{FF2B5EF4-FFF2-40B4-BE49-F238E27FC236}">
                <a16:creationId xmlns:a16="http://schemas.microsoft.com/office/drawing/2014/main" id="{BBE58062-9E0E-458A-8143-6E97C8E6A9FB}"/>
              </a:ext>
            </a:extLst>
          </p:cNvPr>
          <p:cNvCxnSpPr>
            <a:cxnSpLocks noChangeShapeType="1"/>
            <a:stCxn id="79876" idx="0"/>
            <a:endCxn id="79877" idx="4"/>
          </p:cNvCxnSpPr>
          <p:nvPr/>
        </p:nvCxnSpPr>
        <p:spPr bwMode="auto">
          <a:xfrm flipV="1">
            <a:off x="1522413" y="1370013"/>
            <a:ext cx="3175" cy="32829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9880" name="Oval 26">
            <a:extLst>
              <a:ext uri="{FF2B5EF4-FFF2-40B4-BE49-F238E27FC236}">
                <a16:creationId xmlns:a16="http://schemas.microsoft.com/office/drawing/2014/main" id="{89322601-0EFD-4407-8590-3FEE3C4AB9B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44900" y="2616200"/>
            <a:ext cx="301625" cy="300038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solidFill>
                  <a:schemeClr val="bg1"/>
                </a:solidFill>
                <a:latin typeface="Courier New" panose="02070309020205020404" pitchFamily="49" charset="0"/>
              </a:rPr>
              <a:t>A</a:t>
            </a:r>
          </a:p>
        </p:txBody>
      </p:sp>
      <p:cxnSp>
        <p:nvCxnSpPr>
          <p:cNvPr id="79881" name="AutoShape 27">
            <a:extLst>
              <a:ext uri="{FF2B5EF4-FFF2-40B4-BE49-F238E27FC236}">
                <a16:creationId xmlns:a16="http://schemas.microsoft.com/office/drawing/2014/main" id="{EC9C32CC-F43C-4E34-9120-CE4E200954E6}"/>
              </a:ext>
            </a:extLst>
          </p:cNvPr>
          <p:cNvCxnSpPr>
            <a:cxnSpLocks noChangeShapeType="1"/>
            <a:stCxn id="79877" idx="5"/>
            <a:endCxn id="79880" idx="1"/>
          </p:cNvCxnSpPr>
          <p:nvPr/>
        </p:nvCxnSpPr>
        <p:spPr bwMode="auto">
          <a:xfrm>
            <a:off x="1631950" y="1325563"/>
            <a:ext cx="2057400" cy="13350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9882" name="Oval 28">
            <a:extLst>
              <a:ext uri="{FF2B5EF4-FFF2-40B4-BE49-F238E27FC236}">
                <a16:creationId xmlns:a16="http://schemas.microsoft.com/office/drawing/2014/main" id="{33430500-3450-4861-8628-8BDC77C9A3C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70450" y="2616200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B</a:t>
            </a:r>
          </a:p>
        </p:txBody>
      </p:sp>
      <p:cxnSp>
        <p:nvCxnSpPr>
          <p:cNvPr id="79883" name="AutoShape 29">
            <a:extLst>
              <a:ext uri="{FF2B5EF4-FFF2-40B4-BE49-F238E27FC236}">
                <a16:creationId xmlns:a16="http://schemas.microsoft.com/office/drawing/2014/main" id="{2845D3EB-8A35-43E6-8501-03439DEBB989}"/>
              </a:ext>
            </a:extLst>
          </p:cNvPr>
          <p:cNvCxnSpPr>
            <a:cxnSpLocks noChangeShapeType="1"/>
            <a:stCxn id="79877" idx="6"/>
            <a:endCxn id="79882" idx="1"/>
          </p:cNvCxnSpPr>
          <p:nvPr/>
        </p:nvCxnSpPr>
        <p:spPr bwMode="auto">
          <a:xfrm>
            <a:off x="1676400" y="1219200"/>
            <a:ext cx="3238500" cy="14414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9884" name="Oval 30">
            <a:extLst>
              <a:ext uri="{FF2B5EF4-FFF2-40B4-BE49-F238E27FC236}">
                <a16:creationId xmlns:a16="http://schemas.microsoft.com/office/drawing/2014/main" id="{1DDA8F5B-AD08-4DA7-B64F-F37223F39E5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59000" y="3603625"/>
            <a:ext cx="301625" cy="3016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solidFill>
                  <a:schemeClr val="bg1"/>
                </a:solidFill>
                <a:latin typeface="Courier New" panose="02070309020205020404" pitchFamily="49" charset="0"/>
              </a:rPr>
              <a:t>D</a:t>
            </a:r>
          </a:p>
        </p:txBody>
      </p:sp>
      <p:sp>
        <p:nvSpPr>
          <p:cNvPr id="79885" name="Oval 31">
            <a:extLst>
              <a:ext uri="{FF2B5EF4-FFF2-40B4-BE49-F238E27FC236}">
                <a16:creationId xmlns:a16="http://schemas.microsoft.com/office/drawing/2014/main" id="{9125754F-F380-42B4-A290-0E136B8600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44900" y="3603625"/>
            <a:ext cx="301625" cy="29845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E</a:t>
            </a:r>
          </a:p>
        </p:txBody>
      </p:sp>
      <p:cxnSp>
        <p:nvCxnSpPr>
          <p:cNvPr id="79886" name="AutoShape 32">
            <a:extLst>
              <a:ext uri="{FF2B5EF4-FFF2-40B4-BE49-F238E27FC236}">
                <a16:creationId xmlns:a16="http://schemas.microsoft.com/office/drawing/2014/main" id="{E4337A89-299B-4CD6-A9F5-806F515F038D}"/>
              </a:ext>
            </a:extLst>
          </p:cNvPr>
          <p:cNvCxnSpPr>
            <a:cxnSpLocks noChangeShapeType="1"/>
            <a:stCxn id="79877" idx="4"/>
            <a:endCxn id="79878" idx="1"/>
          </p:cNvCxnSpPr>
          <p:nvPr/>
        </p:nvCxnSpPr>
        <p:spPr bwMode="auto">
          <a:xfrm>
            <a:off x="1525588" y="1370013"/>
            <a:ext cx="677862" cy="12906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9887" name="AutoShape 33">
            <a:extLst>
              <a:ext uri="{FF2B5EF4-FFF2-40B4-BE49-F238E27FC236}">
                <a16:creationId xmlns:a16="http://schemas.microsoft.com/office/drawing/2014/main" id="{AC12ECD5-174F-446C-9289-67738D0720DE}"/>
              </a:ext>
            </a:extLst>
          </p:cNvPr>
          <p:cNvCxnSpPr>
            <a:cxnSpLocks noChangeShapeType="1"/>
            <a:stCxn id="79885" idx="2"/>
            <a:endCxn id="79884" idx="6"/>
          </p:cNvCxnSpPr>
          <p:nvPr/>
        </p:nvCxnSpPr>
        <p:spPr bwMode="auto">
          <a:xfrm flipH="1">
            <a:off x="2460625" y="3752850"/>
            <a:ext cx="1184275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9888" name="AutoShape 34">
            <a:extLst>
              <a:ext uri="{FF2B5EF4-FFF2-40B4-BE49-F238E27FC236}">
                <a16:creationId xmlns:a16="http://schemas.microsoft.com/office/drawing/2014/main" id="{3584FA98-A12D-4939-954C-3508CA7056F4}"/>
              </a:ext>
            </a:extLst>
          </p:cNvPr>
          <p:cNvCxnSpPr>
            <a:cxnSpLocks noChangeShapeType="1"/>
            <a:stCxn id="79885" idx="3"/>
            <a:endCxn id="79876" idx="6"/>
          </p:cNvCxnSpPr>
          <p:nvPr/>
        </p:nvCxnSpPr>
        <p:spPr bwMode="auto">
          <a:xfrm flipH="1">
            <a:off x="1673225" y="3857625"/>
            <a:ext cx="2016125" cy="9461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9889" name="AutoShape 35">
            <a:extLst>
              <a:ext uri="{FF2B5EF4-FFF2-40B4-BE49-F238E27FC236}">
                <a16:creationId xmlns:a16="http://schemas.microsoft.com/office/drawing/2014/main" id="{E008E038-EAC9-4741-B144-C2A7881A9205}"/>
              </a:ext>
            </a:extLst>
          </p:cNvPr>
          <p:cNvCxnSpPr>
            <a:cxnSpLocks noChangeShapeType="1"/>
            <a:stCxn id="79876" idx="7"/>
            <a:endCxn id="79884" idx="3"/>
          </p:cNvCxnSpPr>
          <p:nvPr/>
        </p:nvCxnSpPr>
        <p:spPr bwMode="auto">
          <a:xfrm flipV="1">
            <a:off x="1628775" y="3860800"/>
            <a:ext cx="574675" cy="8366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9890" name="AutoShape 36">
            <a:extLst>
              <a:ext uri="{FF2B5EF4-FFF2-40B4-BE49-F238E27FC236}">
                <a16:creationId xmlns:a16="http://schemas.microsoft.com/office/drawing/2014/main" id="{E4140694-8076-4AD9-8B3A-B6B6A25D6A11}"/>
              </a:ext>
            </a:extLst>
          </p:cNvPr>
          <p:cNvCxnSpPr>
            <a:cxnSpLocks noChangeShapeType="1"/>
            <a:stCxn id="79885" idx="7"/>
            <a:endCxn id="79882" idx="3"/>
          </p:cNvCxnSpPr>
          <p:nvPr/>
        </p:nvCxnSpPr>
        <p:spPr bwMode="auto">
          <a:xfrm flipV="1">
            <a:off x="3902075" y="2873375"/>
            <a:ext cx="1012825" cy="7747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9891" name="AutoShape 37">
            <a:extLst>
              <a:ext uri="{FF2B5EF4-FFF2-40B4-BE49-F238E27FC236}">
                <a16:creationId xmlns:a16="http://schemas.microsoft.com/office/drawing/2014/main" id="{F1261613-6092-450E-8208-AB37F2C5C08B}"/>
              </a:ext>
            </a:extLst>
          </p:cNvPr>
          <p:cNvCxnSpPr>
            <a:cxnSpLocks noChangeShapeType="1"/>
            <a:stCxn id="79884" idx="7"/>
            <a:endCxn id="79880" idx="3"/>
          </p:cNvCxnSpPr>
          <p:nvPr/>
        </p:nvCxnSpPr>
        <p:spPr bwMode="auto">
          <a:xfrm flipV="1">
            <a:off x="2416175" y="2871788"/>
            <a:ext cx="1273175" cy="776287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9892" name="Oval 38">
            <a:extLst>
              <a:ext uri="{FF2B5EF4-FFF2-40B4-BE49-F238E27FC236}">
                <a16:creationId xmlns:a16="http://schemas.microsoft.com/office/drawing/2014/main" id="{32748EB0-2F41-4554-AD1F-6BF7192832F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90800" y="5181600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H</a:t>
            </a:r>
          </a:p>
        </p:txBody>
      </p:sp>
      <p:cxnSp>
        <p:nvCxnSpPr>
          <p:cNvPr id="79893" name="AutoShape 39">
            <a:extLst>
              <a:ext uri="{FF2B5EF4-FFF2-40B4-BE49-F238E27FC236}">
                <a16:creationId xmlns:a16="http://schemas.microsoft.com/office/drawing/2014/main" id="{73D80B39-20FF-4E5E-B6C9-5E9207D27833}"/>
              </a:ext>
            </a:extLst>
          </p:cNvPr>
          <p:cNvCxnSpPr>
            <a:cxnSpLocks noChangeShapeType="1"/>
            <a:stCxn id="79892" idx="2"/>
            <a:endCxn id="79876" idx="5"/>
          </p:cNvCxnSpPr>
          <p:nvPr/>
        </p:nvCxnSpPr>
        <p:spPr bwMode="auto">
          <a:xfrm flipH="1" flipV="1">
            <a:off x="1628775" y="4910138"/>
            <a:ext cx="962025" cy="4222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9816" name="AutoShape 40">
            <a:extLst>
              <a:ext uri="{FF2B5EF4-FFF2-40B4-BE49-F238E27FC236}">
                <a16:creationId xmlns:a16="http://schemas.microsoft.com/office/drawing/2014/main" id="{91453564-908A-425C-B462-9C0CB1709DAA}"/>
              </a:ext>
            </a:extLst>
          </p:cNvPr>
          <p:cNvCxnSpPr>
            <a:cxnSpLocks noChangeShapeType="1"/>
            <a:stCxn id="79885" idx="2"/>
            <a:endCxn id="79884" idx="6"/>
          </p:cNvCxnSpPr>
          <p:nvPr/>
        </p:nvCxnSpPr>
        <p:spPr bwMode="auto">
          <a:xfrm flipH="1">
            <a:off x="2460625" y="3752850"/>
            <a:ext cx="1184275" cy="1588"/>
          </a:xfrm>
          <a:prstGeom prst="straightConnector1">
            <a:avLst/>
          </a:prstGeom>
          <a:noFill/>
          <a:ln w="50800">
            <a:solidFill>
              <a:schemeClr val="accent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9895" name="AutoShape 41">
            <a:extLst>
              <a:ext uri="{FF2B5EF4-FFF2-40B4-BE49-F238E27FC236}">
                <a16:creationId xmlns:a16="http://schemas.microsoft.com/office/drawing/2014/main" id="{182034FD-6A19-46CD-9088-8B8C23527A52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795713" y="2916238"/>
            <a:ext cx="0" cy="687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9896" name="AutoShape 42">
            <a:extLst>
              <a:ext uri="{FF2B5EF4-FFF2-40B4-BE49-F238E27FC236}">
                <a16:creationId xmlns:a16="http://schemas.microsoft.com/office/drawing/2014/main" id="{41203386-CC62-45CC-8D74-B5126CC124FB}"/>
              </a:ext>
            </a:extLst>
          </p:cNvPr>
          <p:cNvCxnSpPr>
            <a:cxnSpLocks noChangeShapeType="1"/>
            <a:stCxn id="79884" idx="7"/>
            <a:endCxn id="79880" idx="3"/>
          </p:cNvCxnSpPr>
          <p:nvPr/>
        </p:nvCxnSpPr>
        <p:spPr bwMode="auto">
          <a:xfrm flipV="1">
            <a:off x="2416175" y="2871788"/>
            <a:ext cx="1273175" cy="776287"/>
          </a:xfrm>
          <a:prstGeom prst="straightConnector1">
            <a:avLst/>
          </a:prstGeom>
          <a:noFill/>
          <a:ln w="50800">
            <a:solidFill>
              <a:schemeClr val="accent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A91EB94-4F61-4E91-A0B5-5B0609411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115</a:t>
            </a:fld>
            <a:endParaRPr lang="en-US" altLang="hi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59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E8E6A09D-07CD-4701-929A-A196956C7C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i-IN"/>
              <a:t>Topological Sort:  DFS</a:t>
            </a:r>
          </a:p>
        </p:txBody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7A9236C6-9BE2-43E1-A16E-8A744C6F04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295400"/>
            <a:ext cx="1403350" cy="973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hi-IN" sz="1600" b="1">
                <a:latin typeface="Courier New" panose="02070309020205020404" pitchFamily="49" charset="0"/>
              </a:rPr>
              <a:t>dfs(A)</a:t>
            </a:r>
          </a:p>
          <a:p>
            <a:pPr>
              <a:lnSpc>
                <a:spcPct val="120000"/>
              </a:lnSpc>
            </a:pPr>
            <a:r>
              <a:rPr lang="en-US" altLang="hi-IN" sz="1600" b="1">
                <a:latin typeface="Courier New" panose="02070309020205020404" pitchFamily="49" charset="0"/>
              </a:rPr>
              <a:t>  dfs(D)</a:t>
            </a:r>
          </a:p>
          <a:p>
            <a:pPr>
              <a:lnSpc>
                <a:spcPct val="120000"/>
              </a:lnSpc>
            </a:pPr>
            <a:r>
              <a:rPr lang="en-US" altLang="hi-IN" sz="1600" b="1">
                <a:latin typeface="Courier New" panose="02070309020205020404" pitchFamily="49" charset="0"/>
              </a:rPr>
              <a:t>    dfs(E)</a:t>
            </a:r>
          </a:p>
        </p:txBody>
      </p:sp>
      <p:sp>
        <p:nvSpPr>
          <p:cNvPr id="80900" name="Oval 4">
            <a:extLst>
              <a:ext uri="{FF2B5EF4-FFF2-40B4-BE49-F238E27FC236}">
                <a16:creationId xmlns:a16="http://schemas.microsoft.com/office/drawing/2014/main" id="{81764568-DE5A-4B66-960B-BB3DAFF1193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71600" y="4652963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80901" name="Oval 5">
            <a:extLst>
              <a:ext uri="{FF2B5EF4-FFF2-40B4-BE49-F238E27FC236}">
                <a16:creationId xmlns:a16="http://schemas.microsoft.com/office/drawing/2014/main" id="{5851EE15-1D1F-4BA1-B7A4-B592E904470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74775" y="1066800"/>
            <a:ext cx="301625" cy="303213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C</a:t>
            </a:r>
          </a:p>
        </p:txBody>
      </p:sp>
      <p:sp>
        <p:nvSpPr>
          <p:cNvPr id="80902" name="Oval 6">
            <a:extLst>
              <a:ext uri="{FF2B5EF4-FFF2-40B4-BE49-F238E27FC236}">
                <a16:creationId xmlns:a16="http://schemas.microsoft.com/office/drawing/2014/main" id="{4A0ACF37-A4E0-469F-AE9B-B4C328B78E1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59000" y="2616200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G</a:t>
            </a:r>
          </a:p>
        </p:txBody>
      </p:sp>
      <p:cxnSp>
        <p:nvCxnSpPr>
          <p:cNvPr id="80903" name="AutoShape 7">
            <a:extLst>
              <a:ext uri="{FF2B5EF4-FFF2-40B4-BE49-F238E27FC236}">
                <a16:creationId xmlns:a16="http://schemas.microsoft.com/office/drawing/2014/main" id="{5D96A864-0272-4E41-A9FF-9AE36AEA6A52}"/>
              </a:ext>
            </a:extLst>
          </p:cNvPr>
          <p:cNvCxnSpPr>
            <a:cxnSpLocks noChangeShapeType="1"/>
            <a:stCxn id="80900" idx="0"/>
            <a:endCxn id="80901" idx="4"/>
          </p:cNvCxnSpPr>
          <p:nvPr/>
        </p:nvCxnSpPr>
        <p:spPr bwMode="auto">
          <a:xfrm flipV="1">
            <a:off x="1522413" y="1370013"/>
            <a:ext cx="3175" cy="32829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0904" name="Oval 8">
            <a:extLst>
              <a:ext uri="{FF2B5EF4-FFF2-40B4-BE49-F238E27FC236}">
                <a16:creationId xmlns:a16="http://schemas.microsoft.com/office/drawing/2014/main" id="{E5AE77D4-BCC1-4C0F-A086-AC2CDC69426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44900" y="2616200"/>
            <a:ext cx="301625" cy="300038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solidFill>
                  <a:schemeClr val="bg1"/>
                </a:solidFill>
                <a:latin typeface="Courier New" panose="02070309020205020404" pitchFamily="49" charset="0"/>
              </a:rPr>
              <a:t>A</a:t>
            </a:r>
          </a:p>
        </p:txBody>
      </p:sp>
      <p:cxnSp>
        <p:nvCxnSpPr>
          <p:cNvPr id="80905" name="AutoShape 9">
            <a:extLst>
              <a:ext uri="{FF2B5EF4-FFF2-40B4-BE49-F238E27FC236}">
                <a16:creationId xmlns:a16="http://schemas.microsoft.com/office/drawing/2014/main" id="{D8C0EF26-B164-4349-9BE3-BD4F4F676D54}"/>
              </a:ext>
            </a:extLst>
          </p:cNvPr>
          <p:cNvCxnSpPr>
            <a:cxnSpLocks noChangeShapeType="1"/>
            <a:stCxn id="80901" idx="5"/>
            <a:endCxn id="80904" idx="1"/>
          </p:cNvCxnSpPr>
          <p:nvPr/>
        </p:nvCxnSpPr>
        <p:spPr bwMode="auto">
          <a:xfrm>
            <a:off x="1631950" y="1325563"/>
            <a:ext cx="2057400" cy="13350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0906" name="Oval 10">
            <a:extLst>
              <a:ext uri="{FF2B5EF4-FFF2-40B4-BE49-F238E27FC236}">
                <a16:creationId xmlns:a16="http://schemas.microsoft.com/office/drawing/2014/main" id="{68A6D0DD-85A9-4CBF-88F4-C9293DA8D03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70450" y="2616200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B</a:t>
            </a:r>
          </a:p>
        </p:txBody>
      </p:sp>
      <p:cxnSp>
        <p:nvCxnSpPr>
          <p:cNvPr id="80907" name="AutoShape 11">
            <a:extLst>
              <a:ext uri="{FF2B5EF4-FFF2-40B4-BE49-F238E27FC236}">
                <a16:creationId xmlns:a16="http://schemas.microsoft.com/office/drawing/2014/main" id="{9C94B566-150B-486E-A9F1-74AD244E426A}"/>
              </a:ext>
            </a:extLst>
          </p:cNvPr>
          <p:cNvCxnSpPr>
            <a:cxnSpLocks noChangeShapeType="1"/>
            <a:stCxn id="80901" idx="6"/>
            <a:endCxn id="80906" idx="1"/>
          </p:cNvCxnSpPr>
          <p:nvPr/>
        </p:nvCxnSpPr>
        <p:spPr bwMode="auto">
          <a:xfrm>
            <a:off x="1676400" y="1219200"/>
            <a:ext cx="3238500" cy="14414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0908" name="Oval 12">
            <a:extLst>
              <a:ext uri="{FF2B5EF4-FFF2-40B4-BE49-F238E27FC236}">
                <a16:creationId xmlns:a16="http://schemas.microsoft.com/office/drawing/2014/main" id="{64C370FB-EC24-43AD-8342-D818100272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59000" y="3603625"/>
            <a:ext cx="301625" cy="301625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solidFill>
                  <a:schemeClr val="bg1"/>
                </a:solidFill>
                <a:latin typeface="Courier New" panose="02070309020205020404" pitchFamily="49" charset="0"/>
              </a:rPr>
              <a:t>D</a:t>
            </a:r>
          </a:p>
        </p:txBody>
      </p:sp>
      <p:sp>
        <p:nvSpPr>
          <p:cNvPr id="80909" name="Oval 13">
            <a:extLst>
              <a:ext uri="{FF2B5EF4-FFF2-40B4-BE49-F238E27FC236}">
                <a16:creationId xmlns:a16="http://schemas.microsoft.com/office/drawing/2014/main" id="{7883148E-E8D0-459D-A346-0DABE8FB142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44900" y="3603625"/>
            <a:ext cx="301625" cy="2984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solidFill>
                  <a:schemeClr val="bg1"/>
                </a:solidFill>
                <a:latin typeface="Courier New" panose="02070309020205020404" pitchFamily="49" charset="0"/>
              </a:rPr>
              <a:t>E</a:t>
            </a:r>
          </a:p>
        </p:txBody>
      </p:sp>
      <p:cxnSp>
        <p:nvCxnSpPr>
          <p:cNvPr id="80910" name="AutoShape 14">
            <a:extLst>
              <a:ext uri="{FF2B5EF4-FFF2-40B4-BE49-F238E27FC236}">
                <a16:creationId xmlns:a16="http://schemas.microsoft.com/office/drawing/2014/main" id="{3866C1AE-A20D-4C13-A6A5-2BD573A84833}"/>
              </a:ext>
            </a:extLst>
          </p:cNvPr>
          <p:cNvCxnSpPr>
            <a:cxnSpLocks noChangeShapeType="1"/>
            <a:stCxn id="80901" idx="4"/>
            <a:endCxn id="80902" idx="1"/>
          </p:cNvCxnSpPr>
          <p:nvPr/>
        </p:nvCxnSpPr>
        <p:spPr bwMode="auto">
          <a:xfrm>
            <a:off x="1525588" y="1370013"/>
            <a:ext cx="677862" cy="12906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0911" name="AutoShape 15">
            <a:extLst>
              <a:ext uri="{FF2B5EF4-FFF2-40B4-BE49-F238E27FC236}">
                <a16:creationId xmlns:a16="http://schemas.microsoft.com/office/drawing/2014/main" id="{A09D2B74-2BAD-4B87-B08C-7D109C945E23}"/>
              </a:ext>
            </a:extLst>
          </p:cNvPr>
          <p:cNvCxnSpPr>
            <a:cxnSpLocks noChangeShapeType="1"/>
            <a:stCxn id="80909" idx="2"/>
            <a:endCxn id="80908" idx="6"/>
          </p:cNvCxnSpPr>
          <p:nvPr/>
        </p:nvCxnSpPr>
        <p:spPr bwMode="auto">
          <a:xfrm flipH="1">
            <a:off x="2460625" y="3752850"/>
            <a:ext cx="1184275" cy="1588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0912" name="AutoShape 16">
            <a:extLst>
              <a:ext uri="{FF2B5EF4-FFF2-40B4-BE49-F238E27FC236}">
                <a16:creationId xmlns:a16="http://schemas.microsoft.com/office/drawing/2014/main" id="{65C251EE-B46C-48EB-83C7-C9BA492BE60D}"/>
              </a:ext>
            </a:extLst>
          </p:cNvPr>
          <p:cNvCxnSpPr>
            <a:cxnSpLocks noChangeShapeType="1"/>
            <a:stCxn id="80909" idx="3"/>
            <a:endCxn id="80900" idx="6"/>
          </p:cNvCxnSpPr>
          <p:nvPr/>
        </p:nvCxnSpPr>
        <p:spPr bwMode="auto">
          <a:xfrm flipH="1">
            <a:off x="1673225" y="3857625"/>
            <a:ext cx="2016125" cy="9461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0913" name="AutoShape 17">
            <a:extLst>
              <a:ext uri="{FF2B5EF4-FFF2-40B4-BE49-F238E27FC236}">
                <a16:creationId xmlns:a16="http://schemas.microsoft.com/office/drawing/2014/main" id="{64D06E1C-6FBA-4CEC-A6EA-03F0503598C5}"/>
              </a:ext>
            </a:extLst>
          </p:cNvPr>
          <p:cNvCxnSpPr>
            <a:cxnSpLocks noChangeShapeType="1"/>
            <a:stCxn id="80900" idx="7"/>
            <a:endCxn id="80908" idx="3"/>
          </p:cNvCxnSpPr>
          <p:nvPr/>
        </p:nvCxnSpPr>
        <p:spPr bwMode="auto">
          <a:xfrm flipV="1">
            <a:off x="1628775" y="3860800"/>
            <a:ext cx="574675" cy="8366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0914" name="AutoShape 18">
            <a:extLst>
              <a:ext uri="{FF2B5EF4-FFF2-40B4-BE49-F238E27FC236}">
                <a16:creationId xmlns:a16="http://schemas.microsoft.com/office/drawing/2014/main" id="{248246E9-E7B8-4B15-8670-E3D24E1C97D0}"/>
              </a:ext>
            </a:extLst>
          </p:cNvPr>
          <p:cNvCxnSpPr>
            <a:cxnSpLocks noChangeShapeType="1"/>
            <a:stCxn id="80909" idx="7"/>
            <a:endCxn id="80906" idx="3"/>
          </p:cNvCxnSpPr>
          <p:nvPr/>
        </p:nvCxnSpPr>
        <p:spPr bwMode="auto">
          <a:xfrm flipV="1">
            <a:off x="3902075" y="2873375"/>
            <a:ext cx="1012825" cy="7747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0915" name="AutoShape 19">
            <a:extLst>
              <a:ext uri="{FF2B5EF4-FFF2-40B4-BE49-F238E27FC236}">
                <a16:creationId xmlns:a16="http://schemas.microsoft.com/office/drawing/2014/main" id="{EF810728-7CF1-444C-9BD5-CAFF7774892B}"/>
              </a:ext>
            </a:extLst>
          </p:cNvPr>
          <p:cNvCxnSpPr>
            <a:cxnSpLocks noChangeShapeType="1"/>
            <a:stCxn id="80908" idx="7"/>
            <a:endCxn id="80904" idx="3"/>
          </p:cNvCxnSpPr>
          <p:nvPr/>
        </p:nvCxnSpPr>
        <p:spPr bwMode="auto">
          <a:xfrm flipV="1">
            <a:off x="2416175" y="2871788"/>
            <a:ext cx="1273175" cy="776287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0916" name="Oval 20">
            <a:extLst>
              <a:ext uri="{FF2B5EF4-FFF2-40B4-BE49-F238E27FC236}">
                <a16:creationId xmlns:a16="http://schemas.microsoft.com/office/drawing/2014/main" id="{2321FEA1-EEDC-499F-896D-CB5AECCEF1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90800" y="5181600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H</a:t>
            </a:r>
          </a:p>
        </p:txBody>
      </p:sp>
      <p:cxnSp>
        <p:nvCxnSpPr>
          <p:cNvPr id="80917" name="AutoShape 21">
            <a:extLst>
              <a:ext uri="{FF2B5EF4-FFF2-40B4-BE49-F238E27FC236}">
                <a16:creationId xmlns:a16="http://schemas.microsoft.com/office/drawing/2014/main" id="{6102510F-FBD5-416B-9D2E-4688189F6B05}"/>
              </a:ext>
            </a:extLst>
          </p:cNvPr>
          <p:cNvCxnSpPr>
            <a:cxnSpLocks noChangeShapeType="1"/>
            <a:stCxn id="80916" idx="2"/>
            <a:endCxn id="80900" idx="5"/>
          </p:cNvCxnSpPr>
          <p:nvPr/>
        </p:nvCxnSpPr>
        <p:spPr bwMode="auto">
          <a:xfrm flipH="1" flipV="1">
            <a:off x="1628775" y="4910138"/>
            <a:ext cx="962025" cy="4222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1846" name="AutoShape 22">
            <a:extLst>
              <a:ext uri="{FF2B5EF4-FFF2-40B4-BE49-F238E27FC236}">
                <a16:creationId xmlns:a16="http://schemas.microsoft.com/office/drawing/2014/main" id="{8E473C8F-9AC7-49D7-B421-052629A85168}"/>
              </a:ext>
            </a:extLst>
          </p:cNvPr>
          <p:cNvCxnSpPr>
            <a:cxnSpLocks noChangeShapeType="1"/>
            <a:stCxn id="80900" idx="6"/>
            <a:endCxn id="80909" idx="3"/>
          </p:cNvCxnSpPr>
          <p:nvPr/>
        </p:nvCxnSpPr>
        <p:spPr bwMode="auto">
          <a:xfrm flipV="1">
            <a:off x="1673225" y="3857625"/>
            <a:ext cx="2016125" cy="946150"/>
          </a:xfrm>
          <a:prstGeom prst="straightConnector1">
            <a:avLst/>
          </a:prstGeom>
          <a:noFill/>
          <a:ln w="50800">
            <a:solidFill>
              <a:schemeClr val="accent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0919" name="AutoShape 23">
            <a:extLst>
              <a:ext uri="{FF2B5EF4-FFF2-40B4-BE49-F238E27FC236}">
                <a16:creationId xmlns:a16="http://schemas.microsoft.com/office/drawing/2014/main" id="{445E17CF-1780-41CF-A655-DB9DE0B017AB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795713" y="2916238"/>
            <a:ext cx="0" cy="687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0920" name="AutoShape 24">
            <a:extLst>
              <a:ext uri="{FF2B5EF4-FFF2-40B4-BE49-F238E27FC236}">
                <a16:creationId xmlns:a16="http://schemas.microsoft.com/office/drawing/2014/main" id="{522A3FBE-700A-4163-8333-90B6E51F81FB}"/>
              </a:ext>
            </a:extLst>
          </p:cNvPr>
          <p:cNvCxnSpPr>
            <a:cxnSpLocks noChangeShapeType="1"/>
            <a:stCxn id="80908" idx="7"/>
            <a:endCxn id="80904" idx="3"/>
          </p:cNvCxnSpPr>
          <p:nvPr/>
        </p:nvCxnSpPr>
        <p:spPr bwMode="auto">
          <a:xfrm flipV="1">
            <a:off x="2416175" y="2871788"/>
            <a:ext cx="1273175" cy="776287"/>
          </a:xfrm>
          <a:prstGeom prst="straightConnector1">
            <a:avLst/>
          </a:prstGeom>
          <a:noFill/>
          <a:ln w="50800">
            <a:solidFill>
              <a:schemeClr val="accent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0921" name="AutoShape 25">
            <a:extLst>
              <a:ext uri="{FF2B5EF4-FFF2-40B4-BE49-F238E27FC236}">
                <a16:creationId xmlns:a16="http://schemas.microsoft.com/office/drawing/2014/main" id="{EDB89066-044B-4040-BF61-AB8F55BA624D}"/>
              </a:ext>
            </a:extLst>
          </p:cNvPr>
          <p:cNvCxnSpPr>
            <a:cxnSpLocks noChangeShapeType="1"/>
            <a:stCxn id="80909" idx="2"/>
            <a:endCxn id="80908" idx="6"/>
          </p:cNvCxnSpPr>
          <p:nvPr/>
        </p:nvCxnSpPr>
        <p:spPr bwMode="auto">
          <a:xfrm flipH="1">
            <a:off x="2460625" y="3752850"/>
            <a:ext cx="1184275" cy="1588"/>
          </a:xfrm>
          <a:prstGeom prst="straightConnector1">
            <a:avLst/>
          </a:prstGeom>
          <a:noFill/>
          <a:ln w="50800">
            <a:solidFill>
              <a:schemeClr val="accent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6FFCA71-83F9-4C53-9C7C-1D91E3065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116</a:t>
            </a:fld>
            <a:endParaRPr lang="en-US" altLang="hi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461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8A1E39A8-3BFF-4ACC-B107-19E787CC93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i-IN"/>
              <a:t>Topological Sort:  DFS</a:t>
            </a:r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3DEA7711-6B61-4B66-B2ED-9F9B6DB81B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295400"/>
            <a:ext cx="1647825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hi-IN" sz="1600" b="1">
                <a:latin typeface="Courier New" panose="02070309020205020404" pitchFamily="49" charset="0"/>
              </a:rPr>
              <a:t>dfs(A)</a:t>
            </a:r>
          </a:p>
          <a:p>
            <a:pPr>
              <a:lnSpc>
                <a:spcPct val="120000"/>
              </a:lnSpc>
            </a:pPr>
            <a:r>
              <a:rPr lang="en-US" altLang="hi-IN" sz="1600" b="1">
                <a:latin typeface="Courier New" panose="02070309020205020404" pitchFamily="49" charset="0"/>
              </a:rPr>
              <a:t>  dfs(D)</a:t>
            </a:r>
          </a:p>
          <a:p>
            <a:pPr>
              <a:lnSpc>
                <a:spcPct val="120000"/>
              </a:lnSpc>
            </a:pPr>
            <a:r>
              <a:rPr lang="en-US" altLang="hi-IN" sz="1600" b="1">
                <a:latin typeface="Courier New" panose="02070309020205020404" pitchFamily="49" charset="0"/>
              </a:rPr>
              <a:t>    dfs(E)</a:t>
            </a:r>
          </a:p>
          <a:p>
            <a:pPr>
              <a:lnSpc>
                <a:spcPct val="120000"/>
              </a:lnSpc>
            </a:pPr>
            <a:r>
              <a:rPr lang="en-US" altLang="hi-IN" sz="1600" b="1">
                <a:latin typeface="Courier New" panose="02070309020205020404" pitchFamily="49" charset="0"/>
              </a:rPr>
              <a:t>      dfs(F)</a:t>
            </a:r>
          </a:p>
        </p:txBody>
      </p:sp>
      <p:sp>
        <p:nvSpPr>
          <p:cNvPr id="81924" name="Oval 4">
            <a:extLst>
              <a:ext uri="{FF2B5EF4-FFF2-40B4-BE49-F238E27FC236}">
                <a16:creationId xmlns:a16="http://schemas.microsoft.com/office/drawing/2014/main" id="{B9103C50-2E42-48FD-8A45-63E10C1C43E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71600" y="4652963"/>
            <a:ext cx="301625" cy="3016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solidFill>
                  <a:schemeClr val="bg1"/>
                </a:solidFill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81925" name="Oval 5">
            <a:extLst>
              <a:ext uri="{FF2B5EF4-FFF2-40B4-BE49-F238E27FC236}">
                <a16:creationId xmlns:a16="http://schemas.microsoft.com/office/drawing/2014/main" id="{036EE66D-722D-4E92-AEFD-713F617E845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74775" y="1066800"/>
            <a:ext cx="301625" cy="303213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C</a:t>
            </a:r>
          </a:p>
        </p:txBody>
      </p:sp>
      <p:sp>
        <p:nvSpPr>
          <p:cNvPr id="81926" name="Oval 6">
            <a:extLst>
              <a:ext uri="{FF2B5EF4-FFF2-40B4-BE49-F238E27FC236}">
                <a16:creationId xmlns:a16="http://schemas.microsoft.com/office/drawing/2014/main" id="{00DA5637-AB6C-4C47-89A2-C3FB9AE4122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59000" y="2616200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G</a:t>
            </a:r>
          </a:p>
        </p:txBody>
      </p:sp>
      <p:cxnSp>
        <p:nvCxnSpPr>
          <p:cNvPr id="81927" name="AutoShape 7">
            <a:extLst>
              <a:ext uri="{FF2B5EF4-FFF2-40B4-BE49-F238E27FC236}">
                <a16:creationId xmlns:a16="http://schemas.microsoft.com/office/drawing/2014/main" id="{C6BC163B-A99D-4BA7-BBE3-62EF69C7EF71}"/>
              </a:ext>
            </a:extLst>
          </p:cNvPr>
          <p:cNvCxnSpPr>
            <a:cxnSpLocks noChangeShapeType="1"/>
            <a:stCxn id="81924" idx="0"/>
            <a:endCxn id="81925" idx="4"/>
          </p:cNvCxnSpPr>
          <p:nvPr/>
        </p:nvCxnSpPr>
        <p:spPr bwMode="auto">
          <a:xfrm flipV="1">
            <a:off x="1522413" y="1370013"/>
            <a:ext cx="3175" cy="32829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1928" name="Oval 8">
            <a:extLst>
              <a:ext uri="{FF2B5EF4-FFF2-40B4-BE49-F238E27FC236}">
                <a16:creationId xmlns:a16="http://schemas.microsoft.com/office/drawing/2014/main" id="{E58239F8-33F4-4A78-965B-7E42D4D3EC6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44900" y="2616200"/>
            <a:ext cx="301625" cy="300038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solidFill>
                  <a:schemeClr val="bg1"/>
                </a:solidFill>
                <a:latin typeface="Courier New" panose="02070309020205020404" pitchFamily="49" charset="0"/>
              </a:rPr>
              <a:t>A</a:t>
            </a:r>
          </a:p>
        </p:txBody>
      </p:sp>
      <p:cxnSp>
        <p:nvCxnSpPr>
          <p:cNvPr id="81929" name="AutoShape 9">
            <a:extLst>
              <a:ext uri="{FF2B5EF4-FFF2-40B4-BE49-F238E27FC236}">
                <a16:creationId xmlns:a16="http://schemas.microsoft.com/office/drawing/2014/main" id="{6F989821-C78B-43F5-9EEF-ABB5D082D110}"/>
              </a:ext>
            </a:extLst>
          </p:cNvPr>
          <p:cNvCxnSpPr>
            <a:cxnSpLocks noChangeShapeType="1"/>
            <a:stCxn id="81925" idx="5"/>
            <a:endCxn id="81928" idx="1"/>
          </p:cNvCxnSpPr>
          <p:nvPr/>
        </p:nvCxnSpPr>
        <p:spPr bwMode="auto">
          <a:xfrm>
            <a:off x="1631950" y="1325563"/>
            <a:ext cx="2057400" cy="13350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1930" name="Oval 10">
            <a:extLst>
              <a:ext uri="{FF2B5EF4-FFF2-40B4-BE49-F238E27FC236}">
                <a16:creationId xmlns:a16="http://schemas.microsoft.com/office/drawing/2014/main" id="{D08E7BE7-E354-4B2F-A1D9-BF5753F80AE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70450" y="2616200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B</a:t>
            </a:r>
          </a:p>
        </p:txBody>
      </p:sp>
      <p:cxnSp>
        <p:nvCxnSpPr>
          <p:cNvPr id="81931" name="AutoShape 11">
            <a:extLst>
              <a:ext uri="{FF2B5EF4-FFF2-40B4-BE49-F238E27FC236}">
                <a16:creationId xmlns:a16="http://schemas.microsoft.com/office/drawing/2014/main" id="{E7824252-7B4E-4B00-A79E-2B08CBCE16AF}"/>
              </a:ext>
            </a:extLst>
          </p:cNvPr>
          <p:cNvCxnSpPr>
            <a:cxnSpLocks noChangeShapeType="1"/>
            <a:stCxn id="81925" idx="6"/>
            <a:endCxn id="81930" idx="1"/>
          </p:cNvCxnSpPr>
          <p:nvPr/>
        </p:nvCxnSpPr>
        <p:spPr bwMode="auto">
          <a:xfrm>
            <a:off x="1676400" y="1219200"/>
            <a:ext cx="3238500" cy="14414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1932" name="Oval 12">
            <a:extLst>
              <a:ext uri="{FF2B5EF4-FFF2-40B4-BE49-F238E27FC236}">
                <a16:creationId xmlns:a16="http://schemas.microsoft.com/office/drawing/2014/main" id="{1CA80A70-BF36-466B-8C60-847987B367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59000" y="3603625"/>
            <a:ext cx="301625" cy="301625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solidFill>
                  <a:schemeClr val="bg1"/>
                </a:solidFill>
                <a:latin typeface="Courier New" panose="02070309020205020404" pitchFamily="49" charset="0"/>
              </a:rPr>
              <a:t>D</a:t>
            </a:r>
          </a:p>
        </p:txBody>
      </p:sp>
      <p:sp>
        <p:nvSpPr>
          <p:cNvPr id="81933" name="Oval 13">
            <a:extLst>
              <a:ext uri="{FF2B5EF4-FFF2-40B4-BE49-F238E27FC236}">
                <a16:creationId xmlns:a16="http://schemas.microsoft.com/office/drawing/2014/main" id="{A8EC0D1B-CC64-4E0B-A5D7-6C1200138C0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44900" y="3603625"/>
            <a:ext cx="301625" cy="29845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solidFill>
                  <a:schemeClr val="bg1"/>
                </a:solidFill>
                <a:latin typeface="Courier New" panose="02070309020205020404" pitchFamily="49" charset="0"/>
              </a:rPr>
              <a:t>E</a:t>
            </a:r>
          </a:p>
        </p:txBody>
      </p:sp>
      <p:cxnSp>
        <p:nvCxnSpPr>
          <p:cNvPr id="81934" name="AutoShape 14">
            <a:extLst>
              <a:ext uri="{FF2B5EF4-FFF2-40B4-BE49-F238E27FC236}">
                <a16:creationId xmlns:a16="http://schemas.microsoft.com/office/drawing/2014/main" id="{9EEFDD73-9EF7-4B3E-8CA8-7F3364D7F698}"/>
              </a:ext>
            </a:extLst>
          </p:cNvPr>
          <p:cNvCxnSpPr>
            <a:cxnSpLocks noChangeShapeType="1"/>
            <a:stCxn id="81925" idx="4"/>
            <a:endCxn id="81926" idx="1"/>
          </p:cNvCxnSpPr>
          <p:nvPr/>
        </p:nvCxnSpPr>
        <p:spPr bwMode="auto">
          <a:xfrm>
            <a:off x="1525588" y="1370013"/>
            <a:ext cx="677862" cy="12906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1935" name="AutoShape 15">
            <a:extLst>
              <a:ext uri="{FF2B5EF4-FFF2-40B4-BE49-F238E27FC236}">
                <a16:creationId xmlns:a16="http://schemas.microsoft.com/office/drawing/2014/main" id="{D79E4CF4-A5C8-4003-A108-1646C3F9F386}"/>
              </a:ext>
            </a:extLst>
          </p:cNvPr>
          <p:cNvCxnSpPr>
            <a:cxnSpLocks noChangeShapeType="1"/>
            <a:stCxn id="81933" idx="2"/>
            <a:endCxn id="81932" idx="6"/>
          </p:cNvCxnSpPr>
          <p:nvPr/>
        </p:nvCxnSpPr>
        <p:spPr bwMode="auto">
          <a:xfrm flipH="1">
            <a:off x="2460625" y="3752850"/>
            <a:ext cx="1184275" cy="1588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1936" name="AutoShape 16">
            <a:extLst>
              <a:ext uri="{FF2B5EF4-FFF2-40B4-BE49-F238E27FC236}">
                <a16:creationId xmlns:a16="http://schemas.microsoft.com/office/drawing/2014/main" id="{D53D0A3F-D61C-4F21-A851-AB9D7194B1F8}"/>
              </a:ext>
            </a:extLst>
          </p:cNvPr>
          <p:cNvCxnSpPr>
            <a:cxnSpLocks noChangeShapeType="1"/>
            <a:stCxn id="81933" idx="3"/>
            <a:endCxn id="81924" idx="6"/>
          </p:cNvCxnSpPr>
          <p:nvPr/>
        </p:nvCxnSpPr>
        <p:spPr bwMode="auto">
          <a:xfrm flipH="1">
            <a:off x="1673225" y="3857625"/>
            <a:ext cx="2016125" cy="94615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1937" name="AutoShape 17">
            <a:extLst>
              <a:ext uri="{FF2B5EF4-FFF2-40B4-BE49-F238E27FC236}">
                <a16:creationId xmlns:a16="http://schemas.microsoft.com/office/drawing/2014/main" id="{F4E41D6B-623C-4D38-A729-847670C3CBFA}"/>
              </a:ext>
            </a:extLst>
          </p:cNvPr>
          <p:cNvCxnSpPr>
            <a:cxnSpLocks noChangeShapeType="1"/>
            <a:stCxn id="81924" idx="7"/>
            <a:endCxn id="81932" idx="3"/>
          </p:cNvCxnSpPr>
          <p:nvPr/>
        </p:nvCxnSpPr>
        <p:spPr bwMode="auto">
          <a:xfrm flipV="1">
            <a:off x="1628775" y="3860800"/>
            <a:ext cx="574675" cy="8366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1938" name="AutoShape 18">
            <a:extLst>
              <a:ext uri="{FF2B5EF4-FFF2-40B4-BE49-F238E27FC236}">
                <a16:creationId xmlns:a16="http://schemas.microsoft.com/office/drawing/2014/main" id="{3A81B364-CD15-4FDE-BEFB-AF525B0C83F3}"/>
              </a:ext>
            </a:extLst>
          </p:cNvPr>
          <p:cNvCxnSpPr>
            <a:cxnSpLocks noChangeShapeType="1"/>
            <a:stCxn id="81933" idx="7"/>
            <a:endCxn id="81930" idx="3"/>
          </p:cNvCxnSpPr>
          <p:nvPr/>
        </p:nvCxnSpPr>
        <p:spPr bwMode="auto">
          <a:xfrm flipV="1">
            <a:off x="3902075" y="2873375"/>
            <a:ext cx="1012825" cy="7747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1939" name="AutoShape 19">
            <a:extLst>
              <a:ext uri="{FF2B5EF4-FFF2-40B4-BE49-F238E27FC236}">
                <a16:creationId xmlns:a16="http://schemas.microsoft.com/office/drawing/2014/main" id="{765F16E8-5A1E-46D4-9A39-2593991CB372}"/>
              </a:ext>
            </a:extLst>
          </p:cNvPr>
          <p:cNvCxnSpPr>
            <a:cxnSpLocks noChangeShapeType="1"/>
            <a:stCxn id="81932" idx="7"/>
            <a:endCxn id="81928" idx="3"/>
          </p:cNvCxnSpPr>
          <p:nvPr/>
        </p:nvCxnSpPr>
        <p:spPr bwMode="auto">
          <a:xfrm flipV="1">
            <a:off x="2416175" y="2871788"/>
            <a:ext cx="1273175" cy="776287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1940" name="Oval 20">
            <a:extLst>
              <a:ext uri="{FF2B5EF4-FFF2-40B4-BE49-F238E27FC236}">
                <a16:creationId xmlns:a16="http://schemas.microsoft.com/office/drawing/2014/main" id="{95576E73-BC9F-4190-8EE5-2C067C9DF80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90800" y="5181600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H</a:t>
            </a:r>
          </a:p>
        </p:txBody>
      </p:sp>
      <p:cxnSp>
        <p:nvCxnSpPr>
          <p:cNvPr id="81941" name="AutoShape 21">
            <a:extLst>
              <a:ext uri="{FF2B5EF4-FFF2-40B4-BE49-F238E27FC236}">
                <a16:creationId xmlns:a16="http://schemas.microsoft.com/office/drawing/2014/main" id="{E61C10CE-6FD8-4DE9-AB59-C65EBF92989D}"/>
              </a:ext>
            </a:extLst>
          </p:cNvPr>
          <p:cNvCxnSpPr>
            <a:cxnSpLocks noChangeShapeType="1"/>
            <a:stCxn id="81940" idx="2"/>
            <a:endCxn id="81924" idx="5"/>
          </p:cNvCxnSpPr>
          <p:nvPr/>
        </p:nvCxnSpPr>
        <p:spPr bwMode="auto">
          <a:xfrm flipH="1" flipV="1">
            <a:off x="1628775" y="4910138"/>
            <a:ext cx="962025" cy="4222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2870" name="AutoShape 22">
            <a:extLst>
              <a:ext uri="{FF2B5EF4-FFF2-40B4-BE49-F238E27FC236}">
                <a16:creationId xmlns:a16="http://schemas.microsoft.com/office/drawing/2014/main" id="{339C5A44-06E3-48C6-93FD-D9568BCA4FB0}"/>
              </a:ext>
            </a:extLst>
          </p:cNvPr>
          <p:cNvCxnSpPr>
            <a:cxnSpLocks noChangeShapeType="1"/>
            <a:stCxn id="81940" idx="2"/>
            <a:endCxn id="81924" idx="5"/>
          </p:cNvCxnSpPr>
          <p:nvPr/>
        </p:nvCxnSpPr>
        <p:spPr bwMode="auto">
          <a:xfrm flipH="1" flipV="1">
            <a:off x="1628775" y="4910138"/>
            <a:ext cx="962025" cy="422275"/>
          </a:xfrm>
          <a:prstGeom prst="straightConnector1">
            <a:avLst/>
          </a:prstGeom>
          <a:noFill/>
          <a:ln w="50800">
            <a:solidFill>
              <a:schemeClr val="accent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1943" name="AutoShape 23">
            <a:extLst>
              <a:ext uri="{FF2B5EF4-FFF2-40B4-BE49-F238E27FC236}">
                <a16:creationId xmlns:a16="http://schemas.microsoft.com/office/drawing/2014/main" id="{1C8D4E1B-A007-4D73-8BDC-36E8A6F9D40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795713" y="2916238"/>
            <a:ext cx="0" cy="687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1944" name="AutoShape 24">
            <a:extLst>
              <a:ext uri="{FF2B5EF4-FFF2-40B4-BE49-F238E27FC236}">
                <a16:creationId xmlns:a16="http://schemas.microsoft.com/office/drawing/2014/main" id="{36280231-84DB-490A-AE28-1B3D62F7570D}"/>
              </a:ext>
            </a:extLst>
          </p:cNvPr>
          <p:cNvCxnSpPr>
            <a:cxnSpLocks noChangeShapeType="1"/>
            <a:stCxn id="81932" idx="7"/>
            <a:endCxn id="81928" idx="3"/>
          </p:cNvCxnSpPr>
          <p:nvPr/>
        </p:nvCxnSpPr>
        <p:spPr bwMode="auto">
          <a:xfrm flipV="1">
            <a:off x="2416175" y="2871788"/>
            <a:ext cx="1273175" cy="776287"/>
          </a:xfrm>
          <a:prstGeom prst="straightConnector1">
            <a:avLst/>
          </a:prstGeom>
          <a:noFill/>
          <a:ln w="50800">
            <a:solidFill>
              <a:schemeClr val="accent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1945" name="AutoShape 25">
            <a:extLst>
              <a:ext uri="{FF2B5EF4-FFF2-40B4-BE49-F238E27FC236}">
                <a16:creationId xmlns:a16="http://schemas.microsoft.com/office/drawing/2014/main" id="{8F697308-5B46-4081-9B3A-0CFA7FB1E7F9}"/>
              </a:ext>
            </a:extLst>
          </p:cNvPr>
          <p:cNvCxnSpPr>
            <a:cxnSpLocks noChangeShapeType="1"/>
            <a:stCxn id="81933" idx="2"/>
            <a:endCxn id="81932" idx="6"/>
          </p:cNvCxnSpPr>
          <p:nvPr/>
        </p:nvCxnSpPr>
        <p:spPr bwMode="auto">
          <a:xfrm flipH="1">
            <a:off x="2460625" y="3752850"/>
            <a:ext cx="1184275" cy="1588"/>
          </a:xfrm>
          <a:prstGeom prst="straightConnector1">
            <a:avLst/>
          </a:prstGeom>
          <a:noFill/>
          <a:ln w="50800">
            <a:solidFill>
              <a:schemeClr val="accent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1946" name="AutoShape 26">
            <a:extLst>
              <a:ext uri="{FF2B5EF4-FFF2-40B4-BE49-F238E27FC236}">
                <a16:creationId xmlns:a16="http://schemas.microsoft.com/office/drawing/2014/main" id="{2B6F59E1-8023-450F-A8BE-FC062DCC89DD}"/>
              </a:ext>
            </a:extLst>
          </p:cNvPr>
          <p:cNvCxnSpPr>
            <a:cxnSpLocks noChangeShapeType="1"/>
            <a:stCxn id="81924" idx="6"/>
            <a:endCxn id="81933" idx="3"/>
          </p:cNvCxnSpPr>
          <p:nvPr/>
        </p:nvCxnSpPr>
        <p:spPr bwMode="auto">
          <a:xfrm flipV="1">
            <a:off x="1673225" y="3857625"/>
            <a:ext cx="2016125" cy="946150"/>
          </a:xfrm>
          <a:prstGeom prst="straightConnector1">
            <a:avLst/>
          </a:prstGeom>
          <a:noFill/>
          <a:ln w="50800">
            <a:solidFill>
              <a:schemeClr val="accent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568F89-F6E6-4DC6-87AD-46B7FE463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117</a:t>
            </a:fld>
            <a:endParaRPr lang="en-US" altLang="hi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62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E1BB54C5-A7A0-49C4-9B66-F339E69631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i-IN"/>
              <a:t>Topological Sort:  DFS</a:t>
            </a:r>
          </a:p>
        </p:txBody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C61499AC-E373-4D8B-969E-F8EA341C83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295400"/>
            <a:ext cx="2012950" cy="156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hi-IN" sz="1600" b="1">
                <a:latin typeface="Courier New" panose="02070309020205020404" pitchFamily="49" charset="0"/>
              </a:rPr>
              <a:t>dfs(A)</a:t>
            </a:r>
          </a:p>
          <a:p>
            <a:pPr>
              <a:lnSpc>
                <a:spcPct val="120000"/>
              </a:lnSpc>
            </a:pPr>
            <a:r>
              <a:rPr lang="en-US" altLang="hi-IN" sz="1600" b="1">
                <a:latin typeface="Courier New" panose="02070309020205020404" pitchFamily="49" charset="0"/>
              </a:rPr>
              <a:t>  dfs(D)</a:t>
            </a:r>
          </a:p>
          <a:p>
            <a:pPr>
              <a:lnSpc>
                <a:spcPct val="120000"/>
              </a:lnSpc>
            </a:pPr>
            <a:r>
              <a:rPr lang="en-US" altLang="hi-IN" sz="1600" b="1">
                <a:latin typeface="Courier New" panose="02070309020205020404" pitchFamily="49" charset="0"/>
              </a:rPr>
              <a:t>    dfs(E)</a:t>
            </a:r>
          </a:p>
          <a:p>
            <a:pPr>
              <a:lnSpc>
                <a:spcPct val="120000"/>
              </a:lnSpc>
            </a:pPr>
            <a:r>
              <a:rPr lang="en-US" altLang="hi-IN" sz="1600" b="1">
                <a:latin typeface="Courier New" panose="02070309020205020404" pitchFamily="49" charset="0"/>
              </a:rPr>
              <a:t>      dfs(F)</a:t>
            </a:r>
          </a:p>
          <a:p>
            <a:pPr>
              <a:lnSpc>
                <a:spcPct val="120000"/>
              </a:lnSpc>
            </a:pPr>
            <a:r>
              <a:rPr lang="en-US" altLang="hi-IN" sz="1600" b="1">
                <a:latin typeface="Courier New" panose="02070309020205020404" pitchFamily="49" charset="0"/>
              </a:rPr>
              <a:t>         dfs(H)</a:t>
            </a:r>
          </a:p>
        </p:txBody>
      </p:sp>
      <p:sp>
        <p:nvSpPr>
          <p:cNvPr id="82948" name="Oval 4">
            <a:extLst>
              <a:ext uri="{FF2B5EF4-FFF2-40B4-BE49-F238E27FC236}">
                <a16:creationId xmlns:a16="http://schemas.microsoft.com/office/drawing/2014/main" id="{823075EB-DB9A-4072-95E9-752AB50C3EA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71600" y="4652963"/>
            <a:ext cx="301625" cy="301625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solidFill>
                  <a:schemeClr val="bg1"/>
                </a:solidFill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82949" name="Oval 5">
            <a:extLst>
              <a:ext uri="{FF2B5EF4-FFF2-40B4-BE49-F238E27FC236}">
                <a16:creationId xmlns:a16="http://schemas.microsoft.com/office/drawing/2014/main" id="{A304B49D-7947-4BA9-BFD7-486E1B7A21D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74775" y="1066800"/>
            <a:ext cx="301625" cy="303213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C</a:t>
            </a:r>
          </a:p>
        </p:txBody>
      </p:sp>
      <p:sp>
        <p:nvSpPr>
          <p:cNvPr id="82950" name="Oval 6">
            <a:extLst>
              <a:ext uri="{FF2B5EF4-FFF2-40B4-BE49-F238E27FC236}">
                <a16:creationId xmlns:a16="http://schemas.microsoft.com/office/drawing/2014/main" id="{A9DF459E-CA7F-4149-B527-96B8A5FAD3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59000" y="2616200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G</a:t>
            </a:r>
          </a:p>
        </p:txBody>
      </p:sp>
      <p:cxnSp>
        <p:nvCxnSpPr>
          <p:cNvPr id="82951" name="AutoShape 7">
            <a:extLst>
              <a:ext uri="{FF2B5EF4-FFF2-40B4-BE49-F238E27FC236}">
                <a16:creationId xmlns:a16="http://schemas.microsoft.com/office/drawing/2014/main" id="{369F3E03-78BD-441C-8EC3-5B57C27361BB}"/>
              </a:ext>
            </a:extLst>
          </p:cNvPr>
          <p:cNvCxnSpPr>
            <a:cxnSpLocks noChangeShapeType="1"/>
            <a:stCxn id="82948" idx="0"/>
            <a:endCxn id="82949" idx="4"/>
          </p:cNvCxnSpPr>
          <p:nvPr/>
        </p:nvCxnSpPr>
        <p:spPr bwMode="auto">
          <a:xfrm flipV="1">
            <a:off x="1522413" y="1370013"/>
            <a:ext cx="3175" cy="32829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2952" name="Oval 8">
            <a:extLst>
              <a:ext uri="{FF2B5EF4-FFF2-40B4-BE49-F238E27FC236}">
                <a16:creationId xmlns:a16="http://schemas.microsoft.com/office/drawing/2014/main" id="{FFDA0FF6-C9A4-4841-BF5A-597E35E70F7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44900" y="2616200"/>
            <a:ext cx="301625" cy="300038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solidFill>
                  <a:schemeClr val="bg1"/>
                </a:solidFill>
                <a:latin typeface="Courier New" panose="02070309020205020404" pitchFamily="49" charset="0"/>
              </a:rPr>
              <a:t>A</a:t>
            </a:r>
          </a:p>
        </p:txBody>
      </p:sp>
      <p:cxnSp>
        <p:nvCxnSpPr>
          <p:cNvPr id="82953" name="AutoShape 9">
            <a:extLst>
              <a:ext uri="{FF2B5EF4-FFF2-40B4-BE49-F238E27FC236}">
                <a16:creationId xmlns:a16="http://schemas.microsoft.com/office/drawing/2014/main" id="{52491498-9C4A-4A34-8163-C7C666A791BD}"/>
              </a:ext>
            </a:extLst>
          </p:cNvPr>
          <p:cNvCxnSpPr>
            <a:cxnSpLocks noChangeShapeType="1"/>
            <a:stCxn id="82949" idx="5"/>
            <a:endCxn id="82952" idx="1"/>
          </p:cNvCxnSpPr>
          <p:nvPr/>
        </p:nvCxnSpPr>
        <p:spPr bwMode="auto">
          <a:xfrm>
            <a:off x="1631950" y="1325563"/>
            <a:ext cx="2057400" cy="13350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2954" name="Oval 10">
            <a:extLst>
              <a:ext uri="{FF2B5EF4-FFF2-40B4-BE49-F238E27FC236}">
                <a16:creationId xmlns:a16="http://schemas.microsoft.com/office/drawing/2014/main" id="{25258EBC-8224-4D02-8315-64D8F88521D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70450" y="2616200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B</a:t>
            </a:r>
          </a:p>
        </p:txBody>
      </p:sp>
      <p:cxnSp>
        <p:nvCxnSpPr>
          <p:cNvPr id="82955" name="AutoShape 11">
            <a:extLst>
              <a:ext uri="{FF2B5EF4-FFF2-40B4-BE49-F238E27FC236}">
                <a16:creationId xmlns:a16="http://schemas.microsoft.com/office/drawing/2014/main" id="{B1129A7A-1BE0-4D7F-B1F2-2B2FC64869C6}"/>
              </a:ext>
            </a:extLst>
          </p:cNvPr>
          <p:cNvCxnSpPr>
            <a:cxnSpLocks noChangeShapeType="1"/>
            <a:stCxn id="82949" idx="6"/>
            <a:endCxn id="82954" idx="1"/>
          </p:cNvCxnSpPr>
          <p:nvPr/>
        </p:nvCxnSpPr>
        <p:spPr bwMode="auto">
          <a:xfrm>
            <a:off x="1676400" y="1219200"/>
            <a:ext cx="3238500" cy="14414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2956" name="Oval 12">
            <a:extLst>
              <a:ext uri="{FF2B5EF4-FFF2-40B4-BE49-F238E27FC236}">
                <a16:creationId xmlns:a16="http://schemas.microsoft.com/office/drawing/2014/main" id="{2E8289FD-7CF3-49B1-ABCE-830F667D366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59000" y="3603625"/>
            <a:ext cx="301625" cy="301625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solidFill>
                  <a:schemeClr val="bg1"/>
                </a:solidFill>
                <a:latin typeface="Courier New" panose="02070309020205020404" pitchFamily="49" charset="0"/>
              </a:rPr>
              <a:t>D</a:t>
            </a:r>
          </a:p>
        </p:txBody>
      </p:sp>
      <p:sp>
        <p:nvSpPr>
          <p:cNvPr id="82957" name="Oval 13">
            <a:extLst>
              <a:ext uri="{FF2B5EF4-FFF2-40B4-BE49-F238E27FC236}">
                <a16:creationId xmlns:a16="http://schemas.microsoft.com/office/drawing/2014/main" id="{AEED16AA-814C-4757-A958-6C6EAD4ADE3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44900" y="3603625"/>
            <a:ext cx="301625" cy="29845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solidFill>
                  <a:schemeClr val="bg1"/>
                </a:solidFill>
                <a:latin typeface="Courier New" panose="02070309020205020404" pitchFamily="49" charset="0"/>
              </a:rPr>
              <a:t>E</a:t>
            </a:r>
          </a:p>
        </p:txBody>
      </p:sp>
      <p:cxnSp>
        <p:nvCxnSpPr>
          <p:cNvPr id="82958" name="AutoShape 14">
            <a:extLst>
              <a:ext uri="{FF2B5EF4-FFF2-40B4-BE49-F238E27FC236}">
                <a16:creationId xmlns:a16="http://schemas.microsoft.com/office/drawing/2014/main" id="{68049957-031F-480B-B5B3-433ABAA707BF}"/>
              </a:ext>
            </a:extLst>
          </p:cNvPr>
          <p:cNvCxnSpPr>
            <a:cxnSpLocks noChangeShapeType="1"/>
            <a:stCxn id="82949" idx="4"/>
            <a:endCxn id="82950" idx="1"/>
          </p:cNvCxnSpPr>
          <p:nvPr/>
        </p:nvCxnSpPr>
        <p:spPr bwMode="auto">
          <a:xfrm>
            <a:off x="1525588" y="1370013"/>
            <a:ext cx="677862" cy="12906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959" name="AutoShape 15">
            <a:extLst>
              <a:ext uri="{FF2B5EF4-FFF2-40B4-BE49-F238E27FC236}">
                <a16:creationId xmlns:a16="http://schemas.microsoft.com/office/drawing/2014/main" id="{0E9CBC7A-99A5-4077-AD65-9649BAB193F8}"/>
              </a:ext>
            </a:extLst>
          </p:cNvPr>
          <p:cNvCxnSpPr>
            <a:cxnSpLocks noChangeShapeType="1"/>
            <a:stCxn id="82957" idx="2"/>
            <a:endCxn id="82956" idx="6"/>
          </p:cNvCxnSpPr>
          <p:nvPr/>
        </p:nvCxnSpPr>
        <p:spPr bwMode="auto">
          <a:xfrm flipH="1">
            <a:off x="2460625" y="3752850"/>
            <a:ext cx="1184275" cy="1588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960" name="AutoShape 16">
            <a:extLst>
              <a:ext uri="{FF2B5EF4-FFF2-40B4-BE49-F238E27FC236}">
                <a16:creationId xmlns:a16="http://schemas.microsoft.com/office/drawing/2014/main" id="{5E62AC1D-6894-4C31-A68C-2F7BF370B095}"/>
              </a:ext>
            </a:extLst>
          </p:cNvPr>
          <p:cNvCxnSpPr>
            <a:cxnSpLocks noChangeShapeType="1"/>
            <a:stCxn id="82957" idx="3"/>
            <a:endCxn id="82948" idx="6"/>
          </p:cNvCxnSpPr>
          <p:nvPr/>
        </p:nvCxnSpPr>
        <p:spPr bwMode="auto">
          <a:xfrm flipH="1">
            <a:off x="1673225" y="3857625"/>
            <a:ext cx="2016125" cy="94615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961" name="AutoShape 17">
            <a:extLst>
              <a:ext uri="{FF2B5EF4-FFF2-40B4-BE49-F238E27FC236}">
                <a16:creationId xmlns:a16="http://schemas.microsoft.com/office/drawing/2014/main" id="{EE7E81E7-6B94-4C2A-9A13-8C7D6609DDE6}"/>
              </a:ext>
            </a:extLst>
          </p:cNvPr>
          <p:cNvCxnSpPr>
            <a:cxnSpLocks noChangeShapeType="1"/>
            <a:stCxn id="82948" idx="7"/>
            <a:endCxn id="82956" idx="3"/>
          </p:cNvCxnSpPr>
          <p:nvPr/>
        </p:nvCxnSpPr>
        <p:spPr bwMode="auto">
          <a:xfrm flipV="1">
            <a:off x="1628775" y="3860800"/>
            <a:ext cx="574675" cy="8366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962" name="AutoShape 18">
            <a:extLst>
              <a:ext uri="{FF2B5EF4-FFF2-40B4-BE49-F238E27FC236}">
                <a16:creationId xmlns:a16="http://schemas.microsoft.com/office/drawing/2014/main" id="{E10F6ABE-8A36-4323-AC3F-883C368B0374}"/>
              </a:ext>
            </a:extLst>
          </p:cNvPr>
          <p:cNvCxnSpPr>
            <a:cxnSpLocks noChangeShapeType="1"/>
            <a:stCxn id="82957" idx="7"/>
            <a:endCxn id="82954" idx="3"/>
          </p:cNvCxnSpPr>
          <p:nvPr/>
        </p:nvCxnSpPr>
        <p:spPr bwMode="auto">
          <a:xfrm flipV="1">
            <a:off x="3902075" y="2873375"/>
            <a:ext cx="1012825" cy="7747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963" name="AutoShape 19">
            <a:extLst>
              <a:ext uri="{FF2B5EF4-FFF2-40B4-BE49-F238E27FC236}">
                <a16:creationId xmlns:a16="http://schemas.microsoft.com/office/drawing/2014/main" id="{D710974A-4985-4DE6-A2DF-2E6EA8D1D71A}"/>
              </a:ext>
            </a:extLst>
          </p:cNvPr>
          <p:cNvCxnSpPr>
            <a:cxnSpLocks noChangeShapeType="1"/>
            <a:stCxn id="82956" idx="7"/>
            <a:endCxn id="82952" idx="3"/>
          </p:cNvCxnSpPr>
          <p:nvPr/>
        </p:nvCxnSpPr>
        <p:spPr bwMode="auto">
          <a:xfrm flipV="1">
            <a:off x="2416175" y="2871788"/>
            <a:ext cx="1273175" cy="776287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2964" name="Oval 20">
            <a:extLst>
              <a:ext uri="{FF2B5EF4-FFF2-40B4-BE49-F238E27FC236}">
                <a16:creationId xmlns:a16="http://schemas.microsoft.com/office/drawing/2014/main" id="{97FDE92B-3278-40AC-B9B2-300E05105CD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90800" y="5181600"/>
            <a:ext cx="301625" cy="3016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solidFill>
                  <a:schemeClr val="bg1"/>
                </a:solidFill>
                <a:latin typeface="Courier New" panose="02070309020205020404" pitchFamily="49" charset="0"/>
              </a:rPr>
              <a:t>H</a:t>
            </a:r>
          </a:p>
        </p:txBody>
      </p:sp>
      <p:cxnSp>
        <p:nvCxnSpPr>
          <p:cNvPr id="82965" name="AutoShape 21">
            <a:extLst>
              <a:ext uri="{FF2B5EF4-FFF2-40B4-BE49-F238E27FC236}">
                <a16:creationId xmlns:a16="http://schemas.microsoft.com/office/drawing/2014/main" id="{8D8EFB01-DFC9-4BF5-8CFA-C2853D0DDA7B}"/>
              </a:ext>
            </a:extLst>
          </p:cNvPr>
          <p:cNvCxnSpPr>
            <a:cxnSpLocks noChangeShapeType="1"/>
            <a:stCxn id="82964" idx="2"/>
            <a:endCxn id="82948" idx="5"/>
          </p:cNvCxnSpPr>
          <p:nvPr/>
        </p:nvCxnSpPr>
        <p:spPr bwMode="auto">
          <a:xfrm flipH="1" flipV="1">
            <a:off x="1628775" y="4910138"/>
            <a:ext cx="962025" cy="422275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966" name="AutoShape 23">
            <a:extLst>
              <a:ext uri="{FF2B5EF4-FFF2-40B4-BE49-F238E27FC236}">
                <a16:creationId xmlns:a16="http://schemas.microsoft.com/office/drawing/2014/main" id="{0866E219-4736-420A-8782-1A98D6B71817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795713" y="2916238"/>
            <a:ext cx="0" cy="687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967" name="AutoShape 24">
            <a:extLst>
              <a:ext uri="{FF2B5EF4-FFF2-40B4-BE49-F238E27FC236}">
                <a16:creationId xmlns:a16="http://schemas.microsoft.com/office/drawing/2014/main" id="{82778F61-B7A9-40BE-9F5F-06D7680B3E98}"/>
              </a:ext>
            </a:extLst>
          </p:cNvPr>
          <p:cNvCxnSpPr>
            <a:cxnSpLocks noChangeShapeType="1"/>
            <a:stCxn id="82956" idx="7"/>
            <a:endCxn id="82952" idx="3"/>
          </p:cNvCxnSpPr>
          <p:nvPr/>
        </p:nvCxnSpPr>
        <p:spPr bwMode="auto">
          <a:xfrm flipV="1">
            <a:off x="2416175" y="2871788"/>
            <a:ext cx="1273175" cy="776287"/>
          </a:xfrm>
          <a:prstGeom prst="straightConnector1">
            <a:avLst/>
          </a:prstGeom>
          <a:noFill/>
          <a:ln w="50800">
            <a:solidFill>
              <a:schemeClr val="accent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968" name="AutoShape 25">
            <a:extLst>
              <a:ext uri="{FF2B5EF4-FFF2-40B4-BE49-F238E27FC236}">
                <a16:creationId xmlns:a16="http://schemas.microsoft.com/office/drawing/2014/main" id="{792E0807-1CFF-4084-A3E5-D5F1A7F00423}"/>
              </a:ext>
            </a:extLst>
          </p:cNvPr>
          <p:cNvCxnSpPr>
            <a:cxnSpLocks noChangeShapeType="1"/>
            <a:stCxn id="82957" idx="2"/>
            <a:endCxn id="82956" idx="6"/>
          </p:cNvCxnSpPr>
          <p:nvPr/>
        </p:nvCxnSpPr>
        <p:spPr bwMode="auto">
          <a:xfrm flipH="1">
            <a:off x="2460625" y="3752850"/>
            <a:ext cx="1184275" cy="1588"/>
          </a:xfrm>
          <a:prstGeom prst="straightConnector1">
            <a:avLst/>
          </a:prstGeom>
          <a:noFill/>
          <a:ln w="50800">
            <a:solidFill>
              <a:schemeClr val="accent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969" name="AutoShape 26">
            <a:extLst>
              <a:ext uri="{FF2B5EF4-FFF2-40B4-BE49-F238E27FC236}">
                <a16:creationId xmlns:a16="http://schemas.microsoft.com/office/drawing/2014/main" id="{96C59917-1D51-4941-8526-3C63EFECD22E}"/>
              </a:ext>
            </a:extLst>
          </p:cNvPr>
          <p:cNvCxnSpPr>
            <a:cxnSpLocks noChangeShapeType="1"/>
            <a:stCxn id="82948" idx="6"/>
            <a:endCxn id="82957" idx="3"/>
          </p:cNvCxnSpPr>
          <p:nvPr/>
        </p:nvCxnSpPr>
        <p:spPr bwMode="auto">
          <a:xfrm flipV="1">
            <a:off x="1673225" y="3857625"/>
            <a:ext cx="2016125" cy="946150"/>
          </a:xfrm>
          <a:prstGeom prst="straightConnector1">
            <a:avLst/>
          </a:prstGeom>
          <a:noFill/>
          <a:ln w="50800">
            <a:solidFill>
              <a:schemeClr val="accent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970" name="AutoShape 27">
            <a:extLst>
              <a:ext uri="{FF2B5EF4-FFF2-40B4-BE49-F238E27FC236}">
                <a16:creationId xmlns:a16="http://schemas.microsoft.com/office/drawing/2014/main" id="{3E291521-651D-4044-ABDB-C6517CBD3114}"/>
              </a:ext>
            </a:extLst>
          </p:cNvPr>
          <p:cNvCxnSpPr>
            <a:cxnSpLocks noChangeShapeType="1"/>
            <a:stCxn id="82964" idx="2"/>
            <a:endCxn id="82948" idx="5"/>
          </p:cNvCxnSpPr>
          <p:nvPr/>
        </p:nvCxnSpPr>
        <p:spPr bwMode="auto">
          <a:xfrm flipH="1" flipV="1">
            <a:off x="1628775" y="4910138"/>
            <a:ext cx="962025" cy="422275"/>
          </a:xfrm>
          <a:prstGeom prst="straightConnector1">
            <a:avLst/>
          </a:prstGeom>
          <a:noFill/>
          <a:ln w="50800">
            <a:solidFill>
              <a:schemeClr val="accent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1E58A8-39A0-412B-9924-A25F2738C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118</a:t>
            </a:fld>
            <a:endParaRPr lang="en-US" altLang="hi-IN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AB53B26D-0B7D-44C5-82BD-B5B817802C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i-IN"/>
              <a:t>Topological Sort:  DFS</a:t>
            </a:r>
          </a:p>
        </p:txBody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A50170C9-68E0-42D2-A456-819FAB9515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295400"/>
            <a:ext cx="1647825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hi-IN" sz="1600" b="1">
                <a:latin typeface="Courier New" panose="02070309020205020404" pitchFamily="49" charset="0"/>
              </a:rPr>
              <a:t>dfs(A)</a:t>
            </a:r>
          </a:p>
          <a:p>
            <a:pPr>
              <a:lnSpc>
                <a:spcPct val="120000"/>
              </a:lnSpc>
            </a:pPr>
            <a:r>
              <a:rPr lang="en-US" altLang="hi-IN" sz="1600" b="1">
                <a:latin typeface="Courier New" panose="02070309020205020404" pitchFamily="49" charset="0"/>
              </a:rPr>
              <a:t>  dfs(D)</a:t>
            </a:r>
          </a:p>
          <a:p>
            <a:pPr>
              <a:lnSpc>
                <a:spcPct val="120000"/>
              </a:lnSpc>
            </a:pPr>
            <a:r>
              <a:rPr lang="en-US" altLang="hi-IN" sz="1600" b="1">
                <a:latin typeface="Courier New" panose="02070309020205020404" pitchFamily="49" charset="0"/>
              </a:rPr>
              <a:t>    dfs(E)</a:t>
            </a:r>
          </a:p>
          <a:p>
            <a:pPr>
              <a:lnSpc>
                <a:spcPct val="120000"/>
              </a:lnSpc>
            </a:pPr>
            <a:r>
              <a:rPr lang="en-US" altLang="hi-IN" sz="1600" b="1">
                <a:latin typeface="Courier New" panose="02070309020205020404" pitchFamily="49" charset="0"/>
              </a:rPr>
              <a:t>      dfs(F)</a:t>
            </a:r>
          </a:p>
        </p:txBody>
      </p:sp>
      <p:sp>
        <p:nvSpPr>
          <p:cNvPr id="83972" name="Oval 20">
            <a:extLst>
              <a:ext uri="{FF2B5EF4-FFF2-40B4-BE49-F238E27FC236}">
                <a16:creationId xmlns:a16="http://schemas.microsoft.com/office/drawing/2014/main" id="{22F47DF5-42B0-4755-8ECF-BFD7ACA8F98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90800" y="5181600"/>
            <a:ext cx="301625" cy="3016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solidFill>
                  <a:schemeClr val="bg1"/>
                </a:solidFill>
                <a:latin typeface="Courier New" panose="02070309020205020404" pitchFamily="49" charset="0"/>
              </a:rPr>
              <a:t>H</a:t>
            </a:r>
          </a:p>
        </p:txBody>
      </p:sp>
      <p:cxnSp>
        <p:nvCxnSpPr>
          <p:cNvPr id="83973" name="AutoShape 21">
            <a:extLst>
              <a:ext uri="{FF2B5EF4-FFF2-40B4-BE49-F238E27FC236}">
                <a16:creationId xmlns:a16="http://schemas.microsoft.com/office/drawing/2014/main" id="{4EBD0B50-FC98-4DBD-AF4E-E7ABE5D23210}"/>
              </a:ext>
            </a:extLst>
          </p:cNvPr>
          <p:cNvCxnSpPr>
            <a:cxnSpLocks noChangeShapeType="1"/>
            <a:stCxn id="83972" idx="2"/>
          </p:cNvCxnSpPr>
          <p:nvPr/>
        </p:nvCxnSpPr>
        <p:spPr bwMode="auto">
          <a:xfrm flipH="1" flipV="1">
            <a:off x="1628775" y="4910138"/>
            <a:ext cx="962025" cy="422275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3974" name="Rectangle 22">
            <a:extLst>
              <a:ext uri="{FF2B5EF4-FFF2-40B4-BE49-F238E27FC236}">
                <a16:creationId xmlns:a16="http://schemas.microsoft.com/office/drawing/2014/main" id="{EA41846A-BE3F-4F1A-84D1-A9109F4BEF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7625" y="5526088"/>
            <a:ext cx="2936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7</a:t>
            </a:r>
          </a:p>
        </p:txBody>
      </p:sp>
      <p:sp>
        <p:nvSpPr>
          <p:cNvPr id="83975" name="Oval 24">
            <a:extLst>
              <a:ext uri="{FF2B5EF4-FFF2-40B4-BE49-F238E27FC236}">
                <a16:creationId xmlns:a16="http://schemas.microsoft.com/office/drawing/2014/main" id="{93DE258C-3DF0-4CC4-B85F-FF47F145318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71600" y="4652963"/>
            <a:ext cx="301625" cy="3016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solidFill>
                  <a:schemeClr val="bg1"/>
                </a:solidFill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83976" name="Oval 25">
            <a:extLst>
              <a:ext uri="{FF2B5EF4-FFF2-40B4-BE49-F238E27FC236}">
                <a16:creationId xmlns:a16="http://schemas.microsoft.com/office/drawing/2014/main" id="{6C1F0623-0E42-4721-AB8E-F28E66189A0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74775" y="1066800"/>
            <a:ext cx="301625" cy="303213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C</a:t>
            </a:r>
          </a:p>
        </p:txBody>
      </p:sp>
      <p:sp>
        <p:nvSpPr>
          <p:cNvPr id="83977" name="Oval 26">
            <a:extLst>
              <a:ext uri="{FF2B5EF4-FFF2-40B4-BE49-F238E27FC236}">
                <a16:creationId xmlns:a16="http://schemas.microsoft.com/office/drawing/2014/main" id="{8ECEC835-95C9-4E65-BE38-1ED44D371C0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59000" y="2616200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G</a:t>
            </a:r>
          </a:p>
        </p:txBody>
      </p:sp>
      <p:cxnSp>
        <p:nvCxnSpPr>
          <p:cNvPr id="83978" name="AutoShape 27">
            <a:extLst>
              <a:ext uri="{FF2B5EF4-FFF2-40B4-BE49-F238E27FC236}">
                <a16:creationId xmlns:a16="http://schemas.microsoft.com/office/drawing/2014/main" id="{D728A88A-A816-4F9B-9EE1-6D6661EF77E8}"/>
              </a:ext>
            </a:extLst>
          </p:cNvPr>
          <p:cNvCxnSpPr>
            <a:cxnSpLocks noChangeShapeType="1"/>
            <a:stCxn id="83975" idx="0"/>
            <a:endCxn id="83976" idx="4"/>
          </p:cNvCxnSpPr>
          <p:nvPr/>
        </p:nvCxnSpPr>
        <p:spPr bwMode="auto">
          <a:xfrm flipV="1">
            <a:off x="1522413" y="1370013"/>
            <a:ext cx="3175" cy="32829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3979" name="Oval 28">
            <a:extLst>
              <a:ext uri="{FF2B5EF4-FFF2-40B4-BE49-F238E27FC236}">
                <a16:creationId xmlns:a16="http://schemas.microsoft.com/office/drawing/2014/main" id="{B5746EB2-1521-43AE-A4C6-D1F770B3FF1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44900" y="2616200"/>
            <a:ext cx="301625" cy="300038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solidFill>
                  <a:schemeClr val="bg1"/>
                </a:solidFill>
                <a:latin typeface="Courier New" panose="02070309020205020404" pitchFamily="49" charset="0"/>
              </a:rPr>
              <a:t>A</a:t>
            </a:r>
          </a:p>
        </p:txBody>
      </p:sp>
      <p:cxnSp>
        <p:nvCxnSpPr>
          <p:cNvPr id="83980" name="AutoShape 29">
            <a:extLst>
              <a:ext uri="{FF2B5EF4-FFF2-40B4-BE49-F238E27FC236}">
                <a16:creationId xmlns:a16="http://schemas.microsoft.com/office/drawing/2014/main" id="{42F34543-459F-4A15-985E-9E750ACB17CA}"/>
              </a:ext>
            </a:extLst>
          </p:cNvPr>
          <p:cNvCxnSpPr>
            <a:cxnSpLocks noChangeShapeType="1"/>
            <a:stCxn id="83976" idx="5"/>
            <a:endCxn id="83979" idx="1"/>
          </p:cNvCxnSpPr>
          <p:nvPr/>
        </p:nvCxnSpPr>
        <p:spPr bwMode="auto">
          <a:xfrm>
            <a:off x="1631950" y="1325563"/>
            <a:ext cx="2057400" cy="13350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3981" name="Oval 30">
            <a:extLst>
              <a:ext uri="{FF2B5EF4-FFF2-40B4-BE49-F238E27FC236}">
                <a16:creationId xmlns:a16="http://schemas.microsoft.com/office/drawing/2014/main" id="{5139A20D-9038-4A70-8308-03F4D7BD41D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70450" y="2616200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B</a:t>
            </a:r>
          </a:p>
        </p:txBody>
      </p:sp>
      <p:cxnSp>
        <p:nvCxnSpPr>
          <p:cNvPr id="83982" name="AutoShape 31">
            <a:extLst>
              <a:ext uri="{FF2B5EF4-FFF2-40B4-BE49-F238E27FC236}">
                <a16:creationId xmlns:a16="http://schemas.microsoft.com/office/drawing/2014/main" id="{CE1CDD4F-D6A3-4972-BFD7-07A451370F21}"/>
              </a:ext>
            </a:extLst>
          </p:cNvPr>
          <p:cNvCxnSpPr>
            <a:cxnSpLocks noChangeShapeType="1"/>
            <a:stCxn id="83976" idx="6"/>
            <a:endCxn id="83981" idx="1"/>
          </p:cNvCxnSpPr>
          <p:nvPr/>
        </p:nvCxnSpPr>
        <p:spPr bwMode="auto">
          <a:xfrm>
            <a:off x="1676400" y="1219200"/>
            <a:ext cx="3238500" cy="14414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3983" name="Oval 32">
            <a:extLst>
              <a:ext uri="{FF2B5EF4-FFF2-40B4-BE49-F238E27FC236}">
                <a16:creationId xmlns:a16="http://schemas.microsoft.com/office/drawing/2014/main" id="{12CB8DA9-FE17-411B-9CAF-517016CA05F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59000" y="3603625"/>
            <a:ext cx="301625" cy="301625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solidFill>
                  <a:schemeClr val="bg1"/>
                </a:solidFill>
                <a:latin typeface="Courier New" panose="02070309020205020404" pitchFamily="49" charset="0"/>
              </a:rPr>
              <a:t>D</a:t>
            </a:r>
          </a:p>
        </p:txBody>
      </p:sp>
      <p:sp>
        <p:nvSpPr>
          <p:cNvPr id="83984" name="Oval 33">
            <a:extLst>
              <a:ext uri="{FF2B5EF4-FFF2-40B4-BE49-F238E27FC236}">
                <a16:creationId xmlns:a16="http://schemas.microsoft.com/office/drawing/2014/main" id="{9F0021EF-611F-4E17-B50E-953FEC01FFD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44900" y="3603625"/>
            <a:ext cx="301625" cy="29845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solidFill>
                  <a:schemeClr val="bg1"/>
                </a:solidFill>
                <a:latin typeface="Courier New" panose="02070309020205020404" pitchFamily="49" charset="0"/>
              </a:rPr>
              <a:t>E</a:t>
            </a:r>
          </a:p>
        </p:txBody>
      </p:sp>
      <p:cxnSp>
        <p:nvCxnSpPr>
          <p:cNvPr id="83985" name="AutoShape 34">
            <a:extLst>
              <a:ext uri="{FF2B5EF4-FFF2-40B4-BE49-F238E27FC236}">
                <a16:creationId xmlns:a16="http://schemas.microsoft.com/office/drawing/2014/main" id="{179452C6-66C4-4014-94A4-80DD8073816D}"/>
              </a:ext>
            </a:extLst>
          </p:cNvPr>
          <p:cNvCxnSpPr>
            <a:cxnSpLocks noChangeShapeType="1"/>
            <a:stCxn id="83976" idx="4"/>
            <a:endCxn id="83977" idx="1"/>
          </p:cNvCxnSpPr>
          <p:nvPr/>
        </p:nvCxnSpPr>
        <p:spPr bwMode="auto">
          <a:xfrm>
            <a:off x="1525588" y="1370013"/>
            <a:ext cx="677862" cy="12906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986" name="AutoShape 35">
            <a:extLst>
              <a:ext uri="{FF2B5EF4-FFF2-40B4-BE49-F238E27FC236}">
                <a16:creationId xmlns:a16="http://schemas.microsoft.com/office/drawing/2014/main" id="{D3F37212-6334-4301-B03B-B1AF0AEA420E}"/>
              </a:ext>
            </a:extLst>
          </p:cNvPr>
          <p:cNvCxnSpPr>
            <a:cxnSpLocks noChangeShapeType="1"/>
            <a:stCxn id="83984" idx="2"/>
            <a:endCxn id="83983" idx="6"/>
          </p:cNvCxnSpPr>
          <p:nvPr/>
        </p:nvCxnSpPr>
        <p:spPr bwMode="auto">
          <a:xfrm flipH="1">
            <a:off x="2460625" y="3752850"/>
            <a:ext cx="1184275" cy="1588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987" name="AutoShape 36">
            <a:extLst>
              <a:ext uri="{FF2B5EF4-FFF2-40B4-BE49-F238E27FC236}">
                <a16:creationId xmlns:a16="http://schemas.microsoft.com/office/drawing/2014/main" id="{414A0F15-DE8F-4D62-88EA-37942E070BE1}"/>
              </a:ext>
            </a:extLst>
          </p:cNvPr>
          <p:cNvCxnSpPr>
            <a:cxnSpLocks noChangeShapeType="1"/>
            <a:stCxn id="83984" idx="3"/>
            <a:endCxn id="83975" idx="6"/>
          </p:cNvCxnSpPr>
          <p:nvPr/>
        </p:nvCxnSpPr>
        <p:spPr bwMode="auto">
          <a:xfrm flipH="1">
            <a:off x="1673225" y="3857625"/>
            <a:ext cx="2016125" cy="94615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988" name="AutoShape 37">
            <a:extLst>
              <a:ext uri="{FF2B5EF4-FFF2-40B4-BE49-F238E27FC236}">
                <a16:creationId xmlns:a16="http://schemas.microsoft.com/office/drawing/2014/main" id="{736E751B-05A6-448E-BC5F-4D2B9F221775}"/>
              </a:ext>
            </a:extLst>
          </p:cNvPr>
          <p:cNvCxnSpPr>
            <a:cxnSpLocks noChangeShapeType="1"/>
            <a:stCxn id="83975" idx="7"/>
            <a:endCxn id="83983" idx="3"/>
          </p:cNvCxnSpPr>
          <p:nvPr/>
        </p:nvCxnSpPr>
        <p:spPr bwMode="auto">
          <a:xfrm flipV="1">
            <a:off x="1628775" y="3860800"/>
            <a:ext cx="574675" cy="8366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989" name="AutoShape 38">
            <a:extLst>
              <a:ext uri="{FF2B5EF4-FFF2-40B4-BE49-F238E27FC236}">
                <a16:creationId xmlns:a16="http://schemas.microsoft.com/office/drawing/2014/main" id="{9A476B3B-AB82-476F-8052-BCD221C2D2C0}"/>
              </a:ext>
            </a:extLst>
          </p:cNvPr>
          <p:cNvCxnSpPr>
            <a:cxnSpLocks noChangeShapeType="1"/>
            <a:stCxn id="83984" idx="7"/>
            <a:endCxn id="83981" idx="3"/>
          </p:cNvCxnSpPr>
          <p:nvPr/>
        </p:nvCxnSpPr>
        <p:spPr bwMode="auto">
          <a:xfrm flipV="1">
            <a:off x="3902075" y="2873375"/>
            <a:ext cx="1012825" cy="7747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990" name="AutoShape 39">
            <a:extLst>
              <a:ext uri="{FF2B5EF4-FFF2-40B4-BE49-F238E27FC236}">
                <a16:creationId xmlns:a16="http://schemas.microsoft.com/office/drawing/2014/main" id="{A8427019-CDCD-4024-9774-188C5B25E6BD}"/>
              </a:ext>
            </a:extLst>
          </p:cNvPr>
          <p:cNvCxnSpPr>
            <a:cxnSpLocks noChangeShapeType="1"/>
            <a:stCxn id="83983" idx="7"/>
            <a:endCxn id="83979" idx="3"/>
          </p:cNvCxnSpPr>
          <p:nvPr/>
        </p:nvCxnSpPr>
        <p:spPr bwMode="auto">
          <a:xfrm flipV="1">
            <a:off x="2416175" y="2871788"/>
            <a:ext cx="1273175" cy="776287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991" name="AutoShape 40">
            <a:extLst>
              <a:ext uri="{FF2B5EF4-FFF2-40B4-BE49-F238E27FC236}">
                <a16:creationId xmlns:a16="http://schemas.microsoft.com/office/drawing/2014/main" id="{0138E8B4-AE6B-4BEC-8B04-16BB50E29BE6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795713" y="2916238"/>
            <a:ext cx="0" cy="687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992" name="AutoShape 41">
            <a:extLst>
              <a:ext uri="{FF2B5EF4-FFF2-40B4-BE49-F238E27FC236}">
                <a16:creationId xmlns:a16="http://schemas.microsoft.com/office/drawing/2014/main" id="{698B7AE3-D6ED-4619-9C01-4C2C53630FEA}"/>
              </a:ext>
            </a:extLst>
          </p:cNvPr>
          <p:cNvCxnSpPr>
            <a:cxnSpLocks noChangeShapeType="1"/>
            <a:stCxn id="83983" idx="7"/>
            <a:endCxn id="83979" idx="3"/>
          </p:cNvCxnSpPr>
          <p:nvPr/>
        </p:nvCxnSpPr>
        <p:spPr bwMode="auto">
          <a:xfrm flipV="1">
            <a:off x="2416175" y="2871788"/>
            <a:ext cx="1273175" cy="776287"/>
          </a:xfrm>
          <a:prstGeom prst="straightConnector1">
            <a:avLst/>
          </a:prstGeom>
          <a:noFill/>
          <a:ln w="50800">
            <a:solidFill>
              <a:schemeClr val="accent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993" name="AutoShape 42">
            <a:extLst>
              <a:ext uri="{FF2B5EF4-FFF2-40B4-BE49-F238E27FC236}">
                <a16:creationId xmlns:a16="http://schemas.microsoft.com/office/drawing/2014/main" id="{366DC617-1A06-4678-B670-AB6251169D98}"/>
              </a:ext>
            </a:extLst>
          </p:cNvPr>
          <p:cNvCxnSpPr>
            <a:cxnSpLocks noChangeShapeType="1"/>
            <a:stCxn id="83984" idx="2"/>
            <a:endCxn id="83983" idx="6"/>
          </p:cNvCxnSpPr>
          <p:nvPr/>
        </p:nvCxnSpPr>
        <p:spPr bwMode="auto">
          <a:xfrm flipH="1">
            <a:off x="2460625" y="3752850"/>
            <a:ext cx="1184275" cy="1588"/>
          </a:xfrm>
          <a:prstGeom prst="straightConnector1">
            <a:avLst/>
          </a:prstGeom>
          <a:noFill/>
          <a:ln w="50800">
            <a:solidFill>
              <a:schemeClr val="accent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994" name="AutoShape 43">
            <a:extLst>
              <a:ext uri="{FF2B5EF4-FFF2-40B4-BE49-F238E27FC236}">
                <a16:creationId xmlns:a16="http://schemas.microsoft.com/office/drawing/2014/main" id="{D069BA6D-CB07-402C-BF88-1CB6D6876AE1}"/>
              </a:ext>
            </a:extLst>
          </p:cNvPr>
          <p:cNvCxnSpPr>
            <a:cxnSpLocks noChangeShapeType="1"/>
            <a:stCxn id="83975" idx="6"/>
            <a:endCxn id="83984" idx="3"/>
          </p:cNvCxnSpPr>
          <p:nvPr/>
        </p:nvCxnSpPr>
        <p:spPr bwMode="auto">
          <a:xfrm flipV="1">
            <a:off x="1673225" y="3857625"/>
            <a:ext cx="2016125" cy="946150"/>
          </a:xfrm>
          <a:prstGeom prst="straightConnector1">
            <a:avLst/>
          </a:prstGeom>
          <a:noFill/>
          <a:ln w="50800">
            <a:solidFill>
              <a:schemeClr val="accent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371B17A-9E2C-4415-8619-92200476D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119</a:t>
            </a:fld>
            <a:endParaRPr lang="en-US" altLang="hi-IN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1003CFA6-8FD5-4720-B720-45636E9D6A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i-IN"/>
              <a:t>Topological Sort:  DFS</a:t>
            </a: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2A5EBE6A-A6E0-4D24-A644-DE6DB88827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295400"/>
            <a:ext cx="1403350" cy="973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hi-IN" sz="1600" b="1">
                <a:latin typeface="Courier New" panose="02070309020205020404" pitchFamily="49" charset="0"/>
              </a:rPr>
              <a:t>dfs(A)</a:t>
            </a:r>
          </a:p>
          <a:p>
            <a:pPr>
              <a:lnSpc>
                <a:spcPct val="120000"/>
              </a:lnSpc>
            </a:pPr>
            <a:r>
              <a:rPr lang="en-US" altLang="hi-IN" sz="1600" b="1">
                <a:latin typeface="Courier New" panose="02070309020205020404" pitchFamily="49" charset="0"/>
              </a:rPr>
              <a:t>  dfs(D)</a:t>
            </a:r>
          </a:p>
          <a:p>
            <a:pPr>
              <a:lnSpc>
                <a:spcPct val="120000"/>
              </a:lnSpc>
            </a:pPr>
            <a:r>
              <a:rPr lang="en-US" altLang="hi-IN" sz="1600" b="1">
                <a:latin typeface="Courier New" panose="02070309020205020404" pitchFamily="49" charset="0"/>
              </a:rPr>
              <a:t>    dfs(E)</a:t>
            </a:r>
          </a:p>
        </p:txBody>
      </p:sp>
      <p:sp>
        <p:nvSpPr>
          <p:cNvPr id="84996" name="Oval 4">
            <a:extLst>
              <a:ext uri="{FF2B5EF4-FFF2-40B4-BE49-F238E27FC236}">
                <a16:creationId xmlns:a16="http://schemas.microsoft.com/office/drawing/2014/main" id="{3FFD9FB7-45B9-4153-B82C-611BEBB09B1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71600" y="4652963"/>
            <a:ext cx="301625" cy="3016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solidFill>
                  <a:schemeClr val="bg1"/>
                </a:solidFill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84997" name="Oval 5">
            <a:extLst>
              <a:ext uri="{FF2B5EF4-FFF2-40B4-BE49-F238E27FC236}">
                <a16:creationId xmlns:a16="http://schemas.microsoft.com/office/drawing/2014/main" id="{85619B7E-5A70-41E3-9A46-46770467945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74775" y="1066800"/>
            <a:ext cx="301625" cy="303213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C</a:t>
            </a:r>
          </a:p>
        </p:txBody>
      </p:sp>
      <p:cxnSp>
        <p:nvCxnSpPr>
          <p:cNvPr id="84998" name="AutoShape 7">
            <a:extLst>
              <a:ext uri="{FF2B5EF4-FFF2-40B4-BE49-F238E27FC236}">
                <a16:creationId xmlns:a16="http://schemas.microsoft.com/office/drawing/2014/main" id="{6966174F-1405-43A1-89F3-515500441B32}"/>
              </a:ext>
            </a:extLst>
          </p:cNvPr>
          <p:cNvCxnSpPr>
            <a:cxnSpLocks noChangeShapeType="1"/>
            <a:stCxn id="84996" idx="0"/>
            <a:endCxn id="84997" idx="4"/>
          </p:cNvCxnSpPr>
          <p:nvPr/>
        </p:nvCxnSpPr>
        <p:spPr bwMode="auto">
          <a:xfrm flipV="1">
            <a:off x="1522413" y="1370013"/>
            <a:ext cx="3175" cy="32829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4999" name="Oval 8">
            <a:extLst>
              <a:ext uri="{FF2B5EF4-FFF2-40B4-BE49-F238E27FC236}">
                <a16:creationId xmlns:a16="http://schemas.microsoft.com/office/drawing/2014/main" id="{2D0D1354-B221-41D6-A304-681CBA11BE5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44900" y="2616200"/>
            <a:ext cx="301625" cy="300038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solidFill>
                  <a:schemeClr val="bg1"/>
                </a:solidFill>
                <a:latin typeface="Courier New" panose="02070309020205020404" pitchFamily="49" charset="0"/>
              </a:rPr>
              <a:t>A</a:t>
            </a:r>
          </a:p>
        </p:txBody>
      </p:sp>
      <p:cxnSp>
        <p:nvCxnSpPr>
          <p:cNvPr id="85000" name="AutoShape 9">
            <a:extLst>
              <a:ext uri="{FF2B5EF4-FFF2-40B4-BE49-F238E27FC236}">
                <a16:creationId xmlns:a16="http://schemas.microsoft.com/office/drawing/2014/main" id="{EE009A9B-5EC9-49AB-BEC7-1E7D605C50D7}"/>
              </a:ext>
            </a:extLst>
          </p:cNvPr>
          <p:cNvCxnSpPr>
            <a:cxnSpLocks noChangeShapeType="1"/>
            <a:stCxn id="84997" idx="5"/>
            <a:endCxn id="84999" idx="1"/>
          </p:cNvCxnSpPr>
          <p:nvPr/>
        </p:nvCxnSpPr>
        <p:spPr bwMode="auto">
          <a:xfrm>
            <a:off x="1631950" y="1325563"/>
            <a:ext cx="2057400" cy="13350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5001" name="Oval 10">
            <a:extLst>
              <a:ext uri="{FF2B5EF4-FFF2-40B4-BE49-F238E27FC236}">
                <a16:creationId xmlns:a16="http://schemas.microsoft.com/office/drawing/2014/main" id="{1878AB3C-FC28-483D-BD42-FE0A4D087F8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70450" y="2616200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B</a:t>
            </a:r>
          </a:p>
        </p:txBody>
      </p:sp>
      <p:cxnSp>
        <p:nvCxnSpPr>
          <p:cNvPr id="85002" name="AutoShape 11">
            <a:extLst>
              <a:ext uri="{FF2B5EF4-FFF2-40B4-BE49-F238E27FC236}">
                <a16:creationId xmlns:a16="http://schemas.microsoft.com/office/drawing/2014/main" id="{E60DB740-5085-488D-9B3C-B3BB65167618}"/>
              </a:ext>
            </a:extLst>
          </p:cNvPr>
          <p:cNvCxnSpPr>
            <a:cxnSpLocks noChangeShapeType="1"/>
            <a:stCxn id="84997" idx="6"/>
            <a:endCxn id="85001" idx="1"/>
          </p:cNvCxnSpPr>
          <p:nvPr/>
        </p:nvCxnSpPr>
        <p:spPr bwMode="auto">
          <a:xfrm>
            <a:off x="1676400" y="1219200"/>
            <a:ext cx="3238500" cy="14414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5003" name="Oval 12">
            <a:extLst>
              <a:ext uri="{FF2B5EF4-FFF2-40B4-BE49-F238E27FC236}">
                <a16:creationId xmlns:a16="http://schemas.microsoft.com/office/drawing/2014/main" id="{664BB0B5-1EE6-4777-AED6-488A0B8C165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59000" y="3603625"/>
            <a:ext cx="301625" cy="301625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solidFill>
                  <a:schemeClr val="bg1"/>
                </a:solidFill>
                <a:latin typeface="Courier New" panose="02070309020205020404" pitchFamily="49" charset="0"/>
              </a:rPr>
              <a:t>D</a:t>
            </a:r>
          </a:p>
        </p:txBody>
      </p:sp>
      <p:sp>
        <p:nvSpPr>
          <p:cNvPr id="85004" name="Oval 13">
            <a:extLst>
              <a:ext uri="{FF2B5EF4-FFF2-40B4-BE49-F238E27FC236}">
                <a16:creationId xmlns:a16="http://schemas.microsoft.com/office/drawing/2014/main" id="{48E76AA0-99AE-4320-9124-8245380547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44900" y="3603625"/>
            <a:ext cx="301625" cy="2984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solidFill>
                  <a:schemeClr val="bg1"/>
                </a:solidFill>
                <a:latin typeface="Courier New" panose="02070309020205020404" pitchFamily="49" charset="0"/>
              </a:rPr>
              <a:t>E</a:t>
            </a:r>
          </a:p>
        </p:txBody>
      </p:sp>
      <p:cxnSp>
        <p:nvCxnSpPr>
          <p:cNvPr id="85005" name="AutoShape 14">
            <a:extLst>
              <a:ext uri="{FF2B5EF4-FFF2-40B4-BE49-F238E27FC236}">
                <a16:creationId xmlns:a16="http://schemas.microsoft.com/office/drawing/2014/main" id="{161140E4-D351-4F32-BED6-890A23C095D1}"/>
              </a:ext>
            </a:extLst>
          </p:cNvPr>
          <p:cNvCxnSpPr>
            <a:cxnSpLocks noChangeShapeType="1"/>
            <a:stCxn id="84997" idx="4"/>
          </p:cNvCxnSpPr>
          <p:nvPr/>
        </p:nvCxnSpPr>
        <p:spPr bwMode="auto">
          <a:xfrm>
            <a:off x="1525588" y="1370013"/>
            <a:ext cx="677862" cy="12906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5006" name="AutoShape 16">
            <a:extLst>
              <a:ext uri="{FF2B5EF4-FFF2-40B4-BE49-F238E27FC236}">
                <a16:creationId xmlns:a16="http://schemas.microsoft.com/office/drawing/2014/main" id="{34466CFD-D9CB-4AA9-B507-7ECE34C93FF4}"/>
              </a:ext>
            </a:extLst>
          </p:cNvPr>
          <p:cNvCxnSpPr>
            <a:cxnSpLocks noChangeShapeType="1"/>
            <a:stCxn id="85004" idx="3"/>
            <a:endCxn id="84996" idx="6"/>
          </p:cNvCxnSpPr>
          <p:nvPr/>
        </p:nvCxnSpPr>
        <p:spPr bwMode="auto">
          <a:xfrm flipH="1">
            <a:off x="1673225" y="3857625"/>
            <a:ext cx="2016125" cy="94615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5007" name="AutoShape 17">
            <a:extLst>
              <a:ext uri="{FF2B5EF4-FFF2-40B4-BE49-F238E27FC236}">
                <a16:creationId xmlns:a16="http://schemas.microsoft.com/office/drawing/2014/main" id="{85C52B52-7A93-48A8-8AEA-27050D3F95FB}"/>
              </a:ext>
            </a:extLst>
          </p:cNvPr>
          <p:cNvCxnSpPr>
            <a:cxnSpLocks noChangeShapeType="1"/>
            <a:stCxn id="84996" idx="7"/>
            <a:endCxn id="85003" idx="3"/>
          </p:cNvCxnSpPr>
          <p:nvPr/>
        </p:nvCxnSpPr>
        <p:spPr bwMode="auto">
          <a:xfrm flipV="1">
            <a:off x="1628775" y="3860800"/>
            <a:ext cx="574675" cy="8366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5008" name="AutoShape 18">
            <a:extLst>
              <a:ext uri="{FF2B5EF4-FFF2-40B4-BE49-F238E27FC236}">
                <a16:creationId xmlns:a16="http://schemas.microsoft.com/office/drawing/2014/main" id="{A864F409-E5CA-4A06-842A-41EA4F7AA8B4}"/>
              </a:ext>
            </a:extLst>
          </p:cNvPr>
          <p:cNvCxnSpPr>
            <a:cxnSpLocks noChangeShapeType="1"/>
            <a:stCxn id="85004" idx="7"/>
            <a:endCxn id="85001" idx="3"/>
          </p:cNvCxnSpPr>
          <p:nvPr/>
        </p:nvCxnSpPr>
        <p:spPr bwMode="auto">
          <a:xfrm flipV="1">
            <a:off x="3902075" y="2873375"/>
            <a:ext cx="1012825" cy="7747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5009" name="Oval 20">
            <a:extLst>
              <a:ext uri="{FF2B5EF4-FFF2-40B4-BE49-F238E27FC236}">
                <a16:creationId xmlns:a16="http://schemas.microsoft.com/office/drawing/2014/main" id="{6BE84E64-C188-41FA-9D64-168DB3C53B0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90800" y="5181600"/>
            <a:ext cx="301625" cy="3016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solidFill>
                  <a:schemeClr val="bg1"/>
                </a:solidFill>
                <a:latin typeface="Courier New" panose="02070309020205020404" pitchFamily="49" charset="0"/>
              </a:rPr>
              <a:t>H</a:t>
            </a:r>
          </a:p>
        </p:txBody>
      </p:sp>
      <p:cxnSp>
        <p:nvCxnSpPr>
          <p:cNvPr id="85010" name="AutoShape 21">
            <a:extLst>
              <a:ext uri="{FF2B5EF4-FFF2-40B4-BE49-F238E27FC236}">
                <a16:creationId xmlns:a16="http://schemas.microsoft.com/office/drawing/2014/main" id="{40FE6925-5219-4584-9402-E1F9164D8FAD}"/>
              </a:ext>
            </a:extLst>
          </p:cNvPr>
          <p:cNvCxnSpPr>
            <a:cxnSpLocks noChangeShapeType="1"/>
            <a:stCxn id="85009" idx="2"/>
            <a:endCxn id="84996" idx="5"/>
          </p:cNvCxnSpPr>
          <p:nvPr/>
        </p:nvCxnSpPr>
        <p:spPr bwMode="auto">
          <a:xfrm flipH="1" flipV="1">
            <a:off x="1628775" y="4910138"/>
            <a:ext cx="962025" cy="422275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5011" name="Rectangle 22">
            <a:extLst>
              <a:ext uri="{FF2B5EF4-FFF2-40B4-BE49-F238E27FC236}">
                <a16:creationId xmlns:a16="http://schemas.microsoft.com/office/drawing/2014/main" id="{797FD1B5-4EA0-477B-A141-79EA50763B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7625" y="5526088"/>
            <a:ext cx="2936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7</a:t>
            </a:r>
          </a:p>
        </p:txBody>
      </p:sp>
      <p:sp>
        <p:nvSpPr>
          <p:cNvPr id="85012" name="Rectangle 23">
            <a:extLst>
              <a:ext uri="{FF2B5EF4-FFF2-40B4-BE49-F238E27FC236}">
                <a16:creationId xmlns:a16="http://schemas.microsoft.com/office/drawing/2014/main" id="{523CCCAA-9E5D-4856-A9B9-38928EFC40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550" y="5013325"/>
            <a:ext cx="2936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6</a:t>
            </a:r>
          </a:p>
        </p:txBody>
      </p:sp>
      <p:cxnSp>
        <p:nvCxnSpPr>
          <p:cNvPr id="85013" name="AutoShape 24">
            <a:extLst>
              <a:ext uri="{FF2B5EF4-FFF2-40B4-BE49-F238E27FC236}">
                <a16:creationId xmlns:a16="http://schemas.microsoft.com/office/drawing/2014/main" id="{2BFEA90F-94A4-45B2-90D6-A19CBBD7C60F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795713" y="2916238"/>
            <a:ext cx="0" cy="687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5014" name="Oval 25">
            <a:extLst>
              <a:ext uri="{FF2B5EF4-FFF2-40B4-BE49-F238E27FC236}">
                <a16:creationId xmlns:a16="http://schemas.microsoft.com/office/drawing/2014/main" id="{8AF0071D-50A7-4EC8-B7E8-6C608E070E5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59000" y="2616200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G</a:t>
            </a:r>
          </a:p>
        </p:txBody>
      </p:sp>
      <p:cxnSp>
        <p:nvCxnSpPr>
          <p:cNvPr id="85015" name="AutoShape 26">
            <a:extLst>
              <a:ext uri="{FF2B5EF4-FFF2-40B4-BE49-F238E27FC236}">
                <a16:creationId xmlns:a16="http://schemas.microsoft.com/office/drawing/2014/main" id="{322FD149-B89C-49B3-9D57-10AC1AA5335C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460625" y="3752850"/>
            <a:ext cx="1184275" cy="1588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5016" name="AutoShape 27">
            <a:extLst>
              <a:ext uri="{FF2B5EF4-FFF2-40B4-BE49-F238E27FC236}">
                <a16:creationId xmlns:a16="http://schemas.microsoft.com/office/drawing/2014/main" id="{07C6D19B-20EC-4C32-B126-17B044A152D3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416175" y="2871788"/>
            <a:ext cx="1273175" cy="776287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5017" name="AutoShape 28">
            <a:extLst>
              <a:ext uri="{FF2B5EF4-FFF2-40B4-BE49-F238E27FC236}">
                <a16:creationId xmlns:a16="http://schemas.microsoft.com/office/drawing/2014/main" id="{757DC84D-47F1-482D-B161-5CCDCE5B53C0}"/>
              </a:ext>
            </a:extLst>
          </p:cNvPr>
          <p:cNvCxnSpPr>
            <a:cxnSpLocks noChangeShapeType="1"/>
            <a:stCxn id="85003" idx="7"/>
            <a:endCxn id="84999" idx="3"/>
          </p:cNvCxnSpPr>
          <p:nvPr/>
        </p:nvCxnSpPr>
        <p:spPr bwMode="auto">
          <a:xfrm flipV="1">
            <a:off x="2416175" y="2871788"/>
            <a:ext cx="1273175" cy="776287"/>
          </a:xfrm>
          <a:prstGeom prst="straightConnector1">
            <a:avLst/>
          </a:prstGeom>
          <a:noFill/>
          <a:ln w="50800">
            <a:solidFill>
              <a:schemeClr val="accent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5018" name="AutoShape 29">
            <a:extLst>
              <a:ext uri="{FF2B5EF4-FFF2-40B4-BE49-F238E27FC236}">
                <a16:creationId xmlns:a16="http://schemas.microsoft.com/office/drawing/2014/main" id="{ADDCB9D0-29A1-4665-9493-670062BC2977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460625" y="3752850"/>
            <a:ext cx="1184275" cy="1588"/>
          </a:xfrm>
          <a:prstGeom prst="straightConnector1">
            <a:avLst/>
          </a:prstGeom>
          <a:noFill/>
          <a:ln w="50800">
            <a:solidFill>
              <a:schemeClr val="accent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9FFC727-BF1B-4A9E-B422-1784146F6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120</a:t>
            </a:fld>
            <a:endParaRPr lang="en-US" altLang="hi-IN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F88F503E-AC65-423C-9E02-74C95BDA2A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i-IN"/>
              <a:t>Topological Sort:  DFS</a:t>
            </a:r>
          </a:p>
        </p:txBody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C14E4058-6E51-4184-ACCE-C0DA079E0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295400"/>
            <a:ext cx="1160463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hi-IN" sz="1600" b="1">
                <a:latin typeface="Courier New" panose="02070309020205020404" pitchFamily="49" charset="0"/>
              </a:rPr>
              <a:t>dfs(A)</a:t>
            </a:r>
          </a:p>
          <a:p>
            <a:pPr>
              <a:lnSpc>
                <a:spcPct val="120000"/>
              </a:lnSpc>
            </a:pPr>
            <a:r>
              <a:rPr lang="en-US" altLang="hi-IN" sz="1600" b="1">
                <a:latin typeface="Courier New" panose="02070309020205020404" pitchFamily="49" charset="0"/>
              </a:rPr>
              <a:t>  dfs(D)</a:t>
            </a:r>
          </a:p>
        </p:txBody>
      </p:sp>
      <p:sp>
        <p:nvSpPr>
          <p:cNvPr id="86020" name="Oval 4">
            <a:extLst>
              <a:ext uri="{FF2B5EF4-FFF2-40B4-BE49-F238E27FC236}">
                <a16:creationId xmlns:a16="http://schemas.microsoft.com/office/drawing/2014/main" id="{CF9866AC-EA37-4C8E-9EB1-FC5F0202DEE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71600" y="4652963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86021" name="Oval 5">
            <a:extLst>
              <a:ext uri="{FF2B5EF4-FFF2-40B4-BE49-F238E27FC236}">
                <a16:creationId xmlns:a16="http://schemas.microsoft.com/office/drawing/2014/main" id="{D6B30401-17FD-44AB-8D61-7F9258EBA48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74775" y="1066800"/>
            <a:ext cx="301625" cy="303213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C</a:t>
            </a:r>
          </a:p>
        </p:txBody>
      </p:sp>
      <p:sp>
        <p:nvSpPr>
          <p:cNvPr id="86022" name="Oval 6">
            <a:extLst>
              <a:ext uri="{FF2B5EF4-FFF2-40B4-BE49-F238E27FC236}">
                <a16:creationId xmlns:a16="http://schemas.microsoft.com/office/drawing/2014/main" id="{50FDBDD4-5830-486F-888E-56289CE23D4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59000" y="2616200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G</a:t>
            </a:r>
          </a:p>
        </p:txBody>
      </p:sp>
      <p:cxnSp>
        <p:nvCxnSpPr>
          <p:cNvPr id="86023" name="AutoShape 7">
            <a:extLst>
              <a:ext uri="{FF2B5EF4-FFF2-40B4-BE49-F238E27FC236}">
                <a16:creationId xmlns:a16="http://schemas.microsoft.com/office/drawing/2014/main" id="{E19C000C-4BBD-4EC9-8FC9-01178C054A74}"/>
              </a:ext>
            </a:extLst>
          </p:cNvPr>
          <p:cNvCxnSpPr>
            <a:cxnSpLocks noChangeShapeType="1"/>
            <a:stCxn id="86020" idx="0"/>
            <a:endCxn id="86021" idx="4"/>
          </p:cNvCxnSpPr>
          <p:nvPr/>
        </p:nvCxnSpPr>
        <p:spPr bwMode="auto">
          <a:xfrm flipV="1">
            <a:off x="1522413" y="1370013"/>
            <a:ext cx="3175" cy="32829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6024" name="Oval 8">
            <a:extLst>
              <a:ext uri="{FF2B5EF4-FFF2-40B4-BE49-F238E27FC236}">
                <a16:creationId xmlns:a16="http://schemas.microsoft.com/office/drawing/2014/main" id="{1765569A-0110-4E85-8C14-6E6A797556E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44900" y="2616200"/>
            <a:ext cx="301625" cy="300038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solidFill>
                  <a:schemeClr val="bg1"/>
                </a:solidFill>
                <a:latin typeface="Courier New" panose="02070309020205020404" pitchFamily="49" charset="0"/>
              </a:rPr>
              <a:t>A</a:t>
            </a:r>
          </a:p>
        </p:txBody>
      </p:sp>
      <p:cxnSp>
        <p:nvCxnSpPr>
          <p:cNvPr id="86025" name="AutoShape 9">
            <a:extLst>
              <a:ext uri="{FF2B5EF4-FFF2-40B4-BE49-F238E27FC236}">
                <a16:creationId xmlns:a16="http://schemas.microsoft.com/office/drawing/2014/main" id="{08F309E3-0C2A-4437-9099-CCBE624D4803}"/>
              </a:ext>
            </a:extLst>
          </p:cNvPr>
          <p:cNvCxnSpPr>
            <a:cxnSpLocks noChangeShapeType="1"/>
            <a:stCxn id="86021" idx="5"/>
            <a:endCxn id="86024" idx="1"/>
          </p:cNvCxnSpPr>
          <p:nvPr/>
        </p:nvCxnSpPr>
        <p:spPr bwMode="auto">
          <a:xfrm>
            <a:off x="1631950" y="1325563"/>
            <a:ext cx="2057400" cy="13350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6026" name="Oval 10">
            <a:extLst>
              <a:ext uri="{FF2B5EF4-FFF2-40B4-BE49-F238E27FC236}">
                <a16:creationId xmlns:a16="http://schemas.microsoft.com/office/drawing/2014/main" id="{6256354D-1D87-4B33-9717-875BD430170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70450" y="2616200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B</a:t>
            </a:r>
          </a:p>
        </p:txBody>
      </p:sp>
      <p:cxnSp>
        <p:nvCxnSpPr>
          <p:cNvPr id="86027" name="AutoShape 11">
            <a:extLst>
              <a:ext uri="{FF2B5EF4-FFF2-40B4-BE49-F238E27FC236}">
                <a16:creationId xmlns:a16="http://schemas.microsoft.com/office/drawing/2014/main" id="{A56B7F34-7A2C-4D3E-8E60-05172C15043F}"/>
              </a:ext>
            </a:extLst>
          </p:cNvPr>
          <p:cNvCxnSpPr>
            <a:cxnSpLocks noChangeShapeType="1"/>
            <a:stCxn id="86021" idx="6"/>
            <a:endCxn id="86026" idx="1"/>
          </p:cNvCxnSpPr>
          <p:nvPr/>
        </p:nvCxnSpPr>
        <p:spPr bwMode="auto">
          <a:xfrm>
            <a:off x="1676400" y="1219200"/>
            <a:ext cx="3238500" cy="14414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6028" name="Oval 12">
            <a:extLst>
              <a:ext uri="{FF2B5EF4-FFF2-40B4-BE49-F238E27FC236}">
                <a16:creationId xmlns:a16="http://schemas.microsoft.com/office/drawing/2014/main" id="{36622635-13B7-414F-A96F-2A21DF1BA95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59000" y="3603625"/>
            <a:ext cx="301625" cy="3016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solidFill>
                  <a:schemeClr val="bg1"/>
                </a:solidFill>
                <a:latin typeface="Courier New" panose="02070309020205020404" pitchFamily="49" charset="0"/>
              </a:rPr>
              <a:t>D</a:t>
            </a:r>
          </a:p>
        </p:txBody>
      </p:sp>
      <p:sp>
        <p:nvSpPr>
          <p:cNvPr id="86029" name="Oval 13">
            <a:extLst>
              <a:ext uri="{FF2B5EF4-FFF2-40B4-BE49-F238E27FC236}">
                <a16:creationId xmlns:a16="http://schemas.microsoft.com/office/drawing/2014/main" id="{E09EBE3F-158D-42BC-AD70-18EA053E956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44900" y="3603625"/>
            <a:ext cx="301625" cy="29845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E</a:t>
            </a:r>
          </a:p>
        </p:txBody>
      </p:sp>
      <p:cxnSp>
        <p:nvCxnSpPr>
          <p:cNvPr id="86030" name="AutoShape 14">
            <a:extLst>
              <a:ext uri="{FF2B5EF4-FFF2-40B4-BE49-F238E27FC236}">
                <a16:creationId xmlns:a16="http://schemas.microsoft.com/office/drawing/2014/main" id="{6B4F264C-812B-4328-A496-CD2381C36E79}"/>
              </a:ext>
            </a:extLst>
          </p:cNvPr>
          <p:cNvCxnSpPr>
            <a:cxnSpLocks noChangeShapeType="1"/>
            <a:stCxn id="86021" idx="4"/>
            <a:endCxn id="86022" idx="1"/>
          </p:cNvCxnSpPr>
          <p:nvPr/>
        </p:nvCxnSpPr>
        <p:spPr bwMode="auto">
          <a:xfrm>
            <a:off x="1525588" y="1370013"/>
            <a:ext cx="677862" cy="12906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6031" name="AutoShape 15">
            <a:extLst>
              <a:ext uri="{FF2B5EF4-FFF2-40B4-BE49-F238E27FC236}">
                <a16:creationId xmlns:a16="http://schemas.microsoft.com/office/drawing/2014/main" id="{32878574-92C2-4A54-99C2-B45C5A569C1C}"/>
              </a:ext>
            </a:extLst>
          </p:cNvPr>
          <p:cNvCxnSpPr>
            <a:cxnSpLocks noChangeShapeType="1"/>
            <a:stCxn id="86029" idx="2"/>
            <a:endCxn id="86028" idx="6"/>
          </p:cNvCxnSpPr>
          <p:nvPr/>
        </p:nvCxnSpPr>
        <p:spPr bwMode="auto">
          <a:xfrm flipH="1">
            <a:off x="2460625" y="3752850"/>
            <a:ext cx="1184275" cy="1588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6032" name="AutoShape 16">
            <a:extLst>
              <a:ext uri="{FF2B5EF4-FFF2-40B4-BE49-F238E27FC236}">
                <a16:creationId xmlns:a16="http://schemas.microsoft.com/office/drawing/2014/main" id="{A390F5C5-6D6A-422F-A588-CD7E2288DA19}"/>
              </a:ext>
            </a:extLst>
          </p:cNvPr>
          <p:cNvCxnSpPr>
            <a:cxnSpLocks noChangeShapeType="1"/>
            <a:stCxn id="86029" idx="3"/>
            <a:endCxn id="86020" idx="6"/>
          </p:cNvCxnSpPr>
          <p:nvPr/>
        </p:nvCxnSpPr>
        <p:spPr bwMode="auto">
          <a:xfrm flipH="1">
            <a:off x="1673225" y="3857625"/>
            <a:ext cx="2016125" cy="94615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6033" name="AutoShape 17">
            <a:extLst>
              <a:ext uri="{FF2B5EF4-FFF2-40B4-BE49-F238E27FC236}">
                <a16:creationId xmlns:a16="http://schemas.microsoft.com/office/drawing/2014/main" id="{583522A7-5604-4492-BBD1-9D08891FE35E}"/>
              </a:ext>
            </a:extLst>
          </p:cNvPr>
          <p:cNvCxnSpPr>
            <a:cxnSpLocks noChangeShapeType="1"/>
            <a:stCxn id="86020" idx="7"/>
            <a:endCxn id="86028" idx="3"/>
          </p:cNvCxnSpPr>
          <p:nvPr/>
        </p:nvCxnSpPr>
        <p:spPr bwMode="auto">
          <a:xfrm flipV="1">
            <a:off x="1628775" y="3860800"/>
            <a:ext cx="574675" cy="8366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6034" name="AutoShape 18">
            <a:extLst>
              <a:ext uri="{FF2B5EF4-FFF2-40B4-BE49-F238E27FC236}">
                <a16:creationId xmlns:a16="http://schemas.microsoft.com/office/drawing/2014/main" id="{24AB9CEF-7199-46DA-863B-16ED860A283E}"/>
              </a:ext>
            </a:extLst>
          </p:cNvPr>
          <p:cNvCxnSpPr>
            <a:cxnSpLocks noChangeShapeType="1"/>
            <a:stCxn id="86029" idx="7"/>
            <a:endCxn id="86026" idx="3"/>
          </p:cNvCxnSpPr>
          <p:nvPr/>
        </p:nvCxnSpPr>
        <p:spPr bwMode="auto">
          <a:xfrm flipV="1">
            <a:off x="3902075" y="2873375"/>
            <a:ext cx="1012825" cy="7747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6035" name="AutoShape 19">
            <a:extLst>
              <a:ext uri="{FF2B5EF4-FFF2-40B4-BE49-F238E27FC236}">
                <a16:creationId xmlns:a16="http://schemas.microsoft.com/office/drawing/2014/main" id="{2C3B6A4C-C13B-4930-ABAA-B3FB3B5701EE}"/>
              </a:ext>
            </a:extLst>
          </p:cNvPr>
          <p:cNvCxnSpPr>
            <a:cxnSpLocks noChangeShapeType="1"/>
            <a:stCxn id="86028" idx="7"/>
            <a:endCxn id="86024" idx="3"/>
          </p:cNvCxnSpPr>
          <p:nvPr/>
        </p:nvCxnSpPr>
        <p:spPr bwMode="auto">
          <a:xfrm flipV="1">
            <a:off x="2416175" y="2871788"/>
            <a:ext cx="1273175" cy="776287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6036" name="Oval 20">
            <a:extLst>
              <a:ext uri="{FF2B5EF4-FFF2-40B4-BE49-F238E27FC236}">
                <a16:creationId xmlns:a16="http://schemas.microsoft.com/office/drawing/2014/main" id="{1117678E-4926-4B54-83B9-EEB46A26051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90800" y="5181600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H</a:t>
            </a:r>
          </a:p>
        </p:txBody>
      </p:sp>
      <p:cxnSp>
        <p:nvCxnSpPr>
          <p:cNvPr id="86037" name="AutoShape 21">
            <a:extLst>
              <a:ext uri="{FF2B5EF4-FFF2-40B4-BE49-F238E27FC236}">
                <a16:creationId xmlns:a16="http://schemas.microsoft.com/office/drawing/2014/main" id="{C35E55CE-3047-4500-88A8-03DC213AFD10}"/>
              </a:ext>
            </a:extLst>
          </p:cNvPr>
          <p:cNvCxnSpPr>
            <a:cxnSpLocks noChangeShapeType="1"/>
            <a:stCxn id="86036" idx="2"/>
            <a:endCxn id="86020" idx="5"/>
          </p:cNvCxnSpPr>
          <p:nvPr/>
        </p:nvCxnSpPr>
        <p:spPr bwMode="auto">
          <a:xfrm flipH="1" flipV="1">
            <a:off x="1628775" y="4910138"/>
            <a:ext cx="962025" cy="422275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6038" name="Rectangle 22">
            <a:extLst>
              <a:ext uri="{FF2B5EF4-FFF2-40B4-BE49-F238E27FC236}">
                <a16:creationId xmlns:a16="http://schemas.microsoft.com/office/drawing/2014/main" id="{A9B56AD5-18F9-4F47-BFDD-9A6662A79F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7625" y="5526088"/>
            <a:ext cx="2936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7</a:t>
            </a:r>
          </a:p>
        </p:txBody>
      </p:sp>
      <p:sp>
        <p:nvSpPr>
          <p:cNvPr id="86039" name="Rectangle 23">
            <a:extLst>
              <a:ext uri="{FF2B5EF4-FFF2-40B4-BE49-F238E27FC236}">
                <a16:creationId xmlns:a16="http://schemas.microsoft.com/office/drawing/2014/main" id="{14DBDA45-E070-4CFC-A356-5C0E1F7AAB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550" y="5013325"/>
            <a:ext cx="2936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86040" name="Rectangle 24">
            <a:extLst>
              <a:ext uri="{FF2B5EF4-FFF2-40B4-BE49-F238E27FC236}">
                <a16:creationId xmlns:a16="http://schemas.microsoft.com/office/drawing/2014/main" id="{B12269CA-712A-4C29-9AD1-0572836997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8550" y="3937000"/>
            <a:ext cx="2936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5</a:t>
            </a:r>
          </a:p>
        </p:txBody>
      </p:sp>
      <p:cxnSp>
        <p:nvCxnSpPr>
          <p:cNvPr id="466970" name="AutoShape 26">
            <a:extLst>
              <a:ext uri="{FF2B5EF4-FFF2-40B4-BE49-F238E27FC236}">
                <a16:creationId xmlns:a16="http://schemas.microsoft.com/office/drawing/2014/main" id="{0FD93AE9-0CD1-4758-9840-C52ADC93E117}"/>
              </a:ext>
            </a:extLst>
          </p:cNvPr>
          <p:cNvCxnSpPr>
            <a:cxnSpLocks noChangeShapeType="1"/>
            <a:stCxn id="86020" idx="7"/>
            <a:endCxn id="86028" idx="3"/>
          </p:cNvCxnSpPr>
          <p:nvPr/>
        </p:nvCxnSpPr>
        <p:spPr bwMode="auto">
          <a:xfrm flipV="1">
            <a:off x="1628775" y="3860800"/>
            <a:ext cx="574675" cy="836613"/>
          </a:xfrm>
          <a:prstGeom prst="straightConnector1">
            <a:avLst/>
          </a:prstGeom>
          <a:noFill/>
          <a:ln w="50800">
            <a:solidFill>
              <a:schemeClr val="accent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6042" name="AutoShape 27">
            <a:extLst>
              <a:ext uri="{FF2B5EF4-FFF2-40B4-BE49-F238E27FC236}">
                <a16:creationId xmlns:a16="http://schemas.microsoft.com/office/drawing/2014/main" id="{D277A003-12A8-477A-982E-429DDFD71B86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795713" y="2916238"/>
            <a:ext cx="0" cy="687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6043" name="AutoShape 28">
            <a:extLst>
              <a:ext uri="{FF2B5EF4-FFF2-40B4-BE49-F238E27FC236}">
                <a16:creationId xmlns:a16="http://schemas.microsoft.com/office/drawing/2014/main" id="{E169B56D-9342-4045-ABDC-3D29D3453465}"/>
              </a:ext>
            </a:extLst>
          </p:cNvPr>
          <p:cNvCxnSpPr>
            <a:cxnSpLocks noChangeShapeType="1"/>
            <a:stCxn id="86028" idx="7"/>
            <a:endCxn id="86024" idx="3"/>
          </p:cNvCxnSpPr>
          <p:nvPr/>
        </p:nvCxnSpPr>
        <p:spPr bwMode="auto">
          <a:xfrm flipV="1">
            <a:off x="2416175" y="2871788"/>
            <a:ext cx="1273175" cy="776287"/>
          </a:xfrm>
          <a:prstGeom prst="straightConnector1">
            <a:avLst/>
          </a:prstGeom>
          <a:noFill/>
          <a:ln w="50800">
            <a:solidFill>
              <a:schemeClr val="accent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47ABC3-BFD8-4A0B-8D57-7FB9EAFAD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121</a:t>
            </a:fld>
            <a:endParaRPr lang="en-US" altLang="hi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466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544D8E65-2A16-4EB7-80EC-EE1E5BC268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i-IN"/>
              <a:t>Topological Sort:  DFS</a:t>
            </a:r>
          </a:p>
        </p:txBody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11783224-FD88-4A89-AAD1-11FAA4EA3B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295400"/>
            <a:ext cx="1160463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hi-IN" sz="1600" b="1">
                <a:latin typeface="Courier New" panose="02070309020205020404" pitchFamily="49" charset="0"/>
              </a:rPr>
              <a:t>dfs(A)</a:t>
            </a:r>
          </a:p>
          <a:p>
            <a:pPr>
              <a:lnSpc>
                <a:spcPct val="120000"/>
              </a:lnSpc>
            </a:pPr>
            <a:r>
              <a:rPr lang="en-US" altLang="hi-IN" sz="1600" b="1">
                <a:latin typeface="Courier New" panose="02070309020205020404" pitchFamily="49" charset="0"/>
              </a:rPr>
              <a:t>  dfs(D)</a:t>
            </a:r>
          </a:p>
        </p:txBody>
      </p:sp>
      <p:sp>
        <p:nvSpPr>
          <p:cNvPr id="87044" name="Oval 4">
            <a:extLst>
              <a:ext uri="{FF2B5EF4-FFF2-40B4-BE49-F238E27FC236}">
                <a16:creationId xmlns:a16="http://schemas.microsoft.com/office/drawing/2014/main" id="{3FC6ED00-B689-4177-98F0-35322733DE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71600" y="4652963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87045" name="Oval 5">
            <a:extLst>
              <a:ext uri="{FF2B5EF4-FFF2-40B4-BE49-F238E27FC236}">
                <a16:creationId xmlns:a16="http://schemas.microsoft.com/office/drawing/2014/main" id="{0A3D4A4A-010B-47DC-B2E9-E8980A0C06B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74775" y="1066800"/>
            <a:ext cx="301625" cy="303213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C</a:t>
            </a:r>
          </a:p>
        </p:txBody>
      </p:sp>
      <p:sp>
        <p:nvSpPr>
          <p:cNvPr id="87046" name="Oval 6">
            <a:extLst>
              <a:ext uri="{FF2B5EF4-FFF2-40B4-BE49-F238E27FC236}">
                <a16:creationId xmlns:a16="http://schemas.microsoft.com/office/drawing/2014/main" id="{FF2673D5-B2A2-48EC-A69B-D5C72C10D04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59000" y="2616200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G</a:t>
            </a:r>
          </a:p>
        </p:txBody>
      </p:sp>
      <p:cxnSp>
        <p:nvCxnSpPr>
          <p:cNvPr id="87047" name="AutoShape 7">
            <a:extLst>
              <a:ext uri="{FF2B5EF4-FFF2-40B4-BE49-F238E27FC236}">
                <a16:creationId xmlns:a16="http://schemas.microsoft.com/office/drawing/2014/main" id="{BDA5EF32-903B-4DC8-8F1F-E8DDF86D3177}"/>
              </a:ext>
            </a:extLst>
          </p:cNvPr>
          <p:cNvCxnSpPr>
            <a:cxnSpLocks noChangeShapeType="1"/>
            <a:stCxn id="87044" idx="0"/>
            <a:endCxn id="87045" idx="4"/>
          </p:cNvCxnSpPr>
          <p:nvPr/>
        </p:nvCxnSpPr>
        <p:spPr bwMode="auto">
          <a:xfrm flipV="1">
            <a:off x="1522413" y="1370013"/>
            <a:ext cx="3175" cy="32829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7048" name="Oval 8">
            <a:extLst>
              <a:ext uri="{FF2B5EF4-FFF2-40B4-BE49-F238E27FC236}">
                <a16:creationId xmlns:a16="http://schemas.microsoft.com/office/drawing/2014/main" id="{37B98CD6-CD73-425E-BC86-7F6339B30F5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44900" y="2616200"/>
            <a:ext cx="301625" cy="300038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solidFill>
                  <a:schemeClr val="bg1"/>
                </a:solidFill>
                <a:latin typeface="Courier New" panose="02070309020205020404" pitchFamily="49" charset="0"/>
              </a:rPr>
              <a:t>A</a:t>
            </a:r>
          </a:p>
        </p:txBody>
      </p:sp>
      <p:cxnSp>
        <p:nvCxnSpPr>
          <p:cNvPr id="87049" name="AutoShape 9">
            <a:extLst>
              <a:ext uri="{FF2B5EF4-FFF2-40B4-BE49-F238E27FC236}">
                <a16:creationId xmlns:a16="http://schemas.microsoft.com/office/drawing/2014/main" id="{FE8CA234-499B-442F-9DEC-EF779D04EE2F}"/>
              </a:ext>
            </a:extLst>
          </p:cNvPr>
          <p:cNvCxnSpPr>
            <a:cxnSpLocks noChangeShapeType="1"/>
            <a:stCxn id="87045" idx="5"/>
            <a:endCxn id="87048" idx="1"/>
          </p:cNvCxnSpPr>
          <p:nvPr/>
        </p:nvCxnSpPr>
        <p:spPr bwMode="auto">
          <a:xfrm>
            <a:off x="1631950" y="1325563"/>
            <a:ext cx="2057400" cy="13350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7050" name="Oval 10">
            <a:extLst>
              <a:ext uri="{FF2B5EF4-FFF2-40B4-BE49-F238E27FC236}">
                <a16:creationId xmlns:a16="http://schemas.microsoft.com/office/drawing/2014/main" id="{5E8196C9-72F0-4CFB-A6D3-20F3F9297E4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70450" y="2616200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B</a:t>
            </a:r>
          </a:p>
        </p:txBody>
      </p:sp>
      <p:cxnSp>
        <p:nvCxnSpPr>
          <p:cNvPr id="87051" name="AutoShape 11">
            <a:extLst>
              <a:ext uri="{FF2B5EF4-FFF2-40B4-BE49-F238E27FC236}">
                <a16:creationId xmlns:a16="http://schemas.microsoft.com/office/drawing/2014/main" id="{7C206810-BE8E-4400-B851-BFEB7C21B9FC}"/>
              </a:ext>
            </a:extLst>
          </p:cNvPr>
          <p:cNvCxnSpPr>
            <a:cxnSpLocks noChangeShapeType="1"/>
            <a:stCxn id="87045" idx="6"/>
            <a:endCxn id="87050" idx="1"/>
          </p:cNvCxnSpPr>
          <p:nvPr/>
        </p:nvCxnSpPr>
        <p:spPr bwMode="auto">
          <a:xfrm>
            <a:off x="1676400" y="1219200"/>
            <a:ext cx="3238500" cy="14414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7052" name="Oval 12">
            <a:extLst>
              <a:ext uri="{FF2B5EF4-FFF2-40B4-BE49-F238E27FC236}">
                <a16:creationId xmlns:a16="http://schemas.microsoft.com/office/drawing/2014/main" id="{5F4E8C6F-CA79-4311-B256-C86FE130441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59000" y="3603625"/>
            <a:ext cx="301625" cy="3016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solidFill>
                  <a:schemeClr val="bg1"/>
                </a:solidFill>
                <a:latin typeface="Courier New" panose="02070309020205020404" pitchFamily="49" charset="0"/>
              </a:rPr>
              <a:t>D</a:t>
            </a:r>
          </a:p>
        </p:txBody>
      </p:sp>
      <p:sp>
        <p:nvSpPr>
          <p:cNvPr id="87053" name="Oval 13">
            <a:extLst>
              <a:ext uri="{FF2B5EF4-FFF2-40B4-BE49-F238E27FC236}">
                <a16:creationId xmlns:a16="http://schemas.microsoft.com/office/drawing/2014/main" id="{9D1F9D26-1C16-44D0-89C3-CEA42E8E874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44900" y="3603625"/>
            <a:ext cx="301625" cy="29845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E</a:t>
            </a:r>
          </a:p>
        </p:txBody>
      </p:sp>
      <p:cxnSp>
        <p:nvCxnSpPr>
          <p:cNvPr id="87054" name="AutoShape 14">
            <a:extLst>
              <a:ext uri="{FF2B5EF4-FFF2-40B4-BE49-F238E27FC236}">
                <a16:creationId xmlns:a16="http://schemas.microsoft.com/office/drawing/2014/main" id="{F5FEE284-7B22-46EE-A7D1-65847221718C}"/>
              </a:ext>
            </a:extLst>
          </p:cNvPr>
          <p:cNvCxnSpPr>
            <a:cxnSpLocks noChangeShapeType="1"/>
            <a:stCxn id="87045" idx="4"/>
            <a:endCxn id="87046" idx="1"/>
          </p:cNvCxnSpPr>
          <p:nvPr/>
        </p:nvCxnSpPr>
        <p:spPr bwMode="auto">
          <a:xfrm>
            <a:off x="1525588" y="1370013"/>
            <a:ext cx="677862" cy="12906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7055" name="AutoShape 15">
            <a:extLst>
              <a:ext uri="{FF2B5EF4-FFF2-40B4-BE49-F238E27FC236}">
                <a16:creationId xmlns:a16="http://schemas.microsoft.com/office/drawing/2014/main" id="{5C5E97C1-7E8C-4A82-9B5B-99094FDD699A}"/>
              </a:ext>
            </a:extLst>
          </p:cNvPr>
          <p:cNvCxnSpPr>
            <a:cxnSpLocks noChangeShapeType="1"/>
            <a:stCxn id="87053" idx="2"/>
            <a:endCxn id="87052" idx="6"/>
          </p:cNvCxnSpPr>
          <p:nvPr/>
        </p:nvCxnSpPr>
        <p:spPr bwMode="auto">
          <a:xfrm flipH="1">
            <a:off x="2460625" y="3752850"/>
            <a:ext cx="1184275" cy="1588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7056" name="AutoShape 16">
            <a:extLst>
              <a:ext uri="{FF2B5EF4-FFF2-40B4-BE49-F238E27FC236}">
                <a16:creationId xmlns:a16="http://schemas.microsoft.com/office/drawing/2014/main" id="{9079BEB5-ADFE-4870-9E59-2F02C8931ADE}"/>
              </a:ext>
            </a:extLst>
          </p:cNvPr>
          <p:cNvCxnSpPr>
            <a:cxnSpLocks noChangeShapeType="1"/>
            <a:stCxn id="87053" idx="3"/>
            <a:endCxn id="87044" idx="6"/>
          </p:cNvCxnSpPr>
          <p:nvPr/>
        </p:nvCxnSpPr>
        <p:spPr bwMode="auto">
          <a:xfrm flipH="1">
            <a:off x="1673225" y="3857625"/>
            <a:ext cx="2016125" cy="94615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7057" name="AutoShape 17">
            <a:extLst>
              <a:ext uri="{FF2B5EF4-FFF2-40B4-BE49-F238E27FC236}">
                <a16:creationId xmlns:a16="http://schemas.microsoft.com/office/drawing/2014/main" id="{B322D15A-9300-4518-9DF5-E7272BA67EAE}"/>
              </a:ext>
            </a:extLst>
          </p:cNvPr>
          <p:cNvCxnSpPr>
            <a:cxnSpLocks noChangeShapeType="1"/>
            <a:stCxn id="87044" idx="7"/>
            <a:endCxn id="87052" idx="3"/>
          </p:cNvCxnSpPr>
          <p:nvPr/>
        </p:nvCxnSpPr>
        <p:spPr bwMode="auto">
          <a:xfrm flipV="1">
            <a:off x="1628775" y="3860800"/>
            <a:ext cx="574675" cy="836613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7058" name="AutoShape 18">
            <a:extLst>
              <a:ext uri="{FF2B5EF4-FFF2-40B4-BE49-F238E27FC236}">
                <a16:creationId xmlns:a16="http://schemas.microsoft.com/office/drawing/2014/main" id="{E63E5EBD-082E-496D-A19A-7B2AEB67646E}"/>
              </a:ext>
            </a:extLst>
          </p:cNvPr>
          <p:cNvCxnSpPr>
            <a:cxnSpLocks noChangeShapeType="1"/>
            <a:stCxn id="87053" idx="7"/>
            <a:endCxn id="87050" idx="3"/>
          </p:cNvCxnSpPr>
          <p:nvPr/>
        </p:nvCxnSpPr>
        <p:spPr bwMode="auto">
          <a:xfrm flipV="1">
            <a:off x="3902075" y="2873375"/>
            <a:ext cx="1012825" cy="7747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7059" name="AutoShape 19">
            <a:extLst>
              <a:ext uri="{FF2B5EF4-FFF2-40B4-BE49-F238E27FC236}">
                <a16:creationId xmlns:a16="http://schemas.microsoft.com/office/drawing/2014/main" id="{5B7ADF87-0163-4D56-8AC2-8D82E7F3BEDA}"/>
              </a:ext>
            </a:extLst>
          </p:cNvPr>
          <p:cNvCxnSpPr>
            <a:cxnSpLocks noChangeShapeType="1"/>
            <a:stCxn id="87052" idx="7"/>
            <a:endCxn id="87048" idx="3"/>
          </p:cNvCxnSpPr>
          <p:nvPr/>
        </p:nvCxnSpPr>
        <p:spPr bwMode="auto">
          <a:xfrm flipV="1">
            <a:off x="2416175" y="2871788"/>
            <a:ext cx="1273175" cy="776287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7060" name="Oval 20">
            <a:extLst>
              <a:ext uri="{FF2B5EF4-FFF2-40B4-BE49-F238E27FC236}">
                <a16:creationId xmlns:a16="http://schemas.microsoft.com/office/drawing/2014/main" id="{10C3CCA3-B747-4A1D-A959-7C5E4DE6C88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90800" y="5181600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H</a:t>
            </a:r>
          </a:p>
        </p:txBody>
      </p:sp>
      <p:cxnSp>
        <p:nvCxnSpPr>
          <p:cNvPr id="87061" name="AutoShape 21">
            <a:extLst>
              <a:ext uri="{FF2B5EF4-FFF2-40B4-BE49-F238E27FC236}">
                <a16:creationId xmlns:a16="http://schemas.microsoft.com/office/drawing/2014/main" id="{052C9E57-F7AD-418C-BD91-8EB438D6B9AC}"/>
              </a:ext>
            </a:extLst>
          </p:cNvPr>
          <p:cNvCxnSpPr>
            <a:cxnSpLocks noChangeShapeType="1"/>
            <a:stCxn id="87060" idx="2"/>
            <a:endCxn id="87044" idx="5"/>
          </p:cNvCxnSpPr>
          <p:nvPr/>
        </p:nvCxnSpPr>
        <p:spPr bwMode="auto">
          <a:xfrm flipH="1" flipV="1">
            <a:off x="1628775" y="4910138"/>
            <a:ext cx="962025" cy="422275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7062" name="Rectangle 22">
            <a:extLst>
              <a:ext uri="{FF2B5EF4-FFF2-40B4-BE49-F238E27FC236}">
                <a16:creationId xmlns:a16="http://schemas.microsoft.com/office/drawing/2014/main" id="{40BF2636-07E2-464F-BE55-C4F726E93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7625" y="5526088"/>
            <a:ext cx="2936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7</a:t>
            </a:r>
          </a:p>
        </p:txBody>
      </p:sp>
      <p:sp>
        <p:nvSpPr>
          <p:cNvPr id="87063" name="Rectangle 23">
            <a:extLst>
              <a:ext uri="{FF2B5EF4-FFF2-40B4-BE49-F238E27FC236}">
                <a16:creationId xmlns:a16="http://schemas.microsoft.com/office/drawing/2014/main" id="{906F716C-EE07-4E55-80A2-D477CD530E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550" y="5013325"/>
            <a:ext cx="2936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87064" name="Rectangle 24">
            <a:extLst>
              <a:ext uri="{FF2B5EF4-FFF2-40B4-BE49-F238E27FC236}">
                <a16:creationId xmlns:a16="http://schemas.microsoft.com/office/drawing/2014/main" id="{D224078A-79D9-420C-BDBE-C14FBFA843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8550" y="3937000"/>
            <a:ext cx="2936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5</a:t>
            </a:r>
          </a:p>
        </p:txBody>
      </p:sp>
      <p:cxnSp>
        <p:nvCxnSpPr>
          <p:cNvPr id="87065" name="AutoShape 26">
            <a:extLst>
              <a:ext uri="{FF2B5EF4-FFF2-40B4-BE49-F238E27FC236}">
                <a16:creationId xmlns:a16="http://schemas.microsoft.com/office/drawing/2014/main" id="{410239EA-CF80-4E41-9441-BB24DEDC6AD7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795713" y="2916238"/>
            <a:ext cx="0" cy="687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7066" name="AutoShape 27">
            <a:extLst>
              <a:ext uri="{FF2B5EF4-FFF2-40B4-BE49-F238E27FC236}">
                <a16:creationId xmlns:a16="http://schemas.microsoft.com/office/drawing/2014/main" id="{4C2F5109-F620-4188-849A-00322E03B1FC}"/>
              </a:ext>
            </a:extLst>
          </p:cNvPr>
          <p:cNvCxnSpPr>
            <a:cxnSpLocks noChangeShapeType="1"/>
            <a:stCxn id="87052" idx="7"/>
            <a:endCxn id="87048" idx="3"/>
          </p:cNvCxnSpPr>
          <p:nvPr/>
        </p:nvCxnSpPr>
        <p:spPr bwMode="auto">
          <a:xfrm flipV="1">
            <a:off x="2416175" y="2871788"/>
            <a:ext cx="1273175" cy="776287"/>
          </a:xfrm>
          <a:prstGeom prst="straightConnector1">
            <a:avLst/>
          </a:prstGeom>
          <a:noFill/>
          <a:ln w="50800">
            <a:solidFill>
              <a:schemeClr val="accent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73C8E4-A913-4141-A148-57D6062D7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122</a:t>
            </a:fld>
            <a:endParaRPr lang="en-US" altLang="hi-IN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C10F6755-1CA6-49A7-A6CB-483CBD7C87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i-IN"/>
              <a:t>Topological Sort:  DFS</a:t>
            </a:r>
          </a:p>
        </p:txBody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947B48A2-BE28-49A0-A549-D621742473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295400"/>
            <a:ext cx="915988" cy="38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hi-IN" sz="1600" b="1">
                <a:latin typeface="Courier New" panose="02070309020205020404" pitchFamily="49" charset="0"/>
              </a:rPr>
              <a:t>dfs(A)</a:t>
            </a:r>
          </a:p>
        </p:txBody>
      </p:sp>
      <p:sp>
        <p:nvSpPr>
          <p:cNvPr id="88068" name="Oval 4">
            <a:extLst>
              <a:ext uri="{FF2B5EF4-FFF2-40B4-BE49-F238E27FC236}">
                <a16:creationId xmlns:a16="http://schemas.microsoft.com/office/drawing/2014/main" id="{D184B1DF-C11B-4067-901C-41736DFEBE2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71600" y="4652963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88069" name="Oval 5">
            <a:extLst>
              <a:ext uri="{FF2B5EF4-FFF2-40B4-BE49-F238E27FC236}">
                <a16:creationId xmlns:a16="http://schemas.microsoft.com/office/drawing/2014/main" id="{35EABC4E-9492-4C5E-8F3E-C64F50AEE3A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74775" y="1066800"/>
            <a:ext cx="301625" cy="303213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C</a:t>
            </a:r>
          </a:p>
        </p:txBody>
      </p:sp>
      <p:sp>
        <p:nvSpPr>
          <p:cNvPr id="88070" name="Oval 6">
            <a:extLst>
              <a:ext uri="{FF2B5EF4-FFF2-40B4-BE49-F238E27FC236}">
                <a16:creationId xmlns:a16="http://schemas.microsoft.com/office/drawing/2014/main" id="{46B7B5DA-DD58-4814-A0C0-7891B0C5EC2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59000" y="2616200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G</a:t>
            </a:r>
          </a:p>
        </p:txBody>
      </p:sp>
      <p:cxnSp>
        <p:nvCxnSpPr>
          <p:cNvPr id="88071" name="AutoShape 7">
            <a:extLst>
              <a:ext uri="{FF2B5EF4-FFF2-40B4-BE49-F238E27FC236}">
                <a16:creationId xmlns:a16="http://schemas.microsoft.com/office/drawing/2014/main" id="{38746662-AE11-4645-9B74-D0C3C7421826}"/>
              </a:ext>
            </a:extLst>
          </p:cNvPr>
          <p:cNvCxnSpPr>
            <a:cxnSpLocks noChangeShapeType="1"/>
            <a:stCxn id="88068" idx="0"/>
            <a:endCxn id="88069" idx="4"/>
          </p:cNvCxnSpPr>
          <p:nvPr/>
        </p:nvCxnSpPr>
        <p:spPr bwMode="auto">
          <a:xfrm flipV="1">
            <a:off x="1522413" y="1370013"/>
            <a:ext cx="3175" cy="32829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8072" name="Oval 8">
            <a:extLst>
              <a:ext uri="{FF2B5EF4-FFF2-40B4-BE49-F238E27FC236}">
                <a16:creationId xmlns:a16="http://schemas.microsoft.com/office/drawing/2014/main" id="{B6ABB2C4-B98F-47F5-9134-3CE9BE3EF65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44900" y="2616200"/>
            <a:ext cx="301625" cy="3000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solidFill>
                  <a:schemeClr val="bg1"/>
                </a:solidFill>
                <a:latin typeface="Courier New" panose="02070309020205020404" pitchFamily="49" charset="0"/>
              </a:rPr>
              <a:t>A</a:t>
            </a:r>
          </a:p>
        </p:txBody>
      </p:sp>
      <p:cxnSp>
        <p:nvCxnSpPr>
          <p:cNvPr id="88073" name="AutoShape 9">
            <a:extLst>
              <a:ext uri="{FF2B5EF4-FFF2-40B4-BE49-F238E27FC236}">
                <a16:creationId xmlns:a16="http://schemas.microsoft.com/office/drawing/2014/main" id="{598D1487-6BA3-4E68-9734-777E0C80547D}"/>
              </a:ext>
            </a:extLst>
          </p:cNvPr>
          <p:cNvCxnSpPr>
            <a:cxnSpLocks noChangeShapeType="1"/>
            <a:stCxn id="88069" idx="5"/>
            <a:endCxn id="88072" idx="1"/>
          </p:cNvCxnSpPr>
          <p:nvPr/>
        </p:nvCxnSpPr>
        <p:spPr bwMode="auto">
          <a:xfrm>
            <a:off x="1631950" y="1325563"/>
            <a:ext cx="2057400" cy="13350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8074" name="Oval 10">
            <a:extLst>
              <a:ext uri="{FF2B5EF4-FFF2-40B4-BE49-F238E27FC236}">
                <a16:creationId xmlns:a16="http://schemas.microsoft.com/office/drawing/2014/main" id="{0F37596C-6D44-4164-AD4D-F4B914595A9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70450" y="2616200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B</a:t>
            </a:r>
          </a:p>
        </p:txBody>
      </p:sp>
      <p:cxnSp>
        <p:nvCxnSpPr>
          <p:cNvPr id="88075" name="AutoShape 11">
            <a:extLst>
              <a:ext uri="{FF2B5EF4-FFF2-40B4-BE49-F238E27FC236}">
                <a16:creationId xmlns:a16="http://schemas.microsoft.com/office/drawing/2014/main" id="{A5108061-ED44-4A8F-9E3A-7C3831295EB7}"/>
              </a:ext>
            </a:extLst>
          </p:cNvPr>
          <p:cNvCxnSpPr>
            <a:cxnSpLocks noChangeShapeType="1"/>
            <a:stCxn id="88069" idx="6"/>
            <a:endCxn id="88074" idx="1"/>
          </p:cNvCxnSpPr>
          <p:nvPr/>
        </p:nvCxnSpPr>
        <p:spPr bwMode="auto">
          <a:xfrm>
            <a:off x="1676400" y="1219200"/>
            <a:ext cx="3238500" cy="14414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8076" name="Oval 12">
            <a:extLst>
              <a:ext uri="{FF2B5EF4-FFF2-40B4-BE49-F238E27FC236}">
                <a16:creationId xmlns:a16="http://schemas.microsoft.com/office/drawing/2014/main" id="{6141898C-273D-4D87-8F00-B1333714C9F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59000" y="3603625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D</a:t>
            </a:r>
          </a:p>
        </p:txBody>
      </p:sp>
      <p:sp>
        <p:nvSpPr>
          <p:cNvPr id="88077" name="Oval 13">
            <a:extLst>
              <a:ext uri="{FF2B5EF4-FFF2-40B4-BE49-F238E27FC236}">
                <a16:creationId xmlns:a16="http://schemas.microsoft.com/office/drawing/2014/main" id="{B63EB272-D3E5-4942-9605-59A8EE9F258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44900" y="3603625"/>
            <a:ext cx="301625" cy="29845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E</a:t>
            </a:r>
          </a:p>
        </p:txBody>
      </p:sp>
      <p:cxnSp>
        <p:nvCxnSpPr>
          <p:cNvPr id="88078" name="AutoShape 14">
            <a:extLst>
              <a:ext uri="{FF2B5EF4-FFF2-40B4-BE49-F238E27FC236}">
                <a16:creationId xmlns:a16="http://schemas.microsoft.com/office/drawing/2014/main" id="{E6A87E08-6F08-4368-880E-80E8D69AC291}"/>
              </a:ext>
            </a:extLst>
          </p:cNvPr>
          <p:cNvCxnSpPr>
            <a:cxnSpLocks noChangeShapeType="1"/>
            <a:stCxn id="88069" idx="4"/>
            <a:endCxn id="88070" idx="1"/>
          </p:cNvCxnSpPr>
          <p:nvPr/>
        </p:nvCxnSpPr>
        <p:spPr bwMode="auto">
          <a:xfrm>
            <a:off x="1525588" y="1370013"/>
            <a:ext cx="677862" cy="12906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8079" name="AutoShape 15">
            <a:extLst>
              <a:ext uri="{FF2B5EF4-FFF2-40B4-BE49-F238E27FC236}">
                <a16:creationId xmlns:a16="http://schemas.microsoft.com/office/drawing/2014/main" id="{D188F1CC-7DD5-4E76-BFB1-554749F75367}"/>
              </a:ext>
            </a:extLst>
          </p:cNvPr>
          <p:cNvCxnSpPr>
            <a:cxnSpLocks noChangeShapeType="1"/>
            <a:stCxn id="88077" idx="2"/>
            <a:endCxn id="88076" idx="6"/>
          </p:cNvCxnSpPr>
          <p:nvPr/>
        </p:nvCxnSpPr>
        <p:spPr bwMode="auto">
          <a:xfrm flipH="1">
            <a:off x="2460625" y="3752850"/>
            <a:ext cx="1184275" cy="1588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8080" name="AutoShape 16">
            <a:extLst>
              <a:ext uri="{FF2B5EF4-FFF2-40B4-BE49-F238E27FC236}">
                <a16:creationId xmlns:a16="http://schemas.microsoft.com/office/drawing/2014/main" id="{E818D199-FE53-4660-9B20-ECF350C433F6}"/>
              </a:ext>
            </a:extLst>
          </p:cNvPr>
          <p:cNvCxnSpPr>
            <a:cxnSpLocks noChangeShapeType="1"/>
            <a:stCxn id="88077" idx="3"/>
            <a:endCxn id="88068" idx="6"/>
          </p:cNvCxnSpPr>
          <p:nvPr/>
        </p:nvCxnSpPr>
        <p:spPr bwMode="auto">
          <a:xfrm flipH="1">
            <a:off x="1673225" y="3857625"/>
            <a:ext cx="2016125" cy="94615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8081" name="AutoShape 17">
            <a:extLst>
              <a:ext uri="{FF2B5EF4-FFF2-40B4-BE49-F238E27FC236}">
                <a16:creationId xmlns:a16="http://schemas.microsoft.com/office/drawing/2014/main" id="{658BEE98-C8A2-4A4E-A3E6-9120C665ACE3}"/>
              </a:ext>
            </a:extLst>
          </p:cNvPr>
          <p:cNvCxnSpPr>
            <a:cxnSpLocks noChangeShapeType="1"/>
            <a:stCxn id="88068" idx="7"/>
            <a:endCxn id="88076" idx="3"/>
          </p:cNvCxnSpPr>
          <p:nvPr/>
        </p:nvCxnSpPr>
        <p:spPr bwMode="auto">
          <a:xfrm flipV="1">
            <a:off x="1628775" y="3860800"/>
            <a:ext cx="574675" cy="836613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8082" name="AutoShape 18">
            <a:extLst>
              <a:ext uri="{FF2B5EF4-FFF2-40B4-BE49-F238E27FC236}">
                <a16:creationId xmlns:a16="http://schemas.microsoft.com/office/drawing/2014/main" id="{9B58DB2F-3E60-4BA8-A3B0-09CEEAE44BE3}"/>
              </a:ext>
            </a:extLst>
          </p:cNvPr>
          <p:cNvCxnSpPr>
            <a:cxnSpLocks noChangeShapeType="1"/>
            <a:stCxn id="88077" idx="7"/>
            <a:endCxn id="88074" idx="3"/>
          </p:cNvCxnSpPr>
          <p:nvPr/>
        </p:nvCxnSpPr>
        <p:spPr bwMode="auto">
          <a:xfrm flipV="1">
            <a:off x="3902075" y="2873375"/>
            <a:ext cx="1012825" cy="7747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8083" name="AutoShape 19">
            <a:extLst>
              <a:ext uri="{FF2B5EF4-FFF2-40B4-BE49-F238E27FC236}">
                <a16:creationId xmlns:a16="http://schemas.microsoft.com/office/drawing/2014/main" id="{80EEA0AA-B62D-4C16-B29C-5F6ABE2D3D64}"/>
              </a:ext>
            </a:extLst>
          </p:cNvPr>
          <p:cNvCxnSpPr>
            <a:cxnSpLocks noChangeShapeType="1"/>
            <a:stCxn id="88076" idx="7"/>
            <a:endCxn id="88072" idx="3"/>
          </p:cNvCxnSpPr>
          <p:nvPr/>
        </p:nvCxnSpPr>
        <p:spPr bwMode="auto">
          <a:xfrm flipV="1">
            <a:off x="2416175" y="2871788"/>
            <a:ext cx="1273175" cy="776287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8084" name="Oval 20">
            <a:extLst>
              <a:ext uri="{FF2B5EF4-FFF2-40B4-BE49-F238E27FC236}">
                <a16:creationId xmlns:a16="http://schemas.microsoft.com/office/drawing/2014/main" id="{79A0EB65-8100-41BA-942A-3C43107DED4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90800" y="5181600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H</a:t>
            </a:r>
          </a:p>
        </p:txBody>
      </p:sp>
      <p:cxnSp>
        <p:nvCxnSpPr>
          <p:cNvPr id="88085" name="AutoShape 21">
            <a:extLst>
              <a:ext uri="{FF2B5EF4-FFF2-40B4-BE49-F238E27FC236}">
                <a16:creationId xmlns:a16="http://schemas.microsoft.com/office/drawing/2014/main" id="{721211C3-B62E-4B33-A323-6D4D72228AD5}"/>
              </a:ext>
            </a:extLst>
          </p:cNvPr>
          <p:cNvCxnSpPr>
            <a:cxnSpLocks noChangeShapeType="1"/>
            <a:stCxn id="88084" idx="2"/>
            <a:endCxn id="88068" idx="5"/>
          </p:cNvCxnSpPr>
          <p:nvPr/>
        </p:nvCxnSpPr>
        <p:spPr bwMode="auto">
          <a:xfrm flipH="1" flipV="1">
            <a:off x="1628775" y="4910138"/>
            <a:ext cx="962025" cy="422275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8086" name="Rectangle 22">
            <a:extLst>
              <a:ext uri="{FF2B5EF4-FFF2-40B4-BE49-F238E27FC236}">
                <a16:creationId xmlns:a16="http://schemas.microsoft.com/office/drawing/2014/main" id="{7DC39FF9-5655-4D07-AF91-385AD4E34D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7625" y="5526088"/>
            <a:ext cx="2936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7</a:t>
            </a:r>
          </a:p>
        </p:txBody>
      </p:sp>
      <p:sp>
        <p:nvSpPr>
          <p:cNvPr id="88087" name="Rectangle 23">
            <a:extLst>
              <a:ext uri="{FF2B5EF4-FFF2-40B4-BE49-F238E27FC236}">
                <a16:creationId xmlns:a16="http://schemas.microsoft.com/office/drawing/2014/main" id="{1BF9AA5C-AD45-4743-84A2-2DD3E7421E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550" y="5013325"/>
            <a:ext cx="2936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88088" name="Rectangle 24">
            <a:extLst>
              <a:ext uri="{FF2B5EF4-FFF2-40B4-BE49-F238E27FC236}">
                <a16:creationId xmlns:a16="http://schemas.microsoft.com/office/drawing/2014/main" id="{B11DAE35-45F2-4920-BB15-F0A4D3CA74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8550" y="3937000"/>
            <a:ext cx="2936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88089" name="Rectangle 26">
            <a:extLst>
              <a:ext uri="{FF2B5EF4-FFF2-40B4-BE49-F238E27FC236}">
                <a16:creationId xmlns:a16="http://schemas.microsoft.com/office/drawing/2014/main" id="{B92E7415-BA8E-432F-B127-68372662A4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4713" y="3933825"/>
            <a:ext cx="2936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4</a:t>
            </a:r>
          </a:p>
        </p:txBody>
      </p:sp>
      <p:cxnSp>
        <p:nvCxnSpPr>
          <p:cNvPr id="88090" name="AutoShape 27">
            <a:extLst>
              <a:ext uri="{FF2B5EF4-FFF2-40B4-BE49-F238E27FC236}">
                <a16:creationId xmlns:a16="http://schemas.microsoft.com/office/drawing/2014/main" id="{4A224C4E-4040-4E17-AC3F-5985F0D9BE3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795713" y="2916238"/>
            <a:ext cx="0" cy="687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4620" name="AutoShape 28">
            <a:extLst>
              <a:ext uri="{FF2B5EF4-FFF2-40B4-BE49-F238E27FC236}">
                <a16:creationId xmlns:a16="http://schemas.microsoft.com/office/drawing/2014/main" id="{3801CCB4-6FDC-49CF-BD92-B3EB7C30230B}"/>
              </a:ext>
            </a:extLst>
          </p:cNvPr>
          <p:cNvCxnSpPr>
            <a:cxnSpLocks noChangeShapeType="1"/>
            <a:stCxn id="88077" idx="0"/>
            <a:endCxn id="88072" idx="4"/>
          </p:cNvCxnSpPr>
          <p:nvPr/>
        </p:nvCxnSpPr>
        <p:spPr bwMode="auto">
          <a:xfrm flipV="1">
            <a:off x="3795713" y="2916238"/>
            <a:ext cx="0" cy="687387"/>
          </a:xfrm>
          <a:prstGeom prst="straightConnector1">
            <a:avLst/>
          </a:prstGeom>
          <a:noFill/>
          <a:ln w="50800">
            <a:solidFill>
              <a:schemeClr val="accent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552A2A-D75B-4A37-BEED-2A7E27870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123</a:t>
            </a:fld>
            <a:endParaRPr lang="en-US" altLang="hi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494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DD294BD9-A527-470B-9E31-B517DC6557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i-IN"/>
              <a:t>Topological Sort:  DFS</a:t>
            </a:r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A4E3B9D5-9E01-489D-B7C7-9278A75219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295400"/>
            <a:ext cx="915988" cy="38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hi-IN" sz="1600" b="1">
                <a:latin typeface="Courier New" panose="02070309020205020404" pitchFamily="49" charset="0"/>
              </a:rPr>
              <a:t>dfs(A)</a:t>
            </a:r>
          </a:p>
        </p:txBody>
      </p:sp>
      <p:sp>
        <p:nvSpPr>
          <p:cNvPr id="89092" name="Oval 4">
            <a:extLst>
              <a:ext uri="{FF2B5EF4-FFF2-40B4-BE49-F238E27FC236}">
                <a16:creationId xmlns:a16="http://schemas.microsoft.com/office/drawing/2014/main" id="{DDFD2C0E-4332-46B8-9E50-4CD6660D584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71600" y="4652963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89093" name="Oval 5">
            <a:extLst>
              <a:ext uri="{FF2B5EF4-FFF2-40B4-BE49-F238E27FC236}">
                <a16:creationId xmlns:a16="http://schemas.microsoft.com/office/drawing/2014/main" id="{75EDBC49-4F71-49E3-B1E6-EB189F2EF74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74775" y="1066800"/>
            <a:ext cx="301625" cy="303213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C</a:t>
            </a:r>
          </a:p>
        </p:txBody>
      </p:sp>
      <p:sp>
        <p:nvSpPr>
          <p:cNvPr id="89094" name="Oval 6">
            <a:extLst>
              <a:ext uri="{FF2B5EF4-FFF2-40B4-BE49-F238E27FC236}">
                <a16:creationId xmlns:a16="http://schemas.microsoft.com/office/drawing/2014/main" id="{1D2E8F38-876C-4820-BEFA-FF61B2EEABC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59000" y="2616200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G</a:t>
            </a:r>
          </a:p>
        </p:txBody>
      </p:sp>
      <p:cxnSp>
        <p:nvCxnSpPr>
          <p:cNvPr id="89095" name="AutoShape 7">
            <a:extLst>
              <a:ext uri="{FF2B5EF4-FFF2-40B4-BE49-F238E27FC236}">
                <a16:creationId xmlns:a16="http://schemas.microsoft.com/office/drawing/2014/main" id="{C4E1C09D-9CE4-4272-A179-67177B6563A9}"/>
              </a:ext>
            </a:extLst>
          </p:cNvPr>
          <p:cNvCxnSpPr>
            <a:cxnSpLocks noChangeShapeType="1"/>
            <a:stCxn id="89092" idx="0"/>
            <a:endCxn id="89093" idx="4"/>
          </p:cNvCxnSpPr>
          <p:nvPr/>
        </p:nvCxnSpPr>
        <p:spPr bwMode="auto">
          <a:xfrm flipV="1">
            <a:off x="1522413" y="1370013"/>
            <a:ext cx="3175" cy="32829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9096" name="Oval 8">
            <a:extLst>
              <a:ext uri="{FF2B5EF4-FFF2-40B4-BE49-F238E27FC236}">
                <a16:creationId xmlns:a16="http://schemas.microsoft.com/office/drawing/2014/main" id="{26C55653-CAD6-448D-9AD9-564145B47ED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44900" y="2616200"/>
            <a:ext cx="301625" cy="3000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solidFill>
                  <a:schemeClr val="bg1"/>
                </a:solidFill>
                <a:latin typeface="Courier New" panose="02070309020205020404" pitchFamily="49" charset="0"/>
              </a:rPr>
              <a:t>A</a:t>
            </a:r>
          </a:p>
        </p:txBody>
      </p:sp>
      <p:cxnSp>
        <p:nvCxnSpPr>
          <p:cNvPr id="89097" name="AutoShape 9">
            <a:extLst>
              <a:ext uri="{FF2B5EF4-FFF2-40B4-BE49-F238E27FC236}">
                <a16:creationId xmlns:a16="http://schemas.microsoft.com/office/drawing/2014/main" id="{052B2943-EAA8-4731-8DEF-F92D06CDAF5C}"/>
              </a:ext>
            </a:extLst>
          </p:cNvPr>
          <p:cNvCxnSpPr>
            <a:cxnSpLocks noChangeShapeType="1"/>
            <a:stCxn id="89093" idx="5"/>
            <a:endCxn id="89096" idx="1"/>
          </p:cNvCxnSpPr>
          <p:nvPr/>
        </p:nvCxnSpPr>
        <p:spPr bwMode="auto">
          <a:xfrm>
            <a:off x="1631950" y="1325563"/>
            <a:ext cx="2057400" cy="13350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9098" name="Oval 10">
            <a:extLst>
              <a:ext uri="{FF2B5EF4-FFF2-40B4-BE49-F238E27FC236}">
                <a16:creationId xmlns:a16="http://schemas.microsoft.com/office/drawing/2014/main" id="{ACDDB42C-550C-42A4-B909-332B42A1AB2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70450" y="2616200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B</a:t>
            </a:r>
          </a:p>
        </p:txBody>
      </p:sp>
      <p:cxnSp>
        <p:nvCxnSpPr>
          <p:cNvPr id="89099" name="AutoShape 11">
            <a:extLst>
              <a:ext uri="{FF2B5EF4-FFF2-40B4-BE49-F238E27FC236}">
                <a16:creationId xmlns:a16="http://schemas.microsoft.com/office/drawing/2014/main" id="{A8471365-0CA2-48B5-B993-934777321E2C}"/>
              </a:ext>
            </a:extLst>
          </p:cNvPr>
          <p:cNvCxnSpPr>
            <a:cxnSpLocks noChangeShapeType="1"/>
            <a:stCxn id="89093" idx="6"/>
            <a:endCxn id="89098" idx="1"/>
          </p:cNvCxnSpPr>
          <p:nvPr/>
        </p:nvCxnSpPr>
        <p:spPr bwMode="auto">
          <a:xfrm>
            <a:off x="1676400" y="1219200"/>
            <a:ext cx="3238500" cy="14414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9100" name="Oval 12">
            <a:extLst>
              <a:ext uri="{FF2B5EF4-FFF2-40B4-BE49-F238E27FC236}">
                <a16:creationId xmlns:a16="http://schemas.microsoft.com/office/drawing/2014/main" id="{D852EEE9-9D23-42E4-897F-7F25E958CAC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59000" y="3603625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D</a:t>
            </a:r>
          </a:p>
        </p:txBody>
      </p:sp>
      <p:sp>
        <p:nvSpPr>
          <p:cNvPr id="89101" name="Oval 13">
            <a:extLst>
              <a:ext uri="{FF2B5EF4-FFF2-40B4-BE49-F238E27FC236}">
                <a16:creationId xmlns:a16="http://schemas.microsoft.com/office/drawing/2014/main" id="{9DF22496-F3BC-4387-BB89-0A223F376DD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44900" y="3603625"/>
            <a:ext cx="301625" cy="29845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E</a:t>
            </a:r>
          </a:p>
        </p:txBody>
      </p:sp>
      <p:cxnSp>
        <p:nvCxnSpPr>
          <p:cNvPr id="89102" name="AutoShape 14">
            <a:extLst>
              <a:ext uri="{FF2B5EF4-FFF2-40B4-BE49-F238E27FC236}">
                <a16:creationId xmlns:a16="http://schemas.microsoft.com/office/drawing/2014/main" id="{969CBDF9-F730-4E0C-8A8C-21F623BC1FF2}"/>
              </a:ext>
            </a:extLst>
          </p:cNvPr>
          <p:cNvCxnSpPr>
            <a:cxnSpLocks noChangeShapeType="1"/>
            <a:stCxn id="89093" idx="4"/>
            <a:endCxn id="89094" idx="1"/>
          </p:cNvCxnSpPr>
          <p:nvPr/>
        </p:nvCxnSpPr>
        <p:spPr bwMode="auto">
          <a:xfrm>
            <a:off x="1525588" y="1370013"/>
            <a:ext cx="677862" cy="12906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9103" name="AutoShape 15">
            <a:extLst>
              <a:ext uri="{FF2B5EF4-FFF2-40B4-BE49-F238E27FC236}">
                <a16:creationId xmlns:a16="http://schemas.microsoft.com/office/drawing/2014/main" id="{1641D1AB-9191-48A4-838C-5D0FF1A2CB16}"/>
              </a:ext>
            </a:extLst>
          </p:cNvPr>
          <p:cNvCxnSpPr>
            <a:cxnSpLocks noChangeShapeType="1"/>
            <a:stCxn id="89101" idx="2"/>
            <a:endCxn id="89100" idx="6"/>
          </p:cNvCxnSpPr>
          <p:nvPr/>
        </p:nvCxnSpPr>
        <p:spPr bwMode="auto">
          <a:xfrm flipH="1">
            <a:off x="2460625" y="3752850"/>
            <a:ext cx="1184275" cy="1588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9104" name="AutoShape 16">
            <a:extLst>
              <a:ext uri="{FF2B5EF4-FFF2-40B4-BE49-F238E27FC236}">
                <a16:creationId xmlns:a16="http://schemas.microsoft.com/office/drawing/2014/main" id="{A8BC463F-1659-4351-97C5-684BB2861A02}"/>
              </a:ext>
            </a:extLst>
          </p:cNvPr>
          <p:cNvCxnSpPr>
            <a:cxnSpLocks noChangeShapeType="1"/>
            <a:stCxn id="89101" idx="3"/>
            <a:endCxn id="89092" idx="6"/>
          </p:cNvCxnSpPr>
          <p:nvPr/>
        </p:nvCxnSpPr>
        <p:spPr bwMode="auto">
          <a:xfrm flipH="1">
            <a:off x="1673225" y="3857625"/>
            <a:ext cx="2016125" cy="94615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9105" name="AutoShape 17">
            <a:extLst>
              <a:ext uri="{FF2B5EF4-FFF2-40B4-BE49-F238E27FC236}">
                <a16:creationId xmlns:a16="http://schemas.microsoft.com/office/drawing/2014/main" id="{6A1C4B57-AC7B-4F6B-9416-370D9ECEDC42}"/>
              </a:ext>
            </a:extLst>
          </p:cNvPr>
          <p:cNvCxnSpPr>
            <a:cxnSpLocks noChangeShapeType="1"/>
            <a:stCxn id="89092" idx="7"/>
            <a:endCxn id="89100" idx="3"/>
          </p:cNvCxnSpPr>
          <p:nvPr/>
        </p:nvCxnSpPr>
        <p:spPr bwMode="auto">
          <a:xfrm flipV="1">
            <a:off x="1628775" y="3860800"/>
            <a:ext cx="574675" cy="836613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9106" name="AutoShape 18">
            <a:extLst>
              <a:ext uri="{FF2B5EF4-FFF2-40B4-BE49-F238E27FC236}">
                <a16:creationId xmlns:a16="http://schemas.microsoft.com/office/drawing/2014/main" id="{DCFE9C95-FF62-4696-89E1-523E4BC52749}"/>
              </a:ext>
            </a:extLst>
          </p:cNvPr>
          <p:cNvCxnSpPr>
            <a:cxnSpLocks noChangeShapeType="1"/>
            <a:stCxn id="89101" idx="7"/>
            <a:endCxn id="89098" idx="3"/>
          </p:cNvCxnSpPr>
          <p:nvPr/>
        </p:nvCxnSpPr>
        <p:spPr bwMode="auto">
          <a:xfrm flipV="1">
            <a:off x="3902075" y="2873375"/>
            <a:ext cx="1012825" cy="7747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9107" name="AutoShape 19">
            <a:extLst>
              <a:ext uri="{FF2B5EF4-FFF2-40B4-BE49-F238E27FC236}">
                <a16:creationId xmlns:a16="http://schemas.microsoft.com/office/drawing/2014/main" id="{4B6AD27F-6015-4A02-A552-D0BFF340F582}"/>
              </a:ext>
            </a:extLst>
          </p:cNvPr>
          <p:cNvCxnSpPr>
            <a:cxnSpLocks noChangeShapeType="1"/>
            <a:stCxn id="89100" idx="7"/>
            <a:endCxn id="89096" idx="3"/>
          </p:cNvCxnSpPr>
          <p:nvPr/>
        </p:nvCxnSpPr>
        <p:spPr bwMode="auto">
          <a:xfrm flipV="1">
            <a:off x="2416175" y="2871788"/>
            <a:ext cx="1273175" cy="776287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9108" name="Oval 20">
            <a:extLst>
              <a:ext uri="{FF2B5EF4-FFF2-40B4-BE49-F238E27FC236}">
                <a16:creationId xmlns:a16="http://schemas.microsoft.com/office/drawing/2014/main" id="{122228D1-0DD7-4BFA-9D74-26CDC4B6590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90800" y="5181600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H</a:t>
            </a:r>
          </a:p>
        </p:txBody>
      </p:sp>
      <p:cxnSp>
        <p:nvCxnSpPr>
          <p:cNvPr id="89109" name="AutoShape 21">
            <a:extLst>
              <a:ext uri="{FF2B5EF4-FFF2-40B4-BE49-F238E27FC236}">
                <a16:creationId xmlns:a16="http://schemas.microsoft.com/office/drawing/2014/main" id="{439C31E4-0D85-4229-B8B4-3C5B684953A2}"/>
              </a:ext>
            </a:extLst>
          </p:cNvPr>
          <p:cNvCxnSpPr>
            <a:cxnSpLocks noChangeShapeType="1"/>
            <a:stCxn id="89108" idx="2"/>
            <a:endCxn id="89092" idx="5"/>
          </p:cNvCxnSpPr>
          <p:nvPr/>
        </p:nvCxnSpPr>
        <p:spPr bwMode="auto">
          <a:xfrm flipH="1" flipV="1">
            <a:off x="1628775" y="4910138"/>
            <a:ext cx="962025" cy="422275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9110" name="Rectangle 22">
            <a:extLst>
              <a:ext uri="{FF2B5EF4-FFF2-40B4-BE49-F238E27FC236}">
                <a16:creationId xmlns:a16="http://schemas.microsoft.com/office/drawing/2014/main" id="{BB899FB4-A2A4-429C-A134-3DD2EC40BD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7625" y="5526088"/>
            <a:ext cx="2936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7</a:t>
            </a:r>
          </a:p>
        </p:txBody>
      </p:sp>
      <p:sp>
        <p:nvSpPr>
          <p:cNvPr id="89111" name="Rectangle 23">
            <a:extLst>
              <a:ext uri="{FF2B5EF4-FFF2-40B4-BE49-F238E27FC236}">
                <a16:creationId xmlns:a16="http://schemas.microsoft.com/office/drawing/2014/main" id="{16185F74-265B-4EF7-8F30-A7EB99CFE5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550" y="5013325"/>
            <a:ext cx="2936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89112" name="Rectangle 25">
            <a:extLst>
              <a:ext uri="{FF2B5EF4-FFF2-40B4-BE49-F238E27FC236}">
                <a16:creationId xmlns:a16="http://schemas.microsoft.com/office/drawing/2014/main" id="{6C7C5581-4F7C-42D3-BCC6-C5ED817F2E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4713" y="3933825"/>
            <a:ext cx="2936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4</a:t>
            </a:r>
          </a:p>
        </p:txBody>
      </p:sp>
      <p:cxnSp>
        <p:nvCxnSpPr>
          <p:cNvPr id="89113" name="AutoShape 26">
            <a:extLst>
              <a:ext uri="{FF2B5EF4-FFF2-40B4-BE49-F238E27FC236}">
                <a16:creationId xmlns:a16="http://schemas.microsoft.com/office/drawing/2014/main" id="{CF8C3DEA-E673-4BB7-B339-80CE7091C46D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795713" y="2916238"/>
            <a:ext cx="0" cy="687387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9114" name="Rectangle 27">
            <a:extLst>
              <a:ext uri="{FF2B5EF4-FFF2-40B4-BE49-F238E27FC236}">
                <a16:creationId xmlns:a16="http://schemas.microsoft.com/office/drawing/2014/main" id="{82E9A0EE-8D87-49E1-BB3F-BB5F9ED22D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8550" y="3937000"/>
            <a:ext cx="2936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DD881B4-96D7-40EC-AE7C-646921E42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124</a:t>
            </a:fld>
            <a:endParaRPr lang="en-US" altLang="hi-IN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EEFE582B-1162-4B0D-9803-95822E6FC4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i-IN"/>
              <a:t>Topological Sort:  DFS</a:t>
            </a:r>
          </a:p>
        </p:txBody>
      </p:sp>
      <p:sp>
        <p:nvSpPr>
          <p:cNvPr id="90115" name="Oval 4">
            <a:extLst>
              <a:ext uri="{FF2B5EF4-FFF2-40B4-BE49-F238E27FC236}">
                <a16:creationId xmlns:a16="http://schemas.microsoft.com/office/drawing/2014/main" id="{53D13AD9-4196-49FC-8BF9-88BF7743762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71600" y="4652963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90116" name="Oval 5">
            <a:extLst>
              <a:ext uri="{FF2B5EF4-FFF2-40B4-BE49-F238E27FC236}">
                <a16:creationId xmlns:a16="http://schemas.microsoft.com/office/drawing/2014/main" id="{E3A174C8-66F9-4B1C-88CF-765EFC69182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74775" y="1066800"/>
            <a:ext cx="301625" cy="303213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C</a:t>
            </a:r>
          </a:p>
        </p:txBody>
      </p:sp>
      <p:sp>
        <p:nvSpPr>
          <p:cNvPr id="90117" name="Oval 6">
            <a:extLst>
              <a:ext uri="{FF2B5EF4-FFF2-40B4-BE49-F238E27FC236}">
                <a16:creationId xmlns:a16="http://schemas.microsoft.com/office/drawing/2014/main" id="{D6DBED91-170B-4F4C-B42B-289CB5AF81D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59000" y="2616200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G</a:t>
            </a:r>
          </a:p>
        </p:txBody>
      </p:sp>
      <p:cxnSp>
        <p:nvCxnSpPr>
          <p:cNvPr id="90118" name="AutoShape 7">
            <a:extLst>
              <a:ext uri="{FF2B5EF4-FFF2-40B4-BE49-F238E27FC236}">
                <a16:creationId xmlns:a16="http://schemas.microsoft.com/office/drawing/2014/main" id="{A13BD282-8088-416F-800B-AF2EFF936F02}"/>
              </a:ext>
            </a:extLst>
          </p:cNvPr>
          <p:cNvCxnSpPr>
            <a:cxnSpLocks noChangeShapeType="1"/>
            <a:stCxn id="90115" idx="0"/>
            <a:endCxn id="90116" idx="4"/>
          </p:cNvCxnSpPr>
          <p:nvPr/>
        </p:nvCxnSpPr>
        <p:spPr bwMode="auto">
          <a:xfrm flipV="1">
            <a:off x="1522413" y="1370013"/>
            <a:ext cx="3175" cy="32829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0119" name="Oval 8">
            <a:extLst>
              <a:ext uri="{FF2B5EF4-FFF2-40B4-BE49-F238E27FC236}">
                <a16:creationId xmlns:a16="http://schemas.microsoft.com/office/drawing/2014/main" id="{D56D6D48-B652-480C-9E52-BECB334D52F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44900" y="2616200"/>
            <a:ext cx="301625" cy="300038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A</a:t>
            </a:r>
          </a:p>
        </p:txBody>
      </p:sp>
      <p:cxnSp>
        <p:nvCxnSpPr>
          <p:cNvPr id="90120" name="AutoShape 9">
            <a:extLst>
              <a:ext uri="{FF2B5EF4-FFF2-40B4-BE49-F238E27FC236}">
                <a16:creationId xmlns:a16="http://schemas.microsoft.com/office/drawing/2014/main" id="{F90C14F1-3B18-46E9-BBE1-5A328BD0C465}"/>
              </a:ext>
            </a:extLst>
          </p:cNvPr>
          <p:cNvCxnSpPr>
            <a:cxnSpLocks noChangeShapeType="1"/>
            <a:stCxn id="90116" idx="5"/>
            <a:endCxn id="90119" idx="1"/>
          </p:cNvCxnSpPr>
          <p:nvPr/>
        </p:nvCxnSpPr>
        <p:spPr bwMode="auto">
          <a:xfrm>
            <a:off x="1631950" y="1325563"/>
            <a:ext cx="2057400" cy="13350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0121" name="Oval 10">
            <a:extLst>
              <a:ext uri="{FF2B5EF4-FFF2-40B4-BE49-F238E27FC236}">
                <a16:creationId xmlns:a16="http://schemas.microsoft.com/office/drawing/2014/main" id="{2A159C68-D0C6-4E1F-B288-031B596EA86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70450" y="2616200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B</a:t>
            </a:r>
          </a:p>
        </p:txBody>
      </p:sp>
      <p:cxnSp>
        <p:nvCxnSpPr>
          <p:cNvPr id="90122" name="AutoShape 11">
            <a:extLst>
              <a:ext uri="{FF2B5EF4-FFF2-40B4-BE49-F238E27FC236}">
                <a16:creationId xmlns:a16="http://schemas.microsoft.com/office/drawing/2014/main" id="{0F27EDB7-FFCF-44EA-ABF4-1293FEFD28F5}"/>
              </a:ext>
            </a:extLst>
          </p:cNvPr>
          <p:cNvCxnSpPr>
            <a:cxnSpLocks noChangeShapeType="1"/>
            <a:stCxn id="90116" idx="6"/>
            <a:endCxn id="90121" idx="1"/>
          </p:cNvCxnSpPr>
          <p:nvPr/>
        </p:nvCxnSpPr>
        <p:spPr bwMode="auto">
          <a:xfrm>
            <a:off x="1676400" y="1219200"/>
            <a:ext cx="3238500" cy="14414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0123" name="Oval 12">
            <a:extLst>
              <a:ext uri="{FF2B5EF4-FFF2-40B4-BE49-F238E27FC236}">
                <a16:creationId xmlns:a16="http://schemas.microsoft.com/office/drawing/2014/main" id="{1CE80EC3-A2A6-46CE-81B0-53EBF02F022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59000" y="3603625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D</a:t>
            </a:r>
          </a:p>
        </p:txBody>
      </p:sp>
      <p:sp>
        <p:nvSpPr>
          <p:cNvPr id="90124" name="Oval 13">
            <a:extLst>
              <a:ext uri="{FF2B5EF4-FFF2-40B4-BE49-F238E27FC236}">
                <a16:creationId xmlns:a16="http://schemas.microsoft.com/office/drawing/2014/main" id="{C2C705D6-0646-414A-B956-52775161BEB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44900" y="3603625"/>
            <a:ext cx="301625" cy="29845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E</a:t>
            </a:r>
          </a:p>
        </p:txBody>
      </p:sp>
      <p:cxnSp>
        <p:nvCxnSpPr>
          <p:cNvPr id="90125" name="AutoShape 14">
            <a:extLst>
              <a:ext uri="{FF2B5EF4-FFF2-40B4-BE49-F238E27FC236}">
                <a16:creationId xmlns:a16="http://schemas.microsoft.com/office/drawing/2014/main" id="{B7155C07-4875-4461-B996-37530B1B36D6}"/>
              </a:ext>
            </a:extLst>
          </p:cNvPr>
          <p:cNvCxnSpPr>
            <a:cxnSpLocks noChangeShapeType="1"/>
            <a:stCxn id="90116" idx="4"/>
            <a:endCxn id="90117" idx="1"/>
          </p:cNvCxnSpPr>
          <p:nvPr/>
        </p:nvCxnSpPr>
        <p:spPr bwMode="auto">
          <a:xfrm>
            <a:off x="1525588" y="1370013"/>
            <a:ext cx="677862" cy="12906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0126" name="AutoShape 15">
            <a:extLst>
              <a:ext uri="{FF2B5EF4-FFF2-40B4-BE49-F238E27FC236}">
                <a16:creationId xmlns:a16="http://schemas.microsoft.com/office/drawing/2014/main" id="{C332E309-4361-4601-997B-5C36C684CBDE}"/>
              </a:ext>
            </a:extLst>
          </p:cNvPr>
          <p:cNvCxnSpPr>
            <a:cxnSpLocks noChangeShapeType="1"/>
            <a:stCxn id="90124" idx="2"/>
            <a:endCxn id="90123" idx="6"/>
          </p:cNvCxnSpPr>
          <p:nvPr/>
        </p:nvCxnSpPr>
        <p:spPr bwMode="auto">
          <a:xfrm flipH="1">
            <a:off x="2460625" y="3752850"/>
            <a:ext cx="1184275" cy="1588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0127" name="AutoShape 16">
            <a:extLst>
              <a:ext uri="{FF2B5EF4-FFF2-40B4-BE49-F238E27FC236}">
                <a16:creationId xmlns:a16="http://schemas.microsoft.com/office/drawing/2014/main" id="{94BDD582-871A-4AE5-9687-7FD53B490BFE}"/>
              </a:ext>
            </a:extLst>
          </p:cNvPr>
          <p:cNvCxnSpPr>
            <a:cxnSpLocks noChangeShapeType="1"/>
            <a:stCxn id="90124" idx="3"/>
            <a:endCxn id="90115" idx="6"/>
          </p:cNvCxnSpPr>
          <p:nvPr/>
        </p:nvCxnSpPr>
        <p:spPr bwMode="auto">
          <a:xfrm flipH="1">
            <a:off x="1673225" y="3857625"/>
            <a:ext cx="2016125" cy="94615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0128" name="AutoShape 17">
            <a:extLst>
              <a:ext uri="{FF2B5EF4-FFF2-40B4-BE49-F238E27FC236}">
                <a16:creationId xmlns:a16="http://schemas.microsoft.com/office/drawing/2014/main" id="{16B5481D-02E3-47B0-9B5F-52DF840D8A5A}"/>
              </a:ext>
            </a:extLst>
          </p:cNvPr>
          <p:cNvCxnSpPr>
            <a:cxnSpLocks noChangeShapeType="1"/>
            <a:stCxn id="90115" idx="7"/>
            <a:endCxn id="90123" idx="3"/>
          </p:cNvCxnSpPr>
          <p:nvPr/>
        </p:nvCxnSpPr>
        <p:spPr bwMode="auto">
          <a:xfrm flipV="1">
            <a:off x="1628775" y="3860800"/>
            <a:ext cx="574675" cy="836613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0129" name="AutoShape 18">
            <a:extLst>
              <a:ext uri="{FF2B5EF4-FFF2-40B4-BE49-F238E27FC236}">
                <a16:creationId xmlns:a16="http://schemas.microsoft.com/office/drawing/2014/main" id="{289178C5-3640-43D6-A859-866D653E86FC}"/>
              </a:ext>
            </a:extLst>
          </p:cNvPr>
          <p:cNvCxnSpPr>
            <a:cxnSpLocks noChangeShapeType="1"/>
            <a:stCxn id="90124" idx="7"/>
            <a:endCxn id="90121" idx="3"/>
          </p:cNvCxnSpPr>
          <p:nvPr/>
        </p:nvCxnSpPr>
        <p:spPr bwMode="auto">
          <a:xfrm flipV="1">
            <a:off x="3902075" y="2873375"/>
            <a:ext cx="1012825" cy="7747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0130" name="AutoShape 19">
            <a:extLst>
              <a:ext uri="{FF2B5EF4-FFF2-40B4-BE49-F238E27FC236}">
                <a16:creationId xmlns:a16="http://schemas.microsoft.com/office/drawing/2014/main" id="{7E0EC087-2AA1-4C93-935C-C109474FA923}"/>
              </a:ext>
            </a:extLst>
          </p:cNvPr>
          <p:cNvCxnSpPr>
            <a:cxnSpLocks noChangeShapeType="1"/>
            <a:stCxn id="90123" idx="7"/>
            <a:endCxn id="90119" idx="3"/>
          </p:cNvCxnSpPr>
          <p:nvPr/>
        </p:nvCxnSpPr>
        <p:spPr bwMode="auto">
          <a:xfrm flipV="1">
            <a:off x="2416175" y="2871788"/>
            <a:ext cx="1273175" cy="776287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0131" name="Oval 20">
            <a:extLst>
              <a:ext uri="{FF2B5EF4-FFF2-40B4-BE49-F238E27FC236}">
                <a16:creationId xmlns:a16="http://schemas.microsoft.com/office/drawing/2014/main" id="{8CEC57ED-94A7-4BA8-BD01-C2C267CDBDE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90800" y="5181600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H</a:t>
            </a:r>
          </a:p>
        </p:txBody>
      </p:sp>
      <p:cxnSp>
        <p:nvCxnSpPr>
          <p:cNvPr id="90132" name="AutoShape 21">
            <a:extLst>
              <a:ext uri="{FF2B5EF4-FFF2-40B4-BE49-F238E27FC236}">
                <a16:creationId xmlns:a16="http://schemas.microsoft.com/office/drawing/2014/main" id="{0C3DD2E1-0168-4AC5-9368-244465BA833E}"/>
              </a:ext>
            </a:extLst>
          </p:cNvPr>
          <p:cNvCxnSpPr>
            <a:cxnSpLocks noChangeShapeType="1"/>
            <a:stCxn id="90131" idx="2"/>
            <a:endCxn id="90115" idx="5"/>
          </p:cNvCxnSpPr>
          <p:nvPr/>
        </p:nvCxnSpPr>
        <p:spPr bwMode="auto">
          <a:xfrm flipH="1" flipV="1">
            <a:off x="1628775" y="4910138"/>
            <a:ext cx="962025" cy="422275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0133" name="Rectangle 22">
            <a:extLst>
              <a:ext uri="{FF2B5EF4-FFF2-40B4-BE49-F238E27FC236}">
                <a16:creationId xmlns:a16="http://schemas.microsoft.com/office/drawing/2014/main" id="{279AEEC1-5142-4D12-B29A-B4FA06A20E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7625" y="5526088"/>
            <a:ext cx="2936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7</a:t>
            </a:r>
          </a:p>
        </p:txBody>
      </p:sp>
      <p:sp>
        <p:nvSpPr>
          <p:cNvPr id="90134" name="Rectangle 23">
            <a:extLst>
              <a:ext uri="{FF2B5EF4-FFF2-40B4-BE49-F238E27FC236}">
                <a16:creationId xmlns:a16="http://schemas.microsoft.com/office/drawing/2014/main" id="{DC31A32B-E54D-4E33-A3A5-2621F9AE75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550" y="5013325"/>
            <a:ext cx="2936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90135" name="Rectangle 24">
            <a:extLst>
              <a:ext uri="{FF2B5EF4-FFF2-40B4-BE49-F238E27FC236}">
                <a16:creationId xmlns:a16="http://schemas.microsoft.com/office/drawing/2014/main" id="{FCE66B33-BF4D-414E-B8BA-33FDAB7720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4713" y="3933825"/>
            <a:ext cx="2936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4</a:t>
            </a:r>
          </a:p>
        </p:txBody>
      </p:sp>
      <p:cxnSp>
        <p:nvCxnSpPr>
          <p:cNvPr id="90136" name="AutoShape 25">
            <a:extLst>
              <a:ext uri="{FF2B5EF4-FFF2-40B4-BE49-F238E27FC236}">
                <a16:creationId xmlns:a16="http://schemas.microsoft.com/office/drawing/2014/main" id="{6F2A2ED9-5452-4061-A5CF-B78EAE928E2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795713" y="2916238"/>
            <a:ext cx="0" cy="687387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0137" name="Rectangle 26">
            <a:extLst>
              <a:ext uri="{FF2B5EF4-FFF2-40B4-BE49-F238E27FC236}">
                <a16:creationId xmlns:a16="http://schemas.microsoft.com/office/drawing/2014/main" id="{444B2B28-810D-42B9-874C-10DDB212A6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8550" y="3937000"/>
            <a:ext cx="2936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90138" name="Rectangle 27">
            <a:extLst>
              <a:ext uri="{FF2B5EF4-FFF2-40B4-BE49-F238E27FC236}">
                <a16:creationId xmlns:a16="http://schemas.microsoft.com/office/drawing/2014/main" id="{4696351F-8CDE-4601-A309-8BA9E74C04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9225" y="2622550"/>
            <a:ext cx="2936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3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DF48E99-F176-4252-A2E4-0D05E115C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125</a:t>
            </a:fld>
            <a:endParaRPr lang="en-US" altLang="hi-IN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047CEA4D-C7B4-4468-B63A-FD67A2130C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i-IN"/>
              <a:t>Topological Sort:  DFS</a:t>
            </a:r>
          </a:p>
        </p:txBody>
      </p:sp>
      <p:sp>
        <p:nvSpPr>
          <p:cNvPr id="91139" name="Oval 3">
            <a:extLst>
              <a:ext uri="{FF2B5EF4-FFF2-40B4-BE49-F238E27FC236}">
                <a16:creationId xmlns:a16="http://schemas.microsoft.com/office/drawing/2014/main" id="{232CB39C-C390-40E8-9FEA-E217326A225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71600" y="4652963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91140" name="Oval 4">
            <a:extLst>
              <a:ext uri="{FF2B5EF4-FFF2-40B4-BE49-F238E27FC236}">
                <a16:creationId xmlns:a16="http://schemas.microsoft.com/office/drawing/2014/main" id="{F3E36281-88E9-4178-B8F3-6BBDDA808F6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74775" y="1066800"/>
            <a:ext cx="301625" cy="303213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C</a:t>
            </a:r>
          </a:p>
        </p:txBody>
      </p:sp>
      <p:sp>
        <p:nvSpPr>
          <p:cNvPr id="91141" name="Oval 5">
            <a:extLst>
              <a:ext uri="{FF2B5EF4-FFF2-40B4-BE49-F238E27FC236}">
                <a16:creationId xmlns:a16="http://schemas.microsoft.com/office/drawing/2014/main" id="{18A6AD1D-52D3-40E6-B8A0-E3D1DAFB6F9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59000" y="2616200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G</a:t>
            </a:r>
          </a:p>
        </p:txBody>
      </p:sp>
      <p:cxnSp>
        <p:nvCxnSpPr>
          <p:cNvPr id="91142" name="AutoShape 6">
            <a:extLst>
              <a:ext uri="{FF2B5EF4-FFF2-40B4-BE49-F238E27FC236}">
                <a16:creationId xmlns:a16="http://schemas.microsoft.com/office/drawing/2014/main" id="{C4C22153-1DB8-4F1E-8C78-663E3E797684}"/>
              </a:ext>
            </a:extLst>
          </p:cNvPr>
          <p:cNvCxnSpPr>
            <a:cxnSpLocks noChangeShapeType="1"/>
            <a:stCxn id="91139" idx="0"/>
            <a:endCxn id="91140" idx="4"/>
          </p:cNvCxnSpPr>
          <p:nvPr/>
        </p:nvCxnSpPr>
        <p:spPr bwMode="auto">
          <a:xfrm flipV="1">
            <a:off x="1522413" y="1370013"/>
            <a:ext cx="3175" cy="32829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1143" name="Oval 7">
            <a:extLst>
              <a:ext uri="{FF2B5EF4-FFF2-40B4-BE49-F238E27FC236}">
                <a16:creationId xmlns:a16="http://schemas.microsoft.com/office/drawing/2014/main" id="{AE8D6B11-E4C6-403B-AB15-39BC8660B5C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44900" y="2616200"/>
            <a:ext cx="301625" cy="300038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A</a:t>
            </a:r>
          </a:p>
        </p:txBody>
      </p:sp>
      <p:cxnSp>
        <p:nvCxnSpPr>
          <p:cNvPr id="91144" name="AutoShape 8">
            <a:extLst>
              <a:ext uri="{FF2B5EF4-FFF2-40B4-BE49-F238E27FC236}">
                <a16:creationId xmlns:a16="http://schemas.microsoft.com/office/drawing/2014/main" id="{DC01D951-A095-4600-A758-F8B390C9DE8C}"/>
              </a:ext>
            </a:extLst>
          </p:cNvPr>
          <p:cNvCxnSpPr>
            <a:cxnSpLocks noChangeShapeType="1"/>
            <a:stCxn id="91140" idx="5"/>
            <a:endCxn id="91143" idx="1"/>
          </p:cNvCxnSpPr>
          <p:nvPr/>
        </p:nvCxnSpPr>
        <p:spPr bwMode="auto">
          <a:xfrm>
            <a:off x="1631950" y="1325563"/>
            <a:ext cx="2057400" cy="13350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1145" name="Oval 9">
            <a:extLst>
              <a:ext uri="{FF2B5EF4-FFF2-40B4-BE49-F238E27FC236}">
                <a16:creationId xmlns:a16="http://schemas.microsoft.com/office/drawing/2014/main" id="{2A1542EB-E7DC-4775-91F1-E37F4FEFEF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70450" y="2616200"/>
            <a:ext cx="301625" cy="3016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solidFill>
                  <a:schemeClr val="bg1"/>
                </a:solidFill>
                <a:latin typeface="Courier New" panose="02070309020205020404" pitchFamily="49" charset="0"/>
              </a:rPr>
              <a:t>B</a:t>
            </a:r>
          </a:p>
        </p:txBody>
      </p:sp>
      <p:cxnSp>
        <p:nvCxnSpPr>
          <p:cNvPr id="91146" name="AutoShape 10">
            <a:extLst>
              <a:ext uri="{FF2B5EF4-FFF2-40B4-BE49-F238E27FC236}">
                <a16:creationId xmlns:a16="http://schemas.microsoft.com/office/drawing/2014/main" id="{0D5E6785-5402-4276-887F-4CA7F1C1996F}"/>
              </a:ext>
            </a:extLst>
          </p:cNvPr>
          <p:cNvCxnSpPr>
            <a:cxnSpLocks noChangeShapeType="1"/>
            <a:stCxn id="91140" idx="6"/>
            <a:endCxn id="91145" idx="1"/>
          </p:cNvCxnSpPr>
          <p:nvPr/>
        </p:nvCxnSpPr>
        <p:spPr bwMode="auto">
          <a:xfrm>
            <a:off x="1676400" y="1219200"/>
            <a:ext cx="3238500" cy="14414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1147" name="Oval 11">
            <a:extLst>
              <a:ext uri="{FF2B5EF4-FFF2-40B4-BE49-F238E27FC236}">
                <a16:creationId xmlns:a16="http://schemas.microsoft.com/office/drawing/2014/main" id="{EC5EF037-9E98-4303-B946-50AC33FDFF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59000" y="3603625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D</a:t>
            </a:r>
          </a:p>
        </p:txBody>
      </p:sp>
      <p:sp>
        <p:nvSpPr>
          <p:cNvPr id="91148" name="Oval 12">
            <a:extLst>
              <a:ext uri="{FF2B5EF4-FFF2-40B4-BE49-F238E27FC236}">
                <a16:creationId xmlns:a16="http://schemas.microsoft.com/office/drawing/2014/main" id="{371676F1-CD14-485A-89DD-0D3836C192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44900" y="3603625"/>
            <a:ext cx="301625" cy="29845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E</a:t>
            </a:r>
          </a:p>
        </p:txBody>
      </p:sp>
      <p:cxnSp>
        <p:nvCxnSpPr>
          <p:cNvPr id="91149" name="AutoShape 13">
            <a:extLst>
              <a:ext uri="{FF2B5EF4-FFF2-40B4-BE49-F238E27FC236}">
                <a16:creationId xmlns:a16="http://schemas.microsoft.com/office/drawing/2014/main" id="{220F0561-9D6E-48E1-9E5F-9068E3B1D66B}"/>
              </a:ext>
            </a:extLst>
          </p:cNvPr>
          <p:cNvCxnSpPr>
            <a:cxnSpLocks noChangeShapeType="1"/>
            <a:stCxn id="91140" idx="4"/>
            <a:endCxn id="91141" idx="1"/>
          </p:cNvCxnSpPr>
          <p:nvPr/>
        </p:nvCxnSpPr>
        <p:spPr bwMode="auto">
          <a:xfrm>
            <a:off x="1525588" y="1370013"/>
            <a:ext cx="677862" cy="12906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1150" name="AutoShape 14">
            <a:extLst>
              <a:ext uri="{FF2B5EF4-FFF2-40B4-BE49-F238E27FC236}">
                <a16:creationId xmlns:a16="http://schemas.microsoft.com/office/drawing/2014/main" id="{6F8216BC-E987-4B4C-8957-CA09BF721FB8}"/>
              </a:ext>
            </a:extLst>
          </p:cNvPr>
          <p:cNvCxnSpPr>
            <a:cxnSpLocks noChangeShapeType="1"/>
            <a:stCxn id="91148" idx="2"/>
            <a:endCxn id="91147" idx="6"/>
          </p:cNvCxnSpPr>
          <p:nvPr/>
        </p:nvCxnSpPr>
        <p:spPr bwMode="auto">
          <a:xfrm flipH="1">
            <a:off x="2460625" y="3752850"/>
            <a:ext cx="1184275" cy="1588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1151" name="AutoShape 15">
            <a:extLst>
              <a:ext uri="{FF2B5EF4-FFF2-40B4-BE49-F238E27FC236}">
                <a16:creationId xmlns:a16="http://schemas.microsoft.com/office/drawing/2014/main" id="{E44B4B2E-21F2-460A-AD8D-61C38AB44C28}"/>
              </a:ext>
            </a:extLst>
          </p:cNvPr>
          <p:cNvCxnSpPr>
            <a:cxnSpLocks noChangeShapeType="1"/>
            <a:stCxn id="91148" idx="3"/>
            <a:endCxn id="91139" idx="6"/>
          </p:cNvCxnSpPr>
          <p:nvPr/>
        </p:nvCxnSpPr>
        <p:spPr bwMode="auto">
          <a:xfrm flipH="1">
            <a:off x="1673225" y="3857625"/>
            <a:ext cx="2016125" cy="94615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1152" name="AutoShape 16">
            <a:extLst>
              <a:ext uri="{FF2B5EF4-FFF2-40B4-BE49-F238E27FC236}">
                <a16:creationId xmlns:a16="http://schemas.microsoft.com/office/drawing/2014/main" id="{0DC5C084-0C59-4748-B0F6-D29296A32723}"/>
              </a:ext>
            </a:extLst>
          </p:cNvPr>
          <p:cNvCxnSpPr>
            <a:cxnSpLocks noChangeShapeType="1"/>
            <a:stCxn id="91139" idx="7"/>
            <a:endCxn id="91147" idx="3"/>
          </p:cNvCxnSpPr>
          <p:nvPr/>
        </p:nvCxnSpPr>
        <p:spPr bwMode="auto">
          <a:xfrm flipV="1">
            <a:off x="1628775" y="3860800"/>
            <a:ext cx="574675" cy="836613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1153" name="AutoShape 17">
            <a:extLst>
              <a:ext uri="{FF2B5EF4-FFF2-40B4-BE49-F238E27FC236}">
                <a16:creationId xmlns:a16="http://schemas.microsoft.com/office/drawing/2014/main" id="{EC74AD48-4AF9-46CF-A370-FADFC825F05B}"/>
              </a:ext>
            </a:extLst>
          </p:cNvPr>
          <p:cNvCxnSpPr>
            <a:cxnSpLocks noChangeShapeType="1"/>
            <a:stCxn id="91148" idx="7"/>
            <a:endCxn id="91145" idx="3"/>
          </p:cNvCxnSpPr>
          <p:nvPr/>
        </p:nvCxnSpPr>
        <p:spPr bwMode="auto">
          <a:xfrm flipV="1">
            <a:off x="3902075" y="2873375"/>
            <a:ext cx="1012825" cy="7747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1154" name="AutoShape 18">
            <a:extLst>
              <a:ext uri="{FF2B5EF4-FFF2-40B4-BE49-F238E27FC236}">
                <a16:creationId xmlns:a16="http://schemas.microsoft.com/office/drawing/2014/main" id="{04543E19-059C-406E-B2CD-125BC9BF4B1F}"/>
              </a:ext>
            </a:extLst>
          </p:cNvPr>
          <p:cNvCxnSpPr>
            <a:cxnSpLocks noChangeShapeType="1"/>
            <a:stCxn id="91147" idx="7"/>
            <a:endCxn id="91143" idx="3"/>
          </p:cNvCxnSpPr>
          <p:nvPr/>
        </p:nvCxnSpPr>
        <p:spPr bwMode="auto">
          <a:xfrm flipV="1">
            <a:off x="2416175" y="2871788"/>
            <a:ext cx="1273175" cy="776287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1155" name="Oval 19">
            <a:extLst>
              <a:ext uri="{FF2B5EF4-FFF2-40B4-BE49-F238E27FC236}">
                <a16:creationId xmlns:a16="http://schemas.microsoft.com/office/drawing/2014/main" id="{AE314D3D-38CA-446C-B50D-4F8018157A5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90800" y="5181600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H</a:t>
            </a:r>
          </a:p>
        </p:txBody>
      </p:sp>
      <p:cxnSp>
        <p:nvCxnSpPr>
          <p:cNvPr id="91156" name="AutoShape 20">
            <a:extLst>
              <a:ext uri="{FF2B5EF4-FFF2-40B4-BE49-F238E27FC236}">
                <a16:creationId xmlns:a16="http://schemas.microsoft.com/office/drawing/2014/main" id="{9EF4CE7B-47CF-4BCF-8703-D647F08D3896}"/>
              </a:ext>
            </a:extLst>
          </p:cNvPr>
          <p:cNvCxnSpPr>
            <a:cxnSpLocks noChangeShapeType="1"/>
            <a:stCxn id="91155" idx="2"/>
            <a:endCxn id="91139" idx="5"/>
          </p:cNvCxnSpPr>
          <p:nvPr/>
        </p:nvCxnSpPr>
        <p:spPr bwMode="auto">
          <a:xfrm flipH="1" flipV="1">
            <a:off x="1628775" y="4910138"/>
            <a:ext cx="962025" cy="422275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1157" name="Rectangle 21">
            <a:extLst>
              <a:ext uri="{FF2B5EF4-FFF2-40B4-BE49-F238E27FC236}">
                <a16:creationId xmlns:a16="http://schemas.microsoft.com/office/drawing/2014/main" id="{3C6E6B93-9A6B-4B0A-9C0D-5085DE2A52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7625" y="5526088"/>
            <a:ext cx="2936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7</a:t>
            </a:r>
          </a:p>
        </p:txBody>
      </p:sp>
      <p:sp>
        <p:nvSpPr>
          <p:cNvPr id="91158" name="Rectangle 22">
            <a:extLst>
              <a:ext uri="{FF2B5EF4-FFF2-40B4-BE49-F238E27FC236}">
                <a16:creationId xmlns:a16="http://schemas.microsoft.com/office/drawing/2014/main" id="{024443FA-F643-4C6A-877F-7C554EA193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550" y="5013325"/>
            <a:ext cx="2936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91159" name="Rectangle 23">
            <a:extLst>
              <a:ext uri="{FF2B5EF4-FFF2-40B4-BE49-F238E27FC236}">
                <a16:creationId xmlns:a16="http://schemas.microsoft.com/office/drawing/2014/main" id="{02404AEE-C462-4F3E-9D77-7970B57E18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4713" y="3933825"/>
            <a:ext cx="2936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4</a:t>
            </a:r>
          </a:p>
        </p:txBody>
      </p:sp>
      <p:cxnSp>
        <p:nvCxnSpPr>
          <p:cNvPr id="91160" name="AutoShape 24">
            <a:extLst>
              <a:ext uri="{FF2B5EF4-FFF2-40B4-BE49-F238E27FC236}">
                <a16:creationId xmlns:a16="http://schemas.microsoft.com/office/drawing/2014/main" id="{54CD0C2A-E79A-4A1A-B42D-3B63C2E333A3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795713" y="2916238"/>
            <a:ext cx="0" cy="687387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1161" name="Rectangle 25">
            <a:extLst>
              <a:ext uri="{FF2B5EF4-FFF2-40B4-BE49-F238E27FC236}">
                <a16:creationId xmlns:a16="http://schemas.microsoft.com/office/drawing/2014/main" id="{345070B3-493A-407C-A6FC-5E5BEBEE9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8550" y="3937000"/>
            <a:ext cx="2936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91162" name="Rectangle 26">
            <a:extLst>
              <a:ext uri="{FF2B5EF4-FFF2-40B4-BE49-F238E27FC236}">
                <a16:creationId xmlns:a16="http://schemas.microsoft.com/office/drawing/2014/main" id="{19159267-3FF4-42D7-B7C2-B1F3343739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9225" y="2622550"/>
            <a:ext cx="2936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3</a:t>
            </a:r>
          </a:p>
        </p:txBody>
      </p:sp>
      <p:sp>
        <p:nvSpPr>
          <p:cNvPr id="91163" name="Rectangle 27">
            <a:extLst>
              <a:ext uri="{FF2B5EF4-FFF2-40B4-BE49-F238E27FC236}">
                <a16:creationId xmlns:a16="http://schemas.microsoft.com/office/drawing/2014/main" id="{F3FC7D1C-8273-4357-9A6C-7252CB94FC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295400"/>
            <a:ext cx="915988" cy="38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hi-IN" sz="1600" b="1">
                <a:latin typeface="Courier New" panose="02070309020205020404" pitchFamily="49" charset="0"/>
              </a:rPr>
              <a:t>dfs(B)</a:t>
            </a:r>
          </a:p>
        </p:txBody>
      </p:sp>
      <p:cxnSp>
        <p:nvCxnSpPr>
          <p:cNvPr id="500764" name="AutoShape 28">
            <a:extLst>
              <a:ext uri="{FF2B5EF4-FFF2-40B4-BE49-F238E27FC236}">
                <a16:creationId xmlns:a16="http://schemas.microsoft.com/office/drawing/2014/main" id="{BA108E88-9E17-41AA-A9BB-C38373B72DDC}"/>
              </a:ext>
            </a:extLst>
          </p:cNvPr>
          <p:cNvCxnSpPr>
            <a:cxnSpLocks noChangeShapeType="1"/>
            <a:stCxn id="91148" idx="7"/>
            <a:endCxn id="91145" idx="3"/>
          </p:cNvCxnSpPr>
          <p:nvPr/>
        </p:nvCxnSpPr>
        <p:spPr bwMode="auto">
          <a:xfrm flipV="1">
            <a:off x="3902075" y="2873375"/>
            <a:ext cx="1012825" cy="774700"/>
          </a:xfrm>
          <a:prstGeom prst="straightConnector1">
            <a:avLst/>
          </a:prstGeom>
          <a:noFill/>
          <a:ln w="50800">
            <a:solidFill>
              <a:schemeClr val="accent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51C089-F9D1-4612-AED7-AF72E332D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126</a:t>
            </a:fld>
            <a:endParaRPr lang="en-US" altLang="hi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500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2BCE7FFF-0837-4B9D-86BE-4A80E2091C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i-IN"/>
              <a:t>Topological Sort:  DFS</a:t>
            </a:r>
          </a:p>
        </p:txBody>
      </p:sp>
      <p:sp>
        <p:nvSpPr>
          <p:cNvPr id="92163" name="Oval 3">
            <a:extLst>
              <a:ext uri="{FF2B5EF4-FFF2-40B4-BE49-F238E27FC236}">
                <a16:creationId xmlns:a16="http://schemas.microsoft.com/office/drawing/2014/main" id="{44439E9F-3510-4B29-8F6A-4DA5EBC9B5F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71600" y="4652963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92164" name="Oval 4">
            <a:extLst>
              <a:ext uri="{FF2B5EF4-FFF2-40B4-BE49-F238E27FC236}">
                <a16:creationId xmlns:a16="http://schemas.microsoft.com/office/drawing/2014/main" id="{C3508E05-62D1-4438-A585-FD5B9090638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74775" y="1066800"/>
            <a:ext cx="301625" cy="303213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C</a:t>
            </a:r>
          </a:p>
        </p:txBody>
      </p:sp>
      <p:sp>
        <p:nvSpPr>
          <p:cNvPr id="92165" name="Oval 5">
            <a:extLst>
              <a:ext uri="{FF2B5EF4-FFF2-40B4-BE49-F238E27FC236}">
                <a16:creationId xmlns:a16="http://schemas.microsoft.com/office/drawing/2014/main" id="{57D98EBF-C37B-4F9B-8CCB-2C381E4C897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59000" y="2616200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G</a:t>
            </a:r>
          </a:p>
        </p:txBody>
      </p:sp>
      <p:cxnSp>
        <p:nvCxnSpPr>
          <p:cNvPr id="92166" name="AutoShape 6">
            <a:extLst>
              <a:ext uri="{FF2B5EF4-FFF2-40B4-BE49-F238E27FC236}">
                <a16:creationId xmlns:a16="http://schemas.microsoft.com/office/drawing/2014/main" id="{6FC237DB-FB89-4E50-BC21-955970A64BB7}"/>
              </a:ext>
            </a:extLst>
          </p:cNvPr>
          <p:cNvCxnSpPr>
            <a:cxnSpLocks noChangeShapeType="1"/>
            <a:stCxn id="92163" idx="0"/>
            <a:endCxn id="92164" idx="4"/>
          </p:cNvCxnSpPr>
          <p:nvPr/>
        </p:nvCxnSpPr>
        <p:spPr bwMode="auto">
          <a:xfrm flipV="1">
            <a:off x="1522413" y="1370013"/>
            <a:ext cx="3175" cy="32829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2167" name="Oval 7">
            <a:extLst>
              <a:ext uri="{FF2B5EF4-FFF2-40B4-BE49-F238E27FC236}">
                <a16:creationId xmlns:a16="http://schemas.microsoft.com/office/drawing/2014/main" id="{FA2B2CE4-C966-4038-A6C8-DCD2F3DEC77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44900" y="2616200"/>
            <a:ext cx="301625" cy="300038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A</a:t>
            </a:r>
          </a:p>
        </p:txBody>
      </p:sp>
      <p:cxnSp>
        <p:nvCxnSpPr>
          <p:cNvPr id="92168" name="AutoShape 8">
            <a:extLst>
              <a:ext uri="{FF2B5EF4-FFF2-40B4-BE49-F238E27FC236}">
                <a16:creationId xmlns:a16="http://schemas.microsoft.com/office/drawing/2014/main" id="{58652F34-BC9E-47C5-A0B8-F4E5B399A7E8}"/>
              </a:ext>
            </a:extLst>
          </p:cNvPr>
          <p:cNvCxnSpPr>
            <a:cxnSpLocks noChangeShapeType="1"/>
            <a:stCxn id="92164" idx="5"/>
            <a:endCxn id="92167" idx="1"/>
          </p:cNvCxnSpPr>
          <p:nvPr/>
        </p:nvCxnSpPr>
        <p:spPr bwMode="auto">
          <a:xfrm>
            <a:off x="1631950" y="1325563"/>
            <a:ext cx="2057400" cy="13350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2169" name="Oval 9">
            <a:extLst>
              <a:ext uri="{FF2B5EF4-FFF2-40B4-BE49-F238E27FC236}">
                <a16:creationId xmlns:a16="http://schemas.microsoft.com/office/drawing/2014/main" id="{42905E43-CEB1-4111-9F57-8DE39EA45EC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70450" y="2616200"/>
            <a:ext cx="301625" cy="3016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solidFill>
                  <a:schemeClr val="bg1"/>
                </a:solidFill>
                <a:latin typeface="Courier New" panose="02070309020205020404" pitchFamily="49" charset="0"/>
              </a:rPr>
              <a:t>B</a:t>
            </a:r>
          </a:p>
        </p:txBody>
      </p:sp>
      <p:cxnSp>
        <p:nvCxnSpPr>
          <p:cNvPr id="92170" name="AutoShape 10">
            <a:extLst>
              <a:ext uri="{FF2B5EF4-FFF2-40B4-BE49-F238E27FC236}">
                <a16:creationId xmlns:a16="http://schemas.microsoft.com/office/drawing/2014/main" id="{407A922B-CC38-4E67-B6B2-6F0763CD924E}"/>
              </a:ext>
            </a:extLst>
          </p:cNvPr>
          <p:cNvCxnSpPr>
            <a:cxnSpLocks noChangeShapeType="1"/>
            <a:stCxn id="92164" idx="6"/>
            <a:endCxn id="92169" idx="1"/>
          </p:cNvCxnSpPr>
          <p:nvPr/>
        </p:nvCxnSpPr>
        <p:spPr bwMode="auto">
          <a:xfrm>
            <a:off x="1676400" y="1219200"/>
            <a:ext cx="3238500" cy="14414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2171" name="Oval 11">
            <a:extLst>
              <a:ext uri="{FF2B5EF4-FFF2-40B4-BE49-F238E27FC236}">
                <a16:creationId xmlns:a16="http://schemas.microsoft.com/office/drawing/2014/main" id="{1B43A8E0-E733-48E2-90CA-4F7DF8957F1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59000" y="3603625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D</a:t>
            </a:r>
          </a:p>
        </p:txBody>
      </p:sp>
      <p:sp>
        <p:nvSpPr>
          <p:cNvPr id="92172" name="Oval 12">
            <a:extLst>
              <a:ext uri="{FF2B5EF4-FFF2-40B4-BE49-F238E27FC236}">
                <a16:creationId xmlns:a16="http://schemas.microsoft.com/office/drawing/2014/main" id="{BBA2A468-C563-407B-BFC4-72585A448A3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44900" y="3603625"/>
            <a:ext cx="301625" cy="29845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E</a:t>
            </a:r>
          </a:p>
        </p:txBody>
      </p:sp>
      <p:cxnSp>
        <p:nvCxnSpPr>
          <p:cNvPr id="92173" name="AutoShape 13">
            <a:extLst>
              <a:ext uri="{FF2B5EF4-FFF2-40B4-BE49-F238E27FC236}">
                <a16:creationId xmlns:a16="http://schemas.microsoft.com/office/drawing/2014/main" id="{85E06D81-D09C-402E-95E3-59835A275546}"/>
              </a:ext>
            </a:extLst>
          </p:cNvPr>
          <p:cNvCxnSpPr>
            <a:cxnSpLocks noChangeShapeType="1"/>
            <a:stCxn id="92164" idx="4"/>
            <a:endCxn id="92165" idx="1"/>
          </p:cNvCxnSpPr>
          <p:nvPr/>
        </p:nvCxnSpPr>
        <p:spPr bwMode="auto">
          <a:xfrm>
            <a:off x="1525588" y="1370013"/>
            <a:ext cx="677862" cy="12906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174" name="AutoShape 14">
            <a:extLst>
              <a:ext uri="{FF2B5EF4-FFF2-40B4-BE49-F238E27FC236}">
                <a16:creationId xmlns:a16="http://schemas.microsoft.com/office/drawing/2014/main" id="{7696D39E-8109-40AA-ACB4-2164AB1B4917}"/>
              </a:ext>
            </a:extLst>
          </p:cNvPr>
          <p:cNvCxnSpPr>
            <a:cxnSpLocks noChangeShapeType="1"/>
            <a:stCxn id="92172" idx="2"/>
            <a:endCxn id="92171" idx="6"/>
          </p:cNvCxnSpPr>
          <p:nvPr/>
        </p:nvCxnSpPr>
        <p:spPr bwMode="auto">
          <a:xfrm flipH="1">
            <a:off x="2460625" y="3752850"/>
            <a:ext cx="1184275" cy="1588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175" name="AutoShape 15">
            <a:extLst>
              <a:ext uri="{FF2B5EF4-FFF2-40B4-BE49-F238E27FC236}">
                <a16:creationId xmlns:a16="http://schemas.microsoft.com/office/drawing/2014/main" id="{A3BC0DBF-3709-448C-9AA6-9A260B6E114E}"/>
              </a:ext>
            </a:extLst>
          </p:cNvPr>
          <p:cNvCxnSpPr>
            <a:cxnSpLocks noChangeShapeType="1"/>
            <a:stCxn id="92172" idx="3"/>
            <a:endCxn id="92163" idx="6"/>
          </p:cNvCxnSpPr>
          <p:nvPr/>
        </p:nvCxnSpPr>
        <p:spPr bwMode="auto">
          <a:xfrm flipH="1">
            <a:off x="1673225" y="3857625"/>
            <a:ext cx="2016125" cy="94615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176" name="AutoShape 16">
            <a:extLst>
              <a:ext uri="{FF2B5EF4-FFF2-40B4-BE49-F238E27FC236}">
                <a16:creationId xmlns:a16="http://schemas.microsoft.com/office/drawing/2014/main" id="{9023EB29-35CD-4802-BA40-58CC96BB4517}"/>
              </a:ext>
            </a:extLst>
          </p:cNvPr>
          <p:cNvCxnSpPr>
            <a:cxnSpLocks noChangeShapeType="1"/>
            <a:stCxn id="92163" idx="7"/>
            <a:endCxn id="92171" idx="3"/>
          </p:cNvCxnSpPr>
          <p:nvPr/>
        </p:nvCxnSpPr>
        <p:spPr bwMode="auto">
          <a:xfrm flipV="1">
            <a:off x="1628775" y="3860800"/>
            <a:ext cx="574675" cy="836613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177" name="AutoShape 17">
            <a:extLst>
              <a:ext uri="{FF2B5EF4-FFF2-40B4-BE49-F238E27FC236}">
                <a16:creationId xmlns:a16="http://schemas.microsoft.com/office/drawing/2014/main" id="{FA4D8FAF-FD6B-4AA3-B843-FFD092BE158D}"/>
              </a:ext>
            </a:extLst>
          </p:cNvPr>
          <p:cNvCxnSpPr>
            <a:cxnSpLocks noChangeShapeType="1"/>
            <a:stCxn id="92172" idx="7"/>
            <a:endCxn id="92169" idx="3"/>
          </p:cNvCxnSpPr>
          <p:nvPr/>
        </p:nvCxnSpPr>
        <p:spPr bwMode="auto">
          <a:xfrm flipV="1">
            <a:off x="3902075" y="2873375"/>
            <a:ext cx="1012825" cy="77470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178" name="AutoShape 18">
            <a:extLst>
              <a:ext uri="{FF2B5EF4-FFF2-40B4-BE49-F238E27FC236}">
                <a16:creationId xmlns:a16="http://schemas.microsoft.com/office/drawing/2014/main" id="{3835AD27-58FF-4AAD-9C77-07ED22F35DFA}"/>
              </a:ext>
            </a:extLst>
          </p:cNvPr>
          <p:cNvCxnSpPr>
            <a:cxnSpLocks noChangeShapeType="1"/>
            <a:stCxn id="92171" idx="7"/>
            <a:endCxn id="92167" idx="3"/>
          </p:cNvCxnSpPr>
          <p:nvPr/>
        </p:nvCxnSpPr>
        <p:spPr bwMode="auto">
          <a:xfrm flipV="1">
            <a:off x="2416175" y="2871788"/>
            <a:ext cx="1273175" cy="776287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2179" name="Oval 19">
            <a:extLst>
              <a:ext uri="{FF2B5EF4-FFF2-40B4-BE49-F238E27FC236}">
                <a16:creationId xmlns:a16="http://schemas.microsoft.com/office/drawing/2014/main" id="{76F40043-E948-4303-9BF4-F62C1CDD3D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90800" y="5181600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H</a:t>
            </a:r>
          </a:p>
        </p:txBody>
      </p:sp>
      <p:cxnSp>
        <p:nvCxnSpPr>
          <p:cNvPr id="92180" name="AutoShape 20">
            <a:extLst>
              <a:ext uri="{FF2B5EF4-FFF2-40B4-BE49-F238E27FC236}">
                <a16:creationId xmlns:a16="http://schemas.microsoft.com/office/drawing/2014/main" id="{A3FCC462-4EC5-474E-9B16-D34559F1414B}"/>
              </a:ext>
            </a:extLst>
          </p:cNvPr>
          <p:cNvCxnSpPr>
            <a:cxnSpLocks noChangeShapeType="1"/>
            <a:stCxn id="92179" idx="2"/>
            <a:endCxn id="92163" idx="5"/>
          </p:cNvCxnSpPr>
          <p:nvPr/>
        </p:nvCxnSpPr>
        <p:spPr bwMode="auto">
          <a:xfrm flipH="1" flipV="1">
            <a:off x="1628775" y="4910138"/>
            <a:ext cx="962025" cy="422275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2181" name="Rectangle 21">
            <a:extLst>
              <a:ext uri="{FF2B5EF4-FFF2-40B4-BE49-F238E27FC236}">
                <a16:creationId xmlns:a16="http://schemas.microsoft.com/office/drawing/2014/main" id="{75821F3B-0933-4CF5-8162-A1843D3632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7625" y="5526088"/>
            <a:ext cx="2936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7</a:t>
            </a:r>
          </a:p>
        </p:txBody>
      </p:sp>
      <p:sp>
        <p:nvSpPr>
          <p:cNvPr id="92182" name="Rectangle 22">
            <a:extLst>
              <a:ext uri="{FF2B5EF4-FFF2-40B4-BE49-F238E27FC236}">
                <a16:creationId xmlns:a16="http://schemas.microsoft.com/office/drawing/2014/main" id="{A44C79B9-F9FE-48A8-86F5-BE3645AEFC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550" y="5013325"/>
            <a:ext cx="2936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92183" name="Rectangle 23">
            <a:extLst>
              <a:ext uri="{FF2B5EF4-FFF2-40B4-BE49-F238E27FC236}">
                <a16:creationId xmlns:a16="http://schemas.microsoft.com/office/drawing/2014/main" id="{55AB40A0-0826-4AE1-9F18-74A8F3E92C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4713" y="3933825"/>
            <a:ext cx="2936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4</a:t>
            </a:r>
          </a:p>
        </p:txBody>
      </p:sp>
      <p:cxnSp>
        <p:nvCxnSpPr>
          <p:cNvPr id="92184" name="AutoShape 24">
            <a:extLst>
              <a:ext uri="{FF2B5EF4-FFF2-40B4-BE49-F238E27FC236}">
                <a16:creationId xmlns:a16="http://schemas.microsoft.com/office/drawing/2014/main" id="{7E8B371C-A1BA-4D89-B856-F2764B874E27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795713" y="2916238"/>
            <a:ext cx="0" cy="687387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2185" name="Rectangle 25">
            <a:extLst>
              <a:ext uri="{FF2B5EF4-FFF2-40B4-BE49-F238E27FC236}">
                <a16:creationId xmlns:a16="http://schemas.microsoft.com/office/drawing/2014/main" id="{4E644486-351B-4C90-AACF-AD70E771C8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8550" y="3937000"/>
            <a:ext cx="2936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92186" name="Rectangle 26">
            <a:extLst>
              <a:ext uri="{FF2B5EF4-FFF2-40B4-BE49-F238E27FC236}">
                <a16:creationId xmlns:a16="http://schemas.microsoft.com/office/drawing/2014/main" id="{A1DEC6AC-8C58-43E1-8673-C94A7E9753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9225" y="2622550"/>
            <a:ext cx="2936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3</a:t>
            </a:r>
          </a:p>
        </p:txBody>
      </p:sp>
      <p:sp>
        <p:nvSpPr>
          <p:cNvPr id="92187" name="Rectangle 27">
            <a:extLst>
              <a:ext uri="{FF2B5EF4-FFF2-40B4-BE49-F238E27FC236}">
                <a16:creationId xmlns:a16="http://schemas.microsoft.com/office/drawing/2014/main" id="{F130535A-1966-4353-A03D-431A520566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295400"/>
            <a:ext cx="915988" cy="38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hi-IN" sz="1600" b="1">
                <a:latin typeface="Courier New" panose="02070309020205020404" pitchFamily="49" charset="0"/>
              </a:rPr>
              <a:t>dfs(B)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F272887-AF0C-4E99-BBD2-A1820F349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127</a:t>
            </a:fld>
            <a:endParaRPr lang="en-US" altLang="hi-IN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>
            <a:extLst>
              <a:ext uri="{FF2B5EF4-FFF2-40B4-BE49-F238E27FC236}">
                <a16:creationId xmlns:a16="http://schemas.microsoft.com/office/drawing/2014/main" id="{19529DB2-46AA-4469-9494-E608E3A08A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i-IN"/>
              <a:t>Topological Sort:  DFS</a:t>
            </a:r>
          </a:p>
        </p:txBody>
      </p:sp>
      <p:sp>
        <p:nvSpPr>
          <p:cNvPr id="93187" name="Oval 3">
            <a:extLst>
              <a:ext uri="{FF2B5EF4-FFF2-40B4-BE49-F238E27FC236}">
                <a16:creationId xmlns:a16="http://schemas.microsoft.com/office/drawing/2014/main" id="{CF7A1A5C-1B30-47F0-8CF7-81FBA45F309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71600" y="4652963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93188" name="Oval 4">
            <a:extLst>
              <a:ext uri="{FF2B5EF4-FFF2-40B4-BE49-F238E27FC236}">
                <a16:creationId xmlns:a16="http://schemas.microsoft.com/office/drawing/2014/main" id="{96F90F3A-7C36-4ABC-9A0C-D66C0F4ECF3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74775" y="1066800"/>
            <a:ext cx="301625" cy="303213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C</a:t>
            </a:r>
          </a:p>
        </p:txBody>
      </p:sp>
      <p:sp>
        <p:nvSpPr>
          <p:cNvPr id="93189" name="Oval 5">
            <a:extLst>
              <a:ext uri="{FF2B5EF4-FFF2-40B4-BE49-F238E27FC236}">
                <a16:creationId xmlns:a16="http://schemas.microsoft.com/office/drawing/2014/main" id="{3C25139E-A442-4C24-9300-D5E4162BD9D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59000" y="2616200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G</a:t>
            </a:r>
          </a:p>
        </p:txBody>
      </p:sp>
      <p:cxnSp>
        <p:nvCxnSpPr>
          <p:cNvPr id="93190" name="AutoShape 6">
            <a:extLst>
              <a:ext uri="{FF2B5EF4-FFF2-40B4-BE49-F238E27FC236}">
                <a16:creationId xmlns:a16="http://schemas.microsoft.com/office/drawing/2014/main" id="{72C6244B-223D-4936-8C43-EAAA27BF1B1D}"/>
              </a:ext>
            </a:extLst>
          </p:cNvPr>
          <p:cNvCxnSpPr>
            <a:cxnSpLocks noChangeShapeType="1"/>
            <a:stCxn id="93187" idx="0"/>
            <a:endCxn id="93188" idx="4"/>
          </p:cNvCxnSpPr>
          <p:nvPr/>
        </p:nvCxnSpPr>
        <p:spPr bwMode="auto">
          <a:xfrm flipV="1">
            <a:off x="1522413" y="1370013"/>
            <a:ext cx="3175" cy="32829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3191" name="Oval 7">
            <a:extLst>
              <a:ext uri="{FF2B5EF4-FFF2-40B4-BE49-F238E27FC236}">
                <a16:creationId xmlns:a16="http://schemas.microsoft.com/office/drawing/2014/main" id="{FCBB530F-F2CA-44C4-88BF-521A0179B36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44900" y="2616200"/>
            <a:ext cx="301625" cy="300038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A</a:t>
            </a:r>
          </a:p>
        </p:txBody>
      </p:sp>
      <p:cxnSp>
        <p:nvCxnSpPr>
          <p:cNvPr id="93192" name="AutoShape 8">
            <a:extLst>
              <a:ext uri="{FF2B5EF4-FFF2-40B4-BE49-F238E27FC236}">
                <a16:creationId xmlns:a16="http://schemas.microsoft.com/office/drawing/2014/main" id="{4DF14835-A082-459F-B1C7-EC6A23C19605}"/>
              </a:ext>
            </a:extLst>
          </p:cNvPr>
          <p:cNvCxnSpPr>
            <a:cxnSpLocks noChangeShapeType="1"/>
            <a:stCxn id="93188" idx="5"/>
            <a:endCxn id="93191" idx="1"/>
          </p:cNvCxnSpPr>
          <p:nvPr/>
        </p:nvCxnSpPr>
        <p:spPr bwMode="auto">
          <a:xfrm>
            <a:off x="1631950" y="1325563"/>
            <a:ext cx="2057400" cy="13350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3193" name="Oval 9">
            <a:extLst>
              <a:ext uri="{FF2B5EF4-FFF2-40B4-BE49-F238E27FC236}">
                <a16:creationId xmlns:a16="http://schemas.microsoft.com/office/drawing/2014/main" id="{DBFC3A35-8A3F-448D-BC78-D610B12F6C5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70450" y="2616200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B</a:t>
            </a:r>
          </a:p>
        </p:txBody>
      </p:sp>
      <p:cxnSp>
        <p:nvCxnSpPr>
          <p:cNvPr id="93194" name="AutoShape 10">
            <a:extLst>
              <a:ext uri="{FF2B5EF4-FFF2-40B4-BE49-F238E27FC236}">
                <a16:creationId xmlns:a16="http://schemas.microsoft.com/office/drawing/2014/main" id="{98492CD6-2663-4F93-B860-13D51DF912BC}"/>
              </a:ext>
            </a:extLst>
          </p:cNvPr>
          <p:cNvCxnSpPr>
            <a:cxnSpLocks noChangeShapeType="1"/>
            <a:stCxn id="93188" idx="6"/>
            <a:endCxn id="93193" idx="1"/>
          </p:cNvCxnSpPr>
          <p:nvPr/>
        </p:nvCxnSpPr>
        <p:spPr bwMode="auto">
          <a:xfrm>
            <a:off x="1676400" y="1219200"/>
            <a:ext cx="3238500" cy="14414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3195" name="Oval 11">
            <a:extLst>
              <a:ext uri="{FF2B5EF4-FFF2-40B4-BE49-F238E27FC236}">
                <a16:creationId xmlns:a16="http://schemas.microsoft.com/office/drawing/2014/main" id="{53616965-D014-455D-AF17-97B255AEDE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59000" y="3603625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D</a:t>
            </a:r>
          </a:p>
        </p:txBody>
      </p:sp>
      <p:sp>
        <p:nvSpPr>
          <p:cNvPr id="93196" name="Oval 12">
            <a:extLst>
              <a:ext uri="{FF2B5EF4-FFF2-40B4-BE49-F238E27FC236}">
                <a16:creationId xmlns:a16="http://schemas.microsoft.com/office/drawing/2014/main" id="{75FA67DB-8683-4236-BB57-3F6678C88A9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44900" y="3603625"/>
            <a:ext cx="301625" cy="29845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E</a:t>
            </a:r>
          </a:p>
        </p:txBody>
      </p:sp>
      <p:cxnSp>
        <p:nvCxnSpPr>
          <p:cNvPr id="93197" name="AutoShape 13">
            <a:extLst>
              <a:ext uri="{FF2B5EF4-FFF2-40B4-BE49-F238E27FC236}">
                <a16:creationId xmlns:a16="http://schemas.microsoft.com/office/drawing/2014/main" id="{3C838A11-0B5E-4DC3-9F32-CB5C01364E6C}"/>
              </a:ext>
            </a:extLst>
          </p:cNvPr>
          <p:cNvCxnSpPr>
            <a:cxnSpLocks noChangeShapeType="1"/>
            <a:stCxn id="93188" idx="4"/>
            <a:endCxn id="93189" idx="1"/>
          </p:cNvCxnSpPr>
          <p:nvPr/>
        </p:nvCxnSpPr>
        <p:spPr bwMode="auto">
          <a:xfrm>
            <a:off x="1525588" y="1370013"/>
            <a:ext cx="677862" cy="12906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3198" name="AutoShape 14">
            <a:extLst>
              <a:ext uri="{FF2B5EF4-FFF2-40B4-BE49-F238E27FC236}">
                <a16:creationId xmlns:a16="http://schemas.microsoft.com/office/drawing/2014/main" id="{D3B0F354-1594-4423-B839-5536E7655C1D}"/>
              </a:ext>
            </a:extLst>
          </p:cNvPr>
          <p:cNvCxnSpPr>
            <a:cxnSpLocks noChangeShapeType="1"/>
            <a:stCxn id="93196" idx="2"/>
            <a:endCxn id="93195" idx="6"/>
          </p:cNvCxnSpPr>
          <p:nvPr/>
        </p:nvCxnSpPr>
        <p:spPr bwMode="auto">
          <a:xfrm flipH="1">
            <a:off x="2460625" y="3752850"/>
            <a:ext cx="1184275" cy="1588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3199" name="AutoShape 15">
            <a:extLst>
              <a:ext uri="{FF2B5EF4-FFF2-40B4-BE49-F238E27FC236}">
                <a16:creationId xmlns:a16="http://schemas.microsoft.com/office/drawing/2014/main" id="{2B37D646-9E76-42F1-91B0-177B507EBA0C}"/>
              </a:ext>
            </a:extLst>
          </p:cNvPr>
          <p:cNvCxnSpPr>
            <a:cxnSpLocks noChangeShapeType="1"/>
            <a:stCxn id="93196" idx="3"/>
            <a:endCxn id="93187" idx="6"/>
          </p:cNvCxnSpPr>
          <p:nvPr/>
        </p:nvCxnSpPr>
        <p:spPr bwMode="auto">
          <a:xfrm flipH="1">
            <a:off x="1673225" y="3857625"/>
            <a:ext cx="2016125" cy="94615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3200" name="AutoShape 16">
            <a:extLst>
              <a:ext uri="{FF2B5EF4-FFF2-40B4-BE49-F238E27FC236}">
                <a16:creationId xmlns:a16="http://schemas.microsoft.com/office/drawing/2014/main" id="{B0630338-49B6-4FDB-B6AA-DEBBB846B055}"/>
              </a:ext>
            </a:extLst>
          </p:cNvPr>
          <p:cNvCxnSpPr>
            <a:cxnSpLocks noChangeShapeType="1"/>
            <a:stCxn id="93187" idx="7"/>
            <a:endCxn id="93195" idx="3"/>
          </p:cNvCxnSpPr>
          <p:nvPr/>
        </p:nvCxnSpPr>
        <p:spPr bwMode="auto">
          <a:xfrm flipV="1">
            <a:off x="1628775" y="3860800"/>
            <a:ext cx="574675" cy="836613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3201" name="AutoShape 17">
            <a:extLst>
              <a:ext uri="{FF2B5EF4-FFF2-40B4-BE49-F238E27FC236}">
                <a16:creationId xmlns:a16="http://schemas.microsoft.com/office/drawing/2014/main" id="{C86F8C57-0081-4478-A2E0-7BDE34A4BCB3}"/>
              </a:ext>
            </a:extLst>
          </p:cNvPr>
          <p:cNvCxnSpPr>
            <a:cxnSpLocks noChangeShapeType="1"/>
            <a:stCxn id="93196" idx="7"/>
            <a:endCxn id="93193" idx="3"/>
          </p:cNvCxnSpPr>
          <p:nvPr/>
        </p:nvCxnSpPr>
        <p:spPr bwMode="auto">
          <a:xfrm flipV="1">
            <a:off x="3902075" y="2873375"/>
            <a:ext cx="1012825" cy="77470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3202" name="AutoShape 18">
            <a:extLst>
              <a:ext uri="{FF2B5EF4-FFF2-40B4-BE49-F238E27FC236}">
                <a16:creationId xmlns:a16="http://schemas.microsoft.com/office/drawing/2014/main" id="{BBCC4BD3-F073-473E-8BEB-56EEDB326192}"/>
              </a:ext>
            </a:extLst>
          </p:cNvPr>
          <p:cNvCxnSpPr>
            <a:cxnSpLocks noChangeShapeType="1"/>
            <a:stCxn id="93195" idx="7"/>
            <a:endCxn id="93191" idx="3"/>
          </p:cNvCxnSpPr>
          <p:nvPr/>
        </p:nvCxnSpPr>
        <p:spPr bwMode="auto">
          <a:xfrm flipV="1">
            <a:off x="2416175" y="2871788"/>
            <a:ext cx="1273175" cy="776287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3203" name="Oval 19">
            <a:extLst>
              <a:ext uri="{FF2B5EF4-FFF2-40B4-BE49-F238E27FC236}">
                <a16:creationId xmlns:a16="http://schemas.microsoft.com/office/drawing/2014/main" id="{621DF558-141B-49C2-8F1B-D3B55582F6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90800" y="5181600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H</a:t>
            </a:r>
          </a:p>
        </p:txBody>
      </p:sp>
      <p:cxnSp>
        <p:nvCxnSpPr>
          <p:cNvPr id="93204" name="AutoShape 20">
            <a:extLst>
              <a:ext uri="{FF2B5EF4-FFF2-40B4-BE49-F238E27FC236}">
                <a16:creationId xmlns:a16="http://schemas.microsoft.com/office/drawing/2014/main" id="{64B70278-1430-4FB4-8E77-A68DD871CEC1}"/>
              </a:ext>
            </a:extLst>
          </p:cNvPr>
          <p:cNvCxnSpPr>
            <a:cxnSpLocks noChangeShapeType="1"/>
            <a:stCxn id="93203" idx="2"/>
            <a:endCxn id="93187" idx="5"/>
          </p:cNvCxnSpPr>
          <p:nvPr/>
        </p:nvCxnSpPr>
        <p:spPr bwMode="auto">
          <a:xfrm flipH="1" flipV="1">
            <a:off x="1628775" y="4910138"/>
            <a:ext cx="962025" cy="422275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3205" name="Rectangle 21">
            <a:extLst>
              <a:ext uri="{FF2B5EF4-FFF2-40B4-BE49-F238E27FC236}">
                <a16:creationId xmlns:a16="http://schemas.microsoft.com/office/drawing/2014/main" id="{6D9508BF-111A-4A46-95F0-B9360E9DCF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7625" y="5526088"/>
            <a:ext cx="2936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7</a:t>
            </a:r>
          </a:p>
        </p:txBody>
      </p:sp>
      <p:sp>
        <p:nvSpPr>
          <p:cNvPr id="93206" name="Rectangle 22">
            <a:extLst>
              <a:ext uri="{FF2B5EF4-FFF2-40B4-BE49-F238E27FC236}">
                <a16:creationId xmlns:a16="http://schemas.microsoft.com/office/drawing/2014/main" id="{8206AD39-8B8C-4D3F-89D6-0143D17389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550" y="5013325"/>
            <a:ext cx="2936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93207" name="Rectangle 23">
            <a:extLst>
              <a:ext uri="{FF2B5EF4-FFF2-40B4-BE49-F238E27FC236}">
                <a16:creationId xmlns:a16="http://schemas.microsoft.com/office/drawing/2014/main" id="{FF36A614-0AF4-4EE4-9FAE-81E74354FC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4713" y="3933825"/>
            <a:ext cx="2936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4</a:t>
            </a:r>
          </a:p>
        </p:txBody>
      </p:sp>
      <p:cxnSp>
        <p:nvCxnSpPr>
          <p:cNvPr id="93208" name="AutoShape 24">
            <a:extLst>
              <a:ext uri="{FF2B5EF4-FFF2-40B4-BE49-F238E27FC236}">
                <a16:creationId xmlns:a16="http://schemas.microsoft.com/office/drawing/2014/main" id="{E7A90AE9-25B9-4E16-8CDA-7CDF6E86EA93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795713" y="2916238"/>
            <a:ext cx="0" cy="687387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3209" name="Rectangle 25">
            <a:extLst>
              <a:ext uri="{FF2B5EF4-FFF2-40B4-BE49-F238E27FC236}">
                <a16:creationId xmlns:a16="http://schemas.microsoft.com/office/drawing/2014/main" id="{B787A405-51E8-4FAC-A782-D578DE66E0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8550" y="3937000"/>
            <a:ext cx="2936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93210" name="Rectangle 26">
            <a:extLst>
              <a:ext uri="{FF2B5EF4-FFF2-40B4-BE49-F238E27FC236}">
                <a16:creationId xmlns:a16="http://schemas.microsoft.com/office/drawing/2014/main" id="{0F769C0E-34A3-41E6-BCA3-ACB156F2B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9225" y="2622550"/>
            <a:ext cx="2936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3</a:t>
            </a:r>
          </a:p>
        </p:txBody>
      </p:sp>
      <p:sp>
        <p:nvSpPr>
          <p:cNvPr id="93211" name="Rectangle 27">
            <a:extLst>
              <a:ext uri="{FF2B5EF4-FFF2-40B4-BE49-F238E27FC236}">
                <a16:creationId xmlns:a16="http://schemas.microsoft.com/office/drawing/2014/main" id="{E737F82D-AB0B-4B20-8479-CA1DB4053B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295400"/>
            <a:ext cx="184150" cy="38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20000"/>
              </a:lnSpc>
            </a:pPr>
            <a:endParaRPr lang="hi-IN" altLang="hi-IN" sz="1600" b="1">
              <a:latin typeface="Courier New" panose="02070309020205020404" pitchFamily="49" charset="0"/>
            </a:endParaRPr>
          </a:p>
        </p:txBody>
      </p:sp>
      <p:sp>
        <p:nvSpPr>
          <p:cNvPr id="93212" name="Rectangle 29">
            <a:extLst>
              <a:ext uri="{FF2B5EF4-FFF2-40B4-BE49-F238E27FC236}">
                <a16:creationId xmlns:a16="http://schemas.microsoft.com/office/drawing/2014/main" id="{5BC7E4C0-5472-4A42-9C7E-713C90D767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2713" y="2611438"/>
            <a:ext cx="2936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2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4ED6165-2347-4FBA-8550-E5DF88977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128</a:t>
            </a:fld>
            <a:endParaRPr lang="en-US" altLang="hi-IN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>
            <a:extLst>
              <a:ext uri="{FF2B5EF4-FFF2-40B4-BE49-F238E27FC236}">
                <a16:creationId xmlns:a16="http://schemas.microsoft.com/office/drawing/2014/main" id="{05C89BDB-33D7-456C-AB91-31C745E077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i-IN"/>
              <a:t>Topological Sort:  DFS</a:t>
            </a:r>
          </a:p>
        </p:txBody>
      </p:sp>
      <p:sp>
        <p:nvSpPr>
          <p:cNvPr id="94211" name="Oval 3">
            <a:extLst>
              <a:ext uri="{FF2B5EF4-FFF2-40B4-BE49-F238E27FC236}">
                <a16:creationId xmlns:a16="http://schemas.microsoft.com/office/drawing/2014/main" id="{6840DCEB-166D-4DFA-89FE-E06DCF618D6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71600" y="4652963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94212" name="Oval 4">
            <a:extLst>
              <a:ext uri="{FF2B5EF4-FFF2-40B4-BE49-F238E27FC236}">
                <a16:creationId xmlns:a16="http://schemas.microsoft.com/office/drawing/2014/main" id="{E4159D06-182C-4A5D-9E52-051251B9D60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74775" y="1066800"/>
            <a:ext cx="301625" cy="30321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solidFill>
                  <a:schemeClr val="bg1"/>
                </a:solidFill>
                <a:latin typeface="Courier New" panose="02070309020205020404" pitchFamily="49" charset="0"/>
              </a:rPr>
              <a:t>C</a:t>
            </a:r>
          </a:p>
        </p:txBody>
      </p:sp>
      <p:sp>
        <p:nvSpPr>
          <p:cNvPr id="94213" name="Oval 5">
            <a:extLst>
              <a:ext uri="{FF2B5EF4-FFF2-40B4-BE49-F238E27FC236}">
                <a16:creationId xmlns:a16="http://schemas.microsoft.com/office/drawing/2014/main" id="{B45C3F7B-A211-4D09-ABBF-54DE6A8184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59000" y="2616200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G</a:t>
            </a:r>
          </a:p>
        </p:txBody>
      </p:sp>
      <p:cxnSp>
        <p:nvCxnSpPr>
          <p:cNvPr id="94214" name="AutoShape 6">
            <a:extLst>
              <a:ext uri="{FF2B5EF4-FFF2-40B4-BE49-F238E27FC236}">
                <a16:creationId xmlns:a16="http://schemas.microsoft.com/office/drawing/2014/main" id="{12084167-F88F-4DAD-851F-CDF98D63118F}"/>
              </a:ext>
            </a:extLst>
          </p:cNvPr>
          <p:cNvCxnSpPr>
            <a:cxnSpLocks noChangeShapeType="1"/>
            <a:stCxn id="94211" idx="0"/>
            <a:endCxn id="94212" idx="4"/>
          </p:cNvCxnSpPr>
          <p:nvPr/>
        </p:nvCxnSpPr>
        <p:spPr bwMode="auto">
          <a:xfrm flipV="1">
            <a:off x="1522413" y="1370013"/>
            <a:ext cx="3175" cy="32829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4215" name="Oval 7">
            <a:extLst>
              <a:ext uri="{FF2B5EF4-FFF2-40B4-BE49-F238E27FC236}">
                <a16:creationId xmlns:a16="http://schemas.microsoft.com/office/drawing/2014/main" id="{951EBC39-21DE-482F-A8DA-73CDC7C6AC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44900" y="2616200"/>
            <a:ext cx="301625" cy="300038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A</a:t>
            </a:r>
          </a:p>
        </p:txBody>
      </p:sp>
      <p:cxnSp>
        <p:nvCxnSpPr>
          <p:cNvPr id="94216" name="AutoShape 8">
            <a:extLst>
              <a:ext uri="{FF2B5EF4-FFF2-40B4-BE49-F238E27FC236}">
                <a16:creationId xmlns:a16="http://schemas.microsoft.com/office/drawing/2014/main" id="{15145656-93B6-4D28-8133-EE6B30B241F7}"/>
              </a:ext>
            </a:extLst>
          </p:cNvPr>
          <p:cNvCxnSpPr>
            <a:cxnSpLocks noChangeShapeType="1"/>
            <a:stCxn id="94212" idx="5"/>
            <a:endCxn id="94215" idx="1"/>
          </p:cNvCxnSpPr>
          <p:nvPr/>
        </p:nvCxnSpPr>
        <p:spPr bwMode="auto">
          <a:xfrm>
            <a:off x="1631950" y="1325563"/>
            <a:ext cx="2057400" cy="13350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4217" name="Oval 9">
            <a:extLst>
              <a:ext uri="{FF2B5EF4-FFF2-40B4-BE49-F238E27FC236}">
                <a16:creationId xmlns:a16="http://schemas.microsoft.com/office/drawing/2014/main" id="{9B1EA78D-8FD8-4279-A563-124482B3A21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70450" y="2616200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B</a:t>
            </a:r>
          </a:p>
        </p:txBody>
      </p:sp>
      <p:cxnSp>
        <p:nvCxnSpPr>
          <p:cNvPr id="94218" name="AutoShape 10">
            <a:extLst>
              <a:ext uri="{FF2B5EF4-FFF2-40B4-BE49-F238E27FC236}">
                <a16:creationId xmlns:a16="http://schemas.microsoft.com/office/drawing/2014/main" id="{D821D4B5-87B2-48D4-ABC1-139D5E388AB0}"/>
              </a:ext>
            </a:extLst>
          </p:cNvPr>
          <p:cNvCxnSpPr>
            <a:cxnSpLocks noChangeShapeType="1"/>
            <a:stCxn id="94212" idx="6"/>
            <a:endCxn id="94217" idx="1"/>
          </p:cNvCxnSpPr>
          <p:nvPr/>
        </p:nvCxnSpPr>
        <p:spPr bwMode="auto">
          <a:xfrm>
            <a:off x="1676400" y="1219200"/>
            <a:ext cx="3238500" cy="14414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4219" name="Oval 11">
            <a:extLst>
              <a:ext uri="{FF2B5EF4-FFF2-40B4-BE49-F238E27FC236}">
                <a16:creationId xmlns:a16="http://schemas.microsoft.com/office/drawing/2014/main" id="{E258546A-86C6-49E7-89D7-CE7D9DBF3CD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59000" y="3603625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D</a:t>
            </a:r>
          </a:p>
        </p:txBody>
      </p:sp>
      <p:sp>
        <p:nvSpPr>
          <p:cNvPr id="94220" name="Oval 12">
            <a:extLst>
              <a:ext uri="{FF2B5EF4-FFF2-40B4-BE49-F238E27FC236}">
                <a16:creationId xmlns:a16="http://schemas.microsoft.com/office/drawing/2014/main" id="{C4A89450-E51F-4B9F-8AFF-5DDACA5F21B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44900" y="3603625"/>
            <a:ext cx="301625" cy="29845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E</a:t>
            </a:r>
          </a:p>
        </p:txBody>
      </p:sp>
      <p:cxnSp>
        <p:nvCxnSpPr>
          <p:cNvPr id="94221" name="AutoShape 13">
            <a:extLst>
              <a:ext uri="{FF2B5EF4-FFF2-40B4-BE49-F238E27FC236}">
                <a16:creationId xmlns:a16="http://schemas.microsoft.com/office/drawing/2014/main" id="{E80316B1-EA89-4605-B33B-C74E5921E5F4}"/>
              </a:ext>
            </a:extLst>
          </p:cNvPr>
          <p:cNvCxnSpPr>
            <a:cxnSpLocks noChangeShapeType="1"/>
            <a:stCxn id="94212" idx="4"/>
            <a:endCxn id="94213" idx="1"/>
          </p:cNvCxnSpPr>
          <p:nvPr/>
        </p:nvCxnSpPr>
        <p:spPr bwMode="auto">
          <a:xfrm>
            <a:off x="1525588" y="1370013"/>
            <a:ext cx="677862" cy="12906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4222" name="AutoShape 14">
            <a:extLst>
              <a:ext uri="{FF2B5EF4-FFF2-40B4-BE49-F238E27FC236}">
                <a16:creationId xmlns:a16="http://schemas.microsoft.com/office/drawing/2014/main" id="{AF01B527-6A99-4EAE-AA4A-B7A53786CD0C}"/>
              </a:ext>
            </a:extLst>
          </p:cNvPr>
          <p:cNvCxnSpPr>
            <a:cxnSpLocks noChangeShapeType="1"/>
            <a:stCxn id="94220" idx="2"/>
            <a:endCxn id="94219" idx="6"/>
          </p:cNvCxnSpPr>
          <p:nvPr/>
        </p:nvCxnSpPr>
        <p:spPr bwMode="auto">
          <a:xfrm flipH="1">
            <a:off x="2460625" y="3752850"/>
            <a:ext cx="1184275" cy="1588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4223" name="AutoShape 15">
            <a:extLst>
              <a:ext uri="{FF2B5EF4-FFF2-40B4-BE49-F238E27FC236}">
                <a16:creationId xmlns:a16="http://schemas.microsoft.com/office/drawing/2014/main" id="{6B583675-6FAA-4A2F-8785-442E63310327}"/>
              </a:ext>
            </a:extLst>
          </p:cNvPr>
          <p:cNvCxnSpPr>
            <a:cxnSpLocks noChangeShapeType="1"/>
            <a:stCxn id="94220" idx="3"/>
            <a:endCxn id="94211" idx="6"/>
          </p:cNvCxnSpPr>
          <p:nvPr/>
        </p:nvCxnSpPr>
        <p:spPr bwMode="auto">
          <a:xfrm flipH="1">
            <a:off x="1673225" y="3857625"/>
            <a:ext cx="2016125" cy="94615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4224" name="AutoShape 16">
            <a:extLst>
              <a:ext uri="{FF2B5EF4-FFF2-40B4-BE49-F238E27FC236}">
                <a16:creationId xmlns:a16="http://schemas.microsoft.com/office/drawing/2014/main" id="{9F34FBA2-9A19-4CC3-8D04-60EA817D6EB9}"/>
              </a:ext>
            </a:extLst>
          </p:cNvPr>
          <p:cNvCxnSpPr>
            <a:cxnSpLocks noChangeShapeType="1"/>
            <a:stCxn id="94211" idx="7"/>
            <a:endCxn id="94219" idx="3"/>
          </p:cNvCxnSpPr>
          <p:nvPr/>
        </p:nvCxnSpPr>
        <p:spPr bwMode="auto">
          <a:xfrm flipV="1">
            <a:off x="1628775" y="3860800"/>
            <a:ext cx="574675" cy="836613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4225" name="AutoShape 17">
            <a:extLst>
              <a:ext uri="{FF2B5EF4-FFF2-40B4-BE49-F238E27FC236}">
                <a16:creationId xmlns:a16="http://schemas.microsoft.com/office/drawing/2014/main" id="{4407AAC3-8E5B-4D10-B882-58F6C1ACD4A7}"/>
              </a:ext>
            </a:extLst>
          </p:cNvPr>
          <p:cNvCxnSpPr>
            <a:cxnSpLocks noChangeShapeType="1"/>
            <a:stCxn id="94220" idx="7"/>
            <a:endCxn id="94217" idx="3"/>
          </p:cNvCxnSpPr>
          <p:nvPr/>
        </p:nvCxnSpPr>
        <p:spPr bwMode="auto">
          <a:xfrm flipV="1">
            <a:off x="3902075" y="2873375"/>
            <a:ext cx="1012825" cy="77470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4226" name="AutoShape 18">
            <a:extLst>
              <a:ext uri="{FF2B5EF4-FFF2-40B4-BE49-F238E27FC236}">
                <a16:creationId xmlns:a16="http://schemas.microsoft.com/office/drawing/2014/main" id="{41C0EF66-790A-4082-ADC3-6857C8D7DF56}"/>
              </a:ext>
            </a:extLst>
          </p:cNvPr>
          <p:cNvCxnSpPr>
            <a:cxnSpLocks noChangeShapeType="1"/>
            <a:stCxn id="94219" idx="7"/>
            <a:endCxn id="94215" idx="3"/>
          </p:cNvCxnSpPr>
          <p:nvPr/>
        </p:nvCxnSpPr>
        <p:spPr bwMode="auto">
          <a:xfrm flipV="1">
            <a:off x="2416175" y="2871788"/>
            <a:ext cx="1273175" cy="776287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4227" name="Oval 19">
            <a:extLst>
              <a:ext uri="{FF2B5EF4-FFF2-40B4-BE49-F238E27FC236}">
                <a16:creationId xmlns:a16="http://schemas.microsoft.com/office/drawing/2014/main" id="{82A0D26A-C8AF-4EB6-8096-D04C357C35F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90800" y="5181600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H</a:t>
            </a:r>
          </a:p>
        </p:txBody>
      </p:sp>
      <p:cxnSp>
        <p:nvCxnSpPr>
          <p:cNvPr id="94228" name="AutoShape 20">
            <a:extLst>
              <a:ext uri="{FF2B5EF4-FFF2-40B4-BE49-F238E27FC236}">
                <a16:creationId xmlns:a16="http://schemas.microsoft.com/office/drawing/2014/main" id="{7536F55F-87D5-45E6-8BE5-53AE6C47FEEA}"/>
              </a:ext>
            </a:extLst>
          </p:cNvPr>
          <p:cNvCxnSpPr>
            <a:cxnSpLocks noChangeShapeType="1"/>
            <a:stCxn id="94227" idx="2"/>
            <a:endCxn id="94211" idx="5"/>
          </p:cNvCxnSpPr>
          <p:nvPr/>
        </p:nvCxnSpPr>
        <p:spPr bwMode="auto">
          <a:xfrm flipH="1" flipV="1">
            <a:off x="1628775" y="4910138"/>
            <a:ext cx="962025" cy="422275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4229" name="Rectangle 21">
            <a:extLst>
              <a:ext uri="{FF2B5EF4-FFF2-40B4-BE49-F238E27FC236}">
                <a16:creationId xmlns:a16="http://schemas.microsoft.com/office/drawing/2014/main" id="{75585C99-D6DE-42C4-A830-721F9179C8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7625" y="5526088"/>
            <a:ext cx="2936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7</a:t>
            </a:r>
          </a:p>
        </p:txBody>
      </p:sp>
      <p:sp>
        <p:nvSpPr>
          <p:cNvPr id="94230" name="Rectangle 22">
            <a:extLst>
              <a:ext uri="{FF2B5EF4-FFF2-40B4-BE49-F238E27FC236}">
                <a16:creationId xmlns:a16="http://schemas.microsoft.com/office/drawing/2014/main" id="{8F2F3AB8-3A6B-4356-B4C6-2DBF845E66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550" y="5013325"/>
            <a:ext cx="2936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94231" name="Rectangle 23">
            <a:extLst>
              <a:ext uri="{FF2B5EF4-FFF2-40B4-BE49-F238E27FC236}">
                <a16:creationId xmlns:a16="http://schemas.microsoft.com/office/drawing/2014/main" id="{57D171D6-FA76-4363-A92A-CBECA3B76F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4713" y="3933825"/>
            <a:ext cx="2936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4</a:t>
            </a:r>
          </a:p>
        </p:txBody>
      </p:sp>
      <p:cxnSp>
        <p:nvCxnSpPr>
          <p:cNvPr id="94232" name="AutoShape 24">
            <a:extLst>
              <a:ext uri="{FF2B5EF4-FFF2-40B4-BE49-F238E27FC236}">
                <a16:creationId xmlns:a16="http://schemas.microsoft.com/office/drawing/2014/main" id="{A31312E4-9663-42AD-98D0-AE996ABA0625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795713" y="2916238"/>
            <a:ext cx="0" cy="687387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4233" name="Rectangle 25">
            <a:extLst>
              <a:ext uri="{FF2B5EF4-FFF2-40B4-BE49-F238E27FC236}">
                <a16:creationId xmlns:a16="http://schemas.microsoft.com/office/drawing/2014/main" id="{C9701C60-E8C2-4D1B-95AE-A1AAC7FBC2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8550" y="3937000"/>
            <a:ext cx="2936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94234" name="Rectangle 26">
            <a:extLst>
              <a:ext uri="{FF2B5EF4-FFF2-40B4-BE49-F238E27FC236}">
                <a16:creationId xmlns:a16="http://schemas.microsoft.com/office/drawing/2014/main" id="{F96AC2B9-0A5D-4F37-A839-60745DD97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9225" y="2622550"/>
            <a:ext cx="2936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3</a:t>
            </a:r>
          </a:p>
        </p:txBody>
      </p:sp>
      <p:sp>
        <p:nvSpPr>
          <p:cNvPr id="94235" name="Rectangle 27">
            <a:extLst>
              <a:ext uri="{FF2B5EF4-FFF2-40B4-BE49-F238E27FC236}">
                <a16:creationId xmlns:a16="http://schemas.microsoft.com/office/drawing/2014/main" id="{50B747CD-A007-40BA-BEFE-0B1E67EA4F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295400"/>
            <a:ext cx="184150" cy="38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20000"/>
              </a:lnSpc>
            </a:pPr>
            <a:endParaRPr lang="hi-IN" altLang="hi-IN" sz="1600" b="1">
              <a:latin typeface="Courier New" panose="02070309020205020404" pitchFamily="49" charset="0"/>
            </a:endParaRPr>
          </a:p>
        </p:txBody>
      </p:sp>
      <p:sp>
        <p:nvSpPr>
          <p:cNvPr id="94236" name="Rectangle 29">
            <a:extLst>
              <a:ext uri="{FF2B5EF4-FFF2-40B4-BE49-F238E27FC236}">
                <a16:creationId xmlns:a16="http://schemas.microsoft.com/office/drawing/2014/main" id="{07CF87DF-070A-46C3-876C-E60FA7ED98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295400"/>
            <a:ext cx="915988" cy="38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hi-IN" sz="1600" b="1">
                <a:latin typeface="Courier New" panose="02070309020205020404" pitchFamily="49" charset="0"/>
              </a:rPr>
              <a:t>dfs(C)</a:t>
            </a:r>
          </a:p>
        </p:txBody>
      </p:sp>
      <p:cxnSp>
        <p:nvCxnSpPr>
          <p:cNvPr id="506910" name="AutoShape 30">
            <a:extLst>
              <a:ext uri="{FF2B5EF4-FFF2-40B4-BE49-F238E27FC236}">
                <a16:creationId xmlns:a16="http://schemas.microsoft.com/office/drawing/2014/main" id="{54C868A8-2167-48B9-90E0-EC9421F3ECD0}"/>
              </a:ext>
            </a:extLst>
          </p:cNvPr>
          <p:cNvCxnSpPr>
            <a:cxnSpLocks noChangeShapeType="1"/>
            <a:stCxn id="94215" idx="1"/>
            <a:endCxn id="94212" idx="5"/>
          </p:cNvCxnSpPr>
          <p:nvPr/>
        </p:nvCxnSpPr>
        <p:spPr bwMode="auto">
          <a:xfrm flipH="1" flipV="1">
            <a:off x="1631950" y="1325563"/>
            <a:ext cx="2057400" cy="1335087"/>
          </a:xfrm>
          <a:prstGeom prst="straightConnector1">
            <a:avLst/>
          </a:prstGeom>
          <a:noFill/>
          <a:ln w="50800">
            <a:solidFill>
              <a:schemeClr val="accent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4238" name="Rectangle 34">
            <a:extLst>
              <a:ext uri="{FF2B5EF4-FFF2-40B4-BE49-F238E27FC236}">
                <a16:creationId xmlns:a16="http://schemas.microsoft.com/office/drawing/2014/main" id="{656B8167-FF2C-4DBF-840F-5AE73E215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2713" y="2611438"/>
            <a:ext cx="2936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2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0D96FA-6B02-4668-927E-B23A40E9B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129</a:t>
            </a:fld>
            <a:endParaRPr lang="en-US" altLang="hi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06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>
            <a:extLst>
              <a:ext uri="{FF2B5EF4-FFF2-40B4-BE49-F238E27FC236}">
                <a16:creationId xmlns:a16="http://schemas.microsoft.com/office/drawing/2014/main" id="{FFCA5D04-353F-4880-8031-1EF8669707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i-IN"/>
              <a:t>Topological Sort:  DFS</a:t>
            </a:r>
          </a:p>
        </p:txBody>
      </p:sp>
      <p:sp>
        <p:nvSpPr>
          <p:cNvPr id="95235" name="Oval 3">
            <a:extLst>
              <a:ext uri="{FF2B5EF4-FFF2-40B4-BE49-F238E27FC236}">
                <a16:creationId xmlns:a16="http://schemas.microsoft.com/office/drawing/2014/main" id="{EB200E12-ECAA-4B26-9C9F-95CF5644883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71600" y="4652963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95236" name="Oval 4">
            <a:extLst>
              <a:ext uri="{FF2B5EF4-FFF2-40B4-BE49-F238E27FC236}">
                <a16:creationId xmlns:a16="http://schemas.microsoft.com/office/drawing/2014/main" id="{C81E02E6-C734-45E0-832D-7915CD877C7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74775" y="1066800"/>
            <a:ext cx="301625" cy="30321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solidFill>
                  <a:schemeClr val="bg1"/>
                </a:solidFill>
                <a:latin typeface="Courier New" panose="02070309020205020404" pitchFamily="49" charset="0"/>
              </a:rPr>
              <a:t>C</a:t>
            </a:r>
          </a:p>
        </p:txBody>
      </p:sp>
      <p:sp>
        <p:nvSpPr>
          <p:cNvPr id="95237" name="Oval 5">
            <a:extLst>
              <a:ext uri="{FF2B5EF4-FFF2-40B4-BE49-F238E27FC236}">
                <a16:creationId xmlns:a16="http://schemas.microsoft.com/office/drawing/2014/main" id="{CD895811-6573-4EAC-B0EB-CBC25B82EF9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59000" y="2616200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G</a:t>
            </a:r>
          </a:p>
        </p:txBody>
      </p:sp>
      <p:cxnSp>
        <p:nvCxnSpPr>
          <p:cNvPr id="95238" name="AutoShape 6">
            <a:extLst>
              <a:ext uri="{FF2B5EF4-FFF2-40B4-BE49-F238E27FC236}">
                <a16:creationId xmlns:a16="http://schemas.microsoft.com/office/drawing/2014/main" id="{31262957-2758-4A5C-9C30-E170B7A79F50}"/>
              </a:ext>
            </a:extLst>
          </p:cNvPr>
          <p:cNvCxnSpPr>
            <a:cxnSpLocks noChangeShapeType="1"/>
            <a:stCxn id="95235" idx="0"/>
            <a:endCxn id="95236" idx="4"/>
          </p:cNvCxnSpPr>
          <p:nvPr/>
        </p:nvCxnSpPr>
        <p:spPr bwMode="auto">
          <a:xfrm flipV="1">
            <a:off x="1522413" y="1370013"/>
            <a:ext cx="3175" cy="32829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5239" name="Oval 7">
            <a:extLst>
              <a:ext uri="{FF2B5EF4-FFF2-40B4-BE49-F238E27FC236}">
                <a16:creationId xmlns:a16="http://schemas.microsoft.com/office/drawing/2014/main" id="{B4B036F9-0D80-483A-9E5B-176B87C61B0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44900" y="2616200"/>
            <a:ext cx="301625" cy="300038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A</a:t>
            </a:r>
          </a:p>
        </p:txBody>
      </p:sp>
      <p:cxnSp>
        <p:nvCxnSpPr>
          <p:cNvPr id="95240" name="AutoShape 8">
            <a:extLst>
              <a:ext uri="{FF2B5EF4-FFF2-40B4-BE49-F238E27FC236}">
                <a16:creationId xmlns:a16="http://schemas.microsoft.com/office/drawing/2014/main" id="{DF416265-B1BB-4762-8808-276715033C44}"/>
              </a:ext>
            </a:extLst>
          </p:cNvPr>
          <p:cNvCxnSpPr>
            <a:cxnSpLocks noChangeShapeType="1"/>
            <a:stCxn id="95236" idx="5"/>
            <a:endCxn id="95239" idx="1"/>
          </p:cNvCxnSpPr>
          <p:nvPr/>
        </p:nvCxnSpPr>
        <p:spPr bwMode="auto">
          <a:xfrm>
            <a:off x="1631950" y="1325563"/>
            <a:ext cx="2057400" cy="1335087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5241" name="Oval 9">
            <a:extLst>
              <a:ext uri="{FF2B5EF4-FFF2-40B4-BE49-F238E27FC236}">
                <a16:creationId xmlns:a16="http://schemas.microsoft.com/office/drawing/2014/main" id="{7B45660A-7331-4F36-A5BC-60FDC5F9933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70450" y="2616200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B</a:t>
            </a:r>
          </a:p>
        </p:txBody>
      </p:sp>
      <p:cxnSp>
        <p:nvCxnSpPr>
          <p:cNvPr id="95242" name="AutoShape 10">
            <a:extLst>
              <a:ext uri="{FF2B5EF4-FFF2-40B4-BE49-F238E27FC236}">
                <a16:creationId xmlns:a16="http://schemas.microsoft.com/office/drawing/2014/main" id="{C694DE0B-E78D-45C2-834D-C82A554FEA04}"/>
              </a:ext>
            </a:extLst>
          </p:cNvPr>
          <p:cNvCxnSpPr>
            <a:cxnSpLocks noChangeShapeType="1"/>
            <a:stCxn id="95236" idx="6"/>
            <a:endCxn id="95241" idx="1"/>
          </p:cNvCxnSpPr>
          <p:nvPr/>
        </p:nvCxnSpPr>
        <p:spPr bwMode="auto">
          <a:xfrm>
            <a:off x="1676400" y="1219200"/>
            <a:ext cx="3238500" cy="14414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5243" name="Oval 11">
            <a:extLst>
              <a:ext uri="{FF2B5EF4-FFF2-40B4-BE49-F238E27FC236}">
                <a16:creationId xmlns:a16="http://schemas.microsoft.com/office/drawing/2014/main" id="{D57491AB-246A-44B5-90B1-6D7D786E6BC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59000" y="3603625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D</a:t>
            </a:r>
          </a:p>
        </p:txBody>
      </p:sp>
      <p:sp>
        <p:nvSpPr>
          <p:cNvPr id="95244" name="Oval 12">
            <a:extLst>
              <a:ext uri="{FF2B5EF4-FFF2-40B4-BE49-F238E27FC236}">
                <a16:creationId xmlns:a16="http://schemas.microsoft.com/office/drawing/2014/main" id="{A09DEAED-7BF9-4A15-93FA-96BD51E3093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44900" y="3603625"/>
            <a:ext cx="301625" cy="29845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E</a:t>
            </a:r>
          </a:p>
        </p:txBody>
      </p:sp>
      <p:cxnSp>
        <p:nvCxnSpPr>
          <p:cNvPr id="95245" name="AutoShape 13">
            <a:extLst>
              <a:ext uri="{FF2B5EF4-FFF2-40B4-BE49-F238E27FC236}">
                <a16:creationId xmlns:a16="http://schemas.microsoft.com/office/drawing/2014/main" id="{C26EA744-C268-4AD7-94F0-AE9784A8E009}"/>
              </a:ext>
            </a:extLst>
          </p:cNvPr>
          <p:cNvCxnSpPr>
            <a:cxnSpLocks noChangeShapeType="1"/>
            <a:stCxn id="95236" idx="4"/>
            <a:endCxn id="95237" idx="1"/>
          </p:cNvCxnSpPr>
          <p:nvPr/>
        </p:nvCxnSpPr>
        <p:spPr bwMode="auto">
          <a:xfrm>
            <a:off x="1525588" y="1370013"/>
            <a:ext cx="677862" cy="12906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5246" name="AutoShape 14">
            <a:extLst>
              <a:ext uri="{FF2B5EF4-FFF2-40B4-BE49-F238E27FC236}">
                <a16:creationId xmlns:a16="http://schemas.microsoft.com/office/drawing/2014/main" id="{28CAFFB5-84D8-453F-A44C-18E87CDD286B}"/>
              </a:ext>
            </a:extLst>
          </p:cNvPr>
          <p:cNvCxnSpPr>
            <a:cxnSpLocks noChangeShapeType="1"/>
            <a:stCxn id="95244" idx="2"/>
            <a:endCxn id="95243" idx="6"/>
          </p:cNvCxnSpPr>
          <p:nvPr/>
        </p:nvCxnSpPr>
        <p:spPr bwMode="auto">
          <a:xfrm flipH="1">
            <a:off x="2460625" y="3752850"/>
            <a:ext cx="1184275" cy="1588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5247" name="AutoShape 15">
            <a:extLst>
              <a:ext uri="{FF2B5EF4-FFF2-40B4-BE49-F238E27FC236}">
                <a16:creationId xmlns:a16="http://schemas.microsoft.com/office/drawing/2014/main" id="{7F059E35-73AB-4A44-87A5-D3FFD27DF5B6}"/>
              </a:ext>
            </a:extLst>
          </p:cNvPr>
          <p:cNvCxnSpPr>
            <a:cxnSpLocks noChangeShapeType="1"/>
            <a:stCxn id="95244" idx="3"/>
            <a:endCxn id="95235" idx="6"/>
          </p:cNvCxnSpPr>
          <p:nvPr/>
        </p:nvCxnSpPr>
        <p:spPr bwMode="auto">
          <a:xfrm flipH="1">
            <a:off x="1673225" y="3857625"/>
            <a:ext cx="2016125" cy="94615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5248" name="AutoShape 16">
            <a:extLst>
              <a:ext uri="{FF2B5EF4-FFF2-40B4-BE49-F238E27FC236}">
                <a16:creationId xmlns:a16="http://schemas.microsoft.com/office/drawing/2014/main" id="{BCF23C67-201F-48C4-9A5F-C9CFDC4F8D88}"/>
              </a:ext>
            </a:extLst>
          </p:cNvPr>
          <p:cNvCxnSpPr>
            <a:cxnSpLocks noChangeShapeType="1"/>
            <a:stCxn id="95235" idx="7"/>
            <a:endCxn id="95243" idx="3"/>
          </p:cNvCxnSpPr>
          <p:nvPr/>
        </p:nvCxnSpPr>
        <p:spPr bwMode="auto">
          <a:xfrm flipV="1">
            <a:off x="1628775" y="3860800"/>
            <a:ext cx="574675" cy="836613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5249" name="AutoShape 17">
            <a:extLst>
              <a:ext uri="{FF2B5EF4-FFF2-40B4-BE49-F238E27FC236}">
                <a16:creationId xmlns:a16="http://schemas.microsoft.com/office/drawing/2014/main" id="{CC7675A3-C5B2-47EC-93CD-008977E51023}"/>
              </a:ext>
            </a:extLst>
          </p:cNvPr>
          <p:cNvCxnSpPr>
            <a:cxnSpLocks noChangeShapeType="1"/>
            <a:stCxn id="95244" idx="7"/>
            <a:endCxn id="95241" idx="3"/>
          </p:cNvCxnSpPr>
          <p:nvPr/>
        </p:nvCxnSpPr>
        <p:spPr bwMode="auto">
          <a:xfrm flipV="1">
            <a:off x="3902075" y="2873375"/>
            <a:ext cx="1012825" cy="77470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5250" name="AutoShape 18">
            <a:extLst>
              <a:ext uri="{FF2B5EF4-FFF2-40B4-BE49-F238E27FC236}">
                <a16:creationId xmlns:a16="http://schemas.microsoft.com/office/drawing/2014/main" id="{64C6A020-5F10-42D8-AD3F-C6AEEBF5AAD6}"/>
              </a:ext>
            </a:extLst>
          </p:cNvPr>
          <p:cNvCxnSpPr>
            <a:cxnSpLocks noChangeShapeType="1"/>
            <a:stCxn id="95243" idx="7"/>
            <a:endCxn id="95239" idx="3"/>
          </p:cNvCxnSpPr>
          <p:nvPr/>
        </p:nvCxnSpPr>
        <p:spPr bwMode="auto">
          <a:xfrm flipV="1">
            <a:off x="2416175" y="2871788"/>
            <a:ext cx="1273175" cy="776287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5251" name="Oval 19">
            <a:extLst>
              <a:ext uri="{FF2B5EF4-FFF2-40B4-BE49-F238E27FC236}">
                <a16:creationId xmlns:a16="http://schemas.microsoft.com/office/drawing/2014/main" id="{B208CDE0-C87F-4A63-A75B-AA25487A0AD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90800" y="5181600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H</a:t>
            </a:r>
          </a:p>
        </p:txBody>
      </p:sp>
      <p:cxnSp>
        <p:nvCxnSpPr>
          <p:cNvPr id="95252" name="AutoShape 20">
            <a:extLst>
              <a:ext uri="{FF2B5EF4-FFF2-40B4-BE49-F238E27FC236}">
                <a16:creationId xmlns:a16="http://schemas.microsoft.com/office/drawing/2014/main" id="{7AD0C7AD-BD89-44F9-9B2D-D81F5DE9AFFA}"/>
              </a:ext>
            </a:extLst>
          </p:cNvPr>
          <p:cNvCxnSpPr>
            <a:cxnSpLocks noChangeShapeType="1"/>
            <a:stCxn id="95251" idx="2"/>
            <a:endCxn id="95235" idx="5"/>
          </p:cNvCxnSpPr>
          <p:nvPr/>
        </p:nvCxnSpPr>
        <p:spPr bwMode="auto">
          <a:xfrm flipH="1" flipV="1">
            <a:off x="1628775" y="4910138"/>
            <a:ext cx="962025" cy="422275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5253" name="Rectangle 21">
            <a:extLst>
              <a:ext uri="{FF2B5EF4-FFF2-40B4-BE49-F238E27FC236}">
                <a16:creationId xmlns:a16="http://schemas.microsoft.com/office/drawing/2014/main" id="{E536DB55-4332-41F6-9466-6A973664F5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7625" y="5526088"/>
            <a:ext cx="2936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7</a:t>
            </a:r>
          </a:p>
        </p:txBody>
      </p:sp>
      <p:sp>
        <p:nvSpPr>
          <p:cNvPr id="95254" name="Rectangle 22">
            <a:extLst>
              <a:ext uri="{FF2B5EF4-FFF2-40B4-BE49-F238E27FC236}">
                <a16:creationId xmlns:a16="http://schemas.microsoft.com/office/drawing/2014/main" id="{09D01B38-31B9-43D7-9167-FF339851D8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550" y="5013325"/>
            <a:ext cx="2936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95255" name="Rectangle 23">
            <a:extLst>
              <a:ext uri="{FF2B5EF4-FFF2-40B4-BE49-F238E27FC236}">
                <a16:creationId xmlns:a16="http://schemas.microsoft.com/office/drawing/2014/main" id="{0B4E4161-83BF-450D-96CF-6E14EE2909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4713" y="3933825"/>
            <a:ext cx="2936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4</a:t>
            </a:r>
          </a:p>
        </p:txBody>
      </p:sp>
      <p:cxnSp>
        <p:nvCxnSpPr>
          <p:cNvPr id="95256" name="AutoShape 24">
            <a:extLst>
              <a:ext uri="{FF2B5EF4-FFF2-40B4-BE49-F238E27FC236}">
                <a16:creationId xmlns:a16="http://schemas.microsoft.com/office/drawing/2014/main" id="{49AE89DA-8EE4-4C4B-9F93-D1307C90C11D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795713" y="2916238"/>
            <a:ext cx="0" cy="687387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5257" name="Rectangle 25">
            <a:extLst>
              <a:ext uri="{FF2B5EF4-FFF2-40B4-BE49-F238E27FC236}">
                <a16:creationId xmlns:a16="http://schemas.microsoft.com/office/drawing/2014/main" id="{915B2C96-9FEA-43A4-A04F-1E591AC45A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8550" y="3937000"/>
            <a:ext cx="2936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95258" name="Rectangle 26">
            <a:extLst>
              <a:ext uri="{FF2B5EF4-FFF2-40B4-BE49-F238E27FC236}">
                <a16:creationId xmlns:a16="http://schemas.microsoft.com/office/drawing/2014/main" id="{DE9C3A89-CBD6-4251-AED4-0A1F81F03B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9225" y="2622550"/>
            <a:ext cx="2936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3</a:t>
            </a:r>
          </a:p>
        </p:txBody>
      </p:sp>
      <p:sp>
        <p:nvSpPr>
          <p:cNvPr id="95259" name="Rectangle 27">
            <a:extLst>
              <a:ext uri="{FF2B5EF4-FFF2-40B4-BE49-F238E27FC236}">
                <a16:creationId xmlns:a16="http://schemas.microsoft.com/office/drawing/2014/main" id="{A92D0662-56C4-47CA-91C5-0D236343A7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295400"/>
            <a:ext cx="184150" cy="38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20000"/>
              </a:lnSpc>
            </a:pPr>
            <a:endParaRPr lang="hi-IN" altLang="hi-IN" sz="1600" b="1">
              <a:latin typeface="Courier New" panose="02070309020205020404" pitchFamily="49" charset="0"/>
            </a:endParaRPr>
          </a:p>
        </p:txBody>
      </p:sp>
      <p:sp>
        <p:nvSpPr>
          <p:cNvPr id="95260" name="Rectangle 28">
            <a:extLst>
              <a:ext uri="{FF2B5EF4-FFF2-40B4-BE49-F238E27FC236}">
                <a16:creationId xmlns:a16="http://schemas.microsoft.com/office/drawing/2014/main" id="{078AC670-82D2-4BDD-BEF4-AFE17A6671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295400"/>
            <a:ext cx="915988" cy="38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hi-IN" sz="1600" b="1">
                <a:latin typeface="Courier New" panose="02070309020205020404" pitchFamily="49" charset="0"/>
              </a:rPr>
              <a:t>dfs(C)</a:t>
            </a:r>
          </a:p>
        </p:txBody>
      </p:sp>
      <p:cxnSp>
        <p:nvCxnSpPr>
          <p:cNvPr id="517150" name="AutoShape 30">
            <a:extLst>
              <a:ext uri="{FF2B5EF4-FFF2-40B4-BE49-F238E27FC236}">
                <a16:creationId xmlns:a16="http://schemas.microsoft.com/office/drawing/2014/main" id="{5271B60C-51EE-4F53-A6A4-D0127AA55CCE}"/>
              </a:ext>
            </a:extLst>
          </p:cNvPr>
          <p:cNvCxnSpPr>
            <a:cxnSpLocks noChangeShapeType="1"/>
            <a:stCxn id="95241" idx="1"/>
            <a:endCxn id="95236" idx="6"/>
          </p:cNvCxnSpPr>
          <p:nvPr/>
        </p:nvCxnSpPr>
        <p:spPr bwMode="auto">
          <a:xfrm flipH="1" flipV="1">
            <a:off x="1676400" y="1219200"/>
            <a:ext cx="3238500" cy="1441450"/>
          </a:xfrm>
          <a:prstGeom prst="straightConnector1">
            <a:avLst/>
          </a:prstGeom>
          <a:noFill/>
          <a:ln w="50800">
            <a:solidFill>
              <a:schemeClr val="accent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5262" name="Rectangle 33">
            <a:extLst>
              <a:ext uri="{FF2B5EF4-FFF2-40B4-BE49-F238E27FC236}">
                <a16:creationId xmlns:a16="http://schemas.microsoft.com/office/drawing/2014/main" id="{DFDD1235-4606-4548-B584-FC5433FACB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2713" y="2611438"/>
            <a:ext cx="2936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2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C2BE52-4560-444E-823F-422361B42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130</a:t>
            </a:fld>
            <a:endParaRPr lang="en-US" altLang="hi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17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>
            <a:extLst>
              <a:ext uri="{FF2B5EF4-FFF2-40B4-BE49-F238E27FC236}">
                <a16:creationId xmlns:a16="http://schemas.microsoft.com/office/drawing/2014/main" id="{3B4A2348-E887-4DC7-91D7-C201613B96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i-IN"/>
              <a:t>Topological Sort:  DFS</a:t>
            </a:r>
          </a:p>
        </p:txBody>
      </p:sp>
      <p:sp>
        <p:nvSpPr>
          <p:cNvPr id="96259" name="Oval 3">
            <a:extLst>
              <a:ext uri="{FF2B5EF4-FFF2-40B4-BE49-F238E27FC236}">
                <a16:creationId xmlns:a16="http://schemas.microsoft.com/office/drawing/2014/main" id="{6AB69BD5-348C-430F-9C5C-0A19BA28F66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71600" y="4652963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96260" name="Oval 4">
            <a:extLst>
              <a:ext uri="{FF2B5EF4-FFF2-40B4-BE49-F238E27FC236}">
                <a16:creationId xmlns:a16="http://schemas.microsoft.com/office/drawing/2014/main" id="{1D2D5C17-5DA4-4C87-AD15-8998FE598F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74775" y="1066800"/>
            <a:ext cx="301625" cy="30321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solidFill>
                  <a:schemeClr val="bg1"/>
                </a:solidFill>
                <a:latin typeface="Courier New" panose="02070309020205020404" pitchFamily="49" charset="0"/>
              </a:rPr>
              <a:t>C</a:t>
            </a:r>
          </a:p>
        </p:txBody>
      </p:sp>
      <p:sp>
        <p:nvSpPr>
          <p:cNvPr id="96261" name="Oval 5">
            <a:extLst>
              <a:ext uri="{FF2B5EF4-FFF2-40B4-BE49-F238E27FC236}">
                <a16:creationId xmlns:a16="http://schemas.microsoft.com/office/drawing/2014/main" id="{7D4BC0A0-461D-4BB3-85E5-7C490C1D788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59000" y="2616200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G</a:t>
            </a:r>
          </a:p>
        </p:txBody>
      </p:sp>
      <p:cxnSp>
        <p:nvCxnSpPr>
          <p:cNvPr id="96262" name="AutoShape 6">
            <a:extLst>
              <a:ext uri="{FF2B5EF4-FFF2-40B4-BE49-F238E27FC236}">
                <a16:creationId xmlns:a16="http://schemas.microsoft.com/office/drawing/2014/main" id="{6CE81924-917E-410A-B388-0F8F5FF5961D}"/>
              </a:ext>
            </a:extLst>
          </p:cNvPr>
          <p:cNvCxnSpPr>
            <a:cxnSpLocks noChangeShapeType="1"/>
            <a:stCxn id="96259" idx="0"/>
            <a:endCxn id="96260" idx="4"/>
          </p:cNvCxnSpPr>
          <p:nvPr/>
        </p:nvCxnSpPr>
        <p:spPr bwMode="auto">
          <a:xfrm flipV="1">
            <a:off x="1522413" y="1370013"/>
            <a:ext cx="3175" cy="32829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6263" name="Oval 7">
            <a:extLst>
              <a:ext uri="{FF2B5EF4-FFF2-40B4-BE49-F238E27FC236}">
                <a16:creationId xmlns:a16="http://schemas.microsoft.com/office/drawing/2014/main" id="{29FF5B56-AD8A-4C1F-BD61-B25DC13145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44900" y="2616200"/>
            <a:ext cx="301625" cy="300038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A</a:t>
            </a:r>
          </a:p>
        </p:txBody>
      </p:sp>
      <p:cxnSp>
        <p:nvCxnSpPr>
          <p:cNvPr id="96264" name="AutoShape 8">
            <a:extLst>
              <a:ext uri="{FF2B5EF4-FFF2-40B4-BE49-F238E27FC236}">
                <a16:creationId xmlns:a16="http://schemas.microsoft.com/office/drawing/2014/main" id="{28DD2126-A8C6-4EB9-945D-6F41DB7AD91A}"/>
              </a:ext>
            </a:extLst>
          </p:cNvPr>
          <p:cNvCxnSpPr>
            <a:cxnSpLocks noChangeShapeType="1"/>
            <a:stCxn id="96260" idx="5"/>
            <a:endCxn id="96263" idx="1"/>
          </p:cNvCxnSpPr>
          <p:nvPr/>
        </p:nvCxnSpPr>
        <p:spPr bwMode="auto">
          <a:xfrm>
            <a:off x="1631950" y="1325563"/>
            <a:ext cx="2057400" cy="1335087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6265" name="Oval 9">
            <a:extLst>
              <a:ext uri="{FF2B5EF4-FFF2-40B4-BE49-F238E27FC236}">
                <a16:creationId xmlns:a16="http://schemas.microsoft.com/office/drawing/2014/main" id="{05098CD9-B668-4BC5-B60A-44A3FB7029A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70450" y="2616200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B</a:t>
            </a:r>
          </a:p>
        </p:txBody>
      </p:sp>
      <p:cxnSp>
        <p:nvCxnSpPr>
          <p:cNvPr id="96266" name="AutoShape 10">
            <a:extLst>
              <a:ext uri="{FF2B5EF4-FFF2-40B4-BE49-F238E27FC236}">
                <a16:creationId xmlns:a16="http://schemas.microsoft.com/office/drawing/2014/main" id="{52EB21E0-2213-4123-97D0-EFB733CEBE5E}"/>
              </a:ext>
            </a:extLst>
          </p:cNvPr>
          <p:cNvCxnSpPr>
            <a:cxnSpLocks noChangeShapeType="1"/>
            <a:stCxn id="96260" idx="6"/>
            <a:endCxn id="96265" idx="1"/>
          </p:cNvCxnSpPr>
          <p:nvPr/>
        </p:nvCxnSpPr>
        <p:spPr bwMode="auto">
          <a:xfrm>
            <a:off x="1676400" y="1219200"/>
            <a:ext cx="3238500" cy="144145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6267" name="Oval 11">
            <a:extLst>
              <a:ext uri="{FF2B5EF4-FFF2-40B4-BE49-F238E27FC236}">
                <a16:creationId xmlns:a16="http://schemas.microsoft.com/office/drawing/2014/main" id="{52AC56DA-43D1-4CD8-B9FB-0950E62549D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59000" y="3603625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D</a:t>
            </a:r>
          </a:p>
        </p:txBody>
      </p:sp>
      <p:sp>
        <p:nvSpPr>
          <p:cNvPr id="96268" name="Oval 12">
            <a:extLst>
              <a:ext uri="{FF2B5EF4-FFF2-40B4-BE49-F238E27FC236}">
                <a16:creationId xmlns:a16="http://schemas.microsoft.com/office/drawing/2014/main" id="{92CFA105-6C4D-404B-AB27-EC68E93F6D3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44900" y="3603625"/>
            <a:ext cx="301625" cy="29845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E</a:t>
            </a:r>
          </a:p>
        </p:txBody>
      </p:sp>
      <p:cxnSp>
        <p:nvCxnSpPr>
          <p:cNvPr id="96269" name="AutoShape 13">
            <a:extLst>
              <a:ext uri="{FF2B5EF4-FFF2-40B4-BE49-F238E27FC236}">
                <a16:creationId xmlns:a16="http://schemas.microsoft.com/office/drawing/2014/main" id="{54ADD693-4217-4255-A4C0-593C9D8C2239}"/>
              </a:ext>
            </a:extLst>
          </p:cNvPr>
          <p:cNvCxnSpPr>
            <a:cxnSpLocks noChangeShapeType="1"/>
            <a:stCxn id="96260" idx="4"/>
            <a:endCxn id="96261" idx="1"/>
          </p:cNvCxnSpPr>
          <p:nvPr/>
        </p:nvCxnSpPr>
        <p:spPr bwMode="auto">
          <a:xfrm>
            <a:off x="1525588" y="1370013"/>
            <a:ext cx="677862" cy="12906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6270" name="AutoShape 14">
            <a:extLst>
              <a:ext uri="{FF2B5EF4-FFF2-40B4-BE49-F238E27FC236}">
                <a16:creationId xmlns:a16="http://schemas.microsoft.com/office/drawing/2014/main" id="{AF15D002-EDB9-406C-A701-4E162E87FC18}"/>
              </a:ext>
            </a:extLst>
          </p:cNvPr>
          <p:cNvCxnSpPr>
            <a:cxnSpLocks noChangeShapeType="1"/>
            <a:stCxn id="96268" idx="2"/>
            <a:endCxn id="96267" idx="6"/>
          </p:cNvCxnSpPr>
          <p:nvPr/>
        </p:nvCxnSpPr>
        <p:spPr bwMode="auto">
          <a:xfrm flipH="1">
            <a:off x="2460625" y="3752850"/>
            <a:ext cx="1184275" cy="1588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6271" name="AutoShape 15">
            <a:extLst>
              <a:ext uri="{FF2B5EF4-FFF2-40B4-BE49-F238E27FC236}">
                <a16:creationId xmlns:a16="http://schemas.microsoft.com/office/drawing/2014/main" id="{3195D59E-27ED-47B8-8058-56DAD1BB8093}"/>
              </a:ext>
            </a:extLst>
          </p:cNvPr>
          <p:cNvCxnSpPr>
            <a:cxnSpLocks noChangeShapeType="1"/>
            <a:stCxn id="96268" idx="3"/>
            <a:endCxn id="96259" idx="6"/>
          </p:cNvCxnSpPr>
          <p:nvPr/>
        </p:nvCxnSpPr>
        <p:spPr bwMode="auto">
          <a:xfrm flipH="1">
            <a:off x="1673225" y="3857625"/>
            <a:ext cx="2016125" cy="94615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6272" name="AutoShape 16">
            <a:extLst>
              <a:ext uri="{FF2B5EF4-FFF2-40B4-BE49-F238E27FC236}">
                <a16:creationId xmlns:a16="http://schemas.microsoft.com/office/drawing/2014/main" id="{5989167B-76E6-47F0-8825-D0F49286C948}"/>
              </a:ext>
            </a:extLst>
          </p:cNvPr>
          <p:cNvCxnSpPr>
            <a:cxnSpLocks noChangeShapeType="1"/>
            <a:stCxn id="96259" idx="7"/>
            <a:endCxn id="96267" idx="3"/>
          </p:cNvCxnSpPr>
          <p:nvPr/>
        </p:nvCxnSpPr>
        <p:spPr bwMode="auto">
          <a:xfrm flipV="1">
            <a:off x="1628775" y="3860800"/>
            <a:ext cx="574675" cy="836613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6273" name="AutoShape 17">
            <a:extLst>
              <a:ext uri="{FF2B5EF4-FFF2-40B4-BE49-F238E27FC236}">
                <a16:creationId xmlns:a16="http://schemas.microsoft.com/office/drawing/2014/main" id="{1A9FF54E-07EC-4F95-92CA-C292E51A80AE}"/>
              </a:ext>
            </a:extLst>
          </p:cNvPr>
          <p:cNvCxnSpPr>
            <a:cxnSpLocks noChangeShapeType="1"/>
            <a:stCxn id="96268" idx="7"/>
            <a:endCxn id="96265" idx="3"/>
          </p:cNvCxnSpPr>
          <p:nvPr/>
        </p:nvCxnSpPr>
        <p:spPr bwMode="auto">
          <a:xfrm flipV="1">
            <a:off x="3902075" y="2873375"/>
            <a:ext cx="1012825" cy="77470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6274" name="AutoShape 18">
            <a:extLst>
              <a:ext uri="{FF2B5EF4-FFF2-40B4-BE49-F238E27FC236}">
                <a16:creationId xmlns:a16="http://schemas.microsoft.com/office/drawing/2014/main" id="{B82B24B4-D79B-43A0-9227-E43E7646AC8C}"/>
              </a:ext>
            </a:extLst>
          </p:cNvPr>
          <p:cNvCxnSpPr>
            <a:cxnSpLocks noChangeShapeType="1"/>
            <a:stCxn id="96267" idx="7"/>
            <a:endCxn id="96263" idx="3"/>
          </p:cNvCxnSpPr>
          <p:nvPr/>
        </p:nvCxnSpPr>
        <p:spPr bwMode="auto">
          <a:xfrm flipV="1">
            <a:off x="2416175" y="2871788"/>
            <a:ext cx="1273175" cy="776287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6275" name="Oval 19">
            <a:extLst>
              <a:ext uri="{FF2B5EF4-FFF2-40B4-BE49-F238E27FC236}">
                <a16:creationId xmlns:a16="http://schemas.microsoft.com/office/drawing/2014/main" id="{EE7A22A1-FFB8-4944-B05F-B61060DD0A9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90800" y="5181600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H</a:t>
            </a:r>
          </a:p>
        </p:txBody>
      </p:sp>
      <p:cxnSp>
        <p:nvCxnSpPr>
          <p:cNvPr id="96276" name="AutoShape 20">
            <a:extLst>
              <a:ext uri="{FF2B5EF4-FFF2-40B4-BE49-F238E27FC236}">
                <a16:creationId xmlns:a16="http://schemas.microsoft.com/office/drawing/2014/main" id="{31199D02-B287-4320-9B78-00796804AFA3}"/>
              </a:ext>
            </a:extLst>
          </p:cNvPr>
          <p:cNvCxnSpPr>
            <a:cxnSpLocks noChangeShapeType="1"/>
            <a:stCxn id="96275" idx="2"/>
            <a:endCxn id="96259" idx="5"/>
          </p:cNvCxnSpPr>
          <p:nvPr/>
        </p:nvCxnSpPr>
        <p:spPr bwMode="auto">
          <a:xfrm flipH="1" flipV="1">
            <a:off x="1628775" y="4910138"/>
            <a:ext cx="962025" cy="422275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6277" name="Rectangle 21">
            <a:extLst>
              <a:ext uri="{FF2B5EF4-FFF2-40B4-BE49-F238E27FC236}">
                <a16:creationId xmlns:a16="http://schemas.microsoft.com/office/drawing/2014/main" id="{CF67DF12-285D-4029-BA58-4906871D05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7625" y="5526088"/>
            <a:ext cx="2936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7</a:t>
            </a:r>
          </a:p>
        </p:txBody>
      </p:sp>
      <p:sp>
        <p:nvSpPr>
          <p:cNvPr id="96278" name="Rectangle 22">
            <a:extLst>
              <a:ext uri="{FF2B5EF4-FFF2-40B4-BE49-F238E27FC236}">
                <a16:creationId xmlns:a16="http://schemas.microsoft.com/office/drawing/2014/main" id="{A909B294-C0D8-4F63-A19B-16C81496AF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550" y="5013325"/>
            <a:ext cx="2936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96279" name="Rectangle 23">
            <a:extLst>
              <a:ext uri="{FF2B5EF4-FFF2-40B4-BE49-F238E27FC236}">
                <a16:creationId xmlns:a16="http://schemas.microsoft.com/office/drawing/2014/main" id="{BBFF0613-B2A8-4DAF-BF9C-AF1E4A765C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4713" y="3933825"/>
            <a:ext cx="2936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4</a:t>
            </a:r>
          </a:p>
        </p:txBody>
      </p:sp>
      <p:cxnSp>
        <p:nvCxnSpPr>
          <p:cNvPr id="96280" name="AutoShape 24">
            <a:extLst>
              <a:ext uri="{FF2B5EF4-FFF2-40B4-BE49-F238E27FC236}">
                <a16:creationId xmlns:a16="http://schemas.microsoft.com/office/drawing/2014/main" id="{F2EA23B6-D163-4F5E-A5FF-09812D7C1FA7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795713" y="2916238"/>
            <a:ext cx="0" cy="687387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6281" name="Rectangle 25">
            <a:extLst>
              <a:ext uri="{FF2B5EF4-FFF2-40B4-BE49-F238E27FC236}">
                <a16:creationId xmlns:a16="http://schemas.microsoft.com/office/drawing/2014/main" id="{5594BF70-AA2A-4D3A-B67D-CAA1E820D8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8550" y="3937000"/>
            <a:ext cx="2936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96282" name="Rectangle 26">
            <a:extLst>
              <a:ext uri="{FF2B5EF4-FFF2-40B4-BE49-F238E27FC236}">
                <a16:creationId xmlns:a16="http://schemas.microsoft.com/office/drawing/2014/main" id="{8415432C-FD7C-4336-B7FE-7B649B9C42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9225" y="2622550"/>
            <a:ext cx="2936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3</a:t>
            </a:r>
          </a:p>
        </p:txBody>
      </p:sp>
      <p:sp>
        <p:nvSpPr>
          <p:cNvPr id="96283" name="Rectangle 27">
            <a:extLst>
              <a:ext uri="{FF2B5EF4-FFF2-40B4-BE49-F238E27FC236}">
                <a16:creationId xmlns:a16="http://schemas.microsoft.com/office/drawing/2014/main" id="{AFDC9F2A-DDA7-4426-9711-2FFCB2408D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295400"/>
            <a:ext cx="184150" cy="38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20000"/>
              </a:lnSpc>
            </a:pPr>
            <a:endParaRPr lang="hi-IN" altLang="hi-IN" sz="1600" b="1">
              <a:latin typeface="Courier New" panose="02070309020205020404" pitchFamily="49" charset="0"/>
            </a:endParaRPr>
          </a:p>
        </p:txBody>
      </p:sp>
      <p:sp>
        <p:nvSpPr>
          <p:cNvPr id="96284" name="Rectangle 28">
            <a:extLst>
              <a:ext uri="{FF2B5EF4-FFF2-40B4-BE49-F238E27FC236}">
                <a16:creationId xmlns:a16="http://schemas.microsoft.com/office/drawing/2014/main" id="{516BC3CF-4777-45C6-A79D-FBA8C039C7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295400"/>
            <a:ext cx="915988" cy="38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hi-IN" sz="1600" b="1">
                <a:latin typeface="Courier New" panose="02070309020205020404" pitchFamily="49" charset="0"/>
              </a:rPr>
              <a:t>dfs(C)</a:t>
            </a:r>
          </a:p>
        </p:txBody>
      </p:sp>
      <p:cxnSp>
        <p:nvCxnSpPr>
          <p:cNvPr id="519198" name="AutoShape 30">
            <a:extLst>
              <a:ext uri="{FF2B5EF4-FFF2-40B4-BE49-F238E27FC236}">
                <a16:creationId xmlns:a16="http://schemas.microsoft.com/office/drawing/2014/main" id="{C91FD5B5-BCA8-4709-9987-5809F5DAC0DC}"/>
              </a:ext>
            </a:extLst>
          </p:cNvPr>
          <p:cNvCxnSpPr>
            <a:cxnSpLocks noChangeShapeType="1"/>
            <a:stCxn id="96259" idx="0"/>
            <a:endCxn id="96260" idx="4"/>
          </p:cNvCxnSpPr>
          <p:nvPr/>
        </p:nvCxnSpPr>
        <p:spPr bwMode="auto">
          <a:xfrm flipV="1">
            <a:off x="1522413" y="1370013"/>
            <a:ext cx="3175" cy="3282950"/>
          </a:xfrm>
          <a:prstGeom prst="straightConnector1">
            <a:avLst/>
          </a:prstGeom>
          <a:noFill/>
          <a:ln w="50800">
            <a:solidFill>
              <a:schemeClr val="accent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6286" name="Rectangle 32">
            <a:extLst>
              <a:ext uri="{FF2B5EF4-FFF2-40B4-BE49-F238E27FC236}">
                <a16:creationId xmlns:a16="http://schemas.microsoft.com/office/drawing/2014/main" id="{CD648A2B-B06C-4807-BFDB-3A0CE72F44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2713" y="2611438"/>
            <a:ext cx="2936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2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229E77-6FE9-4FCC-86D0-B02EF6359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131</a:t>
            </a:fld>
            <a:endParaRPr lang="en-US" altLang="hi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519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8C356B51-15B4-4203-9D00-247CC379CC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i-IN"/>
              <a:t>Topological Sort:  DFS</a:t>
            </a:r>
          </a:p>
        </p:txBody>
      </p:sp>
      <p:sp>
        <p:nvSpPr>
          <p:cNvPr id="97283" name="Oval 3">
            <a:extLst>
              <a:ext uri="{FF2B5EF4-FFF2-40B4-BE49-F238E27FC236}">
                <a16:creationId xmlns:a16="http://schemas.microsoft.com/office/drawing/2014/main" id="{570CAB71-1241-4FBF-A67A-EE02832EF7E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71600" y="4652963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97284" name="Oval 4">
            <a:extLst>
              <a:ext uri="{FF2B5EF4-FFF2-40B4-BE49-F238E27FC236}">
                <a16:creationId xmlns:a16="http://schemas.microsoft.com/office/drawing/2014/main" id="{8A05D2D5-0561-4909-9FEC-8BB91AFDD08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74775" y="1066800"/>
            <a:ext cx="301625" cy="30321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solidFill>
                  <a:schemeClr val="bg1"/>
                </a:solidFill>
                <a:latin typeface="Courier New" panose="02070309020205020404" pitchFamily="49" charset="0"/>
              </a:rPr>
              <a:t>C</a:t>
            </a:r>
          </a:p>
        </p:txBody>
      </p:sp>
      <p:sp>
        <p:nvSpPr>
          <p:cNvPr id="97285" name="Oval 5">
            <a:extLst>
              <a:ext uri="{FF2B5EF4-FFF2-40B4-BE49-F238E27FC236}">
                <a16:creationId xmlns:a16="http://schemas.microsoft.com/office/drawing/2014/main" id="{C6E27AF8-8BE5-4483-B89D-06A5E4B8745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59000" y="2616200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G</a:t>
            </a:r>
          </a:p>
        </p:txBody>
      </p:sp>
      <p:cxnSp>
        <p:nvCxnSpPr>
          <p:cNvPr id="97286" name="AutoShape 6">
            <a:extLst>
              <a:ext uri="{FF2B5EF4-FFF2-40B4-BE49-F238E27FC236}">
                <a16:creationId xmlns:a16="http://schemas.microsoft.com/office/drawing/2014/main" id="{8D54CE13-99E7-4464-B429-91888B348250}"/>
              </a:ext>
            </a:extLst>
          </p:cNvPr>
          <p:cNvCxnSpPr>
            <a:cxnSpLocks noChangeShapeType="1"/>
            <a:stCxn id="97283" idx="0"/>
            <a:endCxn id="97284" idx="4"/>
          </p:cNvCxnSpPr>
          <p:nvPr/>
        </p:nvCxnSpPr>
        <p:spPr bwMode="auto">
          <a:xfrm flipV="1">
            <a:off x="1522413" y="1370013"/>
            <a:ext cx="3175" cy="328295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7287" name="Oval 7">
            <a:extLst>
              <a:ext uri="{FF2B5EF4-FFF2-40B4-BE49-F238E27FC236}">
                <a16:creationId xmlns:a16="http://schemas.microsoft.com/office/drawing/2014/main" id="{144A9A51-245F-47A2-BECA-DB461044792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44900" y="2616200"/>
            <a:ext cx="301625" cy="300038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A</a:t>
            </a:r>
          </a:p>
        </p:txBody>
      </p:sp>
      <p:cxnSp>
        <p:nvCxnSpPr>
          <p:cNvPr id="97288" name="AutoShape 8">
            <a:extLst>
              <a:ext uri="{FF2B5EF4-FFF2-40B4-BE49-F238E27FC236}">
                <a16:creationId xmlns:a16="http://schemas.microsoft.com/office/drawing/2014/main" id="{40B1BC2C-2B1B-4AFA-AAB1-B902E2B60F61}"/>
              </a:ext>
            </a:extLst>
          </p:cNvPr>
          <p:cNvCxnSpPr>
            <a:cxnSpLocks noChangeShapeType="1"/>
            <a:stCxn id="97284" idx="5"/>
            <a:endCxn id="97287" idx="1"/>
          </p:cNvCxnSpPr>
          <p:nvPr/>
        </p:nvCxnSpPr>
        <p:spPr bwMode="auto">
          <a:xfrm>
            <a:off x="1631950" y="1325563"/>
            <a:ext cx="2057400" cy="1335087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7289" name="Oval 9">
            <a:extLst>
              <a:ext uri="{FF2B5EF4-FFF2-40B4-BE49-F238E27FC236}">
                <a16:creationId xmlns:a16="http://schemas.microsoft.com/office/drawing/2014/main" id="{31B82957-B004-4954-8E45-977EE7D48FA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70450" y="2616200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B</a:t>
            </a:r>
          </a:p>
        </p:txBody>
      </p:sp>
      <p:cxnSp>
        <p:nvCxnSpPr>
          <p:cNvPr id="97290" name="AutoShape 10">
            <a:extLst>
              <a:ext uri="{FF2B5EF4-FFF2-40B4-BE49-F238E27FC236}">
                <a16:creationId xmlns:a16="http://schemas.microsoft.com/office/drawing/2014/main" id="{5A4ACFB5-266C-4A10-912F-DF03AFF06AC3}"/>
              </a:ext>
            </a:extLst>
          </p:cNvPr>
          <p:cNvCxnSpPr>
            <a:cxnSpLocks noChangeShapeType="1"/>
            <a:stCxn id="97284" idx="6"/>
            <a:endCxn id="97289" idx="1"/>
          </p:cNvCxnSpPr>
          <p:nvPr/>
        </p:nvCxnSpPr>
        <p:spPr bwMode="auto">
          <a:xfrm>
            <a:off x="1676400" y="1219200"/>
            <a:ext cx="3238500" cy="144145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7291" name="Oval 11">
            <a:extLst>
              <a:ext uri="{FF2B5EF4-FFF2-40B4-BE49-F238E27FC236}">
                <a16:creationId xmlns:a16="http://schemas.microsoft.com/office/drawing/2014/main" id="{7523804A-F509-4D3D-AA3F-264CF14BA6F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59000" y="3603625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D</a:t>
            </a:r>
          </a:p>
        </p:txBody>
      </p:sp>
      <p:sp>
        <p:nvSpPr>
          <p:cNvPr id="97292" name="Oval 12">
            <a:extLst>
              <a:ext uri="{FF2B5EF4-FFF2-40B4-BE49-F238E27FC236}">
                <a16:creationId xmlns:a16="http://schemas.microsoft.com/office/drawing/2014/main" id="{2F9D7399-8669-46B5-8944-8611E7E88C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44900" y="3603625"/>
            <a:ext cx="301625" cy="29845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E</a:t>
            </a:r>
          </a:p>
        </p:txBody>
      </p:sp>
      <p:cxnSp>
        <p:nvCxnSpPr>
          <p:cNvPr id="97293" name="AutoShape 13">
            <a:extLst>
              <a:ext uri="{FF2B5EF4-FFF2-40B4-BE49-F238E27FC236}">
                <a16:creationId xmlns:a16="http://schemas.microsoft.com/office/drawing/2014/main" id="{1E8103B3-4D4D-45E4-9226-4235643FD6F5}"/>
              </a:ext>
            </a:extLst>
          </p:cNvPr>
          <p:cNvCxnSpPr>
            <a:cxnSpLocks noChangeShapeType="1"/>
            <a:stCxn id="97284" idx="4"/>
            <a:endCxn id="97285" idx="1"/>
          </p:cNvCxnSpPr>
          <p:nvPr/>
        </p:nvCxnSpPr>
        <p:spPr bwMode="auto">
          <a:xfrm>
            <a:off x="1525588" y="1370013"/>
            <a:ext cx="677862" cy="12906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7294" name="AutoShape 14">
            <a:extLst>
              <a:ext uri="{FF2B5EF4-FFF2-40B4-BE49-F238E27FC236}">
                <a16:creationId xmlns:a16="http://schemas.microsoft.com/office/drawing/2014/main" id="{7572A824-3A65-4C5D-BD87-91277C94B870}"/>
              </a:ext>
            </a:extLst>
          </p:cNvPr>
          <p:cNvCxnSpPr>
            <a:cxnSpLocks noChangeShapeType="1"/>
            <a:stCxn id="97292" idx="2"/>
            <a:endCxn id="97291" idx="6"/>
          </p:cNvCxnSpPr>
          <p:nvPr/>
        </p:nvCxnSpPr>
        <p:spPr bwMode="auto">
          <a:xfrm flipH="1">
            <a:off x="2460625" y="3752850"/>
            <a:ext cx="1184275" cy="1588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7295" name="AutoShape 15">
            <a:extLst>
              <a:ext uri="{FF2B5EF4-FFF2-40B4-BE49-F238E27FC236}">
                <a16:creationId xmlns:a16="http://schemas.microsoft.com/office/drawing/2014/main" id="{C4D8E47D-C533-4294-972A-D3BBD7E85961}"/>
              </a:ext>
            </a:extLst>
          </p:cNvPr>
          <p:cNvCxnSpPr>
            <a:cxnSpLocks noChangeShapeType="1"/>
            <a:stCxn id="97292" idx="3"/>
            <a:endCxn id="97283" idx="6"/>
          </p:cNvCxnSpPr>
          <p:nvPr/>
        </p:nvCxnSpPr>
        <p:spPr bwMode="auto">
          <a:xfrm flipH="1">
            <a:off x="1673225" y="3857625"/>
            <a:ext cx="2016125" cy="94615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7296" name="AutoShape 16">
            <a:extLst>
              <a:ext uri="{FF2B5EF4-FFF2-40B4-BE49-F238E27FC236}">
                <a16:creationId xmlns:a16="http://schemas.microsoft.com/office/drawing/2014/main" id="{28F31307-0EE5-4F43-B8ED-75269C340DA5}"/>
              </a:ext>
            </a:extLst>
          </p:cNvPr>
          <p:cNvCxnSpPr>
            <a:cxnSpLocks noChangeShapeType="1"/>
            <a:stCxn id="97283" idx="7"/>
            <a:endCxn id="97291" idx="3"/>
          </p:cNvCxnSpPr>
          <p:nvPr/>
        </p:nvCxnSpPr>
        <p:spPr bwMode="auto">
          <a:xfrm flipV="1">
            <a:off x="1628775" y="3860800"/>
            <a:ext cx="574675" cy="836613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7297" name="AutoShape 17">
            <a:extLst>
              <a:ext uri="{FF2B5EF4-FFF2-40B4-BE49-F238E27FC236}">
                <a16:creationId xmlns:a16="http://schemas.microsoft.com/office/drawing/2014/main" id="{7386294D-E849-4EA6-8A68-3BEB4EE975C6}"/>
              </a:ext>
            </a:extLst>
          </p:cNvPr>
          <p:cNvCxnSpPr>
            <a:cxnSpLocks noChangeShapeType="1"/>
            <a:stCxn id="97292" idx="7"/>
            <a:endCxn id="97289" idx="3"/>
          </p:cNvCxnSpPr>
          <p:nvPr/>
        </p:nvCxnSpPr>
        <p:spPr bwMode="auto">
          <a:xfrm flipV="1">
            <a:off x="3902075" y="2873375"/>
            <a:ext cx="1012825" cy="77470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7298" name="AutoShape 18">
            <a:extLst>
              <a:ext uri="{FF2B5EF4-FFF2-40B4-BE49-F238E27FC236}">
                <a16:creationId xmlns:a16="http://schemas.microsoft.com/office/drawing/2014/main" id="{5A4BA79E-5982-4501-9641-20849BBB53D1}"/>
              </a:ext>
            </a:extLst>
          </p:cNvPr>
          <p:cNvCxnSpPr>
            <a:cxnSpLocks noChangeShapeType="1"/>
            <a:stCxn id="97291" idx="7"/>
            <a:endCxn id="97287" idx="3"/>
          </p:cNvCxnSpPr>
          <p:nvPr/>
        </p:nvCxnSpPr>
        <p:spPr bwMode="auto">
          <a:xfrm flipV="1">
            <a:off x="2416175" y="2871788"/>
            <a:ext cx="1273175" cy="776287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7299" name="Oval 19">
            <a:extLst>
              <a:ext uri="{FF2B5EF4-FFF2-40B4-BE49-F238E27FC236}">
                <a16:creationId xmlns:a16="http://schemas.microsoft.com/office/drawing/2014/main" id="{293901BE-B26D-4002-9821-077E9015D97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90800" y="5181600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H</a:t>
            </a:r>
          </a:p>
        </p:txBody>
      </p:sp>
      <p:cxnSp>
        <p:nvCxnSpPr>
          <p:cNvPr id="97300" name="AutoShape 20">
            <a:extLst>
              <a:ext uri="{FF2B5EF4-FFF2-40B4-BE49-F238E27FC236}">
                <a16:creationId xmlns:a16="http://schemas.microsoft.com/office/drawing/2014/main" id="{419D49DA-0273-48D6-92CE-7E95BDB8FE2B}"/>
              </a:ext>
            </a:extLst>
          </p:cNvPr>
          <p:cNvCxnSpPr>
            <a:cxnSpLocks noChangeShapeType="1"/>
            <a:stCxn id="97299" idx="2"/>
            <a:endCxn id="97283" idx="5"/>
          </p:cNvCxnSpPr>
          <p:nvPr/>
        </p:nvCxnSpPr>
        <p:spPr bwMode="auto">
          <a:xfrm flipH="1" flipV="1">
            <a:off x="1628775" y="4910138"/>
            <a:ext cx="962025" cy="422275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7301" name="Rectangle 21">
            <a:extLst>
              <a:ext uri="{FF2B5EF4-FFF2-40B4-BE49-F238E27FC236}">
                <a16:creationId xmlns:a16="http://schemas.microsoft.com/office/drawing/2014/main" id="{61788A25-5D03-452A-A3AF-B6327A9700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7625" y="5526088"/>
            <a:ext cx="2936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7</a:t>
            </a:r>
          </a:p>
        </p:txBody>
      </p:sp>
      <p:sp>
        <p:nvSpPr>
          <p:cNvPr id="97302" name="Rectangle 22">
            <a:extLst>
              <a:ext uri="{FF2B5EF4-FFF2-40B4-BE49-F238E27FC236}">
                <a16:creationId xmlns:a16="http://schemas.microsoft.com/office/drawing/2014/main" id="{809CFC1E-C79D-43C0-98B9-D474DEAD09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550" y="5013325"/>
            <a:ext cx="2936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97303" name="Rectangle 23">
            <a:extLst>
              <a:ext uri="{FF2B5EF4-FFF2-40B4-BE49-F238E27FC236}">
                <a16:creationId xmlns:a16="http://schemas.microsoft.com/office/drawing/2014/main" id="{B1F7F93C-D6F6-44AB-B6BD-0F9AB38829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4713" y="3933825"/>
            <a:ext cx="2936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4</a:t>
            </a:r>
          </a:p>
        </p:txBody>
      </p:sp>
      <p:cxnSp>
        <p:nvCxnSpPr>
          <p:cNvPr id="97304" name="AutoShape 24">
            <a:extLst>
              <a:ext uri="{FF2B5EF4-FFF2-40B4-BE49-F238E27FC236}">
                <a16:creationId xmlns:a16="http://schemas.microsoft.com/office/drawing/2014/main" id="{239E7D4A-ADA2-4939-A0F5-F5CB64670BC3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795713" y="2916238"/>
            <a:ext cx="0" cy="687387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7305" name="Rectangle 25">
            <a:extLst>
              <a:ext uri="{FF2B5EF4-FFF2-40B4-BE49-F238E27FC236}">
                <a16:creationId xmlns:a16="http://schemas.microsoft.com/office/drawing/2014/main" id="{FA28498C-94EA-486D-9F95-7FC4207B48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8550" y="3937000"/>
            <a:ext cx="2936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97306" name="Rectangle 26">
            <a:extLst>
              <a:ext uri="{FF2B5EF4-FFF2-40B4-BE49-F238E27FC236}">
                <a16:creationId xmlns:a16="http://schemas.microsoft.com/office/drawing/2014/main" id="{534BEE19-3633-4432-AF6A-4940E740E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9225" y="2622550"/>
            <a:ext cx="2936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3</a:t>
            </a:r>
          </a:p>
        </p:txBody>
      </p:sp>
      <p:sp>
        <p:nvSpPr>
          <p:cNvPr id="97307" name="Rectangle 27">
            <a:extLst>
              <a:ext uri="{FF2B5EF4-FFF2-40B4-BE49-F238E27FC236}">
                <a16:creationId xmlns:a16="http://schemas.microsoft.com/office/drawing/2014/main" id="{3623894A-1838-4DF6-A18C-64D927BD12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295400"/>
            <a:ext cx="184150" cy="38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20000"/>
              </a:lnSpc>
            </a:pPr>
            <a:endParaRPr lang="hi-IN" altLang="hi-IN" sz="1600" b="1">
              <a:latin typeface="Courier New" panose="02070309020205020404" pitchFamily="49" charset="0"/>
            </a:endParaRPr>
          </a:p>
        </p:txBody>
      </p:sp>
      <p:sp>
        <p:nvSpPr>
          <p:cNvPr id="97308" name="Rectangle 28">
            <a:extLst>
              <a:ext uri="{FF2B5EF4-FFF2-40B4-BE49-F238E27FC236}">
                <a16:creationId xmlns:a16="http://schemas.microsoft.com/office/drawing/2014/main" id="{4ABD6D89-B3E3-4C40-99BC-7EBAFB42E0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295400"/>
            <a:ext cx="915988" cy="38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hi-IN" sz="1600" b="1">
                <a:latin typeface="Courier New" panose="02070309020205020404" pitchFamily="49" charset="0"/>
              </a:rPr>
              <a:t>dfs(C)</a:t>
            </a:r>
          </a:p>
        </p:txBody>
      </p:sp>
      <p:cxnSp>
        <p:nvCxnSpPr>
          <p:cNvPr id="521246" name="AutoShape 30">
            <a:extLst>
              <a:ext uri="{FF2B5EF4-FFF2-40B4-BE49-F238E27FC236}">
                <a16:creationId xmlns:a16="http://schemas.microsoft.com/office/drawing/2014/main" id="{0F34028F-8FC0-4A30-85C4-B75F36C27DE3}"/>
              </a:ext>
            </a:extLst>
          </p:cNvPr>
          <p:cNvCxnSpPr>
            <a:cxnSpLocks noChangeShapeType="1"/>
            <a:stCxn id="97285" idx="1"/>
            <a:endCxn id="97284" idx="4"/>
          </p:cNvCxnSpPr>
          <p:nvPr/>
        </p:nvCxnSpPr>
        <p:spPr bwMode="auto">
          <a:xfrm flipH="1" flipV="1">
            <a:off x="1525588" y="1370013"/>
            <a:ext cx="677862" cy="1290637"/>
          </a:xfrm>
          <a:prstGeom prst="straightConnector1">
            <a:avLst/>
          </a:prstGeom>
          <a:noFill/>
          <a:ln w="50800">
            <a:solidFill>
              <a:schemeClr val="accent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7310" name="Rectangle 31">
            <a:extLst>
              <a:ext uri="{FF2B5EF4-FFF2-40B4-BE49-F238E27FC236}">
                <a16:creationId xmlns:a16="http://schemas.microsoft.com/office/drawing/2014/main" id="{11B20710-FCB0-4B0F-A10B-2DFF664A52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2713" y="2611438"/>
            <a:ext cx="2936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2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E23BFB-D6F7-4815-9597-BB43BC1C9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132</a:t>
            </a:fld>
            <a:endParaRPr lang="en-US" altLang="hi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521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7A5D0843-A332-4387-B26B-1063073B57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i-IN"/>
              <a:t>Topological Sort:  DFS</a:t>
            </a:r>
          </a:p>
        </p:txBody>
      </p:sp>
      <p:sp>
        <p:nvSpPr>
          <p:cNvPr id="98307" name="Oval 3">
            <a:extLst>
              <a:ext uri="{FF2B5EF4-FFF2-40B4-BE49-F238E27FC236}">
                <a16:creationId xmlns:a16="http://schemas.microsoft.com/office/drawing/2014/main" id="{DC698AD2-BAA0-443B-B01D-7E451119D7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71600" y="4652963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98308" name="Oval 4">
            <a:extLst>
              <a:ext uri="{FF2B5EF4-FFF2-40B4-BE49-F238E27FC236}">
                <a16:creationId xmlns:a16="http://schemas.microsoft.com/office/drawing/2014/main" id="{D58DB0DE-55F4-4786-A561-CC179A9E1C6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74775" y="1066800"/>
            <a:ext cx="301625" cy="303213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solidFill>
                  <a:schemeClr val="bg1"/>
                </a:solidFill>
                <a:latin typeface="Courier New" panose="02070309020205020404" pitchFamily="49" charset="0"/>
              </a:rPr>
              <a:t>C</a:t>
            </a:r>
          </a:p>
        </p:txBody>
      </p:sp>
      <p:sp>
        <p:nvSpPr>
          <p:cNvPr id="98309" name="Oval 5">
            <a:extLst>
              <a:ext uri="{FF2B5EF4-FFF2-40B4-BE49-F238E27FC236}">
                <a16:creationId xmlns:a16="http://schemas.microsoft.com/office/drawing/2014/main" id="{05EF2FE0-7548-455D-8649-D1A994CBF90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59000" y="2616200"/>
            <a:ext cx="301625" cy="3016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solidFill>
                  <a:schemeClr val="bg1"/>
                </a:solidFill>
                <a:latin typeface="Courier New" panose="02070309020205020404" pitchFamily="49" charset="0"/>
              </a:rPr>
              <a:t>G</a:t>
            </a:r>
          </a:p>
        </p:txBody>
      </p:sp>
      <p:cxnSp>
        <p:nvCxnSpPr>
          <p:cNvPr id="98310" name="AutoShape 6">
            <a:extLst>
              <a:ext uri="{FF2B5EF4-FFF2-40B4-BE49-F238E27FC236}">
                <a16:creationId xmlns:a16="http://schemas.microsoft.com/office/drawing/2014/main" id="{9ABE7733-15B6-4702-B9B4-439993B1227F}"/>
              </a:ext>
            </a:extLst>
          </p:cNvPr>
          <p:cNvCxnSpPr>
            <a:cxnSpLocks noChangeShapeType="1"/>
            <a:stCxn id="98307" idx="0"/>
            <a:endCxn id="98308" idx="4"/>
          </p:cNvCxnSpPr>
          <p:nvPr/>
        </p:nvCxnSpPr>
        <p:spPr bwMode="auto">
          <a:xfrm flipV="1">
            <a:off x="1522413" y="1370013"/>
            <a:ext cx="3175" cy="328295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8311" name="Oval 7">
            <a:extLst>
              <a:ext uri="{FF2B5EF4-FFF2-40B4-BE49-F238E27FC236}">
                <a16:creationId xmlns:a16="http://schemas.microsoft.com/office/drawing/2014/main" id="{17C8ED36-3FCB-4494-A37D-B02556B945D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44900" y="2616200"/>
            <a:ext cx="301625" cy="300038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A</a:t>
            </a:r>
          </a:p>
        </p:txBody>
      </p:sp>
      <p:cxnSp>
        <p:nvCxnSpPr>
          <p:cNvPr id="98312" name="AutoShape 8">
            <a:extLst>
              <a:ext uri="{FF2B5EF4-FFF2-40B4-BE49-F238E27FC236}">
                <a16:creationId xmlns:a16="http://schemas.microsoft.com/office/drawing/2014/main" id="{B8380842-A893-4632-AE1F-29DC56BF5761}"/>
              </a:ext>
            </a:extLst>
          </p:cNvPr>
          <p:cNvCxnSpPr>
            <a:cxnSpLocks noChangeShapeType="1"/>
            <a:stCxn id="98308" idx="5"/>
            <a:endCxn id="98311" idx="1"/>
          </p:cNvCxnSpPr>
          <p:nvPr/>
        </p:nvCxnSpPr>
        <p:spPr bwMode="auto">
          <a:xfrm>
            <a:off x="1631950" y="1325563"/>
            <a:ext cx="2057400" cy="1335087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8313" name="Oval 9">
            <a:extLst>
              <a:ext uri="{FF2B5EF4-FFF2-40B4-BE49-F238E27FC236}">
                <a16:creationId xmlns:a16="http://schemas.microsoft.com/office/drawing/2014/main" id="{3FAE2B35-D238-406E-9993-6ABF5D9BC8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70450" y="2616200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B</a:t>
            </a:r>
          </a:p>
        </p:txBody>
      </p:sp>
      <p:cxnSp>
        <p:nvCxnSpPr>
          <p:cNvPr id="98314" name="AutoShape 10">
            <a:extLst>
              <a:ext uri="{FF2B5EF4-FFF2-40B4-BE49-F238E27FC236}">
                <a16:creationId xmlns:a16="http://schemas.microsoft.com/office/drawing/2014/main" id="{D5AFF87A-BE2F-4FFF-909F-4861D0E686E8}"/>
              </a:ext>
            </a:extLst>
          </p:cNvPr>
          <p:cNvCxnSpPr>
            <a:cxnSpLocks noChangeShapeType="1"/>
            <a:stCxn id="98308" idx="6"/>
            <a:endCxn id="98313" idx="1"/>
          </p:cNvCxnSpPr>
          <p:nvPr/>
        </p:nvCxnSpPr>
        <p:spPr bwMode="auto">
          <a:xfrm>
            <a:off x="1676400" y="1219200"/>
            <a:ext cx="3238500" cy="144145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8315" name="Oval 11">
            <a:extLst>
              <a:ext uri="{FF2B5EF4-FFF2-40B4-BE49-F238E27FC236}">
                <a16:creationId xmlns:a16="http://schemas.microsoft.com/office/drawing/2014/main" id="{4CD64920-A1E1-47AD-898D-E27EE03AFAD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59000" y="3603625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D</a:t>
            </a:r>
          </a:p>
        </p:txBody>
      </p:sp>
      <p:sp>
        <p:nvSpPr>
          <p:cNvPr id="98316" name="Oval 12">
            <a:extLst>
              <a:ext uri="{FF2B5EF4-FFF2-40B4-BE49-F238E27FC236}">
                <a16:creationId xmlns:a16="http://schemas.microsoft.com/office/drawing/2014/main" id="{85B5E910-F6CA-424C-8DE0-AFD8C7AFF23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44900" y="3603625"/>
            <a:ext cx="301625" cy="29845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E</a:t>
            </a:r>
          </a:p>
        </p:txBody>
      </p:sp>
      <p:cxnSp>
        <p:nvCxnSpPr>
          <p:cNvPr id="98317" name="AutoShape 13">
            <a:extLst>
              <a:ext uri="{FF2B5EF4-FFF2-40B4-BE49-F238E27FC236}">
                <a16:creationId xmlns:a16="http://schemas.microsoft.com/office/drawing/2014/main" id="{A1F70D31-3F9A-4005-B523-EEF1F468E895}"/>
              </a:ext>
            </a:extLst>
          </p:cNvPr>
          <p:cNvCxnSpPr>
            <a:cxnSpLocks noChangeShapeType="1"/>
            <a:stCxn id="98308" idx="4"/>
            <a:endCxn id="98309" idx="1"/>
          </p:cNvCxnSpPr>
          <p:nvPr/>
        </p:nvCxnSpPr>
        <p:spPr bwMode="auto">
          <a:xfrm>
            <a:off x="1525588" y="1370013"/>
            <a:ext cx="677862" cy="1290637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8318" name="AutoShape 14">
            <a:extLst>
              <a:ext uri="{FF2B5EF4-FFF2-40B4-BE49-F238E27FC236}">
                <a16:creationId xmlns:a16="http://schemas.microsoft.com/office/drawing/2014/main" id="{F261912C-67F6-4BCB-9090-DDB250D247EF}"/>
              </a:ext>
            </a:extLst>
          </p:cNvPr>
          <p:cNvCxnSpPr>
            <a:cxnSpLocks noChangeShapeType="1"/>
            <a:stCxn id="98316" idx="2"/>
            <a:endCxn id="98315" idx="6"/>
          </p:cNvCxnSpPr>
          <p:nvPr/>
        </p:nvCxnSpPr>
        <p:spPr bwMode="auto">
          <a:xfrm flipH="1">
            <a:off x="2460625" y="3752850"/>
            <a:ext cx="1184275" cy="1588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8319" name="AutoShape 15">
            <a:extLst>
              <a:ext uri="{FF2B5EF4-FFF2-40B4-BE49-F238E27FC236}">
                <a16:creationId xmlns:a16="http://schemas.microsoft.com/office/drawing/2014/main" id="{1372DC49-B238-4363-B2EE-278B9B18C36E}"/>
              </a:ext>
            </a:extLst>
          </p:cNvPr>
          <p:cNvCxnSpPr>
            <a:cxnSpLocks noChangeShapeType="1"/>
            <a:stCxn id="98316" idx="3"/>
            <a:endCxn id="98307" idx="6"/>
          </p:cNvCxnSpPr>
          <p:nvPr/>
        </p:nvCxnSpPr>
        <p:spPr bwMode="auto">
          <a:xfrm flipH="1">
            <a:off x="1673225" y="3857625"/>
            <a:ext cx="2016125" cy="94615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8320" name="AutoShape 16">
            <a:extLst>
              <a:ext uri="{FF2B5EF4-FFF2-40B4-BE49-F238E27FC236}">
                <a16:creationId xmlns:a16="http://schemas.microsoft.com/office/drawing/2014/main" id="{E4415B00-7EA9-404E-9F82-C2F6F5B39C87}"/>
              </a:ext>
            </a:extLst>
          </p:cNvPr>
          <p:cNvCxnSpPr>
            <a:cxnSpLocks noChangeShapeType="1"/>
            <a:stCxn id="98307" idx="7"/>
            <a:endCxn id="98315" idx="3"/>
          </p:cNvCxnSpPr>
          <p:nvPr/>
        </p:nvCxnSpPr>
        <p:spPr bwMode="auto">
          <a:xfrm flipV="1">
            <a:off x="1628775" y="3860800"/>
            <a:ext cx="574675" cy="836613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8321" name="AutoShape 17">
            <a:extLst>
              <a:ext uri="{FF2B5EF4-FFF2-40B4-BE49-F238E27FC236}">
                <a16:creationId xmlns:a16="http://schemas.microsoft.com/office/drawing/2014/main" id="{1927E301-7ACE-4DF2-8A16-9C2B44551047}"/>
              </a:ext>
            </a:extLst>
          </p:cNvPr>
          <p:cNvCxnSpPr>
            <a:cxnSpLocks noChangeShapeType="1"/>
            <a:stCxn id="98316" idx="7"/>
            <a:endCxn id="98313" idx="3"/>
          </p:cNvCxnSpPr>
          <p:nvPr/>
        </p:nvCxnSpPr>
        <p:spPr bwMode="auto">
          <a:xfrm flipV="1">
            <a:off x="3902075" y="2873375"/>
            <a:ext cx="1012825" cy="77470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8322" name="AutoShape 18">
            <a:extLst>
              <a:ext uri="{FF2B5EF4-FFF2-40B4-BE49-F238E27FC236}">
                <a16:creationId xmlns:a16="http://schemas.microsoft.com/office/drawing/2014/main" id="{267076EA-EEEF-4801-92DA-A4A2BE805205}"/>
              </a:ext>
            </a:extLst>
          </p:cNvPr>
          <p:cNvCxnSpPr>
            <a:cxnSpLocks noChangeShapeType="1"/>
            <a:stCxn id="98315" idx="7"/>
            <a:endCxn id="98311" idx="3"/>
          </p:cNvCxnSpPr>
          <p:nvPr/>
        </p:nvCxnSpPr>
        <p:spPr bwMode="auto">
          <a:xfrm flipV="1">
            <a:off x="2416175" y="2871788"/>
            <a:ext cx="1273175" cy="776287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8323" name="Oval 19">
            <a:extLst>
              <a:ext uri="{FF2B5EF4-FFF2-40B4-BE49-F238E27FC236}">
                <a16:creationId xmlns:a16="http://schemas.microsoft.com/office/drawing/2014/main" id="{B93C631F-FF86-444C-AED0-26BB55E5DF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90800" y="5181600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H</a:t>
            </a:r>
          </a:p>
        </p:txBody>
      </p:sp>
      <p:cxnSp>
        <p:nvCxnSpPr>
          <p:cNvPr id="98324" name="AutoShape 20">
            <a:extLst>
              <a:ext uri="{FF2B5EF4-FFF2-40B4-BE49-F238E27FC236}">
                <a16:creationId xmlns:a16="http://schemas.microsoft.com/office/drawing/2014/main" id="{A34CF00D-C752-40EE-B035-39329536DD2B}"/>
              </a:ext>
            </a:extLst>
          </p:cNvPr>
          <p:cNvCxnSpPr>
            <a:cxnSpLocks noChangeShapeType="1"/>
            <a:stCxn id="98323" idx="2"/>
            <a:endCxn id="98307" idx="5"/>
          </p:cNvCxnSpPr>
          <p:nvPr/>
        </p:nvCxnSpPr>
        <p:spPr bwMode="auto">
          <a:xfrm flipH="1" flipV="1">
            <a:off x="1628775" y="4910138"/>
            <a:ext cx="962025" cy="422275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8325" name="Rectangle 21">
            <a:extLst>
              <a:ext uri="{FF2B5EF4-FFF2-40B4-BE49-F238E27FC236}">
                <a16:creationId xmlns:a16="http://schemas.microsoft.com/office/drawing/2014/main" id="{AED7BE85-3FD7-48A1-8168-136E79A553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7625" y="5526088"/>
            <a:ext cx="2936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7</a:t>
            </a:r>
          </a:p>
        </p:txBody>
      </p:sp>
      <p:sp>
        <p:nvSpPr>
          <p:cNvPr id="98326" name="Rectangle 22">
            <a:extLst>
              <a:ext uri="{FF2B5EF4-FFF2-40B4-BE49-F238E27FC236}">
                <a16:creationId xmlns:a16="http://schemas.microsoft.com/office/drawing/2014/main" id="{B1B2D40C-50C1-4FF7-A820-A073FC2261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550" y="5013325"/>
            <a:ext cx="2936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98327" name="Rectangle 23">
            <a:extLst>
              <a:ext uri="{FF2B5EF4-FFF2-40B4-BE49-F238E27FC236}">
                <a16:creationId xmlns:a16="http://schemas.microsoft.com/office/drawing/2014/main" id="{0FC2BA3E-9095-4C87-897D-A89AA54477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4713" y="3933825"/>
            <a:ext cx="2936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4</a:t>
            </a:r>
          </a:p>
        </p:txBody>
      </p:sp>
      <p:cxnSp>
        <p:nvCxnSpPr>
          <p:cNvPr id="98328" name="AutoShape 24">
            <a:extLst>
              <a:ext uri="{FF2B5EF4-FFF2-40B4-BE49-F238E27FC236}">
                <a16:creationId xmlns:a16="http://schemas.microsoft.com/office/drawing/2014/main" id="{0FEE46A3-E5BD-470D-A6A3-04143047C50F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795713" y="2916238"/>
            <a:ext cx="0" cy="687387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8329" name="Rectangle 25">
            <a:extLst>
              <a:ext uri="{FF2B5EF4-FFF2-40B4-BE49-F238E27FC236}">
                <a16:creationId xmlns:a16="http://schemas.microsoft.com/office/drawing/2014/main" id="{38CD9A3E-CC78-4C4A-8DD8-66F537B5FF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8550" y="3937000"/>
            <a:ext cx="2936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98330" name="Rectangle 26">
            <a:extLst>
              <a:ext uri="{FF2B5EF4-FFF2-40B4-BE49-F238E27FC236}">
                <a16:creationId xmlns:a16="http://schemas.microsoft.com/office/drawing/2014/main" id="{6C1CC15B-BE43-4D31-B6C6-D3FB63DD96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9225" y="2622550"/>
            <a:ext cx="2936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3</a:t>
            </a:r>
          </a:p>
        </p:txBody>
      </p:sp>
      <p:sp>
        <p:nvSpPr>
          <p:cNvPr id="98331" name="Rectangle 27">
            <a:extLst>
              <a:ext uri="{FF2B5EF4-FFF2-40B4-BE49-F238E27FC236}">
                <a16:creationId xmlns:a16="http://schemas.microsoft.com/office/drawing/2014/main" id="{559B2B77-DA17-4764-8CC9-2245ACC82D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295400"/>
            <a:ext cx="184150" cy="38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20000"/>
              </a:lnSpc>
            </a:pPr>
            <a:endParaRPr lang="hi-IN" altLang="hi-IN" sz="1600" b="1">
              <a:latin typeface="Courier New" panose="02070309020205020404" pitchFamily="49" charset="0"/>
            </a:endParaRPr>
          </a:p>
        </p:txBody>
      </p:sp>
      <p:sp>
        <p:nvSpPr>
          <p:cNvPr id="98332" name="Rectangle 29">
            <a:extLst>
              <a:ext uri="{FF2B5EF4-FFF2-40B4-BE49-F238E27FC236}">
                <a16:creationId xmlns:a16="http://schemas.microsoft.com/office/drawing/2014/main" id="{AEFFEC51-AAD0-4D53-B905-AECB2C2C5A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295400"/>
            <a:ext cx="1160463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hi-IN" sz="1600" b="1">
                <a:latin typeface="Courier New" panose="02070309020205020404" pitchFamily="49" charset="0"/>
              </a:rPr>
              <a:t>dfs(C)</a:t>
            </a:r>
          </a:p>
          <a:p>
            <a:pPr>
              <a:lnSpc>
                <a:spcPct val="120000"/>
              </a:lnSpc>
            </a:pPr>
            <a:r>
              <a:rPr lang="en-US" altLang="hi-IN" sz="1600" b="1">
                <a:latin typeface="Courier New" panose="02070309020205020404" pitchFamily="49" charset="0"/>
              </a:rPr>
              <a:t>  dfs(G)</a:t>
            </a:r>
          </a:p>
        </p:txBody>
      </p:sp>
      <p:sp>
        <p:nvSpPr>
          <p:cNvPr id="98333" name="Rectangle 34">
            <a:extLst>
              <a:ext uri="{FF2B5EF4-FFF2-40B4-BE49-F238E27FC236}">
                <a16:creationId xmlns:a16="http://schemas.microsoft.com/office/drawing/2014/main" id="{65917913-B1EE-4220-B416-E6CD136E62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2713" y="2611438"/>
            <a:ext cx="2936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2</a:t>
            </a:r>
          </a:p>
        </p:txBody>
      </p:sp>
      <p:cxnSp>
        <p:nvCxnSpPr>
          <p:cNvPr id="98334" name="AutoShape 35">
            <a:extLst>
              <a:ext uri="{FF2B5EF4-FFF2-40B4-BE49-F238E27FC236}">
                <a16:creationId xmlns:a16="http://schemas.microsoft.com/office/drawing/2014/main" id="{99E4F068-66B5-439E-B388-A4B0C57361AA}"/>
              </a:ext>
            </a:extLst>
          </p:cNvPr>
          <p:cNvCxnSpPr>
            <a:cxnSpLocks noChangeShapeType="1"/>
            <a:stCxn id="98309" idx="1"/>
            <a:endCxn id="98308" idx="4"/>
          </p:cNvCxnSpPr>
          <p:nvPr/>
        </p:nvCxnSpPr>
        <p:spPr bwMode="auto">
          <a:xfrm flipH="1" flipV="1">
            <a:off x="1525588" y="1370013"/>
            <a:ext cx="677862" cy="1290637"/>
          </a:xfrm>
          <a:prstGeom prst="straightConnector1">
            <a:avLst/>
          </a:prstGeom>
          <a:noFill/>
          <a:ln w="50800">
            <a:solidFill>
              <a:schemeClr val="accent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20EB04-DFF5-4068-A2D3-70203EDD1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133</a:t>
            </a:fld>
            <a:endParaRPr lang="en-US" altLang="hi-IN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>
            <a:extLst>
              <a:ext uri="{FF2B5EF4-FFF2-40B4-BE49-F238E27FC236}">
                <a16:creationId xmlns:a16="http://schemas.microsoft.com/office/drawing/2014/main" id="{BCFF5029-CBE8-4157-A72F-5C0A9A2F50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i-IN"/>
              <a:t>Topological Sort:  DFS</a:t>
            </a:r>
          </a:p>
        </p:txBody>
      </p:sp>
      <p:sp>
        <p:nvSpPr>
          <p:cNvPr id="99331" name="Oval 3">
            <a:extLst>
              <a:ext uri="{FF2B5EF4-FFF2-40B4-BE49-F238E27FC236}">
                <a16:creationId xmlns:a16="http://schemas.microsoft.com/office/drawing/2014/main" id="{7F8CA04F-746B-436F-94BA-4FC8573DE73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71600" y="4652963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99332" name="Oval 4">
            <a:extLst>
              <a:ext uri="{FF2B5EF4-FFF2-40B4-BE49-F238E27FC236}">
                <a16:creationId xmlns:a16="http://schemas.microsoft.com/office/drawing/2014/main" id="{F1A8FDD0-16D3-47C2-8990-79ECCEEBAF8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74775" y="1066800"/>
            <a:ext cx="301625" cy="30321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solidFill>
                  <a:schemeClr val="bg1"/>
                </a:solidFill>
                <a:latin typeface="Courier New" panose="02070309020205020404" pitchFamily="49" charset="0"/>
              </a:rPr>
              <a:t>C</a:t>
            </a:r>
          </a:p>
        </p:txBody>
      </p:sp>
      <p:sp>
        <p:nvSpPr>
          <p:cNvPr id="99333" name="Oval 5">
            <a:extLst>
              <a:ext uri="{FF2B5EF4-FFF2-40B4-BE49-F238E27FC236}">
                <a16:creationId xmlns:a16="http://schemas.microsoft.com/office/drawing/2014/main" id="{0AE73BF9-A63B-47C4-8B2D-3200B4459D5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59000" y="2616200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G</a:t>
            </a:r>
          </a:p>
        </p:txBody>
      </p:sp>
      <p:cxnSp>
        <p:nvCxnSpPr>
          <p:cNvPr id="99334" name="AutoShape 6">
            <a:extLst>
              <a:ext uri="{FF2B5EF4-FFF2-40B4-BE49-F238E27FC236}">
                <a16:creationId xmlns:a16="http://schemas.microsoft.com/office/drawing/2014/main" id="{093F1293-503B-486D-9B64-5093711927EF}"/>
              </a:ext>
            </a:extLst>
          </p:cNvPr>
          <p:cNvCxnSpPr>
            <a:cxnSpLocks noChangeShapeType="1"/>
            <a:stCxn id="99331" idx="0"/>
            <a:endCxn id="99332" idx="4"/>
          </p:cNvCxnSpPr>
          <p:nvPr/>
        </p:nvCxnSpPr>
        <p:spPr bwMode="auto">
          <a:xfrm flipV="1">
            <a:off x="1522413" y="1370013"/>
            <a:ext cx="3175" cy="328295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9335" name="Oval 7">
            <a:extLst>
              <a:ext uri="{FF2B5EF4-FFF2-40B4-BE49-F238E27FC236}">
                <a16:creationId xmlns:a16="http://schemas.microsoft.com/office/drawing/2014/main" id="{7276C7A2-7CE9-4D6F-A7F8-0B5BE814E9D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44900" y="2616200"/>
            <a:ext cx="301625" cy="300038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A</a:t>
            </a:r>
          </a:p>
        </p:txBody>
      </p:sp>
      <p:cxnSp>
        <p:nvCxnSpPr>
          <p:cNvPr id="99336" name="AutoShape 8">
            <a:extLst>
              <a:ext uri="{FF2B5EF4-FFF2-40B4-BE49-F238E27FC236}">
                <a16:creationId xmlns:a16="http://schemas.microsoft.com/office/drawing/2014/main" id="{4A271BC1-9C29-41FF-A151-CBB4402D2358}"/>
              </a:ext>
            </a:extLst>
          </p:cNvPr>
          <p:cNvCxnSpPr>
            <a:cxnSpLocks noChangeShapeType="1"/>
            <a:stCxn id="99332" idx="5"/>
            <a:endCxn id="99335" idx="1"/>
          </p:cNvCxnSpPr>
          <p:nvPr/>
        </p:nvCxnSpPr>
        <p:spPr bwMode="auto">
          <a:xfrm>
            <a:off x="1631950" y="1325563"/>
            <a:ext cx="2057400" cy="1335087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9337" name="Oval 9">
            <a:extLst>
              <a:ext uri="{FF2B5EF4-FFF2-40B4-BE49-F238E27FC236}">
                <a16:creationId xmlns:a16="http://schemas.microsoft.com/office/drawing/2014/main" id="{C35C53E6-63C2-4B7A-8784-2A0B5E50FC4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70450" y="2616200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B</a:t>
            </a:r>
          </a:p>
        </p:txBody>
      </p:sp>
      <p:cxnSp>
        <p:nvCxnSpPr>
          <p:cNvPr id="99338" name="AutoShape 10">
            <a:extLst>
              <a:ext uri="{FF2B5EF4-FFF2-40B4-BE49-F238E27FC236}">
                <a16:creationId xmlns:a16="http://schemas.microsoft.com/office/drawing/2014/main" id="{427C562A-DEBE-4B43-A0FD-D0348DCB1699}"/>
              </a:ext>
            </a:extLst>
          </p:cNvPr>
          <p:cNvCxnSpPr>
            <a:cxnSpLocks noChangeShapeType="1"/>
            <a:stCxn id="99332" idx="6"/>
            <a:endCxn id="99337" idx="1"/>
          </p:cNvCxnSpPr>
          <p:nvPr/>
        </p:nvCxnSpPr>
        <p:spPr bwMode="auto">
          <a:xfrm>
            <a:off x="1676400" y="1219200"/>
            <a:ext cx="3238500" cy="144145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9339" name="Oval 11">
            <a:extLst>
              <a:ext uri="{FF2B5EF4-FFF2-40B4-BE49-F238E27FC236}">
                <a16:creationId xmlns:a16="http://schemas.microsoft.com/office/drawing/2014/main" id="{15F321CE-D30B-4C03-872D-15C0E4FFD3F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59000" y="3603625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D</a:t>
            </a:r>
          </a:p>
        </p:txBody>
      </p:sp>
      <p:sp>
        <p:nvSpPr>
          <p:cNvPr id="99340" name="Oval 12">
            <a:extLst>
              <a:ext uri="{FF2B5EF4-FFF2-40B4-BE49-F238E27FC236}">
                <a16:creationId xmlns:a16="http://schemas.microsoft.com/office/drawing/2014/main" id="{EA79D7E0-7AF2-4FF3-A58C-1ECFD66512C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44900" y="3603625"/>
            <a:ext cx="301625" cy="29845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E</a:t>
            </a:r>
          </a:p>
        </p:txBody>
      </p:sp>
      <p:cxnSp>
        <p:nvCxnSpPr>
          <p:cNvPr id="99341" name="AutoShape 13">
            <a:extLst>
              <a:ext uri="{FF2B5EF4-FFF2-40B4-BE49-F238E27FC236}">
                <a16:creationId xmlns:a16="http://schemas.microsoft.com/office/drawing/2014/main" id="{D0D0FDA4-F9FF-4E15-83EE-DF4E415E523A}"/>
              </a:ext>
            </a:extLst>
          </p:cNvPr>
          <p:cNvCxnSpPr>
            <a:cxnSpLocks noChangeShapeType="1"/>
            <a:stCxn id="99332" idx="4"/>
            <a:endCxn id="99333" idx="1"/>
          </p:cNvCxnSpPr>
          <p:nvPr/>
        </p:nvCxnSpPr>
        <p:spPr bwMode="auto">
          <a:xfrm>
            <a:off x="1525588" y="1370013"/>
            <a:ext cx="677862" cy="1290637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9342" name="AutoShape 14">
            <a:extLst>
              <a:ext uri="{FF2B5EF4-FFF2-40B4-BE49-F238E27FC236}">
                <a16:creationId xmlns:a16="http://schemas.microsoft.com/office/drawing/2014/main" id="{70005D51-B1AB-474A-9D20-0EDDAF420026}"/>
              </a:ext>
            </a:extLst>
          </p:cNvPr>
          <p:cNvCxnSpPr>
            <a:cxnSpLocks noChangeShapeType="1"/>
            <a:stCxn id="99340" idx="2"/>
            <a:endCxn id="99339" idx="6"/>
          </p:cNvCxnSpPr>
          <p:nvPr/>
        </p:nvCxnSpPr>
        <p:spPr bwMode="auto">
          <a:xfrm flipH="1">
            <a:off x="2460625" y="3752850"/>
            <a:ext cx="1184275" cy="1588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9343" name="AutoShape 15">
            <a:extLst>
              <a:ext uri="{FF2B5EF4-FFF2-40B4-BE49-F238E27FC236}">
                <a16:creationId xmlns:a16="http://schemas.microsoft.com/office/drawing/2014/main" id="{70FF2D0A-38FC-43F9-82EB-86D1DCAD5CF5}"/>
              </a:ext>
            </a:extLst>
          </p:cNvPr>
          <p:cNvCxnSpPr>
            <a:cxnSpLocks noChangeShapeType="1"/>
            <a:stCxn id="99340" idx="3"/>
            <a:endCxn id="99331" idx="6"/>
          </p:cNvCxnSpPr>
          <p:nvPr/>
        </p:nvCxnSpPr>
        <p:spPr bwMode="auto">
          <a:xfrm flipH="1">
            <a:off x="1673225" y="3857625"/>
            <a:ext cx="2016125" cy="94615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9344" name="AutoShape 16">
            <a:extLst>
              <a:ext uri="{FF2B5EF4-FFF2-40B4-BE49-F238E27FC236}">
                <a16:creationId xmlns:a16="http://schemas.microsoft.com/office/drawing/2014/main" id="{A793F3AE-25BB-4DC6-B46F-958ECF8928AD}"/>
              </a:ext>
            </a:extLst>
          </p:cNvPr>
          <p:cNvCxnSpPr>
            <a:cxnSpLocks noChangeShapeType="1"/>
            <a:stCxn id="99331" idx="7"/>
            <a:endCxn id="99339" idx="3"/>
          </p:cNvCxnSpPr>
          <p:nvPr/>
        </p:nvCxnSpPr>
        <p:spPr bwMode="auto">
          <a:xfrm flipV="1">
            <a:off x="1628775" y="3860800"/>
            <a:ext cx="574675" cy="836613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9345" name="AutoShape 17">
            <a:extLst>
              <a:ext uri="{FF2B5EF4-FFF2-40B4-BE49-F238E27FC236}">
                <a16:creationId xmlns:a16="http://schemas.microsoft.com/office/drawing/2014/main" id="{5A417C21-B05C-4464-AB63-1C755E6AA3A3}"/>
              </a:ext>
            </a:extLst>
          </p:cNvPr>
          <p:cNvCxnSpPr>
            <a:cxnSpLocks noChangeShapeType="1"/>
            <a:stCxn id="99340" idx="7"/>
            <a:endCxn id="99337" idx="3"/>
          </p:cNvCxnSpPr>
          <p:nvPr/>
        </p:nvCxnSpPr>
        <p:spPr bwMode="auto">
          <a:xfrm flipV="1">
            <a:off x="3902075" y="2873375"/>
            <a:ext cx="1012825" cy="77470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9346" name="AutoShape 18">
            <a:extLst>
              <a:ext uri="{FF2B5EF4-FFF2-40B4-BE49-F238E27FC236}">
                <a16:creationId xmlns:a16="http://schemas.microsoft.com/office/drawing/2014/main" id="{4F324BB4-2E5A-4AEE-B758-ACF63089FB3D}"/>
              </a:ext>
            </a:extLst>
          </p:cNvPr>
          <p:cNvCxnSpPr>
            <a:cxnSpLocks noChangeShapeType="1"/>
            <a:stCxn id="99339" idx="7"/>
            <a:endCxn id="99335" idx="3"/>
          </p:cNvCxnSpPr>
          <p:nvPr/>
        </p:nvCxnSpPr>
        <p:spPr bwMode="auto">
          <a:xfrm flipV="1">
            <a:off x="2416175" y="2871788"/>
            <a:ext cx="1273175" cy="776287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9347" name="Oval 19">
            <a:extLst>
              <a:ext uri="{FF2B5EF4-FFF2-40B4-BE49-F238E27FC236}">
                <a16:creationId xmlns:a16="http://schemas.microsoft.com/office/drawing/2014/main" id="{351B624F-A38B-4EFF-8B71-BFE266E323F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90800" y="5181600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H</a:t>
            </a:r>
          </a:p>
        </p:txBody>
      </p:sp>
      <p:cxnSp>
        <p:nvCxnSpPr>
          <p:cNvPr id="99348" name="AutoShape 20">
            <a:extLst>
              <a:ext uri="{FF2B5EF4-FFF2-40B4-BE49-F238E27FC236}">
                <a16:creationId xmlns:a16="http://schemas.microsoft.com/office/drawing/2014/main" id="{D1CE3E69-3617-40A0-827F-3D0155342DDD}"/>
              </a:ext>
            </a:extLst>
          </p:cNvPr>
          <p:cNvCxnSpPr>
            <a:cxnSpLocks noChangeShapeType="1"/>
            <a:stCxn id="99347" idx="2"/>
            <a:endCxn id="99331" idx="5"/>
          </p:cNvCxnSpPr>
          <p:nvPr/>
        </p:nvCxnSpPr>
        <p:spPr bwMode="auto">
          <a:xfrm flipH="1" flipV="1">
            <a:off x="1628775" y="4910138"/>
            <a:ext cx="962025" cy="422275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9349" name="Rectangle 21">
            <a:extLst>
              <a:ext uri="{FF2B5EF4-FFF2-40B4-BE49-F238E27FC236}">
                <a16:creationId xmlns:a16="http://schemas.microsoft.com/office/drawing/2014/main" id="{64C191AC-0AC2-4ADB-814C-AB0C874436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7625" y="5526088"/>
            <a:ext cx="2936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7</a:t>
            </a:r>
          </a:p>
        </p:txBody>
      </p:sp>
      <p:sp>
        <p:nvSpPr>
          <p:cNvPr id="99350" name="Rectangle 22">
            <a:extLst>
              <a:ext uri="{FF2B5EF4-FFF2-40B4-BE49-F238E27FC236}">
                <a16:creationId xmlns:a16="http://schemas.microsoft.com/office/drawing/2014/main" id="{841AA5F0-79CC-4984-9F15-F41F9C4839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550" y="5013325"/>
            <a:ext cx="2936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99351" name="Rectangle 23">
            <a:extLst>
              <a:ext uri="{FF2B5EF4-FFF2-40B4-BE49-F238E27FC236}">
                <a16:creationId xmlns:a16="http://schemas.microsoft.com/office/drawing/2014/main" id="{EFAD16ED-58F4-40F6-9536-A765222DC0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4713" y="3933825"/>
            <a:ext cx="2936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4</a:t>
            </a:r>
          </a:p>
        </p:txBody>
      </p:sp>
      <p:cxnSp>
        <p:nvCxnSpPr>
          <p:cNvPr id="99352" name="AutoShape 24">
            <a:extLst>
              <a:ext uri="{FF2B5EF4-FFF2-40B4-BE49-F238E27FC236}">
                <a16:creationId xmlns:a16="http://schemas.microsoft.com/office/drawing/2014/main" id="{ED6EF444-AECF-487A-A0A8-CD428BBF8FED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795713" y="2916238"/>
            <a:ext cx="0" cy="687387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9353" name="Rectangle 25">
            <a:extLst>
              <a:ext uri="{FF2B5EF4-FFF2-40B4-BE49-F238E27FC236}">
                <a16:creationId xmlns:a16="http://schemas.microsoft.com/office/drawing/2014/main" id="{A4CE4F58-51F3-4EF3-8B8C-4F71ED06F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8550" y="3937000"/>
            <a:ext cx="2936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99354" name="Rectangle 26">
            <a:extLst>
              <a:ext uri="{FF2B5EF4-FFF2-40B4-BE49-F238E27FC236}">
                <a16:creationId xmlns:a16="http://schemas.microsoft.com/office/drawing/2014/main" id="{1EDD616E-431B-4982-B87C-33FC68993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9225" y="2622550"/>
            <a:ext cx="2936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3</a:t>
            </a:r>
          </a:p>
        </p:txBody>
      </p:sp>
      <p:sp>
        <p:nvSpPr>
          <p:cNvPr id="99355" name="Rectangle 27">
            <a:extLst>
              <a:ext uri="{FF2B5EF4-FFF2-40B4-BE49-F238E27FC236}">
                <a16:creationId xmlns:a16="http://schemas.microsoft.com/office/drawing/2014/main" id="{FA01C853-C5A1-4A3A-80DD-B311834E5A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295400"/>
            <a:ext cx="184150" cy="38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20000"/>
              </a:lnSpc>
            </a:pPr>
            <a:endParaRPr lang="hi-IN" altLang="hi-IN" sz="1600" b="1">
              <a:latin typeface="Courier New" panose="02070309020205020404" pitchFamily="49" charset="0"/>
            </a:endParaRPr>
          </a:p>
        </p:txBody>
      </p:sp>
      <p:sp>
        <p:nvSpPr>
          <p:cNvPr id="99356" name="Rectangle 28">
            <a:extLst>
              <a:ext uri="{FF2B5EF4-FFF2-40B4-BE49-F238E27FC236}">
                <a16:creationId xmlns:a16="http://schemas.microsoft.com/office/drawing/2014/main" id="{3A0667D5-8805-4956-B899-A47C66F08B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2713" y="2611438"/>
            <a:ext cx="2936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2</a:t>
            </a:r>
          </a:p>
        </p:txBody>
      </p:sp>
      <p:sp>
        <p:nvSpPr>
          <p:cNvPr id="99357" name="Rectangle 29">
            <a:extLst>
              <a:ext uri="{FF2B5EF4-FFF2-40B4-BE49-F238E27FC236}">
                <a16:creationId xmlns:a16="http://schemas.microsoft.com/office/drawing/2014/main" id="{C9F94ACC-AB86-4FFB-A491-277950ACAB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295400"/>
            <a:ext cx="915988" cy="38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hi-IN" sz="1600" b="1">
                <a:latin typeface="Courier New" panose="02070309020205020404" pitchFamily="49" charset="0"/>
              </a:rPr>
              <a:t>dfs(C)</a:t>
            </a:r>
          </a:p>
        </p:txBody>
      </p:sp>
      <p:sp>
        <p:nvSpPr>
          <p:cNvPr id="99358" name="Rectangle 30">
            <a:extLst>
              <a:ext uri="{FF2B5EF4-FFF2-40B4-BE49-F238E27FC236}">
                <a16:creationId xmlns:a16="http://schemas.microsoft.com/office/drawing/2014/main" id="{5539F689-A16F-484E-919A-5FE01C6C6D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3650" y="2614613"/>
            <a:ext cx="2936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1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16352E-1D15-480E-A78D-0B306D2A1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134</a:t>
            </a:fld>
            <a:endParaRPr lang="en-US" altLang="hi-IN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>
            <a:extLst>
              <a:ext uri="{FF2B5EF4-FFF2-40B4-BE49-F238E27FC236}">
                <a16:creationId xmlns:a16="http://schemas.microsoft.com/office/drawing/2014/main" id="{2E64DB1E-1BF6-490E-8D0E-A242029306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i-IN"/>
              <a:t>Topological Sort:  DFS</a:t>
            </a:r>
          </a:p>
        </p:txBody>
      </p:sp>
      <p:sp>
        <p:nvSpPr>
          <p:cNvPr id="100355" name="Oval 3">
            <a:extLst>
              <a:ext uri="{FF2B5EF4-FFF2-40B4-BE49-F238E27FC236}">
                <a16:creationId xmlns:a16="http://schemas.microsoft.com/office/drawing/2014/main" id="{43A3F1F2-D449-4CFE-863B-8D46FFFB1F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71600" y="4652963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100356" name="Oval 4">
            <a:extLst>
              <a:ext uri="{FF2B5EF4-FFF2-40B4-BE49-F238E27FC236}">
                <a16:creationId xmlns:a16="http://schemas.microsoft.com/office/drawing/2014/main" id="{0C564CDF-1207-49D6-B23F-514B5D80B43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74775" y="1066800"/>
            <a:ext cx="301625" cy="303213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C</a:t>
            </a:r>
          </a:p>
        </p:txBody>
      </p:sp>
      <p:sp>
        <p:nvSpPr>
          <p:cNvPr id="100357" name="Oval 5">
            <a:extLst>
              <a:ext uri="{FF2B5EF4-FFF2-40B4-BE49-F238E27FC236}">
                <a16:creationId xmlns:a16="http://schemas.microsoft.com/office/drawing/2014/main" id="{441D9F88-20A3-45C2-B529-CAA77B0733B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59000" y="2616200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G</a:t>
            </a:r>
          </a:p>
        </p:txBody>
      </p:sp>
      <p:cxnSp>
        <p:nvCxnSpPr>
          <p:cNvPr id="100358" name="AutoShape 6">
            <a:extLst>
              <a:ext uri="{FF2B5EF4-FFF2-40B4-BE49-F238E27FC236}">
                <a16:creationId xmlns:a16="http://schemas.microsoft.com/office/drawing/2014/main" id="{3FAE1FC4-5919-4426-BA81-58DABC270BE9}"/>
              </a:ext>
            </a:extLst>
          </p:cNvPr>
          <p:cNvCxnSpPr>
            <a:cxnSpLocks noChangeShapeType="1"/>
            <a:stCxn id="100355" idx="0"/>
            <a:endCxn id="100356" idx="4"/>
          </p:cNvCxnSpPr>
          <p:nvPr/>
        </p:nvCxnSpPr>
        <p:spPr bwMode="auto">
          <a:xfrm flipV="1">
            <a:off x="1522413" y="1370013"/>
            <a:ext cx="3175" cy="328295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0359" name="Oval 7">
            <a:extLst>
              <a:ext uri="{FF2B5EF4-FFF2-40B4-BE49-F238E27FC236}">
                <a16:creationId xmlns:a16="http://schemas.microsoft.com/office/drawing/2014/main" id="{F24B5889-A096-4ABB-BE11-A468E9B034F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44900" y="2616200"/>
            <a:ext cx="301625" cy="300038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A</a:t>
            </a:r>
          </a:p>
        </p:txBody>
      </p:sp>
      <p:cxnSp>
        <p:nvCxnSpPr>
          <p:cNvPr id="100360" name="AutoShape 8">
            <a:extLst>
              <a:ext uri="{FF2B5EF4-FFF2-40B4-BE49-F238E27FC236}">
                <a16:creationId xmlns:a16="http://schemas.microsoft.com/office/drawing/2014/main" id="{9B5C3DAC-2D54-4084-90EE-A9B557C0D628}"/>
              </a:ext>
            </a:extLst>
          </p:cNvPr>
          <p:cNvCxnSpPr>
            <a:cxnSpLocks noChangeShapeType="1"/>
            <a:stCxn id="100356" idx="5"/>
            <a:endCxn id="100359" idx="1"/>
          </p:cNvCxnSpPr>
          <p:nvPr/>
        </p:nvCxnSpPr>
        <p:spPr bwMode="auto">
          <a:xfrm>
            <a:off x="1631950" y="1325563"/>
            <a:ext cx="2057400" cy="1335087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0361" name="Oval 9">
            <a:extLst>
              <a:ext uri="{FF2B5EF4-FFF2-40B4-BE49-F238E27FC236}">
                <a16:creationId xmlns:a16="http://schemas.microsoft.com/office/drawing/2014/main" id="{2E077130-554B-4977-87B4-84ABACEA585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70450" y="2616200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B</a:t>
            </a:r>
          </a:p>
        </p:txBody>
      </p:sp>
      <p:cxnSp>
        <p:nvCxnSpPr>
          <p:cNvPr id="100362" name="AutoShape 10">
            <a:extLst>
              <a:ext uri="{FF2B5EF4-FFF2-40B4-BE49-F238E27FC236}">
                <a16:creationId xmlns:a16="http://schemas.microsoft.com/office/drawing/2014/main" id="{54BEB767-FBD3-4D75-AAF9-785F477ABFE8}"/>
              </a:ext>
            </a:extLst>
          </p:cNvPr>
          <p:cNvCxnSpPr>
            <a:cxnSpLocks noChangeShapeType="1"/>
            <a:stCxn id="100356" idx="6"/>
            <a:endCxn id="100361" idx="1"/>
          </p:cNvCxnSpPr>
          <p:nvPr/>
        </p:nvCxnSpPr>
        <p:spPr bwMode="auto">
          <a:xfrm>
            <a:off x="1676400" y="1219200"/>
            <a:ext cx="3238500" cy="144145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0363" name="Oval 11">
            <a:extLst>
              <a:ext uri="{FF2B5EF4-FFF2-40B4-BE49-F238E27FC236}">
                <a16:creationId xmlns:a16="http://schemas.microsoft.com/office/drawing/2014/main" id="{C141BBF0-A560-44FD-8C86-94629EEB2A6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59000" y="3603625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D</a:t>
            </a:r>
          </a:p>
        </p:txBody>
      </p:sp>
      <p:sp>
        <p:nvSpPr>
          <p:cNvPr id="100364" name="Oval 12">
            <a:extLst>
              <a:ext uri="{FF2B5EF4-FFF2-40B4-BE49-F238E27FC236}">
                <a16:creationId xmlns:a16="http://schemas.microsoft.com/office/drawing/2014/main" id="{80188D26-66E2-447A-9935-842516F94BF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44900" y="3603625"/>
            <a:ext cx="301625" cy="29845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E</a:t>
            </a:r>
          </a:p>
        </p:txBody>
      </p:sp>
      <p:cxnSp>
        <p:nvCxnSpPr>
          <p:cNvPr id="100365" name="AutoShape 13">
            <a:extLst>
              <a:ext uri="{FF2B5EF4-FFF2-40B4-BE49-F238E27FC236}">
                <a16:creationId xmlns:a16="http://schemas.microsoft.com/office/drawing/2014/main" id="{0CE8DFA2-292C-4305-BDA8-B60C3BC6E3F0}"/>
              </a:ext>
            </a:extLst>
          </p:cNvPr>
          <p:cNvCxnSpPr>
            <a:cxnSpLocks noChangeShapeType="1"/>
            <a:stCxn id="100356" idx="4"/>
            <a:endCxn id="100357" idx="1"/>
          </p:cNvCxnSpPr>
          <p:nvPr/>
        </p:nvCxnSpPr>
        <p:spPr bwMode="auto">
          <a:xfrm>
            <a:off x="1525588" y="1370013"/>
            <a:ext cx="677862" cy="1290637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0366" name="AutoShape 14">
            <a:extLst>
              <a:ext uri="{FF2B5EF4-FFF2-40B4-BE49-F238E27FC236}">
                <a16:creationId xmlns:a16="http://schemas.microsoft.com/office/drawing/2014/main" id="{5024CCB5-1617-46BD-9B34-12A9F4933BF9}"/>
              </a:ext>
            </a:extLst>
          </p:cNvPr>
          <p:cNvCxnSpPr>
            <a:cxnSpLocks noChangeShapeType="1"/>
            <a:stCxn id="100364" idx="2"/>
            <a:endCxn id="100363" idx="6"/>
          </p:cNvCxnSpPr>
          <p:nvPr/>
        </p:nvCxnSpPr>
        <p:spPr bwMode="auto">
          <a:xfrm flipH="1">
            <a:off x="2460625" y="3752850"/>
            <a:ext cx="1184275" cy="1588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0367" name="AutoShape 15">
            <a:extLst>
              <a:ext uri="{FF2B5EF4-FFF2-40B4-BE49-F238E27FC236}">
                <a16:creationId xmlns:a16="http://schemas.microsoft.com/office/drawing/2014/main" id="{C3FD778C-56BE-4382-A392-DFFC87879315}"/>
              </a:ext>
            </a:extLst>
          </p:cNvPr>
          <p:cNvCxnSpPr>
            <a:cxnSpLocks noChangeShapeType="1"/>
            <a:stCxn id="100364" idx="3"/>
            <a:endCxn id="100355" idx="6"/>
          </p:cNvCxnSpPr>
          <p:nvPr/>
        </p:nvCxnSpPr>
        <p:spPr bwMode="auto">
          <a:xfrm flipH="1">
            <a:off x="1673225" y="3857625"/>
            <a:ext cx="2016125" cy="94615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0368" name="AutoShape 16">
            <a:extLst>
              <a:ext uri="{FF2B5EF4-FFF2-40B4-BE49-F238E27FC236}">
                <a16:creationId xmlns:a16="http://schemas.microsoft.com/office/drawing/2014/main" id="{DD2FD00F-981A-4E92-B36F-C2390CA8DF53}"/>
              </a:ext>
            </a:extLst>
          </p:cNvPr>
          <p:cNvCxnSpPr>
            <a:cxnSpLocks noChangeShapeType="1"/>
            <a:stCxn id="100355" idx="7"/>
            <a:endCxn id="100363" idx="3"/>
          </p:cNvCxnSpPr>
          <p:nvPr/>
        </p:nvCxnSpPr>
        <p:spPr bwMode="auto">
          <a:xfrm flipV="1">
            <a:off x="1628775" y="3860800"/>
            <a:ext cx="574675" cy="836613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0369" name="AutoShape 17">
            <a:extLst>
              <a:ext uri="{FF2B5EF4-FFF2-40B4-BE49-F238E27FC236}">
                <a16:creationId xmlns:a16="http://schemas.microsoft.com/office/drawing/2014/main" id="{0B39BAD5-7C99-4615-9CFD-3622D013477C}"/>
              </a:ext>
            </a:extLst>
          </p:cNvPr>
          <p:cNvCxnSpPr>
            <a:cxnSpLocks noChangeShapeType="1"/>
            <a:stCxn id="100364" idx="7"/>
            <a:endCxn id="100361" idx="3"/>
          </p:cNvCxnSpPr>
          <p:nvPr/>
        </p:nvCxnSpPr>
        <p:spPr bwMode="auto">
          <a:xfrm flipV="1">
            <a:off x="3902075" y="2873375"/>
            <a:ext cx="1012825" cy="77470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0370" name="AutoShape 18">
            <a:extLst>
              <a:ext uri="{FF2B5EF4-FFF2-40B4-BE49-F238E27FC236}">
                <a16:creationId xmlns:a16="http://schemas.microsoft.com/office/drawing/2014/main" id="{51B6F357-A9CE-44B6-9700-D86961B95385}"/>
              </a:ext>
            </a:extLst>
          </p:cNvPr>
          <p:cNvCxnSpPr>
            <a:cxnSpLocks noChangeShapeType="1"/>
            <a:stCxn id="100363" idx="7"/>
            <a:endCxn id="100359" idx="3"/>
          </p:cNvCxnSpPr>
          <p:nvPr/>
        </p:nvCxnSpPr>
        <p:spPr bwMode="auto">
          <a:xfrm flipV="1">
            <a:off x="2416175" y="2871788"/>
            <a:ext cx="1273175" cy="776287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0371" name="Oval 19">
            <a:extLst>
              <a:ext uri="{FF2B5EF4-FFF2-40B4-BE49-F238E27FC236}">
                <a16:creationId xmlns:a16="http://schemas.microsoft.com/office/drawing/2014/main" id="{A9EE6263-BD0B-4449-9725-0C0C29D1AA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90800" y="5181600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H</a:t>
            </a:r>
          </a:p>
        </p:txBody>
      </p:sp>
      <p:cxnSp>
        <p:nvCxnSpPr>
          <p:cNvPr id="100372" name="AutoShape 20">
            <a:extLst>
              <a:ext uri="{FF2B5EF4-FFF2-40B4-BE49-F238E27FC236}">
                <a16:creationId xmlns:a16="http://schemas.microsoft.com/office/drawing/2014/main" id="{799DEFB7-3B40-4EC7-94BD-67200A241886}"/>
              </a:ext>
            </a:extLst>
          </p:cNvPr>
          <p:cNvCxnSpPr>
            <a:cxnSpLocks noChangeShapeType="1"/>
            <a:stCxn id="100371" idx="2"/>
            <a:endCxn id="100355" idx="5"/>
          </p:cNvCxnSpPr>
          <p:nvPr/>
        </p:nvCxnSpPr>
        <p:spPr bwMode="auto">
          <a:xfrm flipH="1" flipV="1">
            <a:off x="1628775" y="4910138"/>
            <a:ext cx="962025" cy="422275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0373" name="Rectangle 21">
            <a:extLst>
              <a:ext uri="{FF2B5EF4-FFF2-40B4-BE49-F238E27FC236}">
                <a16:creationId xmlns:a16="http://schemas.microsoft.com/office/drawing/2014/main" id="{1ECFE807-1259-4F3A-BF6C-C85FF260AA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7625" y="5526088"/>
            <a:ext cx="2936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7</a:t>
            </a:r>
          </a:p>
        </p:txBody>
      </p:sp>
      <p:sp>
        <p:nvSpPr>
          <p:cNvPr id="100374" name="Rectangle 22">
            <a:extLst>
              <a:ext uri="{FF2B5EF4-FFF2-40B4-BE49-F238E27FC236}">
                <a16:creationId xmlns:a16="http://schemas.microsoft.com/office/drawing/2014/main" id="{57292063-2EAE-48CA-8B53-9AE41D4A59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550" y="5013325"/>
            <a:ext cx="2936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100375" name="Rectangle 23">
            <a:extLst>
              <a:ext uri="{FF2B5EF4-FFF2-40B4-BE49-F238E27FC236}">
                <a16:creationId xmlns:a16="http://schemas.microsoft.com/office/drawing/2014/main" id="{80FA3156-9CC2-487B-BF80-80DF4F1D83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4713" y="3933825"/>
            <a:ext cx="2936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4</a:t>
            </a:r>
          </a:p>
        </p:txBody>
      </p:sp>
      <p:cxnSp>
        <p:nvCxnSpPr>
          <p:cNvPr id="100376" name="AutoShape 24">
            <a:extLst>
              <a:ext uri="{FF2B5EF4-FFF2-40B4-BE49-F238E27FC236}">
                <a16:creationId xmlns:a16="http://schemas.microsoft.com/office/drawing/2014/main" id="{45AE5A8F-FAEA-449B-A5B8-6B1B3960640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795713" y="2916238"/>
            <a:ext cx="0" cy="687387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0377" name="Rectangle 25">
            <a:extLst>
              <a:ext uri="{FF2B5EF4-FFF2-40B4-BE49-F238E27FC236}">
                <a16:creationId xmlns:a16="http://schemas.microsoft.com/office/drawing/2014/main" id="{6C24B238-211B-4FBE-B193-8C1863346D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8550" y="3937000"/>
            <a:ext cx="2936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100378" name="Rectangle 26">
            <a:extLst>
              <a:ext uri="{FF2B5EF4-FFF2-40B4-BE49-F238E27FC236}">
                <a16:creationId xmlns:a16="http://schemas.microsoft.com/office/drawing/2014/main" id="{78820FA7-7CCA-4089-B0F6-DF60C8A665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9225" y="2622550"/>
            <a:ext cx="2936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3</a:t>
            </a:r>
          </a:p>
        </p:txBody>
      </p:sp>
      <p:sp>
        <p:nvSpPr>
          <p:cNvPr id="100379" name="Rectangle 27">
            <a:extLst>
              <a:ext uri="{FF2B5EF4-FFF2-40B4-BE49-F238E27FC236}">
                <a16:creationId xmlns:a16="http://schemas.microsoft.com/office/drawing/2014/main" id="{018E991A-F2AE-429C-9C0E-9A6AC42EB3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295400"/>
            <a:ext cx="184150" cy="38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20000"/>
              </a:lnSpc>
            </a:pPr>
            <a:endParaRPr lang="hi-IN" altLang="hi-IN" sz="1600" b="1">
              <a:latin typeface="Courier New" panose="02070309020205020404" pitchFamily="49" charset="0"/>
            </a:endParaRPr>
          </a:p>
        </p:txBody>
      </p:sp>
      <p:sp>
        <p:nvSpPr>
          <p:cNvPr id="100380" name="Rectangle 28">
            <a:extLst>
              <a:ext uri="{FF2B5EF4-FFF2-40B4-BE49-F238E27FC236}">
                <a16:creationId xmlns:a16="http://schemas.microsoft.com/office/drawing/2014/main" id="{05D706A3-DD24-4B2D-95E4-4C4AE9FB74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2713" y="2611438"/>
            <a:ext cx="2936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2</a:t>
            </a:r>
          </a:p>
        </p:txBody>
      </p:sp>
      <p:sp>
        <p:nvSpPr>
          <p:cNvPr id="100381" name="Rectangle 29">
            <a:extLst>
              <a:ext uri="{FF2B5EF4-FFF2-40B4-BE49-F238E27FC236}">
                <a16:creationId xmlns:a16="http://schemas.microsoft.com/office/drawing/2014/main" id="{5EE9585D-E610-44E5-B850-1EFB2533BD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295400"/>
            <a:ext cx="184150" cy="38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20000"/>
              </a:lnSpc>
            </a:pPr>
            <a:endParaRPr lang="hi-IN" altLang="hi-IN" sz="1600" b="1">
              <a:latin typeface="Courier New" panose="02070309020205020404" pitchFamily="49" charset="0"/>
            </a:endParaRPr>
          </a:p>
        </p:txBody>
      </p:sp>
      <p:sp>
        <p:nvSpPr>
          <p:cNvPr id="100382" name="Rectangle 30">
            <a:extLst>
              <a:ext uri="{FF2B5EF4-FFF2-40B4-BE49-F238E27FC236}">
                <a16:creationId xmlns:a16="http://schemas.microsoft.com/office/drawing/2014/main" id="{0C9CB70C-BFE9-495F-8BE3-5B6FC64A9D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3650" y="2614613"/>
            <a:ext cx="2936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1</a:t>
            </a:r>
          </a:p>
        </p:txBody>
      </p:sp>
      <p:sp>
        <p:nvSpPr>
          <p:cNvPr id="100383" name="Rectangle 31">
            <a:extLst>
              <a:ext uri="{FF2B5EF4-FFF2-40B4-BE49-F238E27FC236}">
                <a16:creationId xmlns:a16="http://schemas.microsoft.com/office/drawing/2014/main" id="{56D53D05-B084-479F-880A-F551A89F4F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9813" y="1074738"/>
            <a:ext cx="2936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0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AE3B99-A600-420D-BF85-DA144A6D5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135</a:t>
            </a:fld>
            <a:endParaRPr lang="en-US" altLang="hi-IN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2165DDB6-47D6-4C31-877B-18B6FE3B96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i-IN"/>
              <a:t>Topological Sort:  DFS</a:t>
            </a:r>
          </a:p>
        </p:txBody>
      </p:sp>
      <p:sp>
        <p:nvSpPr>
          <p:cNvPr id="101379" name="Oval 3">
            <a:extLst>
              <a:ext uri="{FF2B5EF4-FFF2-40B4-BE49-F238E27FC236}">
                <a16:creationId xmlns:a16="http://schemas.microsoft.com/office/drawing/2014/main" id="{2CFAE8E4-8094-4C32-9381-60365A676F4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71600" y="4652963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101380" name="Oval 4">
            <a:extLst>
              <a:ext uri="{FF2B5EF4-FFF2-40B4-BE49-F238E27FC236}">
                <a16:creationId xmlns:a16="http://schemas.microsoft.com/office/drawing/2014/main" id="{F7CED981-BA28-4079-B767-4C4922AEFD9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74775" y="1066800"/>
            <a:ext cx="301625" cy="303213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C</a:t>
            </a:r>
          </a:p>
        </p:txBody>
      </p:sp>
      <p:sp>
        <p:nvSpPr>
          <p:cNvPr id="101381" name="Oval 5">
            <a:extLst>
              <a:ext uri="{FF2B5EF4-FFF2-40B4-BE49-F238E27FC236}">
                <a16:creationId xmlns:a16="http://schemas.microsoft.com/office/drawing/2014/main" id="{8E49866B-6087-4239-B915-C02F3FA204E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59000" y="2616200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G</a:t>
            </a:r>
          </a:p>
        </p:txBody>
      </p:sp>
      <p:cxnSp>
        <p:nvCxnSpPr>
          <p:cNvPr id="101382" name="AutoShape 6">
            <a:extLst>
              <a:ext uri="{FF2B5EF4-FFF2-40B4-BE49-F238E27FC236}">
                <a16:creationId xmlns:a16="http://schemas.microsoft.com/office/drawing/2014/main" id="{9E126D87-C0DD-4323-8CFF-380EC6322A83}"/>
              </a:ext>
            </a:extLst>
          </p:cNvPr>
          <p:cNvCxnSpPr>
            <a:cxnSpLocks noChangeShapeType="1"/>
            <a:stCxn id="101379" idx="0"/>
            <a:endCxn id="101380" idx="4"/>
          </p:cNvCxnSpPr>
          <p:nvPr/>
        </p:nvCxnSpPr>
        <p:spPr bwMode="auto">
          <a:xfrm flipV="1">
            <a:off x="1522413" y="1370013"/>
            <a:ext cx="3175" cy="328295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1383" name="Oval 7">
            <a:extLst>
              <a:ext uri="{FF2B5EF4-FFF2-40B4-BE49-F238E27FC236}">
                <a16:creationId xmlns:a16="http://schemas.microsoft.com/office/drawing/2014/main" id="{039EFAF4-40C0-40D3-86FA-B86AD350BE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44900" y="2616200"/>
            <a:ext cx="301625" cy="300038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A</a:t>
            </a:r>
          </a:p>
        </p:txBody>
      </p:sp>
      <p:cxnSp>
        <p:nvCxnSpPr>
          <p:cNvPr id="101384" name="AutoShape 8">
            <a:extLst>
              <a:ext uri="{FF2B5EF4-FFF2-40B4-BE49-F238E27FC236}">
                <a16:creationId xmlns:a16="http://schemas.microsoft.com/office/drawing/2014/main" id="{8341D8CC-F058-467A-9865-861CAA026038}"/>
              </a:ext>
            </a:extLst>
          </p:cNvPr>
          <p:cNvCxnSpPr>
            <a:cxnSpLocks noChangeShapeType="1"/>
            <a:stCxn id="101380" idx="5"/>
            <a:endCxn id="101383" idx="1"/>
          </p:cNvCxnSpPr>
          <p:nvPr/>
        </p:nvCxnSpPr>
        <p:spPr bwMode="auto">
          <a:xfrm>
            <a:off x="1631950" y="1325563"/>
            <a:ext cx="2057400" cy="1335087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1385" name="Oval 9">
            <a:extLst>
              <a:ext uri="{FF2B5EF4-FFF2-40B4-BE49-F238E27FC236}">
                <a16:creationId xmlns:a16="http://schemas.microsoft.com/office/drawing/2014/main" id="{EB82F2CB-AA14-40D2-A9E9-ECC475204A6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70450" y="2616200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B</a:t>
            </a:r>
          </a:p>
        </p:txBody>
      </p:sp>
      <p:cxnSp>
        <p:nvCxnSpPr>
          <p:cNvPr id="101386" name="AutoShape 10">
            <a:extLst>
              <a:ext uri="{FF2B5EF4-FFF2-40B4-BE49-F238E27FC236}">
                <a16:creationId xmlns:a16="http://schemas.microsoft.com/office/drawing/2014/main" id="{1DF439C6-E784-41B3-B54C-3D2089B17FDA}"/>
              </a:ext>
            </a:extLst>
          </p:cNvPr>
          <p:cNvCxnSpPr>
            <a:cxnSpLocks noChangeShapeType="1"/>
            <a:stCxn id="101380" idx="6"/>
            <a:endCxn id="101385" idx="1"/>
          </p:cNvCxnSpPr>
          <p:nvPr/>
        </p:nvCxnSpPr>
        <p:spPr bwMode="auto">
          <a:xfrm>
            <a:off x="1676400" y="1219200"/>
            <a:ext cx="3238500" cy="144145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1387" name="Oval 11">
            <a:extLst>
              <a:ext uri="{FF2B5EF4-FFF2-40B4-BE49-F238E27FC236}">
                <a16:creationId xmlns:a16="http://schemas.microsoft.com/office/drawing/2014/main" id="{66860F6F-EC8F-4382-A290-B8C89394F7F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59000" y="3603625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D</a:t>
            </a:r>
          </a:p>
        </p:txBody>
      </p:sp>
      <p:sp>
        <p:nvSpPr>
          <p:cNvPr id="101388" name="Oval 12">
            <a:extLst>
              <a:ext uri="{FF2B5EF4-FFF2-40B4-BE49-F238E27FC236}">
                <a16:creationId xmlns:a16="http://schemas.microsoft.com/office/drawing/2014/main" id="{3BF58934-BF23-4423-8CDC-D9A84D459AF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44900" y="3603625"/>
            <a:ext cx="301625" cy="29845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E</a:t>
            </a:r>
          </a:p>
        </p:txBody>
      </p:sp>
      <p:cxnSp>
        <p:nvCxnSpPr>
          <p:cNvPr id="101389" name="AutoShape 13">
            <a:extLst>
              <a:ext uri="{FF2B5EF4-FFF2-40B4-BE49-F238E27FC236}">
                <a16:creationId xmlns:a16="http://schemas.microsoft.com/office/drawing/2014/main" id="{7BDB8CCC-1079-433B-A4B2-821D424889A7}"/>
              </a:ext>
            </a:extLst>
          </p:cNvPr>
          <p:cNvCxnSpPr>
            <a:cxnSpLocks noChangeShapeType="1"/>
            <a:stCxn id="101380" idx="4"/>
            <a:endCxn id="101381" idx="1"/>
          </p:cNvCxnSpPr>
          <p:nvPr/>
        </p:nvCxnSpPr>
        <p:spPr bwMode="auto">
          <a:xfrm>
            <a:off x="1525588" y="1370013"/>
            <a:ext cx="677862" cy="1290637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1390" name="AutoShape 14">
            <a:extLst>
              <a:ext uri="{FF2B5EF4-FFF2-40B4-BE49-F238E27FC236}">
                <a16:creationId xmlns:a16="http://schemas.microsoft.com/office/drawing/2014/main" id="{7365CF30-68F7-470D-8CB9-DE0B1BC17DD2}"/>
              </a:ext>
            </a:extLst>
          </p:cNvPr>
          <p:cNvCxnSpPr>
            <a:cxnSpLocks noChangeShapeType="1"/>
            <a:stCxn id="101388" idx="2"/>
            <a:endCxn id="101387" idx="6"/>
          </p:cNvCxnSpPr>
          <p:nvPr/>
        </p:nvCxnSpPr>
        <p:spPr bwMode="auto">
          <a:xfrm flipH="1">
            <a:off x="2460625" y="3752850"/>
            <a:ext cx="1184275" cy="1588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1391" name="AutoShape 15">
            <a:extLst>
              <a:ext uri="{FF2B5EF4-FFF2-40B4-BE49-F238E27FC236}">
                <a16:creationId xmlns:a16="http://schemas.microsoft.com/office/drawing/2014/main" id="{82390029-DACC-4D63-AB1C-2AFC4388CFEF}"/>
              </a:ext>
            </a:extLst>
          </p:cNvPr>
          <p:cNvCxnSpPr>
            <a:cxnSpLocks noChangeShapeType="1"/>
            <a:stCxn id="101388" idx="3"/>
            <a:endCxn id="101379" idx="6"/>
          </p:cNvCxnSpPr>
          <p:nvPr/>
        </p:nvCxnSpPr>
        <p:spPr bwMode="auto">
          <a:xfrm flipH="1">
            <a:off x="1673225" y="3857625"/>
            <a:ext cx="2016125" cy="94615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1392" name="AutoShape 16">
            <a:extLst>
              <a:ext uri="{FF2B5EF4-FFF2-40B4-BE49-F238E27FC236}">
                <a16:creationId xmlns:a16="http://schemas.microsoft.com/office/drawing/2014/main" id="{E61995AD-CDDA-4AA0-AA6D-07B19FC8CA0E}"/>
              </a:ext>
            </a:extLst>
          </p:cNvPr>
          <p:cNvCxnSpPr>
            <a:cxnSpLocks noChangeShapeType="1"/>
            <a:stCxn id="101379" idx="7"/>
            <a:endCxn id="101387" idx="3"/>
          </p:cNvCxnSpPr>
          <p:nvPr/>
        </p:nvCxnSpPr>
        <p:spPr bwMode="auto">
          <a:xfrm flipV="1">
            <a:off x="1628775" y="3860800"/>
            <a:ext cx="574675" cy="836613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1393" name="AutoShape 17">
            <a:extLst>
              <a:ext uri="{FF2B5EF4-FFF2-40B4-BE49-F238E27FC236}">
                <a16:creationId xmlns:a16="http://schemas.microsoft.com/office/drawing/2014/main" id="{BE71E4E4-3BF4-4F2E-9558-FC42338F1084}"/>
              </a:ext>
            </a:extLst>
          </p:cNvPr>
          <p:cNvCxnSpPr>
            <a:cxnSpLocks noChangeShapeType="1"/>
            <a:stCxn id="101388" idx="7"/>
            <a:endCxn id="101385" idx="3"/>
          </p:cNvCxnSpPr>
          <p:nvPr/>
        </p:nvCxnSpPr>
        <p:spPr bwMode="auto">
          <a:xfrm flipV="1">
            <a:off x="3902075" y="2873375"/>
            <a:ext cx="1012825" cy="77470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1394" name="AutoShape 18">
            <a:extLst>
              <a:ext uri="{FF2B5EF4-FFF2-40B4-BE49-F238E27FC236}">
                <a16:creationId xmlns:a16="http://schemas.microsoft.com/office/drawing/2014/main" id="{DF970C16-0B10-436C-8875-13A675ABF324}"/>
              </a:ext>
            </a:extLst>
          </p:cNvPr>
          <p:cNvCxnSpPr>
            <a:cxnSpLocks noChangeShapeType="1"/>
            <a:stCxn id="101387" idx="7"/>
            <a:endCxn id="101383" idx="3"/>
          </p:cNvCxnSpPr>
          <p:nvPr/>
        </p:nvCxnSpPr>
        <p:spPr bwMode="auto">
          <a:xfrm flipV="1">
            <a:off x="2416175" y="2871788"/>
            <a:ext cx="1273175" cy="776287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1395" name="Oval 19">
            <a:extLst>
              <a:ext uri="{FF2B5EF4-FFF2-40B4-BE49-F238E27FC236}">
                <a16:creationId xmlns:a16="http://schemas.microsoft.com/office/drawing/2014/main" id="{ACEB7562-F7B6-4299-903A-C21ECFE4377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90800" y="5181600"/>
            <a:ext cx="3016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hi-IN" sz="1400" b="1">
                <a:latin typeface="Courier New" panose="02070309020205020404" pitchFamily="49" charset="0"/>
              </a:rPr>
              <a:t>H</a:t>
            </a:r>
          </a:p>
        </p:txBody>
      </p:sp>
      <p:cxnSp>
        <p:nvCxnSpPr>
          <p:cNvPr id="101396" name="AutoShape 20">
            <a:extLst>
              <a:ext uri="{FF2B5EF4-FFF2-40B4-BE49-F238E27FC236}">
                <a16:creationId xmlns:a16="http://schemas.microsoft.com/office/drawing/2014/main" id="{E05F63A4-B211-460D-AFE3-01ACD1A992F9}"/>
              </a:ext>
            </a:extLst>
          </p:cNvPr>
          <p:cNvCxnSpPr>
            <a:cxnSpLocks noChangeShapeType="1"/>
            <a:stCxn id="101395" idx="2"/>
            <a:endCxn id="101379" idx="5"/>
          </p:cNvCxnSpPr>
          <p:nvPr/>
        </p:nvCxnSpPr>
        <p:spPr bwMode="auto">
          <a:xfrm flipH="1" flipV="1">
            <a:off x="1628775" y="4910138"/>
            <a:ext cx="962025" cy="422275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1397" name="Rectangle 21">
            <a:extLst>
              <a:ext uri="{FF2B5EF4-FFF2-40B4-BE49-F238E27FC236}">
                <a16:creationId xmlns:a16="http://schemas.microsoft.com/office/drawing/2014/main" id="{45262053-F631-48C3-ABBF-B29EC6E3E7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7625" y="5526088"/>
            <a:ext cx="2936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7</a:t>
            </a:r>
          </a:p>
        </p:txBody>
      </p:sp>
      <p:sp>
        <p:nvSpPr>
          <p:cNvPr id="101398" name="Rectangle 22">
            <a:extLst>
              <a:ext uri="{FF2B5EF4-FFF2-40B4-BE49-F238E27FC236}">
                <a16:creationId xmlns:a16="http://schemas.microsoft.com/office/drawing/2014/main" id="{5639D14D-017C-462C-9221-96597776AE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550" y="5013325"/>
            <a:ext cx="2936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101399" name="Rectangle 23">
            <a:extLst>
              <a:ext uri="{FF2B5EF4-FFF2-40B4-BE49-F238E27FC236}">
                <a16:creationId xmlns:a16="http://schemas.microsoft.com/office/drawing/2014/main" id="{CA48BEA5-4F61-4A55-8D12-DFCB545877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4713" y="3933825"/>
            <a:ext cx="2936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4</a:t>
            </a:r>
          </a:p>
        </p:txBody>
      </p:sp>
      <p:cxnSp>
        <p:nvCxnSpPr>
          <p:cNvPr id="101400" name="AutoShape 24">
            <a:extLst>
              <a:ext uri="{FF2B5EF4-FFF2-40B4-BE49-F238E27FC236}">
                <a16:creationId xmlns:a16="http://schemas.microsoft.com/office/drawing/2014/main" id="{AE9C76DE-3431-49A8-82C1-A5A329F9193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795713" y="2916238"/>
            <a:ext cx="0" cy="687387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1401" name="Rectangle 25">
            <a:extLst>
              <a:ext uri="{FF2B5EF4-FFF2-40B4-BE49-F238E27FC236}">
                <a16:creationId xmlns:a16="http://schemas.microsoft.com/office/drawing/2014/main" id="{6CA4DFB0-E181-4E4F-888E-0F9CA17048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8550" y="3937000"/>
            <a:ext cx="2936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101402" name="Rectangle 26">
            <a:extLst>
              <a:ext uri="{FF2B5EF4-FFF2-40B4-BE49-F238E27FC236}">
                <a16:creationId xmlns:a16="http://schemas.microsoft.com/office/drawing/2014/main" id="{7CCE6B8E-B3DC-432D-BD3D-BDCE547CE7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9225" y="2622550"/>
            <a:ext cx="2936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3</a:t>
            </a:r>
          </a:p>
        </p:txBody>
      </p:sp>
      <p:sp>
        <p:nvSpPr>
          <p:cNvPr id="101403" name="Rectangle 27">
            <a:extLst>
              <a:ext uri="{FF2B5EF4-FFF2-40B4-BE49-F238E27FC236}">
                <a16:creationId xmlns:a16="http://schemas.microsoft.com/office/drawing/2014/main" id="{F828886C-4346-4B91-AD03-8396499F88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295400"/>
            <a:ext cx="184150" cy="38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20000"/>
              </a:lnSpc>
            </a:pPr>
            <a:endParaRPr lang="hi-IN" altLang="hi-IN" sz="1600" b="1">
              <a:latin typeface="Courier New" panose="02070309020205020404" pitchFamily="49" charset="0"/>
            </a:endParaRPr>
          </a:p>
        </p:txBody>
      </p:sp>
      <p:sp>
        <p:nvSpPr>
          <p:cNvPr id="101404" name="Rectangle 28">
            <a:extLst>
              <a:ext uri="{FF2B5EF4-FFF2-40B4-BE49-F238E27FC236}">
                <a16:creationId xmlns:a16="http://schemas.microsoft.com/office/drawing/2014/main" id="{25848C48-899D-40BF-92E5-2B8AE21A17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2713" y="2611438"/>
            <a:ext cx="2936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2</a:t>
            </a:r>
          </a:p>
        </p:txBody>
      </p:sp>
      <p:sp>
        <p:nvSpPr>
          <p:cNvPr id="101405" name="Rectangle 29">
            <a:extLst>
              <a:ext uri="{FF2B5EF4-FFF2-40B4-BE49-F238E27FC236}">
                <a16:creationId xmlns:a16="http://schemas.microsoft.com/office/drawing/2014/main" id="{63D9C627-3C42-4DA7-AB6F-02655FDE35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295400"/>
            <a:ext cx="184150" cy="38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20000"/>
              </a:lnSpc>
            </a:pPr>
            <a:endParaRPr lang="hi-IN" altLang="hi-IN" sz="1600" b="1">
              <a:latin typeface="Courier New" panose="02070309020205020404" pitchFamily="49" charset="0"/>
            </a:endParaRPr>
          </a:p>
        </p:txBody>
      </p:sp>
      <p:sp>
        <p:nvSpPr>
          <p:cNvPr id="101406" name="Rectangle 30">
            <a:extLst>
              <a:ext uri="{FF2B5EF4-FFF2-40B4-BE49-F238E27FC236}">
                <a16:creationId xmlns:a16="http://schemas.microsoft.com/office/drawing/2014/main" id="{A2E72CAE-85F4-4D64-9CB5-7A718FCB96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3650" y="2614613"/>
            <a:ext cx="2936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1</a:t>
            </a:r>
          </a:p>
        </p:txBody>
      </p:sp>
      <p:sp>
        <p:nvSpPr>
          <p:cNvPr id="101407" name="Rectangle 31">
            <a:extLst>
              <a:ext uri="{FF2B5EF4-FFF2-40B4-BE49-F238E27FC236}">
                <a16:creationId xmlns:a16="http://schemas.microsoft.com/office/drawing/2014/main" id="{63B0A8E8-A5FD-4CBA-B6CA-FF4819B9D6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9813" y="1074738"/>
            <a:ext cx="2936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 sz="1400" b="1">
                <a:latin typeface="Courier New" panose="02070309020205020404" pitchFamily="49" charset="0"/>
              </a:rPr>
              <a:t>0</a:t>
            </a:r>
          </a:p>
        </p:txBody>
      </p:sp>
      <p:sp>
        <p:nvSpPr>
          <p:cNvPr id="101408" name="Rectangle 32">
            <a:extLst>
              <a:ext uri="{FF2B5EF4-FFF2-40B4-BE49-F238E27FC236}">
                <a16:creationId xmlns:a16="http://schemas.microsoft.com/office/drawing/2014/main" id="{F23DFAD3-D177-4A60-850A-9C152B486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5713" y="5969000"/>
            <a:ext cx="42973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i-IN"/>
              <a:t>Topological order:  </a:t>
            </a:r>
            <a:r>
              <a:rPr lang="en-US" altLang="hi-IN" b="1">
                <a:latin typeface="Courier New" panose="02070309020205020404" pitchFamily="49" charset="0"/>
              </a:rPr>
              <a:t>C G B A D E F H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CB2F413-5AB4-4C60-9C82-A588A4FFE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136</a:t>
            </a:fld>
            <a:endParaRPr lang="en-US" altLang="hi-IN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7F84C-4AA6-49D9-88C8-7EBF18769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– </a:t>
            </a:r>
            <a:r>
              <a:rPr lang="en-US" sz="3200" dirty="0"/>
              <a:t>Find the Topological order</a:t>
            </a:r>
            <a:endParaRPr lang="hi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0C7EBD-5747-45F1-9A8D-4320B2BE1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AB652-CA5A-4D28-80EA-725052506A27}" type="slidenum">
              <a:rPr lang="en-US" altLang="hi-IN" smtClean="0"/>
              <a:pPr/>
              <a:t>137</a:t>
            </a:fld>
            <a:endParaRPr lang="en-US" altLang="hi-IN"/>
          </a:p>
        </p:txBody>
      </p:sp>
      <p:pic>
        <p:nvPicPr>
          <p:cNvPr id="2050" name="Picture 2" descr="Acyclic Graph &amp; Directed Acyclic Graph: Definition, Examples ...">
            <a:extLst>
              <a:ext uri="{FF2B5EF4-FFF2-40B4-BE49-F238E27FC236}">
                <a16:creationId xmlns:a16="http://schemas.microsoft.com/office/drawing/2014/main" id="{7EE744C7-2CBA-46E1-9BD8-1BCFD36590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520" y="1524000"/>
            <a:ext cx="4784849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Topological Sorting | Graphs">
            <a:extLst>
              <a:ext uri="{FF2B5EF4-FFF2-40B4-BE49-F238E27FC236}">
                <a16:creationId xmlns:a16="http://schemas.microsoft.com/office/drawing/2014/main" id="{94978266-B6F5-43F5-90D0-B44FD5CD47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5659" y="3752850"/>
            <a:ext cx="5334821" cy="2781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1429429"/>
      </p:ext>
    </p:extLst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Office\Templates\Blank Presentation.pot</Template>
  <TotalTime>11218</TotalTime>
  <Words>5564</Words>
  <Application>Microsoft Office PowerPoint</Application>
  <PresentationFormat>On-screen Show (4:3)</PresentationFormat>
  <Paragraphs>1423</Paragraphs>
  <Slides>137</Slides>
  <Notes>44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137</vt:i4>
      </vt:variant>
    </vt:vector>
  </HeadingPairs>
  <TitlesOfParts>
    <vt:vector size="147" baseType="lpstr">
      <vt:lpstr>Arial</vt:lpstr>
      <vt:lpstr>Cambria Math</vt:lpstr>
      <vt:lpstr>Courier New</vt:lpstr>
      <vt:lpstr>MTSYN</vt:lpstr>
      <vt:lpstr>RMTMI</vt:lpstr>
      <vt:lpstr>Symbol</vt:lpstr>
      <vt:lpstr>Times New Roman</vt:lpstr>
      <vt:lpstr>Wingdings</vt:lpstr>
      <vt:lpstr>Blank Presentation</vt:lpstr>
      <vt:lpstr>Worksheet</vt:lpstr>
      <vt:lpstr>Graphs</vt:lpstr>
      <vt:lpstr>Graphs</vt:lpstr>
      <vt:lpstr>Graph Interpretations</vt:lpstr>
      <vt:lpstr>More interpretations</vt:lpstr>
      <vt:lpstr>Friendship Graphs</vt:lpstr>
      <vt:lpstr>Graph Terminology</vt:lpstr>
      <vt:lpstr>Kinds of Graphs</vt:lpstr>
      <vt:lpstr>Kinds of Graphs</vt:lpstr>
      <vt:lpstr>Terminology continued...</vt:lpstr>
      <vt:lpstr>Path and Connectivity</vt:lpstr>
      <vt:lpstr>Still More Terminology...</vt:lpstr>
      <vt:lpstr>Degree</vt:lpstr>
      <vt:lpstr>Clique</vt:lpstr>
      <vt:lpstr>Yet More Terminology...</vt:lpstr>
      <vt:lpstr>Cycles and DAGs</vt:lpstr>
      <vt:lpstr>Graphs</vt:lpstr>
      <vt:lpstr>Strongly Connected Components of a Digraph</vt:lpstr>
      <vt:lpstr>Strongly connected Components and Equivalence Relations</vt:lpstr>
      <vt:lpstr>Condensation graph</vt:lpstr>
      <vt:lpstr>Condensation graph and its  strongly connected components</vt:lpstr>
      <vt:lpstr>Examples</vt:lpstr>
      <vt:lpstr>Bi-connected components of an  Undirected graph</vt:lpstr>
      <vt:lpstr>Bi-connected graph</vt:lpstr>
      <vt:lpstr>Articulation point</vt:lpstr>
      <vt:lpstr>Bi-connected components, e.g.</vt:lpstr>
      <vt:lpstr>Example</vt:lpstr>
      <vt:lpstr>Example</vt:lpstr>
      <vt:lpstr>Example</vt:lpstr>
      <vt:lpstr>Exercises</vt:lpstr>
      <vt:lpstr>Exercises</vt:lpstr>
      <vt:lpstr>Graphs</vt:lpstr>
      <vt:lpstr>Adjacency Matrix</vt:lpstr>
      <vt:lpstr>Adjacency Matrix</vt:lpstr>
      <vt:lpstr>Adjacency List</vt:lpstr>
      <vt:lpstr>Adjacency List</vt:lpstr>
      <vt:lpstr>Tradeoffs Between Adjacency Lists and Adjacency Matrices</vt:lpstr>
      <vt:lpstr>Incidence matrix</vt:lpstr>
      <vt:lpstr>Graph Squaring</vt:lpstr>
      <vt:lpstr>Example </vt:lpstr>
      <vt:lpstr>G2 with Adjacency Matrices</vt:lpstr>
      <vt:lpstr>G2 with Adjacency Lists</vt:lpstr>
      <vt:lpstr>Exercises</vt:lpstr>
      <vt:lpstr>Graphs</vt:lpstr>
      <vt:lpstr>Traversing a Graph</vt:lpstr>
      <vt:lpstr>Marking Vertices</vt:lpstr>
      <vt:lpstr>Correctness of Graph Traversal</vt:lpstr>
      <vt:lpstr>Traversal Orders</vt:lpstr>
      <vt:lpstr>PowerPoint Presentation</vt:lpstr>
      <vt:lpstr>Example (BFS)</vt:lpstr>
      <vt:lpstr>Example (BFS)</vt:lpstr>
      <vt:lpstr>Example (BFS)</vt:lpstr>
      <vt:lpstr>Example (BFS)</vt:lpstr>
      <vt:lpstr>Example (BFS)</vt:lpstr>
      <vt:lpstr>Example (BFS)</vt:lpstr>
      <vt:lpstr>Example (BFS)</vt:lpstr>
      <vt:lpstr>Example (BFS)</vt:lpstr>
      <vt:lpstr>Example (BFS)</vt:lpstr>
      <vt:lpstr>Example (BFS)</vt:lpstr>
      <vt:lpstr>Analysis of BFS</vt:lpstr>
      <vt:lpstr>BFS- Example 2</vt:lpstr>
      <vt:lpstr>BFS- Example 2</vt:lpstr>
      <vt:lpstr>BFS- Example 2</vt:lpstr>
      <vt:lpstr>BFS- Example 2</vt:lpstr>
      <vt:lpstr>Exercise- Find the BFS tree and the traversal</vt:lpstr>
      <vt:lpstr>Depth-first Search (DFS)</vt:lpstr>
      <vt:lpstr>Depth-first Search</vt:lpstr>
      <vt:lpstr>Pseudo-code</vt:lpstr>
      <vt:lpstr>Example (DFS)</vt:lpstr>
      <vt:lpstr>Example (DFS)</vt:lpstr>
      <vt:lpstr>Example (DFS)</vt:lpstr>
      <vt:lpstr>Example (DFS)</vt:lpstr>
      <vt:lpstr>Example (DFS)</vt:lpstr>
      <vt:lpstr>Example (DFS)</vt:lpstr>
      <vt:lpstr>Example (DFS)</vt:lpstr>
      <vt:lpstr>Example (DFS)</vt:lpstr>
      <vt:lpstr>Example (DFS)</vt:lpstr>
      <vt:lpstr>Example (DFS)</vt:lpstr>
      <vt:lpstr>Example (DFS)</vt:lpstr>
      <vt:lpstr>Example (DFS)</vt:lpstr>
      <vt:lpstr>Example (DFS)</vt:lpstr>
      <vt:lpstr>Example (DFS)</vt:lpstr>
      <vt:lpstr>Example (DFS)</vt:lpstr>
      <vt:lpstr>Example (DFS)</vt:lpstr>
      <vt:lpstr>Analysis of DFS</vt:lpstr>
      <vt:lpstr>DFS – Example 2</vt:lpstr>
      <vt:lpstr>DFS – Example 2</vt:lpstr>
      <vt:lpstr>DFS – Example 2</vt:lpstr>
      <vt:lpstr>DFS – Example 2</vt:lpstr>
      <vt:lpstr>DFS – Example 2</vt:lpstr>
      <vt:lpstr>DFS – Example 2</vt:lpstr>
      <vt:lpstr>Example 3 – Identify the edges</vt:lpstr>
      <vt:lpstr>Exercise – Perform DFS </vt:lpstr>
      <vt:lpstr>Directed Graph DFS trees</vt:lpstr>
      <vt:lpstr>Classification of Edges</vt:lpstr>
      <vt:lpstr>Exercises</vt:lpstr>
      <vt:lpstr>Graphs</vt:lpstr>
      <vt:lpstr>Bipartite Graph?</vt:lpstr>
      <vt:lpstr>Cycle?</vt:lpstr>
      <vt:lpstr>Topological Sorting?</vt:lpstr>
      <vt:lpstr>DAGs and Topological Ordering</vt:lpstr>
      <vt:lpstr>Example 1 – Topological Ordering</vt:lpstr>
      <vt:lpstr>Example 1</vt:lpstr>
      <vt:lpstr>Example 1</vt:lpstr>
      <vt:lpstr>Example 1</vt:lpstr>
      <vt:lpstr>Algorithm</vt:lpstr>
      <vt:lpstr>Algorithm</vt:lpstr>
      <vt:lpstr>Example 2 - Topological Sort</vt:lpstr>
      <vt:lpstr>Example 2 - Topological Sort</vt:lpstr>
      <vt:lpstr>Example 2 - Topological Sort</vt:lpstr>
      <vt:lpstr>Example 2 - Topological Sort</vt:lpstr>
      <vt:lpstr>Example 2 - Topological Sort</vt:lpstr>
      <vt:lpstr>Example 2 - Topological Sort</vt:lpstr>
      <vt:lpstr>Example 2 - Topological Sort (Alternate Way)</vt:lpstr>
      <vt:lpstr>Topological Sort:  DFS</vt:lpstr>
      <vt:lpstr>Topological Sort:  DFS</vt:lpstr>
      <vt:lpstr>Topological Sort:  DFS</vt:lpstr>
      <vt:lpstr>Topological Sort:  DFS</vt:lpstr>
      <vt:lpstr>Topological Sort:  DFS</vt:lpstr>
      <vt:lpstr>Topological Sort:  DFS</vt:lpstr>
      <vt:lpstr>Topological Sort:  DFS</vt:lpstr>
      <vt:lpstr>Topological Sort:  DFS</vt:lpstr>
      <vt:lpstr>Topological Sort:  DFS</vt:lpstr>
      <vt:lpstr>Topological Sort:  DFS</vt:lpstr>
      <vt:lpstr>Topological Sort:  DFS</vt:lpstr>
      <vt:lpstr>Topological Sort:  DFS</vt:lpstr>
      <vt:lpstr>Topological Sort:  DFS</vt:lpstr>
      <vt:lpstr>Topological Sort:  DFS</vt:lpstr>
      <vt:lpstr>Topological Sort:  DFS</vt:lpstr>
      <vt:lpstr>Topological Sort:  DFS</vt:lpstr>
      <vt:lpstr>Topological Sort:  DFS</vt:lpstr>
      <vt:lpstr>Topological Sort:  DFS</vt:lpstr>
      <vt:lpstr>Topological Sort:  DFS</vt:lpstr>
      <vt:lpstr>Topological Sort:  DFS</vt:lpstr>
      <vt:lpstr>Topological Sort:  DFS</vt:lpstr>
      <vt:lpstr>Topological Sort:  DFS</vt:lpstr>
      <vt:lpstr>Topological Sort:  DFS</vt:lpstr>
      <vt:lpstr>Exercise – Find the Topological order</vt:lpstr>
    </vt:vector>
  </TitlesOfParts>
  <Company>MSU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Graphs</dc:title>
  <dc:creator>Eric Torng</dc:creator>
  <cp:lastModifiedBy>Dr. Supriya M.</cp:lastModifiedBy>
  <cp:revision>207</cp:revision>
  <cp:lastPrinted>2003-02-26T18:58:46Z</cp:lastPrinted>
  <dcterms:created xsi:type="dcterms:W3CDTF">2000-03-11T16:44:48Z</dcterms:created>
  <dcterms:modified xsi:type="dcterms:W3CDTF">2026-04-30T08:08:02Z</dcterms:modified>
</cp:coreProperties>
</file>