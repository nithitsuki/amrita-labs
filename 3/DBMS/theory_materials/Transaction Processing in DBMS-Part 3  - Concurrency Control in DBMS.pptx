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84" r:id="rId3"/>
    <p:sldId id="416" r:id="rId4"/>
    <p:sldId id="417" r:id="rId5"/>
    <p:sldId id="266" r:id="rId6"/>
    <p:sldId id="285" r:id="rId7"/>
    <p:sldId id="418" r:id="rId8"/>
    <p:sldId id="419" r:id="rId9"/>
    <p:sldId id="286" r:id="rId10"/>
    <p:sldId id="287" r:id="rId11"/>
    <p:sldId id="288" r:id="rId12"/>
    <p:sldId id="420" r:id="rId13"/>
    <p:sldId id="421" r:id="rId14"/>
    <p:sldId id="422" r:id="rId15"/>
    <p:sldId id="289" r:id="rId16"/>
    <p:sldId id="290" r:id="rId17"/>
    <p:sldId id="291" r:id="rId18"/>
    <p:sldId id="292" r:id="rId19"/>
    <p:sldId id="293" r:id="rId20"/>
    <p:sldId id="294" r:id="rId21"/>
    <p:sldId id="295" r:id="rId22"/>
    <p:sldId id="423" r:id="rId23"/>
    <p:sldId id="424" r:id="rId24"/>
    <p:sldId id="296" r:id="rId25"/>
    <p:sldId id="394" r:id="rId26"/>
    <p:sldId id="395" r:id="rId27"/>
    <p:sldId id="427" r:id="rId28"/>
    <p:sldId id="428" r:id="rId29"/>
    <p:sldId id="429" r:id="rId30"/>
    <p:sldId id="297" r:id="rId31"/>
    <p:sldId id="434" r:id="rId32"/>
    <p:sldId id="430" r:id="rId33"/>
    <p:sldId id="414" r:id="rId34"/>
    <p:sldId id="415" r:id="rId35"/>
    <p:sldId id="431" r:id="rId36"/>
    <p:sldId id="432" r:id="rId37"/>
    <p:sldId id="433" r:id="rId38"/>
    <p:sldId id="298" r:id="rId39"/>
    <p:sldId id="399" r:id="rId40"/>
    <p:sldId id="396" r:id="rId41"/>
    <p:sldId id="397" r:id="rId42"/>
    <p:sldId id="398" r:id="rId43"/>
    <p:sldId id="299" r:id="rId44"/>
    <p:sldId id="300" r:id="rId45"/>
    <p:sldId id="301" r:id="rId46"/>
    <p:sldId id="302" r:id="rId47"/>
    <p:sldId id="352" r:id="rId48"/>
    <p:sldId id="425" r:id="rId49"/>
    <p:sldId id="401" r:id="rId50"/>
    <p:sldId id="426" r:id="rId51"/>
    <p:sldId id="400" r:id="rId52"/>
    <p:sldId id="408" r:id="rId53"/>
    <p:sldId id="410" r:id="rId54"/>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893C2C-B3F4-D627-7FE3-DB71515E05D9}" v="4" dt="2025-11-12T15:59:05.9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USHI KUMARI-[BL.EN.U4AIE23154]" userId="S::bl.en.u4aie23154@bl.students.amrita.edu::858f328a-29d7-4de7-b0e5-6c76b342d7b5" providerId="AD" clId="Web-{C4893C2C-B3F4-D627-7FE3-DB71515E05D9}"/>
    <pc:docChg chg="sldOrd">
      <pc:chgData name="KHUSHI KUMARI-[BL.EN.U4AIE23154]" userId="S::bl.en.u4aie23154@bl.students.amrita.edu::858f328a-29d7-4de7-b0e5-6c76b342d7b5" providerId="AD" clId="Web-{C4893C2C-B3F4-D627-7FE3-DB71515E05D9}" dt="2025-11-12T15:59:05.930" v="3"/>
      <pc:docMkLst>
        <pc:docMk/>
      </pc:docMkLst>
      <pc:sldChg chg="ord">
        <pc:chgData name="KHUSHI KUMARI-[BL.EN.U4AIE23154]" userId="S::bl.en.u4aie23154@bl.students.amrita.edu::858f328a-29d7-4de7-b0e5-6c76b342d7b5" providerId="AD" clId="Web-{C4893C2C-B3F4-D627-7FE3-DB71515E05D9}" dt="2025-11-12T15:59:00.773" v="2"/>
        <pc:sldMkLst>
          <pc:docMk/>
          <pc:sldMk cId="4145540552" sldId="395"/>
        </pc:sldMkLst>
      </pc:sldChg>
      <pc:sldChg chg="ord">
        <pc:chgData name="KHUSHI KUMARI-[BL.EN.U4AIE23154]" userId="S::bl.en.u4aie23154@bl.students.amrita.edu::858f328a-29d7-4de7-b0e5-6c76b342d7b5" providerId="AD" clId="Web-{C4893C2C-B3F4-D627-7FE3-DB71515E05D9}" dt="2025-11-12T15:58:46.320" v="0"/>
        <pc:sldMkLst>
          <pc:docMk/>
          <pc:sldMk cId="3150102900" sldId="423"/>
        </pc:sldMkLst>
      </pc:sldChg>
      <pc:sldChg chg="ord">
        <pc:chgData name="KHUSHI KUMARI-[BL.EN.U4AIE23154]" userId="S::bl.en.u4aie23154@bl.students.amrita.edu::858f328a-29d7-4de7-b0e5-6c76b342d7b5" providerId="AD" clId="Web-{C4893C2C-B3F4-D627-7FE3-DB71515E05D9}" dt="2025-11-12T15:58:53.351" v="1"/>
        <pc:sldMkLst>
          <pc:docMk/>
          <pc:sldMk cId="1334964192" sldId="424"/>
        </pc:sldMkLst>
      </pc:sldChg>
      <pc:sldChg chg="ord">
        <pc:chgData name="KHUSHI KUMARI-[BL.EN.U4AIE23154]" userId="S::bl.en.u4aie23154@bl.students.amrita.edu::858f328a-29d7-4de7-b0e5-6c76b342d7b5" providerId="AD" clId="Web-{C4893C2C-B3F4-D627-7FE3-DB71515E05D9}" dt="2025-11-12T15:59:05.930" v="3"/>
        <pc:sldMkLst>
          <pc:docMk/>
          <pc:sldMk cId="2547006185" sldId="42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CF369307-8C4D-422D-A68E-320FEA5F4A87}" type="datetimeFigureOut">
              <a:rPr lang="en-US" smtClean="0"/>
              <a:t>11/12/2025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22FB03-4617-4EBB-BC4D-8D3A452E8B87}" type="slidenum">
              <a:rPr lang="en-US" smtClean="0"/>
              <a:t>‹#›</a:t>
            </a:fld>
            <a:endParaRPr lang="en-US"/>
          </a:p>
        </p:txBody>
      </p:sp>
    </p:spTree>
    <p:extLst>
      <p:ext uri="{BB962C8B-B14F-4D97-AF65-F5344CB8AC3E}">
        <p14:creationId xmlns:p14="http://schemas.microsoft.com/office/powerpoint/2010/main" val="2728230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01D35"/>
                </a:solidFill>
                <a:effectLst/>
                <a:latin typeface="Google Sans"/>
              </a:rPr>
              <a:t> isolation is a property that controls how and when changes are made to data, and how visible those changes are to other users and systems. It's also known as serializability. Isolation ensures that multiple transactions can access the same data without interfering with each other. This helps to maintain data integrity and reliability</a:t>
            </a:r>
            <a:endParaRPr lang="en-IN"/>
          </a:p>
        </p:txBody>
      </p:sp>
      <p:sp>
        <p:nvSpPr>
          <p:cNvPr id="4" name="Slide Number Placeholder 3"/>
          <p:cNvSpPr>
            <a:spLocks noGrp="1"/>
          </p:cNvSpPr>
          <p:nvPr>
            <p:ph type="sldNum" sz="quarter" idx="5"/>
          </p:nvPr>
        </p:nvSpPr>
        <p:spPr/>
        <p:txBody>
          <a:bodyPr/>
          <a:lstStyle/>
          <a:p>
            <a:fld id="{A822FB03-4617-4EBB-BC4D-8D3A452E8B87}" type="slidenum">
              <a:rPr lang="en-US" smtClean="0"/>
              <a:t>3</a:t>
            </a:fld>
            <a:endParaRPr lang="en-US"/>
          </a:p>
        </p:txBody>
      </p:sp>
    </p:spTree>
    <p:extLst>
      <p:ext uri="{BB962C8B-B14F-4D97-AF65-F5344CB8AC3E}">
        <p14:creationId xmlns:p14="http://schemas.microsoft.com/office/powerpoint/2010/main" val="364863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822FB03-4617-4EBB-BC4D-8D3A452E8B87}" type="slidenum">
              <a:rPr lang="en-US" smtClean="0"/>
              <a:t>31</a:t>
            </a:fld>
            <a:endParaRPr lang="en-US"/>
          </a:p>
        </p:txBody>
      </p:sp>
    </p:spTree>
    <p:extLst>
      <p:ext uri="{BB962C8B-B14F-4D97-AF65-F5344CB8AC3E}">
        <p14:creationId xmlns:p14="http://schemas.microsoft.com/office/powerpoint/2010/main" val="1630970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1175AC5-717B-41F5-A026-24A6A91DE2F9}"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358682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175AC5-717B-41F5-A026-24A6A91DE2F9}"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12704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175AC5-717B-41F5-A026-24A6A91DE2F9}"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2915332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175AC5-717B-41F5-A026-24A6A91DE2F9}"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1713333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175AC5-717B-41F5-A026-24A6A91DE2F9}"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160372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175AC5-717B-41F5-A026-24A6A91DE2F9}"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4150492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175AC5-717B-41F5-A026-24A6A91DE2F9}"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973614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75AC5-717B-41F5-A026-24A6A91DE2F9}"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249755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75AC5-717B-41F5-A026-24A6A91DE2F9}"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626492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175AC5-717B-41F5-A026-24A6A91DE2F9}"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384071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175AC5-717B-41F5-A026-24A6A91DE2F9}"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174862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175AC5-717B-41F5-A026-24A6A91DE2F9}" type="datetimeFigureOut">
              <a:rPr lang="en-US" smtClean="0"/>
              <a:t>11/12/2025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ED7385-1A27-4338-8D43-B2B3002AB878}" type="slidenum">
              <a:rPr lang="en-US" smtClean="0"/>
              <a:t>‹#›</a:t>
            </a:fld>
            <a:endParaRPr lang="en-US"/>
          </a:p>
        </p:txBody>
      </p:sp>
    </p:spTree>
    <p:extLst>
      <p:ext uri="{BB962C8B-B14F-4D97-AF65-F5344CB8AC3E}">
        <p14:creationId xmlns:p14="http://schemas.microsoft.com/office/powerpoint/2010/main" val="1942817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www.codingninjas.com/codestudio/library/two-phase-locking"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www.codingninjas.com/codestudio/library/lock-based-protocol-in-dbm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UNIT 3: Part II</a:t>
            </a:r>
            <a:br>
              <a:rPr lang="en-US"/>
            </a:br>
            <a:r>
              <a:rPr lang="en-US"/>
              <a:t>Concurrency Control</a:t>
            </a:r>
            <a:br>
              <a:rPr lang="en-US"/>
            </a:br>
            <a:endParaRPr lang="en-US"/>
          </a:p>
        </p:txBody>
      </p:sp>
    </p:spTree>
    <p:extLst>
      <p:ext uri="{BB962C8B-B14F-4D97-AF65-F5344CB8AC3E}">
        <p14:creationId xmlns:p14="http://schemas.microsoft.com/office/powerpoint/2010/main" val="394156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r>
              <a:rPr lang="en-US" altLang="en-US"/>
              <a:t>Concurrency Control</a:t>
            </a:r>
          </a:p>
        </p:txBody>
      </p:sp>
      <p:sp>
        <p:nvSpPr>
          <p:cNvPr id="86019" name="Content Placeholder 2"/>
          <p:cNvSpPr>
            <a:spLocks noGrp="1"/>
          </p:cNvSpPr>
          <p:nvPr>
            <p:ph idx="1"/>
          </p:nvPr>
        </p:nvSpPr>
        <p:spPr/>
        <p:txBody>
          <a:bodyPr/>
          <a:lstStyle/>
          <a:p>
            <a:pPr algn="just"/>
            <a:r>
              <a:rPr lang="en-US" altLang="en-US"/>
              <a:t>Concurrent Execution of transactions is unavoidable as it gives better throughput.</a:t>
            </a:r>
          </a:p>
          <a:p>
            <a:r>
              <a:rPr lang="en-US" altLang="en-US"/>
              <a:t>Control of concurrent transactions must be taken care by the system through concurrency control scheme.</a:t>
            </a:r>
          </a:p>
          <a:p>
            <a:r>
              <a:rPr lang="en-US" altLang="en-US"/>
              <a:t>There are set of protocols that will ensure serializability of schedules.</a:t>
            </a:r>
          </a:p>
          <a:p>
            <a:r>
              <a:rPr lang="en-US" altLang="en-US"/>
              <a:t>The most popular and simple one is locking technique.</a:t>
            </a:r>
          </a:p>
        </p:txBody>
      </p:sp>
      <p:sp>
        <p:nvSpPr>
          <p:cNvPr id="8602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E0E3D6D6-697A-448F-970A-FC03E50A1855}" type="slidenum">
              <a:rPr lang="en-US" altLang="en-US" sz="1400">
                <a:solidFill>
                  <a:srgbClr val="990033"/>
                </a:solidFill>
              </a:rPr>
              <a:pPr>
                <a:spcBef>
                  <a:spcPct val="0"/>
                </a:spcBef>
                <a:buClrTx/>
                <a:buSzTx/>
                <a:buFontTx/>
                <a:buNone/>
              </a:pPr>
              <a:t>2</a:t>
            </a:fld>
            <a:endParaRPr lang="en-CA" altLang="en-US" sz="1400">
              <a:solidFill>
                <a:srgbClr val="990033"/>
              </a:solidFill>
            </a:endParaRPr>
          </a:p>
        </p:txBody>
      </p:sp>
    </p:spTree>
    <p:extLst>
      <p:ext uri="{BB962C8B-B14F-4D97-AF65-F5344CB8AC3E}">
        <p14:creationId xmlns:p14="http://schemas.microsoft.com/office/powerpoint/2010/main" val="3572646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033"/>
          </a:xfrm>
        </p:spPr>
        <p:txBody>
          <a:bodyPr>
            <a:normAutofit fontScale="90000"/>
          </a:bodyPr>
          <a:lstStyle/>
          <a:p>
            <a:r>
              <a:rPr lang="en-US"/>
              <a:t>Lock</a:t>
            </a:r>
          </a:p>
        </p:txBody>
      </p:sp>
      <p:sp>
        <p:nvSpPr>
          <p:cNvPr id="3" name="Content Placeholder 2"/>
          <p:cNvSpPr>
            <a:spLocks noGrp="1"/>
          </p:cNvSpPr>
          <p:nvPr>
            <p:ph idx="1"/>
          </p:nvPr>
        </p:nvSpPr>
        <p:spPr>
          <a:xfrm>
            <a:off x="838200" y="1068946"/>
            <a:ext cx="10515600" cy="5108017"/>
          </a:xfrm>
        </p:spPr>
        <p:txBody>
          <a:bodyPr/>
          <a:lstStyle/>
          <a:p>
            <a:r>
              <a:rPr lang="en-US" i="1"/>
              <a:t>A Lock is a variable assigned to any data item in order to keep track of the status of that data item so that isolation and non-interference is ensured during concurrent transactions.</a:t>
            </a:r>
          </a:p>
          <a:p>
            <a:r>
              <a:rPr lang="en-US"/>
              <a:t>At its basic, a database lock exists to prevent two or more database users from performing any change on the same data item at the very same time. </a:t>
            </a:r>
          </a:p>
          <a:p>
            <a:r>
              <a:rPr lang="en-US"/>
              <a:t>In layman’s terms, this may be further simplified to the metaphorical ‘lock’ that is put on a data item so that no other user may unlock the ability to perform any update query.</a:t>
            </a:r>
          </a:p>
        </p:txBody>
      </p:sp>
    </p:spTree>
    <p:extLst>
      <p:ext uri="{BB962C8B-B14F-4D97-AF65-F5344CB8AC3E}">
        <p14:creationId xmlns:p14="http://schemas.microsoft.com/office/powerpoint/2010/main" val="1574168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2428"/>
            <a:ext cx="10515600" cy="5584535"/>
          </a:xfrm>
        </p:spPr>
        <p:txBody>
          <a:bodyPr>
            <a:normAutofit lnSpcReduction="10000"/>
          </a:bodyPr>
          <a:lstStyle/>
          <a:p>
            <a:endParaRPr lang="en-US"/>
          </a:p>
          <a:p>
            <a:endParaRPr lang="en-US"/>
          </a:p>
          <a:p>
            <a:endParaRPr lang="en-US"/>
          </a:p>
          <a:p>
            <a:pPr marL="0" indent="0">
              <a:buNone/>
            </a:pPr>
            <a:endParaRPr lang="en-US"/>
          </a:p>
          <a:p>
            <a:endParaRPr lang="en-US"/>
          </a:p>
          <a:p>
            <a:endParaRPr lang="en-US"/>
          </a:p>
          <a:p>
            <a:endParaRPr lang="en-US"/>
          </a:p>
          <a:p>
            <a:r>
              <a:rPr lang="en-US"/>
              <a:t>In Case 2, which has been portrayed above, if the user/session on the right attempts an update, it will be met with a </a:t>
            </a:r>
            <a:r>
              <a:rPr lang="en-US" b="1"/>
              <a:t>LOCK WAIT </a:t>
            </a:r>
            <a:r>
              <a:rPr lang="en-US"/>
              <a:t>state or otherwise be </a:t>
            </a:r>
            <a:r>
              <a:rPr lang="en-US" b="1"/>
              <a:t>STALLED </a:t>
            </a:r>
            <a:r>
              <a:rPr lang="en-US"/>
              <a:t>until access to the data item is unlocked. In some situations – if the stall exceeds a time limit – the session is terminated and an error statement is returned.</a:t>
            </a:r>
          </a:p>
        </p:txBody>
      </p:sp>
      <p:pic>
        <p:nvPicPr>
          <p:cNvPr id="4" name="Picture 3"/>
          <p:cNvPicPr>
            <a:picLocks noChangeAspect="1"/>
          </p:cNvPicPr>
          <p:nvPr/>
        </p:nvPicPr>
        <p:blipFill>
          <a:blip r:embed="rId2"/>
          <a:stretch>
            <a:fillRect/>
          </a:stretch>
        </p:blipFill>
        <p:spPr>
          <a:xfrm>
            <a:off x="2884465" y="655212"/>
            <a:ext cx="6191250" cy="2971800"/>
          </a:xfrm>
          <a:prstGeom prst="rect">
            <a:avLst/>
          </a:prstGeom>
        </p:spPr>
      </p:pic>
    </p:spTree>
    <p:extLst>
      <p:ext uri="{BB962C8B-B14F-4D97-AF65-F5344CB8AC3E}">
        <p14:creationId xmlns:p14="http://schemas.microsoft.com/office/powerpoint/2010/main" val="2874645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4729"/>
          </a:xfrm>
        </p:spPr>
        <p:txBody>
          <a:bodyPr>
            <a:normAutofit fontScale="90000"/>
          </a:bodyPr>
          <a:lstStyle/>
          <a:p>
            <a:r>
              <a:rPr lang="en-US"/>
              <a:t>Lock-Based Protocol</a:t>
            </a:r>
            <a:br>
              <a:rPr lang="en-US"/>
            </a:br>
            <a:endParaRPr lang="en-US"/>
          </a:p>
        </p:txBody>
      </p:sp>
      <p:sp>
        <p:nvSpPr>
          <p:cNvPr id="3" name="Content Placeholder 2"/>
          <p:cNvSpPr>
            <a:spLocks noGrp="1"/>
          </p:cNvSpPr>
          <p:nvPr>
            <p:ph idx="1"/>
          </p:nvPr>
        </p:nvSpPr>
        <p:spPr>
          <a:xfrm>
            <a:off x="838200" y="566670"/>
            <a:ext cx="10515600" cy="5610293"/>
          </a:xfrm>
        </p:spPr>
        <p:txBody>
          <a:bodyPr>
            <a:normAutofit lnSpcReduction="10000"/>
          </a:bodyPr>
          <a:lstStyle/>
          <a:p>
            <a:r>
              <a:rPr lang="en-US"/>
              <a:t>In this type of protocol, any transaction cannot read or write data until it acquires an appropriate lock on it. There are two types of lock:</a:t>
            </a:r>
          </a:p>
          <a:p>
            <a:r>
              <a:rPr lang="en-US" b="1"/>
              <a:t>1. Shared lock:</a:t>
            </a:r>
            <a:endParaRPr lang="en-US"/>
          </a:p>
          <a:p>
            <a:r>
              <a:rPr lang="en-US"/>
              <a:t>It is also known as a Read-only lock. In a shared lock, the data item can only read by the transaction.</a:t>
            </a:r>
          </a:p>
          <a:p>
            <a:r>
              <a:rPr lang="en-US"/>
              <a:t>It can be shared between the transactions because when the transaction holds a lock, then it can't update the data on the data item.</a:t>
            </a:r>
          </a:p>
          <a:p>
            <a:r>
              <a:rPr lang="en-US" b="1"/>
              <a:t>2. Exclusive lock:</a:t>
            </a:r>
            <a:endParaRPr lang="en-US"/>
          </a:p>
          <a:p>
            <a:r>
              <a:rPr lang="en-US"/>
              <a:t>In the exclusive lock, the data item can be both reads as well as written by the transaction.</a:t>
            </a:r>
          </a:p>
          <a:p>
            <a:r>
              <a:rPr lang="en-US"/>
              <a:t>This lock is exclusive, and in this lock, multiple transactions do not modify the same data simultaneously.</a:t>
            </a:r>
          </a:p>
          <a:p>
            <a:endParaRPr lang="en-US"/>
          </a:p>
        </p:txBody>
      </p:sp>
    </p:spTree>
    <p:extLst>
      <p:ext uri="{BB962C8B-B14F-4D97-AF65-F5344CB8AC3E}">
        <p14:creationId xmlns:p14="http://schemas.microsoft.com/office/powerpoint/2010/main" val="1976118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838200" y="365126"/>
            <a:ext cx="10515600" cy="536396"/>
          </a:xfrm>
        </p:spPr>
        <p:txBody>
          <a:bodyPr>
            <a:noAutofit/>
          </a:bodyPr>
          <a:lstStyle/>
          <a:p>
            <a:r>
              <a:rPr lang="en-US" altLang="en-US" sz="3600"/>
              <a:t>Lock based Concurrency Control</a:t>
            </a:r>
          </a:p>
        </p:txBody>
      </p:sp>
      <p:sp>
        <p:nvSpPr>
          <p:cNvPr id="87043" name="Content Placeholder 2"/>
          <p:cNvSpPr>
            <a:spLocks noGrp="1"/>
          </p:cNvSpPr>
          <p:nvPr>
            <p:ph idx="1"/>
          </p:nvPr>
        </p:nvSpPr>
        <p:spPr>
          <a:xfrm>
            <a:off x="838200" y="953036"/>
            <a:ext cx="10515600" cy="5422005"/>
          </a:xfrm>
        </p:spPr>
        <p:txBody>
          <a:bodyPr>
            <a:normAutofit fontScale="62500" lnSpcReduction="20000"/>
          </a:bodyPr>
          <a:lstStyle/>
          <a:p>
            <a:pPr algn="just"/>
            <a:r>
              <a:rPr lang="en-US" altLang="en-US"/>
              <a:t>2 types are there.</a:t>
            </a:r>
          </a:p>
          <a:p>
            <a:pPr lvl="1" algn="just"/>
            <a:r>
              <a:rPr lang="en-US" altLang="en-US"/>
              <a:t>Binary</a:t>
            </a:r>
          </a:p>
          <a:p>
            <a:pPr lvl="1" algn="just"/>
            <a:r>
              <a:rPr lang="en-US" altLang="en-US"/>
              <a:t>Shared &amp; Exclusive</a:t>
            </a:r>
          </a:p>
          <a:p>
            <a:r>
              <a:rPr lang="en-US" b="1"/>
              <a:t>Binary Locks: </a:t>
            </a:r>
            <a:r>
              <a:rPr lang="en-US"/>
              <a:t>A Binary lock on a data item can either locked or unlocked states.</a:t>
            </a:r>
            <a:endParaRPr lang="en-US" sz="2000"/>
          </a:p>
          <a:p>
            <a:r>
              <a:rPr lang="en-US" b="1"/>
              <a:t>Shared/exclusive:</a:t>
            </a:r>
            <a:r>
              <a:rPr lang="en-US"/>
              <a:t> This type of locking mechanism separates the locks in DBMS based on their uses. If a lock is acquired on a data item to perform a write operation, it is called an exclusive lock.</a:t>
            </a:r>
            <a:endParaRPr lang="en-US" sz="2400"/>
          </a:p>
          <a:p>
            <a:r>
              <a:rPr lang="en-US" b="1"/>
              <a:t>1. Shared Lock (S):</a:t>
            </a:r>
            <a:endParaRPr lang="en-US" sz="2400"/>
          </a:p>
          <a:p>
            <a:r>
              <a:rPr lang="en-US"/>
              <a:t>A shared lock is also called a Read-only lock. With the shared lock, the data item can be shared between transactions. This is because you will never have permission to update data on the data item.</a:t>
            </a:r>
            <a:endParaRPr lang="en-US" sz="2400"/>
          </a:p>
          <a:p>
            <a:r>
              <a:rPr lang="en-US"/>
              <a:t>For example, consider a case where two transactions are reading the account balance of a person. The database will let them read by placing a shared lock. However, if another transaction wants to update that account’s balance, shared lock prevent it until the reading process is over.</a:t>
            </a:r>
            <a:endParaRPr lang="en-US" sz="2400"/>
          </a:p>
          <a:p>
            <a:r>
              <a:rPr lang="en-US" b="1"/>
              <a:t>2. Exclusive Lock (X):</a:t>
            </a:r>
            <a:endParaRPr lang="en-US" sz="2400"/>
          </a:p>
          <a:p>
            <a:r>
              <a:rPr lang="en-US"/>
              <a:t>With the Exclusive Lock, a data item can be read as well as written. This is exclusive and can’t be held concurrently on the same data item. X-lock is requested using lock-x instruction. Transactions may unlock the data item after finishing the ‘write’ operation.</a:t>
            </a:r>
            <a:endParaRPr lang="en-US" sz="2400"/>
          </a:p>
          <a:p>
            <a:r>
              <a:rPr lang="en-US"/>
              <a:t>For example, when a transaction needs to update the account balance of a person. You can allows this transaction by placing X lock on it. Therefore, when the second transaction wants to read or write, exclusive lock prevent this operation.</a:t>
            </a:r>
            <a:endParaRPr lang="en-US" sz="2400"/>
          </a:p>
          <a:p>
            <a:pPr lvl="1" algn="just"/>
            <a:endParaRPr lang="en-US" altLang="en-US"/>
          </a:p>
        </p:txBody>
      </p:sp>
      <p:sp>
        <p:nvSpPr>
          <p:cNvPr id="8704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85433C99-981F-49E4-97C3-071D0A85C539}" type="slidenum">
              <a:rPr lang="en-US" altLang="en-US" sz="1400">
                <a:solidFill>
                  <a:srgbClr val="990033"/>
                </a:solidFill>
              </a:rPr>
              <a:pPr>
                <a:spcBef>
                  <a:spcPct val="0"/>
                </a:spcBef>
                <a:buClrTx/>
                <a:buSzTx/>
                <a:buFontTx/>
                <a:buNone/>
              </a:pPr>
              <a:t>6</a:t>
            </a:fld>
            <a:endParaRPr lang="en-CA" altLang="en-US" sz="1400">
              <a:solidFill>
                <a:srgbClr val="990033"/>
              </a:solidFill>
            </a:endParaRPr>
          </a:p>
        </p:txBody>
      </p:sp>
    </p:spTree>
    <p:extLst>
      <p:ext uri="{BB962C8B-B14F-4D97-AF65-F5344CB8AC3E}">
        <p14:creationId xmlns:p14="http://schemas.microsoft.com/office/powerpoint/2010/main" val="2556096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fontScale="90000"/>
          </a:bodyPr>
          <a:lstStyle/>
          <a:p>
            <a:r>
              <a:rPr lang="en-US"/>
              <a:t>Binary Lock</a:t>
            </a:r>
          </a:p>
        </p:txBody>
      </p:sp>
      <p:sp>
        <p:nvSpPr>
          <p:cNvPr id="3" name="Content Placeholder 2"/>
          <p:cNvSpPr>
            <a:spLocks noGrp="1"/>
          </p:cNvSpPr>
          <p:nvPr>
            <p:ph idx="1"/>
          </p:nvPr>
        </p:nvSpPr>
        <p:spPr>
          <a:xfrm>
            <a:off x="838200" y="1043189"/>
            <a:ext cx="10515600" cy="5133774"/>
          </a:xfrm>
        </p:spPr>
        <p:txBody>
          <a:bodyPr/>
          <a:lstStyle/>
          <a:p>
            <a:r>
              <a:rPr lang="en-US"/>
              <a:t>Remember that a lock is fundamentally a variable which holds a value. A binary lock is a variable capable of holding only 2 possible values, i.e., a </a:t>
            </a:r>
            <a:r>
              <a:rPr lang="en-US" b="1"/>
              <a:t>1 (depicting a locked state) </a:t>
            </a:r>
            <a:r>
              <a:rPr lang="en-US"/>
              <a:t>or a </a:t>
            </a:r>
            <a:r>
              <a:rPr lang="en-US" b="1"/>
              <a:t>0 (depicting an unlocked state)</a:t>
            </a:r>
            <a:r>
              <a:rPr lang="en-US"/>
              <a:t>. This lock is usually associated with every data item in the database ( maybe at table level, row level or even the entire database level). </a:t>
            </a:r>
          </a:p>
        </p:txBody>
      </p:sp>
      <p:pic>
        <p:nvPicPr>
          <p:cNvPr id="4" name="Picture 3"/>
          <p:cNvPicPr>
            <a:picLocks noChangeAspect="1"/>
          </p:cNvPicPr>
          <p:nvPr/>
        </p:nvPicPr>
        <p:blipFill>
          <a:blip r:embed="rId2"/>
          <a:stretch>
            <a:fillRect/>
          </a:stretch>
        </p:blipFill>
        <p:spPr>
          <a:xfrm>
            <a:off x="3796920" y="3087911"/>
            <a:ext cx="4314825" cy="3000375"/>
          </a:xfrm>
          <a:prstGeom prst="rect">
            <a:avLst/>
          </a:prstGeom>
        </p:spPr>
      </p:pic>
    </p:spTree>
    <p:extLst>
      <p:ext uri="{BB962C8B-B14F-4D97-AF65-F5344CB8AC3E}">
        <p14:creationId xmlns:p14="http://schemas.microsoft.com/office/powerpoint/2010/main" val="367477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2002"/>
          </a:xfrm>
        </p:spPr>
        <p:txBody>
          <a:bodyPr>
            <a:normAutofit fontScale="90000"/>
          </a:bodyPr>
          <a:lstStyle/>
          <a:p>
            <a:endParaRPr lang="en-US"/>
          </a:p>
        </p:txBody>
      </p:sp>
      <p:sp>
        <p:nvSpPr>
          <p:cNvPr id="3" name="Content Placeholder 2"/>
          <p:cNvSpPr>
            <a:spLocks noGrp="1"/>
          </p:cNvSpPr>
          <p:nvPr>
            <p:ph idx="1"/>
          </p:nvPr>
        </p:nvSpPr>
        <p:spPr>
          <a:xfrm>
            <a:off x="838200" y="1004552"/>
            <a:ext cx="10515600" cy="5172411"/>
          </a:xfrm>
        </p:spPr>
        <p:txBody>
          <a:bodyPr/>
          <a:lstStyle/>
          <a:p>
            <a:pPr fontAlgn="base"/>
            <a:r>
              <a:rPr lang="en-US"/>
              <a:t>Should item X be unlocked, then a corresponding object lock(X) would return the value 0. So, the instant a user/session begins updating the contents of item X, lock(X) is set to a value of 1. Due to this, for as long as the update query lasts, no other user may access the item X – even read or write to it! </a:t>
            </a:r>
          </a:p>
          <a:p>
            <a:pPr fontAlgn="base"/>
            <a:r>
              <a:rPr lang="en-US"/>
              <a:t>There are 2 operations used to implement binary locks. They are </a:t>
            </a:r>
            <a:r>
              <a:rPr lang="en-US" err="1"/>
              <a:t>lock_data</a:t>
            </a:r>
            <a:r>
              <a:rPr lang="en-US"/>
              <a:t>( ) and </a:t>
            </a:r>
            <a:r>
              <a:rPr lang="en-US" err="1"/>
              <a:t>unlock_data</a:t>
            </a:r>
            <a:r>
              <a:rPr lang="en-US"/>
              <a:t>( ). </a:t>
            </a:r>
          </a:p>
          <a:p>
            <a:pPr marL="0" indent="0">
              <a:buNone/>
            </a:pPr>
            <a:endParaRPr lang="en-US"/>
          </a:p>
        </p:txBody>
      </p:sp>
    </p:spTree>
    <p:extLst>
      <p:ext uri="{BB962C8B-B14F-4D97-AF65-F5344CB8AC3E}">
        <p14:creationId xmlns:p14="http://schemas.microsoft.com/office/powerpoint/2010/main" val="256263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r>
              <a:rPr lang="en-US" altLang="en-US"/>
              <a:t>Binary Lock</a:t>
            </a:r>
          </a:p>
        </p:txBody>
      </p:sp>
      <p:sp>
        <p:nvSpPr>
          <p:cNvPr id="88067" name="Content Placeholder 2"/>
          <p:cNvSpPr>
            <a:spLocks noGrp="1"/>
          </p:cNvSpPr>
          <p:nvPr>
            <p:ph idx="1"/>
          </p:nvPr>
        </p:nvSpPr>
        <p:spPr/>
        <p:txBody>
          <a:bodyPr>
            <a:normAutofit fontScale="92500" lnSpcReduction="10000"/>
          </a:bodyPr>
          <a:lstStyle/>
          <a:p>
            <a:pPr lvl="1" algn="just"/>
            <a:r>
              <a:rPr lang="en-US" altLang="en-US"/>
              <a:t>LOCK(X) – lock on object X =&gt; L(X) = 1</a:t>
            </a:r>
          </a:p>
          <a:p>
            <a:pPr lvl="1" algn="just"/>
            <a:r>
              <a:rPr lang="en-US" altLang="en-US"/>
              <a:t>UNLOCK(X) – Unlock on object X =&gt; L(X) = 0</a:t>
            </a:r>
          </a:p>
          <a:p>
            <a:pPr marL="0" indent="0" algn="just">
              <a:buNone/>
            </a:pPr>
            <a:r>
              <a:rPr lang="en-US" altLang="en-US"/>
              <a:t>Algorithm:</a:t>
            </a:r>
          </a:p>
          <a:p>
            <a:pPr marL="0" indent="0" algn="just">
              <a:buNone/>
            </a:pPr>
            <a:r>
              <a:rPr lang="en-US" altLang="en-US" sz="2400">
                <a:solidFill>
                  <a:srgbClr val="FF0000"/>
                </a:solidFill>
              </a:rPr>
              <a:t>LOCK(X)</a:t>
            </a:r>
          </a:p>
          <a:p>
            <a:pPr marL="0" indent="0" algn="just">
              <a:buNone/>
            </a:pPr>
            <a:r>
              <a:rPr lang="en-US" altLang="en-US" sz="2400">
                <a:solidFill>
                  <a:srgbClr val="FF0000"/>
                </a:solidFill>
              </a:rPr>
              <a:t>{ </a:t>
            </a:r>
          </a:p>
          <a:p>
            <a:pPr marL="0" indent="0" algn="just">
              <a:buNone/>
            </a:pPr>
            <a:r>
              <a:rPr lang="en-US" altLang="en-US" sz="2400">
                <a:solidFill>
                  <a:srgbClr val="FF0000"/>
                </a:solidFill>
              </a:rPr>
              <a:t>	if L(X)=0</a:t>
            </a:r>
          </a:p>
          <a:p>
            <a:pPr marL="0" indent="0" algn="just">
              <a:buNone/>
            </a:pPr>
            <a:r>
              <a:rPr lang="en-US" altLang="en-US" sz="2400">
                <a:solidFill>
                  <a:srgbClr val="FF0000"/>
                </a:solidFill>
              </a:rPr>
              <a:t>             then L(X)=1</a:t>
            </a:r>
          </a:p>
          <a:p>
            <a:pPr marL="0" indent="0" algn="just">
              <a:buNone/>
            </a:pPr>
            <a:r>
              <a:rPr lang="en-US" altLang="en-US" sz="2400">
                <a:solidFill>
                  <a:srgbClr val="FF0000"/>
                </a:solidFill>
              </a:rPr>
              <a:t>         else                      //when lock(x)==1 or item(x)  is locked  </a:t>
            </a:r>
          </a:p>
          <a:p>
            <a:pPr marL="0" indent="0" algn="just">
              <a:buNone/>
            </a:pPr>
            <a:r>
              <a:rPr lang="en-US" altLang="en-US" sz="2400">
                <a:solidFill>
                  <a:srgbClr val="FF0000"/>
                </a:solidFill>
              </a:rPr>
              <a:t>             wait until L(x)=0          // </a:t>
            </a:r>
            <a:r>
              <a:rPr lang="en-US" altLang="en-US" sz="2400">
                <a:solidFill>
                  <a:srgbClr val="FF0000"/>
                </a:solidFill>
                <a:latin typeface="Consolas" panose="020B0609020204030204" pitchFamily="49" charset="0"/>
                <a:cs typeface="Consolas" panose="020B0609020204030204" pitchFamily="49" charset="0"/>
              </a:rPr>
              <a:t>wait for the user to finish the update query</a:t>
            </a:r>
            <a:r>
              <a:rPr lang="en-US" altLang="en-US" sz="2000">
                <a:solidFill>
                  <a:srgbClr val="FF0000"/>
                </a:solidFill>
              </a:rPr>
              <a:t> </a:t>
            </a:r>
            <a:endParaRPr lang="en-US" altLang="en-US" sz="2400">
              <a:solidFill>
                <a:srgbClr val="FF0000"/>
              </a:solidFill>
            </a:endParaRPr>
          </a:p>
          <a:p>
            <a:pPr marL="0" indent="0" algn="just">
              <a:buNone/>
            </a:pPr>
            <a:r>
              <a:rPr lang="en-US" altLang="en-US" sz="2400">
                <a:solidFill>
                  <a:srgbClr val="FF0000"/>
                </a:solidFill>
              </a:rPr>
              <a:t>             wake up T                        </a:t>
            </a:r>
          </a:p>
          <a:p>
            <a:pPr marL="0" indent="0" algn="just">
              <a:buNone/>
            </a:pPr>
            <a:r>
              <a:rPr lang="en-US" altLang="en-US" sz="2400">
                <a:solidFill>
                  <a:srgbClr val="FF0000"/>
                </a:solidFill>
              </a:rPr>
              <a:t>}</a:t>
            </a:r>
          </a:p>
        </p:txBody>
      </p:sp>
      <p:sp>
        <p:nvSpPr>
          <p:cNvPr id="8806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F9738EE9-0442-432F-A2EF-06D2311CAE65}" type="slidenum">
              <a:rPr lang="en-US" altLang="en-US" sz="1400">
                <a:solidFill>
                  <a:srgbClr val="990033"/>
                </a:solidFill>
              </a:rPr>
              <a:pPr>
                <a:spcBef>
                  <a:spcPct val="0"/>
                </a:spcBef>
                <a:buClrTx/>
                <a:buSzTx/>
                <a:buFontTx/>
                <a:buNone/>
              </a:pPr>
              <a:t>9</a:t>
            </a:fld>
            <a:endParaRPr lang="en-CA" altLang="en-US" sz="1400">
              <a:solidFill>
                <a:srgbClr val="990033"/>
              </a:solidFill>
            </a:endParaRPr>
          </a:p>
        </p:txBody>
      </p:sp>
    </p:spTree>
    <p:extLst>
      <p:ext uri="{BB962C8B-B14F-4D97-AF65-F5344CB8AC3E}">
        <p14:creationId xmlns:p14="http://schemas.microsoft.com/office/powerpoint/2010/main" val="1019773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ltLang="en-US"/>
              <a:t>Binary Lock</a:t>
            </a:r>
          </a:p>
        </p:txBody>
      </p:sp>
      <p:sp>
        <p:nvSpPr>
          <p:cNvPr id="89091" name="Content Placeholder 2"/>
          <p:cNvSpPr>
            <a:spLocks noGrp="1"/>
          </p:cNvSpPr>
          <p:nvPr>
            <p:ph idx="1"/>
          </p:nvPr>
        </p:nvSpPr>
        <p:spPr/>
        <p:txBody>
          <a:bodyPr/>
          <a:lstStyle/>
          <a:p>
            <a:pPr marL="0" indent="0" algn="just">
              <a:buNone/>
            </a:pPr>
            <a:r>
              <a:rPr lang="en-US" altLang="en-US"/>
              <a:t>Algorithm:</a:t>
            </a:r>
          </a:p>
          <a:p>
            <a:pPr marL="0" indent="0" algn="just">
              <a:buNone/>
            </a:pPr>
            <a:endParaRPr lang="en-US" altLang="en-US"/>
          </a:p>
        </p:txBody>
      </p:sp>
      <p:sp>
        <p:nvSpPr>
          <p:cNvPr id="8909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05B487A0-2559-49A2-98CF-FE366DAA39E0}" type="slidenum">
              <a:rPr lang="en-US" altLang="en-US" sz="1400">
                <a:solidFill>
                  <a:srgbClr val="990033"/>
                </a:solidFill>
              </a:rPr>
              <a:pPr>
                <a:spcBef>
                  <a:spcPct val="0"/>
                </a:spcBef>
                <a:buClrTx/>
                <a:buSzTx/>
                <a:buFontTx/>
                <a:buNone/>
              </a:pPr>
              <a:t>10</a:t>
            </a:fld>
            <a:endParaRPr lang="en-CA" altLang="en-US" sz="1400">
              <a:solidFill>
                <a:srgbClr val="990033"/>
              </a:solidFill>
            </a:endParaRPr>
          </a:p>
        </p:txBody>
      </p:sp>
      <p:pic>
        <p:nvPicPr>
          <p:cNvPr id="3" name="Picture 2"/>
          <p:cNvPicPr>
            <a:picLocks noChangeAspect="1"/>
          </p:cNvPicPr>
          <p:nvPr/>
        </p:nvPicPr>
        <p:blipFill>
          <a:blip r:embed="rId2"/>
          <a:stretch>
            <a:fillRect/>
          </a:stretch>
        </p:blipFill>
        <p:spPr>
          <a:xfrm>
            <a:off x="1863815" y="2537139"/>
            <a:ext cx="5902146" cy="3193960"/>
          </a:xfrm>
          <a:prstGeom prst="rect">
            <a:avLst/>
          </a:prstGeom>
        </p:spPr>
      </p:pic>
    </p:spTree>
    <p:extLst>
      <p:ext uri="{BB962C8B-B14F-4D97-AF65-F5344CB8AC3E}">
        <p14:creationId xmlns:p14="http://schemas.microsoft.com/office/powerpoint/2010/main" val="2307210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altLang="en-US"/>
              <a:t>Shared &amp; Exclusive Lock</a:t>
            </a:r>
          </a:p>
        </p:txBody>
      </p:sp>
      <p:sp>
        <p:nvSpPr>
          <p:cNvPr id="90115" name="Content Placeholder 2"/>
          <p:cNvSpPr>
            <a:spLocks noGrp="1"/>
          </p:cNvSpPr>
          <p:nvPr>
            <p:ph idx="1"/>
          </p:nvPr>
        </p:nvSpPr>
        <p:spPr/>
        <p:txBody>
          <a:bodyPr/>
          <a:lstStyle/>
          <a:p>
            <a:pPr algn="just"/>
            <a:r>
              <a:rPr lang="en-US" altLang="en-US"/>
              <a:t>In case of binary lock, even if the read-read operation occurs, there is a lock getting applied.</a:t>
            </a:r>
          </a:p>
          <a:p>
            <a:pPr algn="just"/>
            <a:r>
              <a:rPr lang="en-US" altLang="en-US"/>
              <a:t>But R-R is not a conflict.</a:t>
            </a:r>
          </a:p>
          <a:p>
            <a:pPr algn="just"/>
            <a:r>
              <a:rPr lang="en-US" altLang="en-US"/>
              <a:t>Hence we use the concept of shared lock &amp; exclusive lock.</a:t>
            </a:r>
          </a:p>
        </p:txBody>
      </p:sp>
      <p:sp>
        <p:nvSpPr>
          <p:cNvPr id="9011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3C871777-9CA7-40A4-82BE-4723B98E7110}" type="slidenum">
              <a:rPr lang="en-US" altLang="en-US" sz="1400">
                <a:solidFill>
                  <a:srgbClr val="990033"/>
                </a:solidFill>
              </a:rPr>
              <a:pPr>
                <a:spcBef>
                  <a:spcPct val="0"/>
                </a:spcBef>
                <a:buClrTx/>
                <a:buSzTx/>
                <a:buFontTx/>
                <a:buNone/>
              </a:pPr>
              <a:t>11</a:t>
            </a:fld>
            <a:endParaRPr lang="en-CA" altLang="en-US" sz="1400">
              <a:solidFill>
                <a:srgbClr val="990033"/>
              </a:solidFill>
            </a:endParaRPr>
          </a:p>
        </p:txBody>
      </p:sp>
    </p:spTree>
    <p:extLst>
      <p:ext uri="{BB962C8B-B14F-4D97-AF65-F5344CB8AC3E}">
        <p14:creationId xmlns:p14="http://schemas.microsoft.com/office/powerpoint/2010/main" val="171695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2428"/>
            <a:ext cx="10515600" cy="5584535"/>
          </a:xfrm>
        </p:spPr>
        <p:txBody>
          <a:bodyPr/>
          <a:lstStyle/>
          <a:p>
            <a:r>
              <a:rPr lang="en-US" b="1"/>
              <a:t>Shared or Exclusive Locks :</a:t>
            </a:r>
            <a:br>
              <a:rPr lang="en-US"/>
            </a:br>
            <a:r>
              <a:rPr lang="en-US"/>
              <a:t>The incentive governing these types of locks is the restrictive nature of binary locks. Here we look at locks which permit other transactions to make read queries since </a:t>
            </a:r>
            <a:r>
              <a:rPr lang="en-US" b="1"/>
              <a:t>a READ query is non-conflicting</a:t>
            </a:r>
            <a:r>
              <a:rPr lang="en-US"/>
              <a:t>. </a:t>
            </a:r>
          </a:p>
          <a:p>
            <a:r>
              <a:rPr lang="en-US"/>
              <a:t>However, if a transaction demands a write query on item X, then that transaction must be given exclusive access to item X.  So, we require a kind of </a:t>
            </a:r>
            <a:r>
              <a:rPr lang="en-US" b="1"/>
              <a:t>multi-mode lock </a:t>
            </a:r>
            <a:r>
              <a:rPr lang="en-US"/>
              <a:t>which is what shared/exclusive locks are. They are also known as Read/Write locks.</a:t>
            </a:r>
          </a:p>
        </p:txBody>
      </p:sp>
    </p:spTree>
    <p:extLst>
      <p:ext uri="{BB962C8B-B14F-4D97-AF65-F5344CB8AC3E}">
        <p14:creationId xmlns:p14="http://schemas.microsoft.com/office/powerpoint/2010/main" val="2662074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8338"/>
            <a:ext cx="10515600" cy="5468625"/>
          </a:xfrm>
        </p:spPr>
        <p:txBody>
          <a:bodyPr>
            <a:normAutofit fontScale="92500"/>
          </a:bodyPr>
          <a:lstStyle/>
          <a:p>
            <a:r>
              <a:rPr lang="en-US"/>
              <a:t>Unlike binary locks, Read/Write locks may be set to 3 values, i.e., </a:t>
            </a:r>
            <a:r>
              <a:rPr lang="en-US" b="1"/>
              <a:t>SHARED</a:t>
            </a:r>
            <a:r>
              <a:rPr lang="en-US"/>
              <a:t>, </a:t>
            </a:r>
            <a:r>
              <a:rPr lang="en-US" b="1"/>
              <a:t>EXCLUSIVE</a:t>
            </a:r>
            <a:r>
              <a:rPr lang="en-US"/>
              <a:t> or </a:t>
            </a:r>
            <a:r>
              <a:rPr lang="en-US" b="1"/>
              <a:t>UNLOCKED</a:t>
            </a:r>
            <a:r>
              <a:rPr lang="en-US"/>
              <a:t>. Hence, our lock, i.e., lock(X), may reflect either of the following values:</a:t>
            </a:r>
          </a:p>
          <a:p>
            <a:pPr fontAlgn="base"/>
            <a:r>
              <a:rPr lang="en-US" b="1"/>
              <a:t>READ-LOCKED –</a:t>
            </a:r>
            <a:br>
              <a:rPr lang="en-US"/>
            </a:br>
            <a:r>
              <a:rPr lang="en-US"/>
              <a:t>If a transaction only requires to read the contents of item X and the lock only permits reading. This is also known as a </a:t>
            </a:r>
            <a:r>
              <a:rPr lang="en-US" i="1"/>
              <a:t>shared lock</a:t>
            </a:r>
            <a:r>
              <a:rPr lang="en-US"/>
              <a:t>.</a:t>
            </a:r>
          </a:p>
          <a:p>
            <a:pPr fontAlgn="base"/>
            <a:r>
              <a:rPr lang="en-US" b="1"/>
              <a:t>WRITE-LOCKED –</a:t>
            </a:r>
            <a:br>
              <a:rPr lang="en-US"/>
            </a:br>
            <a:r>
              <a:rPr lang="en-US"/>
              <a:t>If a transaction needs to update or write to item X, the lock must restrict all other transactions and provide exclusive access to the current transaction. Thus, these locks are also known as </a:t>
            </a:r>
            <a:r>
              <a:rPr lang="en-US" i="1"/>
              <a:t>exclusive locks</a:t>
            </a:r>
            <a:r>
              <a:rPr lang="en-US"/>
              <a:t>.</a:t>
            </a:r>
          </a:p>
          <a:p>
            <a:pPr fontAlgn="base"/>
            <a:r>
              <a:rPr lang="en-US" b="1"/>
              <a:t>UNLOCKED –</a:t>
            </a:r>
            <a:br>
              <a:rPr lang="en-US"/>
            </a:br>
            <a:r>
              <a:rPr lang="en-US"/>
              <a:t>Once a transaction has completed its read or update operations, no lock is held and the data item is unlocked. In this state, the item may be accessed by any queued transactions.</a:t>
            </a:r>
          </a:p>
          <a:p>
            <a:endParaRPr lang="en-US"/>
          </a:p>
        </p:txBody>
      </p:sp>
    </p:spTree>
    <p:extLst>
      <p:ext uri="{BB962C8B-B14F-4D97-AF65-F5344CB8AC3E}">
        <p14:creationId xmlns:p14="http://schemas.microsoft.com/office/powerpoint/2010/main" val="4264221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34862" y="510772"/>
            <a:ext cx="7173531" cy="5503662"/>
          </a:xfrm>
          <a:prstGeom prst="rect">
            <a:avLst/>
          </a:prstGeom>
        </p:spPr>
      </p:pic>
    </p:spTree>
    <p:extLst>
      <p:ext uri="{BB962C8B-B14F-4D97-AF65-F5344CB8AC3E}">
        <p14:creationId xmlns:p14="http://schemas.microsoft.com/office/powerpoint/2010/main" val="300607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r>
              <a:rPr lang="en-US" altLang="en-US"/>
              <a:t>Shared Lock</a:t>
            </a:r>
          </a:p>
        </p:txBody>
      </p:sp>
      <p:sp>
        <p:nvSpPr>
          <p:cNvPr id="91139" name="Content Placeholder 2"/>
          <p:cNvSpPr>
            <a:spLocks noGrp="1"/>
          </p:cNvSpPr>
          <p:nvPr>
            <p:ph idx="1"/>
          </p:nvPr>
        </p:nvSpPr>
        <p:spPr/>
        <p:txBody>
          <a:bodyPr/>
          <a:lstStyle/>
          <a:p>
            <a:pPr algn="just"/>
            <a:r>
              <a:rPr lang="en-US" altLang="en-US"/>
              <a:t>If a shared lock is requested by T, the lock manager grants it, provided there is no exclusive lock on the object A. </a:t>
            </a:r>
            <a:r>
              <a:rPr lang="en-US" altLang="en-US" err="1"/>
              <a:t>ie</a:t>
            </a:r>
            <a:r>
              <a:rPr lang="en-US" altLang="en-US"/>
              <a:t> L(A) = s</a:t>
            </a:r>
          </a:p>
          <a:p>
            <a:pPr algn="just"/>
            <a:r>
              <a:rPr lang="en-US" altLang="en-US"/>
              <a:t>Lock manager the increments the count of number of read locks on A by 1.</a:t>
            </a:r>
          </a:p>
        </p:txBody>
      </p:sp>
      <p:sp>
        <p:nvSpPr>
          <p:cNvPr id="9114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C6DFE570-9764-4272-95E3-4EC8B045D29F}" type="slidenum">
              <a:rPr lang="en-US" altLang="en-US" sz="1400">
                <a:solidFill>
                  <a:srgbClr val="990033"/>
                </a:solidFill>
              </a:rPr>
              <a:pPr>
                <a:spcBef>
                  <a:spcPct val="0"/>
                </a:spcBef>
                <a:buClrTx/>
                <a:buSzTx/>
                <a:buFontTx/>
                <a:buNone/>
              </a:pPr>
              <a:t>15</a:t>
            </a:fld>
            <a:endParaRPr lang="en-CA" altLang="en-US" sz="1400">
              <a:solidFill>
                <a:srgbClr val="990033"/>
              </a:solidFill>
            </a:endParaRPr>
          </a:p>
        </p:txBody>
      </p:sp>
    </p:spTree>
    <p:extLst>
      <p:ext uri="{BB962C8B-B14F-4D97-AF65-F5344CB8AC3E}">
        <p14:creationId xmlns:p14="http://schemas.microsoft.com/office/powerpoint/2010/main" val="1255185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r>
              <a:rPr lang="en-US" altLang="en-US"/>
              <a:t>Exclusive Lock</a:t>
            </a:r>
          </a:p>
        </p:txBody>
      </p:sp>
      <p:sp>
        <p:nvSpPr>
          <p:cNvPr id="92163" name="Content Placeholder 2"/>
          <p:cNvSpPr>
            <a:spLocks noGrp="1"/>
          </p:cNvSpPr>
          <p:nvPr>
            <p:ph idx="1"/>
          </p:nvPr>
        </p:nvSpPr>
        <p:spPr/>
        <p:txBody>
          <a:bodyPr/>
          <a:lstStyle/>
          <a:p>
            <a:pPr algn="just"/>
            <a:r>
              <a:rPr lang="en-US" altLang="en-US"/>
              <a:t>If an exclusive lock is requested by T, the lock manager grants it provided no other transactions hold the lock on A. </a:t>
            </a:r>
          </a:p>
          <a:p>
            <a:pPr algn="just"/>
            <a:r>
              <a:rPr lang="en-US" altLang="en-US"/>
              <a:t>If the request raised by T cannot be granted, then T is inserted into the waiting queue.</a:t>
            </a:r>
          </a:p>
        </p:txBody>
      </p:sp>
      <p:sp>
        <p:nvSpPr>
          <p:cNvPr id="9216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A087C477-BB4A-40FE-996F-936B63D2365E}" type="slidenum">
              <a:rPr lang="en-US" altLang="en-US" sz="1400">
                <a:solidFill>
                  <a:srgbClr val="990033"/>
                </a:solidFill>
              </a:rPr>
              <a:pPr>
                <a:spcBef>
                  <a:spcPct val="0"/>
                </a:spcBef>
                <a:buClrTx/>
                <a:buSzTx/>
                <a:buFontTx/>
                <a:buNone/>
              </a:pPr>
              <a:t>16</a:t>
            </a:fld>
            <a:endParaRPr lang="en-CA" altLang="en-US" sz="1400">
              <a:solidFill>
                <a:srgbClr val="990033"/>
              </a:solidFill>
            </a:endParaRPr>
          </a:p>
        </p:txBody>
      </p:sp>
    </p:spTree>
    <p:extLst>
      <p:ext uri="{BB962C8B-B14F-4D97-AF65-F5344CB8AC3E}">
        <p14:creationId xmlns:p14="http://schemas.microsoft.com/office/powerpoint/2010/main" val="1987323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r>
              <a:rPr lang="en-US" altLang="en-US"/>
              <a:t>Shared Lock Algorithm</a:t>
            </a:r>
          </a:p>
        </p:txBody>
      </p:sp>
      <p:sp>
        <p:nvSpPr>
          <p:cNvPr id="93187" name="Content Placeholder 2"/>
          <p:cNvSpPr>
            <a:spLocks noGrp="1"/>
          </p:cNvSpPr>
          <p:nvPr>
            <p:ph idx="1"/>
          </p:nvPr>
        </p:nvSpPr>
        <p:spPr>
          <a:xfrm>
            <a:off x="1763714" y="1600200"/>
            <a:ext cx="8294687" cy="4800600"/>
          </a:xfrm>
        </p:spPr>
        <p:txBody>
          <a:bodyPr>
            <a:normAutofit fontScale="92500" lnSpcReduction="20000"/>
          </a:bodyPr>
          <a:lstStyle/>
          <a:p>
            <a:pPr marL="0" indent="0" algn="just">
              <a:buNone/>
            </a:pPr>
            <a:r>
              <a:rPr lang="en-US" altLang="en-US" sz="2000"/>
              <a:t>S(A)</a:t>
            </a:r>
          </a:p>
          <a:p>
            <a:pPr marL="0" indent="0" algn="just">
              <a:buNone/>
            </a:pPr>
            <a:r>
              <a:rPr lang="en-US" altLang="en-US" sz="2000"/>
              <a:t>{</a:t>
            </a:r>
          </a:p>
          <a:p>
            <a:pPr marL="0" indent="0" algn="just">
              <a:buNone/>
            </a:pPr>
            <a:r>
              <a:rPr lang="en-US" altLang="en-US" sz="2000"/>
              <a:t>	if L(A) =0       //no lock on A</a:t>
            </a:r>
          </a:p>
          <a:p>
            <a:pPr marL="0" indent="0" algn="just">
              <a:buNone/>
            </a:pPr>
            <a:r>
              <a:rPr lang="en-US" altLang="en-US" sz="2000"/>
              <a:t>             then {</a:t>
            </a:r>
          </a:p>
          <a:p>
            <a:pPr marL="0" indent="0" algn="just">
              <a:buNone/>
            </a:pPr>
            <a:r>
              <a:rPr lang="en-US" altLang="en-US" sz="2000"/>
              <a:t>                L(A) = S  // set initial shared lock</a:t>
            </a:r>
          </a:p>
          <a:p>
            <a:pPr marL="0" indent="0" algn="just">
              <a:buNone/>
            </a:pPr>
            <a:r>
              <a:rPr lang="en-US" altLang="en-US" sz="2000"/>
              <a:t>                N(A) = 1  // s lock counter</a:t>
            </a:r>
          </a:p>
          <a:p>
            <a:pPr marL="0" indent="0" algn="just">
              <a:buNone/>
            </a:pPr>
            <a:r>
              <a:rPr lang="en-US" altLang="en-US" sz="2000"/>
              <a:t>                update lock table  }</a:t>
            </a:r>
          </a:p>
          <a:p>
            <a:pPr marL="0" indent="0" algn="just">
              <a:buNone/>
            </a:pPr>
            <a:r>
              <a:rPr lang="en-US" altLang="en-US" sz="2000"/>
              <a:t>         else</a:t>
            </a:r>
          </a:p>
          <a:p>
            <a:pPr marL="0" indent="0" algn="just">
              <a:buNone/>
            </a:pPr>
            <a:r>
              <a:rPr lang="en-US" altLang="en-US" sz="2000"/>
              <a:t>              if L(A) = S  //Already shared</a:t>
            </a:r>
          </a:p>
          <a:p>
            <a:pPr marL="0" indent="0" algn="just">
              <a:buNone/>
            </a:pPr>
            <a:r>
              <a:rPr lang="en-US" altLang="en-US" sz="2000"/>
              <a:t>              then {</a:t>
            </a:r>
          </a:p>
          <a:p>
            <a:pPr marL="0" indent="0" algn="just">
              <a:buNone/>
            </a:pPr>
            <a:r>
              <a:rPr lang="en-US" altLang="en-US" sz="2000"/>
              <a:t>                  N(A) = N(A) + 1 </a:t>
            </a:r>
          </a:p>
          <a:p>
            <a:pPr marL="0" indent="0" algn="just">
              <a:buNone/>
            </a:pPr>
            <a:r>
              <a:rPr lang="en-US" altLang="en-US" sz="2000"/>
              <a:t>                  update lock table  }</a:t>
            </a:r>
          </a:p>
          <a:p>
            <a:pPr marL="0" indent="0" algn="just">
              <a:buNone/>
            </a:pPr>
            <a:r>
              <a:rPr lang="en-US" altLang="en-US" sz="2000"/>
              <a:t>              else insert T into queue &amp; suspend T //A has an exclusive lock</a:t>
            </a:r>
          </a:p>
          <a:p>
            <a:pPr marL="0" indent="0" algn="just">
              <a:buNone/>
            </a:pPr>
            <a:r>
              <a:rPr lang="en-US" altLang="en-US" sz="2000"/>
              <a:t>} </a:t>
            </a:r>
          </a:p>
        </p:txBody>
      </p:sp>
      <p:sp>
        <p:nvSpPr>
          <p:cNvPr id="9318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5D457FE9-DD9A-44B3-A822-5B330E9E5DCD}" type="slidenum">
              <a:rPr lang="en-US" altLang="en-US" sz="1400">
                <a:solidFill>
                  <a:srgbClr val="990033"/>
                </a:solidFill>
              </a:rPr>
              <a:pPr>
                <a:spcBef>
                  <a:spcPct val="0"/>
                </a:spcBef>
                <a:buClrTx/>
                <a:buSzTx/>
                <a:buFontTx/>
                <a:buNone/>
              </a:pPr>
              <a:t>17</a:t>
            </a:fld>
            <a:endParaRPr lang="en-CA" altLang="en-US" sz="1400">
              <a:solidFill>
                <a:srgbClr val="990033"/>
              </a:solidFill>
            </a:endParaRPr>
          </a:p>
        </p:txBody>
      </p:sp>
    </p:spTree>
    <p:extLst>
      <p:ext uri="{BB962C8B-B14F-4D97-AF65-F5344CB8AC3E}">
        <p14:creationId xmlns:p14="http://schemas.microsoft.com/office/powerpoint/2010/main" val="2328356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altLang="en-US"/>
              <a:t>Shared Lock Algorithm unlocking</a:t>
            </a:r>
          </a:p>
        </p:txBody>
      </p:sp>
      <p:sp>
        <p:nvSpPr>
          <p:cNvPr id="94211" name="Content Placeholder 2"/>
          <p:cNvSpPr>
            <a:spLocks noGrp="1"/>
          </p:cNvSpPr>
          <p:nvPr>
            <p:ph idx="1"/>
          </p:nvPr>
        </p:nvSpPr>
        <p:spPr>
          <a:xfrm>
            <a:off x="1763714" y="1600200"/>
            <a:ext cx="8294687" cy="4800600"/>
          </a:xfrm>
        </p:spPr>
        <p:txBody>
          <a:bodyPr>
            <a:normAutofit lnSpcReduction="10000"/>
          </a:bodyPr>
          <a:lstStyle/>
          <a:p>
            <a:pPr marL="0" indent="0" algn="just">
              <a:buNone/>
            </a:pPr>
            <a:r>
              <a:rPr lang="en-US" altLang="en-US" sz="2000"/>
              <a:t>U(A)</a:t>
            </a:r>
          </a:p>
          <a:p>
            <a:pPr marL="0" indent="0" algn="just">
              <a:buNone/>
            </a:pPr>
            <a:r>
              <a:rPr lang="en-US" altLang="en-US" sz="2000"/>
              <a:t>{</a:t>
            </a:r>
          </a:p>
          <a:p>
            <a:pPr marL="0" indent="0" algn="just">
              <a:buNone/>
            </a:pPr>
            <a:r>
              <a:rPr lang="en-US" altLang="en-US" sz="2000"/>
              <a:t>	if L(A) = ‘X’       </a:t>
            </a:r>
          </a:p>
          <a:p>
            <a:pPr marL="0" indent="0" algn="just">
              <a:buNone/>
            </a:pPr>
            <a:r>
              <a:rPr lang="en-US" altLang="en-US" sz="2000"/>
              <a:t>             then {</a:t>
            </a:r>
          </a:p>
          <a:p>
            <a:pPr marL="0" indent="0" algn="just">
              <a:buNone/>
            </a:pPr>
            <a:r>
              <a:rPr lang="en-US" altLang="en-US" sz="2000"/>
              <a:t>                L(A) = 0  // release the lock</a:t>
            </a:r>
          </a:p>
          <a:p>
            <a:pPr marL="0" indent="0" algn="just">
              <a:buNone/>
            </a:pPr>
            <a:r>
              <a:rPr lang="en-US" altLang="en-US" sz="2000"/>
              <a:t>                Activate a T from queue }</a:t>
            </a:r>
          </a:p>
          <a:p>
            <a:pPr marL="0" indent="0" algn="just">
              <a:buNone/>
            </a:pPr>
            <a:r>
              <a:rPr lang="en-US" altLang="en-US" sz="2000"/>
              <a:t>         else if L(A) = ‘S’  </a:t>
            </a:r>
          </a:p>
          <a:p>
            <a:pPr marL="0" indent="0" algn="just">
              <a:buNone/>
            </a:pPr>
            <a:r>
              <a:rPr lang="en-US" altLang="en-US" sz="2000"/>
              <a:t>              then {</a:t>
            </a:r>
          </a:p>
          <a:p>
            <a:pPr marL="0" indent="0" algn="just">
              <a:buNone/>
            </a:pPr>
            <a:r>
              <a:rPr lang="en-US" altLang="en-US" sz="2000"/>
              <a:t>                  N(A) = N(A) - 1 </a:t>
            </a:r>
          </a:p>
          <a:p>
            <a:pPr marL="0" indent="0" algn="just">
              <a:buNone/>
            </a:pPr>
            <a:r>
              <a:rPr lang="en-US" altLang="en-US" sz="2000"/>
              <a:t>                  if N(A) = 0</a:t>
            </a:r>
          </a:p>
          <a:p>
            <a:pPr marL="0" indent="0" algn="just">
              <a:buNone/>
            </a:pPr>
            <a:r>
              <a:rPr lang="en-US" altLang="en-US" sz="2000"/>
              <a:t>                    then L(A) = 0</a:t>
            </a:r>
          </a:p>
          <a:p>
            <a:pPr marL="0" indent="0" algn="just">
              <a:buNone/>
            </a:pPr>
            <a:r>
              <a:rPr lang="en-US" altLang="en-US" sz="2000"/>
              <a:t>                       activate a T from queue}</a:t>
            </a:r>
          </a:p>
          <a:p>
            <a:pPr marL="0" indent="0" algn="just">
              <a:buNone/>
            </a:pPr>
            <a:r>
              <a:rPr lang="en-US" altLang="en-US" sz="2000"/>
              <a:t>} </a:t>
            </a:r>
          </a:p>
        </p:txBody>
      </p:sp>
      <p:sp>
        <p:nvSpPr>
          <p:cNvPr id="9421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0919D101-3D86-4FA3-A4B7-8BDB064E7664}" type="slidenum">
              <a:rPr lang="en-US" altLang="en-US" sz="1400">
                <a:solidFill>
                  <a:srgbClr val="990033"/>
                </a:solidFill>
              </a:rPr>
              <a:pPr>
                <a:spcBef>
                  <a:spcPct val="0"/>
                </a:spcBef>
                <a:buClrTx/>
                <a:buSzTx/>
                <a:buFontTx/>
                <a:buNone/>
              </a:pPr>
              <a:t>18</a:t>
            </a:fld>
            <a:endParaRPr lang="en-CA" altLang="en-US" sz="1400">
              <a:solidFill>
                <a:srgbClr val="990033"/>
              </a:solidFill>
            </a:endParaRPr>
          </a:p>
        </p:txBody>
      </p:sp>
    </p:spTree>
    <p:extLst>
      <p:ext uri="{BB962C8B-B14F-4D97-AF65-F5344CB8AC3E}">
        <p14:creationId xmlns:p14="http://schemas.microsoft.com/office/powerpoint/2010/main" val="3608619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altLang="en-US"/>
              <a:t>Exclusive Lock Algorithm</a:t>
            </a:r>
          </a:p>
        </p:txBody>
      </p:sp>
      <p:sp>
        <p:nvSpPr>
          <p:cNvPr id="95235" name="Content Placeholder 2"/>
          <p:cNvSpPr>
            <a:spLocks noGrp="1"/>
          </p:cNvSpPr>
          <p:nvPr>
            <p:ph idx="1"/>
          </p:nvPr>
        </p:nvSpPr>
        <p:spPr>
          <a:xfrm>
            <a:off x="1763714" y="1600200"/>
            <a:ext cx="8294687" cy="4800600"/>
          </a:xfrm>
        </p:spPr>
        <p:txBody>
          <a:bodyPr/>
          <a:lstStyle/>
          <a:p>
            <a:pPr marL="0" indent="0" algn="just">
              <a:buNone/>
            </a:pPr>
            <a:r>
              <a:rPr lang="en-US" altLang="en-US" sz="2000"/>
              <a:t>X(A)</a:t>
            </a:r>
          </a:p>
          <a:p>
            <a:pPr marL="0" indent="0" algn="just">
              <a:buNone/>
            </a:pPr>
            <a:r>
              <a:rPr lang="en-US" altLang="en-US" sz="2000"/>
              <a:t>{</a:t>
            </a:r>
          </a:p>
          <a:p>
            <a:pPr marL="0" indent="0" algn="just">
              <a:buNone/>
            </a:pPr>
            <a:r>
              <a:rPr lang="en-US" altLang="en-US" sz="2000"/>
              <a:t>	if L(A) =0       </a:t>
            </a:r>
          </a:p>
          <a:p>
            <a:pPr marL="0" indent="0" algn="just">
              <a:buNone/>
            </a:pPr>
            <a:r>
              <a:rPr lang="en-US" altLang="en-US" sz="2000"/>
              <a:t>             then {</a:t>
            </a:r>
          </a:p>
          <a:p>
            <a:pPr marL="0" indent="0" algn="just">
              <a:buNone/>
            </a:pPr>
            <a:r>
              <a:rPr lang="en-US" altLang="en-US" sz="2000"/>
              <a:t>                L(A) = ‘X’  //set exclusive lock</a:t>
            </a:r>
          </a:p>
          <a:p>
            <a:pPr marL="0" indent="0" algn="just">
              <a:buNone/>
            </a:pPr>
            <a:r>
              <a:rPr lang="en-US" altLang="en-US" sz="2000"/>
              <a:t>                update lock table  }</a:t>
            </a:r>
          </a:p>
          <a:p>
            <a:pPr marL="0" indent="0" algn="just">
              <a:buNone/>
            </a:pPr>
            <a:r>
              <a:rPr lang="en-US" altLang="en-US" sz="2000"/>
              <a:t>         else     //already locked</a:t>
            </a:r>
          </a:p>
          <a:p>
            <a:pPr marL="0" indent="0" algn="just">
              <a:buNone/>
            </a:pPr>
            <a:r>
              <a:rPr lang="en-US" altLang="en-US" sz="2000"/>
              <a:t>                Insert T into queue </a:t>
            </a:r>
          </a:p>
          <a:p>
            <a:pPr marL="0" indent="0" algn="just">
              <a:buNone/>
            </a:pPr>
            <a:r>
              <a:rPr lang="en-US" altLang="en-US" sz="2000"/>
              <a:t>} </a:t>
            </a:r>
          </a:p>
        </p:txBody>
      </p:sp>
      <p:sp>
        <p:nvSpPr>
          <p:cNvPr id="9523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4881FC7B-70AE-4376-86C6-E1EAED1DDEFC}" type="slidenum">
              <a:rPr lang="en-US" altLang="en-US" sz="1400">
                <a:solidFill>
                  <a:srgbClr val="990033"/>
                </a:solidFill>
              </a:rPr>
              <a:pPr>
                <a:spcBef>
                  <a:spcPct val="0"/>
                </a:spcBef>
                <a:buClrTx/>
                <a:buSzTx/>
                <a:buFontTx/>
                <a:buNone/>
              </a:pPr>
              <a:t>19</a:t>
            </a:fld>
            <a:endParaRPr lang="en-CA" altLang="en-US" sz="1400">
              <a:solidFill>
                <a:srgbClr val="990033"/>
              </a:solidFill>
            </a:endParaRPr>
          </a:p>
        </p:txBody>
      </p:sp>
    </p:spTree>
    <p:extLst>
      <p:ext uri="{BB962C8B-B14F-4D97-AF65-F5344CB8AC3E}">
        <p14:creationId xmlns:p14="http://schemas.microsoft.com/office/powerpoint/2010/main" val="1631283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lstStyle/>
          <a:p>
            <a:endParaRPr lang="en-US" altLang="en-US"/>
          </a:p>
        </p:txBody>
      </p:sp>
      <p:sp>
        <p:nvSpPr>
          <p:cNvPr id="96259" name="Content Placeholder 2"/>
          <p:cNvSpPr>
            <a:spLocks noGrp="1"/>
          </p:cNvSpPr>
          <p:nvPr>
            <p:ph idx="1"/>
          </p:nvPr>
        </p:nvSpPr>
        <p:spPr/>
        <p:txBody>
          <a:bodyPr/>
          <a:lstStyle/>
          <a:p>
            <a:pPr algn="just"/>
            <a:r>
              <a:rPr lang="en-US" altLang="en-US"/>
              <a:t>A transaction obtaining a shared mode lock on a data item can only read the data item. It cannot write or update.</a:t>
            </a:r>
          </a:p>
          <a:p>
            <a:pPr algn="just"/>
            <a:r>
              <a:rPr lang="en-US" altLang="en-US"/>
              <a:t>A transaction obtaining exclusive mode lock can both read and write the data item.</a:t>
            </a:r>
          </a:p>
          <a:p>
            <a:pPr algn="just"/>
            <a:r>
              <a:rPr lang="en-US" altLang="en-US"/>
              <a:t>Several shared mode locks can be held simultaneously on a data item by different transactions.</a:t>
            </a:r>
          </a:p>
        </p:txBody>
      </p:sp>
      <p:sp>
        <p:nvSpPr>
          <p:cNvPr id="9626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37F2A31F-5CF9-4CFC-8E97-966D4337CA08}" type="slidenum">
              <a:rPr lang="en-US" altLang="en-US" sz="1400">
                <a:solidFill>
                  <a:srgbClr val="990033"/>
                </a:solidFill>
              </a:rPr>
              <a:pPr>
                <a:spcBef>
                  <a:spcPct val="0"/>
                </a:spcBef>
                <a:buClrTx/>
                <a:buSzTx/>
                <a:buFontTx/>
                <a:buNone/>
              </a:pPr>
              <a:t>20</a:t>
            </a:fld>
            <a:endParaRPr lang="en-CA" altLang="en-US" sz="1400">
              <a:solidFill>
                <a:srgbClr val="990033"/>
              </a:solidFill>
            </a:endParaRPr>
          </a:p>
        </p:txBody>
      </p:sp>
    </p:spTree>
    <p:extLst>
      <p:ext uri="{BB962C8B-B14F-4D97-AF65-F5344CB8AC3E}">
        <p14:creationId xmlns:p14="http://schemas.microsoft.com/office/powerpoint/2010/main" val="3125527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altLang="en-US"/>
              <a:t>Lock compatibility matrix</a:t>
            </a:r>
          </a:p>
        </p:txBody>
      </p:sp>
      <p:graphicFrame>
        <p:nvGraphicFramePr>
          <p:cNvPr id="5" name="Content Placeholder 4"/>
          <p:cNvGraphicFramePr>
            <a:graphicFrameLocks noGrp="1"/>
          </p:cNvGraphicFramePr>
          <p:nvPr>
            <p:ph idx="1"/>
          </p:nvPr>
        </p:nvGraphicFramePr>
        <p:xfrm>
          <a:off x="3962400" y="2362200"/>
          <a:ext cx="4191000" cy="1981200"/>
        </p:xfrm>
        <a:graphic>
          <a:graphicData uri="http://schemas.openxmlformats.org/drawingml/2006/table">
            <a:tbl>
              <a:tblPr firstRow="1" bandRow="1">
                <a:tableStyleId>{5C22544A-7EE6-4342-B048-85BDC9FD1C3A}</a:tableStyleId>
              </a:tblPr>
              <a:tblGrid>
                <a:gridCol w="1047750">
                  <a:extLst>
                    <a:ext uri="{9D8B030D-6E8A-4147-A177-3AD203B41FA5}">
                      <a16:colId xmlns:a16="http://schemas.microsoft.com/office/drawing/2014/main" val="2360174508"/>
                    </a:ext>
                  </a:extLst>
                </a:gridCol>
                <a:gridCol w="1047750">
                  <a:extLst>
                    <a:ext uri="{9D8B030D-6E8A-4147-A177-3AD203B41FA5}">
                      <a16:colId xmlns:a16="http://schemas.microsoft.com/office/drawing/2014/main" val="1409982759"/>
                    </a:ext>
                  </a:extLst>
                </a:gridCol>
                <a:gridCol w="1047750">
                  <a:extLst>
                    <a:ext uri="{9D8B030D-6E8A-4147-A177-3AD203B41FA5}">
                      <a16:colId xmlns:a16="http://schemas.microsoft.com/office/drawing/2014/main" val="3749040585"/>
                    </a:ext>
                  </a:extLst>
                </a:gridCol>
                <a:gridCol w="1047750">
                  <a:extLst>
                    <a:ext uri="{9D8B030D-6E8A-4147-A177-3AD203B41FA5}">
                      <a16:colId xmlns:a16="http://schemas.microsoft.com/office/drawing/2014/main" val="3244003223"/>
                    </a:ext>
                  </a:extLst>
                </a:gridCol>
              </a:tblGrid>
              <a:tr h="495300">
                <a:tc>
                  <a:txBody>
                    <a:bodyPr/>
                    <a:lstStyle/>
                    <a:p>
                      <a:pPr algn="ctr"/>
                      <a:endParaRPr lang="en-US"/>
                    </a:p>
                  </a:txBody>
                  <a:tcPr/>
                </a:tc>
                <a:tc>
                  <a:txBody>
                    <a:bodyPr/>
                    <a:lstStyle/>
                    <a:p>
                      <a:pPr algn="ctr"/>
                      <a:r>
                        <a:rPr lang="en-US"/>
                        <a:t>U</a:t>
                      </a:r>
                    </a:p>
                  </a:txBody>
                  <a:tcPr/>
                </a:tc>
                <a:tc>
                  <a:txBody>
                    <a:bodyPr/>
                    <a:lstStyle/>
                    <a:p>
                      <a:pPr algn="ctr"/>
                      <a:r>
                        <a:rPr lang="en-US"/>
                        <a:t>S</a:t>
                      </a:r>
                    </a:p>
                  </a:txBody>
                  <a:tcPr/>
                </a:tc>
                <a:tc>
                  <a:txBody>
                    <a:bodyPr/>
                    <a:lstStyle/>
                    <a:p>
                      <a:pPr algn="ctr"/>
                      <a:r>
                        <a:rPr lang="en-US"/>
                        <a:t>X</a:t>
                      </a:r>
                    </a:p>
                  </a:txBody>
                  <a:tcPr/>
                </a:tc>
                <a:extLst>
                  <a:ext uri="{0D108BD9-81ED-4DB2-BD59-A6C34878D82A}">
                    <a16:rowId xmlns:a16="http://schemas.microsoft.com/office/drawing/2014/main" val="1016056063"/>
                  </a:ext>
                </a:extLst>
              </a:tr>
              <a:tr h="495300">
                <a:tc>
                  <a:txBody>
                    <a:bodyPr/>
                    <a:lstStyle/>
                    <a:p>
                      <a:pPr algn="ctr"/>
                      <a:r>
                        <a:rPr lang="en-US"/>
                        <a:t>U</a:t>
                      </a:r>
                    </a:p>
                  </a:txBody>
                  <a:tcPr/>
                </a:tc>
                <a:tc>
                  <a:txBody>
                    <a:bodyPr/>
                    <a:lstStyle/>
                    <a:p>
                      <a:pPr algn="ctr"/>
                      <a:r>
                        <a:rPr lang="en-US"/>
                        <a:t>-</a:t>
                      </a:r>
                    </a:p>
                  </a:txBody>
                  <a:tcPr/>
                </a:tc>
                <a:tc>
                  <a:txBody>
                    <a:bodyPr/>
                    <a:lstStyle/>
                    <a:p>
                      <a:pPr algn="ctr"/>
                      <a:r>
                        <a:rPr lang="en-US"/>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t>√</a:t>
                      </a:r>
                    </a:p>
                  </a:txBody>
                  <a:tcPr/>
                </a:tc>
                <a:extLst>
                  <a:ext uri="{0D108BD9-81ED-4DB2-BD59-A6C34878D82A}">
                    <a16:rowId xmlns:a16="http://schemas.microsoft.com/office/drawing/2014/main" val="3147887572"/>
                  </a:ext>
                </a:extLst>
              </a:tr>
              <a:tr h="495300">
                <a:tc>
                  <a:txBody>
                    <a:bodyPr/>
                    <a:lstStyle/>
                    <a:p>
                      <a:pPr algn="ctr"/>
                      <a:r>
                        <a:rPr lang="en-US"/>
                        <a:t>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a:ea typeface="+mn-ea"/>
                          <a:cs typeface="+mn-cs"/>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a:ea typeface="+mn-ea"/>
                          <a:cs typeface="+mn-cs"/>
                        </a:rPr>
                        <a:t>√</a:t>
                      </a:r>
                    </a:p>
                  </a:txBody>
                  <a:tcPr/>
                </a:tc>
                <a:tc>
                  <a:txBody>
                    <a:bodyPr/>
                    <a:lstStyle/>
                    <a:p>
                      <a:pPr algn="ctr"/>
                      <a:endParaRPr lang="en-US"/>
                    </a:p>
                  </a:txBody>
                  <a:tcPr/>
                </a:tc>
                <a:extLst>
                  <a:ext uri="{0D108BD9-81ED-4DB2-BD59-A6C34878D82A}">
                    <a16:rowId xmlns:a16="http://schemas.microsoft.com/office/drawing/2014/main" val="2833960073"/>
                  </a:ext>
                </a:extLst>
              </a:tr>
              <a:tr h="495300">
                <a:tc>
                  <a:txBody>
                    <a:bodyPr/>
                    <a:lstStyle/>
                    <a:p>
                      <a:pPr algn="ctr"/>
                      <a:r>
                        <a:rPr lang="en-US"/>
                        <a:t>X</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339234712"/>
                  </a:ext>
                </a:extLst>
              </a:tr>
            </a:tbl>
          </a:graphicData>
        </a:graphic>
      </p:graphicFrame>
      <p:sp>
        <p:nvSpPr>
          <p:cNvPr id="973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E9AA4DAF-4E9F-4630-B593-3EDB28C0A4E0}" type="slidenum">
              <a:rPr lang="en-US" altLang="en-US" sz="1400">
                <a:solidFill>
                  <a:srgbClr val="990033"/>
                </a:solidFill>
              </a:rPr>
              <a:pPr>
                <a:spcBef>
                  <a:spcPct val="0"/>
                </a:spcBef>
                <a:buClrTx/>
                <a:buSzTx/>
                <a:buFontTx/>
                <a:buNone/>
              </a:pPr>
              <a:t>21</a:t>
            </a:fld>
            <a:endParaRPr lang="en-CA" altLang="en-US" sz="1400">
              <a:solidFill>
                <a:srgbClr val="990033"/>
              </a:solidFill>
            </a:endParaRPr>
          </a:p>
        </p:txBody>
      </p:sp>
    </p:spTree>
    <p:extLst>
      <p:ext uri="{BB962C8B-B14F-4D97-AF65-F5344CB8AC3E}">
        <p14:creationId xmlns:p14="http://schemas.microsoft.com/office/powerpoint/2010/main" val="54077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6979"/>
            <a:ext cx="10515600" cy="5439984"/>
          </a:xfrm>
        </p:spPr>
        <p:txBody>
          <a:bodyPr/>
          <a:lstStyle/>
          <a:p>
            <a:pPr fontAlgn="base"/>
            <a:r>
              <a:rPr lang="en-US"/>
              <a:t>Here are a few rules that Shared/Exclusive Locks must obey:</a:t>
            </a:r>
          </a:p>
          <a:p>
            <a:pPr fontAlgn="base"/>
            <a:r>
              <a:rPr lang="en-US"/>
              <a:t>A transaction </a:t>
            </a:r>
            <a:r>
              <a:rPr lang="en-US" b="1"/>
              <a:t>T </a:t>
            </a:r>
            <a:r>
              <a:rPr lang="en-US"/>
              <a:t>MUST issue the unlock(X) operation after all read and write operations have finished.</a:t>
            </a:r>
          </a:p>
          <a:p>
            <a:pPr fontAlgn="base"/>
            <a:r>
              <a:rPr lang="en-US"/>
              <a:t>A transaction </a:t>
            </a:r>
            <a:r>
              <a:rPr lang="en-US" b="1"/>
              <a:t>T </a:t>
            </a:r>
            <a:r>
              <a:rPr lang="en-US"/>
              <a:t>may NOT issue a </a:t>
            </a:r>
            <a:r>
              <a:rPr lang="en-US" err="1"/>
              <a:t>read_lock</a:t>
            </a:r>
            <a:r>
              <a:rPr lang="en-US"/>
              <a:t>(X) or </a:t>
            </a:r>
            <a:r>
              <a:rPr lang="en-US" err="1"/>
              <a:t>write_lock</a:t>
            </a:r>
            <a:r>
              <a:rPr lang="en-US"/>
              <a:t>(X) operation on an item which already has a read or write-lock issued to itself.</a:t>
            </a:r>
          </a:p>
          <a:p>
            <a:pPr fontAlgn="base"/>
            <a:r>
              <a:rPr lang="en-US"/>
              <a:t>A transaction </a:t>
            </a:r>
            <a:r>
              <a:rPr lang="en-US" b="1"/>
              <a:t>T </a:t>
            </a:r>
            <a:r>
              <a:rPr lang="en-US"/>
              <a:t>is NOT allowed to issue the unlock(X) operation unless it has been issued with a </a:t>
            </a:r>
            <a:r>
              <a:rPr lang="en-US" err="1"/>
              <a:t>read_lock</a:t>
            </a:r>
            <a:r>
              <a:rPr lang="en-US"/>
              <a:t>(X) or </a:t>
            </a:r>
            <a:r>
              <a:rPr lang="en-US" err="1"/>
              <a:t>write_lock</a:t>
            </a:r>
            <a:r>
              <a:rPr lang="en-US"/>
              <a:t>(X) operation.</a:t>
            </a:r>
          </a:p>
          <a:p>
            <a:endParaRPr lang="en-US"/>
          </a:p>
        </p:txBody>
      </p:sp>
    </p:spTree>
    <p:extLst>
      <p:ext uri="{BB962C8B-B14F-4D97-AF65-F5344CB8AC3E}">
        <p14:creationId xmlns:p14="http://schemas.microsoft.com/office/powerpoint/2010/main" val="3150102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US" b="1"/>
              <a:t>Drawbacks of Shared/Exclusive Locks :</a:t>
            </a:r>
            <a:endParaRPr lang="en-US"/>
          </a:p>
          <a:p>
            <a:pPr fontAlgn="base"/>
            <a:r>
              <a:rPr lang="en-US"/>
              <a:t>Do not guarantee </a:t>
            </a:r>
            <a:r>
              <a:rPr lang="en-US" err="1"/>
              <a:t>serializability</a:t>
            </a:r>
            <a:r>
              <a:rPr lang="en-US"/>
              <a:t> of schedules on their own. A separate protocol must be followed to ensure this.</a:t>
            </a:r>
          </a:p>
          <a:p>
            <a:pPr fontAlgn="base"/>
            <a:r>
              <a:rPr lang="en-US"/>
              <a:t>Commercially not optimized for speedy transactions; not the best solution due to lock contention issues.</a:t>
            </a:r>
          </a:p>
          <a:p>
            <a:pPr fontAlgn="base"/>
            <a:r>
              <a:rPr lang="en-US"/>
              <a:t>Performance overhead is not negligible.</a:t>
            </a:r>
          </a:p>
          <a:p>
            <a:endParaRPr lang="en-US"/>
          </a:p>
        </p:txBody>
      </p:sp>
    </p:spTree>
    <p:extLst>
      <p:ext uri="{BB962C8B-B14F-4D97-AF65-F5344CB8AC3E}">
        <p14:creationId xmlns:p14="http://schemas.microsoft.com/office/powerpoint/2010/main" val="1334964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object 2"/>
          <p:cNvSpPr>
            <a:spLocks noGrp="1"/>
          </p:cNvSpPr>
          <p:nvPr>
            <p:ph type="title"/>
          </p:nvPr>
        </p:nvSpPr>
        <p:spPr>
          <a:xfrm>
            <a:off x="1831975" y="773894"/>
            <a:ext cx="8528050" cy="584200"/>
          </a:xfrm>
        </p:spPr>
        <p:txBody>
          <a:bodyPr vert="horz" lIns="91440" tIns="33020" rIns="91440" bIns="45720" rtlCol="0" anchor="ctr">
            <a:noAutofit/>
          </a:bodyPr>
          <a:lstStyle/>
          <a:p>
            <a:pPr marL="12700">
              <a:lnSpc>
                <a:spcPts val="4300"/>
              </a:lnSpc>
              <a:spcBef>
                <a:spcPts val="263"/>
              </a:spcBef>
            </a:pPr>
            <a:r>
              <a:rPr lang="en-US" altLang="en-US" sz="3600">
                <a:latin typeface="Arial" panose="020B0604020202020204" pitchFamily="34" charset="0"/>
                <a:cs typeface="Arial" panose="020B0604020202020204" pitchFamily="34" charset="0"/>
              </a:rPr>
              <a:t>Two-  Phase Locking</a:t>
            </a:r>
          </a:p>
        </p:txBody>
      </p:sp>
      <p:sp>
        <p:nvSpPr>
          <p:cNvPr id="4" name="object 4"/>
          <p:cNvSpPr>
            <a:spLocks noGrp="1"/>
          </p:cNvSpPr>
          <p:nvPr>
            <p:ph type="sldNum" sz="quarter" idx="12"/>
          </p:nvPr>
        </p:nvSpPr>
        <p:spPr/>
        <p:txBody>
          <a:bodyPr vert="horz" rtlCol="0"/>
          <a:lstStyle/>
          <a:p>
            <a:pPr>
              <a:defRPr/>
            </a:pPr>
            <a:r>
              <a:t>Slide </a:t>
            </a:r>
            <a:r>
              <a:rPr spc="10"/>
              <a:t>21-</a:t>
            </a:r>
            <a:r>
              <a:rPr spc="-200"/>
              <a:t> </a:t>
            </a:r>
            <a:fld id="{15C7F9B3-2B40-426D-B57F-2F5E6702C04F}" type="slidenum">
              <a:rPr/>
              <a:pPr>
                <a:defRPr/>
              </a:pPr>
              <a:t>24</a:t>
            </a:fld>
            <a:endParaRPr/>
          </a:p>
        </p:txBody>
      </p:sp>
      <p:sp>
        <p:nvSpPr>
          <p:cNvPr id="98308" name="object 3"/>
          <p:cNvSpPr txBox="1">
            <a:spLocks noChangeArrowheads="1"/>
          </p:cNvSpPr>
          <p:nvPr/>
        </p:nvSpPr>
        <p:spPr bwMode="auto">
          <a:xfrm>
            <a:off x="953029" y="1437206"/>
            <a:ext cx="9517488" cy="4574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00330" rIns="0" bIns="0">
            <a:spAutoFit/>
          </a:bodyPr>
          <a:lstStyle>
            <a:lvl1pPr marL="355600" indent="-342900">
              <a:tabLst>
                <a:tab pos="354013" algn="l"/>
                <a:tab pos="355600" algn="l"/>
              </a:tabLst>
              <a:defRPr sz="2400">
                <a:solidFill>
                  <a:schemeClr val="tx1"/>
                </a:solidFill>
                <a:latin typeface="Arial" panose="020B0604020202020204" pitchFamily="34" charset="0"/>
              </a:defRPr>
            </a:lvl1pPr>
            <a:lvl2pPr marL="762000" indent="-292100">
              <a:tabLst>
                <a:tab pos="354013" algn="l"/>
                <a:tab pos="355600" algn="l"/>
              </a:tabLst>
              <a:defRPr sz="2400">
                <a:solidFill>
                  <a:schemeClr val="tx1"/>
                </a:solidFill>
                <a:latin typeface="Arial" panose="020B0604020202020204" pitchFamily="34" charset="0"/>
              </a:defRPr>
            </a:lvl2pPr>
            <a:lvl3pPr marL="1155700" indent="-228600">
              <a:tabLst>
                <a:tab pos="354013" algn="l"/>
                <a:tab pos="355600" algn="l"/>
              </a:tabLst>
              <a:defRPr sz="2400">
                <a:solidFill>
                  <a:schemeClr val="tx1"/>
                </a:solidFill>
                <a:latin typeface="Arial" panose="020B0604020202020204" pitchFamily="34" charset="0"/>
              </a:defRPr>
            </a:lvl3pPr>
            <a:lvl4pPr marL="1612900" indent="-228600">
              <a:tabLst>
                <a:tab pos="354013" algn="l"/>
                <a:tab pos="355600" algn="l"/>
              </a:tabLst>
              <a:defRPr sz="2400">
                <a:solidFill>
                  <a:schemeClr val="tx1"/>
                </a:solidFill>
                <a:latin typeface="Arial" panose="020B0604020202020204" pitchFamily="34" charset="0"/>
              </a:defRPr>
            </a:lvl4pPr>
            <a:lvl5pPr marL="2057400" indent="-228600">
              <a:tabLst>
                <a:tab pos="354013" algn="l"/>
                <a:tab pos="355600"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9pPr>
          </a:lstStyle>
          <a:p>
            <a:pPr algn="just"/>
            <a:r>
              <a:rPr lang="en-US" sz="2000" b="1"/>
              <a:t>Two Phase Locking Protocol</a:t>
            </a:r>
            <a:r>
              <a:rPr lang="en-US" sz="2000"/>
              <a:t> also known as 2PL protocol is a method of concurrency control in DBMS that </a:t>
            </a:r>
            <a:r>
              <a:rPr lang="en-US" sz="2000">
                <a:solidFill>
                  <a:srgbClr val="FF0000"/>
                </a:solidFill>
              </a:rPr>
              <a:t>ensures serializability </a:t>
            </a:r>
            <a:r>
              <a:rPr lang="en-US" sz="2000"/>
              <a:t>by applying a lock to the transaction data which blocks other transactions to access the same data simultaneously. Two Phase Locking protocol helps to eliminate the concurrency problem in DBMS.</a:t>
            </a:r>
          </a:p>
          <a:p>
            <a:pPr algn="just"/>
            <a:r>
              <a:rPr lang="en-US" sz="2000"/>
              <a:t>This locking protocol divides the execution phase of a transaction into three different parts.</a:t>
            </a:r>
          </a:p>
          <a:p>
            <a:pPr lvl="0" algn="just"/>
            <a:r>
              <a:rPr lang="en-US" sz="2000"/>
              <a:t>In the </a:t>
            </a:r>
            <a:r>
              <a:rPr lang="en-US" sz="2000" b="1"/>
              <a:t>first phase</a:t>
            </a:r>
            <a:r>
              <a:rPr lang="en-US" sz="2000"/>
              <a:t>, when the transaction begins to execute, it requires permission for the locks it needs.</a:t>
            </a:r>
          </a:p>
          <a:p>
            <a:pPr lvl="0" algn="just"/>
            <a:r>
              <a:rPr lang="en-US" sz="2000"/>
              <a:t>The </a:t>
            </a:r>
            <a:r>
              <a:rPr lang="en-US" sz="2000" b="1"/>
              <a:t>second part </a:t>
            </a:r>
            <a:r>
              <a:rPr lang="en-US" sz="2000"/>
              <a:t>is where the transaction obtains all the locks. When a transaction releases its first lock, the third phase starts.</a:t>
            </a:r>
          </a:p>
          <a:p>
            <a:pPr lvl="0" algn="just"/>
            <a:r>
              <a:rPr lang="en-US" sz="2000"/>
              <a:t>In this </a:t>
            </a:r>
            <a:r>
              <a:rPr lang="en-US" sz="2000" b="1"/>
              <a:t>third phase</a:t>
            </a:r>
            <a:r>
              <a:rPr lang="en-US" sz="2000"/>
              <a:t>, the transaction cannot demand any new locks. Instead, it only releases the acquired locks.</a:t>
            </a:r>
          </a:p>
          <a:p>
            <a:pPr algn="just">
              <a:spcBef>
                <a:spcPts val="788"/>
              </a:spcBef>
              <a:buClr>
                <a:srgbClr val="990033"/>
              </a:buClr>
              <a:buSzPct val="61000"/>
              <a:buFont typeface="Wingdings" panose="05000000000000000000" pitchFamily="2" charset="2"/>
              <a:buChar char=""/>
            </a:pPr>
            <a:endParaRPr lang="en-US" altLang="en-US" sz="2000">
              <a:solidFill>
                <a:srgbClr val="000000"/>
              </a:solidFill>
              <a:cs typeface="Arial" panose="020B0604020202020204" pitchFamily="34" charset="0"/>
            </a:endParaRPr>
          </a:p>
        </p:txBody>
      </p:sp>
    </p:spTree>
    <p:extLst>
      <p:ext uri="{BB962C8B-B14F-4D97-AF65-F5344CB8AC3E}">
        <p14:creationId xmlns:p14="http://schemas.microsoft.com/office/powerpoint/2010/main" val="3051905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a:latin typeface="Arial" panose="020B0604020202020204" pitchFamily="34" charset="0"/>
                <a:cs typeface="Arial" panose="020B0604020202020204" pitchFamily="34" charset="0"/>
              </a:rPr>
              <a:t>Two-  Phase Locking</a:t>
            </a:r>
          </a:p>
        </p:txBody>
      </p:sp>
      <p:sp>
        <p:nvSpPr>
          <p:cNvPr id="4" name="object 4"/>
          <p:cNvSpPr>
            <a:spLocks noGrp="1"/>
          </p:cNvSpPr>
          <p:nvPr>
            <p:ph type="sldNum" sz="quarter" idx="12"/>
          </p:nvPr>
        </p:nvSpPr>
        <p:spPr/>
        <p:txBody>
          <a:bodyPr vert="horz" rtlCol="0"/>
          <a:lstStyle/>
          <a:p>
            <a:pPr>
              <a:defRPr/>
            </a:pPr>
            <a:r>
              <a:t>Slide </a:t>
            </a:r>
            <a:r>
              <a:rPr spc="10"/>
              <a:t>21-</a:t>
            </a:r>
            <a:r>
              <a:rPr spc="-200"/>
              <a:t> </a:t>
            </a:r>
            <a:fld id="{15C7F9B3-2B40-426D-B57F-2F5E6702C04F}" type="slidenum">
              <a:rPr/>
              <a:pPr>
                <a:defRPr/>
              </a:pPr>
              <a:t>25</a:t>
            </a:fld>
            <a:endParaRPr/>
          </a:p>
        </p:txBody>
      </p:sp>
      <p:sp>
        <p:nvSpPr>
          <p:cNvPr id="98308" name="object 3"/>
          <p:cNvSpPr txBox="1">
            <a:spLocks noChangeArrowheads="1"/>
          </p:cNvSpPr>
          <p:nvPr/>
        </p:nvSpPr>
        <p:spPr bwMode="auto">
          <a:xfrm>
            <a:off x="1843089" y="1533526"/>
            <a:ext cx="8193087" cy="422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0330" rIns="0" bIns="0">
            <a:spAutoFit/>
          </a:bodyPr>
          <a:lstStyle>
            <a:lvl1pPr marL="355600" indent="-342900">
              <a:tabLst>
                <a:tab pos="354013" algn="l"/>
                <a:tab pos="355600" algn="l"/>
              </a:tabLst>
              <a:defRPr sz="2400">
                <a:solidFill>
                  <a:schemeClr val="tx1"/>
                </a:solidFill>
                <a:latin typeface="Arial" panose="020B0604020202020204" pitchFamily="34" charset="0"/>
              </a:defRPr>
            </a:lvl1pPr>
            <a:lvl2pPr marL="762000" indent="-292100">
              <a:tabLst>
                <a:tab pos="354013" algn="l"/>
                <a:tab pos="355600" algn="l"/>
              </a:tabLst>
              <a:defRPr sz="2400">
                <a:solidFill>
                  <a:schemeClr val="tx1"/>
                </a:solidFill>
                <a:latin typeface="Arial" panose="020B0604020202020204" pitchFamily="34" charset="0"/>
              </a:defRPr>
            </a:lvl2pPr>
            <a:lvl3pPr marL="1155700" indent="-228600">
              <a:tabLst>
                <a:tab pos="354013" algn="l"/>
                <a:tab pos="355600" algn="l"/>
              </a:tabLst>
              <a:defRPr sz="2400">
                <a:solidFill>
                  <a:schemeClr val="tx1"/>
                </a:solidFill>
                <a:latin typeface="Arial" panose="020B0604020202020204" pitchFamily="34" charset="0"/>
              </a:defRPr>
            </a:lvl3pPr>
            <a:lvl4pPr marL="1612900" indent="-228600">
              <a:tabLst>
                <a:tab pos="354013" algn="l"/>
                <a:tab pos="355600" algn="l"/>
              </a:tabLst>
              <a:defRPr sz="2400">
                <a:solidFill>
                  <a:schemeClr val="tx1"/>
                </a:solidFill>
                <a:latin typeface="Arial" panose="020B0604020202020204" pitchFamily="34" charset="0"/>
              </a:defRPr>
            </a:lvl4pPr>
            <a:lvl5pPr marL="2057400" indent="-228600">
              <a:tabLst>
                <a:tab pos="354013" algn="l"/>
                <a:tab pos="355600"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9pPr>
          </a:lstStyle>
          <a:p>
            <a:pPr>
              <a:spcBef>
                <a:spcPts val="788"/>
              </a:spcBef>
              <a:buClr>
                <a:srgbClr val="990033"/>
              </a:buClr>
              <a:buSzPct val="61000"/>
              <a:buFont typeface="Wingdings" panose="05000000000000000000" pitchFamily="2" charset="2"/>
              <a:buChar char=""/>
            </a:pPr>
            <a:r>
              <a:rPr lang="en-US" altLang="en-US" sz="2800">
                <a:solidFill>
                  <a:srgbClr val="333399"/>
                </a:solidFill>
                <a:cs typeface="Arial" panose="020B0604020202020204" pitchFamily="34" charset="0"/>
              </a:rPr>
              <a:t>Two-phase locking protocol</a:t>
            </a:r>
            <a:endParaRPr lang="en-US" altLang="en-US" sz="2800">
              <a:solidFill>
                <a:srgbClr val="000000"/>
              </a:solidFill>
              <a:cs typeface="Arial" panose="020B0604020202020204" pitchFamily="34" charset="0"/>
            </a:endParaRPr>
          </a:p>
          <a:p>
            <a:pPr lvl="1">
              <a:lnSpc>
                <a:spcPts val="3100"/>
              </a:lnSpc>
              <a:spcBef>
                <a:spcPts val="763"/>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All locking operations precede the first unlock  operation in the transaction</a:t>
            </a:r>
            <a:endParaRPr lang="en-US" altLang="en-US" sz="2600">
              <a:solidFill>
                <a:srgbClr val="000000"/>
              </a:solidFill>
              <a:cs typeface="Arial" panose="020B0604020202020204" pitchFamily="34" charset="0"/>
            </a:endParaRPr>
          </a:p>
          <a:p>
            <a:pPr lvl="1">
              <a:spcBef>
                <a:spcPts val="575"/>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Phases</a:t>
            </a:r>
            <a:endParaRPr lang="en-US" altLang="en-US" sz="2600">
              <a:solidFill>
                <a:srgbClr val="000000"/>
              </a:solidFill>
              <a:cs typeface="Arial" panose="020B0604020202020204" pitchFamily="34" charset="0"/>
            </a:endParaRPr>
          </a:p>
          <a:p>
            <a:pPr lvl="2">
              <a:spcBef>
                <a:spcPts val="575"/>
              </a:spcBef>
              <a:buClr>
                <a:srgbClr val="990033"/>
              </a:buClr>
              <a:buSzPct val="50000"/>
              <a:buFont typeface="Wingdings" panose="05000000000000000000" pitchFamily="2" charset="2"/>
              <a:buChar char=""/>
            </a:pPr>
            <a:r>
              <a:rPr lang="en-US" altLang="en-US">
                <a:solidFill>
                  <a:srgbClr val="333399"/>
                </a:solidFill>
                <a:cs typeface="Arial" panose="020B0604020202020204" pitchFamily="34" charset="0"/>
              </a:rPr>
              <a:t>Expanding (growing) phase</a:t>
            </a:r>
            <a:endParaRPr lang="en-US" altLang="en-US">
              <a:solidFill>
                <a:srgbClr val="000000"/>
              </a:solidFill>
              <a:cs typeface="Arial" panose="020B0604020202020204" pitchFamily="34" charset="0"/>
            </a:endParaRPr>
          </a:p>
          <a:p>
            <a:pPr lvl="3">
              <a:spcBef>
                <a:spcPts val="425"/>
              </a:spcBef>
              <a:buClr>
                <a:srgbClr val="333399"/>
              </a:buClr>
              <a:buSzPct val="55000"/>
              <a:buFont typeface="Wingdings" panose="05000000000000000000" pitchFamily="2" charset="2"/>
              <a:buChar char=""/>
            </a:pPr>
            <a:r>
              <a:rPr lang="en-US" altLang="en-US" sz="2000">
                <a:solidFill>
                  <a:srgbClr val="800000"/>
                </a:solidFill>
                <a:cs typeface="Arial" panose="020B0604020202020204" pitchFamily="34" charset="0"/>
              </a:rPr>
              <a:t>New locks can be acquired but none can be released</a:t>
            </a:r>
            <a:endParaRPr lang="en-US" altLang="en-US" sz="2000">
              <a:solidFill>
                <a:srgbClr val="000000"/>
              </a:solidFill>
              <a:cs typeface="Arial" panose="020B0604020202020204" pitchFamily="34" charset="0"/>
            </a:endParaRPr>
          </a:p>
          <a:p>
            <a:pPr lvl="3">
              <a:spcBef>
                <a:spcPts val="500"/>
              </a:spcBef>
              <a:buClr>
                <a:srgbClr val="333399"/>
              </a:buClr>
              <a:buSzPct val="55000"/>
              <a:buFont typeface="Wingdings" panose="05000000000000000000" pitchFamily="2" charset="2"/>
              <a:buChar char=""/>
            </a:pPr>
            <a:r>
              <a:rPr lang="en-US" altLang="en-US" sz="2000">
                <a:solidFill>
                  <a:srgbClr val="800000"/>
                </a:solidFill>
                <a:cs typeface="Arial" panose="020B0604020202020204" pitchFamily="34" charset="0"/>
              </a:rPr>
              <a:t>Lock conversion upgrades must be done during this phase</a:t>
            </a:r>
            <a:endParaRPr lang="en-US" altLang="en-US" sz="2000">
              <a:solidFill>
                <a:srgbClr val="000000"/>
              </a:solidFill>
              <a:cs typeface="Arial" panose="020B0604020202020204" pitchFamily="34" charset="0"/>
            </a:endParaRPr>
          </a:p>
          <a:p>
            <a:pPr lvl="2">
              <a:spcBef>
                <a:spcPts val="600"/>
              </a:spcBef>
              <a:buClr>
                <a:srgbClr val="990033"/>
              </a:buClr>
              <a:buSzPct val="50000"/>
              <a:buFont typeface="Wingdings" panose="05000000000000000000" pitchFamily="2" charset="2"/>
              <a:buChar char=""/>
            </a:pPr>
            <a:r>
              <a:rPr lang="en-US" altLang="en-US">
                <a:solidFill>
                  <a:srgbClr val="333399"/>
                </a:solidFill>
                <a:cs typeface="Arial" panose="020B0604020202020204" pitchFamily="34" charset="0"/>
              </a:rPr>
              <a:t>Shrinking phase</a:t>
            </a:r>
            <a:endParaRPr lang="en-US" altLang="en-US">
              <a:solidFill>
                <a:srgbClr val="000000"/>
              </a:solidFill>
              <a:cs typeface="Arial" panose="020B0604020202020204" pitchFamily="34" charset="0"/>
            </a:endParaRPr>
          </a:p>
          <a:p>
            <a:pPr lvl="3">
              <a:spcBef>
                <a:spcPts val="525"/>
              </a:spcBef>
              <a:buClr>
                <a:srgbClr val="333399"/>
              </a:buClr>
              <a:buSzPct val="55000"/>
              <a:buFont typeface="Wingdings" panose="05000000000000000000" pitchFamily="2" charset="2"/>
              <a:buChar char=""/>
            </a:pPr>
            <a:r>
              <a:rPr lang="en-US" altLang="en-US" sz="2000">
                <a:solidFill>
                  <a:srgbClr val="800000"/>
                </a:solidFill>
                <a:cs typeface="Arial" panose="020B0604020202020204" pitchFamily="34" charset="0"/>
              </a:rPr>
              <a:t>Existing locks can be released but none can be acquired</a:t>
            </a:r>
            <a:endParaRPr lang="en-US" altLang="en-US" sz="2000">
              <a:solidFill>
                <a:srgbClr val="000000"/>
              </a:solidFill>
              <a:cs typeface="Arial" panose="020B0604020202020204" pitchFamily="34" charset="0"/>
            </a:endParaRPr>
          </a:p>
          <a:p>
            <a:pPr lvl="3">
              <a:spcBef>
                <a:spcPts val="400"/>
              </a:spcBef>
              <a:buClr>
                <a:srgbClr val="333399"/>
              </a:buClr>
              <a:buSzPct val="55000"/>
              <a:buFont typeface="Wingdings" panose="05000000000000000000" pitchFamily="2" charset="2"/>
              <a:buChar char=""/>
            </a:pPr>
            <a:r>
              <a:rPr lang="en-US" altLang="en-US" sz="2000">
                <a:solidFill>
                  <a:srgbClr val="800000"/>
                </a:solidFill>
                <a:cs typeface="Arial" panose="020B0604020202020204" pitchFamily="34" charset="0"/>
              </a:rPr>
              <a:t>Downgrades must be done during this phase</a:t>
            </a:r>
            <a:endParaRPr lang="en-US" altLang="en-US" sz="2000">
              <a:solidFill>
                <a:srgbClr val="000000"/>
              </a:solidFill>
              <a:cs typeface="Arial" panose="020B0604020202020204" pitchFamily="34" charset="0"/>
            </a:endParaRPr>
          </a:p>
        </p:txBody>
      </p:sp>
    </p:spTree>
    <p:extLst>
      <p:ext uri="{BB962C8B-B14F-4D97-AF65-F5344CB8AC3E}">
        <p14:creationId xmlns:p14="http://schemas.microsoft.com/office/powerpoint/2010/main" val="4007855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www.guru99.com/images/1/100518_0439_DBMSConcurr1.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15921" y="551299"/>
            <a:ext cx="5330647" cy="4007823"/>
          </a:xfrm>
          <a:prstGeom prst="rect">
            <a:avLst/>
          </a:prstGeom>
          <a:noFill/>
          <a:ln>
            <a:noFill/>
          </a:ln>
        </p:spPr>
      </p:pic>
      <p:sp>
        <p:nvSpPr>
          <p:cNvPr id="5" name="Rectangle 4"/>
          <p:cNvSpPr/>
          <p:nvPr/>
        </p:nvSpPr>
        <p:spPr>
          <a:xfrm>
            <a:off x="1390918" y="4770377"/>
            <a:ext cx="9079606" cy="646331"/>
          </a:xfrm>
          <a:prstGeom prst="rect">
            <a:avLst/>
          </a:prstGeom>
        </p:spPr>
        <p:txBody>
          <a:bodyPr wrap="square">
            <a:spAutoFit/>
          </a:bodyPr>
          <a:lstStyle/>
          <a:p>
            <a:r>
              <a:rPr lang="en-US">
                <a:solidFill>
                  <a:srgbClr val="222222"/>
                </a:solidFill>
                <a:latin typeface="Arial" panose="020B0604020202020204" pitchFamily="34" charset="0"/>
                <a:ea typeface="Times New Roman" panose="02020603050405020304" pitchFamily="18" charset="0"/>
              </a:rPr>
              <a:t>It is true that the 2PL protocol offers serializability. However, it does not ensure that deadlocks do not happen.</a:t>
            </a:r>
            <a:endParaRPr lang="en-US" sz="16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45540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A73F04F-9B7F-70A4-D5FC-3844A4AD11DC}"/>
              </a:ext>
            </a:extLst>
          </p:cNvPr>
          <p:cNvSpPr>
            <a:spLocks noGrp="1"/>
          </p:cNvSpPr>
          <p:nvPr>
            <p:ph idx="1"/>
          </p:nvPr>
        </p:nvSpPr>
        <p:spPr>
          <a:xfrm>
            <a:off x="838200" y="0"/>
            <a:ext cx="10515600" cy="6176963"/>
          </a:xfrm>
        </p:spPr>
        <p:txBody>
          <a:bodyPr/>
          <a:lstStyle/>
          <a:p>
            <a:r>
              <a:rPr lang="en-US"/>
              <a:t>Example of Two-Phase Locking Consider two transactions, T1 and T2, both needing to access and update data items A and B. 	•	Transaction T1 starts : 	•	T1 requests a shared (read) lock on A. 	•	T1 requests a shared (read) lock on B. 	•	T1 enters its shrinking phase and releases the lock on A. 	•	T1 releases the lock on B. 	•	  	•	Transaction T2 starts: 	•	T2 requests a shared (read) lock on B. 	•	T2 requests a shared (read) lock on A. 	•	  	•	Conflict Scenario: If T1 requests to write to A, it would need an exclusive lock, and T2 would have to wait for the shared lock on A to be released by T1. T1 requests a write lock on B, and T2 waits for T1 to release the lock.    	•	Outcome: T1 would acquire a read lock on A, then a read lock on B, enter its lock point, then release the lock on A and B in its shrinking phase. T2 would then be able to acquire a read lock on A and a read lock on B.    </a:t>
            </a:r>
            <a:endParaRPr lang="en-IN"/>
          </a:p>
        </p:txBody>
      </p:sp>
      <p:sp>
        <p:nvSpPr>
          <p:cNvPr id="7" name="TextBox 6">
            <a:extLst>
              <a:ext uri="{FF2B5EF4-FFF2-40B4-BE49-F238E27FC236}">
                <a16:creationId xmlns:a16="http://schemas.microsoft.com/office/drawing/2014/main" id="{28C7C2BB-1EF3-88FA-104B-0C2CCA912C1D}"/>
              </a:ext>
            </a:extLst>
          </p:cNvPr>
          <p:cNvSpPr txBox="1"/>
          <p:nvPr/>
        </p:nvSpPr>
        <p:spPr>
          <a:xfrm>
            <a:off x="1416205" y="596590"/>
            <a:ext cx="7725006" cy="5346272"/>
          </a:xfrm>
          <a:prstGeom prst="rect">
            <a:avLst/>
          </a:prstGeom>
          <a:noFill/>
        </p:spPr>
        <p:txBody>
          <a:bodyPr wrap="square">
            <a:spAutoFit/>
          </a:bodyPr>
          <a:lstStyle/>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Example of Two-Phase Locking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Consider two transactions, T1 and T2, both needing to access and update data items A and B.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a:t>
            </a:r>
            <a:r>
              <a:rPr lang="en-IN" sz="1800" b="1" kern="100">
                <a:effectLst/>
                <a:latin typeface="Aptos" panose="020B0004020202020204" pitchFamily="34" charset="0"/>
                <a:ea typeface="Aptos" panose="020B0004020202020204" pitchFamily="34" charset="0"/>
                <a:cs typeface="Times New Roman" panose="02020603050405020304" pitchFamily="18" charset="0"/>
              </a:rPr>
              <a:t>Transaction T1 starts :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T1 requests a shared (read) lock on A.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T1 requests a shared (read) lock on B.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T1 enters its shrinking phase and releases the lock on A.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T1 releases the lock on B.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a:t>
            </a:r>
            <a:r>
              <a:rPr lang="en-US" sz="1800" kern="100">
                <a:effectLst/>
                <a:latin typeface="MS Gothic" panose="020B0609070205080204" pitchFamily="49" charset="-128"/>
                <a:ea typeface="Aptos" panose="020B0004020202020204" pitchFamily="34" charset="0"/>
                <a:cs typeface="MS Gothic" panose="020B0609070205080204" pitchFamily="49" charset="-128"/>
              </a:rPr>
              <a:t> </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a:t>
            </a:r>
            <a:r>
              <a:rPr lang="en-IN" sz="1800" b="1" kern="100">
                <a:effectLst/>
                <a:latin typeface="Aptos" panose="020B0004020202020204" pitchFamily="34" charset="0"/>
                <a:ea typeface="Aptos" panose="020B0004020202020204" pitchFamily="34" charset="0"/>
                <a:cs typeface="Times New Roman" panose="02020603050405020304" pitchFamily="18" charset="0"/>
              </a:rPr>
              <a:t>Transaction T2 starts:</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T2 requests a shared (read) lock on B.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T2 requests a shared (read) lock on A. </a:t>
            </a:r>
          </a:p>
        </p:txBody>
      </p:sp>
    </p:spTree>
    <p:extLst>
      <p:ext uri="{BB962C8B-B14F-4D97-AF65-F5344CB8AC3E}">
        <p14:creationId xmlns:p14="http://schemas.microsoft.com/office/powerpoint/2010/main" val="2547006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4CDA3-F705-C027-7EC2-E42A19CBC55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0EC516-0502-6D16-4D0D-73AB5E6A54FC}"/>
              </a:ext>
            </a:extLst>
          </p:cNvPr>
          <p:cNvSpPr>
            <a:spLocks noGrp="1"/>
          </p:cNvSpPr>
          <p:nvPr>
            <p:ph idx="1"/>
          </p:nvPr>
        </p:nvSpPr>
        <p:spPr/>
        <p:txBody>
          <a:bodyPr/>
          <a:lstStyle/>
          <a:p>
            <a:r>
              <a:rPr lang="en-IN"/>
              <a:t>Conflict Scenario: If T1 requests to write to A, it would need an exclusive lock, and T2 would have to wait for the shared lock on A to be released by T1. T1 requests a write lock on B, and T2 waits for T1 to release the lock. </a:t>
            </a:r>
            <a:r>
              <a:rPr lang="en-US"/>
              <a:t>   </a:t>
            </a:r>
            <a:endParaRPr lang="en-IN"/>
          </a:p>
          <a:p>
            <a:pPr marL="0" indent="0">
              <a:buNone/>
            </a:pPr>
            <a:r>
              <a:rPr lang="en-IN"/>
              <a:t>•	Outcome: T1 would acquire a read lock on A, then a read lock on B, enter its lock point, then release the lock on A and B in its shrinking phase. T2 would then be able to acquire a read lock on A and a read lock on B</a:t>
            </a:r>
          </a:p>
        </p:txBody>
      </p:sp>
    </p:spTree>
    <p:extLst>
      <p:ext uri="{BB962C8B-B14F-4D97-AF65-F5344CB8AC3E}">
        <p14:creationId xmlns:p14="http://schemas.microsoft.com/office/powerpoint/2010/main" val="2754966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B3FCA9-8F6C-2EE5-EF56-90A37A898D60}"/>
              </a:ext>
            </a:extLst>
          </p:cNvPr>
          <p:cNvSpPr>
            <a:spLocks noGrp="1"/>
          </p:cNvSpPr>
          <p:nvPr>
            <p:ph idx="1"/>
          </p:nvPr>
        </p:nvSpPr>
        <p:spPr/>
        <p:txBody>
          <a:bodyPr/>
          <a:lstStyle/>
          <a:p>
            <a:r>
              <a:rPr lang="en-US"/>
              <a:t>Potential Issues 	•	Deadlock: In some scenarios, like the example above, T1 and T2 could become deadlocked, where each transaction is waiting for a lock held by the other, preventing either from proceeding.   	•	Cascading Rollbacks: A rollback in one transaction can trigger rollbacks in other transactions that are dependent on the failed transaction, leading to data inconsistencies.   	•	Reduced Concurrency: 2PL can limit the number of concurrent transactions, potentially leading to decreased performance.  </a:t>
            </a:r>
            <a:endParaRPr lang="en-IN"/>
          </a:p>
        </p:txBody>
      </p:sp>
      <p:sp>
        <p:nvSpPr>
          <p:cNvPr id="5" name="TextBox 4">
            <a:extLst>
              <a:ext uri="{FF2B5EF4-FFF2-40B4-BE49-F238E27FC236}">
                <a16:creationId xmlns:a16="http://schemas.microsoft.com/office/drawing/2014/main" id="{527A17A1-73CB-0617-B3CF-90A71E641043}"/>
              </a:ext>
            </a:extLst>
          </p:cNvPr>
          <p:cNvSpPr txBox="1"/>
          <p:nvPr/>
        </p:nvSpPr>
        <p:spPr>
          <a:xfrm>
            <a:off x="1148577" y="1562603"/>
            <a:ext cx="10326028" cy="6194003"/>
          </a:xfrm>
          <a:prstGeom prst="rect">
            <a:avLst/>
          </a:prstGeom>
          <a:noFill/>
        </p:spPr>
        <p:txBody>
          <a:bodyPr wrap="square">
            <a:spAutoFit/>
          </a:bodyPr>
          <a:lstStyle/>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Potential Issues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Deadlock: In some scenarios, like the example above, T1 and T2 could become deadlocked, where each transaction is waiting for a lock held by the other, preventing either from proceeding. </a:t>
            </a:r>
            <a:r>
              <a:rPr lang="en-US" sz="1800" kern="100">
                <a:effectLst/>
                <a:latin typeface="MS Gothic" panose="020B0609070205080204" pitchFamily="49" charset="-128"/>
                <a:ea typeface="Aptos" panose="020B0004020202020204" pitchFamily="34" charset="0"/>
                <a:cs typeface="MS Gothic" panose="020B0609070205080204" pitchFamily="49" charset="-128"/>
              </a:rPr>
              <a:t>  </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	Cascading Rollbacks: A rollback in one transaction can trigger rollbacks in other transactions that are dependent on the failed transaction, leading to data inconsistencies. </a:t>
            </a:r>
            <a:r>
              <a:rPr lang="en-US" sz="1800" kern="100">
                <a:effectLst/>
                <a:latin typeface="MS Gothic" panose="020B0609070205080204" pitchFamily="49" charset="-128"/>
                <a:ea typeface="Aptos" panose="020B0004020202020204" pitchFamily="34" charset="0"/>
                <a:cs typeface="MS Gothic" panose="020B0609070205080204" pitchFamily="49" charset="-128"/>
              </a:rPr>
              <a:t>  </a:t>
            </a:r>
          </a:p>
          <a:p>
            <a:pPr marL="285750" indent="-285750">
              <a:lnSpc>
                <a:spcPct val="115000"/>
              </a:lnSpc>
              <a:spcAft>
                <a:spcPts val="800"/>
              </a:spcAft>
              <a:buFont typeface="Arial" panose="020B0604020202020204" pitchFamily="34" charset="0"/>
              <a:buChar char="•"/>
            </a:pPr>
            <a:r>
              <a:rPr lang="en-IN"/>
              <a:t>Reduced Concurrency: 2PL can limit the number of concurrent transactions, potentially leading to decreased performance.</a:t>
            </a:r>
            <a:r>
              <a:rPr lang="en-US"/>
              <a:t>  </a:t>
            </a:r>
          </a:p>
          <a:p>
            <a:pPr>
              <a:lnSpc>
                <a:spcPct val="115000"/>
              </a:lnSpc>
              <a:spcAft>
                <a:spcPts val="800"/>
              </a:spcAft>
              <a:buNone/>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US" kern="10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US" kern="10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800" kern="100">
                <a:effectLst/>
                <a:latin typeface="Aptos" panose="020B0004020202020204" pitchFamily="34" charset="0"/>
                <a:ea typeface="Aptos" panose="020B0004020202020204" pitchFamily="34" charset="0"/>
                <a:cs typeface="Times New Roman" panose="02020603050405020304" pitchFamily="18" charset="0"/>
              </a:rPr>
              <a:t>•	Reduced Concurrency: 2PL can limit the number of concurrent transactions, potentially leading to decreased performance.</a:t>
            </a:r>
            <a:r>
              <a:rPr lang="en-US" sz="1800" kern="100">
                <a:effectLst/>
                <a:latin typeface="MS Gothic" panose="020B0609070205080204" pitchFamily="49" charset="-128"/>
                <a:ea typeface="Aptos" panose="020B0004020202020204" pitchFamily="34" charset="0"/>
                <a:cs typeface="MS Gothic" panose="020B0609070205080204" pitchFamily="49" charset="-128"/>
              </a:rPr>
              <a:t>  </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14197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1975" y="676275"/>
            <a:ext cx="6705600" cy="573088"/>
          </a:xfrm>
        </p:spPr>
        <p:txBody>
          <a:bodyPr vert="horz" lIns="91440" tIns="12700" rIns="91440" bIns="45720" rtlCol="0" anchor="ctr">
            <a:normAutofit fontScale="90000"/>
          </a:bodyPr>
          <a:lstStyle/>
          <a:p>
            <a:pPr marL="12700">
              <a:spcBef>
                <a:spcPts val="100"/>
              </a:spcBef>
              <a:defRPr/>
            </a:pPr>
            <a:r>
              <a:rPr spc="-5"/>
              <a:t>Variations of Two-Phase</a:t>
            </a:r>
            <a:r>
              <a:rPr spc="-35"/>
              <a:t> </a:t>
            </a:r>
            <a:r>
              <a:rPr spc="-5"/>
              <a:t>Locking</a:t>
            </a:r>
          </a:p>
        </p:txBody>
      </p:sp>
      <p:sp>
        <p:nvSpPr>
          <p:cNvPr id="4" name="object 4"/>
          <p:cNvSpPr>
            <a:spLocks noGrp="1"/>
          </p:cNvSpPr>
          <p:nvPr>
            <p:ph type="sldNum" sz="quarter" idx="12"/>
          </p:nvPr>
        </p:nvSpPr>
        <p:spPr/>
        <p:txBody>
          <a:bodyPr vert="horz" rtlCol="0"/>
          <a:lstStyle/>
          <a:p>
            <a:pPr eaLnBrk="0" fontAlgn="base" hangingPunct="0">
              <a:spcBef>
                <a:spcPct val="0"/>
              </a:spcBef>
              <a:spcAft>
                <a:spcPct val="0"/>
              </a:spcAft>
              <a:defRPr/>
            </a:pPr>
            <a:r>
              <a:t>Slide </a:t>
            </a:r>
            <a:r>
              <a:rPr spc="10"/>
              <a:t>21-</a:t>
            </a:r>
            <a:r>
              <a:rPr spc="-200"/>
              <a:t> </a:t>
            </a:r>
            <a:fld id="{7A2F936E-31FA-47A0-99F9-DFBEB96EF4EF}" type="slidenum">
              <a:rPr/>
              <a:pPr eaLnBrk="0" fontAlgn="base" hangingPunct="0">
                <a:spcBef>
                  <a:spcPct val="0"/>
                </a:spcBef>
                <a:spcAft>
                  <a:spcPct val="0"/>
                </a:spcAft>
                <a:defRPr/>
              </a:pPr>
              <a:t>30</a:t>
            </a:fld>
            <a:endParaRPr/>
          </a:p>
        </p:txBody>
      </p:sp>
      <p:sp>
        <p:nvSpPr>
          <p:cNvPr id="99332" name="object 3"/>
          <p:cNvSpPr txBox="1">
            <a:spLocks noChangeArrowheads="1"/>
          </p:cNvSpPr>
          <p:nvPr/>
        </p:nvSpPr>
        <p:spPr bwMode="auto">
          <a:xfrm>
            <a:off x="1843089" y="1533526"/>
            <a:ext cx="8023225" cy="478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0330" rIns="0" bIns="0">
            <a:spAutoFit/>
          </a:bodyPr>
          <a:lstStyle>
            <a:lvl1pPr marL="355600" indent="-342900">
              <a:tabLst>
                <a:tab pos="354013" algn="l"/>
                <a:tab pos="355600" algn="l"/>
              </a:tabLst>
              <a:defRPr sz="2400">
                <a:solidFill>
                  <a:schemeClr val="tx1"/>
                </a:solidFill>
                <a:latin typeface="Arial" panose="020B0604020202020204" pitchFamily="34" charset="0"/>
              </a:defRPr>
            </a:lvl1pPr>
            <a:lvl2pPr marL="762000" indent="-292100">
              <a:tabLst>
                <a:tab pos="354013" algn="l"/>
                <a:tab pos="355600" algn="l"/>
              </a:tabLst>
              <a:defRPr sz="2400">
                <a:solidFill>
                  <a:schemeClr val="tx1"/>
                </a:solidFill>
                <a:latin typeface="Arial" panose="020B0604020202020204" pitchFamily="34" charset="0"/>
              </a:defRPr>
            </a:lvl2pPr>
            <a:lvl3pPr marL="1155700" indent="-228600">
              <a:tabLst>
                <a:tab pos="354013" algn="l"/>
                <a:tab pos="355600" algn="l"/>
              </a:tabLst>
              <a:defRPr sz="2400">
                <a:solidFill>
                  <a:schemeClr val="tx1"/>
                </a:solidFill>
                <a:latin typeface="Arial" panose="020B0604020202020204" pitchFamily="34" charset="0"/>
              </a:defRPr>
            </a:lvl3pPr>
            <a:lvl4pPr marL="1600200" indent="-228600">
              <a:tabLst>
                <a:tab pos="354013" algn="l"/>
                <a:tab pos="355600" algn="l"/>
              </a:tabLst>
              <a:defRPr sz="2400">
                <a:solidFill>
                  <a:schemeClr val="tx1"/>
                </a:solidFill>
                <a:latin typeface="Arial" panose="020B0604020202020204" pitchFamily="34" charset="0"/>
              </a:defRPr>
            </a:lvl4pPr>
            <a:lvl5pPr marL="2057400" indent="-228600">
              <a:tabLst>
                <a:tab pos="354013" algn="l"/>
                <a:tab pos="355600"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9pPr>
          </a:lstStyle>
          <a:p>
            <a:pPr>
              <a:spcBef>
                <a:spcPts val="675"/>
              </a:spcBef>
              <a:buClr>
                <a:srgbClr val="990033"/>
              </a:buClr>
              <a:buSzPct val="61000"/>
              <a:buFont typeface="Wingdings" panose="05000000000000000000" pitchFamily="2" charset="2"/>
              <a:buChar char=""/>
            </a:pPr>
            <a:r>
              <a:rPr lang="en-US" altLang="en-US" sz="2800">
                <a:solidFill>
                  <a:srgbClr val="333399"/>
                </a:solidFill>
                <a:cs typeface="Arial" panose="020B0604020202020204" pitchFamily="34" charset="0"/>
              </a:rPr>
              <a:t>Strict 2PL</a:t>
            </a:r>
            <a:endParaRPr lang="en-US" altLang="en-US" sz="2800">
              <a:cs typeface="Arial" panose="020B0604020202020204" pitchFamily="34" charset="0"/>
            </a:endParaRPr>
          </a:p>
          <a:p>
            <a:pPr lvl="1">
              <a:lnSpc>
                <a:spcPts val="3100"/>
              </a:lnSpc>
              <a:spcBef>
                <a:spcPts val="763"/>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Transaction does not release exclusive locks until  after it commits or aborts.</a:t>
            </a:r>
          </a:p>
          <a:p>
            <a:pPr lvl="1">
              <a:lnSpc>
                <a:spcPts val="3100"/>
              </a:lnSpc>
              <a:spcBef>
                <a:spcPts val="763"/>
              </a:spcBef>
              <a:buClr>
                <a:srgbClr val="333399"/>
              </a:buClr>
              <a:buSzPct val="54000"/>
              <a:buFont typeface="Wingdings" panose="05000000000000000000" pitchFamily="2" charset="2"/>
              <a:buChar char=""/>
            </a:pPr>
            <a:r>
              <a:rPr lang="en-IN"/>
              <a:t>Strict-2PL is that all exclusive (X) locks are held until the transaction reaches its commit or abort point. Shared (S) locks can still be released earlier, but this is less common as Strict-2PL is often seen as a lighter version of Rigorous 2PL, which holds all locks, shared or exclusive, until commit.</a:t>
            </a:r>
            <a:endParaRPr lang="en-US" altLang="en-US" sz="2600">
              <a:solidFill>
                <a:srgbClr val="800000"/>
              </a:solidFill>
              <a:cs typeface="Arial" panose="020B0604020202020204" pitchFamily="34" charset="0"/>
            </a:endParaRPr>
          </a:p>
          <a:p>
            <a:r>
              <a:rPr lang="en-IN"/>
              <a:t> </a:t>
            </a:r>
          </a:p>
          <a:p>
            <a:pPr lvl="1">
              <a:lnSpc>
                <a:spcPts val="3100"/>
              </a:lnSpc>
              <a:spcBef>
                <a:spcPts val="763"/>
              </a:spcBef>
              <a:buClr>
                <a:srgbClr val="333399"/>
              </a:buClr>
              <a:buSzPct val="54000"/>
              <a:buFont typeface="Wingdings" panose="05000000000000000000" pitchFamily="2" charset="2"/>
              <a:buChar char=""/>
            </a:pPr>
            <a:endParaRPr lang="en-US" altLang="en-US" sz="2600">
              <a:solidFill>
                <a:srgbClr val="800000"/>
              </a:solidFill>
              <a:cs typeface="Arial" panose="020B0604020202020204" pitchFamily="34" charset="0"/>
            </a:endParaRPr>
          </a:p>
        </p:txBody>
      </p:sp>
    </p:spTree>
    <p:extLst>
      <p:ext uri="{BB962C8B-B14F-4D97-AF65-F5344CB8AC3E}">
        <p14:creationId xmlns:p14="http://schemas.microsoft.com/office/powerpoint/2010/main" val="499251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B8F7C-6BD3-99BC-89E5-52361B7DE34F}"/>
              </a:ext>
            </a:extLst>
          </p:cNvPr>
          <p:cNvSpPr>
            <a:spLocks noGrp="1"/>
          </p:cNvSpPr>
          <p:nvPr>
            <p:ph idx="1"/>
          </p:nvPr>
        </p:nvSpPr>
        <p:spPr>
          <a:xfrm>
            <a:off x="838200" y="345688"/>
            <a:ext cx="10515600" cy="5831275"/>
          </a:xfrm>
        </p:spPr>
        <p:txBody>
          <a:bodyPr>
            <a:normAutofit fontScale="70000" lnSpcReduction="20000"/>
          </a:bodyPr>
          <a:lstStyle/>
          <a:p>
            <a:r>
              <a:rPr lang="en-IN"/>
              <a:t>Example Scenario </a:t>
            </a:r>
          </a:p>
          <a:p>
            <a:pPr marL="0" indent="0">
              <a:buNone/>
            </a:pPr>
            <a:r>
              <a:rPr lang="en-IN"/>
              <a:t>Let's say we have two transactions, T1 and T2, and a shared resource, Account A. </a:t>
            </a:r>
          </a:p>
          <a:p>
            <a:pPr marL="0" indent="0">
              <a:buNone/>
            </a:pPr>
            <a:r>
              <a:rPr lang="en-IN"/>
              <a:t> 	•</a:t>
            </a:r>
            <a:r>
              <a:rPr lang="en-IN" b="1"/>
              <a:t>Transaction T1: </a:t>
            </a:r>
            <a:r>
              <a:rPr lang="en-IN"/>
              <a:t>Deposit (Needs to write to A) </a:t>
            </a:r>
          </a:p>
          <a:p>
            <a:pPr marL="0" indent="0">
              <a:buNone/>
            </a:pPr>
            <a:r>
              <a:rPr lang="en-IN"/>
              <a:t>	•Starts. </a:t>
            </a:r>
          </a:p>
          <a:p>
            <a:pPr marL="0" indent="0">
              <a:buNone/>
            </a:pPr>
            <a:r>
              <a:rPr lang="en-IN"/>
              <a:t>	•Acquires an X-lock on A. </a:t>
            </a:r>
          </a:p>
          <a:p>
            <a:pPr marL="0" indent="0">
              <a:buNone/>
            </a:pPr>
            <a:r>
              <a:rPr lang="en-IN"/>
              <a:t>	•Reads the value of A. </a:t>
            </a:r>
          </a:p>
          <a:p>
            <a:pPr marL="0" indent="0">
              <a:buNone/>
            </a:pPr>
            <a:r>
              <a:rPr lang="en-IN"/>
              <a:t>	•Adds a deposit amount to A. </a:t>
            </a:r>
          </a:p>
          <a:p>
            <a:pPr marL="0" indent="0">
              <a:buNone/>
            </a:pPr>
            <a:r>
              <a:rPr lang="en-IN"/>
              <a:t>	•Waits to commit: because it holds the X-lock, even though its read operation is </a:t>
            </a:r>
          </a:p>
          <a:p>
            <a:pPr marL="0" indent="0">
              <a:buNone/>
            </a:pPr>
            <a:r>
              <a:rPr lang="en-IN"/>
              <a:t>                    complete. 		</a:t>
            </a:r>
            <a:r>
              <a:rPr lang="en-US"/>
              <a:t>  </a:t>
            </a:r>
            <a:endParaRPr lang="en-IN"/>
          </a:p>
          <a:p>
            <a:pPr marL="0" indent="0">
              <a:buNone/>
            </a:pPr>
            <a:r>
              <a:rPr lang="en-IN"/>
              <a:t>	•</a:t>
            </a:r>
            <a:r>
              <a:rPr lang="en-IN" b="1"/>
              <a:t>Transaction T2</a:t>
            </a:r>
            <a:r>
              <a:rPr lang="en-IN"/>
              <a:t>: Read Balance (Needs to read A) </a:t>
            </a:r>
          </a:p>
          <a:p>
            <a:pPr marL="0" indent="0">
              <a:buNone/>
            </a:pPr>
            <a:r>
              <a:rPr lang="en-IN"/>
              <a:t>	•Starts. </a:t>
            </a:r>
          </a:p>
          <a:p>
            <a:pPr marL="0" indent="0">
              <a:buNone/>
            </a:pPr>
            <a:r>
              <a:rPr lang="en-IN"/>
              <a:t>	•Tries to acquire an S-lock on A. </a:t>
            </a:r>
          </a:p>
          <a:p>
            <a:pPr marL="0" indent="0">
              <a:buNone/>
            </a:pPr>
            <a:r>
              <a:rPr lang="en-IN"/>
              <a:t>	•T2 must wait: because T1 holds an X-lock on A. </a:t>
            </a:r>
          </a:p>
          <a:p>
            <a:pPr marL="0" indent="0">
              <a:buNone/>
            </a:pPr>
            <a:r>
              <a:rPr lang="en-IN"/>
              <a:t>	</a:t>
            </a:r>
            <a:r>
              <a:rPr lang="en-US"/>
              <a:t> </a:t>
            </a:r>
            <a:endParaRPr lang="en-IN"/>
          </a:p>
          <a:p>
            <a:pPr marL="0" indent="0">
              <a:buNone/>
            </a:pPr>
            <a:r>
              <a:rPr lang="en-IN"/>
              <a:t>    Outcome</a:t>
            </a:r>
          </a:p>
          <a:p>
            <a:pPr marL="0" indent="0">
              <a:buNone/>
            </a:pPr>
            <a:r>
              <a:rPr lang="en-IN"/>
              <a:t>	•	When T1 successfully commits (or aborts), it releases the X-lock on A. </a:t>
            </a:r>
          </a:p>
          <a:p>
            <a:pPr marL="0" indent="0">
              <a:buNone/>
            </a:pPr>
            <a:r>
              <a:rPr lang="en-IN"/>
              <a:t>	•	Now, T2 can acquire the S-lock on A and read the updated balance. </a:t>
            </a:r>
          </a:p>
          <a:p>
            <a:pPr marL="0" indent="0">
              <a:buNone/>
            </a:pPr>
            <a:endParaRPr lang="en-IN"/>
          </a:p>
        </p:txBody>
      </p:sp>
    </p:spTree>
    <p:extLst>
      <p:ext uri="{BB962C8B-B14F-4D97-AF65-F5344CB8AC3E}">
        <p14:creationId xmlns:p14="http://schemas.microsoft.com/office/powerpoint/2010/main" val="34956425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A559D8-73A2-BC36-32AF-B10A0802EBB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E0145E3-4FEE-8AE0-9D7F-6449E66FF2A2}"/>
              </a:ext>
            </a:extLst>
          </p:cNvPr>
          <p:cNvSpPr txBox="1">
            <a:spLocks noGrp="1"/>
          </p:cNvSpPr>
          <p:nvPr>
            <p:ph type="title"/>
          </p:nvPr>
        </p:nvSpPr>
        <p:spPr>
          <a:xfrm>
            <a:off x="1831975" y="676275"/>
            <a:ext cx="6705600" cy="573088"/>
          </a:xfrm>
        </p:spPr>
        <p:txBody>
          <a:bodyPr vert="horz" lIns="91440" tIns="12700" rIns="91440" bIns="45720" rtlCol="0" anchor="ctr">
            <a:normAutofit fontScale="90000"/>
          </a:bodyPr>
          <a:lstStyle/>
          <a:p>
            <a:pPr marL="12700">
              <a:spcBef>
                <a:spcPts val="100"/>
              </a:spcBef>
              <a:defRPr/>
            </a:pPr>
            <a:r>
              <a:rPr spc="-5"/>
              <a:t>Variations of Two-Phase</a:t>
            </a:r>
            <a:r>
              <a:rPr spc="-35"/>
              <a:t> </a:t>
            </a:r>
            <a:r>
              <a:rPr spc="-5"/>
              <a:t>Locking</a:t>
            </a:r>
          </a:p>
        </p:txBody>
      </p:sp>
      <p:sp>
        <p:nvSpPr>
          <p:cNvPr id="4" name="object 4">
            <a:extLst>
              <a:ext uri="{FF2B5EF4-FFF2-40B4-BE49-F238E27FC236}">
                <a16:creationId xmlns:a16="http://schemas.microsoft.com/office/drawing/2014/main" id="{FABE2CC6-BEF9-D69A-7E48-AD4FC8A2431A}"/>
              </a:ext>
            </a:extLst>
          </p:cNvPr>
          <p:cNvSpPr>
            <a:spLocks noGrp="1"/>
          </p:cNvSpPr>
          <p:nvPr>
            <p:ph type="sldNum" sz="quarter" idx="12"/>
          </p:nvPr>
        </p:nvSpPr>
        <p:spPr/>
        <p:txBody>
          <a:bodyPr vert="horz" rtlCol="0"/>
          <a:lstStyle/>
          <a:p>
            <a:pPr eaLnBrk="0" fontAlgn="base" hangingPunct="0">
              <a:spcBef>
                <a:spcPct val="0"/>
              </a:spcBef>
              <a:spcAft>
                <a:spcPct val="0"/>
              </a:spcAft>
              <a:defRPr/>
            </a:pPr>
            <a:r>
              <a:t>Slide </a:t>
            </a:r>
            <a:r>
              <a:rPr spc="10"/>
              <a:t>21-</a:t>
            </a:r>
            <a:r>
              <a:rPr spc="-200"/>
              <a:t> </a:t>
            </a:r>
            <a:fld id="{7A2F936E-31FA-47A0-99F9-DFBEB96EF4EF}" type="slidenum">
              <a:rPr/>
              <a:pPr eaLnBrk="0" fontAlgn="base" hangingPunct="0">
                <a:spcBef>
                  <a:spcPct val="0"/>
                </a:spcBef>
                <a:spcAft>
                  <a:spcPct val="0"/>
                </a:spcAft>
                <a:defRPr/>
              </a:pPr>
              <a:t>32</a:t>
            </a:fld>
            <a:endParaRPr/>
          </a:p>
        </p:txBody>
      </p:sp>
      <p:sp>
        <p:nvSpPr>
          <p:cNvPr id="99332" name="object 3">
            <a:extLst>
              <a:ext uri="{FF2B5EF4-FFF2-40B4-BE49-F238E27FC236}">
                <a16:creationId xmlns:a16="http://schemas.microsoft.com/office/drawing/2014/main" id="{46426121-0DA3-EBBF-C66F-FF956B3E7B06}"/>
              </a:ext>
            </a:extLst>
          </p:cNvPr>
          <p:cNvSpPr txBox="1">
            <a:spLocks noChangeArrowheads="1"/>
          </p:cNvSpPr>
          <p:nvPr/>
        </p:nvSpPr>
        <p:spPr bwMode="auto">
          <a:xfrm>
            <a:off x="1843089" y="1533526"/>
            <a:ext cx="8023225" cy="375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0330" rIns="0" bIns="0">
            <a:spAutoFit/>
          </a:bodyPr>
          <a:lstStyle>
            <a:lvl1pPr marL="355600" indent="-342900">
              <a:tabLst>
                <a:tab pos="354013" algn="l"/>
                <a:tab pos="355600" algn="l"/>
              </a:tabLst>
              <a:defRPr sz="2400">
                <a:solidFill>
                  <a:schemeClr val="tx1"/>
                </a:solidFill>
                <a:latin typeface="Arial" panose="020B0604020202020204" pitchFamily="34" charset="0"/>
              </a:defRPr>
            </a:lvl1pPr>
            <a:lvl2pPr marL="762000" indent="-292100">
              <a:tabLst>
                <a:tab pos="354013" algn="l"/>
                <a:tab pos="355600" algn="l"/>
              </a:tabLst>
              <a:defRPr sz="2400">
                <a:solidFill>
                  <a:schemeClr val="tx1"/>
                </a:solidFill>
                <a:latin typeface="Arial" panose="020B0604020202020204" pitchFamily="34" charset="0"/>
              </a:defRPr>
            </a:lvl2pPr>
            <a:lvl3pPr marL="1155700" indent="-228600">
              <a:tabLst>
                <a:tab pos="354013" algn="l"/>
                <a:tab pos="355600" algn="l"/>
              </a:tabLst>
              <a:defRPr sz="2400">
                <a:solidFill>
                  <a:schemeClr val="tx1"/>
                </a:solidFill>
                <a:latin typeface="Arial" panose="020B0604020202020204" pitchFamily="34" charset="0"/>
              </a:defRPr>
            </a:lvl3pPr>
            <a:lvl4pPr marL="1600200" indent="-228600">
              <a:tabLst>
                <a:tab pos="354013" algn="l"/>
                <a:tab pos="355600" algn="l"/>
              </a:tabLst>
              <a:defRPr sz="2400">
                <a:solidFill>
                  <a:schemeClr val="tx1"/>
                </a:solidFill>
                <a:latin typeface="Arial" panose="020B0604020202020204" pitchFamily="34" charset="0"/>
              </a:defRPr>
            </a:lvl4pPr>
            <a:lvl5pPr marL="2057400" indent="-228600">
              <a:tabLst>
                <a:tab pos="354013" algn="l"/>
                <a:tab pos="355600"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9pPr>
          </a:lstStyle>
          <a:p>
            <a:pPr>
              <a:spcBef>
                <a:spcPts val="675"/>
              </a:spcBef>
              <a:buClr>
                <a:srgbClr val="990033"/>
              </a:buClr>
              <a:buSzPct val="61000"/>
              <a:buFont typeface="Wingdings" panose="05000000000000000000" pitchFamily="2" charset="2"/>
              <a:buChar char=""/>
            </a:pPr>
            <a:r>
              <a:rPr lang="en-US" altLang="en-US" sz="2800">
                <a:solidFill>
                  <a:srgbClr val="333399"/>
                </a:solidFill>
                <a:cs typeface="Arial" panose="020B0604020202020204" pitchFamily="34" charset="0"/>
              </a:rPr>
              <a:t>Strict 2PL</a:t>
            </a:r>
            <a:endParaRPr lang="en-US" altLang="en-US" sz="2800">
              <a:cs typeface="Arial" panose="020B0604020202020204" pitchFamily="34" charset="0"/>
            </a:endParaRPr>
          </a:p>
          <a:p>
            <a:pPr lvl="1">
              <a:lnSpc>
                <a:spcPts val="3100"/>
              </a:lnSpc>
              <a:spcBef>
                <a:spcPts val="763"/>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Transaction does not release exclusive locks until  after it commits or aborts</a:t>
            </a:r>
          </a:p>
          <a:p>
            <a:pPr>
              <a:spcBef>
                <a:spcPts val="675"/>
              </a:spcBef>
              <a:buClr>
                <a:srgbClr val="990033"/>
              </a:buClr>
              <a:buSzPct val="61000"/>
              <a:buFont typeface="Wingdings" panose="05000000000000000000" pitchFamily="2" charset="2"/>
              <a:buChar char=""/>
            </a:pPr>
            <a:r>
              <a:rPr lang="en-US" altLang="en-US" sz="2800">
                <a:solidFill>
                  <a:srgbClr val="333399"/>
                </a:solidFill>
                <a:cs typeface="Arial" panose="020B0604020202020204" pitchFamily="34" charset="0"/>
              </a:rPr>
              <a:t>Conservative (static) 2PL</a:t>
            </a:r>
            <a:endParaRPr lang="en-US" altLang="en-US" sz="2800">
              <a:cs typeface="Arial" panose="020B0604020202020204" pitchFamily="34" charset="0"/>
            </a:endParaRPr>
          </a:p>
          <a:p>
            <a:pPr lvl="1">
              <a:lnSpc>
                <a:spcPts val="3100"/>
              </a:lnSpc>
              <a:spcBef>
                <a:spcPts val="763"/>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Requires a transaction to lock all the items it  accesses before the transaction begins</a:t>
            </a:r>
            <a:endParaRPr lang="en-US" altLang="en-US" sz="2600">
              <a:cs typeface="Arial" panose="020B0604020202020204" pitchFamily="34" charset="0"/>
            </a:endParaRPr>
          </a:p>
          <a:p>
            <a:pPr lvl="2">
              <a:spcBef>
                <a:spcPts val="475"/>
              </a:spcBef>
              <a:buClr>
                <a:srgbClr val="990033"/>
              </a:buClr>
              <a:buSzPct val="50000"/>
              <a:buFont typeface="Wingdings" panose="05000000000000000000" pitchFamily="2" charset="2"/>
              <a:buChar char=""/>
            </a:pPr>
            <a:r>
              <a:rPr lang="en-US" altLang="en-US">
                <a:solidFill>
                  <a:srgbClr val="333399"/>
                </a:solidFill>
                <a:cs typeface="Arial" panose="020B0604020202020204" pitchFamily="34" charset="0"/>
              </a:rPr>
              <a:t>Predeclare read-set and write-set</a:t>
            </a:r>
            <a:endParaRPr lang="en-US" altLang="en-US">
              <a:cs typeface="Arial" panose="020B0604020202020204" pitchFamily="34" charset="0"/>
            </a:endParaRPr>
          </a:p>
          <a:p>
            <a:pPr lvl="1">
              <a:spcBef>
                <a:spcPts val="625"/>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Deadlock-free protocol</a:t>
            </a:r>
            <a:endParaRPr lang="en-US" altLang="en-US" sz="2600">
              <a:cs typeface="Arial" panose="020B0604020202020204" pitchFamily="34" charset="0"/>
            </a:endParaRPr>
          </a:p>
        </p:txBody>
      </p:sp>
    </p:spTree>
    <p:extLst>
      <p:ext uri="{BB962C8B-B14F-4D97-AF65-F5344CB8AC3E}">
        <p14:creationId xmlns:p14="http://schemas.microsoft.com/office/powerpoint/2010/main" val="4174100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185"/>
          </a:xfrm>
        </p:spPr>
        <p:txBody>
          <a:bodyPr>
            <a:normAutofit fontScale="90000"/>
          </a:bodyPr>
          <a:lstStyle/>
          <a:p>
            <a:r>
              <a:rPr lang="en-US"/>
              <a:t>Timestamp Ordering Protocol</a:t>
            </a:r>
            <a:br>
              <a:rPr lang="en-US"/>
            </a:br>
            <a:endParaRPr lang="en-US"/>
          </a:p>
        </p:txBody>
      </p:sp>
      <p:sp>
        <p:nvSpPr>
          <p:cNvPr id="3" name="Content Placeholder 2"/>
          <p:cNvSpPr>
            <a:spLocks noGrp="1"/>
          </p:cNvSpPr>
          <p:nvPr>
            <p:ph idx="1"/>
          </p:nvPr>
        </p:nvSpPr>
        <p:spPr>
          <a:xfrm>
            <a:off x="876836" y="927279"/>
            <a:ext cx="10515600" cy="5198169"/>
          </a:xfrm>
        </p:spPr>
        <p:txBody>
          <a:bodyPr>
            <a:normAutofit fontScale="92500" lnSpcReduction="20000"/>
          </a:bodyPr>
          <a:lstStyle/>
          <a:p>
            <a:pPr algn="just"/>
            <a:r>
              <a:rPr lang="en-US"/>
              <a:t>The Timestamp Ordering Protocol is used to order the transactions based on their Timestamps. The order of transaction is nothing but the ascending order of the transaction creation.</a:t>
            </a:r>
          </a:p>
          <a:p>
            <a:pPr algn="just"/>
            <a:r>
              <a:rPr lang="en-US"/>
              <a:t>The priority of the older transaction is higher that's why it executes first. To determine the timestamp of the transaction, this protocol uses system time or logical counter.</a:t>
            </a:r>
          </a:p>
          <a:p>
            <a:pPr algn="just"/>
            <a:r>
              <a:rPr lang="en-US"/>
              <a:t>The lock-based protocol is used to manage the order between conflicting pairs among transactions at the execution time. But Timestamp based protocols start working as soon as a transaction is created.</a:t>
            </a:r>
          </a:p>
          <a:p>
            <a:pPr algn="just"/>
            <a:r>
              <a:rPr lang="en-US"/>
              <a:t>Let's assume there are two transactions T1 and T2. Suppose the transaction T1 has entered the system at 007 times and transaction T2 has entered the system at 009 times. T1 has the higher priority, so it executes first as it is entered the system first.</a:t>
            </a:r>
          </a:p>
          <a:p>
            <a:pPr algn="just"/>
            <a:r>
              <a:rPr lang="en-US"/>
              <a:t>The timestamp ordering protocol also maintains the timestamp of last 'read' and 'write' operation on a data.</a:t>
            </a:r>
          </a:p>
          <a:p>
            <a:pPr algn="just"/>
            <a:endParaRPr lang="en-US"/>
          </a:p>
        </p:txBody>
      </p:sp>
    </p:spTree>
    <p:extLst>
      <p:ext uri="{BB962C8B-B14F-4D97-AF65-F5344CB8AC3E}">
        <p14:creationId xmlns:p14="http://schemas.microsoft.com/office/powerpoint/2010/main" val="11547408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2183"/>
            <a:ext cx="10515600" cy="5816355"/>
          </a:xfrm>
        </p:spPr>
        <p:txBody>
          <a:bodyPr/>
          <a:lstStyle/>
          <a:p>
            <a:r>
              <a:rPr lang="en-US"/>
              <a:t>TO protocol ensures </a:t>
            </a:r>
            <a:r>
              <a:rPr lang="en-US" err="1"/>
              <a:t>serializability</a:t>
            </a:r>
            <a:r>
              <a:rPr lang="en-US"/>
              <a:t> since the precedence graph is as follows:</a:t>
            </a:r>
          </a:p>
          <a:p>
            <a:endParaRPr lang="en-US"/>
          </a:p>
          <a:p>
            <a:endParaRPr lang="en-US"/>
          </a:p>
          <a:p>
            <a:endParaRPr lang="en-US"/>
          </a:p>
          <a:p>
            <a:endParaRPr lang="en-US"/>
          </a:p>
          <a:p>
            <a:endParaRPr lang="en-US"/>
          </a:p>
          <a:p>
            <a:r>
              <a:rPr lang="en-US">
                <a:solidFill>
                  <a:srgbClr val="FF0000"/>
                </a:solidFill>
              </a:rPr>
              <a:t>TS protocol ensures freedom from deadlock that means no transaction ever waits</a:t>
            </a:r>
            <a:r>
              <a:rPr lang="en-US"/>
              <a:t>.</a:t>
            </a:r>
          </a:p>
          <a:p>
            <a:r>
              <a:rPr lang="en-US">
                <a:solidFill>
                  <a:srgbClr val="0070C0"/>
                </a:solidFill>
              </a:rPr>
              <a:t>But the schedule may not be recoverable and may not even be cascade- free.</a:t>
            </a:r>
          </a:p>
          <a:p>
            <a:endParaRPr lang="en-US"/>
          </a:p>
        </p:txBody>
      </p:sp>
      <p:pic>
        <p:nvPicPr>
          <p:cNvPr id="2050" name="Picture 2" descr="DBMS Timestamp Ordering Protoc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7413" y="1673717"/>
            <a:ext cx="4962525"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743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A9D70D-903A-1A10-792E-E501490DAB09}"/>
              </a:ext>
            </a:extLst>
          </p:cNvPr>
          <p:cNvSpPr>
            <a:spLocks noGrp="1"/>
          </p:cNvSpPr>
          <p:nvPr>
            <p:ph idx="1"/>
          </p:nvPr>
        </p:nvSpPr>
        <p:spPr>
          <a:xfrm>
            <a:off x="838200" y="713678"/>
            <a:ext cx="10515600" cy="5463285"/>
          </a:xfrm>
        </p:spPr>
        <p:txBody>
          <a:bodyPr/>
          <a:lstStyle/>
          <a:p>
            <a:pPr algn="just"/>
            <a:r>
              <a:rPr lang="en-IN" sz="3200"/>
              <a:t>In the Timestamp Ordering Protocol, transactions are assigned a unique timestamp upon arrival, and operations are allowed only if they follow the order of these timestamps to ensure serializability and data consistency. For example, with transactions T1 (timestamp 005) and T2 (timestamp 010), if T1 writes to data item A and T2 attempts to read A, the read is allowed because T1's write is older and T2's timestamp is greater than T1's read timestamp, according to the protocol's rules. </a:t>
            </a:r>
          </a:p>
          <a:p>
            <a:pPr marL="0" indent="0">
              <a:buNone/>
            </a:pPr>
            <a:endParaRPr lang="en-IN"/>
          </a:p>
        </p:txBody>
      </p:sp>
    </p:spTree>
    <p:extLst>
      <p:ext uri="{BB962C8B-B14F-4D97-AF65-F5344CB8AC3E}">
        <p14:creationId xmlns:p14="http://schemas.microsoft.com/office/powerpoint/2010/main" val="3182508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257947-3FF2-F970-E6D0-1D3F43D52317}"/>
              </a:ext>
            </a:extLst>
          </p:cNvPr>
          <p:cNvSpPr>
            <a:spLocks noGrp="1"/>
          </p:cNvSpPr>
          <p:nvPr>
            <p:ph idx="1"/>
          </p:nvPr>
        </p:nvSpPr>
        <p:spPr>
          <a:xfrm>
            <a:off x="457200" y="546410"/>
            <a:ext cx="10896600" cy="5630553"/>
          </a:xfrm>
        </p:spPr>
        <p:txBody>
          <a:bodyPr>
            <a:normAutofit fontScale="92500" lnSpcReduction="20000"/>
          </a:bodyPr>
          <a:lstStyle/>
          <a:p>
            <a:r>
              <a:rPr lang="en-IN" sz="2000"/>
              <a:t>How the Protocol Works</a:t>
            </a:r>
          </a:p>
          <a:p>
            <a:pPr marL="0" indent="0">
              <a:buNone/>
            </a:pPr>
            <a:r>
              <a:rPr lang="en-IN" sz="2000"/>
              <a:t>	1.  Timestamp Assignment: Each transaction (Ti) is assigned a unique timestamp (TS(Ti)) representing its arrival time or creation time. </a:t>
            </a:r>
            <a:r>
              <a:rPr lang="en-US" sz="2000"/>
              <a:t>   </a:t>
            </a:r>
            <a:endParaRPr lang="en-IN" sz="2000"/>
          </a:p>
          <a:p>
            <a:pPr marL="0" indent="0">
              <a:buNone/>
            </a:pPr>
            <a:r>
              <a:rPr lang="en-IN" sz="2000"/>
              <a:t>	2.  Data Item Timestamps: Each data item (X) has a read timestamp (R-TS(X)) and a write timestamp (W-TS(X)), indicating the timestamp of the last transaction that read or wrote to it, respectively. </a:t>
            </a:r>
            <a:r>
              <a:rPr lang="en-US" sz="2000"/>
              <a:t>   </a:t>
            </a:r>
            <a:endParaRPr lang="en-IN" sz="2000"/>
          </a:p>
          <a:p>
            <a:pPr marL="0" indent="0">
              <a:buNone/>
            </a:pPr>
            <a:r>
              <a:rPr lang="en-IN" sz="2000"/>
              <a:t>	3.  Operation Rules: </a:t>
            </a:r>
          </a:p>
          <a:p>
            <a:pPr marL="0" indent="0">
              <a:buNone/>
            </a:pPr>
            <a:r>
              <a:rPr lang="en-IN" sz="2000"/>
              <a:t>	•Read(X) Operation: </a:t>
            </a:r>
          </a:p>
          <a:p>
            <a:pPr marL="0" indent="0">
              <a:buNone/>
            </a:pPr>
            <a:r>
              <a:rPr lang="en-IN" sz="2000"/>
              <a:t>	•	If TS(Ti) &lt; W-TS(X), the operation is rejected because a newer transaction has  </a:t>
            </a:r>
          </a:p>
          <a:p>
            <a:pPr marL="0" indent="0">
              <a:buNone/>
            </a:pPr>
            <a:r>
              <a:rPr lang="en-IN" sz="2000"/>
              <a:t>                                already written to the data item. </a:t>
            </a:r>
          </a:p>
          <a:p>
            <a:pPr marL="0" indent="0">
              <a:buNone/>
            </a:pPr>
            <a:r>
              <a:rPr lang="en-IN" sz="2000"/>
              <a:t>	•	If TS(Ti) &gt;= W-TS(X), the operation is allowed, and the R-TS(X) is updated to TS(Ti). </a:t>
            </a:r>
          </a:p>
          <a:p>
            <a:pPr marL="0" indent="0">
              <a:buNone/>
            </a:pPr>
            <a:r>
              <a:rPr lang="en-IN" sz="2000"/>
              <a:t>	•Write(X) Operation: </a:t>
            </a:r>
          </a:p>
          <a:p>
            <a:pPr marL="0" indent="0">
              <a:buNone/>
            </a:pPr>
            <a:r>
              <a:rPr lang="en-IN" sz="2000"/>
              <a:t>	•	If TS(Ti) &lt; R-TS(X), the operation is rejected because a newer transaction has  </a:t>
            </a:r>
          </a:p>
          <a:p>
            <a:pPr marL="0" indent="0">
              <a:buNone/>
            </a:pPr>
            <a:r>
              <a:rPr lang="en-IN" sz="2000"/>
              <a:t>                                  already read the item. </a:t>
            </a:r>
          </a:p>
          <a:p>
            <a:pPr marL="0" indent="0">
              <a:buNone/>
            </a:pPr>
            <a:r>
              <a:rPr lang="en-IN" sz="2000"/>
              <a:t>                  •  	If TS(Ti) &lt; W-TS(X), the operation is rejected, and the transaction Ti is rolled back    </a:t>
            </a:r>
          </a:p>
          <a:p>
            <a:pPr marL="0" indent="0">
              <a:buNone/>
            </a:pPr>
            <a:r>
              <a:rPr lang="en-IN" sz="2000"/>
              <a:t>                                because a newer transaction has already written to the item. </a:t>
            </a:r>
          </a:p>
          <a:p>
            <a:pPr marL="0" indent="0">
              <a:buNone/>
            </a:pPr>
            <a:r>
              <a:rPr lang="en-IN" sz="2000"/>
              <a:t>	•	If neither of the above conditions is met, the write operation is allowed, and W-    </a:t>
            </a:r>
          </a:p>
          <a:p>
            <a:pPr marL="0" indent="0">
              <a:buNone/>
            </a:pPr>
            <a:r>
              <a:rPr lang="en-IN" sz="2000"/>
              <a:t>                                TS(X) is updated to TS(Ti). </a:t>
            </a:r>
          </a:p>
          <a:p>
            <a:endParaRPr lang="en-IN" sz="2000"/>
          </a:p>
        </p:txBody>
      </p:sp>
    </p:spTree>
    <p:extLst>
      <p:ext uri="{BB962C8B-B14F-4D97-AF65-F5344CB8AC3E}">
        <p14:creationId xmlns:p14="http://schemas.microsoft.com/office/powerpoint/2010/main" val="2723974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F77072-2B3D-B4C6-F4C0-D5D3D3CD00AF}"/>
              </a:ext>
            </a:extLst>
          </p:cNvPr>
          <p:cNvSpPr>
            <a:spLocks noGrp="1"/>
          </p:cNvSpPr>
          <p:nvPr>
            <p:ph idx="1"/>
          </p:nvPr>
        </p:nvSpPr>
        <p:spPr>
          <a:xfrm>
            <a:off x="838200" y="468351"/>
            <a:ext cx="10515600" cy="5708612"/>
          </a:xfrm>
        </p:spPr>
        <p:txBody>
          <a:bodyPr>
            <a:normAutofit fontScale="70000" lnSpcReduction="20000"/>
          </a:bodyPr>
          <a:lstStyle/>
          <a:p>
            <a:r>
              <a:rPr lang="en-IN"/>
              <a:t>Example </a:t>
            </a:r>
          </a:p>
          <a:p>
            <a:r>
              <a:rPr lang="en-IN"/>
              <a:t>Let's consider two transactions, T1 and T2, with TS(T1) = 5 and TS(T2) = 10, and a data item A with R-TS(A) = 0 and W-TS(A) = 0. </a:t>
            </a:r>
          </a:p>
          <a:p>
            <a:pPr marL="0" indent="0">
              <a:buNone/>
            </a:pPr>
            <a:r>
              <a:rPr lang="en-IN"/>
              <a:t>		</a:t>
            </a:r>
            <a:r>
              <a:rPr lang="en-IN" b="1"/>
              <a:t>1.  T1 Reads A: </a:t>
            </a:r>
            <a:endParaRPr lang="en-IN"/>
          </a:p>
          <a:p>
            <a:pPr marL="0" indent="0">
              <a:buNone/>
            </a:pPr>
            <a:r>
              <a:rPr lang="en-IN"/>
              <a:t>	•	T1 issues Read(A). </a:t>
            </a:r>
          </a:p>
          <a:p>
            <a:pPr marL="0" indent="0">
              <a:buNone/>
            </a:pPr>
            <a:r>
              <a:rPr lang="en-IN"/>
              <a:t>	•	Since TS(T1) (5) is greater than W-TS(A) (0), the read is allowed. </a:t>
            </a:r>
          </a:p>
          <a:p>
            <a:pPr marL="0" indent="0">
              <a:buNone/>
            </a:pPr>
            <a:r>
              <a:rPr lang="en-IN"/>
              <a:t>	•	R-TS(A) is updated to 5. </a:t>
            </a:r>
          </a:p>
          <a:p>
            <a:pPr marL="0" indent="0">
              <a:buNone/>
            </a:pPr>
            <a:r>
              <a:rPr lang="en-IN"/>
              <a:t>		</a:t>
            </a:r>
            <a:r>
              <a:rPr lang="en-IN" b="1"/>
              <a:t>2.  T2 Writes A: </a:t>
            </a:r>
            <a:endParaRPr lang="en-IN"/>
          </a:p>
          <a:p>
            <a:pPr marL="0" indent="0">
              <a:buNone/>
            </a:pPr>
            <a:r>
              <a:rPr lang="en-IN"/>
              <a:t>	•	T2 issues Write(A). </a:t>
            </a:r>
          </a:p>
          <a:p>
            <a:pPr marL="0" indent="0">
              <a:buNone/>
            </a:pPr>
            <a:r>
              <a:rPr lang="en-IN"/>
              <a:t>	•	Since TS(T2) (10) is greater than R-TS(A) (5), the operation is allowed. </a:t>
            </a:r>
          </a:p>
          <a:p>
            <a:pPr marL="0" indent="0">
              <a:buNone/>
            </a:pPr>
            <a:r>
              <a:rPr lang="en-IN"/>
              <a:t>	•	W-TS(A) is updated to 10. </a:t>
            </a:r>
          </a:p>
          <a:p>
            <a:pPr marL="0" indent="0">
              <a:buNone/>
            </a:pPr>
            <a:r>
              <a:rPr lang="en-IN"/>
              <a:t>		</a:t>
            </a:r>
            <a:r>
              <a:rPr lang="en-IN" b="1"/>
              <a:t>3.  T1 Writes A: </a:t>
            </a:r>
            <a:endParaRPr lang="en-IN"/>
          </a:p>
          <a:p>
            <a:pPr marL="0" indent="0">
              <a:buNone/>
            </a:pPr>
            <a:r>
              <a:rPr lang="en-IN"/>
              <a:t>	•	T1 issues Write(A). </a:t>
            </a:r>
          </a:p>
          <a:p>
            <a:pPr marL="0" indent="0">
              <a:buNone/>
            </a:pPr>
            <a:r>
              <a:rPr lang="en-IN"/>
              <a:t>	•	Since TS(T1) (5) is less than W-TS(A) (10), the operation is rejected, and T1 is rolled   </a:t>
            </a:r>
          </a:p>
          <a:p>
            <a:pPr marL="0" indent="0">
              <a:buNone/>
            </a:pPr>
            <a:r>
              <a:rPr lang="en-IN"/>
              <a:t>                                back. </a:t>
            </a:r>
          </a:p>
          <a:p>
            <a:pPr marL="0" indent="0">
              <a:buNone/>
            </a:pPr>
            <a:r>
              <a:rPr lang="en-IN"/>
              <a:t>This example shows how the timestamp-based protocol uses timestamps to prevent conflicts and maintain the correct order of operations, ensuring serializability</a:t>
            </a:r>
          </a:p>
          <a:p>
            <a:endParaRPr lang="en-IN"/>
          </a:p>
        </p:txBody>
      </p:sp>
    </p:spTree>
    <p:extLst>
      <p:ext uri="{BB962C8B-B14F-4D97-AF65-F5344CB8AC3E}">
        <p14:creationId xmlns:p14="http://schemas.microsoft.com/office/powerpoint/2010/main" val="2064615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a:latin typeface="Arial" panose="020B0604020202020204" pitchFamily="34" charset="0"/>
                <a:cs typeface="Arial" panose="020B0604020202020204" pitchFamily="34" charset="0"/>
              </a:rPr>
              <a:t>Deadlocks</a:t>
            </a:r>
          </a:p>
        </p:txBody>
      </p:sp>
      <p:sp>
        <p:nvSpPr>
          <p:cNvPr id="7" name="Slide Number Placeholder 6"/>
          <p:cNvSpPr>
            <a:spLocks noGrp="1"/>
          </p:cNvSpPr>
          <p:nvPr>
            <p:ph type="sldNum" sz="quarter" idx="12"/>
          </p:nvPr>
        </p:nvSpPr>
        <p:spPr/>
        <p:txBody>
          <a:bodyPr/>
          <a:lstStyle/>
          <a:p>
            <a:pPr>
              <a:defRPr/>
            </a:pPr>
            <a:r>
              <a:rPr lang="en-US"/>
              <a:t>Slide </a:t>
            </a:r>
            <a:r>
              <a:rPr lang="en-US" spc="10"/>
              <a:t>21-</a:t>
            </a:r>
            <a:r>
              <a:rPr lang="en-US" spc="-200"/>
              <a:t> </a:t>
            </a:r>
            <a:fld id="{E6DE5C8B-6F36-4720-8200-2BE495D48D3A}" type="slidenum">
              <a:rPr/>
              <a:pPr>
                <a:defRPr/>
              </a:pPr>
              <a:t>38</a:t>
            </a:fld>
            <a:endParaRPr/>
          </a:p>
        </p:txBody>
      </p:sp>
      <p:sp>
        <p:nvSpPr>
          <p:cNvPr id="2" name="Rectangle 1"/>
          <p:cNvSpPr/>
          <p:nvPr/>
        </p:nvSpPr>
        <p:spPr>
          <a:xfrm>
            <a:off x="1249250" y="1372907"/>
            <a:ext cx="9994005" cy="1569660"/>
          </a:xfrm>
          <a:prstGeom prst="rect">
            <a:avLst/>
          </a:prstGeom>
        </p:spPr>
        <p:txBody>
          <a:bodyPr wrap="square">
            <a:spAutoFit/>
          </a:bodyPr>
          <a:lstStyle/>
          <a:p>
            <a:pPr algn="just"/>
            <a:r>
              <a:rPr lang="en-US" sz="2400">
                <a:solidFill>
                  <a:srgbClr val="333333"/>
                </a:solidFill>
                <a:latin typeface="Segoe UI" panose="020B0502040204020203" pitchFamily="34" charset="0"/>
                <a:ea typeface="Times New Roman" panose="02020603050405020304" pitchFamily="18" charset="0"/>
              </a:rPr>
              <a:t>A deadlock is a condition where two or more transactions are waiting indefinitely for one another to give up locks. Deadlock is said to be one of the most feared complications in DBMS as no task ever gets finished and is in waiting state forever.</a:t>
            </a:r>
            <a:endParaRPr lang="en-US" sz="240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787517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object 2"/>
          <p:cNvSpPr>
            <a:spLocks noGrp="1"/>
          </p:cNvSpPr>
          <p:nvPr>
            <p:ph type="title"/>
          </p:nvPr>
        </p:nvSpPr>
        <p:spPr>
          <a:xfrm>
            <a:off x="1831975" y="188129"/>
            <a:ext cx="8528050" cy="584200"/>
          </a:xfrm>
        </p:spPr>
        <p:txBody>
          <a:bodyPr vert="horz" lIns="91440" tIns="33020" rIns="91440" bIns="45720" rtlCol="0" anchor="ctr">
            <a:normAutofit fontScale="90000"/>
          </a:bodyPr>
          <a:lstStyle/>
          <a:p>
            <a:pPr marL="12700">
              <a:lnSpc>
                <a:spcPts val="4300"/>
              </a:lnSpc>
              <a:spcBef>
                <a:spcPts val="263"/>
              </a:spcBef>
            </a:pPr>
            <a:r>
              <a:rPr lang="en-US" altLang="en-US">
                <a:latin typeface="Arial" panose="020B0604020202020204" pitchFamily="34" charset="0"/>
                <a:cs typeface="Arial" panose="020B0604020202020204" pitchFamily="34" charset="0"/>
              </a:rPr>
              <a:t>Deadlocks</a:t>
            </a:r>
          </a:p>
        </p:txBody>
      </p:sp>
      <p:sp>
        <p:nvSpPr>
          <p:cNvPr id="7" name="Slide Number Placeholder 6"/>
          <p:cNvSpPr>
            <a:spLocks noGrp="1"/>
          </p:cNvSpPr>
          <p:nvPr>
            <p:ph type="sldNum" sz="quarter" idx="12"/>
          </p:nvPr>
        </p:nvSpPr>
        <p:spPr/>
        <p:txBody>
          <a:bodyPr/>
          <a:lstStyle/>
          <a:p>
            <a:pPr>
              <a:defRPr/>
            </a:pPr>
            <a:r>
              <a:rPr lang="en-US"/>
              <a:t>Slide </a:t>
            </a:r>
            <a:r>
              <a:rPr lang="en-US" spc="10"/>
              <a:t>21-</a:t>
            </a:r>
            <a:r>
              <a:rPr lang="en-US" spc="-200"/>
              <a:t> </a:t>
            </a:r>
            <a:fld id="{E6DE5C8B-6F36-4720-8200-2BE495D48D3A}" type="slidenum">
              <a:rPr/>
              <a:pPr>
                <a:defRPr/>
              </a:pPr>
              <a:t>39</a:t>
            </a:fld>
            <a:endParaRPr/>
          </a:p>
        </p:txBody>
      </p:sp>
      <p:pic>
        <p:nvPicPr>
          <p:cNvPr id="6" name="Picture 5" descr="Deadlock in DBMS"/>
          <p:cNvPicPr/>
          <p:nvPr/>
        </p:nvPicPr>
        <p:blipFill>
          <a:blip r:embed="rId2">
            <a:extLst>
              <a:ext uri="{28A0092B-C50C-407E-A947-70E740481C1C}">
                <a14:useLocalDpi xmlns:a14="http://schemas.microsoft.com/office/drawing/2010/main" val="0"/>
              </a:ext>
            </a:extLst>
          </a:blip>
          <a:srcRect/>
          <a:stretch>
            <a:fillRect/>
          </a:stretch>
        </p:blipFill>
        <p:spPr bwMode="auto">
          <a:xfrm>
            <a:off x="1122450" y="741832"/>
            <a:ext cx="4381500" cy="2828925"/>
          </a:xfrm>
          <a:prstGeom prst="rect">
            <a:avLst/>
          </a:prstGeom>
          <a:noFill/>
          <a:ln>
            <a:noFill/>
          </a:ln>
        </p:spPr>
      </p:pic>
      <p:sp>
        <p:nvSpPr>
          <p:cNvPr id="2" name="Rectangle 1"/>
          <p:cNvSpPr/>
          <p:nvPr/>
        </p:nvSpPr>
        <p:spPr>
          <a:xfrm>
            <a:off x="5504605" y="789250"/>
            <a:ext cx="6096000" cy="2031325"/>
          </a:xfrm>
          <a:prstGeom prst="rect">
            <a:avLst/>
          </a:prstGeom>
        </p:spPr>
        <p:txBody>
          <a:bodyPr>
            <a:spAutoFit/>
          </a:bodyPr>
          <a:lstStyle/>
          <a:p>
            <a:pPr algn="just"/>
            <a:r>
              <a:rPr lang="en-US">
                <a:solidFill>
                  <a:srgbClr val="333333"/>
                </a:solidFill>
                <a:latin typeface="inter-regular"/>
              </a:rPr>
              <a:t>In the student table, transaction T1 holds a lock on some rows and needs to update some rows in the grade table. Simultaneously, transaction T2 holds locks on some rows in the grade table and needs to update the rows in the Student table held by Transaction T1.</a:t>
            </a:r>
          </a:p>
          <a:p>
            <a:br>
              <a:rPr lang="en-US"/>
            </a:br>
            <a:endParaRPr lang="en-US"/>
          </a:p>
        </p:txBody>
      </p:sp>
      <p:sp>
        <p:nvSpPr>
          <p:cNvPr id="3" name="Rectangle 2"/>
          <p:cNvSpPr/>
          <p:nvPr/>
        </p:nvSpPr>
        <p:spPr>
          <a:xfrm>
            <a:off x="1746913" y="3930263"/>
            <a:ext cx="9362365" cy="1200329"/>
          </a:xfrm>
          <a:prstGeom prst="rect">
            <a:avLst/>
          </a:prstGeom>
        </p:spPr>
        <p:txBody>
          <a:bodyPr wrap="square">
            <a:spAutoFit/>
          </a:bodyPr>
          <a:lstStyle/>
          <a:p>
            <a:pPr algn="just"/>
            <a:r>
              <a:rPr lang="en-US">
                <a:solidFill>
                  <a:srgbClr val="333333"/>
                </a:solidFill>
                <a:latin typeface="inter-regular"/>
              </a:rPr>
              <a:t>Now, the main problem arises. Now Transaction T1 is waiting for T2 to release its lock and similarly, transaction T2 is waiting for T1 to release its lock. All activities come to a halt state and remain at a standstill. It will remain in a standstill until the DBMS detects the deadlock and aborts one of the transactions.</a:t>
            </a:r>
            <a:endParaRPr lang="en-US"/>
          </a:p>
        </p:txBody>
      </p:sp>
    </p:spTree>
    <p:extLst>
      <p:ext uri="{BB962C8B-B14F-4D97-AF65-F5344CB8AC3E}">
        <p14:creationId xmlns:p14="http://schemas.microsoft.com/office/powerpoint/2010/main" val="2781205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a:latin typeface="Arial" panose="020B0604020202020204" pitchFamily="34" charset="0"/>
                <a:cs typeface="Arial" panose="020B0604020202020204" pitchFamily="34" charset="0"/>
              </a:rPr>
              <a:t>Deadlocks</a:t>
            </a:r>
          </a:p>
        </p:txBody>
      </p:sp>
      <p:graphicFrame>
        <p:nvGraphicFramePr>
          <p:cNvPr id="5" name="Table 4"/>
          <p:cNvGraphicFramePr>
            <a:graphicFrameLocks noGrp="1"/>
          </p:cNvGraphicFramePr>
          <p:nvPr/>
        </p:nvGraphicFramePr>
        <p:xfrm>
          <a:off x="1831975" y="1768475"/>
          <a:ext cx="2667000" cy="2651716"/>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3834424893"/>
                    </a:ext>
                  </a:extLst>
                </a:gridCol>
                <a:gridCol w="1333500">
                  <a:extLst>
                    <a:ext uri="{9D8B030D-6E8A-4147-A177-3AD203B41FA5}">
                      <a16:colId xmlns:a16="http://schemas.microsoft.com/office/drawing/2014/main" val="1352192729"/>
                    </a:ext>
                  </a:extLst>
                </a:gridCol>
              </a:tblGrid>
              <a:tr h="365672">
                <a:tc>
                  <a:txBody>
                    <a:bodyPr/>
                    <a:lstStyle/>
                    <a:p>
                      <a:pPr algn="ctr"/>
                      <a:r>
                        <a:rPr lang="en-US" sz="1800"/>
                        <a:t>T1</a:t>
                      </a:r>
                    </a:p>
                  </a:txBody>
                  <a:tcPr marL="91432" marR="91432" marT="45709" marB="45709"/>
                </a:tc>
                <a:tc>
                  <a:txBody>
                    <a:bodyPr/>
                    <a:lstStyle/>
                    <a:p>
                      <a:pPr algn="ctr"/>
                      <a:r>
                        <a:rPr lang="en-US" sz="1800"/>
                        <a:t>T2</a:t>
                      </a:r>
                    </a:p>
                  </a:txBody>
                  <a:tcPr marL="91432" marR="91432" marT="45709" marB="45709"/>
                </a:tc>
                <a:extLst>
                  <a:ext uri="{0D108BD9-81ED-4DB2-BD59-A6C34878D82A}">
                    <a16:rowId xmlns:a16="http://schemas.microsoft.com/office/drawing/2014/main" val="830211065"/>
                  </a:ext>
                </a:extLst>
              </a:tr>
              <a:tr h="2285453">
                <a:tc>
                  <a:txBody>
                    <a:bodyPr/>
                    <a:lstStyle/>
                    <a:p>
                      <a:pPr algn="ctr"/>
                      <a:r>
                        <a:rPr lang="en-US" sz="1800"/>
                        <a:t>X(A)</a:t>
                      </a:r>
                    </a:p>
                    <a:p>
                      <a:pPr algn="ctr"/>
                      <a:r>
                        <a:rPr lang="en-US" sz="1800"/>
                        <a:t>W(A)</a:t>
                      </a:r>
                    </a:p>
                    <a:p>
                      <a:pPr algn="ctr"/>
                      <a:endParaRPr lang="en-US" sz="1800"/>
                    </a:p>
                    <a:p>
                      <a:pPr algn="ctr"/>
                      <a:endParaRPr lang="en-US" sz="1800"/>
                    </a:p>
                    <a:p>
                      <a:pPr algn="ctr"/>
                      <a:endParaRPr lang="en-US" sz="1800"/>
                    </a:p>
                    <a:p>
                      <a:pPr algn="ctr"/>
                      <a:endParaRPr lang="en-US" sz="1800"/>
                    </a:p>
                    <a:p>
                      <a:pPr algn="ctr"/>
                      <a:r>
                        <a:rPr lang="en-US" sz="1800"/>
                        <a:t>X(B)</a:t>
                      </a:r>
                    </a:p>
                    <a:p>
                      <a:pPr algn="ctr"/>
                      <a:r>
                        <a:rPr lang="en-US" sz="1800"/>
                        <a:t>W(B)</a:t>
                      </a:r>
                    </a:p>
                  </a:txBody>
                  <a:tcPr marL="91432" marR="91432" marT="45709" marB="45709"/>
                </a:tc>
                <a:tc>
                  <a:txBody>
                    <a:bodyPr/>
                    <a:lstStyle/>
                    <a:p>
                      <a:pPr algn="ctr"/>
                      <a:endParaRPr lang="en-US" sz="1800"/>
                    </a:p>
                    <a:p>
                      <a:pPr algn="ctr"/>
                      <a:endParaRPr lang="en-US" sz="1800"/>
                    </a:p>
                    <a:p>
                      <a:pPr algn="ctr"/>
                      <a:r>
                        <a:rPr lang="en-US" sz="1800"/>
                        <a:t>X(B)</a:t>
                      </a:r>
                    </a:p>
                    <a:p>
                      <a:pPr algn="ctr"/>
                      <a:r>
                        <a:rPr lang="en-US" sz="1800"/>
                        <a:t>W(B)</a:t>
                      </a:r>
                    </a:p>
                    <a:p>
                      <a:pPr algn="ctr"/>
                      <a:r>
                        <a:rPr lang="en-US" sz="1800"/>
                        <a:t>X(A)</a:t>
                      </a:r>
                      <a:br>
                        <a:rPr lang="en-US" sz="1800"/>
                      </a:br>
                      <a:r>
                        <a:rPr lang="en-US" sz="1800"/>
                        <a:t>W(A)</a:t>
                      </a:r>
                    </a:p>
                  </a:txBody>
                  <a:tcPr marL="91432" marR="91432" marT="45709" marB="45709"/>
                </a:tc>
                <a:extLst>
                  <a:ext uri="{0D108BD9-81ED-4DB2-BD59-A6C34878D82A}">
                    <a16:rowId xmlns:a16="http://schemas.microsoft.com/office/drawing/2014/main" val="552087260"/>
                  </a:ext>
                </a:extLst>
              </a:tr>
            </a:tbl>
          </a:graphicData>
        </a:graphic>
      </p:graphicFrame>
      <p:sp>
        <p:nvSpPr>
          <p:cNvPr id="100366" name="TextBox 5"/>
          <p:cNvSpPr txBox="1">
            <a:spLocks noChangeArrowheads="1"/>
          </p:cNvSpPr>
          <p:nvPr/>
        </p:nvSpPr>
        <p:spPr bwMode="auto">
          <a:xfrm>
            <a:off x="4876801" y="1768476"/>
            <a:ext cx="548322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buFont typeface="Arial" panose="020B0604020202020204" pitchFamily="34" charset="0"/>
              <a:buChar char="•"/>
            </a:pPr>
            <a:r>
              <a:rPr lang="en-US" altLang="en-US"/>
              <a:t>Here, using strict 2PL, a lock is performed on A since there is a W(A).</a:t>
            </a:r>
          </a:p>
          <a:p>
            <a:pPr algn="just">
              <a:buFont typeface="Arial" panose="020B0604020202020204" pitchFamily="34" charset="0"/>
              <a:buChar char="•"/>
            </a:pPr>
            <a:r>
              <a:rPr lang="en-US" altLang="en-US"/>
              <a:t>Now in T2, we again try to write on A, ie, W(A) but we have already locked A under T1. </a:t>
            </a:r>
          </a:p>
          <a:p>
            <a:pPr algn="just">
              <a:buFont typeface="Arial" panose="020B0604020202020204" pitchFamily="34" charset="0"/>
              <a:buChar char="•"/>
            </a:pPr>
            <a:r>
              <a:rPr lang="en-US" altLang="en-US"/>
              <a:t>Hence there is a deadlock</a:t>
            </a:r>
          </a:p>
        </p:txBody>
      </p:sp>
      <p:sp>
        <p:nvSpPr>
          <p:cNvPr id="7" name="Slide Number Placeholder 6"/>
          <p:cNvSpPr>
            <a:spLocks noGrp="1"/>
          </p:cNvSpPr>
          <p:nvPr>
            <p:ph type="sldNum" sz="quarter" idx="12"/>
          </p:nvPr>
        </p:nvSpPr>
        <p:spPr/>
        <p:txBody>
          <a:bodyPr/>
          <a:lstStyle/>
          <a:p>
            <a:pPr>
              <a:defRPr/>
            </a:pPr>
            <a:r>
              <a:rPr lang="en-US"/>
              <a:t>Slide </a:t>
            </a:r>
            <a:r>
              <a:rPr lang="en-US" spc="10"/>
              <a:t>21-</a:t>
            </a:r>
            <a:r>
              <a:rPr lang="en-US" spc="-200"/>
              <a:t> </a:t>
            </a:r>
            <a:fld id="{E6DE5C8B-6F36-4720-8200-2BE495D48D3A}" type="slidenum">
              <a:rPr/>
              <a:pPr>
                <a:defRPr/>
              </a:pPr>
              <a:t>40</a:t>
            </a:fld>
            <a:endParaRPr/>
          </a:p>
        </p:txBody>
      </p:sp>
    </p:spTree>
    <p:extLst>
      <p:ext uri="{BB962C8B-B14F-4D97-AF65-F5344CB8AC3E}">
        <p14:creationId xmlns:p14="http://schemas.microsoft.com/office/powerpoint/2010/main" val="41838455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5094"/>
            <a:ext cx="10515600" cy="5521870"/>
          </a:xfrm>
        </p:spPr>
        <p:txBody>
          <a:bodyPr/>
          <a:lstStyle/>
          <a:p>
            <a:pPr algn="just"/>
            <a:r>
              <a:rPr lang="en-US" b="1"/>
              <a:t>Deadlock Avoidance</a:t>
            </a:r>
          </a:p>
          <a:p>
            <a:pPr lvl="0" algn="just"/>
            <a:r>
              <a:rPr lang="en-US"/>
              <a:t>When a database is stuck in a deadlock state, then it is better to avoid the database rather than aborting or restating the database. This is a waste of time and resource.</a:t>
            </a:r>
          </a:p>
          <a:p>
            <a:pPr lvl="0" algn="just"/>
            <a:r>
              <a:rPr lang="en-US"/>
              <a:t>Deadlock avoidance mechanism is used to detect any deadlock situation in advance. A method like "wait for graph" is used for detecting the deadlock situation but this method is suitable only for the smaller database. For the larger database, deadlock prevention method can be used.</a:t>
            </a:r>
          </a:p>
          <a:p>
            <a:pPr algn="just"/>
            <a:endParaRPr lang="en-US"/>
          </a:p>
        </p:txBody>
      </p:sp>
    </p:spTree>
    <p:extLst>
      <p:ext uri="{BB962C8B-B14F-4D97-AF65-F5344CB8AC3E}">
        <p14:creationId xmlns:p14="http://schemas.microsoft.com/office/powerpoint/2010/main" val="3402886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8034"/>
            <a:ext cx="10515600" cy="5648929"/>
          </a:xfrm>
        </p:spPr>
        <p:txBody>
          <a:bodyPr/>
          <a:lstStyle/>
          <a:p>
            <a:pPr algn="just"/>
            <a:r>
              <a:rPr lang="en-US" b="1"/>
              <a:t>Deadlock Detection</a:t>
            </a:r>
          </a:p>
          <a:p>
            <a:pPr algn="just"/>
            <a:r>
              <a:rPr lang="en-US"/>
              <a:t>In a database, when a transaction waits indefinitely to obtain a lock, then the DBMS should detect whether the transaction is involved in a deadlock or not. The lock manager maintains a Wait for the graph to detect the deadlock cycle in the database</a:t>
            </a:r>
          </a:p>
          <a:p>
            <a:pPr marL="0" indent="0" algn="just">
              <a:buNone/>
            </a:pPr>
            <a:r>
              <a:rPr lang="en-US" b="1"/>
              <a:t>Wait for Graph</a:t>
            </a:r>
          </a:p>
          <a:p>
            <a:pPr lvl="0" algn="just"/>
            <a:r>
              <a:rPr lang="en-US"/>
              <a:t>This is the suitable method for deadlock detection. In this method, a graph is created based on the transaction and their lock. If the created graph has a cycle or closed loop, then there is a deadlock.</a:t>
            </a:r>
          </a:p>
          <a:p>
            <a:pPr lvl="0" algn="just"/>
            <a:r>
              <a:rPr lang="en-US"/>
              <a:t>The wait for the graph is maintained by the system for every transaction which is waiting for some data held by the others. The system keeps checking the graph if there is any cycle in the graph.</a:t>
            </a:r>
          </a:p>
          <a:p>
            <a:pPr algn="just"/>
            <a:endParaRPr lang="en-US"/>
          </a:p>
        </p:txBody>
      </p:sp>
    </p:spTree>
    <p:extLst>
      <p:ext uri="{BB962C8B-B14F-4D97-AF65-F5344CB8AC3E}">
        <p14:creationId xmlns:p14="http://schemas.microsoft.com/office/powerpoint/2010/main" val="5238816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a:latin typeface="Arial" panose="020B0604020202020204" pitchFamily="34" charset="0"/>
                <a:cs typeface="Arial" panose="020B0604020202020204" pitchFamily="34" charset="0"/>
              </a:rPr>
              <a:t>Deadlock Detection using wait for graph</a:t>
            </a:r>
          </a:p>
        </p:txBody>
      </p:sp>
      <p:sp>
        <p:nvSpPr>
          <p:cNvPr id="6" name="TextBox 5"/>
          <p:cNvSpPr txBox="1"/>
          <p:nvPr/>
        </p:nvSpPr>
        <p:spPr>
          <a:xfrm>
            <a:off x="2057401" y="1768475"/>
            <a:ext cx="8302625" cy="2677656"/>
          </a:xfrm>
          <a:prstGeom prst="rect">
            <a:avLst/>
          </a:prstGeom>
          <a:noFill/>
        </p:spPr>
        <p:txBody>
          <a:bodyPr>
            <a:spAutoFit/>
          </a:bodyPr>
          <a:lstStyle/>
          <a:p>
            <a:pPr marL="1309688" indent="-1309688" algn="just">
              <a:defRPr/>
            </a:pPr>
            <a:r>
              <a:rPr lang="en-US" sz="2800"/>
              <a:t>Step 1: Draw one vertex for each transaction in the schedule.</a:t>
            </a:r>
          </a:p>
          <a:p>
            <a:pPr marL="1201738" indent="-1201738" algn="just">
              <a:defRPr/>
            </a:pPr>
            <a:r>
              <a:rPr lang="en-US" sz="2800"/>
              <a:t>Step 2:  An edge (Ti -&gt; Tj) is added to the graph if and only if Ti is waiting for Tj.</a:t>
            </a:r>
          </a:p>
          <a:p>
            <a:pPr marL="1201738" indent="-1201738" algn="just">
              <a:defRPr/>
            </a:pPr>
            <a:r>
              <a:rPr lang="en-US" sz="2800"/>
              <a:t>Step 3: If the graph at any point of time has cycle, it implies deadlock.</a:t>
            </a:r>
          </a:p>
        </p:txBody>
      </p:sp>
      <p:sp>
        <p:nvSpPr>
          <p:cNvPr id="2" name="Slide Number Placeholder 1"/>
          <p:cNvSpPr>
            <a:spLocks noGrp="1"/>
          </p:cNvSpPr>
          <p:nvPr>
            <p:ph type="sldNum" sz="quarter" idx="12"/>
          </p:nvPr>
        </p:nvSpPr>
        <p:spPr/>
        <p:txBody>
          <a:bodyPr/>
          <a:lstStyle/>
          <a:p>
            <a:pPr>
              <a:defRPr/>
            </a:pPr>
            <a:r>
              <a:rPr lang="en-US"/>
              <a:t>Slide </a:t>
            </a:r>
            <a:r>
              <a:rPr lang="en-US" spc="10"/>
              <a:t>21-</a:t>
            </a:r>
            <a:r>
              <a:rPr lang="en-US" spc="-200"/>
              <a:t> </a:t>
            </a:r>
            <a:fld id="{7C34B80A-554F-48D3-A62B-564560B5CAD8}" type="slidenum">
              <a:rPr/>
              <a:pPr>
                <a:defRPr/>
              </a:pPr>
              <a:t>43</a:t>
            </a:fld>
            <a:endParaRPr/>
          </a:p>
        </p:txBody>
      </p:sp>
    </p:spTree>
    <p:extLst>
      <p:ext uri="{BB962C8B-B14F-4D97-AF65-F5344CB8AC3E}">
        <p14:creationId xmlns:p14="http://schemas.microsoft.com/office/powerpoint/2010/main" val="1144809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a:latin typeface="Arial" panose="020B0604020202020204" pitchFamily="34" charset="0"/>
                <a:cs typeface="Arial" panose="020B0604020202020204" pitchFamily="34" charset="0"/>
              </a:rPr>
              <a:t>Deadlock Detection using wait for graph</a:t>
            </a:r>
          </a:p>
        </p:txBody>
      </p:sp>
      <p:graphicFrame>
        <p:nvGraphicFramePr>
          <p:cNvPr id="9" name="Table 8"/>
          <p:cNvGraphicFramePr>
            <a:graphicFrameLocks noGrp="1"/>
          </p:cNvGraphicFramePr>
          <p:nvPr/>
        </p:nvGraphicFramePr>
        <p:xfrm>
          <a:off x="6705600" y="1762125"/>
          <a:ext cx="2667000" cy="2651716"/>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3834424893"/>
                    </a:ext>
                  </a:extLst>
                </a:gridCol>
                <a:gridCol w="1333500">
                  <a:extLst>
                    <a:ext uri="{9D8B030D-6E8A-4147-A177-3AD203B41FA5}">
                      <a16:colId xmlns:a16="http://schemas.microsoft.com/office/drawing/2014/main" val="1352192729"/>
                    </a:ext>
                  </a:extLst>
                </a:gridCol>
              </a:tblGrid>
              <a:tr h="365672">
                <a:tc>
                  <a:txBody>
                    <a:bodyPr/>
                    <a:lstStyle/>
                    <a:p>
                      <a:pPr algn="ctr"/>
                      <a:r>
                        <a:rPr lang="en-US" sz="1800"/>
                        <a:t>T1</a:t>
                      </a:r>
                    </a:p>
                  </a:txBody>
                  <a:tcPr marL="91432" marR="91432" marT="45709" marB="45709"/>
                </a:tc>
                <a:tc>
                  <a:txBody>
                    <a:bodyPr/>
                    <a:lstStyle/>
                    <a:p>
                      <a:pPr algn="ctr"/>
                      <a:r>
                        <a:rPr lang="en-US" sz="1800"/>
                        <a:t>T2</a:t>
                      </a:r>
                    </a:p>
                  </a:txBody>
                  <a:tcPr marL="91432" marR="91432" marT="45709" marB="45709"/>
                </a:tc>
                <a:extLst>
                  <a:ext uri="{0D108BD9-81ED-4DB2-BD59-A6C34878D82A}">
                    <a16:rowId xmlns:a16="http://schemas.microsoft.com/office/drawing/2014/main" val="830211065"/>
                  </a:ext>
                </a:extLst>
              </a:tr>
              <a:tr h="2285453">
                <a:tc>
                  <a:txBody>
                    <a:bodyPr/>
                    <a:lstStyle/>
                    <a:p>
                      <a:pPr algn="ctr"/>
                      <a:r>
                        <a:rPr lang="en-US" sz="1800"/>
                        <a:t>X(A)</a:t>
                      </a:r>
                    </a:p>
                    <a:p>
                      <a:pPr algn="ctr"/>
                      <a:r>
                        <a:rPr lang="en-US" sz="1800"/>
                        <a:t>W(A)</a:t>
                      </a:r>
                    </a:p>
                    <a:p>
                      <a:pPr algn="ctr"/>
                      <a:endParaRPr lang="en-US" sz="1800"/>
                    </a:p>
                    <a:p>
                      <a:pPr algn="ctr"/>
                      <a:endParaRPr lang="en-US" sz="1800"/>
                    </a:p>
                    <a:p>
                      <a:pPr algn="ctr"/>
                      <a:endParaRPr lang="en-US" sz="1800"/>
                    </a:p>
                    <a:p>
                      <a:pPr algn="ctr"/>
                      <a:endParaRPr lang="en-US" sz="1800"/>
                    </a:p>
                    <a:p>
                      <a:pPr algn="ctr"/>
                      <a:r>
                        <a:rPr lang="en-US" sz="1800"/>
                        <a:t>X(B)</a:t>
                      </a:r>
                    </a:p>
                    <a:p>
                      <a:pPr algn="ctr"/>
                      <a:r>
                        <a:rPr lang="en-US" sz="1800"/>
                        <a:t>W(B)</a:t>
                      </a:r>
                    </a:p>
                  </a:txBody>
                  <a:tcPr marL="91432" marR="91432" marT="45709" marB="45709"/>
                </a:tc>
                <a:tc>
                  <a:txBody>
                    <a:bodyPr/>
                    <a:lstStyle/>
                    <a:p>
                      <a:pPr algn="ctr"/>
                      <a:endParaRPr lang="en-US" sz="1800"/>
                    </a:p>
                    <a:p>
                      <a:pPr algn="ctr"/>
                      <a:endParaRPr lang="en-US" sz="1800"/>
                    </a:p>
                    <a:p>
                      <a:pPr algn="ctr"/>
                      <a:r>
                        <a:rPr lang="en-US" sz="1800"/>
                        <a:t>X(B)</a:t>
                      </a:r>
                    </a:p>
                    <a:p>
                      <a:pPr algn="ctr"/>
                      <a:r>
                        <a:rPr lang="en-US" sz="1800"/>
                        <a:t>W(B)</a:t>
                      </a:r>
                    </a:p>
                    <a:p>
                      <a:pPr algn="ctr"/>
                      <a:r>
                        <a:rPr lang="en-US" sz="1800"/>
                        <a:t>X(A)</a:t>
                      </a:r>
                      <a:br>
                        <a:rPr lang="en-US" sz="1800"/>
                      </a:br>
                      <a:r>
                        <a:rPr lang="en-US" sz="1800"/>
                        <a:t>W(A)</a:t>
                      </a:r>
                    </a:p>
                  </a:txBody>
                  <a:tcPr marL="91432" marR="91432" marT="45709" marB="45709"/>
                </a:tc>
                <a:extLst>
                  <a:ext uri="{0D108BD9-81ED-4DB2-BD59-A6C34878D82A}">
                    <a16:rowId xmlns:a16="http://schemas.microsoft.com/office/drawing/2014/main" val="552087260"/>
                  </a:ext>
                </a:extLst>
              </a:tr>
            </a:tbl>
          </a:graphicData>
        </a:graphic>
      </p:graphicFrame>
      <p:sp>
        <p:nvSpPr>
          <p:cNvPr id="15" name="Oval 14"/>
          <p:cNvSpPr/>
          <p:nvPr/>
        </p:nvSpPr>
        <p:spPr>
          <a:xfrm>
            <a:off x="6718300" y="532447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T1</a:t>
            </a:r>
          </a:p>
        </p:txBody>
      </p:sp>
      <p:sp>
        <p:nvSpPr>
          <p:cNvPr id="16" name="Oval 15"/>
          <p:cNvSpPr/>
          <p:nvPr/>
        </p:nvSpPr>
        <p:spPr>
          <a:xfrm>
            <a:off x="8470900" y="53340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T2</a:t>
            </a:r>
          </a:p>
        </p:txBody>
      </p:sp>
      <p:cxnSp>
        <p:nvCxnSpPr>
          <p:cNvPr id="17" name="Curved Connector 16"/>
          <p:cNvCxnSpPr/>
          <p:nvPr/>
        </p:nvCxnSpPr>
        <p:spPr>
          <a:xfrm rot="16200000" flipH="1">
            <a:off x="7971632" y="4444207"/>
            <a:ext cx="7937" cy="1752600"/>
          </a:xfrm>
          <a:prstGeom prst="curvedConnector3">
            <a:avLst>
              <a:gd name="adj1" fmla="val -25123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urved Connector 17"/>
          <p:cNvCxnSpPr/>
          <p:nvPr/>
        </p:nvCxnSpPr>
        <p:spPr>
          <a:xfrm rot="5400000" flipH="1">
            <a:off x="7971631" y="5156994"/>
            <a:ext cx="7938" cy="1752600"/>
          </a:xfrm>
          <a:prstGeom prst="curvedConnector3">
            <a:avLst>
              <a:gd name="adj1" fmla="val -2512364"/>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Slide Number Placeholder 18"/>
          <p:cNvSpPr>
            <a:spLocks noGrp="1"/>
          </p:cNvSpPr>
          <p:nvPr>
            <p:ph type="sldNum" sz="quarter" idx="12"/>
          </p:nvPr>
        </p:nvSpPr>
        <p:spPr/>
        <p:txBody>
          <a:bodyPr/>
          <a:lstStyle/>
          <a:p>
            <a:pPr>
              <a:defRPr/>
            </a:pPr>
            <a:r>
              <a:rPr lang="en-US"/>
              <a:t>Slide </a:t>
            </a:r>
            <a:r>
              <a:rPr lang="en-US" spc="10"/>
              <a:t>21-</a:t>
            </a:r>
            <a:r>
              <a:rPr lang="en-US" spc="-200"/>
              <a:t> </a:t>
            </a:r>
            <a:fld id="{ED1CB266-37F0-400C-8462-757ACB328DE4}" type="slidenum">
              <a:rPr/>
              <a:pPr>
                <a:defRPr/>
              </a:pPr>
              <a:t>44</a:t>
            </a:fld>
            <a:endParaRPr/>
          </a:p>
        </p:txBody>
      </p:sp>
      <p:pic>
        <p:nvPicPr>
          <p:cNvPr id="20" name="Picture 19" descr="Deadlock in DBMS"/>
          <p:cNvPicPr/>
          <p:nvPr/>
        </p:nvPicPr>
        <p:blipFill>
          <a:blip r:embed="rId2">
            <a:extLst>
              <a:ext uri="{28A0092B-C50C-407E-A947-70E740481C1C}">
                <a14:useLocalDpi xmlns:a14="http://schemas.microsoft.com/office/drawing/2010/main" val="0"/>
              </a:ext>
            </a:extLst>
          </a:blip>
          <a:srcRect/>
          <a:stretch>
            <a:fillRect/>
          </a:stretch>
        </p:blipFill>
        <p:spPr bwMode="auto">
          <a:xfrm>
            <a:off x="1793584" y="1732275"/>
            <a:ext cx="3762375" cy="2981325"/>
          </a:xfrm>
          <a:prstGeom prst="rect">
            <a:avLst/>
          </a:prstGeom>
          <a:noFill/>
          <a:ln>
            <a:noFill/>
          </a:ln>
        </p:spPr>
      </p:pic>
    </p:spTree>
    <p:extLst>
      <p:ext uri="{BB962C8B-B14F-4D97-AF65-F5344CB8AC3E}">
        <p14:creationId xmlns:p14="http://schemas.microsoft.com/office/powerpoint/2010/main" val="25189623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a:latin typeface="Arial" panose="020B0604020202020204" pitchFamily="34" charset="0"/>
                <a:cs typeface="Arial" panose="020B0604020202020204" pitchFamily="34" charset="0"/>
              </a:rPr>
              <a:t>Deadlock Detection using wait for graph</a:t>
            </a:r>
          </a:p>
        </p:txBody>
      </p:sp>
      <p:graphicFrame>
        <p:nvGraphicFramePr>
          <p:cNvPr id="7" name="Table 6"/>
          <p:cNvGraphicFramePr>
            <a:graphicFrameLocks noGrp="1"/>
          </p:cNvGraphicFramePr>
          <p:nvPr/>
        </p:nvGraphicFramePr>
        <p:xfrm>
          <a:off x="1831975" y="1768475"/>
          <a:ext cx="4492624" cy="1828800"/>
        </p:xfrm>
        <a:graphic>
          <a:graphicData uri="http://schemas.openxmlformats.org/drawingml/2006/table">
            <a:tbl>
              <a:tblPr firstRow="1" bandRow="1">
                <a:tableStyleId>{5C22544A-7EE6-4342-B048-85BDC9FD1C3A}</a:tableStyleId>
              </a:tblPr>
              <a:tblGrid>
                <a:gridCol w="1139826">
                  <a:extLst>
                    <a:ext uri="{9D8B030D-6E8A-4147-A177-3AD203B41FA5}">
                      <a16:colId xmlns:a16="http://schemas.microsoft.com/office/drawing/2014/main" val="3834424893"/>
                    </a:ext>
                  </a:extLst>
                </a:gridCol>
                <a:gridCol w="1066800">
                  <a:extLst>
                    <a:ext uri="{9D8B030D-6E8A-4147-A177-3AD203B41FA5}">
                      <a16:colId xmlns:a16="http://schemas.microsoft.com/office/drawing/2014/main" val="1352192729"/>
                    </a:ext>
                  </a:extLst>
                </a:gridCol>
                <a:gridCol w="1142999">
                  <a:extLst>
                    <a:ext uri="{9D8B030D-6E8A-4147-A177-3AD203B41FA5}">
                      <a16:colId xmlns:a16="http://schemas.microsoft.com/office/drawing/2014/main" val="2207456619"/>
                    </a:ext>
                  </a:extLst>
                </a:gridCol>
                <a:gridCol w="1142999">
                  <a:extLst>
                    <a:ext uri="{9D8B030D-6E8A-4147-A177-3AD203B41FA5}">
                      <a16:colId xmlns:a16="http://schemas.microsoft.com/office/drawing/2014/main" val="2073479687"/>
                    </a:ext>
                  </a:extLst>
                </a:gridCol>
              </a:tblGrid>
              <a:tr h="323907">
                <a:tc>
                  <a:txBody>
                    <a:bodyPr/>
                    <a:lstStyle/>
                    <a:p>
                      <a:pPr algn="ctr"/>
                      <a:r>
                        <a:rPr lang="en-US"/>
                        <a:t>T1</a:t>
                      </a:r>
                    </a:p>
                  </a:txBody>
                  <a:tcPr/>
                </a:tc>
                <a:tc>
                  <a:txBody>
                    <a:bodyPr/>
                    <a:lstStyle/>
                    <a:p>
                      <a:pPr algn="ctr"/>
                      <a:r>
                        <a:rPr lang="en-US"/>
                        <a:t>T2</a:t>
                      </a:r>
                    </a:p>
                  </a:txBody>
                  <a:tcPr/>
                </a:tc>
                <a:tc>
                  <a:txBody>
                    <a:bodyPr/>
                    <a:lstStyle/>
                    <a:p>
                      <a:pPr algn="ctr"/>
                      <a:r>
                        <a:rPr lang="en-US"/>
                        <a:t>T3</a:t>
                      </a:r>
                    </a:p>
                  </a:txBody>
                  <a:tcPr/>
                </a:tc>
                <a:tc>
                  <a:txBody>
                    <a:bodyPr/>
                    <a:lstStyle/>
                    <a:p>
                      <a:pPr algn="ctr"/>
                      <a:r>
                        <a:rPr lang="en-US"/>
                        <a:t>T4</a:t>
                      </a:r>
                    </a:p>
                  </a:txBody>
                  <a:tcPr/>
                </a:tc>
                <a:extLst>
                  <a:ext uri="{0D108BD9-81ED-4DB2-BD59-A6C34878D82A}">
                    <a16:rowId xmlns:a16="http://schemas.microsoft.com/office/drawing/2014/main" val="830211065"/>
                  </a:ext>
                </a:extLst>
              </a:tr>
              <a:tr h="323907">
                <a:tc>
                  <a:txBody>
                    <a:bodyPr/>
                    <a:lstStyle/>
                    <a:p>
                      <a:pPr algn="ctr"/>
                      <a:endParaRPr lang="en-US"/>
                    </a:p>
                    <a:p>
                      <a:pPr algn="ctr"/>
                      <a:endParaRPr lang="en-US"/>
                    </a:p>
                    <a:p>
                      <a:pPr algn="ctr"/>
                      <a:r>
                        <a:rPr lang="en-US"/>
                        <a:t>X(A)</a:t>
                      </a:r>
                    </a:p>
                  </a:txBody>
                  <a:tcPr/>
                </a:tc>
                <a:tc>
                  <a:txBody>
                    <a:bodyPr/>
                    <a:lstStyle/>
                    <a:p>
                      <a:pPr algn="ctr"/>
                      <a:endParaRPr lang="en-US"/>
                    </a:p>
                    <a:p>
                      <a:pPr algn="ctr"/>
                      <a:r>
                        <a:rPr lang="en-US"/>
                        <a:t>X(A)</a:t>
                      </a:r>
                    </a:p>
                    <a:p>
                      <a:pPr algn="ctr"/>
                      <a:endParaRPr lang="en-US"/>
                    </a:p>
                    <a:p>
                      <a:pPr algn="ctr"/>
                      <a:endParaRPr lang="en-US"/>
                    </a:p>
                    <a:p>
                      <a:pPr algn="ctr"/>
                      <a:r>
                        <a:rPr lang="en-US"/>
                        <a:t>X(B)</a:t>
                      </a:r>
                    </a:p>
                  </a:txBody>
                  <a:tcPr/>
                </a:tc>
                <a:tc>
                  <a:txBody>
                    <a:bodyPr/>
                    <a:lstStyle/>
                    <a:p>
                      <a:pPr algn="ctr"/>
                      <a:r>
                        <a:rPr lang="en-US"/>
                        <a:t>X(A)</a:t>
                      </a:r>
                    </a:p>
                  </a:txBody>
                  <a:tcPr/>
                </a:tc>
                <a:tc>
                  <a:txBody>
                    <a:bodyPr/>
                    <a:lstStyle/>
                    <a:p>
                      <a:pPr algn="ctr"/>
                      <a:endParaRPr lang="en-US"/>
                    </a:p>
                    <a:p>
                      <a:pPr algn="ctr"/>
                      <a:endParaRPr lang="en-US"/>
                    </a:p>
                    <a:p>
                      <a:pPr algn="ctr"/>
                      <a:endParaRPr lang="en-US"/>
                    </a:p>
                    <a:p>
                      <a:pPr algn="ctr"/>
                      <a:r>
                        <a:rPr lang="en-US"/>
                        <a:t>X(B)</a:t>
                      </a:r>
                    </a:p>
                  </a:txBody>
                  <a:tcPr/>
                </a:tc>
                <a:extLst>
                  <a:ext uri="{0D108BD9-81ED-4DB2-BD59-A6C34878D82A}">
                    <a16:rowId xmlns:a16="http://schemas.microsoft.com/office/drawing/2014/main" val="552087260"/>
                  </a:ext>
                </a:extLst>
              </a:tr>
            </a:tbl>
          </a:graphicData>
        </a:graphic>
      </p:graphicFrame>
      <p:sp>
        <p:nvSpPr>
          <p:cNvPr id="5" name="Oval 4"/>
          <p:cNvSpPr/>
          <p:nvPr/>
        </p:nvSpPr>
        <p:spPr>
          <a:xfrm>
            <a:off x="6807200" y="176847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T1</a:t>
            </a:r>
          </a:p>
        </p:txBody>
      </p:sp>
      <p:sp>
        <p:nvSpPr>
          <p:cNvPr id="10" name="Oval 9"/>
          <p:cNvSpPr/>
          <p:nvPr/>
        </p:nvSpPr>
        <p:spPr>
          <a:xfrm>
            <a:off x="9296400" y="176847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T2</a:t>
            </a:r>
          </a:p>
        </p:txBody>
      </p:sp>
      <p:sp>
        <p:nvSpPr>
          <p:cNvPr id="15" name="Oval 14"/>
          <p:cNvSpPr/>
          <p:nvPr/>
        </p:nvSpPr>
        <p:spPr>
          <a:xfrm>
            <a:off x="6807200" y="34290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T3</a:t>
            </a:r>
          </a:p>
        </p:txBody>
      </p:sp>
      <p:sp>
        <p:nvSpPr>
          <p:cNvPr id="13" name="Oval 12"/>
          <p:cNvSpPr/>
          <p:nvPr/>
        </p:nvSpPr>
        <p:spPr>
          <a:xfrm>
            <a:off x="9296400" y="34290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T4</a:t>
            </a:r>
          </a:p>
        </p:txBody>
      </p:sp>
      <p:cxnSp>
        <p:nvCxnSpPr>
          <p:cNvPr id="3" name="Straight Arrow Connector 2"/>
          <p:cNvCxnSpPr>
            <a:stCxn id="5" idx="6"/>
            <a:endCxn id="10" idx="2"/>
          </p:cNvCxnSpPr>
          <p:nvPr/>
        </p:nvCxnSpPr>
        <p:spPr>
          <a:xfrm>
            <a:off x="7569200" y="2111375"/>
            <a:ext cx="172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10" idx="4"/>
            <a:endCxn id="13" idx="0"/>
          </p:cNvCxnSpPr>
          <p:nvPr/>
        </p:nvCxnSpPr>
        <p:spPr>
          <a:xfrm>
            <a:off x="9677400" y="2454276"/>
            <a:ext cx="0" cy="974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0" idx="3"/>
            <a:endCxn id="15" idx="7"/>
          </p:cNvCxnSpPr>
          <p:nvPr/>
        </p:nvCxnSpPr>
        <p:spPr>
          <a:xfrm flipH="1">
            <a:off x="7456489" y="2352675"/>
            <a:ext cx="1951037" cy="1176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Slide Number Placeholder 21"/>
          <p:cNvSpPr>
            <a:spLocks noGrp="1"/>
          </p:cNvSpPr>
          <p:nvPr>
            <p:ph type="sldNum" sz="quarter" idx="12"/>
          </p:nvPr>
        </p:nvSpPr>
        <p:spPr/>
        <p:txBody>
          <a:bodyPr/>
          <a:lstStyle/>
          <a:p>
            <a:pPr>
              <a:defRPr/>
            </a:pPr>
            <a:r>
              <a:rPr lang="en-US"/>
              <a:t>Slide </a:t>
            </a:r>
            <a:r>
              <a:rPr lang="en-US" spc="10"/>
              <a:t>21-</a:t>
            </a:r>
            <a:r>
              <a:rPr lang="en-US" spc="-200"/>
              <a:t> </a:t>
            </a:r>
            <a:fld id="{AFA36F9E-EDEB-4CDA-B150-AB86387B208B}" type="slidenum">
              <a:rPr/>
              <a:pPr>
                <a:defRPr/>
              </a:pPr>
              <a:t>45</a:t>
            </a:fld>
            <a:endParaRPr/>
          </a:p>
        </p:txBody>
      </p:sp>
    </p:spTree>
    <p:extLst>
      <p:ext uri="{BB962C8B-B14F-4D97-AF65-F5344CB8AC3E}">
        <p14:creationId xmlns:p14="http://schemas.microsoft.com/office/powerpoint/2010/main" val="36770805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65125"/>
            <a:ext cx="10515600" cy="575033"/>
          </a:xfrm>
        </p:spPr>
        <p:txBody>
          <a:bodyPr vert="horz" lIns="91440" tIns="33020" rIns="91440" bIns="45720" rtlCol="0" anchor="ctr">
            <a:noAutofit/>
          </a:bodyPr>
          <a:lstStyle/>
          <a:p>
            <a:pPr marL="12700">
              <a:lnSpc>
                <a:spcPts val="4300"/>
              </a:lnSpc>
              <a:spcBef>
                <a:spcPts val="263"/>
              </a:spcBef>
            </a:pPr>
            <a:r>
              <a:rPr lang="en-US" altLang="en-US" sz="3600">
                <a:latin typeface="Arial" panose="020B0604020202020204" pitchFamily="34" charset="0"/>
                <a:cs typeface="Arial" panose="020B0604020202020204" pitchFamily="34" charset="0"/>
              </a:rPr>
              <a:t>Dealing with Deadlock and Starvation</a:t>
            </a:r>
          </a:p>
        </p:txBody>
      </p:sp>
      <p:sp>
        <p:nvSpPr>
          <p:cNvPr id="3" name="object 3"/>
          <p:cNvSpPr txBox="1"/>
          <p:nvPr/>
        </p:nvSpPr>
        <p:spPr>
          <a:xfrm>
            <a:off x="540913" y="1383397"/>
            <a:ext cx="10732138" cy="4330673"/>
          </a:xfrm>
          <a:prstGeom prst="rect">
            <a:avLst/>
          </a:prstGeom>
        </p:spPr>
        <p:txBody>
          <a:bodyPr wrap="square" lIns="0" tIns="100330" rIns="0" bIns="0">
            <a:spAutoFit/>
          </a:bodyPr>
          <a:lstStyle>
            <a:lvl1pPr marL="355600" indent="-342900">
              <a:tabLst>
                <a:tab pos="354013" algn="l"/>
                <a:tab pos="355600" algn="l"/>
              </a:tabLst>
              <a:defRPr sz="2400">
                <a:solidFill>
                  <a:schemeClr val="tx1"/>
                </a:solidFill>
                <a:latin typeface="Arial" panose="020B0604020202020204" pitchFamily="34" charset="0"/>
              </a:defRPr>
            </a:lvl1pPr>
            <a:lvl2pPr marL="762000" indent="-292100">
              <a:tabLst>
                <a:tab pos="354013" algn="l"/>
                <a:tab pos="355600" algn="l"/>
              </a:tabLst>
              <a:defRPr sz="2400">
                <a:solidFill>
                  <a:schemeClr val="tx1"/>
                </a:solidFill>
                <a:latin typeface="Arial" panose="020B0604020202020204" pitchFamily="34" charset="0"/>
              </a:defRPr>
            </a:lvl2pPr>
            <a:lvl3pPr marL="1154113" indent="-228600">
              <a:tabLst>
                <a:tab pos="354013" algn="l"/>
                <a:tab pos="355600" algn="l"/>
              </a:tabLst>
              <a:defRPr sz="2400">
                <a:solidFill>
                  <a:schemeClr val="tx1"/>
                </a:solidFill>
                <a:latin typeface="Arial" panose="020B0604020202020204" pitchFamily="34" charset="0"/>
              </a:defRPr>
            </a:lvl3pPr>
            <a:lvl4pPr marL="1600200" indent="-228600">
              <a:tabLst>
                <a:tab pos="354013" algn="l"/>
                <a:tab pos="355600" algn="l"/>
              </a:tabLst>
              <a:defRPr sz="2400">
                <a:solidFill>
                  <a:schemeClr val="tx1"/>
                </a:solidFill>
                <a:latin typeface="Arial" panose="020B0604020202020204" pitchFamily="34" charset="0"/>
              </a:defRPr>
            </a:lvl4pPr>
            <a:lvl5pPr marL="2057400" indent="-228600">
              <a:tabLst>
                <a:tab pos="354013" algn="l"/>
                <a:tab pos="355600"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9pPr>
          </a:lstStyle>
          <a:p>
            <a:pPr algn="just"/>
            <a:r>
              <a:rPr lang="en-US" b="1"/>
              <a:t>Deadlock Prevention</a:t>
            </a:r>
          </a:p>
          <a:p>
            <a:pPr lvl="0" algn="just"/>
            <a:r>
              <a:rPr lang="en-US"/>
              <a:t>    Deadlock prevention method is suitable for a large database. If the resources are allocated in such a way that deadlock never occurs, then the deadlock can be prevented.</a:t>
            </a:r>
          </a:p>
          <a:p>
            <a:pPr algn="just"/>
            <a:r>
              <a:rPr lang="en-US"/>
              <a:t>    The Database management system analyzes the operations of the transaction whether they can create a deadlock situation or not. If they do, then the DBMS never allowed that transaction to be executed .</a:t>
            </a:r>
          </a:p>
          <a:p>
            <a:pPr algn="just"/>
            <a:endParaRPr lang="en-US" altLang="en-US">
              <a:solidFill>
                <a:srgbClr val="333399"/>
              </a:solidFill>
              <a:cs typeface="Arial" panose="020B0604020202020204" pitchFamily="34" charset="0"/>
            </a:endParaRPr>
          </a:p>
          <a:p>
            <a:pPr algn="just"/>
            <a:r>
              <a:rPr lang="en-US" altLang="en-US">
                <a:solidFill>
                  <a:srgbClr val="333399"/>
                </a:solidFill>
                <a:cs typeface="Arial" panose="020B0604020202020204" pitchFamily="34" charset="0"/>
              </a:rPr>
              <a:t>Protocols based on a timestamp:</a:t>
            </a:r>
            <a:endParaRPr lang="en-US" altLang="en-US">
              <a:solidFill>
                <a:srgbClr val="000000"/>
              </a:solidFill>
              <a:cs typeface="Arial" panose="020B0604020202020204" pitchFamily="34" charset="0"/>
            </a:endParaRPr>
          </a:p>
          <a:p>
            <a:pPr lvl="1" algn="just">
              <a:spcBef>
                <a:spcPts val="638"/>
              </a:spcBef>
              <a:buClr>
                <a:srgbClr val="333399"/>
              </a:buClr>
              <a:buSzPct val="54000"/>
              <a:buFont typeface="Wingdings" panose="05000000000000000000" pitchFamily="2" charset="2"/>
              <a:buChar char=""/>
            </a:pPr>
            <a:r>
              <a:rPr lang="en-US" altLang="en-US">
                <a:solidFill>
                  <a:srgbClr val="800000"/>
                </a:solidFill>
                <a:cs typeface="Arial" panose="020B0604020202020204" pitchFamily="34" charset="0"/>
              </a:rPr>
              <a:t>Wait-die</a:t>
            </a:r>
            <a:endParaRPr lang="en-US" altLang="en-US">
              <a:solidFill>
                <a:srgbClr val="000000"/>
              </a:solidFill>
              <a:cs typeface="Arial" panose="020B0604020202020204" pitchFamily="34" charset="0"/>
            </a:endParaRPr>
          </a:p>
          <a:p>
            <a:pPr lvl="1" algn="just">
              <a:spcBef>
                <a:spcPts val="675"/>
              </a:spcBef>
              <a:buClr>
                <a:srgbClr val="333399"/>
              </a:buClr>
              <a:buSzPct val="54000"/>
              <a:buFont typeface="Wingdings" panose="05000000000000000000" pitchFamily="2" charset="2"/>
              <a:buChar char=""/>
            </a:pPr>
            <a:r>
              <a:rPr lang="en-US" altLang="en-US">
                <a:solidFill>
                  <a:srgbClr val="800000"/>
                </a:solidFill>
                <a:cs typeface="Arial" panose="020B0604020202020204" pitchFamily="34" charset="0"/>
              </a:rPr>
              <a:t>Wound-wait</a:t>
            </a:r>
            <a:endParaRPr lang="en-US" altLang="en-US">
              <a:solidFill>
                <a:srgbClr val="000000"/>
              </a:solidFill>
              <a:cs typeface="Arial" panose="020B0604020202020204" pitchFamily="34" charset="0"/>
            </a:endParaRPr>
          </a:p>
        </p:txBody>
      </p:sp>
      <p:sp>
        <p:nvSpPr>
          <p:cNvPr id="6" name="Slide Number Placeholder 5"/>
          <p:cNvSpPr>
            <a:spLocks noGrp="1"/>
          </p:cNvSpPr>
          <p:nvPr>
            <p:ph type="sldNum" sz="quarter" idx="12"/>
          </p:nvPr>
        </p:nvSpPr>
        <p:spPr/>
        <p:txBody>
          <a:bodyPr/>
          <a:lstStyle/>
          <a:p>
            <a:pPr>
              <a:defRPr/>
            </a:pPr>
            <a:r>
              <a:rPr lang="en-US"/>
              <a:t>Slide </a:t>
            </a:r>
            <a:r>
              <a:rPr lang="en-US" spc="10"/>
              <a:t>21-</a:t>
            </a:r>
            <a:r>
              <a:rPr lang="en-US" spc="-200"/>
              <a:t> </a:t>
            </a:r>
            <a:fld id="{A88890A4-CE00-4183-8C77-53E66FC912BF}" type="slidenum">
              <a:rPr/>
              <a:pPr>
                <a:defRPr/>
              </a:pPr>
              <a:t>46</a:t>
            </a:fld>
            <a:endParaRPr/>
          </a:p>
        </p:txBody>
      </p:sp>
    </p:spTree>
    <p:extLst>
      <p:ext uri="{BB962C8B-B14F-4D97-AF65-F5344CB8AC3E}">
        <p14:creationId xmlns:p14="http://schemas.microsoft.com/office/powerpoint/2010/main" val="41919264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399246"/>
            <a:ext cx="10855818" cy="5777718"/>
          </a:xfrm>
        </p:spPr>
        <p:txBody>
          <a:bodyPr>
            <a:normAutofit fontScale="92500" lnSpcReduction="20000"/>
          </a:bodyPr>
          <a:lstStyle/>
          <a:p>
            <a:r>
              <a:rPr lang="en-US">
                <a:solidFill>
                  <a:srgbClr val="FF0000"/>
                </a:solidFill>
              </a:rPr>
              <a:t>Wait-die :</a:t>
            </a:r>
          </a:p>
          <a:p>
            <a:r>
              <a:rPr lang="en-US"/>
              <a:t>In this scheme, if a transaction requests for a resource which is already held with a conflicting lock by another transaction then the DBMS simply checks the timestamp of both transactions. It allows </a:t>
            </a:r>
            <a:r>
              <a:rPr lang="en-US" b="1"/>
              <a:t>the older transaction to wait until the resource is available for execution.</a:t>
            </a:r>
          </a:p>
          <a:p>
            <a:r>
              <a:rPr lang="en-US"/>
              <a:t>Let's assume there are two transactions Ti and Tj and let TS(T) is a timestamp of any transaction T. If T2 holds a lock by some other transaction and T1 is requesting for resources held by T2 then the following actions are performed by DBMS:</a:t>
            </a:r>
          </a:p>
          <a:p>
            <a:pPr lvl="0"/>
            <a:r>
              <a:rPr lang="en-US"/>
              <a:t>Check if TS(Ti) &lt; TS (Tj) - If Ti is the older transaction and Tj has held some resource, then Ti is allowed to wait until the data-item is available for execution. That means if the older transaction is waiting for a resource which is locked by the younger transaction, then the older transaction is allowed to wait for resource until it is available.</a:t>
            </a:r>
          </a:p>
          <a:p>
            <a:pPr lvl="0"/>
            <a:r>
              <a:rPr lang="en-US"/>
              <a:t>Check if TS(T</a:t>
            </a:r>
            <a:r>
              <a:rPr lang="en-US" baseline="-25000"/>
              <a:t>i</a:t>
            </a:r>
            <a:r>
              <a:rPr lang="en-US"/>
              <a:t>) &lt; TS(Tj) - If Ti is older transaction and has held some resource and if Tj is waiting for it, then Tj is killed and restarted later with the random delay but with the same timestamp.</a:t>
            </a:r>
          </a:p>
          <a:p>
            <a:endParaRPr lang="en-US"/>
          </a:p>
        </p:txBody>
      </p:sp>
    </p:spTree>
    <p:extLst>
      <p:ext uri="{BB962C8B-B14F-4D97-AF65-F5344CB8AC3E}">
        <p14:creationId xmlns:p14="http://schemas.microsoft.com/office/powerpoint/2010/main" val="626240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7CCC3B6-C7F9-5D9C-828D-E394DB9E9056}"/>
              </a:ext>
            </a:extLst>
          </p:cNvPr>
          <p:cNvPicPr>
            <a:picLocks noGrp="1" noChangeAspect="1"/>
          </p:cNvPicPr>
          <p:nvPr>
            <p:ph idx="1"/>
          </p:nvPr>
        </p:nvPicPr>
        <p:blipFill>
          <a:blip r:embed="rId2"/>
          <a:stretch>
            <a:fillRect/>
          </a:stretch>
        </p:blipFill>
        <p:spPr>
          <a:xfrm>
            <a:off x="1486473" y="379413"/>
            <a:ext cx="9219054" cy="5797550"/>
          </a:xfrm>
        </p:spPr>
      </p:pic>
    </p:spTree>
    <p:extLst>
      <p:ext uri="{BB962C8B-B14F-4D97-AF65-F5344CB8AC3E}">
        <p14:creationId xmlns:p14="http://schemas.microsoft.com/office/powerpoint/2010/main" val="31260981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78039"/>
            <a:ext cx="10515600" cy="4224270"/>
          </a:xfrm>
        </p:spPr>
        <p:txBody>
          <a:bodyPr/>
          <a:lstStyle/>
          <a:p>
            <a:pPr algn="just"/>
            <a:r>
              <a:rPr lang="en-US"/>
              <a:t>Wound wait scheme</a:t>
            </a:r>
            <a:endParaRPr lang="en-US" b="1"/>
          </a:p>
          <a:p>
            <a:pPr lvl="0" algn="just"/>
            <a:r>
              <a:rPr lang="en-US"/>
              <a:t>In wound wait scheme, if the older transaction requests for a resource which is held by the younger transaction, then older transaction forces younger one to kill the transaction and release the resource. After the minute delay, the younger transaction is restarted but with the same timestamp.</a:t>
            </a:r>
          </a:p>
          <a:p>
            <a:pPr lvl="0" algn="just"/>
            <a:r>
              <a:rPr lang="en-US"/>
              <a:t>If the older transaction has held a resource which is requested by the Younger transaction, then the younger transaction is asked to wait until older releases it.</a:t>
            </a:r>
          </a:p>
          <a:p>
            <a:pPr algn="just"/>
            <a:endParaRPr lang="en-US"/>
          </a:p>
        </p:txBody>
      </p:sp>
    </p:spTree>
    <p:extLst>
      <p:ext uri="{BB962C8B-B14F-4D97-AF65-F5344CB8AC3E}">
        <p14:creationId xmlns:p14="http://schemas.microsoft.com/office/powerpoint/2010/main" val="1928639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4BEE7-BA64-6F3B-F05C-70B0EFECCC87}"/>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2A7A829-29D7-F46E-36B9-485C2697EFAA}"/>
              </a:ext>
            </a:extLst>
          </p:cNvPr>
          <p:cNvPicPr>
            <a:picLocks noGrp="1" noChangeAspect="1"/>
          </p:cNvPicPr>
          <p:nvPr>
            <p:ph idx="1"/>
          </p:nvPr>
        </p:nvPicPr>
        <p:blipFill>
          <a:blip r:embed="rId2"/>
          <a:stretch>
            <a:fillRect/>
          </a:stretch>
        </p:blipFill>
        <p:spPr>
          <a:xfrm>
            <a:off x="1326996" y="714375"/>
            <a:ext cx="9164398" cy="5462588"/>
          </a:xfrm>
        </p:spPr>
      </p:pic>
    </p:spTree>
    <p:extLst>
      <p:ext uri="{BB962C8B-B14F-4D97-AF65-F5344CB8AC3E}">
        <p14:creationId xmlns:p14="http://schemas.microsoft.com/office/powerpoint/2010/main" val="21769023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618186"/>
            <a:ext cx="10714149" cy="5558777"/>
          </a:xfrm>
        </p:spPr>
        <p:txBody>
          <a:bodyPr/>
          <a:lstStyle/>
          <a:p>
            <a:r>
              <a:rPr lang="en-US">
                <a:solidFill>
                  <a:srgbClr val="FF0000"/>
                </a:solidFill>
              </a:rPr>
              <a:t>wait-die :</a:t>
            </a:r>
          </a:p>
          <a:p>
            <a:r>
              <a:rPr lang="en-US"/>
              <a:t>When transaction Ti requests a data item currently held by Tj  Ti is allowed to wait only if it has a timestamp smaller than that of Tj (that is, Ti is older than Tj ). Otherwise, Ti is rolled back (dies). This is </a:t>
            </a:r>
            <a:r>
              <a:rPr lang="en-US">
                <a:solidFill>
                  <a:srgbClr val="FF0000"/>
                </a:solidFill>
              </a:rPr>
              <a:t>wait-die</a:t>
            </a:r>
            <a:r>
              <a:rPr lang="en-US"/>
              <a:t>.</a:t>
            </a:r>
          </a:p>
          <a:p>
            <a:r>
              <a:rPr lang="en-US">
                <a:solidFill>
                  <a:srgbClr val="FF0000"/>
                </a:solidFill>
              </a:rPr>
              <a:t>wound-wait:</a:t>
            </a:r>
          </a:p>
          <a:p>
            <a:pPr lvl="0"/>
            <a:r>
              <a:rPr lang="en-US"/>
              <a:t>When transaction Ti requests a data item currently held by Tj , Ti is allowed to wait only if it has a timestamp larger than that of Tj (that is, Ti is younger than Tj ). Otherwise, Tj is rolled back (Tj is wounded by Ti ). This is  </a:t>
            </a:r>
            <a:r>
              <a:rPr lang="en-US">
                <a:solidFill>
                  <a:srgbClr val="FF0000"/>
                </a:solidFill>
              </a:rPr>
              <a:t>wound-wait.</a:t>
            </a:r>
          </a:p>
          <a:p>
            <a:endParaRPr lang="en-US"/>
          </a:p>
        </p:txBody>
      </p:sp>
    </p:spTree>
    <p:extLst>
      <p:ext uri="{BB962C8B-B14F-4D97-AF65-F5344CB8AC3E}">
        <p14:creationId xmlns:p14="http://schemas.microsoft.com/office/powerpoint/2010/main" val="31619941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a:t>Which concurrency control protocols ensure conflict </a:t>
            </a:r>
            <a:r>
              <a:rPr lang="en-US" b="1" err="1"/>
              <a:t>serializability</a:t>
            </a:r>
            <a:r>
              <a:rPr lang="en-US" b="1"/>
              <a:t> and freedom from the deadlock? </a:t>
            </a:r>
            <a:br>
              <a:rPr lang="en-US"/>
            </a:br>
            <a:br>
              <a:rPr lang="en-US"/>
            </a:br>
            <a:r>
              <a:rPr lang="en-US" b="1"/>
              <a:t>A) 2-phase locking </a:t>
            </a:r>
            <a:br>
              <a:rPr lang="en-US"/>
            </a:br>
            <a:r>
              <a:rPr lang="en-US" b="1"/>
              <a:t>B) Time-stamp Ordering </a:t>
            </a:r>
            <a:br>
              <a:rPr lang="en-US"/>
            </a:br>
            <a:r>
              <a:rPr lang="en-US" b="1"/>
              <a:t>C) Both  2-phase locking and Time-stamp ordering </a:t>
            </a:r>
            <a:br>
              <a:rPr lang="en-US"/>
            </a:br>
            <a:r>
              <a:rPr lang="en-US" b="1"/>
              <a:t>D) None of the above </a:t>
            </a:r>
            <a:br>
              <a:rPr lang="en-US"/>
            </a:br>
            <a:br>
              <a:rPr lang="en-US"/>
            </a:br>
            <a:r>
              <a:rPr lang="en-US" b="1"/>
              <a:t>ANSWER:- B </a:t>
            </a:r>
            <a:br>
              <a:rPr lang="en-US"/>
            </a:br>
            <a:r>
              <a:rPr lang="en-US" b="1"/>
              <a:t>Explanation :</a:t>
            </a:r>
            <a:r>
              <a:rPr lang="en-US"/>
              <a:t>2PL, i.e., </a:t>
            </a:r>
            <a:r>
              <a:rPr lang="en-US" u="sng">
                <a:hlinkClick r:id="rId2"/>
              </a:rPr>
              <a:t>2 Phase Locking</a:t>
            </a:r>
            <a:r>
              <a:rPr lang="en-US"/>
              <a:t>, is a concurrency control method that guarantees </a:t>
            </a:r>
            <a:r>
              <a:rPr lang="en-US" err="1"/>
              <a:t>serializability</a:t>
            </a:r>
            <a:r>
              <a:rPr lang="en-US"/>
              <a:t>. This protocol uses locks applied to data by a transaction, which blocks other transactions from accessing the same data during the transaction's life. Mutual blocking of 2 or more transactions may lead to deadlock in 2PL.</a:t>
            </a:r>
            <a:br>
              <a:rPr lang="en-US"/>
            </a:br>
            <a:r>
              <a:rPr lang="en-US"/>
              <a:t> </a:t>
            </a:r>
          </a:p>
          <a:p>
            <a:endParaRPr lang="en-US"/>
          </a:p>
        </p:txBody>
      </p:sp>
    </p:spTree>
    <p:extLst>
      <p:ext uri="{BB962C8B-B14F-4D97-AF65-F5344CB8AC3E}">
        <p14:creationId xmlns:p14="http://schemas.microsoft.com/office/powerpoint/2010/main" val="5833554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5763"/>
            <a:ext cx="10515600" cy="5301200"/>
          </a:xfrm>
        </p:spPr>
        <p:txBody>
          <a:bodyPr>
            <a:normAutofit fontScale="92500" lnSpcReduction="20000"/>
          </a:bodyPr>
          <a:lstStyle/>
          <a:p>
            <a:r>
              <a:rPr lang="en-US" b="1"/>
              <a:t>Which among the following statements is/are incorrect? </a:t>
            </a:r>
            <a:br>
              <a:rPr lang="en-US"/>
            </a:br>
            <a:r>
              <a:rPr lang="en-US" b="1"/>
              <a:t>          1) A schedule following a strict two-phase locking protocol is conflict serializable and recoverable. </a:t>
            </a:r>
            <a:br>
              <a:rPr lang="en-US"/>
            </a:br>
            <a:r>
              <a:rPr lang="en-US" b="1"/>
              <a:t>          2) Checkpoint in schedules inserted to ensure recoverability. </a:t>
            </a:r>
            <a:br>
              <a:rPr lang="en-US"/>
            </a:br>
            <a:br>
              <a:rPr lang="en-US"/>
            </a:br>
            <a:r>
              <a:rPr lang="en-US" b="1"/>
              <a:t>A) Only 1 </a:t>
            </a:r>
            <a:br>
              <a:rPr lang="en-US"/>
            </a:br>
            <a:r>
              <a:rPr lang="en-US" b="1"/>
              <a:t>B) Only 2 </a:t>
            </a:r>
            <a:br>
              <a:rPr lang="en-US"/>
            </a:br>
            <a:r>
              <a:rPr lang="en-US" b="1"/>
              <a:t>C) Both 1 and 2 </a:t>
            </a:r>
            <a:br>
              <a:rPr lang="en-US"/>
            </a:br>
            <a:r>
              <a:rPr lang="en-US" b="1"/>
              <a:t>D) None of the above </a:t>
            </a:r>
            <a:br>
              <a:rPr lang="en-US"/>
            </a:br>
            <a:br>
              <a:rPr lang="en-US"/>
            </a:br>
            <a:r>
              <a:rPr lang="en-US" b="1"/>
              <a:t>ANSWER:- B </a:t>
            </a:r>
            <a:br>
              <a:rPr lang="en-US"/>
            </a:br>
            <a:r>
              <a:rPr lang="en-US" b="1"/>
              <a:t>Explanation :</a:t>
            </a:r>
            <a:r>
              <a:rPr lang="en-US"/>
              <a:t>A basic two-phase </a:t>
            </a:r>
            <a:r>
              <a:rPr lang="en-US" u="sng">
                <a:hlinkClick r:id="rId2"/>
              </a:rPr>
              <a:t>locking protocol</a:t>
            </a:r>
            <a:r>
              <a:rPr lang="en-US"/>
              <a:t> ensures only conflict </a:t>
            </a:r>
            <a:r>
              <a:rPr lang="en-US" err="1"/>
              <a:t>serializability</a:t>
            </a:r>
            <a:r>
              <a:rPr lang="en-US"/>
              <a:t>. In contrast, a strict two-phase locking protocol ensures conflict </a:t>
            </a:r>
            <a:r>
              <a:rPr lang="en-US" err="1"/>
              <a:t>serializability</a:t>
            </a:r>
            <a:r>
              <a:rPr lang="en-US"/>
              <a:t> and recoverability. So statement (1) is correct. i.e., checkpoints are inserted to minimize the task of undo-redo in recoverability. And hence statement (2) is not correct. So Option (B) is correct.</a:t>
            </a:r>
          </a:p>
          <a:p>
            <a:endParaRPr lang="en-US"/>
          </a:p>
        </p:txBody>
      </p:sp>
    </p:spTree>
    <p:extLst>
      <p:ext uri="{BB962C8B-B14F-4D97-AF65-F5344CB8AC3E}">
        <p14:creationId xmlns:p14="http://schemas.microsoft.com/office/powerpoint/2010/main" val="35847293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53</Slides>
  <Notes>2</Notes>
  <HiddenSlides>2</HiddenSlide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UNIT 3: Part II Concurrency Control </vt:lpstr>
      <vt:lpstr>Concurrency Control</vt:lpstr>
      <vt:lpstr>Lock</vt:lpstr>
      <vt:lpstr>PowerPoint Presentation</vt:lpstr>
      <vt:lpstr>Lock-Based Protocol </vt:lpstr>
      <vt:lpstr>Lock based Concurrency Control</vt:lpstr>
      <vt:lpstr>Binary Lock</vt:lpstr>
      <vt:lpstr>PowerPoint Presentation</vt:lpstr>
      <vt:lpstr>Binary Lock</vt:lpstr>
      <vt:lpstr>Binary Lock</vt:lpstr>
      <vt:lpstr>Shared &amp; Exclusive Lock</vt:lpstr>
      <vt:lpstr>PowerPoint Presentation</vt:lpstr>
      <vt:lpstr>PowerPoint Presentation</vt:lpstr>
      <vt:lpstr>PowerPoint Presentation</vt:lpstr>
      <vt:lpstr>Shared Lock</vt:lpstr>
      <vt:lpstr>Exclusive Lock</vt:lpstr>
      <vt:lpstr>Shared Lock Algorithm</vt:lpstr>
      <vt:lpstr>Shared Lock Algorithm unlocking</vt:lpstr>
      <vt:lpstr>Exclusive Lock Algorithm</vt:lpstr>
      <vt:lpstr>PowerPoint Presentation</vt:lpstr>
      <vt:lpstr>Lock compatibility matrix</vt:lpstr>
      <vt:lpstr>PowerPoint Presentation</vt:lpstr>
      <vt:lpstr>PowerPoint Presentation</vt:lpstr>
      <vt:lpstr>Two-  Phase Locking</vt:lpstr>
      <vt:lpstr>Two-  Phase Locking</vt:lpstr>
      <vt:lpstr>PowerPoint Presentation</vt:lpstr>
      <vt:lpstr>PowerPoint Presentation</vt:lpstr>
      <vt:lpstr>PowerPoint Presentation</vt:lpstr>
      <vt:lpstr>PowerPoint Presentation</vt:lpstr>
      <vt:lpstr>Variations of Two-Phase Locking</vt:lpstr>
      <vt:lpstr>PowerPoint Presentation</vt:lpstr>
      <vt:lpstr>Variations of Two-Phase Locking</vt:lpstr>
      <vt:lpstr>Timestamp Ordering Protocol </vt:lpstr>
      <vt:lpstr>PowerPoint Presentation</vt:lpstr>
      <vt:lpstr>PowerPoint Presentation</vt:lpstr>
      <vt:lpstr>PowerPoint Presentation</vt:lpstr>
      <vt:lpstr>PowerPoint Presentation</vt:lpstr>
      <vt:lpstr>Deadlocks</vt:lpstr>
      <vt:lpstr>Deadlocks</vt:lpstr>
      <vt:lpstr>Deadlocks</vt:lpstr>
      <vt:lpstr>PowerPoint Presentation</vt:lpstr>
      <vt:lpstr>PowerPoint Presentation</vt:lpstr>
      <vt:lpstr>Deadlock Detection using wait for graph</vt:lpstr>
      <vt:lpstr>Deadlock Detection using wait for graph</vt:lpstr>
      <vt:lpstr>Deadlock Detection using wait for graph</vt:lpstr>
      <vt:lpstr>Dealing with Deadlock and Starvation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Concurrent Execution in DBMS</dc:title>
  <dc:creator>Mahendran</dc:creator>
  <cp:revision>1</cp:revision>
  <cp:lastPrinted>2022-12-21T05:37:10Z</cp:lastPrinted>
  <dcterms:created xsi:type="dcterms:W3CDTF">2022-12-13T06:05:21Z</dcterms:created>
  <dcterms:modified xsi:type="dcterms:W3CDTF">2025-11-12T15:59:39Z</dcterms:modified>
</cp:coreProperties>
</file>