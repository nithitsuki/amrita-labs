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50" r:id="rId2"/>
    <p:sldId id="256" r:id="rId3"/>
    <p:sldId id="257" r:id="rId4"/>
    <p:sldId id="351" r:id="rId5"/>
    <p:sldId id="352" r:id="rId6"/>
    <p:sldId id="372" r:id="rId7"/>
    <p:sldId id="353" r:id="rId8"/>
    <p:sldId id="373" r:id="rId9"/>
    <p:sldId id="354" r:id="rId10"/>
    <p:sldId id="356" r:id="rId11"/>
    <p:sldId id="357" r:id="rId12"/>
    <p:sldId id="358" r:id="rId13"/>
    <p:sldId id="359" r:id="rId14"/>
    <p:sldId id="355" r:id="rId15"/>
    <p:sldId id="360" r:id="rId16"/>
    <p:sldId id="361" r:id="rId17"/>
    <p:sldId id="362" r:id="rId18"/>
    <p:sldId id="363" r:id="rId19"/>
    <p:sldId id="364" r:id="rId20"/>
    <p:sldId id="365" r:id="rId21"/>
    <p:sldId id="366" r:id="rId22"/>
    <p:sldId id="367" r:id="rId23"/>
    <p:sldId id="368" r:id="rId24"/>
    <p:sldId id="374" r:id="rId25"/>
    <p:sldId id="375" r:id="rId26"/>
    <p:sldId id="369" r:id="rId27"/>
    <p:sldId id="370" r:id="rId28"/>
    <p:sldId id="371" r:id="rId29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AC2FBB-D6E2-E275-C13F-251F81873092}" v="4" dt="2025-11-12T13:50:00.5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7815" autoAdjust="0"/>
  </p:normalViewPr>
  <p:slideViewPr>
    <p:cSldViewPr snapToGrid="0">
      <p:cViewPr varScale="1">
        <p:scale>
          <a:sx n="56" d="100"/>
          <a:sy n="56" d="100"/>
        </p:scale>
        <p:origin x="10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ebbbcd62-c0a9-46ff-a92c-5f2300087164::" providerId="AD" clId="Web-{88AC2FBB-D6E2-E275-C13F-251F81873092}"/>
    <pc:docChg chg="modSld">
      <pc:chgData name="Guest User" userId="S::urn:spo:tenantanon#ebbbcd62-c0a9-46ff-a92c-5f2300087164::" providerId="AD" clId="Web-{88AC2FBB-D6E2-E275-C13F-251F81873092}" dt="2025-11-12T13:50:00.532" v="3"/>
      <pc:docMkLst>
        <pc:docMk/>
      </pc:docMkLst>
      <pc:sldChg chg="addSp delSp">
        <pc:chgData name="Guest User" userId="S::urn:spo:tenantanon#ebbbcd62-c0a9-46ff-a92c-5f2300087164::" providerId="AD" clId="Web-{88AC2FBB-D6E2-E275-C13F-251F81873092}" dt="2025-11-12T13:50:00.532" v="3"/>
        <pc:sldMkLst>
          <pc:docMk/>
          <pc:sldMk cId="575603289" sldId="257"/>
        </pc:sldMkLst>
        <pc:spChg chg="add del">
          <ac:chgData name="Guest User" userId="S::urn:spo:tenantanon#ebbbcd62-c0a9-46ff-a92c-5f2300087164::" providerId="AD" clId="Web-{88AC2FBB-D6E2-E275-C13F-251F81873092}" dt="2025-11-12T13:50:00.532" v="3"/>
          <ac:spMkLst>
            <pc:docMk/>
            <pc:sldMk cId="575603289" sldId="257"/>
            <ac:spMk id="4" creationId="{A09EBD36-FC10-D948-948C-21A429D75619}"/>
          </ac:spMkLst>
        </pc:spChg>
        <pc:graphicFrameChg chg="add del">
          <ac:chgData name="Guest User" userId="S::urn:spo:tenantanon#ebbbcd62-c0a9-46ff-a92c-5f2300087164::" providerId="AD" clId="Web-{88AC2FBB-D6E2-E275-C13F-251F81873092}" dt="2025-11-12T13:50:00.532" v="2"/>
          <ac:graphicFrameMkLst>
            <pc:docMk/>
            <pc:sldMk cId="575603289" sldId="257"/>
            <ac:graphicFrameMk id="6" creationId="{6EDD3182-45FC-D60C-C10A-6020C0C6BE44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E3306E-4E3F-4E4F-86C9-360006134D3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853A0CC-F00C-4E58-B9D3-C7EF34D7B3F4}">
      <dgm:prSet/>
      <dgm:spPr/>
      <dgm:t>
        <a:bodyPr/>
        <a:lstStyle/>
        <a:p>
          <a:r>
            <a:rPr lang="en-IN" dirty="0"/>
            <a:t>Now, to insert key 11 with hash address 10001 into the above structure follow the steps:-</a:t>
          </a:r>
          <a:endParaRPr lang="en-US" dirty="0"/>
        </a:p>
      </dgm:t>
    </dgm:pt>
    <dgm:pt modelId="{5B765F32-9F77-464E-81E7-861798945C60}" type="parTrans" cxnId="{07BF8466-5529-4825-8AB3-0D130E853169}">
      <dgm:prSet/>
      <dgm:spPr/>
      <dgm:t>
        <a:bodyPr/>
        <a:lstStyle/>
        <a:p>
          <a:endParaRPr lang="en-US"/>
        </a:p>
      </dgm:t>
    </dgm:pt>
    <dgm:pt modelId="{504501A6-DD7D-40E0-9397-C0D34FA4ABB9}" type="sibTrans" cxnId="{07BF8466-5529-4825-8AB3-0D130E853169}">
      <dgm:prSet/>
      <dgm:spPr/>
      <dgm:t>
        <a:bodyPr/>
        <a:lstStyle/>
        <a:p>
          <a:endParaRPr lang="en-US"/>
        </a:p>
      </dgm:t>
    </dgm:pt>
    <dgm:pt modelId="{03AED69C-C928-4C26-8E81-5D89A97B3E3C}">
      <dgm:prSet/>
      <dgm:spPr/>
      <dgm:t>
        <a:bodyPr/>
        <a:lstStyle/>
        <a:p>
          <a:r>
            <a:rPr lang="en-IN"/>
            <a:t>Since, hash address of the bucket is 10001. It will go into bucket B1. But B1 bucket is already filled, so it will get split.</a:t>
          </a:r>
          <a:endParaRPr lang="en-US"/>
        </a:p>
      </dgm:t>
    </dgm:pt>
    <dgm:pt modelId="{70B1E9A3-502E-4B06-BFC9-07A67FBE36C4}" type="parTrans" cxnId="{0F2DA9A4-C2B0-44AF-91F8-2AB3FDB03C7E}">
      <dgm:prSet/>
      <dgm:spPr/>
      <dgm:t>
        <a:bodyPr/>
        <a:lstStyle/>
        <a:p>
          <a:endParaRPr lang="en-US"/>
        </a:p>
      </dgm:t>
    </dgm:pt>
    <dgm:pt modelId="{6D10F451-92EB-4C03-B7B8-EB5C54CB3766}" type="sibTrans" cxnId="{0F2DA9A4-C2B0-44AF-91F8-2AB3FDB03C7E}">
      <dgm:prSet/>
      <dgm:spPr/>
      <dgm:t>
        <a:bodyPr/>
        <a:lstStyle/>
        <a:p>
          <a:endParaRPr lang="en-US"/>
        </a:p>
      </dgm:t>
    </dgm:pt>
    <dgm:pt modelId="{C498C4DA-132C-4438-8E4D-806A25CEC6AD}">
      <dgm:prSet/>
      <dgm:spPr/>
      <dgm:t>
        <a:bodyPr/>
        <a:lstStyle/>
        <a:p>
          <a:r>
            <a:rPr lang="en-IN"/>
            <a:t>Three bits of 11 and 6 are 001. So, they will go into bucket B1. And last three bits of 2 are 101. So, it will go into B4.</a:t>
          </a:r>
          <a:endParaRPr lang="en-US"/>
        </a:p>
      </dgm:t>
    </dgm:pt>
    <dgm:pt modelId="{C15CA5F7-08D0-4EC2-B414-684D46BE3824}" type="parTrans" cxnId="{F865D901-3AAC-429D-BDFF-51BBCC0E0F32}">
      <dgm:prSet/>
      <dgm:spPr/>
      <dgm:t>
        <a:bodyPr/>
        <a:lstStyle/>
        <a:p>
          <a:endParaRPr lang="en-US"/>
        </a:p>
      </dgm:t>
    </dgm:pt>
    <dgm:pt modelId="{2386E016-D4B9-45EA-A4CF-074505F64547}" type="sibTrans" cxnId="{F865D901-3AAC-429D-BDFF-51BBCC0E0F32}">
      <dgm:prSet/>
      <dgm:spPr/>
      <dgm:t>
        <a:bodyPr/>
        <a:lstStyle/>
        <a:p>
          <a:endParaRPr lang="en-US"/>
        </a:p>
      </dgm:t>
    </dgm:pt>
    <dgm:pt modelId="{ABCE6A41-6E2F-4D97-B8F0-55113F8C45E1}">
      <dgm:prSet/>
      <dgm:spPr/>
      <dgm:t>
        <a:bodyPr/>
        <a:lstStyle/>
        <a:p>
          <a:r>
            <a:rPr lang="en-IN" dirty="0"/>
            <a:t>Keys 1 and 3 are still in bucket B0. The record B0 is pointed by 000 and 100 entry because last two bits of both the entry are 00.</a:t>
          </a:r>
          <a:endParaRPr lang="en-US" dirty="0"/>
        </a:p>
      </dgm:t>
    </dgm:pt>
    <dgm:pt modelId="{C10239B7-3D4B-44DB-AAEE-B96C829A7E0E}" type="parTrans" cxnId="{1F83CC6C-8189-418E-8D14-89390522C301}">
      <dgm:prSet/>
      <dgm:spPr/>
      <dgm:t>
        <a:bodyPr/>
        <a:lstStyle/>
        <a:p>
          <a:endParaRPr lang="en-US"/>
        </a:p>
      </dgm:t>
    </dgm:pt>
    <dgm:pt modelId="{2407AEA7-F8E2-4D0D-B1AD-29E2FB204AD4}" type="sibTrans" cxnId="{1F83CC6C-8189-418E-8D14-89390522C301}">
      <dgm:prSet/>
      <dgm:spPr/>
      <dgm:t>
        <a:bodyPr/>
        <a:lstStyle/>
        <a:p>
          <a:endParaRPr lang="en-US"/>
        </a:p>
      </dgm:t>
    </dgm:pt>
    <dgm:pt modelId="{2041CFBC-E2D3-4421-821F-269BF6B176A2}">
      <dgm:prSet/>
      <dgm:spPr/>
      <dgm:t>
        <a:bodyPr/>
        <a:lstStyle/>
        <a:p>
          <a:r>
            <a:rPr lang="en-IN" dirty="0"/>
            <a:t>Key 7 is still in bucket B2. The record B2 is pointed by 010 and 110 entry because last two bits of both the entry are 10.</a:t>
          </a:r>
          <a:endParaRPr lang="en-US" dirty="0"/>
        </a:p>
      </dgm:t>
    </dgm:pt>
    <dgm:pt modelId="{77C1C866-DE52-4741-815B-2D59F492459D}" type="parTrans" cxnId="{B471056C-77A5-400E-8AB8-BF59C2FFCFF0}">
      <dgm:prSet/>
      <dgm:spPr/>
      <dgm:t>
        <a:bodyPr/>
        <a:lstStyle/>
        <a:p>
          <a:endParaRPr lang="en-US"/>
        </a:p>
      </dgm:t>
    </dgm:pt>
    <dgm:pt modelId="{D9F075B0-A3BC-4846-ACB2-6593E7B2CAE1}" type="sibTrans" cxnId="{B471056C-77A5-400E-8AB8-BF59C2FFCFF0}">
      <dgm:prSet/>
      <dgm:spPr/>
      <dgm:t>
        <a:bodyPr/>
        <a:lstStyle/>
        <a:p>
          <a:endParaRPr lang="en-US"/>
        </a:p>
      </dgm:t>
    </dgm:pt>
    <dgm:pt modelId="{49473900-6E8E-4DBC-B5A3-FA4A17D79169}">
      <dgm:prSet/>
      <dgm:spPr/>
      <dgm:t>
        <a:bodyPr/>
        <a:lstStyle/>
        <a:p>
          <a:r>
            <a:rPr lang="en-IN" dirty="0"/>
            <a:t>Key 4 and 5 are still in bucket B3. The record B3 is pointed by 111 and 011 entry because last two bits of both the entry are 11.</a:t>
          </a:r>
          <a:endParaRPr lang="en-US" dirty="0"/>
        </a:p>
      </dgm:t>
    </dgm:pt>
    <dgm:pt modelId="{1107B64C-D5BD-42FC-A7F4-B366CF9814C5}" type="parTrans" cxnId="{BAFEAF43-A91E-4CD9-B280-D05864FCD9B6}">
      <dgm:prSet/>
      <dgm:spPr/>
      <dgm:t>
        <a:bodyPr/>
        <a:lstStyle/>
        <a:p>
          <a:endParaRPr lang="en-US"/>
        </a:p>
      </dgm:t>
    </dgm:pt>
    <dgm:pt modelId="{CD7FA6A2-E08F-4C9D-B927-28FF389FACEF}" type="sibTrans" cxnId="{BAFEAF43-A91E-4CD9-B280-D05864FCD9B6}">
      <dgm:prSet/>
      <dgm:spPr/>
      <dgm:t>
        <a:bodyPr/>
        <a:lstStyle/>
        <a:p>
          <a:endParaRPr lang="en-US"/>
        </a:p>
      </dgm:t>
    </dgm:pt>
    <dgm:pt modelId="{FE41FC57-76A1-463B-94EF-01154E062201}" type="pres">
      <dgm:prSet presAssocID="{2AE3306E-4E3F-4E4F-86C9-360006134D34}" presName="linear" presStyleCnt="0">
        <dgm:presLayoutVars>
          <dgm:animLvl val="lvl"/>
          <dgm:resizeHandles val="exact"/>
        </dgm:presLayoutVars>
      </dgm:prSet>
      <dgm:spPr/>
    </dgm:pt>
    <dgm:pt modelId="{89C0C6C2-0566-46C5-A1D4-359F44298902}" type="pres">
      <dgm:prSet presAssocID="{5853A0CC-F00C-4E58-B9D3-C7EF34D7B3F4}" presName="parentText" presStyleLbl="node1" presStyleIdx="0" presStyleCnt="6" custLinFactY="10543" custLinFactNeighborX="-7215" custLinFactNeighborY="100000">
        <dgm:presLayoutVars>
          <dgm:chMax val="0"/>
          <dgm:bulletEnabled val="1"/>
        </dgm:presLayoutVars>
      </dgm:prSet>
      <dgm:spPr/>
    </dgm:pt>
    <dgm:pt modelId="{A5B955F8-50DC-49C4-A666-E6219409A741}" type="pres">
      <dgm:prSet presAssocID="{504501A6-DD7D-40E0-9397-C0D34FA4ABB9}" presName="spacer" presStyleCnt="0"/>
      <dgm:spPr/>
    </dgm:pt>
    <dgm:pt modelId="{9326BA24-38AA-43D0-BAEC-EEED4061421F}" type="pres">
      <dgm:prSet presAssocID="{03AED69C-C928-4C26-8E81-5D89A97B3E3C}" presName="parentText" presStyleLbl="node1" presStyleIdx="1" presStyleCnt="6" custLinFactNeighborX="-219">
        <dgm:presLayoutVars>
          <dgm:chMax val="0"/>
          <dgm:bulletEnabled val="1"/>
        </dgm:presLayoutVars>
      </dgm:prSet>
      <dgm:spPr/>
    </dgm:pt>
    <dgm:pt modelId="{E3838AFE-3470-494C-86B5-B725F702BE9C}" type="pres">
      <dgm:prSet presAssocID="{6D10F451-92EB-4C03-B7B8-EB5C54CB3766}" presName="spacer" presStyleCnt="0"/>
      <dgm:spPr/>
    </dgm:pt>
    <dgm:pt modelId="{1D86D5AE-430B-4541-AFC8-AE757FA2E353}" type="pres">
      <dgm:prSet presAssocID="{C498C4DA-132C-4438-8E4D-806A25CEC6A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485FB78-124E-430B-A4F2-E03DF083B4AD}" type="pres">
      <dgm:prSet presAssocID="{2386E016-D4B9-45EA-A4CF-074505F64547}" presName="spacer" presStyleCnt="0"/>
      <dgm:spPr/>
    </dgm:pt>
    <dgm:pt modelId="{294D2952-8BE9-4F83-ACFC-324678A74428}" type="pres">
      <dgm:prSet presAssocID="{ABCE6A41-6E2F-4D97-B8F0-55113F8C45E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3C39555-75E1-499D-8C54-0CCC0C071365}" type="pres">
      <dgm:prSet presAssocID="{2407AEA7-F8E2-4D0D-B1AD-29E2FB204AD4}" presName="spacer" presStyleCnt="0"/>
      <dgm:spPr/>
    </dgm:pt>
    <dgm:pt modelId="{A6C427EC-2A86-4A2F-B651-ED6F4A9D6D46}" type="pres">
      <dgm:prSet presAssocID="{2041CFBC-E2D3-4421-821F-269BF6B176A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B9DF080-FF73-493F-8BB6-F7DD9BAB48E7}" type="pres">
      <dgm:prSet presAssocID="{D9F075B0-A3BC-4846-ACB2-6593E7B2CAE1}" presName="spacer" presStyleCnt="0"/>
      <dgm:spPr/>
    </dgm:pt>
    <dgm:pt modelId="{04A51EA6-1C5E-4467-9315-32B9B2755971}" type="pres">
      <dgm:prSet presAssocID="{49473900-6E8E-4DBC-B5A3-FA4A17D7916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865D901-3AAC-429D-BDFF-51BBCC0E0F32}" srcId="{2AE3306E-4E3F-4E4F-86C9-360006134D34}" destId="{C498C4DA-132C-4438-8E4D-806A25CEC6AD}" srcOrd="2" destOrd="0" parTransId="{C15CA5F7-08D0-4EC2-B414-684D46BE3824}" sibTransId="{2386E016-D4B9-45EA-A4CF-074505F64547}"/>
    <dgm:cxn modelId="{5B217C1E-0D18-4D3B-9E2F-0F68917ED729}" type="presOf" srcId="{49473900-6E8E-4DBC-B5A3-FA4A17D79169}" destId="{04A51EA6-1C5E-4467-9315-32B9B2755971}" srcOrd="0" destOrd="0" presId="urn:microsoft.com/office/officeart/2005/8/layout/vList2"/>
    <dgm:cxn modelId="{BEFCAC1E-FB74-431F-9B54-16CE5FA7D259}" type="presOf" srcId="{5853A0CC-F00C-4E58-B9D3-C7EF34D7B3F4}" destId="{89C0C6C2-0566-46C5-A1D4-359F44298902}" srcOrd="0" destOrd="0" presId="urn:microsoft.com/office/officeart/2005/8/layout/vList2"/>
    <dgm:cxn modelId="{BAFEAF43-A91E-4CD9-B280-D05864FCD9B6}" srcId="{2AE3306E-4E3F-4E4F-86C9-360006134D34}" destId="{49473900-6E8E-4DBC-B5A3-FA4A17D79169}" srcOrd="5" destOrd="0" parTransId="{1107B64C-D5BD-42FC-A7F4-B366CF9814C5}" sibTransId="{CD7FA6A2-E08F-4C9D-B927-28FF389FACEF}"/>
    <dgm:cxn modelId="{07BF8466-5529-4825-8AB3-0D130E853169}" srcId="{2AE3306E-4E3F-4E4F-86C9-360006134D34}" destId="{5853A0CC-F00C-4E58-B9D3-C7EF34D7B3F4}" srcOrd="0" destOrd="0" parTransId="{5B765F32-9F77-464E-81E7-861798945C60}" sibTransId="{504501A6-DD7D-40E0-9397-C0D34FA4ABB9}"/>
    <dgm:cxn modelId="{B471056C-77A5-400E-8AB8-BF59C2FFCFF0}" srcId="{2AE3306E-4E3F-4E4F-86C9-360006134D34}" destId="{2041CFBC-E2D3-4421-821F-269BF6B176A2}" srcOrd="4" destOrd="0" parTransId="{77C1C866-DE52-4741-815B-2D59F492459D}" sibTransId="{D9F075B0-A3BC-4846-ACB2-6593E7B2CAE1}"/>
    <dgm:cxn modelId="{1F83CC6C-8189-418E-8D14-89390522C301}" srcId="{2AE3306E-4E3F-4E4F-86C9-360006134D34}" destId="{ABCE6A41-6E2F-4D97-B8F0-55113F8C45E1}" srcOrd="3" destOrd="0" parTransId="{C10239B7-3D4B-44DB-AAEE-B96C829A7E0E}" sibTransId="{2407AEA7-F8E2-4D0D-B1AD-29E2FB204AD4}"/>
    <dgm:cxn modelId="{DAFBAA4E-AB6E-494D-B0C8-DD9C9ED5755B}" type="presOf" srcId="{2AE3306E-4E3F-4E4F-86C9-360006134D34}" destId="{FE41FC57-76A1-463B-94EF-01154E062201}" srcOrd="0" destOrd="0" presId="urn:microsoft.com/office/officeart/2005/8/layout/vList2"/>
    <dgm:cxn modelId="{FF396855-053C-42D0-867E-BBEE5EB60783}" type="presOf" srcId="{2041CFBC-E2D3-4421-821F-269BF6B176A2}" destId="{A6C427EC-2A86-4A2F-B651-ED6F4A9D6D46}" srcOrd="0" destOrd="0" presId="urn:microsoft.com/office/officeart/2005/8/layout/vList2"/>
    <dgm:cxn modelId="{681E229E-60B9-4740-93F3-46F6503741AE}" type="presOf" srcId="{ABCE6A41-6E2F-4D97-B8F0-55113F8C45E1}" destId="{294D2952-8BE9-4F83-ACFC-324678A74428}" srcOrd="0" destOrd="0" presId="urn:microsoft.com/office/officeart/2005/8/layout/vList2"/>
    <dgm:cxn modelId="{0F2DA9A4-C2B0-44AF-91F8-2AB3FDB03C7E}" srcId="{2AE3306E-4E3F-4E4F-86C9-360006134D34}" destId="{03AED69C-C928-4C26-8E81-5D89A97B3E3C}" srcOrd="1" destOrd="0" parTransId="{70B1E9A3-502E-4B06-BFC9-07A67FBE36C4}" sibTransId="{6D10F451-92EB-4C03-B7B8-EB5C54CB3766}"/>
    <dgm:cxn modelId="{80813DAF-8A4A-4BF3-93C5-A1D3BBC55012}" type="presOf" srcId="{03AED69C-C928-4C26-8E81-5D89A97B3E3C}" destId="{9326BA24-38AA-43D0-BAEC-EEED4061421F}" srcOrd="0" destOrd="0" presId="urn:microsoft.com/office/officeart/2005/8/layout/vList2"/>
    <dgm:cxn modelId="{B9A6B8B7-398F-4B27-BCA2-96D646712913}" type="presOf" srcId="{C498C4DA-132C-4438-8E4D-806A25CEC6AD}" destId="{1D86D5AE-430B-4541-AFC8-AE757FA2E353}" srcOrd="0" destOrd="0" presId="urn:microsoft.com/office/officeart/2005/8/layout/vList2"/>
    <dgm:cxn modelId="{AF3A7F6B-8AC9-4AE4-9D74-23272BA1D344}" type="presParOf" srcId="{FE41FC57-76A1-463B-94EF-01154E062201}" destId="{89C0C6C2-0566-46C5-A1D4-359F44298902}" srcOrd="0" destOrd="0" presId="urn:microsoft.com/office/officeart/2005/8/layout/vList2"/>
    <dgm:cxn modelId="{E9DA9494-27E9-4BE5-80BB-E978D94D1EE7}" type="presParOf" srcId="{FE41FC57-76A1-463B-94EF-01154E062201}" destId="{A5B955F8-50DC-49C4-A666-E6219409A741}" srcOrd="1" destOrd="0" presId="urn:microsoft.com/office/officeart/2005/8/layout/vList2"/>
    <dgm:cxn modelId="{564A64B1-C876-49ED-ADAC-EAECD5FEC0C1}" type="presParOf" srcId="{FE41FC57-76A1-463B-94EF-01154E062201}" destId="{9326BA24-38AA-43D0-BAEC-EEED4061421F}" srcOrd="2" destOrd="0" presId="urn:microsoft.com/office/officeart/2005/8/layout/vList2"/>
    <dgm:cxn modelId="{0D0A78EC-CFA9-47A5-B7AE-BBB078FD826C}" type="presParOf" srcId="{FE41FC57-76A1-463B-94EF-01154E062201}" destId="{E3838AFE-3470-494C-86B5-B725F702BE9C}" srcOrd="3" destOrd="0" presId="urn:microsoft.com/office/officeart/2005/8/layout/vList2"/>
    <dgm:cxn modelId="{87721D05-6772-4A1B-A35D-8C32C1612C27}" type="presParOf" srcId="{FE41FC57-76A1-463B-94EF-01154E062201}" destId="{1D86D5AE-430B-4541-AFC8-AE757FA2E353}" srcOrd="4" destOrd="0" presId="urn:microsoft.com/office/officeart/2005/8/layout/vList2"/>
    <dgm:cxn modelId="{1EA35FE7-61E1-4415-91DD-9CF539990438}" type="presParOf" srcId="{FE41FC57-76A1-463B-94EF-01154E062201}" destId="{3485FB78-124E-430B-A4F2-E03DF083B4AD}" srcOrd="5" destOrd="0" presId="urn:microsoft.com/office/officeart/2005/8/layout/vList2"/>
    <dgm:cxn modelId="{F923533F-7791-495D-87AD-C11DAC5D3192}" type="presParOf" srcId="{FE41FC57-76A1-463B-94EF-01154E062201}" destId="{294D2952-8BE9-4F83-ACFC-324678A74428}" srcOrd="6" destOrd="0" presId="urn:microsoft.com/office/officeart/2005/8/layout/vList2"/>
    <dgm:cxn modelId="{A8B6BD89-D756-4F0B-8441-6319BE348EA9}" type="presParOf" srcId="{FE41FC57-76A1-463B-94EF-01154E062201}" destId="{33C39555-75E1-499D-8C54-0CCC0C071365}" srcOrd="7" destOrd="0" presId="urn:microsoft.com/office/officeart/2005/8/layout/vList2"/>
    <dgm:cxn modelId="{7C46BDED-87B6-42D9-8900-220168ADC2E9}" type="presParOf" srcId="{FE41FC57-76A1-463B-94EF-01154E062201}" destId="{A6C427EC-2A86-4A2F-B651-ED6F4A9D6D46}" srcOrd="8" destOrd="0" presId="urn:microsoft.com/office/officeart/2005/8/layout/vList2"/>
    <dgm:cxn modelId="{CBBB8AFD-83FD-45AB-86AA-9BE02D4DC3FD}" type="presParOf" srcId="{FE41FC57-76A1-463B-94EF-01154E062201}" destId="{3B9DF080-FF73-493F-8BB6-F7DD9BAB48E7}" srcOrd="9" destOrd="0" presId="urn:microsoft.com/office/officeart/2005/8/layout/vList2"/>
    <dgm:cxn modelId="{D7C909E1-E206-4565-8683-1F0BC4565F6A}" type="presParOf" srcId="{FE41FC57-76A1-463B-94EF-01154E062201}" destId="{04A51EA6-1C5E-4467-9315-32B9B2755971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C0C6C2-0566-46C5-A1D4-359F44298902}">
      <dsp:nvSpPr>
        <dsp:cNvPr id="0" name=""/>
        <dsp:cNvSpPr/>
      </dsp:nvSpPr>
      <dsp:spPr>
        <a:xfrm>
          <a:off x="0" y="237085"/>
          <a:ext cx="6005322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Now, to insert key 11 with hash address 10001 into the above structure follow the steps:-</a:t>
          </a:r>
          <a:endParaRPr lang="en-US" sz="1700" kern="1200" dirty="0"/>
        </a:p>
      </dsp:txBody>
      <dsp:txXfrm>
        <a:off x="33012" y="270097"/>
        <a:ext cx="5939298" cy="610236"/>
      </dsp:txXfrm>
    </dsp:sp>
    <dsp:sp modelId="{9326BA24-38AA-43D0-BAEC-EEED4061421F}">
      <dsp:nvSpPr>
        <dsp:cNvPr id="0" name=""/>
        <dsp:cNvSpPr/>
      </dsp:nvSpPr>
      <dsp:spPr>
        <a:xfrm>
          <a:off x="0" y="842047"/>
          <a:ext cx="6005322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Since, hash address of the bucket is 10001. It will go into bucket B1. But B1 bucket is already filled, so it will get split.</a:t>
          </a:r>
          <a:endParaRPr lang="en-US" sz="1700" kern="1200"/>
        </a:p>
      </dsp:txBody>
      <dsp:txXfrm>
        <a:off x="33012" y="875059"/>
        <a:ext cx="5939298" cy="610236"/>
      </dsp:txXfrm>
    </dsp:sp>
    <dsp:sp modelId="{1D86D5AE-430B-4541-AFC8-AE757FA2E353}">
      <dsp:nvSpPr>
        <dsp:cNvPr id="0" name=""/>
        <dsp:cNvSpPr/>
      </dsp:nvSpPr>
      <dsp:spPr>
        <a:xfrm>
          <a:off x="0" y="1567267"/>
          <a:ext cx="6005322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Three bits of 11 and 6 are 001. So, they will go into bucket B1. And last three bits of 2 are 101. So, it will go into B4.</a:t>
          </a:r>
          <a:endParaRPr lang="en-US" sz="1700" kern="1200"/>
        </a:p>
      </dsp:txBody>
      <dsp:txXfrm>
        <a:off x="33012" y="1600279"/>
        <a:ext cx="5939298" cy="610236"/>
      </dsp:txXfrm>
    </dsp:sp>
    <dsp:sp modelId="{294D2952-8BE9-4F83-ACFC-324678A74428}">
      <dsp:nvSpPr>
        <dsp:cNvPr id="0" name=""/>
        <dsp:cNvSpPr/>
      </dsp:nvSpPr>
      <dsp:spPr>
        <a:xfrm>
          <a:off x="0" y="2292487"/>
          <a:ext cx="6005322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Keys 1 and 3 are still in bucket B0. The record B0 is pointed by 000 and 100 entry because last two bits of both the entry are 00.</a:t>
          </a:r>
          <a:endParaRPr lang="en-US" sz="1700" kern="1200" dirty="0"/>
        </a:p>
      </dsp:txBody>
      <dsp:txXfrm>
        <a:off x="33012" y="2325499"/>
        <a:ext cx="5939298" cy="610236"/>
      </dsp:txXfrm>
    </dsp:sp>
    <dsp:sp modelId="{A6C427EC-2A86-4A2F-B651-ED6F4A9D6D46}">
      <dsp:nvSpPr>
        <dsp:cNvPr id="0" name=""/>
        <dsp:cNvSpPr/>
      </dsp:nvSpPr>
      <dsp:spPr>
        <a:xfrm>
          <a:off x="0" y="3017707"/>
          <a:ext cx="6005322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Key 7 is still in bucket B2. The record B2 is pointed by 010 and 110 entry because last two bits of both the entry are 10.</a:t>
          </a:r>
          <a:endParaRPr lang="en-US" sz="1700" kern="1200" dirty="0"/>
        </a:p>
      </dsp:txBody>
      <dsp:txXfrm>
        <a:off x="33012" y="3050719"/>
        <a:ext cx="5939298" cy="610236"/>
      </dsp:txXfrm>
    </dsp:sp>
    <dsp:sp modelId="{04A51EA6-1C5E-4467-9315-32B9B2755971}">
      <dsp:nvSpPr>
        <dsp:cNvPr id="0" name=""/>
        <dsp:cNvSpPr/>
      </dsp:nvSpPr>
      <dsp:spPr>
        <a:xfrm>
          <a:off x="0" y="3742927"/>
          <a:ext cx="6005322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Key 4 and 5 are still in bucket B3. The record B3 is pointed by 111 and 011 entry because last two bits of both the entry are 11.</a:t>
          </a:r>
          <a:endParaRPr lang="en-US" sz="1700" kern="1200" dirty="0"/>
        </a:p>
      </dsp:txBody>
      <dsp:txXfrm>
        <a:off x="33012" y="3775939"/>
        <a:ext cx="5939298" cy="610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297454-EC80-4AD3-B4E7-5C1F95DB1A1A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073708-8D57-4543-B045-139090AC66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387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73708-8D57-4543-B045-139090AC664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041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73708-8D57-4543-B045-139090AC664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78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73708-8D57-4543-B045-139090AC6646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962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DAFB-4457-4F99-AE87-ACD9F2A6EA0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5441-6455-45DB-BEDE-E88B5193F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89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DAFB-4457-4F99-AE87-ACD9F2A6EA0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5441-6455-45DB-BEDE-E88B5193F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49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DAFB-4457-4F99-AE87-ACD9F2A6EA0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5441-6455-45DB-BEDE-E88B5193F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184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DAFB-4457-4F99-AE87-ACD9F2A6EA0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5441-6455-45DB-BEDE-E88B5193F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72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DAFB-4457-4F99-AE87-ACD9F2A6EA0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5441-6455-45DB-BEDE-E88B5193F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30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DAFB-4457-4F99-AE87-ACD9F2A6EA0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5441-6455-45DB-BEDE-E88B5193F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31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DAFB-4457-4F99-AE87-ACD9F2A6EA0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5441-6455-45DB-BEDE-E88B5193F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9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DAFB-4457-4F99-AE87-ACD9F2A6EA0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5441-6455-45DB-BEDE-E88B5193F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217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DAFB-4457-4F99-AE87-ACD9F2A6EA0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5441-6455-45DB-BEDE-E88B5193F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DAFB-4457-4F99-AE87-ACD9F2A6EA0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5441-6455-45DB-BEDE-E88B5193F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05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DAFB-4457-4F99-AE87-ACD9F2A6EA0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45441-6455-45DB-BEDE-E88B5193F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41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6DAFB-4457-4F99-AE87-ACD9F2A6EA0C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45441-6455-45DB-BEDE-E88B5193F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90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A7999-AFE1-405A-A671-BB81E86C9A4D}" type="slidenum">
              <a:rPr lang="en-US" smtClean="0"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42973D-F388-60FB-B94F-78057D1BAA2D}"/>
              </a:ext>
            </a:extLst>
          </p:cNvPr>
          <p:cNvSpPr txBox="1"/>
          <p:nvPr/>
        </p:nvSpPr>
        <p:spPr>
          <a:xfrm>
            <a:off x="467835" y="285373"/>
            <a:ext cx="11270510" cy="6577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Aft>
                <a:spcPts val="800"/>
              </a:spcAf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Syllabus</a:t>
            </a: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 fontAlgn="base">
              <a:spcAft>
                <a:spcPts val="800"/>
              </a:spcAf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Unit 1</a:t>
            </a: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 fontAlgn="base">
              <a:spcAft>
                <a:spcPts val="800"/>
              </a:spcAf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Introduction: Overview of DBMS fundamentals – Overview of Relational Databases and Keys. Relational Data Model: Structure of relational databases – Database schema. Database Design: Overview of the design process - The E-R Models – Constraints - Removing Redundant Attributes in Entity Sets - E-R Diagrams - Reduction to Relational Schemas - Entity Relationship Design Issues - Extended E-R Features – Alternative E-R Notations. </a:t>
            </a: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 fontAlgn="base">
              <a:spcAft>
                <a:spcPts val="800"/>
              </a:spcAft>
            </a:pP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Unit 2</a:t>
            </a: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 fontAlgn="base">
              <a:spcAft>
                <a:spcPts val="800"/>
              </a:spcAf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Relational Database Design: Features of Good Relational Designs - Atomic Domains and 1NF - Decomposition using Functional Dependencies: 2NF, 3NF, BCNF and Higher Normal Forms. Functional Dependency Theory - Algorithm for Decomposition – Decomposition using multi-valued dependency: 4NF and 4NF decomposition. Database design process and its issues. SQL: review of SQL – Intermediate SQL – Advanced SQL.</a:t>
            </a: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 fontAlgn="base">
              <a:spcAft>
                <a:spcPts val="800"/>
              </a:spcAft>
            </a:pP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Unit 3</a:t>
            </a: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 Organization – Indexing and Hashing - Storage Structure 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Transactions: Transaction concepts- ACID Properties – Serializability – Recoverable schedules, Cascade less schedules. Need for Concurrency -Locking Protocols- Deadlock and Recovery. Overview and applications of NoSQL databases – MongoDB, Neo4j/</a:t>
            </a:r>
            <a:r>
              <a:rPr lang="en-US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GraphDB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</a:p>
          <a:p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15000"/>
              </a:lnSpc>
              <a:spcAft>
                <a:spcPts val="800"/>
              </a:spcAf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Textbook(s) 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 fontAlgn="base">
              <a:lnSpc>
                <a:spcPct val="115000"/>
              </a:lnSpc>
              <a:spcAft>
                <a:spcPts val="800"/>
              </a:spcAft>
            </a:pPr>
            <a:r>
              <a:rPr lang="en-US" sz="1800" i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Silberschatz</a:t>
            </a:r>
            <a:r>
              <a:rPr lang="en-US" sz="18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lang="en-US" sz="1800" i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Korth</a:t>
            </a:r>
            <a:r>
              <a:rPr lang="en-US" sz="18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HF, </a:t>
            </a:r>
            <a:r>
              <a:rPr lang="en-US" sz="1800" i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Sudharshan</a:t>
            </a:r>
            <a:r>
              <a:rPr lang="en-US" sz="18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S. “Database System Concepts”. Seventh Edition, TMH publishing company limited; 2019.</a:t>
            </a:r>
            <a:r>
              <a:rPr lang="en-US" sz="1800" b="1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79C6261-BEDD-396F-57FC-22FE31988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2DEA-3148-416A-90CD-D4C3CAAD5B7B}" type="datetime1">
              <a:rPr lang="en-US" smtClean="0"/>
              <a:t>11/12/2025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76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Storage Structure-File Organization</a:t>
            </a:r>
          </a:p>
        </p:txBody>
      </p:sp>
    </p:spTree>
    <p:extLst>
      <p:ext uri="{BB962C8B-B14F-4D97-AF65-F5344CB8AC3E}">
        <p14:creationId xmlns:p14="http://schemas.microsoft.com/office/powerpoint/2010/main" val="1321315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95459" y="276896"/>
            <a:ext cx="9502462" cy="5969357"/>
          </a:xfrm>
        </p:spPr>
        <p:txBody>
          <a:bodyPr>
            <a:normAutofit/>
          </a:bodyPr>
          <a:lstStyle/>
          <a:p>
            <a:r>
              <a:rPr lang="en-US" b="1" dirty="0"/>
              <a:t>1. File Organization</a:t>
            </a:r>
            <a:endParaRPr lang="en-IN" b="1" dirty="0"/>
          </a:p>
          <a:p>
            <a:r>
              <a:rPr lang="en-US" dirty="0"/>
              <a:t>Definition: The way data is stored in files on disk.</a:t>
            </a:r>
            <a:br>
              <a:rPr lang="en-US" dirty="0"/>
            </a:br>
            <a:r>
              <a:rPr lang="en-US" dirty="0"/>
              <a:t>Goal: Efficient retrieval and update of records.</a:t>
            </a:r>
          </a:p>
          <a:p>
            <a:r>
              <a:rPr lang="en-US" dirty="0"/>
              <a:t>TYPES OF FILE ORGANIZATION</a:t>
            </a:r>
          </a:p>
          <a:p>
            <a:endParaRPr lang="en-IN" dirty="0"/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endParaRPr lang="en-IN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1029B9-684B-DD51-1673-563F93A9B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297614"/>
              </p:ext>
            </p:extLst>
          </p:nvPr>
        </p:nvGraphicFramePr>
        <p:xfrm>
          <a:off x="731520" y="2068830"/>
          <a:ext cx="10481310" cy="44830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40580">
                  <a:extLst>
                    <a:ext uri="{9D8B030D-6E8A-4147-A177-3AD203B41FA5}">
                      <a16:colId xmlns:a16="http://schemas.microsoft.com/office/drawing/2014/main" val="2220115825"/>
                    </a:ext>
                  </a:extLst>
                </a:gridCol>
                <a:gridCol w="5840730">
                  <a:extLst>
                    <a:ext uri="{9D8B030D-6E8A-4147-A177-3AD203B41FA5}">
                      <a16:colId xmlns:a16="http://schemas.microsoft.com/office/drawing/2014/main" val="1963873701"/>
                    </a:ext>
                  </a:extLst>
                </a:gridCol>
              </a:tblGrid>
              <a:tr h="3822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Type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Description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4096"/>
                  </a:ext>
                </a:extLst>
              </a:tr>
              <a:tr h="16079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Sequential File Organization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Records are stored in sequential order (based on primary key). Efficient for large sequential processing but inefficient for random access or frequent updates.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1928843"/>
                  </a:ext>
                </a:extLst>
              </a:tr>
              <a:tr h="11994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Heap (Unordered) File Organization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Records stored randomly as they arrive. Fast insertion but slow search (requires scanning).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8427564"/>
                  </a:ext>
                </a:extLst>
              </a:tr>
              <a:tr h="11994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Clustered File Organization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Related records are grouped together in the same block. Improves access for related queries.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342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5603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DFEE4-2CF3-C547-1076-4314CB509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7220"/>
            <a:ext cx="10515600" cy="555974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2. Indexing</a:t>
            </a:r>
            <a:endParaRPr lang="en-IN" b="1" dirty="0"/>
          </a:p>
          <a:p>
            <a:r>
              <a:rPr lang="en-US" dirty="0"/>
              <a:t>Definition: A data structure that improves the speed of data retrieval on a database table.</a:t>
            </a:r>
            <a:br>
              <a:rPr lang="en-US" dirty="0"/>
            </a:br>
            <a:r>
              <a:rPr lang="en-US" dirty="0"/>
              <a:t>Works like a book index: key → location of record.</a:t>
            </a:r>
            <a:endParaRPr lang="en-IN" dirty="0"/>
          </a:p>
          <a:p>
            <a:r>
              <a:rPr lang="en-US" b="1" dirty="0"/>
              <a:t>Types of Indexes</a:t>
            </a:r>
            <a:endParaRPr lang="en-IN" b="1" dirty="0"/>
          </a:p>
          <a:p>
            <a:r>
              <a:rPr lang="en-US" dirty="0"/>
              <a:t>1. Primary Index – Built on the primary key of a file; records are sorted by the key.</a:t>
            </a:r>
            <a:br>
              <a:rPr lang="en-US" dirty="0"/>
            </a:br>
            <a:r>
              <a:rPr lang="en-US" dirty="0"/>
              <a:t>2. Secondary Index – Built on non-primary attributes, providing additional access paths.</a:t>
            </a:r>
            <a:br>
              <a:rPr lang="en-US" dirty="0"/>
            </a:br>
            <a:r>
              <a:rPr lang="en-US" dirty="0"/>
              <a:t>3. Clustering Index – Built on a non-key attribute to group records with the same attribute value.</a:t>
            </a:r>
            <a:endParaRPr lang="en-IN" dirty="0"/>
          </a:p>
          <a:p>
            <a:r>
              <a:rPr lang="en-US" b="1" dirty="0"/>
              <a:t>Multilevel Index</a:t>
            </a:r>
            <a:endParaRPr lang="en-IN" b="1" dirty="0"/>
          </a:p>
          <a:p>
            <a:r>
              <a:rPr lang="en-US" dirty="0"/>
              <a:t>Index of indexes in a tree-like structure, reducing search time logarithmically.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7098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BB996-5775-72D7-5E17-432E0F217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37E25-319C-27CF-94F7-6EC7653CB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14300"/>
            <a:ext cx="11521440" cy="6062663"/>
          </a:xfrm>
        </p:spPr>
        <p:txBody>
          <a:bodyPr>
            <a:noAutofit/>
          </a:bodyPr>
          <a:lstStyle/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B+ Tree Index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tree structure with all records at leaf nodes. Internal nodes store only keys, efficient for range queries.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B+ tree is a self-balancing tree data structure widely used in database management systems (DBMS) for efficient indexing. Its design is optimized for disk-based storage, minimizing disk I/O operations and providing fast access to data. 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417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A665F-E023-0CF6-CE18-76109C272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AFE20-218A-8833-A22B-7AAFCE25B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14300"/>
            <a:ext cx="11521440" cy="6062663"/>
          </a:xfrm>
        </p:spPr>
        <p:txBody>
          <a:bodyPr>
            <a:no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 of B+ Trees: 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data is stored in leaf nodes: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B-trees, internal nodes in a B+ tree only contain key values that act as guides to navigate the tree, not actual data records. The data records (or pointers to them) reside exclusively in the leaf nodes. 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nodes are linked: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leaf nodes are connected sequentially using a linked list. This enables efficient range queries, allowing traversal of the linked list to retrieve data within a specified range without having to traverse the entire tree repeatedly. 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structure: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leaf nodes are at the same level, ensuring that the search time for any record is consistent and logarithmic (𝑂(log𝑛)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fanout: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B+ trees typically have a higher fanout (more children per node) compared to B-trees, leading to shallower trees and fewer disk reads for data retrieval.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928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38D25-1412-1E8C-2E63-4F8E7038E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9A83B5-C622-9BB9-2DB3-993EBD390F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17220"/>
                <a:ext cx="10515600" cy="555974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Consider a B+ tree of order 3 (meaning each node can have a maximum of 3 children and 2 keys).</a:t>
                </a:r>
                <a:endParaRPr lang="en-IN" dirty="0"/>
              </a:p>
              <a:p>
                <a:r>
                  <a:rPr lang="en-IN" dirty="0"/>
                  <a:t>Order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IN" dirty="0"/>
                  <a:t>.</a:t>
                </a:r>
              </a:p>
              <a:p>
                <a:r>
                  <a:rPr lang="en-IN" dirty="0"/>
                  <a:t>  </a:t>
                </a:r>
                <a:r>
                  <a:rPr lang="en-IN" b="1" dirty="0"/>
                  <a:t>Max keys per node</a:t>
                </a:r>
                <a:r>
                  <a:rPr lang="en-IN" dirty="0"/>
                  <a:t> (internal or leaf) =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−1=2</m:t>
                    </m:r>
                  </m:oMath>
                </a14:m>
                <a:r>
                  <a:rPr lang="en-IN" dirty="0"/>
                  <a:t>.</a:t>
                </a:r>
              </a:p>
              <a:p>
                <a:r>
                  <a:rPr lang="en-IN" dirty="0"/>
                  <a:t>  A leaf </a:t>
                </a:r>
                <a:r>
                  <a:rPr lang="en-IN" i="1" dirty="0"/>
                  <a:t>overflows</a:t>
                </a:r>
                <a:r>
                  <a:rPr lang="en-IN" dirty="0"/>
                  <a:t> when it would hold 3 keys → we </a:t>
                </a:r>
                <a:r>
                  <a:rPr lang="en-IN" b="1" dirty="0"/>
                  <a:t>split</a:t>
                </a:r>
                <a:r>
                  <a:rPr lang="en-IN" dirty="0"/>
                  <a:t> into two leaves.</a:t>
                </a:r>
              </a:p>
              <a:p>
                <a:r>
                  <a:rPr lang="en-IN" dirty="0"/>
                  <a:t>For a leaf overflow with 3 keys, we split so </a:t>
                </a:r>
                <a:r>
                  <a:rPr lang="en-IN" b="1" dirty="0"/>
                  <a:t>left leaf gets 2 keys, right leaf gets 1 key</a:t>
                </a:r>
                <a:r>
                  <a:rPr lang="en-IN" dirty="0"/>
                  <a:t> (this is a common convention). The </a:t>
                </a:r>
                <a:r>
                  <a:rPr lang="en-IN" b="1" dirty="0"/>
                  <a:t>first key of the right leaf</a:t>
                </a:r>
                <a:r>
                  <a:rPr lang="en-IN" dirty="0"/>
                  <a:t> is pushed up into the parent (in B+ trees we push a copy of a key into the parent).</a:t>
                </a:r>
              </a:p>
              <a:p>
                <a:r>
                  <a:rPr lang="en-IN" dirty="0"/>
                  <a:t>Internal node can store up to 2 keys. If it gets a 3rd key it will split similarly; the middle key (by convention) moves up.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9A83B5-C622-9BB9-2DB3-993EBD390F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17220"/>
                <a:ext cx="10515600" cy="5559743"/>
              </a:xfrm>
              <a:blipFill>
                <a:blip r:embed="rId2"/>
                <a:stretch>
                  <a:fillRect l="-1043" t="-1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7047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100C9-C6B1-A872-B067-0CBA14410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E27D9-A0CE-0EBB-ABE1-6A51614F2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7220"/>
            <a:ext cx="10515600" cy="555974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Consider a B+ tree of order 3 (meaning each node can have a maximum of 3 children and 2 keys).</a:t>
            </a:r>
            <a:endParaRPr lang="en-IN" dirty="0"/>
          </a:p>
          <a:p>
            <a:r>
              <a:rPr lang="en-IN" dirty="0"/>
              <a:t>Insertion Example:</a:t>
            </a:r>
          </a:p>
          <a:p>
            <a:pPr lvl="0"/>
            <a:r>
              <a:rPr lang="en-IN" b="1" dirty="0"/>
              <a:t>Initial State:</a:t>
            </a:r>
            <a:r>
              <a:rPr lang="en-IN" dirty="0"/>
              <a:t> An empty B+ tree.</a:t>
            </a:r>
          </a:p>
          <a:p>
            <a:pPr lvl="0"/>
            <a:r>
              <a:rPr lang="en-IN" b="1" dirty="0"/>
              <a:t>Insert 10, 20, 30:</a:t>
            </a:r>
            <a:r>
              <a:rPr lang="en-IN" dirty="0"/>
              <a:t> These values are inserted into the first leaf node: [10, 20, 30].</a:t>
            </a:r>
          </a:p>
          <a:p>
            <a:pPr lvl="0"/>
            <a:r>
              <a:rPr lang="en-IN" b="1" dirty="0"/>
              <a:t>Insert 40:</a:t>
            </a:r>
            <a:r>
              <a:rPr lang="en-IN" dirty="0"/>
              <a:t> The leaf node is full. It splits into two leaf nodes: [10, 20] and [30, 40]. The key 30 is promoted to the parent (root) node to act as a separator:</a:t>
            </a:r>
          </a:p>
          <a:p>
            <a:r>
              <a:rPr lang="en-IN" dirty="0"/>
              <a:t>                [30]</a:t>
            </a:r>
          </a:p>
          <a:p>
            <a:r>
              <a:rPr lang="en-IN" dirty="0"/>
              <a:t>               /    \</a:t>
            </a:r>
          </a:p>
          <a:p>
            <a:r>
              <a:rPr lang="en-IN" dirty="0"/>
              <a:t>    [10, 20]  [30, 40]</a:t>
            </a:r>
            <a:br>
              <a:rPr lang="en-IN" dirty="0"/>
            </a:br>
            <a:r>
              <a:rPr lang="en-US" b="1" dirty="0"/>
              <a:t>In B+ Trees, we promote the </a:t>
            </a:r>
            <a:r>
              <a:rPr lang="en-US" b="1" i="1" dirty="0"/>
              <a:t>smallest key of the new right node.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7352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2E77C-C76B-033B-6BD6-D2B5FA8E1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148F0E-BCAC-6116-114F-746F02AAF8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0720" y="2100898"/>
            <a:ext cx="2895600" cy="1266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733F99-7D92-4223-9053-66165BEF22F1}"/>
              </a:ext>
            </a:extLst>
          </p:cNvPr>
          <p:cNvSpPr txBox="1"/>
          <p:nvPr/>
        </p:nvSpPr>
        <p:spPr>
          <a:xfrm>
            <a:off x="922972" y="654686"/>
            <a:ext cx="9306877" cy="702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Insert 50:</a:t>
            </a:r>
            <a:r>
              <a:rPr lang="en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The value 50 is inserted into the leaf node containing [30, 40], resulting in [30, 40, 50].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153272-0E3E-8469-FD05-A6B31BDB3516}"/>
              </a:ext>
            </a:extLst>
          </p:cNvPr>
          <p:cNvSpPr txBox="1"/>
          <p:nvPr/>
        </p:nvSpPr>
        <p:spPr>
          <a:xfrm>
            <a:off x="1071562" y="3883122"/>
            <a:ext cx="10061257" cy="2156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Searching Example: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To search for the value 40 in the above B+ tree: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Start at the root node [30]. Since 40 &gt; 30, navigate to the right child.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Reach the leaf node [30, 40, 50]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Perform a sequential search within this leaf node to find 40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6568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FCC71-0DDB-E58F-AEB5-1C1F63E57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38D66-558F-D290-3FDE-406F4A321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7220"/>
            <a:ext cx="10515600" cy="5559743"/>
          </a:xfrm>
        </p:spPr>
        <p:txBody>
          <a:bodyPr>
            <a:normAutofit/>
          </a:bodyPr>
          <a:lstStyle/>
          <a:p>
            <a:r>
              <a:rPr lang="en-IN" b="1" dirty="0"/>
              <a:t>Example 2</a:t>
            </a:r>
          </a:p>
          <a:p>
            <a:r>
              <a:rPr lang="en-IN" b="1" dirty="0"/>
              <a:t>Step 1: Build base tree (before inserting 30)</a:t>
            </a:r>
            <a:endParaRPr lang="en-IN" dirty="0"/>
          </a:p>
          <a:p>
            <a:r>
              <a:rPr lang="en-IN" dirty="0"/>
              <a:t>Let’s first insert: </a:t>
            </a:r>
            <a:r>
              <a:rPr lang="en-IN" b="1" dirty="0"/>
              <a:t>10, 20, 40, 50, 60</a:t>
            </a:r>
            <a:endParaRPr lang="en-IN" dirty="0"/>
          </a:p>
          <a:p>
            <a:r>
              <a:rPr lang="en-IN" dirty="0"/>
              <a:t>We already know this pattern from earlier examples.</a:t>
            </a:r>
          </a:p>
          <a:p>
            <a:r>
              <a:rPr lang="en-IN" b="1" dirty="0"/>
              <a:t>Insert 10, 20 →</a:t>
            </a:r>
            <a:endParaRPr lang="en-IN" dirty="0"/>
          </a:p>
          <a:p>
            <a:r>
              <a:rPr lang="en-IN" dirty="0"/>
              <a:t>[10, 20]</a:t>
            </a:r>
          </a:p>
          <a:p>
            <a:r>
              <a:rPr lang="en-IN" b="1" dirty="0"/>
              <a:t>Insert 40 →</a:t>
            </a:r>
            <a:r>
              <a:rPr lang="en-IN" dirty="0"/>
              <a:t> overflow → split leaf → promote 40</a:t>
            </a:r>
          </a:p>
          <a:p>
            <a:r>
              <a:rPr lang="en-IN" dirty="0"/>
              <a:t>     [40]</a:t>
            </a:r>
          </a:p>
          <a:p>
            <a:r>
              <a:rPr lang="en-IN" dirty="0"/>
              <a:t>    /   \</a:t>
            </a:r>
          </a:p>
          <a:p>
            <a:r>
              <a:rPr lang="en-IN" dirty="0"/>
              <a:t>[10,20] [40]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6443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C62DE-C62E-A25B-4A7E-95DE27057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B3ABD-EC81-612B-C55E-E6912F6C9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7220"/>
            <a:ext cx="10515600" cy="5559743"/>
          </a:xfrm>
        </p:spPr>
        <p:txBody>
          <a:bodyPr>
            <a:normAutofit/>
          </a:bodyPr>
          <a:lstStyle/>
          <a:p>
            <a:r>
              <a:rPr lang="en-IN" b="1" dirty="0"/>
              <a:t>Insert 50 →</a:t>
            </a:r>
            <a:br>
              <a:rPr lang="en-IN" dirty="0"/>
            </a:br>
            <a:r>
              <a:rPr lang="en-IN" dirty="0"/>
              <a:t>Goes to right leaf [40] → [40, 50]</a:t>
            </a:r>
          </a:p>
          <a:p>
            <a:r>
              <a:rPr lang="en-IN" dirty="0"/>
              <a:t>     [40]</a:t>
            </a:r>
          </a:p>
          <a:p>
            <a:r>
              <a:rPr lang="en-IN" dirty="0"/>
              <a:t>    /   \</a:t>
            </a:r>
          </a:p>
          <a:p>
            <a:r>
              <a:rPr lang="en-IN" dirty="0"/>
              <a:t>[10,20] [40,50]</a:t>
            </a:r>
          </a:p>
          <a:p>
            <a:r>
              <a:rPr lang="en-IN" b="1" dirty="0"/>
              <a:t>Insert 60 →</a:t>
            </a:r>
            <a:br>
              <a:rPr lang="en-IN" dirty="0"/>
            </a:br>
            <a:r>
              <a:rPr lang="en-IN" dirty="0"/>
              <a:t>Right leaf [40,50] → [40,50,60] → overflow → split into [40] and [50,60] → promote 50</a:t>
            </a:r>
          </a:p>
          <a:p>
            <a:r>
              <a:rPr lang="en-IN" dirty="0"/>
              <a:t>      [40, 50]</a:t>
            </a:r>
          </a:p>
          <a:p>
            <a:r>
              <a:rPr lang="en-IN" dirty="0"/>
              <a:t>     /   |    \</a:t>
            </a:r>
          </a:p>
          <a:p>
            <a:r>
              <a:rPr lang="en-IN" dirty="0"/>
              <a:t>[10,20] [40] [50,60]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5120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3C2DB-5EF4-57B1-70E8-BCC3C2F53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C6BA2-070B-8C8C-35DE-A37FBF523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7220"/>
            <a:ext cx="10515600" cy="5559743"/>
          </a:xfrm>
        </p:spPr>
        <p:txBody>
          <a:bodyPr>
            <a:normAutofit/>
          </a:bodyPr>
          <a:lstStyle/>
          <a:p>
            <a:r>
              <a:rPr lang="en-IN" b="1" dirty="0"/>
              <a:t>Step 2: Now insert 30</a:t>
            </a:r>
            <a:endParaRPr lang="en-IN" dirty="0"/>
          </a:p>
          <a:p>
            <a:r>
              <a:rPr lang="en-IN" dirty="0"/>
              <a:t>We start at root [40, 50].</a:t>
            </a:r>
          </a:p>
          <a:p>
            <a:pPr lvl="0"/>
            <a:r>
              <a:rPr lang="en-IN" dirty="0"/>
              <a:t>30 &lt; 40 → go to </a:t>
            </a:r>
            <a:r>
              <a:rPr lang="en-IN" b="1" dirty="0"/>
              <a:t>left child [10,20]</a:t>
            </a:r>
            <a:endParaRPr lang="en-IN" dirty="0"/>
          </a:p>
          <a:p>
            <a:pPr lvl="0"/>
            <a:r>
              <a:rPr lang="en-IN" dirty="0"/>
              <a:t>Insert 30 there → [10,20,30] → overflow!</a:t>
            </a:r>
          </a:p>
          <a:p>
            <a:r>
              <a:rPr lang="en-IN" dirty="0"/>
              <a:t>Now we must split </a:t>
            </a:r>
            <a:r>
              <a:rPr lang="en-IN" b="1" dirty="0"/>
              <a:t>that leaf</a:t>
            </a:r>
            <a:r>
              <a:rPr lang="en-IN" dirty="0"/>
              <a:t>.</a:t>
            </a:r>
          </a:p>
          <a:p>
            <a:r>
              <a:rPr lang="en-IN" b="1" dirty="0"/>
              <a:t>Splitting [10,20,30]:</a:t>
            </a:r>
            <a:endParaRPr lang="en-IN" dirty="0"/>
          </a:p>
          <a:p>
            <a:pPr lvl="0"/>
            <a:r>
              <a:rPr lang="en-IN" dirty="0"/>
              <a:t>Left leaf = [10,20]</a:t>
            </a:r>
          </a:p>
          <a:p>
            <a:pPr lvl="0"/>
            <a:r>
              <a:rPr lang="en-IN" dirty="0"/>
              <a:t>Right leaf = [30]</a:t>
            </a:r>
          </a:p>
          <a:p>
            <a:pPr lvl="0"/>
            <a:r>
              <a:rPr lang="en-IN" dirty="0"/>
              <a:t>Promote the </a:t>
            </a:r>
            <a:r>
              <a:rPr lang="en-IN" b="1" dirty="0"/>
              <a:t>first key of the right leaf (30)</a:t>
            </a:r>
            <a:r>
              <a:rPr lang="en-IN" dirty="0"/>
              <a:t> to parent.</a:t>
            </a:r>
          </a:p>
          <a:p>
            <a:r>
              <a:rPr lang="en-IN" dirty="0"/>
              <a:t>So we </a:t>
            </a:r>
            <a:r>
              <a:rPr lang="en-IN" b="1" dirty="0"/>
              <a:t>insert 30</a:t>
            </a:r>
            <a:r>
              <a:rPr lang="en-IN" dirty="0"/>
              <a:t> into parent (root).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0008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D01C4-54A2-D49B-A281-99B4661B5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02D76-7769-3111-C7BC-D72517546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7220"/>
            <a:ext cx="10515600" cy="5559743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Step 3: Insert promoted key (30) into parent</a:t>
            </a:r>
            <a:endParaRPr lang="en-IN" dirty="0"/>
          </a:p>
          <a:p>
            <a:r>
              <a:rPr lang="en-IN" dirty="0"/>
              <a:t>Root before promotion = [40, 50]</a:t>
            </a:r>
          </a:p>
          <a:p>
            <a:r>
              <a:rPr lang="en-IN" dirty="0"/>
              <a:t>Insert promoted key </a:t>
            </a:r>
            <a:r>
              <a:rPr lang="en-IN" b="1" dirty="0"/>
              <a:t>30</a:t>
            </a:r>
            <a:r>
              <a:rPr lang="en-IN" dirty="0"/>
              <a:t> → [30, 40, 50] → overflow again (3 keys).</a:t>
            </a:r>
            <a:br>
              <a:rPr lang="en-IN" dirty="0"/>
            </a:br>
            <a:r>
              <a:rPr lang="en-IN" dirty="0"/>
              <a:t>We now need to </a:t>
            </a:r>
            <a:r>
              <a:rPr lang="en-IN" b="1" dirty="0"/>
              <a:t>split the root</a:t>
            </a:r>
            <a:r>
              <a:rPr lang="en-IN" dirty="0"/>
              <a:t>.</a:t>
            </a:r>
          </a:p>
          <a:p>
            <a:r>
              <a:rPr lang="en-IN" dirty="0"/>
              <a:t>Split root into:</a:t>
            </a:r>
          </a:p>
          <a:p>
            <a:pPr lvl="0"/>
            <a:r>
              <a:rPr lang="en-IN" dirty="0"/>
              <a:t>Left internal: [30]</a:t>
            </a:r>
          </a:p>
          <a:p>
            <a:pPr lvl="0"/>
            <a:r>
              <a:rPr lang="en-IN" dirty="0"/>
              <a:t>Right internal: [50]</a:t>
            </a:r>
          </a:p>
          <a:p>
            <a:pPr lvl="0"/>
            <a:r>
              <a:rPr lang="en-IN" dirty="0"/>
              <a:t>Middle key (40) becomes </a:t>
            </a:r>
            <a:r>
              <a:rPr lang="en-IN" b="1" dirty="0"/>
              <a:t>new root</a:t>
            </a:r>
            <a:r>
              <a:rPr lang="en-IN" dirty="0"/>
              <a:t>.</a:t>
            </a:r>
          </a:p>
          <a:p>
            <a:r>
              <a:rPr lang="en-IN" b="1" dirty="0"/>
              <a:t>Step 4: Final tree after all splitting</a:t>
            </a:r>
            <a:endParaRPr lang="en-IN" dirty="0"/>
          </a:p>
          <a:p>
            <a:r>
              <a:rPr lang="en-IN" dirty="0"/>
              <a:t>           [40]                  ← new root</a:t>
            </a:r>
          </a:p>
          <a:p>
            <a:r>
              <a:rPr lang="en-IN" dirty="0"/>
              <a:t>          /    \</a:t>
            </a:r>
          </a:p>
          <a:p>
            <a:r>
              <a:rPr lang="en-IN" dirty="0"/>
              <a:t>      [30]      [50]             ← internal nodes</a:t>
            </a:r>
          </a:p>
          <a:p>
            <a:r>
              <a:rPr lang="en-IN" dirty="0"/>
              <a:t>     /   \      /   \</a:t>
            </a:r>
          </a:p>
          <a:p>
            <a:r>
              <a:rPr lang="en-IN" dirty="0"/>
              <a:t>[10,20] [30] [40] [50,60]       ← leaf nodes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0137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BC446-A4FD-A5FF-F70E-0498DC395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507A8-8D95-4FEC-7871-2352ED1B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285750"/>
            <a:ext cx="11692890" cy="6572250"/>
          </a:xfrm>
        </p:spPr>
        <p:txBody>
          <a:bodyPr>
            <a:noAutofit/>
          </a:bodyPr>
          <a:lstStyle/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B+ Trees Are Used in DBMS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Efficient Searching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is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logarithmic time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i.e., O(log n).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systems can find a record by traversing only a few levels.</a:t>
            </a:r>
          </a:p>
          <a:p>
            <a:pPr marL="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Balanced Structure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remains balanced after insertions and deletions.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consistent performance for all operations.</a:t>
            </a:r>
          </a:p>
          <a:p>
            <a:pPr marL="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Minimized Disk I/O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node corresponds to a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block (page)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fan-out (branching factor)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tree height, hence fewer disk reads.</a:t>
            </a:r>
          </a:p>
          <a:p>
            <a:pPr marL="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Supports Range Queries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leaf nodes are linked, range queries like WHERE age BETWEEN 20 AND 40 can be executed efficiently by scanning linked leaves.</a:t>
            </a:r>
          </a:p>
          <a:p>
            <a:pPr marL="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Used for Both Primary and Secondary Indexing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index: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key field is unique (e.g.,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EmployeeID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index: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indexing non-key attributes.</a:t>
            </a:r>
          </a:p>
        </p:txBody>
      </p:sp>
    </p:spTree>
    <p:extLst>
      <p:ext uri="{BB962C8B-B14F-4D97-AF65-F5344CB8AC3E}">
        <p14:creationId xmlns:p14="http://schemas.microsoft.com/office/powerpoint/2010/main" val="2709927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742CF7-25F1-D75E-F4FB-59BF9B067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3151E8-FCFB-8868-3A69-23E6839C1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81" y="417576"/>
            <a:ext cx="10909640" cy="124939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66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Use in DBMS</a:t>
            </a:r>
            <a:endParaRPr kumimoji="0" lang="en-US" altLang="en-US" sz="66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60467BF0-CA86-9F6C-3B3F-27B06CF848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3824269"/>
              </p:ext>
            </p:extLst>
          </p:nvPr>
        </p:nvGraphicFramePr>
        <p:xfrm>
          <a:off x="320040" y="2646848"/>
          <a:ext cx="11548873" cy="3559604"/>
        </p:xfrm>
        <a:graphic>
          <a:graphicData uri="http://schemas.openxmlformats.org/drawingml/2006/table">
            <a:tbl>
              <a:tblPr firstRow="1" firstCol="1" bandRow="1">
                <a:solidFill>
                  <a:schemeClr val="tx1">
                    <a:lumMod val="75000"/>
                    <a:lumOff val="25000"/>
                  </a:schemeClr>
                </a:solidFill>
                <a:tableStyleId>{5C22544A-7EE6-4342-B048-85BDC9FD1C3A}</a:tableStyleId>
              </a:tblPr>
              <a:tblGrid>
                <a:gridCol w="3956335">
                  <a:extLst>
                    <a:ext uri="{9D8B030D-6E8A-4147-A177-3AD203B41FA5}">
                      <a16:colId xmlns:a16="http://schemas.microsoft.com/office/drawing/2014/main" val="3057946555"/>
                    </a:ext>
                  </a:extLst>
                </a:gridCol>
                <a:gridCol w="7592538">
                  <a:extLst>
                    <a:ext uri="{9D8B030D-6E8A-4147-A177-3AD203B41FA5}">
                      <a16:colId xmlns:a16="http://schemas.microsoft.com/office/drawing/2014/main" val="2162282574"/>
                    </a:ext>
                  </a:extLst>
                </a:gridCol>
              </a:tblGrid>
              <a:tr h="6410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 b="0" cap="none" spc="0">
                          <a:solidFill>
                            <a:schemeClr val="bg1"/>
                          </a:solidFill>
                          <a:effectLst/>
                        </a:rPr>
                        <a:t>DBMS Function</a:t>
                      </a:r>
                      <a:endParaRPr lang="en-IN" sz="2000" b="0" cap="none" spc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71657" marR="13755" marT="132044" marB="13204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 b="0" cap="none" spc="0">
                          <a:solidFill>
                            <a:schemeClr val="bg1"/>
                          </a:solidFill>
                          <a:effectLst/>
                        </a:rPr>
                        <a:t>Role of B+ Tree</a:t>
                      </a:r>
                      <a:endParaRPr lang="en-IN" sz="2000" b="0" cap="none" spc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71657" marR="13755" marT="132044" marB="13204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846876"/>
                  </a:ext>
                </a:extLst>
              </a:tr>
              <a:tr h="9953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 cap="none" spc="0">
                          <a:solidFill>
                            <a:schemeClr val="bg1"/>
                          </a:solidFill>
                          <a:effectLst/>
                        </a:rPr>
                        <a:t>Indexing</a:t>
                      </a:r>
                      <a:endParaRPr lang="en-IN" sz="2000" cap="none" spc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71657" marR="13755" marT="132044" marB="13204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 cap="none" spc="0">
                          <a:solidFill>
                            <a:schemeClr val="bg1"/>
                          </a:solidFill>
                          <a:effectLst/>
                        </a:rPr>
                        <a:t>Most common index structure (used in MySQL, Oracle, PostgreSQL)</a:t>
                      </a:r>
                      <a:endParaRPr lang="en-IN" sz="2000" cap="none" spc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71657" marR="13755" marT="132044" marB="132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783148"/>
                  </a:ext>
                </a:extLst>
              </a:tr>
              <a:tr h="6410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 cap="none" spc="0">
                          <a:solidFill>
                            <a:schemeClr val="bg1"/>
                          </a:solidFill>
                          <a:effectLst/>
                        </a:rPr>
                        <a:t>Clustering</a:t>
                      </a:r>
                      <a:endParaRPr lang="en-IN" sz="2000" cap="none" spc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71657" marR="13755" marT="132044" marB="132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 cap="none" spc="0">
                          <a:solidFill>
                            <a:schemeClr val="bg1"/>
                          </a:solidFill>
                          <a:effectLst/>
                        </a:rPr>
                        <a:t>Leaf nodes store actual record pointers (clustered index)</a:t>
                      </a:r>
                      <a:endParaRPr lang="en-IN" sz="2000" cap="none" spc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71657" marR="13755" marT="132044" marB="132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07844"/>
                  </a:ext>
                </a:extLst>
              </a:tr>
              <a:tr h="6410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 cap="none" spc="0">
                          <a:solidFill>
                            <a:schemeClr val="bg1"/>
                          </a:solidFill>
                          <a:effectLst/>
                        </a:rPr>
                        <a:t>Query Optimization</a:t>
                      </a:r>
                      <a:endParaRPr lang="en-IN" sz="2000" cap="none" spc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71657" marR="13755" marT="132044" marB="13204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 cap="none" spc="0">
                          <a:solidFill>
                            <a:schemeClr val="bg1"/>
                          </a:solidFill>
                          <a:effectLst/>
                        </a:rPr>
                        <a:t>Reduces need for full table scans</a:t>
                      </a:r>
                      <a:endParaRPr lang="en-IN" sz="2000" cap="none" spc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71657" marR="13755" marT="132044" marB="132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108784"/>
                  </a:ext>
                </a:extLst>
              </a:tr>
              <a:tr h="6410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 cap="none" spc="0">
                          <a:solidFill>
                            <a:schemeClr val="bg1"/>
                          </a:solidFill>
                          <a:effectLst/>
                        </a:rPr>
                        <a:t>File System</a:t>
                      </a:r>
                      <a:endParaRPr lang="en-IN" sz="2000" cap="none" spc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71657" marR="13755" marT="132044" marB="132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 cap="none" spc="0">
                          <a:solidFill>
                            <a:schemeClr val="bg1"/>
                          </a:solidFill>
                          <a:effectLst/>
                        </a:rPr>
                        <a:t>Used in NTFS, HFS+, and other file systems</a:t>
                      </a:r>
                      <a:endParaRPr lang="en-IN" sz="2000" cap="none" spc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71657" marR="13755" marT="132044" marB="132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791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0332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E9084-CF4B-FBDB-BF1A-F29968EEC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07CB1-DB1E-0B07-8248-4992614AB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7220"/>
            <a:ext cx="10515600" cy="5559743"/>
          </a:xfrm>
        </p:spPr>
        <p:txBody>
          <a:bodyPr>
            <a:normAutofit/>
          </a:bodyPr>
          <a:lstStyle/>
          <a:p>
            <a:r>
              <a:rPr lang="en-IN" b="1" dirty="0"/>
              <a:t>Example in SQL</a:t>
            </a:r>
            <a:endParaRPr lang="en-IN" dirty="0"/>
          </a:p>
          <a:p>
            <a:r>
              <a:rPr lang="en-IN" dirty="0"/>
              <a:t>When you create an index:</a:t>
            </a:r>
          </a:p>
          <a:p>
            <a:r>
              <a:rPr lang="en-IN" dirty="0"/>
              <a:t>CREATE INDEX </a:t>
            </a:r>
            <a:r>
              <a:rPr lang="en-IN" dirty="0" err="1"/>
              <a:t>idx_salary</a:t>
            </a:r>
            <a:r>
              <a:rPr lang="en-IN" dirty="0"/>
              <a:t> ON employees(salary);</a:t>
            </a:r>
          </a:p>
          <a:p>
            <a:r>
              <a:rPr lang="en-IN" dirty="0"/>
              <a:t>➡ The DBMS internally creates a </a:t>
            </a:r>
            <a:r>
              <a:rPr lang="en-IN" b="1" dirty="0"/>
              <a:t>B+ Tree</a:t>
            </a:r>
            <a:r>
              <a:rPr lang="en-IN" dirty="0"/>
              <a:t> structure on the salary column.</a:t>
            </a:r>
            <a:br>
              <a:rPr lang="en-IN" dirty="0"/>
            </a:br>
            <a:r>
              <a:rPr lang="en-IN" dirty="0"/>
              <a:t>This index helps speed up queries like:</a:t>
            </a:r>
          </a:p>
          <a:p>
            <a:r>
              <a:rPr lang="en-IN" dirty="0"/>
              <a:t>SELECT * FROM employees WHERE salary BETWEEN 50000 AND 80000;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2065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36787-749B-ACE6-95D1-C04488753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DFCF19-3E35-3C7B-1DC0-85F6619287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82930"/>
                <a:ext cx="10515600" cy="593217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3200" b="1" dirty="0"/>
                  <a:t>HASHING</a:t>
                </a:r>
              </a:p>
              <a:p>
                <a:r>
                  <a:rPr lang="en-IN" sz="2400" b="1" dirty="0"/>
                  <a:t>What is Hashing in DBMS?</a:t>
                </a:r>
                <a:endParaRPr lang="en-IN" sz="2400" dirty="0"/>
              </a:p>
              <a:p>
                <a:r>
                  <a:rPr lang="en-IN" sz="2400" b="1" dirty="0"/>
                  <a:t>Hashing</a:t>
                </a:r>
                <a:r>
                  <a:rPr lang="en-IN" sz="2400" dirty="0"/>
                  <a:t> is a technique used in </a:t>
                </a:r>
                <a:r>
                  <a:rPr lang="en-IN" sz="2400" b="1" dirty="0"/>
                  <a:t>database systems</a:t>
                </a:r>
                <a:r>
                  <a:rPr lang="en-IN" sz="2400" dirty="0"/>
                  <a:t> to perform </a:t>
                </a:r>
                <a:r>
                  <a:rPr lang="en-IN" sz="2400" b="1" dirty="0"/>
                  <a:t>fast data retrieval</a:t>
                </a:r>
                <a:r>
                  <a:rPr lang="en-IN" sz="2400" dirty="0"/>
                  <a:t> based on a </a:t>
                </a:r>
                <a:r>
                  <a:rPr lang="en-IN" sz="2400" b="1" dirty="0"/>
                  <a:t>search key</a:t>
                </a:r>
                <a:r>
                  <a:rPr lang="en-IN" sz="2400" dirty="0"/>
                  <a:t>.</a:t>
                </a:r>
              </a:p>
              <a:p>
                <a:r>
                  <a:rPr lang="en-IN" sz="2400" dirty="0"/>
                  <a:t>It works by applying a </a:t>
                </a:r>
                <a:r>
                  <a:rPr lang="en-IN" sz="2400" b="1" dirty="0"/>
                  <a:t>hash function</a:t>
                </a:r>
                <a:r>
                  <a:rPr lang="en-IN" sz="2400" dirty="0"/>
                  <a:t> to a key field (e.g., </a:t>
                </a:r>
                <a:r>
                  <a:rPr lang="en-IN" sz="2400" dirty="0" err="1"/>
                  <a:t>RollNo</a:t>
                </a:r>
                <a:r>
                  <a:rPr lang="en-IN" sz="2400" dirty="0"/>
                  <a:t>, </a:t>
                </a:r>
                <a:r>
                  <a:rPr lang="en-IN" sz="2400" dirty="0" err="1"/>
                  <a:t>EmployeeID</a:t>
                </a:r>
                <a:r>
                  <a:rPr lang="en-IN" sz="2400" dirty="0"/>
                  <a:t>) to compute the </a:t>
                </a:r>
                <a:r>
                  <a:rPr lang="en-IN" sz="2400" b="1" dirty="0"/>
                  <a:t>address (location)</a:t>
                </a:r>
                <a:r>
                  <a:rPr lang="en-IN" sz="2400" dirty="0"/>
                  <a:t> of the data record in memory or on disk.</a:t>
                </a:r>
              </a:p>
              <a:p>
                <a:r>
                  <a:rPr lang="en-IN" sz="2400" b="1" dirty="0"/>
                  <a:t>Basic Idea</a:t>
                </a:r>
                <a:endParaRPr lang="en-IN" sz="2400" dirty="0"/>
              </a:p>
              <a:p>
                <a:r>
                  <a:rPr lang="en-IN" sz="2400" dirty="0"/>
                  <a:t>➡️ Instead of searching sequentially or using a tree structure, we compute: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/>
                      <m:t>Address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/>
                      <m:t>Key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IN" sz="2400" i="1" dirty="0"/>
                </a:br>
                <a:r>
                  <a:rPr lang="en-IN" sz="2400" dirty="0"/>
                  <a:t>where</a:t>
                </a:r>
                <a:br>
                  <a:rPr lang="en-IN" sz="2400" dirty="0"/>
                </a:br>
                <a:r>
                  <a:rPr lang="en-IN" sz="2400" dirty="0"/>
                  <a:t>h() = </a:t>
                </a:r>
                <a:r>
                  <a:rPr lang="en-IN" sz="2400" b="1" dirty="0"/>
                  <a:t>hash function</a:t>
                </a:r>
                <a:r>
                  <a:rPr lang="en-IN" sz="2400" dirty="0"/>
                  <a:t>,</a:t>
                </a:r>
                <a:br>
                  <a:rPr lang="en-IN" sz="2400" dirty="0"/>
                </a:br>
                <a:r>
                  <a:rPr lang="en-IN" sz="2400" dirty="0"/>
                  <a:t>Key = value of the search field.</a:t>
                </a:r>
              </a:p>
              <a:p>
                <a:r>
                  <a:rPr lang="en-IN" sz="2400" dirty="0"/>
                  <a:t>The </a:t>
                </a:r>
                <a:r>
                  <a:rPr lang="en-IN" sz="2400" b="1" dirty="0"/>
                  <a:t>hash function</a:t>
                </a:r>
                <a:r>
                  <a:rPr lang="en-IN" sz="2400" dirty="0"/>
                  <a:t> converts the key into a </a:t>
                </a:r>
                <a:r>
                  <a:rPr lang="en-IN" sz="2400" b="1" dirty="0"/>
                  <a:t>bucket number (address)</a:t>
                </a:r>
                <a:r>
                  <a:rPr lang="en-IN" sz="2400" dirty="0"/>
                  <a:t> where the record is stored.</a:t>
                </a:r>
              </a:p>
              <a:p>
                <a:pPr marL="0" indent="0">
                  <a:buNone/>
                </a:pPr>
                <a:br>
                  <a:rPr lang="en-IN" sz="2400" dirty="0"/>
                </a:br>
                <a:endParaRPr lang="en-IN" sz="2400" dirty="0"/>
              </a:p>
              <a:p>
                <a:pPr marL="0" indent="0">
                  <a:buNone/>
                </a:pPr>
                <a:br>
                  <a:rPr lang="en-IN" sz="2400" dirty="0"/>
                </a:br>
                <a:endParaRPr lang="en-IN" sz="2400" dirty="0"/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DFCF19-3E35-3C7B-1DC0-85F6619287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82930"/>
                <a:ext cx="10515600" cy="5932170"/>
              </a:xfrm>
              <a:blipFill>
                <a:blip r:embed="rId2"/>
                <a:stretch>
                  <a:fillRect l="-1507" t="-21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3705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59E68-4896-E160-797C-A8ED9D6F6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ECB2F649-5A30-D379-B3B7-4857999F3F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655757"/>
              </p:ext>
            </p:extLst>
          </p:nvPr>
        </p:nvGraphicFramePr>
        <p:xfrm>
          <a:off x="746760" y="1896491"/>
          <a:ext cx="10515600" cy="30514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13710">
                  <a:extLst>
                    <a:ext uri="{9D8B030D-6E8A-4147-A177-3AD203B41FA5}">
                      <a16:colId xmlns:a16="http://schemas.microsoft.com/office/drawing/2014/main" val="482868499"/>
                    </a:ext>
                  </a:extLst>
                </a:gridCol>
                <a:gridCol w="7501890">
                  <a:extLst>
                    <a:ext uri="{9D8B030D-6E8A-4147-A177-3AD203B41FA5}">
                      <a16:colId xmlns:a16="http://schemas.microsoft.com/office/drawing/2014/main" val="29138719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dirty="0">
                          <a:effectLst/>
                        </a:rPr>
                        <a:t>Term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dirty="0">
                          <a:effectLst/>
                        </a:rPr>
                        <a:t>Meaning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42769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dirty="0">
                          <a:effectLst/>
                        </a:rPr>
                        <a:t>Hash function (h)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dirty="0">
                          <a:effectLst/>
                        </a:rPr>
                        <a:t>Function that maps a key to a hash value or bucket number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58485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dirty="0">
                          <a:effectLst/>
                        </a:rPr>
                        <a:t>Bucket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dirty="0">
                          <a:effectLst/>
                        </a:rPr>
                        <a:t>A storage unit (block) that holds one or more records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93930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dirty="0">
                          <a:effectLst/>
                        </a:rPr>
                        <a:t>Slot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dirty="0">
                          <a:effectLst/>
                        </a:rPr>
                        <a:t>Space for a single record inside a bucket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19070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dirty="0">
                          <a:effectLst/>
                        </a:rPr>
                        <a:t>Collision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dirty="0">
                          <a:effectLst/>
                        </a:rPr>
                        <a:t>When two keys hash to the same bucket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16371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dirty="0">
                          <a:effectLst/>
                        </a:rPr>
                        <a:t>Overflow area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dirty="0">
                          <a:effectLst/>
                        </a:rPr>
                        <a:t>Extra storage for records that cause collisions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34650224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34E3EC99-32AF-9E46-DD05-F89426E44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666424"/>
            <a:ext cx="44462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Terminology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377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81C65-F62C-23B9-9D6E-062E4E9BA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B8C5DE-040C-5396-9400-84B11CF4E9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17220"/>
                <a:ext cx="10515600" cy="5559743"/>
              </a:xfrm>
            </p:spPr>
            <p:txBody>
              <a:bodyPr>
                <a:normAutofit/>
              </a:bodyPr>
              <a:lstStyle/>
              <a:p>
                <a:r>
                  <a:rPr lang="en-IN" b="1" dirty="0"/>
                  <a:t>Example</a:t>
                </a:r>
                <a:endParaRPr lang="en-IN" dirty="0"/>
              </a:p>
              <a:p>
                <a:r>
                  <a:rPr lang="en-IN" dirty="0"/>
                  <a:t>Suppose we have 10 buckets (0–9) and the hash function is: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/>
                          <m:t>RollNo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/>
                      <m:t>RollNo</m:t>
                    </m:r>
                    <m:r>
                      <m:rPr>
                        <m:nor/>
                      </m:rPr>
                      <a:rPr lang="en-IN"/>
                      <m:t> 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m:rPr>
                        <m:nor/>
                      </m:rPr>
                      <a:rPr lang="en-IN"/>
                      <m:t> 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IN" b="1" dirty="0"/>
                  <a:t>Collision</a:t>
                </a:r>
                <a:r>
                  <a:rPr lang="en-IN" dirty="0"/>
                  <a:t> occurs when multiple records (32, 42) go to the same bucket.</a:t>
                </a:r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B8C5DE-040C-5396-9400-84B11CF4E9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17220"/>
                <a:ext cx="10515600" cy="5559743"/>
              </a:xfrm>
              <a:blipFill>
                <a:blip r:embed="rId2"/>
                <a:stretch>
                  <a:fillRect l="-1043" t="-1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5B7DC7-7619-8995-6151-415BC38FB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904261"/>
              </p:ext>
            </p:extLst>
          </p:nvPr>
        </p:nvGraphicFramePr>
        <p:xfrm>
          <a:off x="1223010" y="2335371"/>
          <a:ext cx="9742170" cy="2062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74570">
                  <a:extLst>
                    <a:ext uri="{9D8B030D-6E8A-4147-A177-3AD203B41FA5}">
                      <a16:colId xmlns:a16="http://schemas.microsoft.com/office/drawing/2014/main" val="3146344412"/>
                    </a:ext>
                  </a:extLst>
                </a:gridCol>
                <a:gridCol w="2548890">
                  <a:extLst>
                    <a:ext uri="{9D8B030D-6E8A-4147-A177-3AD203B41FA5}">
                      <a16:colId xmlns:a16="http://schemas.microsoft.com/office/drawing/2014/main" val="495568126"/>
                    </a:ext>
                  </a:extLst>
                </a:gridCol>
                <a:gridCol w="4918710">
                  <a:extLst>
                    <a:ext uri="{9D8B030D-6E8A-4147-A177-3AD203B41FA5}">
                      <a16:colId xmlns:a16="http://schemas.microsoft.com/office/drawing/2014/main" val="26543876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RollNo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dirty="0">
                          <a:effectLst/>
                        </a:rPr>
                        <a:t>h(</a:t>
                      </a:r>
                      <a:r>
                        <a:rPr lang="en-IN" sz="2400" dirty="0" err="1">
                          <a:effectLst/>
                        </a:rPr>
                        <a:t>RollNo</a:t>
                      </a:r>
                      <a:r>
                        <a:rPr lang="en-IN" sz="2400" dirty="0">
                          <a:effectLst/>
                        </a:rPr>
                        <a:t>)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Stored in Bucket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12845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25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5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5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04470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32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2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2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17389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42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2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2 (Collision with RollNo 32!)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9743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58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dirty="0">
                          <a:effectLst/>
                        </a:rPr>
                        <a:t>8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dirty="0">
                          <a:effectLst/>
                        </a:rPr>
                        <a:t>8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50225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6359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4E3DA-C8A7-B9F0-E081-75C4F3BB4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1B68D-D1E1-EEAE-D00B-AC031B5E0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7220"/>
            <a:ext cx="10515600" cy="5559743"/>
          </a:xfrm>
        </p:spPr>
        <p:txBody>
          <a:bodyPr>
            <a:normAutofit/>
          </a:bodyPr>
          <a:lstStyle/>
          <a:p>
            <a:r>
              <a:rPr lang="en-IN" b="1" dirty="0"/>
              <a:t>Handling Collisions</a:t>
            </a:r>
            <a:endParaRPr lang="en-IN" dirty="0"/>
          </a:p>
          <a:p>
            <a:r>
              <a:rPr lang="en-IN" b="1" dirty="0"/>
              <a:t>1. Open Hashing (Separate Chaining)</a:t>
            </a:r>
            <a:endParaRPr lang="en-IN" dirty="0"/>
          </a:p>
          <a:p>
            <a:pPr lvl="0"/>
            <a:r>
              <a:rPr lang="en-IN" dirty="0"/>
              <a:t>Each bucket has a </a:t>
            </a:r>
            <a:r>
              <a:rPr lang="en-IN" b="1" dirty="0"/>
              <a:t>linked list</a:t>
            </a:r>
            <a:r>
              <a:rPr lang="en-IN" dirty="0"/>
              <a:t> of records with the same hash value.</a:t>
            </a:r>
          </a:p>
          <a:p>
            <a:pPr lvl="0"/>
            <a:r>
              <a:rPr lang="en-IN" dirty="0"/>
              <a:t>When a collision occurs, the new record is added to the list.</a:t>
            </a:r>
          </a:p>
          <a:p>
            <a:r>
              <a:rPr lang="en-IN" dirty="0"/>
              <a:t>Bucket 2 → [32] → [42] → [52]</a:t>
            </a:r>
          </a:p>
          <a:p>
            <a:r>
              <a:rPr lang="en-IN" b="1" dirty="0"/>
              <a:t>2. Closed Hashing (Open Addressing)</a:t>
            </a:r>
            <a:endParaRPr lang="en-IN" dirty="0"/>
          </a:p>
          <a:p>
            <a:r>
              <a:rPr lang="en-IN" dirty="0"/>
              <a:t>If the target bucket is full, probe the next bucket using</a:t>
            </a:r>
          </a:p>
          <a:p>
            <a:pPr lvl="1"/>
            <a:r>
              <a:rPr lang="en-IN" b="1" dirty="0"/>
              <a:t>Linear probing:</a:t>
            </a:r>
            <a:r>
              <a:rPr lang="en-IN" dirty="0"/>
              <a:t> next bucket (h(key) + 1) mod n</a:t>
            </a:r>
          </a:p>
          <a:p>
            <a:pPr lvl="1"/>
            <a:r>
              <a:rPr lang="en-IN" b="1" dirty="0"/>
              <a:t>Quadratic probing:</a:t>
            </a:r>
            <a:r>
              <a:rPr lang="en-IN" dirty="0"/>
              <a:t> (h(key) + i²) mod n</a:t>
            </a:r>
          </a:p>
          <a:p>
            <a:pPr lvl="1"/>
            <a:r>
              <a:rPr lang="en-IN" b="1" dirty="0"/>
              <a:t>Double hashing:</a:t>
            </a:r>
            <a:r>
              <a:rPr lang="en-IN" dirty="0"/>
              <a:t> use a second hash function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373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9F38E-21AA-10A6-E071-C4CA209E6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A2EFB-A0B4-DDD9-6DBB-62F5C324C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7220"/>
            <a:ext cx="10515600" cy="5559743"/>
          </a:xfrm>
        </p:spPr>
        <p:txBody>
          <a:bodyPr>
            <a:normAutofit/>
          </a:bodyPr>
          <a:lstStyle/>
          <a:p>
            <a:r>
              <a:rPr lang="en-IN" b="1" dirty="0"/>
              <a:t>Types of Hashing in DBMS</a:t>
            </a:r>
          </a:p>
          <a:p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69B851-7BEA-91A2-FBFF-8726520CE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969583"/>
              </p:ext>
            </p:extLst>
          </p:nvPr>
        </p:nvGraphicFramePr>
        <p:xfrm>
          <a:off x="838200" y="1942941"/>
          <a:ext cx="10515600" cy="20789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70860">
                  <a:extLst>
                    <a:ext uri="{9D8B030D-6E8A-4147-A177-3AD203B41FA5}">
                      <a16:colId xmlns:a16="http://schemas.microsoft.com/office/drawing/2014/main" val="1356478286"/>
                    </a:ext>
                  </a:extLst>
                </a:gridCol>
                <a:gridCol w="7444740">
                  <a:extLst>
                    <a:ext uri="{9D8B030D-6E8A-4147-A177-3AD203B41FA5}">
                      <a16:colId xmlns:a16="http://schemas.microsoft.com/office/drawing/2014/main" val="2449022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Type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Description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5653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Static Hashing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Number of buckets is fixed. Collisions handled via overflow area.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0757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Dynamic Hashing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dirty="0">
                          <a:effectLst/>
                        </a:rPr>
                        <a:t>Number of buckets can grow or shrink as database grows. Examples: Extendible Hashing, Linear Hashing.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83008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41662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CC72D-E1CF-FB43-6CF9-FB36D187C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0BA41-52FF-174B-7592-F70123578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7220"/>
            <a:ext cx="10515600" cy="5559743"/>
          </a:xfrm>
        </p:spPr>
        <p:txBody>
          <a:bodyPr>
            <a:normAutofit/>
          </a:bodyPr>
          <a:lstStyle/>
          <a:p>
            <a:r>
              <a:rPr lang="en-IN" b="1" dirty="0"/>
              <a:t>Static Hashing</a:t>
            </a:r>
            <a:endParaRPr lang="en-IN" dirty="0"/>
          </a:p>
          <a:p>
            <a:pPr lvl="0"/>
            <a:r>
              <a:rPr lang="en-IN" dirty="0"/>
              <a:t>The hash function and bucket count remain constant.</a:t>
            </a:r>
          </a:p>
          <a:p>
            <a:pPr lvl="0"/>
            <a:r>
              <a:rPr lang="en-IN" dirty="0"/>
              <a:t>Overflow occurs when too many records map to the same bucket.</a:t>
            </a:r>
          </a:p>
          <a:p>
            <a:pPr lvl="0"/>
            <a:r>
              <a:rPr lang="en-IN" dirty="0"/>
              <a:t>Suitable for small, stable datasets.</a:t>
            </a:r>
          </a:p>
          <a:p>
            <a:r>
              <a:rPr lang="en-IN" b="1" dirty="0"/>
              <a:t>Problems:</a:t>
            </a:r>
            <a:endParaRPr lang="en-IN" dirty="0"/>
          </a:p>
          <a:p>
            <a:pPr lvl="0"/>
            <a:r>
              <a:rPr lang="en-IN" dirty="0"/>
              <a:t>Performance drops as data grows.</a:t>
            </a:r>
          </a:p>
          <a:p>
            <a:pPr lvl="0"/>
            <a:r>
              <a:rPr lang="en-IN" dirty="0"/>
              <a:t>Buckets overflow frequently.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98292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845C4-DA88-49C2-A3CC-C09A430C9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FD832-5016-104E-71DD-9ECCD5519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7220"/>
            <a:ext cx="10515600" cy="5559743"/>
          </a:xfrm>
        </p:spPr>
        <p:txBody>
          <a:bodyPr>
            <a:normAutofit/>
          </a:bodyPr>
          <a:lstStyle/>
          <a:p>
            <a:r>
              <a:rPr lang="en-IN" b="1" dirty="0"/>
              <a:t>Dynamic Hashing</a:t>
            </a:r>
            <a:endParaRPr lang="en-IN" dirty="0"/>
          </a:p>
          <a:p>
            <a:r>
              <a:rPr lang="en-IN" dirty="0"/>
              <a:t>Used in modern DBMS to handle growing data efficiently.</a:t>
            </a:r>
          </a:p>
          <a:p>
            <a:r>
              <a:rPr lang="en-IN" b="1" dirty="0"/>
              <a:t>➤ Extendible Hashing</a:t>
            </a:r>
            <a:endParaRPr lang="en-IN" dirty="0"/>
          </a:p>
          <a:p>
            <a:pPr lvl="0"/>
            <a:r>
              <a:rPr lang="en-IN" dirty="0"/>
              <a:t>Uses a </a:t>
            </a:r>
            <a:r>
              <a:rPr lang="en-IN" b="1" dirty="0"/>
              <a:t>directory</a:t>
            </a:r>
            <a:r>
              <a:rPr lang="en-IN" dirty="0"/>
              <a:t> of pointers to buckets.</a:t>
            </a:r>
          </a:p>
          <a:p>
            <a:pPr lvl="0"/>
            <a:r>
              <a:rPr lang="en-IN" dirty="0"/>
              <a:t>Directory size doubles when buckets overflow.</a:t>
            </a:r>
          </a:p>
          <a:p>
            <a:pPr lvl="0"/>
            <a:r>
              <a:rPr lang="en-IN" dirty="0"/>
              <a:t>Hash values are represented in </a:t>
            </a:r>
            <a:r>
              <a:rPr lang="en-IN" b="1" dirty="0"/>
              <a:t>binary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98947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467FE-BA02-1E77-608F-4C1354A5F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7250"/>
            <a:ext cx="10515600" cy="5806440"/>
          </a:xfrm>
        </p:spPr>
        <p:txBody>
          <a:bodyPr/>
          <a:lstStyle/>
          <a:p>
            <a:r>
              <a:rPr lang="en-IN" sz="2000" dirty="0"/>
              <a:t>Consider the following table which contain key into bucket based on their hash address prefix.     In the above table, the last two bits of 1 and 3 are 00. So, it will go into bucket B0. The last two bits of 2 and 6 are 01. So, it will go into bucket B1. The last bit of 7 is 10. So, it will go into bucket B2. The last two bits of 4 and 5 are 11. So, they will go into B3.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AA5A0B-38E8-AE62-A09F-7727A3DF4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764059"/>
              </p:ext>
            </p:extLst>
          </p:nvPr>
        </p:nvGraphicFramePr>
        <p:xfrm>
          <a:off x="1809750" y="2031524"/>
          <a:ext cx="2613660" cy="4418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6786">
                  <a:extLst>
                    <a:ext uri="{9D8B030D-6E8A-4147-A177-3AD203B41FA5}">
                      <a16:colId xmlns:a16="http://schemas.microsoft.com/office/drawing/2014/main" val="3376989925"/>
                    </a:ext>
                  </a:extLst>
                </a:gridCol>
                <a:gridCol w="1716874">
                  <a:extLst>
                    <a:ext uri="{9D8B030D-6E8A-4147-A177-3AD203B41FA5}">
                      <a16:colId xmlns:a16="http://schemas.microsoft.com/office/drawing/2014/main" val="27118454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Key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100" marR="38100" marT="95250" marB="952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Hash Address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extLst>
                  <a:ext uri="{0D108BD9-81ED-4DB2-BD59-A6C34878D82A}">
                    <a16:rowId xmlns:a16="http://schemas.microsoft.com/office/drawing/2014/main" val="1303054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10000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2964128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10101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801365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3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11000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712222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4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10011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2299141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5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11011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2392526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6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11001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2502308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7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10110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2172444184"/>
                  </a:ext>
                </a:extLst>
              </a:tr>
            </a:tbl>
          </a:graphicData>
        </a:graphic>
      </p:graphicFrame>
      <p:pic>
        <p:nvPicPr>
          <p:cNvPr id="5" name="Picture 4" descr="Mapping of Data Records into Buckets">
            <a:extLst>
              <a:ext uri="{FF2B5EF4-FFF2-40B4-BE49-F238E27FC236}">
                <a16:creationId xmlns:a16="http://schemas.microsoft.com/office/drawing/2014/main" id="{354628B5-B298-06B1-84A6-EE96ED2F7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030" y="2171700"/>
            <a:ext cx="6652259" cy="4343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9038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C9BAC3-B8C2-3104-1387-93B502414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Insert Key 11 in the Data Bucket">
            <a:extLst>
              <a:ext uri="{FF2B5EF4-FFF2-40B4-BE49-F238E27FC236}">
                <a16:creationId xmlns:a16="http://schemas.microsoft.com/office/drawing/2014/main" id="{3F3D4BF6-7917-9734-06CD-AB9DF4FDB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0936" y="1245870"/>
            <a:ext cx="5458968" cy="4354829"/>
          </a:xfrm>
          <a:prstGeom prst="rect">
            <a:avLst/>
          </a:prstGeom>
          <a:noFill/>
        </p:spPr>
      </p:pic>
      <p:sp>
        <p:nvSpPr>
          <p:cNvPr id="20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75CD327-A8F7-8754-B29C-028ACCA783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4015700"/>
              </p:ext>
            </p:extLst>
          </p:nvPr>
        </p:nvGraphicFramePr>
        <p:xfrm>
          <a:off x="5836158" y="1293286"/>
          <a:ext cx="6005322" cy="45360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46987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C8DE0-E7CB-194F-AE8E-10498EFCE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D3856-B491-7478-4D2A-34B8BA342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7220"/>
            <a:ext cx="10515600" cy="5559743"/>
          </a:xfrm>
        </p:spPr>
        <p:txBody>
          <a:bodyPr>
            <a:normAutofit/>
          </a:bodyPr>
          <a:lstStyle/>
          <a:p>
            <a:r>
              <a:rPr lang="en-IN" b="1" dirty="0"/>
              <a:t>⚡Advantages of Hashing</a:t>
            </a:r>
            <a:endParaRPr lang="en-IN" dirty="0"/>
          </a:p>
          <a:p>
            <a:r>
              <a:rPr lang="en-IN" dirty="0"/>
              <a:t>✅ Very fast for </a:t>
            </a:r>
            <a:r>
              <a:rPr lang="en-IN" b="1" dirty="0"/>
              <a:t>equality search</a:t>
            </a:r>
            <a:r>
              <a:rPr lang="en-IN" dirty="0"/>
              <a:t> (e.g., WHERE </a:t>
            </a:r>
            <a:r>
              <a:rPr lang="en-IN" dirty="0" err="1"/>
              <a:t>RollNo</a:t>
            </a:r>
            <a:r>
              <a:rPr lang="en-IN" dirty="0"/>
              <a:t> = 25)</a:t>
            </a:r>
            <a:br>
              <a:rPr lang="en-IN" dirty="0"/>
            </a:br>
            <a:r>
              <a:rPr lang="en-IN" dirty="0"/>
              <a:t>✅ O(1) average search time</a:t>
            </a:r>
            <a:br>
              <a:rPr lang="en-IN" dirty="0"/>
            </a:br>
            <a:r>
              <a:rPr lang="en-IN" dirty="0"/>
              <a:t>✅ Simple implementation</a:t>
            </a:r>
            <a:br>
              <a:rPr lang="en-IN" dirty="0"/>
            </a:br>
            <a:r>
              <a:rPr lang="en-IN" dirty="0"/>
              <a:t>✅ Efficient for large datasets stored on disk</a:t>
            </a:r>
          </a:p>
          <a:p>
            <a:r>
              <a:rPr lang="en-IN" b="1" dirty="0"/>
              <a:t>⚠️ Limitations</a:t>
            </a:r>
            <a:endParaRPr lang="en-IN" dirty="0"/>
          </a:p>
          <a:p>
            <a:r>
              <a:rPr lang="en-IN" dirty="0"/>
              <a:t>❌ Not suitable for </a:t>
            </a:r>
            <a:r>
              <a:rPr lang="en-IN" b="1" dirty="0"/>
              <a:t>range queries</a:t>
            </a:r>
            <a:r>
              <a:rPr lang="en-IN" dirty="0"/>
              <a:t> (e.g., salary BETWEEN 30000 AND 40000)</a:t>
            </a:r>
            <a:br>
              <a:rPr lang="en-IN" dirty="0"/>
            </a:br>
            <a:r>
              <a:rPr lang="en-IN" dirty="0"/>
              <a:t>❌ Collisions can still cause overhead</a:t>
            </a:r>
            <a:br>
              <a:rPr lang="en-IN" dirty="0"/>
            </a:br>
            <a:r>
              <a:rPr lang="en-IN" dirty="0"/>
              <a:t>❌ Hash function must distribute keys uniformly</a:t>
            </a:r>
          </a:p>
        </p:txBody>
      </p:sp>
    </p:spTree>
    <p:extLst>
      <p:ext uri="{BB962C8B-B14F-4D97-AF65-F5344CB8AC3E}">
        <p14:creationId xmlns:p14="http://schemas.microsoft.com/office/powerpoint/2010/main" val="1430663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086F5-3213-A5F6-B4D2-AB9DB0C2D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732CB-9866-2FBB-11C6-B7E4D855D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7220"/>
            <a:ext cx="10515600" cy="5559743"/>
          </a:xfrm>
        </p:spPr>
        <p:txBody>
          <a:bodyPr>
            <a:normAutofit/>
          </a:bodyPr>
          <a:lstStyle/>
          <a:p>
            <a:r>
              <a:rPr lang="en-IN" b="1" dirty="0"/>
              <a:t>💾 Use of Hashing in DBMS</a:t>
            </a:r>
            <a:endParaRPr lang="en-IN" dirty="0"/>
          </a:p>
          <a:p>
            <a:pPr lvl="0"/>
            <a:r>
              <a:rPr lang="en-IN" dirty="0"/>
              <a:t>Used in </a:t>
            </a:r>
            <a:r>
              <a:rPr lang="en-IN" b="1" dirty="0"/>
              <a:t>Hash Indexes</a:t>
            </a:r>
            <a:r>
              <a:rPr lang="en-IN" dirty="0"/>
              <a:t> (e.g., MySQL MEMORY engine)</a:t>
            </a:r>
          </a:p>
          <a:p>
            <a:pPr lvl="0"/>
            <a:r>
              <a:rPr lang="en-IN" dirty="0"/>
              <a:t>Used in </a:t>
            </a:r>
            <a:r>
              <a:rPr lang="en-IN" b="1" dirty="0"/>
              <a:t>Join operations</a:t>
            </a:r>
            <a:r>
              <a:rPr lang="en-IN" dirty="0"/>
              <a:t> (Hash Join)</a:t>
            </a:r>
          </a:p>
          <a:p>
            <a:pPr lvl="0"/>
            <a:r>
              <a:rPr lang="en-IN" dirty="0"/>
              <a:t>Used in </a:t>
            </a:r>
            <a:r>
              <a:rPr lang="en-IN" b="1" dirty="0"/>
              <a:t>Partitioning</a:t>
            </a:r>
            <a:r>
              <a:rPr lang="en-IN" dirty="0"/>
              <a:t> large tables (hash partitioning)</a:t>
            </a:r>
          </a:p>
          <a:p>
            <a:pPr lvl="0"/>
            <a:r>
              <a:rPr lang="en-IN" dirty="0"/>
              <a:t>Used in </a:t>
            </a:r>
            <a:r>
              <a:rPr lang="en-IN" b="1" dirty="0"/>
              <a:t>Buffer management</a:t>
            </a:r>
            <a:r>
              <a:rPr lang="en-IN" dirty="0"/>
              <a:t> (hash tables to locate pages)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76963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D7CAC-7D6C-AC06-6A1F-DE056CDA6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9A26A-FECF-5B73-145C-1B6CF183C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7220"/>
            <a:ext cx="10515600" cy="5559743"/>
          </a:xfrm>
        </p:spPr>
        <p:txBody>
          <a:bodyPr>
            <a:normAutofit/>
          </a:bodyPr>
          <a:lstStyle/>
          <a:p>
            <a:r>
              <a:rPr lang="en-IN" b="1" dirty="0"/>
              <a:t>📘 Hashing vs. Indexing</a:t>
            </a:r>
            <a:endParaRPr lang="en-IN" dirty="0"/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7A15F0-C119-99A2-315B-42C6F694C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798606"/>
              </p:ext>
            </p:extLst>
          </p:nvPr>
        </p:nvGraphicFramePr>
        <p:xfrm>
          <a:off x="838200" y="1883315"/>
          <a:ext cx="10515600" cy="2475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9306257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988046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514097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Feature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Hashing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Indexing (B+ Tree)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13358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Query Type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Equality search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Range + equality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09273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Structure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Hash table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Tree (hierarchical)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1422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Order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Unordered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Sorted order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30691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Performance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O(1) average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O(log n)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51530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Best for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>
                          <a:effectLst/>
                        </a:rPr>
                        <a:t>Exact key lookups</a:t>
                      </a:r>
                      <a:endParaRPr lang="en-IN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dirty="0">
                          <a:effectLst/>
                        </a:rPr>
                        <a:t>Range scans, sorting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11999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9814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2597</Words>
  <Application>Microsoft Office PowerPoint</Application>
  <PresentationFormat>Widescreen</PresentationFormat>
  <Paragraphs>268</Paragraphs>
  <Slides>28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Storage Structure-File Organization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Mahendran</dc:creator>
  <cp:lastModifiedBy>Dr. Santhanalakshmi S.</cp:lastModifiedBy>
  <cp:revision>88</cp:revision>
  <cp:lastPrinted>2022-12-10T07:00:24Z</cp:lastPrinted>
  <dcterms:created xsi:type="dcterms:W3CDTF">2022-12-06T09:28:32Z</dcterms:created>
  <dcterms:modified xsi:type="dcterms:W3CDTF">2025-11-12T13:50:05Z</dcterms:modified>
</cp:coreProperties>
</file>