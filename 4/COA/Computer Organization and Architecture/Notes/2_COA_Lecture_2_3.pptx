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6"/>
  </p:notesMasterIdLst>
  <p:handoutMasterIdLst>
    <p:handoutMasterId r:id="rId47"/>
  </p:handoutMasterIdLst>
  <p:sldIdLst>
    <p:sldId id="317" r:id="rId2"/>
    <p:sldId id="316" r:id="rId3"/>
    <p:sldId id="302" r:id="rId4"/>
    <p:sldId id="303" r:id="rId5"/>
    <p:sldId id="326" r:id="rId6"/>
    <p:sldId id="318" r:id="rId7"/>
    <p:sldId id="334" r:id="rId8"/>
    <p:sldId id="327" r:id="rId9"/>
    <p:sldId id="320" r:id="rId10"/>
    <p:sldId id="335" r:id="rId11"/>
    <p:sldId id="336" r:id="rId12"/>
    <p:sldId id="338" r:id="rId13"/>
    <p:sldId id="337" r:id="rId14"/>
    <p:sldId id="349" r:id="rId15"/>
    <p:sldId id="356" r:id="rId16"/>
    <p:sldId id="355" r:id="rId17"/>
    <p:sldId id="358" r:id="rId18"/>
    <p:sldId id="359" r:id="rId19"/>
    <p:sldId id="361" r:id="rId20"/>
    <p:sldId id="340" r:id="rId21"/>
    <p:sldId id="346" r:id="rId22"/>
    <p:sldId id="350" r:id="rId23"/>
    <p:sldId id="367" r:id="rId24"/>
    <p:sldId id="362" r:id="rId25"/>
    <p:sldId id="342" r:id="rId26"/>
    <p:sldId id="364" r:id="rId27"/>
    <p:sldId id="365" r:id="rId28"/>
    <p:sldId id="368" r:id="rId29"/>
    <p:sldId id="366" r:id="rId30"/>
    <p:sldId id="382" r:id="rId31"/>
    <p:sldId id="383" r:id="rId32"/>
    <p:sldId id="384" r:id="rId33"/>
    <p:sldId id="377" r:id="rId34"/>
    <p:sldId id="378" r:id="rId35"/>
    <p:sldId id="375" r:id="rId36"/>
    <p:sldId id="341" r:id="rId37"/>
    <p:sldId id="347" r:id="rId38"/>
    <p:sldId id="348" r:id="rId39"/>
    <p:sldId id="371" r:id="rId40"/>
    <p:sldId id="372" r:id="rId41"/>
    <p:sldId id="370" r:id="rId42"/>
    <p:sldId id="379" r:id="rId43"/>
    <p:sldId id="380" r:id="rId44"/>
    <p:sldId id="279" r:id="rId4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98A6B4-47D3-40D0-AFAD-07952382D17D}" v="7" dt="2022-02-12T16:11:08.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89586" autoAdjust="0"/>
  </p:normalViewPr>
  <p:slideViewPr>
    <p:cSldViewPr>
      <p:cViewPr varScale="1">
        <p:scale>
          <a:sx n="56" d="100"/>
          <a:sy n="56" d="100"/>
        </p:scale>
        <p:origin x="1456" y="4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Sangita Khare" userId="S::k_sangita@blr.amrita.edu::6e4d4394-b974-43a0-b8f1-77f4c6e7b5a1" providerId="AD" clId="Web-{5098A6B4-47D3-40D0-AFAD-07952382D17D}"/>
    <pc:docChg chg="modSld">
      <pc:chgData name="Ms. Sangita Khare" userId="S::k_sangita@blr.amrita.edu::6e4d4394-b974-43a0-b8f1-77f4c6e7b5a1" providerId="AD" clId="Web-{5098A6B4-47D3-40D0-AFAD-07952382D17D}" dt="2022-02-12T16:11:02.992" v="5" actId="20577"/>
      <pc:docMkLst>
        <pc:docMk/>
      </pc:docMkLst>
      <pc:sldChg chg="modSp">
        <pc:chgData name="Ms. Sangita Khare" userId="S::k_sangita@blr.amrita.edu::6e4d4394-b974-43a0-b8f1-77f4c6e7b5a1" providerId="AD" clId="Web-{5098A6B4-47D3-40D0-AFAD-07952382D17D}" dt="2022-02-12T16:11:02.992" v="5" actId="20577"/>
        <pc:sldMkLst>
          <pc:docMk/>
          <pc:sldMk cId="3932278057" sldId="257"/>
        </pc:sldMkLst>
        <pc:spChg chg="mod">
          <ac:chgData name="Ms. Sangita Khare" userId="S::k_sangita@blr.amrita.edu::6e4d4394-b974-43a0-b8f1-77f4c6e7b5a1" providerId="AD" clId="Web-{5098A6B4-47D3-40D0-AFAD-07952382D17D}" dt="2022-02-12T16:11:02.992" v="5" actId="20577"/>
          <ac:spMkLst>
            <pc:docMk/>
            <pc:sldMk cId="3932278057" sldId="257"/>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E10299F1-8C68-4FEA-BFAB-CAD7D19F4823}" type="datetimeFigureOut">
              <a:rPr lang="en-US" smtClean="0"/>
              <a:t>1/7/2026</a:t>
            </a:fld>
            <a:endParaRPr lang="en-US"/>
          </a:p>
        </p:txBody>
      </p:sp>
      <p:sp>
        <p:nvSpPr>
          <p:cNvPr id="4" name="Footer Placeholder 3"/>
          <p:cNvSpPr>
            <a:spLocks noGrp="1"/>
          </p:cNvSpPr>
          <p:nvPr>
            <p:ph type="ftr" sz="quarter" idx="2"/>
          </p:nvPr>
        </p:nvSpPr>
        <p:spPr>
          <a:xfrm>
            <a:off x="0" y="9120189"/>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81012"/>
          </a:xfrm>
          <a:prstGeom prst="rect">
            <a:avLst/>
          </a:prstGeom>
        </p:spPr>
        <p:txBody>
          <a:bodyPr vert="horz" lIns="91440" tIns="45720" rIns="91440" bIns="45720" rtlCol="0" anchor="b"/>
          <a:lstStyle>
            <a:lvl1pPr algn="r">
              <a:defRPr sz="1200"/>
            </a:lvl1pPr>
          </a:lstStyle>
          <a:p>
            <a:fld id="{F94DFED1-94F6-4F2B-B89A-34E8ED64BC71}" type="slidenum">
              <a:rPr lang="en-US" smtClean="0"/>
              <a:t>‹#›</a:t>
            </a:fld>
            <a:endParaRPr lang="en-US"/>
          </a:p>
        </p:txBody>
      </p:sp>
    </p:spTree>
    <p:extLst>
      <p:ext uri="{BB962C8B-B14F-4D97-AF65-F5344CB8AC3E}">
        <p14:creationId xmlns:p14="http://schemas.microsoft.com/office/powerpoint/2010/main" val="14052928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0A63772-66F7-4B5A-A310-990B5252A374}" type="datetimeFigureOut">
              <a:rPr lang="en-US" smtClean="0"/>
              <a:t>1/7/2026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6E049F50-C9A4-484D-8E9E-2119E311E195}" type="slidenum">
              <a:rPr lang="en-US" smtClean="0"/>
              <a:t>‹#›</a:t>
            </a:fld>
            <a:endParaRPr lang="en-US"/>
          </a:p>
        </p:txBody>
      </p:sp>
    </p:spTree>
    <p:extLst>
      <p:ext uri="{BB962C8B-B14F-4D97-AF65-F5344CB8AC3E}">
        <p14:creationId xmlns:p14="http://schemas.microsoft.com/office/powerpoint/2010/main" val="239839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Morgan Kaufmann Publishers</a:t>
            </a:r>
          </a:p>
        </p:txBody>
      </p:sp>
      <p:sp>
        <p:nvSpPr>
          <p:cNvPr id="256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F2D5A158-DF70-49C2-9A4B-1CA9FD8919B7}" type="datetime4">
              <a:rPr lang="en-US" altLang="en-US" smtClean="0">
                <a:latin typeface="Times New Roman" panose="02020603050405020304" pitchFamily="18" charset="0"/>
              </a:rPr>
              <a:pPr/>
              <a:t>January 7, 2026</a:t>
            </a:fld>
            <a:endParaRPr lang="en-US" altLang="en-US">
              <a:latin typeface="Times New Roman" panose="02020603050405020304" pitchFamily="18" charset="0"/>
            </a:endParaRPr>
          </a:p>
        </p:txBody>
      </p:sp>
      <p:sp>
        <p:nvSpPr>
          <p:cNvPr id="256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1 — Computer Abstractions and Technology</a:t>
            </a:r>
          </a:p>
        </p:txBody>
      </p:sp>
      <p:sp>
        <p:nvSpPr>
          <p:cNvPr id="256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25A7E6CE-4CDA-48E1-84BF-D464C164D7F9}" type="slidenum">
              <a:rPr lang="en-US" altLang="en-US" smtClean="0">
                <a:latin typeface="Times New Roman" panose="02020603050405020304" pitchFamily="18" charset="0"/>
              </a:rPr>
              <a:pPr/>
              <a:t>3</a:t>
            </a:fld>
            <a:endParaRPr lang="en-US" altLang="en-US">
              <a:latin typeface="Times New Roman" panose="02020603050405020304" pitchFamily="18" charset="0"/>
            </a:endParaRPr>
          </a:p>
        </p:txBody>
      </p:sp>
      <p:sp>
        <p:nvSpPr>
          <p:cNvPr id="25606" name="Rectangle 2"/>
          <p:cNvSpPr>
            <a:spLocks noGrp="1" noRot="1" noChangeAspect="1" noChangeArrowheads="1" noTextEdit="1"/>
          </p:cNvSpPr>
          <p:nvPr>
            <p:ph type="sldImg"/>
          </p:nvPr>
        </p:nvSpPr>
        <p:spPr>
          <a:ln/>
        </p:spPr>
      </p:sp>
      <p:sp>
        <p:nvSpPr>
          <p:cNvPr id="256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671641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049F50-C9A4-484D-8E9E-2119E311E195}" type="slidenum">
              <a:rPr lang="en-US" smtClean="0"/>
              <a:t>4</a:t>
            </a:fld>
            <a:endParaRPr lang="en-US"/>
          </a:p>
        </p:txBody>
      </p:sp>
    </p:spTree>
    <p:extLst>
      <p:ext uri="{BB962C8B-B14F-4D97-AF65-F5344CB8AC3E}">
        <p14:creationId xmlns:p14="http://schemas.microsoft.com/office/powerpoint/2010/main" val="1586019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–Abstraction,2</a:t>
            </a:r>
            <a:r>
              <a:rPr lang="en-US" baseline="30000" dirty="0"/>
              <a:t>nd</a:t>
            </a:r>
            <a:r>
              <a:rPr lang="en-US" dirty="0"/>
              <a:t> ISA</a:t>
            </a:r>
          </a:p>
        </p:txBody>
      </p:sp>
      <p:sp>
        <p:nvSpPr>
          <p:cNvPr id="4" name="Slide Number Placeholder 3"/>
          <p:cNvSpPr>
            <a:spLocks noGrp="1"/>
          </p:cNvSpPr>
          <p:nvPr>
            <p:ph type="sldNum" sz="quarter" idx="10"/>
          </p:nvPr>
        </p:nvSpPr>
        <p:spPr/>
        <p:txBody>
          <a:bodyPr/>
          <a:lstStyle/>
          <a:p>
            <a:fld id="{6E049F50-C9A4-484D-8E9E-2119E311E195}" type="slidenum">
              <a:rPr lang="en-US" smtClean="0"/>
              <a:t>15</a:t>
            </a:fld>
            <a:endParaRPr lang="en-US"/>
          </a:p>
        </p:txBody>
      </p:sp>
    </p:spTree>
    <p:extLst>
      <p:ext uri="{BB962C8B-B14F-4D97-AF65-F5344CB8AC3E}">
        <p14:creationId xmlns:p14="http://schemas.microsoft.com/office/powerpoint/2010/main" val="2898073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 Set-</a:t>
            </a:r>
            <a:r>
              <a:rPr lang="en-US" dirty="0" err="1"/>
              <a:t>Architecture,Control</a:t>
            </a:r>
            <a:r>
              <a:rPr lang="en-US" dirty="0"/>
              <a:t> signal-Organization,  IS-Architecture ,AM-Architecture</a:t>
            </a:r>
          </a:p>
        </p:txBody>
      </p:sp>
      <p:sp>
        <p:nvSpPr>
          <p:cNvPr id="4" name="Slide Number Placeholder 3"/>
          <p:cNvSpPr>
            <a:spLocks noGrp="1"/>
          </p:cNvSpPr>
          <p:nvPr>
            <p:ph type="sldNum" sz="quarter" idx="10"/>
          </p:nvPr>
        </p:nvSpPr>
        <p:spPr/>
        <p:txBody>
          <a:bodyPr/>
          <a:lstStyle/>
          <a:p>
            <a:fld id="{6E049F50-C9A4-484D-8E9E-2119E311E195}" type="slidenum">
              <a:rPr lang="en-US" smtClean="0"/>
              <a:t>16</a:t>
            </a:fld>
            <a:endParaRPr lang="en-US"/>
          </a:p>
        </p:txBody>
      </p:sp>
    </p:spTree>
    <p:extLst>
      <p:ext uri="{BB962C8B-B14F-4D97-AF65-F5344CB8AC3E}">
        <p14:creationId xmlns:p14="http://schemas.microsoft.com/office/powerpoint/2010/main" val="4192044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Morgan Kaufmann Publishers</a:t>
            </a:r>
          </a:p>
        </p:txBody>
      </p:sp>
      <p:sp>
        <p:nvSpPr>
          <p:cNvPr id="286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83E077A3-697D-4311-8A49-702635DA1954}" type="datetime4">
              <a:rPr lang="en-US" altLang="en-US" smtClean="0">
                <a:latin typeface="Times New Roman" panose="02020603050405020304" pitchFamily="18" charset="0"/>
              </a:rPr>
              <a:pPr/>
              <a:t>January 7, 2026</a:t>
            </a:fld>
            <a:endParaRPr lang="en-US" altLang="en-US">
              <a:latin typeface="Times New Roman" panose="02020603050405020304" pitchFamily="18" charset="0"/>
            </a:endParaRPr>
          </a:p>
        </p:txBody>
      </p:sp>
      <p:sp>
        <p:nvSpPr>
          <p:cNvPr id="286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1 — Computer Abstractions and Technology</a:t>
            </a:r>
          </a:p>
        </p:txBody>
      </p:sp>
      <p:sp>
        <p:nvSpPr>
          <p:cNvPr id="286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1878FA70-D019-4F4D-A456-E046982B5621}"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28678" name="Rectangle 2"/>
          <p:cNvSpPr>
            <a:spLocks noGrp="1" noRot="1" noChangeAspect="1" noChangeArrowheads="1" noTextEdit="1"/>
          </p:cNvSpPr>
          <p:nvPr>
            <p:ph type="sldImg"/>
          </p:nvPr>
        </p:nvSpPr>
        <p:spPr>
          <a:ln/>
        </p:spPr>
      </p:sp>
      <p:sp>
        <p:nvSpPr>
          <p:cNvPr id="286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3566095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Morgan Kaufmann Publishers</a:t>
            </a:r>
          </a:p>
        </p:txBody>
      </p:sp>
      <p:sp>
        <p:nvSpPr>
          <p:cNvPr id="307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4390E1C0-D576-4DAA-A917-571392EED234}" type="datetime4">
              <a:rPr lang="en-US" altLang="en-US" smtClean="0">
                <a:latin typeface="Times New Roman" panose="02020603050405020304" pitchFamily="18" charset="0"/>
              </a:rPr>
              <a:pPr/>
              <a:t>January 7, 2026</a:t>
            </a:fld>
            <a:endParaRPr lang="en-US" altLang="en-US">
              <a:latin typeface="Times New Roman" panose="02020603050405020304" pitchFamily="18" charset="0"/>
            </a:endParaRPr>
          </a:p>
        </p:txBody>
      </p:sp>
      <p:sp>
        <p:nvSpPr>
          <p:cNvPr id="307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1 — Computer Abstractions and Technology</a:t>
            </a:r>
          </a:p>
        </p:txBody>
      </p:sp>
      <p:sp>
        <p:nvSpPr>
          <p:cNvPr id="307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B1EF90C3-20DE-4A21-8693-1379A475112B}"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0726" name="Rectangle 2"/>
          <p:cNvSpPr>
            <a:spLocks noGrp="1" noRot="1" noChangeAspect="1" noChangeArrowheads="1" noTextEdit="1"/>
          </p:cNvSpPr>
          <p:nvPr>
            <p:ph type="sldImg"/>
          </p:nvPr>
        </p:nvSpPr>
        <p:spPr>
          <a:ln/>
        </p:spPr>
      </p:sp>
      <p:sp>
        <p:nvSpPr>
          <p:cNvPr id="307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1200676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Morgan Kaufmann Publishers</a:t>
            </a:r>
          </a:p>
        </p:txBody>
      </p:sp>
      <p:sp>
        <p:nvSpPr>
          <p:cNvPr id="327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F008153C-241C-4AA0-99DE-9E981CE9291C}" type="datetime4">
              <a:rPr lang="en-US" altLang="en-US" smtClean="0">
                <a:latin typeface="Times New Roman" panose="02020603050405020304" pitchFamily="18" charset="0"/>
              </a:rPr>
              <a:pPr/>
              <a:t>January 7, 2026</a:t>
            </a:fld>
            <a:endParaRPr lang="en-US" altLang="en-US">
              <a:latin typeface="Times New Roman" panose="02020603050405020304" pitchFamily="18" charset="0"/>
            </a:endParaRPr>
          </a:p>
        </p:txBody>
      </p:sp>
      <p:sp>
        <p:nvSpPr>
          <p:cNvPr id="327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US" altLang="en-US">
                <a:latin typeface="Times New Roman" panose="02020603050405020304" pitchFamily="18" charset="0"/>
              </a:rPr>
              <a:t>Chapter 1 — Computer Abstractions and Technology</a:t>
            </a:r>
          </a:p>
        </p:txBody>
      </p:sp>
      <p:sp>
        <p:nvSpPr>
          <p:cNvPr id="327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8A956D8D-394D-4362-B0F5-232BFBCED67A}"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32774" name="Rectangle 2"/>
          <p:cNvSpPr>
            <a:spLocks noGrp="1" noRot="1" noChangeAspect="1" noChangeArrowheads="1" noTextEdit="1"/>
          </p:cNvSpPr>
          <p:nvPr>
            <p:ph type="sldImg"/>
          </p:nvPr>
        </p:nvSpPr>
        <p:spPr>
          <a:ln/>
        </p:spPr>
      </p:sp>
      <p:sp>
        <p:nvSpPr>
          <p:cNvPr id="327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p>
        </p:txBody>
      </p:sp>
    </p:spTree>
    <p:extLst>
      <p:ext uri="{BB962C8B-B14F-4D97-AF65-F5344CB8AC3E}">
        <p14:creationId xmlns:p14="http://schemas.microsoft.com/office/powerpoint/2010/main" val="189598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049F50-C9A4-484D-8E9E-2119E311E195}" type="slidenum">
              <a:rPr lang="en-US" smtClean="0"/>
              <a:t>31</a:t>
            </a:fld>
            <a:endParaRPr lang="en-US"/>
          </a:p>
        </p:txBody>
      </p:sp>
    </p:spTree>
    <p:extLst>
      <p:ext uri="{BB962C8B-B14F-4D97-AF65-F5344CB8AC3E}">
        <p14:creationId xmlns:p14="http://schemas.microsoft.com/office/powerpoint/2010/main" val="3776061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049F50-C9A4-484D-8E9E-2119E311E195}" type="slidenum">
              <a:rPr lang="en-US" smtClean="0"/>
              <a:t>33</a:t>
            </a:fld>
            <a:endParaRPr lang="en-US"/>
          </a:p>
        </p:txBody>
      </p:sp>
    </p:spTree>
    <p:extLst>
      <p:ext uri="{BB962C8B-B14F-4D97-AF65-F5344CB8AC3E}">
        <p14:creationId xmlns:p14="http://schemas.microsoft.com/office/powerpoint/2010/main" val="3563377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049F50-C9A4-484D-8E9E-2119E311E195}" type="slidenum">
              <a:rPr lang="en-US" smtClean="0"/>
              <a:t>34</a:t>
            </a:fld>
            <a:endParaRPr lang="en-US"/>
          </a:p>
        </p:txBody>
      </p:sp>
    </p:spTree>
    <p:extLst>
      <p:ext uri="{BB962C8B-B14F-4D97-AF65-F5344CB8AC3E}">
        <p14:creationId xmlns:p14="http://schemas.microsoft.com/office/powerpoint/2010/main" val="2387672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049F50-C9A4-484D-8E9E-2119E311E195}" type="slidenum">
              <a:rPr lang="en-US" smtClean="0"/>
              <a:t>42</a:t>
            </a:fld>
            <a:endParaRPr lang="en-US"/>
          </a:p>
        </p:txBody>
      </p:sp>
    </p:spTree>
    <p:extLst>
      <p:ext uri="{BB962C8B-B14F-4D97-AF65-F5344CB8AC3E}">
        <p14:creationId xmlns:p14="http://schemas.microsoft.com/office/powerpoint/2010/main" val="3944757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331E0EE-0045-48B5-9915-60FD38A9E747}" type="slidenum">
              <a:rPr lang="en-US" smtClean="0"/>
              <a:pPr/>
              <a:t>44</a:t>
            </a:fld>
            <a:endParaRPr lang="en-US"/>
          </a:p>
        </p:txBody>
      </p:sp>
    </p:spTree>
    <p:extLst>
      <p:ext uri="{BB962C8B-B14F-4D97-AF65-F5344CB8AC3E}">
        <p14:creationId xmlns:p14="http://schemas.microsoft.com/office/powerpoint/2010/main" val="2243583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CE824CD-3042-415E-B179-890C92FF19B2}" type="datetime1">
              <a:rPr lang="en-US" smtClean="0"/>
              <a:t>1/7/2026</a:t>
            </a:fld>
            <a:endParaRPr lang="en-US"/>
          </a:p>
        </p:txBody>
      </p:sp>
      <p:sp>
        <p:nvSpPr>
          <p:cNvPr id="5" name="Footer Placeholder 4"/>
          <p:cNvSpPr>
            <a:spLocks noGrp="1"/>
          </p:cNvSpPr>
          <p:nvPr>
            <p:ph type="ftr" sz="quarter" idx="11"/>
          </p:nvPr>
        </p:nvSpPr>
        <p:spPr/>
        <p:txBody>
          <a:bodyPr/>
          <a:lstStyle/>
          <a:p>
            <a:r>
              <a:rPr lang="en-US"/>
              <a:t>Amrita School of Engineering, Bangalore</a:t>
            </a:r>
          </a:p>
        </p:txBody>
      </p:sp>
      <p:sp>
        <p:nvSpPr>
          <p:cNvPr id="6" name="Slide Number Placeholder 5"/>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lvl1pPr>
              <a:buFont typeface="Wingdings" pitchFamily="2" charset="2"/>
              <a:buChar char="q"/>
              <a:defRPr/>
            </a:lvl1pPr>
            <a:lvl2pPr>
              <a:buFont typeface="Wingdings" pitchFamily="2" charset="2"/>
              <a:buChar char="q"/>
              <a:defRPr/>
            </a:lvl2pPr>
            <a:lvl3pPr>
              <a:buFont typeface="Wingdings" pitchFamily="2" charset="2"/>
              <a:buChar char="q"/>
              <a:defRPr/>
            </a:lvl3pPr>
            <a:lvl4pPr>
              <a:buFont typeface="Wingdings" pitchFamily="2" charset="2"/>
              <a:buChar char="q"/>
              <a:defRPr/>
            </a:lvl4pPr>
            <a:lvl5pPr>
              <a:buFont typeface="Wingdings" pitchFamily="2" charset="2"/>
              <a:buChar char="q"/>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dirty="0"/>
              <a:t>Amrita School of Engineering, Bangalore</a:t>
            </a:r>
          </a:p>
        </p:txBody>
      </p:sp>
      <p:sp>
        <p:nvSpPr>
          <p:cNvPr id="6" name="Slide Number Placeholder 5"/>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76F6EE-F83F-4FEF-B522-FD738B500325}" type="datetime1">
              <a:rPr lang="en-US" smtClean="0"/>
              <a:t>1/7/2026</a:t>
            </a:fld>
            <a:endParaRPr lang="en-US"/>
          </a:p>
        </p:txBody>
      </p:sp>
      <p:sp>
        <p:nvSpPr>
          <p:cNvPr id="5" name="Footer Placeholder 4"/>
          <p:cNvSpPr>
            <a:spLocks noGrp="1"/>
          </p:cNvSpPr>
          <p:nvPr>
            <p:ph type="ftr" sz="quarter" idx="11"/>
          </p:nvPr>
        </p:nvSpPr>
        <p:spPr/>
        <p:txBody>
          <a:bodyPr/>
          <a:lstStyle/>
          <a:p>
            <a:r>
              <a:rPr lang="en-US"/>
              <a:t>Amrita School of Engineering, Bangalore</a:t>
            </a:r>
          </a:p>
        </p:txBody>
      </p:sp>
      <p:sp>
        <p:nvSpPr>
          <p:cNvPr id="6" name="Slide Number Placeholder 5"/>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946799-737C-4130-B94B-FB2F815BD9A7}" type="datetime1">
              <a:rPr lang="en-US" smtClean="0"/>
              <a:t>1/7/2026</a:t>
            </a:fld>
            <a:endParaRPr lang="en-US"/>
          </a:p>
        </p:txBody>
      </p:sp>
      <p:sp>
        <p:nvSpPr>
          <p:cNvPr id="6" name="Footer Placeholder 5"/>
          <p:cNvSpPr>
            <a:spLocks noGrp="1"/>
          </p:cNvSpPr>
          <p:nvPr>
            <p:ph type="ftr" sz="quarter" idx="11"/>
          </p:nvPr>
        </p:nvSpPr>
        <p:spPr/>
        <p:txBody>
          <a:bodyPr/>
          <a:lstStyle/>
          <a:p>
            <a:r>
              <a:rPr lang="en-US"/>
              <a:t>Amrita School of Engineering, Bangalore</a:t>
            </a:r>
          </a:p>
        </p:txBody>
      </p:sp>
      <p:sp>
        <p:nvSpPr>
          <p:cNvPr id="7" name="Slide Number Placeholder 6"/>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348D6B-E58E-49C7-A1C2-3A7A073C5D59}" type="datetime1">
              <a:rPr lang="en-US" smtClean="0"/>
              <a:t>1/7/2026</a:t>
            </a:fld>
            <a:endParaRPr lang="en-US"/>
          </a:p>
        </p:txBody>
      </p:sp>
      <p:sp>
        <p:nvSpPr>
          <p:cNvPr id="8" name="Footer Placeholder 7"/>
          <p:cNvSpPr>
            <a:spLocks noGrp="1"/>
          </p:cNvSpPr>
          <p:nvPr>
            <p:ph type="ftr" sz="quarter" idx="11"/>
          </p:nvPr>
        </p:nvSpPr>
        <p:spPr/>
        <p:txBody>
          <a:bodyPr/>
          <a:lstStyle/>
          <a:p>
            <a:r>
              <a:rPr lang="en-US"/>
              <a:t>Amrita School of Engineering, Bangalore</a:t>
            </a:r>
          </a:p>
        </p:txBody>
      </p:sp>
      <p:sp>
        <p:nvSpPr>
          <p:cNvPr id="9" name="Slide Number Placeholder 8"/>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579A2DE-87F5-464A-A554-9D897836BC33}" type="datetime1">
              <a:rPr lang="en-US" smtClean="0"/>
              <a:t>1/7/2026</a:t>
            </a:fld>
            <a:endParaRPr lang="en-US"/>
          </a:p>
        </p:txBody>
      </p:sp>
      <p:sp>
        <p:nvSpPr>
          <p:cNvPr id="4" name="Footer Placeholder 3"/>
          <p:cNvSpPr>
            <a:spLocks noGrp="1"/>
          </p:cNvSpPr>
          <p:nvPr>
            <p:ph type="ftr" sz="quarter" idx="11"/>
          </p:nvPr>
        </p:nvSpPr>
        <p:spPr/>
        <p:txBody>
          <a:bodyPr/>
          <a:lstStyle/>
          <a:p>
            <a:r>
              <a:rPr lang="en-US"/>
              <a:t>Amrita School of Engineering, Bangalore</a:t>
            </a:r>
          </a:p>
        </p:txBody>
      </p:sp>
      <p:sp>
        <p:nvSpPr>
          <p:cNvPr id="5" name="Slide Number Placeholder 4"/>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CD83D4-8F59-4718-B813-AF8B3AC0AC22}" type="datetime1">
              <a:rPr lang="en-US" smtClean="0"/>
              <a:t>1/7/2026</a:t>
            </a:fld>
            <a:endParaRPr lang="en-US"/>
          </a:p>
        </p:txBody>
      </p:sp>
      <p:sp>
        <p:nvSpPr>
          <p:cNvPr id="3" name="Footer Placeholder 2"/>
          <p:cNvSpPr>
            <a:spLocks noGrp="1"/>
          </p:cNvSpPr>
          <p:nvPr>
            <p:ph type="ftr" sz="quarter" idx="11"/>
          </p:nvPr>
        </p:nvSpPr>
        <p:spPr/>
        <p:txBody>
          <a:bodyPr/>
          <a:lstStyle/>
          <a:p>
            <a:r>
              <a:rPr lang="en-US"/>
              <a:t>Amrita School of Engineering, Bangalore</a:t>
            </a:r>
          </a:p>
        </p:txBody>
      </p:sp>
      <p:sp>
        <p:nvSpPr>
          <p:cNvPr id="4" name="Slide Number Placeholder 3"/>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3AD15A-747E-4074-9A37-9DC17D5A0EE4}" type="datetime1">
              <a:rPr lang="en-US" smtClean="0"/>
              <a:t>1/7/2026</a:t>
            </a:fld>
            <a:endParaRPr lang="en-US"/>
          </a:p>
        </p:txBody>
      </p:sp>
      <p:sp>
        <p:nvSpPr>
          <p:cNvPr id="6" name="Footer Placeholder 5"/>
          <p:cNvSpPr>
            <a:spLocks noGrp="1"/>
          </p:cNvSpPr>
          <p:nvPr>
            <p:ph type="ftr" sz="quarter" idx="11"/>
          </p:nvPr>
        </p:nvSpPr>
        <p:spPr/>
        <p:txBody>
          <a:bodyPr/>
          <a:lstStyle/>
          <a:p>
            <a:r>
              <a:rPr lang="en-US"/>
              <a:t>Amrita School of Engineering, Bangalore</a:t>
            </a:r>
          </a:p>
        </p:txBody>
      </p:sp>
      <p:sp>
        <p:nvSpPr>
          <p:cNvPr id="7" name="Slide Number Placeholder 6"/>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0DAB2E-604B-41EF-BAE6-B988D19986E1}" type="datetime1">
              <a:rPr lang="en-US" smtClean="0"/>
              <a:t>1/7/2026</a:t>
            </a:fld>
            <a:endParaRPr lang="en-US"/>
          </a:p>
        </p:txBody>
      </p:sp>
      <p:sp>
        <p:nvSpPr>
          <p:cNvPr id="6" name="Footer Placeholder 5"/>
          <p:cNvSpPr>
            <a:spLocks noGrp="1"/>
          </p:cNvSpPr>
          <p:nvPr>
            <p:ph type="ftr" sz="quarter" idx="11"/>
          </p:nvPr>
        </p:nvSpPr>
        <p:spPr/>
        <p:txBody>
          <a:bodyPr/>
          <a:lstStyle/>
          <a:p>
            <a:r>
              <a:rPr lang="en-US"/>
              <a:t>Amrita School of Engineering, Bangalore</a:t>
            </a:r>
          </a:p>
        </p:txBody>
      </p:sp>
      <p:sp>
        <p:nvSpPr>
          <p:cNvPr id="7" name="Slide Number Placeholder 6"/>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181B00-DD92-4E84-9366-2303C8C4A1A0}" type="datetime1">
              <a:rPr lang="en-US" smtClean="0"/>
              <a:t>1/7/2026</a:t>
            </a:fld>
            <a:endParaRPr lang="en-US"/>
          </a:p>
        </p:txBody>
      </p:sp>
      <p:sp>
        <p:nvSpPr>
          <p:cNvPr id="5" name="Footer Placeholder 4"/>
          <p:cNvSpPr>
            <a:spLocks noGrp="1"/>
          </p:cNvSpPr>
          <p:nvPr>
            <p:ph type="ftr" sz="quarter" idx="11"/>
          </p:nvPr>
        </p:nvSpPr>
        <p:spPr/>
        <p:txBody>
          <a:bodyPr/>
          <a:lstStyle/>
          <a:p>
            <a:r>
              <a:rPr lang="en-US"/>
              <a:t>Amrita School of Engineering, Bangalore</a:t>
            </a:r>
          </a:p>
        </p:txBody>
      </p:sp>
      <p:sp>
        <p:nvSpPr>
          <p:cNvPr id="6" name="Slide Number Placeholder 5"/>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D15DEF-7B4E-4E0C-9E0D-E437A9244481}" type="datetime1">
              <a:rPr lang="en-US" smtClean="0"/>
              <a:t>1/7/2026</a:t>
            </a:fld>
            <a:endParaRPr lang="en-US"/>
          </a:p>
        </p:txBody>
      </p:sp>
      <p:sp>
        <p:nvSpPr>
          <p:cNvPr id="5" name="Footer Placeholder 4"/>
          <p:cNvSpPr>
            <a:spLocks noGrp="1"/>
          </p:cNvSpPr>
          <p:nvPr>
            <p:ph type="ftr" sz="quarter" idx="11"/>
          </p:nvPr>
        </p:nvSpPr>
        <p:spPr/>
        <p:txBody>
          <a:bodyPr/>
          <a:lstStyle/>
          <a:p>
            <a:r>
              <a:rPr lang="en-US"/>
              <a:t>Amrita School of Engineering, Bangalore</a:t>
            </a:r>
          </a:p>
        </p:txBody>
      </p:sp>
      <p:sp>
        <p:nvSpPr>
          <p:cNvPr id="6" name="Slide Number Placeholder 5"/>
          <p:cNvSpPr>
            <a:spLocks noGrp="1"/>
          </p:cNvSpPr>
          <p:nvPr>
            <p:ph type="sldNum" sz="quarter" idx="12"/>
          </p:nvPr>
        </p:nvSpPr>
        <p:spPr/>
        <p:txBody>
          <a:bodyPr/>
          <a:lstStyle/>
          <a:p>
            <a:fld id="{F5E843A0-D5C2-4D72-A6B6-2325E0D4211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895850" y="1125538"/>
            <a:ext cx="4059238"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p:txBody>
          <a:bodyPr/>
          <a:lstStyle>
            <a:lvl1pPr>
              <a:defRPr/>
            </a:lvl1pPr>
          </a:lstStyle>
          <a:p>
            <a:pPr>
              <a:defRPr/>
            </a:pPr>
            <a:r>
              <a:rPr lang="en-AU" altLang="en-US"/>
              <a:t>Chapter 1 — Computer Abstractions and Technology — </a:t>
            </a:r>
            <a:fld id="{DABFE611-EEDC-4352-9E47-EBF1F84915C8}" type="slidenum">
              <a:rPr lang="en-AU" altLang="en-US"/>
              <a:pPr>
                <a:defRPr/>
              </a:pPr>
              <a:t>‹#›</a:t>
            </a:fld>
            <a:endParaRPr lang="en-AU" altLang="en-US"/>
          </a:p>
        </p:txBody>
      </p:sp>
    </p:spTree>
    <p:extLst>
      <p:ext uri="{BB962C8B-B14F-4D97-AF65-F5344CB8AC3E}">
        <p14:creationId xmlns:p14="http://schemas.microsoft.com/office/powerpoint/2010/main" val="3759756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D0A364-E896-4228-8B8C-2A4ECD1E8A25}" type="datetime1">
              <a:rPr lang="en-US" smtClean="0"/>
              <a:t>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Amrita School of Engineering, Bangalore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843A0-D5C2-4D72-A6B6-2325E0D42116}" type="slidenum">
              <a:rPr lang="en-US" smtClean="0"/>
              <a:t>‹#›</a:t>
            </a:fld>
            <a:endParaRPr lang="en-US"/>
          </a:p>
        </p:txBody>
      </p:sp>
      <p:pic>
        <p:nvPicPr>
          <p:cNvPr id="7" name="Picture 2" descr="G:\School\AVV logo\Amrita-colr.jpg"/>
          <p:cNvPicPr>
            <a:picLocks noChangeAspect="1" noChangeArrowheads="1"/>
          </p:cNvPicPr>
          <p:nvPr userDrawn="1"/>
        </p:nvPicPr>
        <p:blipFill>
          <a:blip r:embed="rId14" cstate="print"/>
          <a:srcRect/>
          <a:stretch>
            <a:fillRect/>
          </a:stretch>
        </p:blipFill>
        <p:spPr bwMode="auto">
          <a:xfrm>
            <a:off x="6577199" y="0"/>
            <a:ext cx="2566801" cy="76428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0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computerscience.gcse.guru/glossary/memory-address-register" TargetMode="External"/><Relationship Id="rId7" Type="http://schemas.openxmlformats.org/officeDocument/2006/relationships/hyperlink" Target="https://www.computerscience.gcse.guru/glossary/current-instruction-register"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computerscience.gcse.guru/glossary/program-counter" TargetMode="External"/><Relationship Id="rId5" Type="http://schemas.openxmlformats.org/officeDocument/2006/relationships/hyperlink" Target="https://www.computerscience.gcse.guru/glossary/accumulator" TargetMode="External"/><Relationship Id="rId4" Type="http://schemas.openxmlformats.org/officeDocument/2006/relationships/hyperlink" Target="https://www.computerscience.gcse.guru/glossary/memory-data-register"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1</a:t>
            </a:fld>
            <a:endParaRPr lang="en-US"/>
          </a:p>
        </p:txBody>
      </p:sp>
      <p:pic>
        <p:nvPicPr>
          <p:cNvPr id="1028" name="Picture 4" descr="education sight: Generation of Computer With help of t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66302"/>
            <a:ext cx="8610600" cy="6655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039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0" y="914400"/>
            <a:ext cx="8610599" cy="5334000"/>
          </a:xfrm>
          <a:prstGeom prst="rect">
            <a:avLst/>
          </a:prstGeom>
        </p:spPr>
      </p:pic>
      <p:sp>
        <p:nvSpPr>
          <p:cNvPr id="2" name="Title 1"/>
          <p:cNvSpPr>
            <a:spLocks noGrp="1"/>
          </p:cNvSpPr>
          <p:nvPr>
            <p:ph type="title"/>
          </p:nvPr>
        </p:nvSpPr>
        <p:spPr/>
        <p:txBody>
          <a:bodyPr/>
          <a:lstStyle/>
          <a:p>
            <a:r>
              <a:rPr lang="en-US" dirty="0"/>
              <a:t>Decimal vs Binary</a:t>
            </a:r>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2</a:t>
            </a:fld>
            <a:endParaRPr lang="en-US"/>
          </a:p>
        </p:txBody>
      </p:sp>
    </p:spTree>
    <p:extLst>
      <p:ext uri="{BB962C8B-B14F-4D97-AF65-F5344CB8AC3E}">
        <p14:creationId xmlns:p14="http://schemas.microsoft.com/office/powerpoint/2010/main" val="986838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altLang="en-US"/>
              <a:t>Understanding Performance</a:t>
            </a:r>
            <a:endParaRPr lang="en-AU" altLang="en-US"/>
          </a:p>
        </p:txBody>
      </p:sp>
      <p:sp>
        <p:nvSpPr>
          <p:cNvPr id="24580" name="Rectangle 3"/>
          <p:cNvSpPr>
            <a:spLocks noGrp="1" noChangeArrowheads="1"/>
          </p:cNvSpPr>
          <p:nvPr>
            <p:ph type="body" idx="1"/>
          </p:nvPr>
        </p:nvSpPr>
        <p:spPr/>
        <p:txBody>
          <a:bodyPr/>
          <a:lstStyle/>
          <a:p>
            <a:pPr eaLnBrk="1" hangingPunct="1"/>
            <a:r>
              <a:rPr lang="en-US" altLang="en-US" sz="2800" dirty="0"/>
              <a:t>Algorithm</a:t>
            </a:r>
          </a:p>
          <a:p>
            <a:pPr lvl="1" eaLnBrk="1" hangingPunct="1"/>
            <a:r>
              <a:rPr lang="en-US" altLang="en-US" sz="2400" dirty="0"/>
              <a:t>Determines number of operations executed</a:t>
            </a:r>
          </a:p>
          <a:p>
            <a:pPr eaLnBrk="1" hangingPunct="1"/>
            <a:r>
              <a:rPr lang="en-US" altLang="en-US" sz="2800" dirty="0"/>
              <a:t>Programming language, compiler, architecture</a:t>
            </a:r>
          </a:p>
          <a:p>
            <a:pPr lvl="1" eaLnBrk="1" hangingPunct="1"/>
            <a:r>
              <a:rPr lang="en-US" altLang="en-US" sz="2400" dirty="0"/>
              <a:t>Determine number of machine instructions executed per operation</a:t>
            </a:r>
          </a:p>
          <a:p>
            <a:pPr eaLnBrk="1" hangingPunct="1"/>
            <a:r>
              <a:rPr lang="en-US" altLang="en-US" sz="2800" dirty="0"/>
              <a:t>Processor and memory system</a:t>
            </a:r>
          </a:p>
          <a:p>
            <a:pPr lvl="1" eaLnBrk="1" hangingPunct="1"/>
            <a:r>
              <a:rPr lang="en-US" altLang="en-US" sz="2400" dirty="0"/>
              <a:t>Determine how fast instructions are executed</a:t>
            </a:r>
          </a:p>
          <a:p>
            <a:pPr eaLnBrk="1" hangingPunct="1"/>
            <a:r>
              <a:rPr lang="en-US" altLang="en-US" sz="2800" dirty="0"/>
              <a:t>I/O system (including OS)</a:t>
            </a:r>
          </a:p>
          <a:p>
            <a:pPr lvl="1" eaLnBrk="1" hangingPunct="1"/>
            <a:r>
              <a:rPr lang="en-US" altLang="en-US" sz="2400" dirty="0"/>
              <a:t>Determines how fast I/O operations are executed</a:t>
            </a:r>
            <a:endParaRPr lang="en-AU" altLang="en-US" sz="2400" dirty="0"/>
          </a:p>
        </p:txBody>
      </p:sp>
    </p:spTree>
    <p:extLst>
      <p:ext uri="{BB962C8B-B14F-4D97-AF65-F5344CB8AC3E}">
        <p14:creationId xmlns:p14="http://schemas.microsoft.com/office/powerpoint/2010/main" val="2073285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216106" y="-170501"/>
            <a:ext cx="8229600" cy="1143000"/>
          </a:xfrm>
        </p:spPr>
        <p:txBody>
          <a:bodyPr/>
          <a:lstStyle/>
          <a:p>
            <a:r>
              <a:rPr lang="en-US" altLang="en-US" dirty="0"/>
              <a:t>Eight Great Ideas</a:t>
            </a:r>
          </a:p>
        </p:txBody>
      </p:sp>
      <p:sp>
        <p:nvSpPr>
          <p:cNvPr id="26627" name="Content Placeholder 2"/>
          <p:cNvSpPr>
            <a:spLocks noGrp="1"/>
          </p:cNvSpPr>
          <p:nvPr>
            <p:ph idx="1"/>
          </p:nvPr>
        </p:nvSpPr>
        <p:spPr>
          <a:xfrm>
            <a:off x="314715" y="1004450"/>
            <a:ext cx="8229600" cy="4525963"/>
          </a:xfrm>
        </p:spPr>
        <p:txBody>
          <a:bodyPr>
            <a:normAutofit fontScale="92500"/>
          </a:bodyPr>
          <a:lstStyle/>
          <a:p>
            <a:pPr>
              <a:lnSpc>
                <a:spcPct val="150000"/>
              </a:lnSpc>
            </a:pPr>
            <a:r>
              <a:rPr lang="en-US" altLang="en-US" sz="2400" dirty="0"/>
              <a:t>Design for </a:t>
            </a:r>
            <a:r>
              <a:rPr lang="en-US" altLang="en-US" sz="2400" b="1" i="1" dirty="0"/>
              <a:t>Moore’s Law</a:t>
            </a:r>
          </a:p>
          <a:p>
            <a:pPr>
              <a:lnSpc>
                <a:spcPct val="150000"/>
              </a:lnSpc>
            </a:pPr>
            <a:r>
              <a:rPr lang="en-US" altLang="en-US" sz="2400" dirty="0"/>
              <a:t>Use </a:t>
            </a:r>
            <a:r>
              <a:rPr lang="en-US" altLang="en-US" sz="2400" b="1" i="1" dirty="0"/>
              <a:t>abstraction</a:t>
            </a:r>
            <a:r>
              <a:rPr lang="en-US" altLang="en-US" sz="2400" dirty="0"/>
              <a:t> to simplify design</a:t>
            </a:r>
          </a:p>
          <a:p>
            <a:pPr>
              <a:lnSpc>
                <a:spcPct val="150000"/>
              </a:lnSpc>
            </a:pPr>
            <a:r>
              <a:rPr lang="en-US" altLang="en-US" sz="2400" dirty="0"/>
              <a:t>Make the </a:t>
            </a:r>
            <a:r>
              <a:rPr lang="en-US" altLang="en-US" sz="2400" b="1" i="1" dirty="0"/>
              <a:t>common case fast</a:t>
            </a:r>
          </a:p>
          <a:p>
            <a:pPr>
              <a:lnSpc>
                <a:spcPct val="150000"/>
              </a:lnSpc>
            </a:pPr>
            <a:r>
              <a:rPr lang="en-US" altLang="en-US" sz="2400" dirty="0"/>
              <a:t>Performance </a:t>
            </a:r>
            <a:r>
              <a:rPr lang="en-US" altLang="en-US" sz="2400" i="1" dirty="0"/>
              <a:t>via</a:t>
            </a:r>
            <a:r>
              <a:rPr lang="en-US" altLang="en-US" sz="2400" dirty="0"/>
              <a:t> </a:t>
            </a:r>
            <a:r>
              <a:rPr lang="en-US" altLang="en-US" sz="2400" b="1" i="1" dirty="0"/>
              <a:t>parallelism</a:t>
            </a:r>
          </a:p>
          <a:p>
            <a:pPr>
              <a:lnSpc>
                <a:spcPct val="150000"/>
              </a:lnSpc>
            </a:pPr>
            <a:r>
              <a:rPr lang="en-US" altLang="en-US" sz="2400" dirty="0"/>
              <a:t>Performance </a:t>
            </a:r>
            <a:r>
              <a:rPr lang="en-US" altLang="en-US" sz="2400" i="1" dirty="0"/>
              <a:t>via</a:t>
            </a:r>
            <a:r>
              <a:rPr lang="en-US" altLang="en-US" sz="2400" dirty="0"/>
              <a:t> </a:t>
            </a:r>
            <a:r>
              <a:rPr lang="en-US" altLang="en-US" sz="2400" b="1" i="1" dirty="0"/>
              <a:t>pipelining</a:t>
            </a:r>
          </a:p>
          <a:p>
            <a:pPr>
              <a:lnSpc>
                <a:spcPct val="150000"/>
              </a:lnSpc>
            </a:pPr>
            <a:r>
              <a:rPr lang="en-US" altLang="en-US" sz="2400" dirty="0"/>
              <a:t>Performance </a:t>
            </a:r>
            <a:r>
              <a:rPr lang="en-US" altLang="en-US" sz="2400" i="1" dirty="0"/>
              <a:t>via</a:t>
            </a:r>
            <a:r>
              <a:rPr lang="en-US" altLang="en-US" sz="2400" dirty="0"/>
              <a:t> </a:t>
            </a:r>
            <a:r>
              <a:rPr lang="en-US" altLang="en-US" sz="2400" b="1" i="1" dirty="0"/>
              <a:t>prediction</a:t>
            </a:r>
          </a:p>
          <a:p>
            <a:pPr>
              <a:lnSpc>
                <a:spcPct val="150000"/>
              </a:lnSpc>
            </a:pPr>
            <a:r>
              <a:rPr lang="en-US" altLang="en-US" sz="2400" b="1" i="1" dirty="0"/>
              <a:t>Hierarchy</a:t>
            </a:r>
            <a:r>
              <a:rPr lang="en-US" altLang="en-US" sz="2400" dirty="0"/>
              <a:t> of memories</a:t>
            </a:r>
          </a:p>
          <a:p>
            <a:pPr>
              <a:lnSpc>
                <a:spcPct val="150000"/>
              </a:lnSpc>
            </a:pPr>
            <a:r>
              <a:rPr lang="en-US" altLang="en-US" sz="2400" b="1" i="1" dirty="0"/>
              <a:t>Dependability</a:t>
            </a:r>
            <a:r>
              <a:rPr lang="en-US" altLang="en-US" sz="2400" dirty="0"/>
              <a:t> </a:t>
            </a:r>
            <a:r>
              <a:rPr lang="en-US" altLang="en-US" sz="2400" i="1" dirty="0"/>
              <a:t>via</a:t>
            </a:r>
            <a:r>
              <a:rPr lang="en-US" altLang="en-US" sz="2400" dirty="0"/>
              <a:t> redundancy</a:t>
            </a:r>
          </a:p>
        </p:txBody>
      </p:sp>
      <p:sp>
        <p:nvSpPr>
          <p:cNvPr id="2662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en-US" sz="1400"/>
              <a:t>Chapter 1 — Computer Abstractions and Technology — </a:t>
            </a:r>
            <a:fld id="{F0054782-DCF4-48AB-BBCE-1EAF9832D46D}" type="slidenum">
              <a:rPr lang="en-AU" altLang="en-US" sz="1400" smtClean="0"/>
              <a:pPr>
                <a:spcBef>
                  <a:spcPct val="0"/>
                </a:spcBef>
                <a:buClrTx/>
                <a:buSzTx/>
                <a:buFontTx/>
                <a:buNone/>
              </a:pPr>
              <a:t>4</a:t>
            </a:fld>
            <a:endParaRPr lang="en-AU" altLang="en-US" sz="1400"/>
          </a:p>
        </p:txBody>
      </p:sp>
      <p:pic>
        <p:nvPicPr>
          <p:cNvPr id="26629"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0588" y="5949898"/>
            <a:ext cx="1066800" cy="1053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8345" y="5751733"/>
            <a:ext cx="1146272" cy="1566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5622" y="5880866"/>
            <a:ext cx="1213404" cy="1281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5740" y="5973579"/>
            <a:ext cx="1012859" cy="1029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3"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1841" y="5973580"/>
            <a:ext cx="910289" cy="1032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4"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4322" y="5952504"/>
            <a:ext cx="1117277" cy="107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5"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59610" y="5938673"/>
            <a:ext cx="1105512" cy="1112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6"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0380" y="5738704"/>
            <a:ext cx="1212882" cy="1566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983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8600" y="685800"/>
            <a:ext cx="8610600" cy="1676400"/>
          </a:xfrm>
        </p:spPr>
        <p:txBody>
          <a:bodyPr>
            <a:normAutofit/>
          </a:bodyPr>
          <a:lstStyle/>
          <a:p>
            <a:r>
              <a:rPr lang="en-IN" sz="4000" b="1" dirty="0">
                <a:latin typeface="Times New Roman" pitchFamily="18" charset="0"/>
                <a:cs typeface="Times New Roman" pitchFamily="18" charset="0"/>
              </a:rPr>
              <a:t>Computer Architecture and Organization</a:t>
            </a:r>
            <a:endParaRPr lang="en-US" sz="4000" b="1" dirty="0">
              <a:latin typeface="Times New Roman" pitchFamily="18" charset="0"/>
              <a:cs typeface="Times New Roman" pitchFamily="18" charset="0"/>
            </a:endParaRPr>
          </a:p>
        </p:txBody>
      </p:sp>
      <p:sp>
        <p:nvSpPr>
          <p:cNvPr id="5" name="Subtitle 4"/>
          <p:cNvSpPr>
            <a:spLocks noGrp="1"/>
          </p:cNvSpPr>
          <p:nvPr>
            <p:ph type="subTitle" idx="1"/>
          </p:nvPr>
        </p:nvSpPr>
        <p:spPr>
          <a:xfrm>
            <a:off x="381000" y="2590800"/>
            <a:ext cx="8229600" cy="3124200"/>
          </a:xfrm>
        </p:spPr>
        <p:txBody>
          <a:bodyPr>
            <a:normAutofit lnSpcReduction="10000"/>
          </a:bodyPr>
          <a:lstStyle/>
          <a:p>
            <a:pPr algn="just">
              <a:spcBef>
                <a:spcPct val="0"/>
              </a:spcBef>
              <a:buFont typeface="Arial" pitchFamily="34" charset="0"/>
              <a:buChar char="•"/>
            </a:pPr>
            <a:r>
              <a:rPr lang="en-IN" sz="3000" dirty="0">
                <a:solidFill>
                  <a:schemeClr val="tx1"/>
                </a:solidFill>
                <a:latin typeface="Times New Roman" pitchFamily="18" charset="0"/>
                <a:ea typeface="+mj-ea"/>
                <a:cs typeface="Times New Roman" pitchFamily="18" charset="0"/>
              </a:rPr>
              <a:t>Architecture – What to do?</a:t>
            </a:r>
          </a:p>
          <a:p>
            <a:pPr algn="just">
              <a:spcBef>
                <a:spcPct val="0"/>
              </a:spcBef>
              <a:buFont typeface="Arial" pitchFamily="34" charset="0"/>
              <a:buChar char="•"/>
            </a:pPr>
            <a:r>
              <a:rPr lang="en-IN" sz="3000" dirty="0">
                <a:solidFill>
                  <a:schemeClr val="tx1"/>
                </a:solidFill>
                <a:latin typeface="Times New Roman" pitchFamily="18" charset="0"/>
                <a:ea typeface="+mj-ea"/>
                <a:cs typeface="Times New Roman" pitchFamily="18" charset="0"/>
              </a:rPr>
              <a:t>Organization – How to do?</a:t>
            </a:r>
          </a:p>
          <a:p>
            <a:pPr algn="just">
              <a:spcBef>
                <a:spcPct val="0"/>
              </a:spcBef>
              <a:buFont typeface="Arial" pitchFamily="34" charset="0"/>
              <a:buChar char="•"/>
            </a:pPr>
            <a:endParaRPr lang="en-IN" sz="3000" dirty="0">
              <a:solidFill>
                <a:schemeClr val="tx1"/>
              </a:solidFill>
              <a:latin typeface="Times New Roman" pitchFamily="18" charset="0"/>
              <a:ea typeface="+mj-ea"/>
              <a:cs typeface="Times New Roman" pitchFamily="18" charset="0"/>
            </a:endParaRPr>
          </a:p>
          <a:p>
            <a:pPr algn="just">
              <a:spcBef>
                <a:spcPct val="0"/>
              </a:spcBef>
              <a:buFont typeface="Arial" pitchFamily="34" charset="0"/>
              <a:buChar char="•"/>
            </a:pPr>
            <a:r>
              <a:rPr lang="en-IN" sz="3000" dirty="0">
                <a:solidFill>
                  <a:schemeClr val="tx1"/>
                </a:solidFill>
                <a:latin typeface="Times New Roman" pitchFamily="18" charset="0"/>
                <a:cs typeface="Times New Roman" pitchFamily="18" charset="0"/>
              </a:rPr>
              <a:t>Architecture – Connected to design</a:t>
            </a:r>
          </a:p>
          <a:p>
            <a:pPr algn="just">
              <a:spcBef>
                <a:spcPct val="0"/>
              </a:spcBef>
              <a:buFont typeface="Arial" pitchFamily="34" charset="0"/>
              <a:buChar char="•"/>
            </a:pPr>
            <a:r>
              <a:rPr lang="en-IN" sz="3000" dirty="0">
                <a:solidFill>
                  <a:schemeClr val="tx1"/>
                </a:solidFill>
                <a:latin typeface="Times New Roman" pitchFamily="18" charset="0"/>
                <a:cs typeface="Times New Roman" pitchFamily="18" charset="0"/>
              </a:rPr>
              <a:t>Organization – Building process or Implement</a:t>
            </a:r>
          </a:p>
          <a:p>
            <a:pPr algn="just">
              <a:spcBef>
                <a:spcPct val="0"/>
              </a:spcBef>
              <a:buFont typeface="Arial" pitchFamily="34" charset="0"/>
              <a:buChar char="•"/>
            </a:pPr>
            <a:endParaRPr lang="en-IN" sz="3000" dirty="0">
              <a:solidFill>
                <a:schemeClr val="tx1"/>
              </a:solidFill>
              <a:latin typeface="Times New Roman" pitchFamily="18" charset="0"/>
              <a:cs typeface="Times New Roman" pitchFamily="18" charset="0"/>
            </a:endParaRPr>
          </a:p>
          <a:p>
            <a:pPr algn="just">
              <a:spcBef>
                <a:spcPct val="0"/>
              </a:spcBef>
              <a:buFont typeface="Arial" pitchFamily="34" charset="0"/>
              <a:buChar char="•"/>
            </a:pPr>
            <a:r>
              <a:rPr lang="en-IN" sz="3000" dirty="0">
                <a:solidFill>
                  <a:schemeClr val="tx1"/>
                </a:solidFill>
                <a:latin typeface="Times New Roman" pitchFamily="18" charset="0"/>
                <a:cs typeface="Times New Roman" pitchFamily="18" charset="0"/>
              </a:rPr>
              <a:t>Example  – Calculator </a:t>
            </a:r>
          </a:p>
          <a:p>
            <a:pPr algn="just">
              <a:spcBef>
                <a:spcPct val="0"/>
              </a:spcBef>
              <a:buFont typeface="Arial" pitchFamily="34" charset="0"/>
              <a:buChar char="•"/>
            </a:pPr>
            <a:endParaRPr lang="en-IN" sz="3000" dirty="0">
              <a:solidFill>
                <a:schemeClr val="tx1"/>
              </a:solidFill>
              <a:latin typeface="Times New Roman" pitchFamily="18" charset="0"/>
              <a:cs typeface="Times New Roman" pitchFamily="18" charset="0"/>
            </a:endParaRPr>
          </a:p>
          <a:p>
            <a:pPr algn="just">
              <a:spcBef>
                <a:spcPct val="0"/>
              </a:spcBef>
              <a:buFont typeface="Arial" pitchFamily="34" charset="0"/>
              <a:buChar char="•"/>
            </a:pPr>
            <a:endParaRPr lang="en-IN" sz="3600" dirty="0">
              <a:solidFill>
                <a:schemeClr val="tx1"/>
              </a:solidFill>
              <a:latin typeface="Times New Roman" pitchFamily="18" charset="0"/>
              <a:cs typeface="Times New Roman" pitchFamily="18" charset="0"/>
            </a:endParaRPr>
          </a:p>
          <a:p>
            <a:pPr algn="just">
              <a:spcBef>
                <a:spcPct val="0"/>
              </a:spcBef>
              <a:buFont typeface="Arial" pitchFamily="34" charset="0"/>
              <a:buChar char="•"/>
            </a:pPr>
            <a:endParaRPr lang="en-IN" sz="3600" dirty="0">
              <a:solidFill>
                <a:schemeClr val="tx1"/>
              </a:solidFill>
              <a:latin typeface="Times New Roman" pitchFamily="18" charset="0"/>
              <a:ea typeface="+mj-ea"/>
              <a:cs typeface="Times New Roman" pitchFamily="18" charset="0"/>
            </a:endParaRPr>
          </a:p>
          <a:p>
            <a:pPr algn="just">
              <a:spcBef>
                <a:spcPct val="0"/>
              </a:spcBef>
              <a:buFont typeface="Arial" pitchFamily="34" charset="0"/>
              <a:buChar char="•"/>
            </a:pPr>
            <a:endParaRPr lang="en-IN" sz="3600" dirty="0">
              <a:solidFill>
                <a:schemeClr val="tx1"/>
              </a:solidFill>
              <a:latin typeface="Times New Roman" pitchFamily="18" charset="0"/>
              <a:ea typeface="+mj-ea"/>
              <a:cs typeface="Times New Roman" pitchFamily="18" charset="0"/>
            </a:endParaRPr>
          </a:p>
          <a:p>
            <a:pPr algn="just">
              <a:spcBef>
                <a:spcPct val="0"/>
              </a:spcBef>
              <a:buFont typeface="Arial" pitchFamily="34" charset="0"/>
              <a:buChar char="•"/>
            </a:pPr>
            <a:endParaRPr lang="en-US" sz="3600" dirty="0">
              <a:solidFill>
                <a:schemeClr val="tx1"/>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205885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vs Organization</a:t>
            </a:r>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6</a:t>
            </a:fld>
            <a:endParaRPr lang="en-US"/>
          </a:p>
        </p:txBody>
      </p:sp>
      <p:sp>
        <p:nvSpPr>
          <p:cNvPr id="7" name="Content Placeholder 5"/>
          <p:cNvSpPr>
            <a:spLocks noGrp="1"/>
          </p:cNvSpPr>
          <p:nvPr>
            <p:ph idx="1"/>
          </p:nvPr>
        </p:nvSpPr>
        <p:spPr/>
        <p:txBody>
          <a:bodyPr>
            <a:normAutofit fontScale="92500" lnSpcReduction="20000"/>
          </a:bodyPr>
          <a:lstStyle/>
          <a:p>
            <a:r>
              <a:rPr lang="en-IN" b="1" dirty="0">
                <a:solidFill>
                  <a:srgbClr val="FF0000"/>
                </a:solidFill>
              </a:rPr>
              <a:t>Architecture will always be concerned with what to do?</a:t>
            </a:r>
          </a:p>
          <a:p>
            <a:r>
              <a:rPr lang="en-IN" b="1" dirty="0">
                <a:solidFill>
                  <a:srgbClr val="0070C0"/>
                </a:solidFill>
              </a:rPr>
              <a:t>Organization will take care of how to do?</a:t>
            </a:r>
            <a:r>
              <a:rPr lang="en-IN" dirty="0"/>
              <a:t> </a:t>
            </a:r>
          </a:p>
          <a:p>
            <a:r>
              <a:rPr lang="en-IN" b="1" dirty="0">
                <a:solidFill>
                  <a:srgbClr val="FF0000"/>
                </a:solidFill>
              </a:rPr>
              <a:t>In simple terms, architecture is concerned with the design and organization is concerned with the building process. </a:t>
            </a:r>
          </a:p>
          <a:p>
            <a:r>
              <a:rPr lang="en-IN" b="1" dirty="0">
                <a:solidFill>
                  <a:srgbClr val="FF0000"/>
                </a:solidFill>
              </a:rPr>
              <a:t>Architecture shall carry out the analysis and zeroing in about the instructions, modes of addressing and usage of registers. </a:t>
            </a:r>
          </a:p>
          <a:p>
            <a:r>
              <a:rPr lang="en-IN" b="1" dirty="0">
                <a:solidFill>
                  <a:schemeClr val="accent1">
                    <a:lumMod val="75000"/>
                  </a:schemeClr>
                </a:solidFill>
              </a:rPr>
              <a:t>Computer Architecture carries the precedence than Computer organization. </a:t>
            </a:r>
          </a:p>
          <a:p>
            <a:pPr marL="457200" lvl="1" indent="0">
              <a:buNone/>
            </a:pPr>
            <a:r>
              <a:rPr lang="en-IN" dirty="0"/>
              <a:t>Only after the design, the implementation can be done. </a:t>
            </a:r>
          </a:p>
          <a:p>
            <a:r>
              <a:rPr lang="en-IN" b="1" dirty="0">
                <a:solidFill>
                  <a:srgbClr val="FF0000"/>
                </a:solidFill>
              </a:rPr>
              <a:t>It is to be compared with high level design. </a:t>
            </a:r>
          </a:p>
          <a:p>
            <a:r>
              <a:rPr lang="en-IN" b="1" dirty="0">
                <a:solidFill>
                  <a:srgbClr val="FF0000"/>
                </a:solidFill>
              </a:rPr>
              <a:t>For example, if a calculator is built, it is to be decided if it will support the division operation is an architectural analysis. Likewise, all the features which a computer has are defined at architectural phase. </a:t>
            </a:r>
          </a:p>
          <a:p>
            <a:endParaRPr lang="en-IN" dirty="0"/>
          </a:p>
        </p:txBody>
      </p:sp>
    </p:spTree>
    <p:extLst>
      <p:ext uri="{BB962C8B-B14F-4D97-AF65-F5344CB8AC3E}">
        <p14:creationId xmlns:p14="http://schemas.microsoft.com/office/powerpoint/2010/main" val="1019568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endParaRPr lang="en-IN" dirty="0"/>
          </a:p>
        </p:txBody>
      </p:sp>
      <p:sp>
        <p:nvSpPr>
          <p:cNvPr id="3" name="Content Placeholder 2"/>
          <p:cNvSpPr>
            <a:spLocks noGrp="1"/>
          </p:cNvSpPr>
          <p:nvPr>
            <p:ph idx="1"/>
          </p:nvPr>
        </p:nvSpPr>
        <p:spPr>
          <a:xfrm>
            <a:off x="1028700" y="1828800"/>
            <a:ext cx="7200900" cy="4190999"/>
          </a:xfrm>
        </p:spPr>
        <p:txBody>
          <a:bodyPr>
            <a:normAutofit fontScale="55000" lnSpcReduction="20000"/>
          </a:bodyPr>
          <a:lstStyle/>
          <a:p>
            <a:r>
              <a:rPr lang="en-IN" sz="3600" dirty="0"/>
              <a:t>Organization is the next phase to architecture. </a:t>
            </a:r>
          </a:p>
          <a:p>
            <a:r>
              <a:rPr lang="en-IN" sz="3600" dirty="0"/>
              <a:t>Or, organization is dependent on architectural decisions. </a:t>
            </a:r>
          </a:p>
          <a:p>
            <a:r>
              <a:rPr lang="en-IN" sz="3600" dirty="0"/>
              <a:t>Realization of the architectural decisions happens through the organization. </a:t>
            </a:r>
          </a:p>
          <a:p>
            <a:r>
              <a:rPr lang="en-IN" sz="3600" dirty="0"/>
              <a:t>The same example of Division operation is now to be seen from the organization perspective. </a:t>
            </a:r>
          </a:p>
          <a:p>
            <a:pPr lvl="1"/>
            <a:r>
              <a:rPr lang="en-IN" sz="3600" b="1" dirty="0"/>
              <a:t>Having decided to support Division operation, organization shall enable to have the division done through the repeated subtraction or through division unit. </a:t>
            </a:r>
          </a:p>
          <a:p>
            <a:pPr lvl="1"/>
            <a:r>
              <a:rPr lang="en-IN" sz="3600" dirty="0"/>
              <a:t>This decision of if to go with repeated subtraction or otherwise is the role of Organization. </a:t>
            </a:r>
          </a:p>
          <a:p>
            <a:pPr lvl="1"/>
            <a:r>
              <a:rPr lang="en-IN" sz="3600" dirty="0"/>
              <a:t>Organization shall also help in identifying or uncovering design issues or challenges. </a:t>
            </a:r>
          </a:p>
          <a:p>
            <a:endParaRPr lang="en-IN" dirty="0"/>
          </a:p>
        </p:txBody>
      </p:sp>
      <p:sp>
        <p:nvSpPr>
          <p:cNvPr id="4" name="Date Placeholder 3"/>
          <p:cNvSpPr>
            <a:spLocks noGrp="1"/>
          </p:cNvSpPr>
          <p:nvPr>
            <p:ph type="dt" sz="half" idx="10"/>
          </p:nvPr>
        </p:nvSpPr>
        <p:spPr/>
        <p:txBody>
          <a:bodyPr/>
          <a:lstStyle/>
          <a:p>
            <a:fld id="{D55DE994-8335-47B3-91BE-1E99F2AD65E2}" type="datetime1">
              <a:rPr lang="en-US" smtClean="0"/>
              <a:t>1/7/2026</a:t>
            </a:fld>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7</a:t>
            </a:fld>
            <a:endParaRPr lang="en-US" dirty="0"/>
          </a:p>
        </p:txBody>
      </p:sp>
    </p:spTree>
    <p:extLst>
      <p:ext uri="{BB962C8B-B14F-4D97-AF65-F5344CB8AC3E}">
        <p14:creationId xmlns:p14="http://schemas.microsoft.com/office/powerpoint/2010/main" val="2241107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1219200"/>
            <a:ext cx="9144000" cy="4495800"/>
          </a:xfrm>
          <a:prstGeom prst="rect">
            <a:avLst/>
          </a:prstGeom>
          <a:noFill/>
          <a:ln w="9525">
            <a:noFill/>
            <a:miter lim="800000"/>
            <a:headEnd/>
            <a:tailEnd/>
          </a:ln>
          <a:effectLst/>
        </p:spPr>
      </p:pic>
    </p:spTree>
    <p:extLst>
      <p:ext uri="{BB962C8B-B14F-4D97-AF65-F5344CB8AC3E}">
        <p14:creationId xmlns:p14="http://schemas.microsoft.com/office/powerpoint/2010/main" val="362138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9</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39362"/>
            <a:ext cx="8610600" cy="541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8820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ISA – Instruction Set Architecture</a:t>
            </a:r>
          </a:p>
        </p:txBody>
      </p:sp>
      <p:sp>
        <p:nvSpPr>
          <p:cNvPr id="3" name="Content Placeholder 2"/>
          <p:cNvSpPr>
            <a:spLocks noGrp="1"/>
          </p:cNvSpPr>
          <p:nvPr>
            <p:ph idx="1"/>
          </p:nvPr>
        </p:nvSpPr>
        <p:spPr>
          <a:xfrm>
            <a:off x="986790" y="1720033"/>
            <a:ext cx="7200900" cy="2686050"/>
          </a:xfrm>
        </p:spPr>
        <p:txBody>
          <a:bodyPr>
            <a:normAutofit fontScale="92500" lnSpcReduction="10000"/>
          </a:bodyPr>
          <a:lstStyle/>
          <a:p>
            <a:r>
              <a:rPr lang="en-IN" dirty="0"/>
              <a:t>Instruction Set Architecture, ISA, is an interface between the hardware and software and it is indeed playing the role of an instructor to instruct the hardware about what to be done through the software instructions. </a:t>
            </a:r>
          </a:p>
          <a:p>
            <a:r>
              <a:rPr lang="en-IN" dirty="0"/>
              <a:t>In other words, ISA helps to utilize the hardware to its complete ability through the software instructions. </a:t>
            </a:r>
          </a:p>
          <a:p>
            <a:r>
              <a:rPr lang="en-IN" dirty="0"/>
              <a:t>It is a mediator and acts as a frontier amid the software and hardware. </a:t>
            </a:r>
          </a:p>
          <a:p>
            <a:endParaRPr lang="en-IN" dirty="0"/>
          </a:p>
          <a:p>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928256" y="4114801"/>
            <a:ext cx="3472543" cy="2424112"/>
          </a:xfrm>
          <a:prstGeom prst="rect">
            <a:avLst/>
          </a:prstGeom>
          <a:noFill/>
          <a:ln>
            <a:noFill/>
          </a:ln>
        </p:spPr>
      </p:pic>
      <p:sp>
        <p:nvSpPr>
          <p:cNvPr id="5" name="Date Placeholder 4"/>
          <p:cNvSpPr>
            <a:spLocks noGrp="1"/>
          </p:cNvSpPr>
          <p:nvPr>
            <p:ph type="dt" sz="half" idx="10"/>
          </p:nvPr>
        </p:nvSpPr>
        <p:spPr/>
        <p:txBody>
          <a:bodyPr/>
          <a:lstStyle/>
          <a:p>
            <a:fld id="{AFB84983-1DF2-42B2-BE49-8237EF83DDC7}" type="datetime1">
              <a:rPr lang="en-US" smtClean="0"/>
              <a:t>1/7/2026</a:t>
            </a:fld>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10</a:t>
            </a:fld>
            <a:endParaRPr lang="en-US" dirty="0"/>
          </a:p>
        </p:txBody>
      </p:sp>
    </p:spTree>
    <p:extLst>
      <p:ext uri="{BB962C8B-B14F-4D97-AF65-F5344CB8AC3E}">
        <p14:creationId xmlns:p14="http://schemas.microsoft.com/office/powerpoint/2010/main" val="1715308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Contd., </a:t>
            </a:r>
          </a:p>
        </p:txBody>
      </p:sp>
      <p:sp>
        <p:nvSpPr>
          <p:cNvPr id="3" name="Content Placeholder 2"/>
          <p:cNvSpPr>
            <a:spLocks noGrp="1"/>
          </p:cNvSpPr>
          <p:nvPr>
            <p:ph idx="1"/>
          </p:nvPr>
        </p:nvSpPr>
        <p:spPr>
          <a:xfrm>
            <a:off x="838200" y="1387786"/>
            <a:ext cx="7620000" cy="4479614"/>
          </a:xfrm>
        </p:spPr>
        <p:txBody>
          <a:bodyPr>
            <a:normAutofit lnSpcReduction="10000"/>
          </a:bodyPr>
          <a:lstStyle/>
          <a:p>
            <a:r>
              <a:rPr lang="en-IN" sz="2200" dirty="0"/>
              <a:t>ISA helps in defining the operations, modes of operation supported, addressing, storage related inputs, how to use, perhaps, how to access the operands through instructions etc. </a:t>
            </a:r>
          </a:p>
          <a:p>
            <a:r>
              <a:rPr lang="en-IN" sz="2200" dirty="0"/>
              <a:t>In short, or more precisely, one could say that, a processor is detailed through the instruction set architecture. </a:t>
            </a:r>
          </a:p>
          <a:p>
            <a:r>
              <a:rPr lang="en-IN" sz="2200" dirty="0"/>
              <a:t>There are many processors and there could be many ISAs. </a:t>
            </a:r>
          </a:p>
          <a:p>
            <a:r>
              <a:rPr lang="en-IN" sz="2200" dirty="0"/>
              <a:t>The ISA would support multiple instructions and instruction types based on the processor selected. </a:t>
            </a:r>
          </a:p>
          <a:p>
            <a:r>
              <a:rPr lang="en-IN" sz="2200" dirty="0"/>
              <a:t>The instructions specified by the ISA shall be well interpreted by the processor and corresponding action shall be initiated. ISA is a collection of instructions and formats supported for the processor. Through ISA, i.e. instructions one can access the resources. </a:t>
            </a:r>
          </a:p>
          <a:p>
            <a:pPr marL="0" indent="0">
              <a:buNone/>
            </a:pPr>
            <a:endParaRPr lang="en-IN" sz="2200" dirty="0"/>
          </a:p>
          <a:p>
            <a:endParaRPr lang="en-IN" dirty="0"/>
          </a:p>
        </p:txBody>
      </p:sp>
      <p:sp>
        <p:nvSpPr>
          <p:cNvPr id="4" name="Date Placeholder 3"/>
          <p:cNvSpPr>
            <a:spLocks noGrp="1"/>
          </p:cNvSpPr>
          <p:nvPr>
            <p:ph type="dt" sz="half" idx="10"/>
          </p:nvPr>
        </p:nvSpPr>
        <p:spPr/>
        <p:txBody>
          <a:bodyPr/>
          <a:lstStyle/>
          <a:p>
            <a:fld id="{82F3F3F5-092D-4EA6-A84A-63D996308B93}" type="datetime1">
              <a:rPr lang="en-US" smtClean="0"/>
              <a:t>1/7/2026</a:t>
            </a:fld>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11</a:t>
            </a:fld>
            <a:endParaRPr lang="en-US" dirty="0"/>
          </a:p>
        </p:txBody>
      </p:sp>
    </p:spTree>
    <p:extLst>
      <p:ext uri="{BB962C8B-B14F-4D97-AF65-F5344CB8AC3E}">
        <p14:creationId xmlns:p14="http://schemas.microsoft.com/office/powerpoint/2010/main" val="2645277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Contd., </a:t>
            </a:r>
          </a:p>
        </p:txBody>
      </p:sp>
      <p:sp>
        <p:nvSpPr>
          <p:cNvPr id="3" name="Content Placeholder 2"/>
          <p:cNvSpPr>
            <a:spLocks noGrp="1"/>
          </p:cNvSpPr>
          <p:nvPr>
            <p:ph idx="1"/>
          </p:nvPr>
        </p:nvSpPr>
        <p:spPr>
          <a:xfrm>
            <a:off x="1066800" y="1524000"/>
            <a:ext cx="7540534" cy="3046912"/>
          </a:xfrm>
        </p:spPr>
        <p:txBody>
          <a:bodyPr>
            <a:noAutofit/>
          </a:bodyPr>
          <a:lstStyle/>
          <a:p>
            <a:pPr marL="0" indent="0">
              <a:buNone/>
            </a:pPr>
            <a:r>
              <a:rPr lang="en-IN" sz="2000" dirty="0"/>
              <a:t>Now, it is ISA’s role in deciding the following very important considerations. </a:t>
            </a:r>
          </a:p>
          <a:p>
            <a:pPr lvl="1"/>
            <a:r>
              <a:rPr lang="en-IN" sz="2000" dirty="0"/>
              <a:t>What is the operation to be performed? </a:t>
            </a:r>
          </a:p>
          <a:p>
            <a:pPr lvl="1"/>
            <a:r>
              <a:rPr lang="en-IN" sz="2000" dirty="0"/>
              <a:t>Where to store the operands? </a:t>
            </a:r>
          </a:p>
          <a:p>
            <a:pPr lvl="1"/>
            <a:r>
              <a:rPr lang="en-IN" sz="2000" dirty="0"/>
              <a:t>Where to store the result of the operation? </a:t>
            </a:r>
          </a:p>
          <a:p>
            <a:pPr lvl="1"/>
            <a:r>
              <a:rPr lang="en-IN" sz="2000" dirty="0"/>
              <a:t>How many operands are needed to perform (this) operation? </a:t>
            </a:r>
          </a:p>
          <a:p>
            <a:pPr lvl="1"/>
            <a:r>
              <a:rPr lang="en-IN" sz="2000" dirty="0"/>
              <a:t>Does the ISA support the operation specified? (For an instance 8085 does not support multiplication and division). </a:t>
            </a:r>
          </a:p>
          <a:p>
            <a:pPr lvl="1"/>
            <a:r>
              <a:rPr lang="en-IN" sz="2000" dirty="0"/>
              <a:t>What is the type of the operation? (it can be classified, reader shall be introduced to this)</a:t>
            </a:r>
          </a:p>
          <a:p>
            <a:pPr lvl="1"/>
            <a:r>
              <a:rPr lang="en-IN" sz="2000" dirty="0"/>
              <a:t>What is the format of the operation? </a:t>
            </a:r>
          </a:p>
          <a:p>
            <a:pPr lvl="1"/>
            <a:r>
              <a:rPr lang="en-IN" sz="2000" dirty="0"/>
              <a:t>Size of the operands. </a:t>
            </a:r>
          </a:p>
          <a:p>
            <a:pPr lvl="1"/>
            <a:r>
              <a:rPr lang="en-IN" sz="2000" dirty="0"/>
              <a:t>What are the addressing modes supported? How to address the operands? </a:t>
            </a:r>
          </a:p>
          <a:p>
            <a:pPr lvl="1"/>
            <a:endParaRPr lang="en-IN" sz="2000" dirty="0"/>
          </a:p>
        </p:txBody>
      </p:sp>
      <p:sp>
        <p:nvSpPr>
          <p:cNvPr id="4" name="Date Placeholder 3"/>
          <p:cNvSpPr>
            <a:spLocks noGrp="1"/>
          </p:cNvSpPr>
          <p:nvPr>
            <p:ph type="dt" sz="half" idx="10"/>
          </p:nvPr>
        </p:nvSpPr>
        <p:spPr/>
        <p:txBody>
          <a:bodyPr/>
          <a:lstStyle/>
          <a:p>
            <a:fld id="{07BE997A-30D1-4C05-A795-14CAFAFF56B9}" type="datetime1">
              <a:rPr lang="en-US" smtClean="0"/>
              <a:t>1/7/2026</a:t>
            </a:fld>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12</a:t>
            </a:fld>
            <a:endParaRPr lang="en-US" dirty="0"/>
          </a:p>
        </p:txBody>
      </p:sp>
    </p:spTree>
    <p:extLst>
      <p:ext uri="{BB962C8B-B14F-4D97-AF65-F5344CB8AC3E}">
        <p14:creationId xmlns:p14="http://schemas.microsoft.com/office/powerpoint/2010/main" val="3483110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Contd.,</a:t>
            </a:r>
          </a:p>
        </p:txBody>
      </p:sp>
      <p:sp>
        <p:nvSpPr>
          <p:cNvPr id="3" name="Content Placeholder 2"/>
          <p:cNvSpPr>
            <a:spLocks noGrp="1"/>
          </p:cNvSpPr>
          <p:nvPr>
            <p:ph idx="1"/>
          </p:nvPr>
        </p:nvSpPr>
        <p:spPr/>
        <p:txBody>
          <a:bodyPr/>
          <a:lstStyle/>
          <a:p>
            <a:r>
              <a:rPr lang="en-IN" sz="2000" dirty="0"/>
              <a:t>Where, </a:t>
            </a:r>
          </a:p>
          <a:p>
            <a:pPr marL="0" indent="0">
              <a:buNone/>
            </a:pPr>
            <a:endParaRPr lang="en-IN" sz="2000" dirty="0"/>
          </a:p>
          <a:p>
            <a:pPr lvl="1"/>
            <a:r>
              <a:rPr lang="en-IN" sz="2000" dirty="0"/>
              <a:t>A has the result of the operation </a:t>
            </a:r>
          </a:p>
          <a:p>
            <a:pPr lvl="1"/>
            <a:r>
              <a:rPr lang="en-IN" sz="2000" dirty="0"/>
              <a:t>B and C are the operands which are to be added. (B and C are called registers, which has values inside) </a:t>
            </a:r>
          </a:p>
          <a:p>
            <a:pPr lvl="1"/>
            <a:r>
              <a:rPr lang="en-IN" sz="2000" dirty="0"/>
              <a:t>“+” is the operation, i.e. addition. </a:t>
            </a:r>
          </a:p>
          <a:p>
            <a:pPr lvl="1"/>
            <a:r>
              <a:rPr lang="en-IN" sz="2000" dirty="0"/>
              <a:t>“=” is the assignment operation, after the expression is evaluated, the result shall be assigned to A. </a:t>
            </a:r>
          </a:p>
          <a:p>
            <a:pPr marL="457200" lvl="1" indent="0">
              <a:buNone/>
            </a:pPr>
            <a:endParaRPr lang="en-IN" sz="2000" dirty="0"/>
          </a:p>
          <a:p>
            <a:r>
              <a:rPr lang="en-IN" sz="2000" b="1" dirty="0">
                <a:solidFill>
                  <a:srgbClr val="002060"/>
                </a:solidFill>
              </a:rPr>
              <a:t>The same addition expression mentioned above shall be accomplished through the instruction ADD A, B, C where B and C are the source registers with A being the destination register. </a:t>
            </a:r>
          </a:p>
          <a:p>
            <a:pPr lvl="1"/>
            <a:endParaRPr lang="en-IN" dirty="0"/>
          </a:p>
          <a:p>
            <a:endParaRPr lang="en-IN" dirty="0"/>
          </a:p>
        </p:txBody>
      </p:sp>
      <p:sp>
        <p:nvSpPr>
          <p:cNvPr id="5" name="TextBox 4"/>
          <p:cNvSpPr txBox="1"/>
          <p:nvPr/>
        </p:nvSpPr>
        <p:spPr>
          <a:xfrm>
            <a:off x="3086100" y="1308864"/>
            <a:ext cx="2971800"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IN" sz="2000" dirty="0"/>
              <a:t>A = B + C  (ADD A, B, C) </a:t>
            </a:r>
          </a:p>
        </p:txBody>
      </p:sp>
      <p:sp>
        <p:nvSpPr>
          <p:cNvPr id="4" name="Date Placeholder 3"/>
          <p:cNvSpPr>
            <a:spLocks noGrp="1"/>
          </p:cNvSpPr>
          <p:nvPr>
            <p:ph type="dt" sz="half" idx="10"/>
          </p:nvPr>
        </p:nvSpPr>
        <p:spPr/>
        <p:txBody>
          <a:bodyPr/>
          <a:lstStyle/>
          <a:p>
            <a:fld id="{84A6258B-9A21-4F63-9C2B-406FCB5F0794}" type="datetime1">
              <a:rPr lang="en-US" smtClean="0"/>
              <a:t>1/7/2026</a:t>
            </a:fld>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13</a:t>
            </a:fld>
            <a:endParaRPr lang="en-US" dirty="0"/>
          </a:p>
        </p:txBody>
      </p:sp>
    </p:spTree>
    <p:extLst>
      <p:ext uri="{BB962C8B-B14F-4D97-AF65-F5344CB8AC3E}">
        <p14:creationId xmlns:p14="http://schemas.microsoft.com/office/powerpoint/2010/main" val="156191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14</a:t>
            </a:fld>
            <a:endParaRPr lang="en-US"/>
          </a:p>
        </p:txBody>
      </p:sp>
      <p:sp>
        <p:nvSpPr>
          <p:cNvPr id="7" name="Content Placeholder 6"/>
          <p:cNvSpPr>
            <a:spLocks noGrp="1"/>
          </p:cNvSpPr>
          <p:nvPr>
            <p:ph idx="1"/>
          </p:nvPr>
        </p:nvSpPr>
        <p:spPr>
          <a:xfrm>
            <a:off x="457200" y="1600200"/>
            <a:ext cx="8229600" cy="3859518"/>
          </a:xfrm>
          <a:prstGeom prst="rect">
            <a:avLst/>
          </a:prstGeom>
        </p:spPr>
        <p:txBody>
          <a:bodyPr wrap="square">
            <a:spAutoFit/>
          </a:bodyPr>
          <a:lstStyle/>
          <a:p>
            <a:pPr marL="0" indent="0">
              <a:buNone/>
            </a:pPr>
            <a:r>
              <a:rPr lang="en-US" dirty="0">
                <a:solidFill>
                  <a:srgbClr val="000000"/>
                </a:solidFill>
                <a:latin typeface="Candara" panose="020E0502030303020204" pitchFamily="34" charset="0"/>
              </a:rPr>
              <a:t>The 3 most common types of ISAs are(based on number of operands)</a:t>
            </a:r>
          </a:p>
          <a:p>
            <a:pPr marL="0" indent="0">
              <a:buNone/>
            </a:pPr>
            <a:endParaRPr lang="en-US" dirty="0">
              <a:solidFill>
                <a:srgbClr val="000000"/>
              </a:solidFill>
              <a:latin typeface="Candara" panose="020E0502030303020204" pitchFamily="34" charset="0"/>
            </a:endParaRPr>
          </a:p>
          <a:p>
            <a:pPr>
              <a:buFont typeface="+mj-lt"/>
              <a:buAutoNum type="arabicPeriod"/>
            </a:pPr>
            <a:r>
              <a:rPr lang="en-US" b="1" i="1" dirty="0">
                <a:solidFill>
                  <a:srgbClr val="000000"/>
                </a:solidFill>
                <a:latin typeface="Candara" panose="020E0502030303020204" pitchFamily="34" charset="0"/>
              </a:rPr>
              <a:t>Stack</a:t>
            </a:r>
            <a:r>
              <a:rPr lang="en-US" dirty="0">
                <a:solidFill>
                  <a:srgbClr val="000000"/>
                </a:solidFill>
                <a:latin typeface="Candara" panose="020E0502030303020204" pitchFamily="34" charset="0"/>
              </a:rPr>
              <a:t> - The operands are implicitly on top of the stack.</a:t>
            </a:r>
          </a:p>
          <a:p>
            <a:pPr>
              <a:buFont typeface="+mj-lt"/>
              <a:buAutoNum type="arabicPeriod"/>
            </a:pPr>
            <a:endParaRPr lang="en-US" dirty="0">
              <a:solidFill>
                <a:srgbClr val="000000"/>
              </a:solidFill>
              <a:latin typeface="Candara" panose="020E0502030303020204" pitchFamily="34" charset="0"/>
            </a:endParaRPr>
          </a:p>
          <a:p>
            <a:pPr>
              <a:buFont typeface="+mj-lt"/>
              <a:buAutoNum type="arabicPeriod"/>
            </a:pPr>
            <a:r>
              <a:rPr lang="en-US" b="1" i="1" dirty="0">
                <a:solidFill>
                  <a:srgbClr val="000000"/>
                </a:solidFill>
                <a:latin typeface="Candara" panose="020E0502030303020204" pitchFamily="34" charset="0"/>
              </a:rPr>
              <a:t>Accumulator</a:t>
            </a:r>
            <a:r>
              <a:rPr lang="en-US" dirty="0">
                <a:solidFill>
                  <a:srgbClr val="000000"/>
                </a:solidFill>
                <a:latin typeface="Candara" panose="020E0502030303020204" pitchFamily="34" charset="0"/>
              </a:rPr>
              <a:t> - One operand is implicitly the accumulator.</a:t>
            </a:r>
          </a:p>
          <a:p>
            <a:pPr marL="0" indent="0">
              <a:buNone/>
            </a:pPr>
            <a:endParaRPr lang="en-US" dirty="0">
              <a:solidFill>
                <a:srgbClr val="000000"/>
              </a:solidFill>
              <a:latin typeface="Candara" panose="020E0502030303020204" pitchFamily="34" charset="0"/>
            </a:endParaRPr>
          </a:p>
          <a:p>
            <a:pPr marL="0" indent="0">
              <a:buNone/>
            </a:pPr>
            <a:r>
              <a:rPr lang="en-US" b="1" i="1" dirty="0">
                <a:solidFill>
                  <a:srgbClr val="000000"/>
                </a:solidFill>
                <a:latin typeface="Candara" panose="020E0502030303020204" pitchFamily="34" charset="0"/>
              </a:rPr>
              <a:t>3. General Purpose Register (GPR)</a:t>
            </a:r>
            <a:r>
              <a:rPr lang="en-US" b="1" dirty="0">
                <a:solidFill>
                  <a:srgbClr val="000000"/>
                </a:solidFill>
                <a:latin typeface="Candara" panose="020E0502030303020204" pitchFamily="34" charset="0"/>
              </a:rPr>
              <a:t> </a:t>
            </a:r>
            <a:r>
              <a:rPr lang="en-US" dirty="0">
                <a:solidFill>
                  <a:srgbClr val="000000"/>
                </a:solidFill>
                <a:latin typeface="Candara" panose="020E0502030303020204" pitchFamily="34" charset="0"/>
              </a:rPr>
              <a:t>- All operands are explicitly mentioned; they are either registers or memory locations.</a:t>
            </a:r>
            <a:endParaRPr lang="en-US" b="0" i="0" dirty="0">
              <a:solidFill>
                <a:srgbClr val="000000"/>
              </a:solidFill>
              <a:effectLst/>
              <a:latin typeface="Candara" panose="020E0502030303020204" pitchFamily="34" charset="0"/>
            </a:endParaRPr>
          </a:p>
        </p:txBody>
      </p:sp>
    </p:spTree>
    <p:extLst>
      <p:ext uri="{BB962C8B-B14F-4D97-AF65-F5344CB8AC3E}">
        <p14:creationId xmlns:p14="http://schemas.microsoft.com/office/powerpoint/2010/main" val="2135478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r>
              <a:rPr lang="en-US" dirty="0"/>
              <a:t>To go from a complex application to the simple instructions involves several layers of software that interpret or translate high-level operations into simple computer instructions </a:t>
            </a:r>
          </a:p>
          <a:p>
            <a:pPr marL="0" indent="0">
              <a:buNone/>
            </a:pPr>
            <a:endParaRPr lang="en-US" dirty="0"/>
          </a:p>
          <a:p>
            <a:r>
              <a:rPr lang="en-US" dirty="0"/>
              <a:t>Hardware Software interface</a:t>
            </a:r>
          </a:p>
          <a:p>
            <a:endParaRPr lang="en-US" dirty="0"/>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15</a:t>
            </a:fld>
            <a:endParaRPr lang="en-US"/>
          </a:p>
        </p:txBody>
      </p:sp>
      <p:sp>
        <p:nvSpPr>
          <p:cNvPr id="7" name="Title 6"/>
          <p:cNvSpPr>
            <a:spLocks noGrp="1"/>
          </p:cNvSpPr>
          <p:nvPr>
            <p:ph type="title"/>
          </p:nvPr>
        </p:nvSpPr>
        <p:spPr/>
        <p:txBody>
          <a:bodyPr/>
          <a:lstStyle/>
          <a:p>
            <a:r>
              <a:rPr lang="en-US" dirty="0"/>
              <a:t>Identify the idea</a:t>
            </a:r>
          </a:p>
        </p:txBody>
      </p:sp>
    </p:spTree>
    <p:extLst>
      <p:ext uri="{BB962C8B-B14F-4D97-AF65-F5344CB8AC3E}">
        <p14:creationId xmlns:p14="http://schemas.microsoft.com/office/powerpoint/2010/main" val="4163596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or Organization</a:t>
            </a:r>
          </a:p>
        </p:txBody>
      </p:sp>
      <p:sp>
        <p:nvSpPr>
          <p:cNvPr id="3" name="Content Placeholder 2"/>
          <p:cNvSpPr>
            <a:spLocks noGrp="1"/>
          </p:cNvSpPr>
          <p:nvPr>
            <p:ph idx="1"/>
          </p:nvPr>
        </p:nvSpPr>
        <p:spPr/>
        <p:txBody>
          <a:bodyPr/>
          <a:lstStyle/>
          <a:p>
            <a:r>
              <a:rPr lang="en-US" dirty="0"/>
              <a:t>Instruction Set</a:t>
            </a:r>
          </a:p>
          <a:p>
            <a:pPr marL="0" indent="0">
              <a:buNone/>
            </a:pPr>
            <a:endParaRPr lang="en-US" dirty="0"/>
          </a:p>
          <a:p>
            <a:r>
              <a:rPr lang="en-US" dirty="0"/>
              <a:t>Control signals</a:t>
            </a:r>
          </a:p>
          <a:p>
            <a:pPr marL="0" indent="0">
              <a:buNone/>
            </a:pPr>
            <a:endParaRPr lang="en-US" dirty="0"/>
          </a:p>
          <a:p>
            <a:r>
              <a:rPr lang="en-US" dirty="0"/>
              <a:t>Instruction Size</a:t>
            </a:r>
          </a:p>
          <a:p>
            <a:pPr marL="0" indent="0">
              <a:buNone/>
            </a:pPr>
            <a:endParaRPr lang="en-US" dirty="0"/>
          </a:p>
          <a:p>
            <a:r>
              <a:rPr lang="en-US" dirty="0"/>
              <a:t>Addressing Modes</a:t>
            </a:r>
          </a:p>
          <a:p>
            <a:endParaRPr lang="en-US" dirty="0"/>
          </a:p>
          <a:p>
            <a:endParaRPr lang="en-US" dirty="0"/>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16</a:t>
            </a:fld>
            <a:endParaRPr lang="en-US"/>
          </a:p>
        </p:txBody>
      </p:sp>
    </p:spTree>
    <p:extLst>
      <p:ext uri="{BB962C8B-B14F-4D97-AF65-F5344CB8AC3E}">
        <p14:creationId xmlns:p14="http://schemas.microsoft.com/office/powerpoint/2010/main" val="1128826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altLang="en-US"/>
              <a:t>Below Your Program</a:t>
            </a:r>
            <a:endParaRPr lang="en-AU" altLang="en-US"/>
          </a:p>
        </p:txBody>
      </p:sp>
      <p:sp>
        <p:nvSpPr>
          <p:cNvPr id="27652" name="Rectangle 6"/>
          <p:cNvSpPr>
            <a:spLocks noGrp="1" noChangeArrowheads="1"/>
          </p:cNvSpPr>
          <p:nvPr>
            <p:ph type="body" sz="half" idx="2"/>
          </p:nvPr>
        </p:nvSpPr>
        <p:spPr>
          <a:xfrm>
            <a:off x="3132138" y="1125538"/>
            <a:ext cx="5822950" cy="5111750"/>
          </a:xfrm>
        </p:spPr>
        <p:txBody>
          <a:bodyPr/>
          <a:lstStyle/>
          <a:p>
            <a:pPr eaLnBrk="1" hangingPunct="1"/>
            <a:r>
              <a:rPr lang="en-US" altLang="en-US" sz="2800"/>
              <a:t>Application software</a:t>
            </a:r>
          </a:p>
          <a:p>
            <a:pPr lvl="1" eaLnBrk="1" hangingPunct="1"/>
            <a:r>
              <a:rPr lang="en-US" altLang="en-US" sz="2400"/>
              <a:t>Written in high-level language</a:t>
            </a:r>
          </a:p>
          <a:p>
            <a:pPr eaLnBrk="1" hangingPunct="1"/>
            <a:r>
              <a:rPr lang="en-US" altLang="en-US" sz="2800"/>
              <a:t>System software</a:t>
            </a:r>
          </a:p>
          <a:p>
            <a:pPr lvl="1" eaLnBrk="1" hangingPunct="1"/>
            <a:r>
              <a:rPr lang="en-US" altLang="en-US" sz="2400"/>
              <a:t>Compiler: translates HLL code to machine code</a:t>
            </a:r>
          </a:p>
          <a:p>
            <a:pPr lvl="1" eaLnBrk="1" hangingPunct="1"/>
            <a:r>
              <a:rPr lang="en-US" altLang="en-US" sz="2400"/>
              <a:t>Operating System: service code</a:t>
            </a:r>
          </a:p>
          <a:p>
            <a:pPr lvl="2" eaLnBrk="1" hangingPunct="1"/>
            <a:r>
              <a:rPr lang="en-US" altLang="en-US" sz="2000"/>
              <a:t>Handling input/output</a:t>
            </a:r>
          </a:p>
          <a:p>
            <a:pPr lvl="2" eaLnBrk="1" hangingPunct="1"/>
            <a:r>
              <a:rPr lang="en-US" altLang="en-US" sz="2000"/>
              <a:t>Managing memory and storage</a:t>
            </a:r>
          </a:p>
          <a:p>
            <a:pPr lvl="2" eaLnBrk="1" hangingPunct="1"/>
            <a:r>
              <a:rPr lang="en-US" altLang="en-US" sz="2000"/>
              <a:t>Scheduling tasks &amp; sharing resources</a:t>
            </a:r>
          </a:p>
          <a:p>
            <a:pPr eaLnBrk="1" hangingPunct="1"/>
            <a:r>
              <a:rPr lang="en-US" altLang="en-US" sz="2800"/>
              <a:t>Hardware</a:t>
            </a:r>
          </a:p>
          <a:p>
            <a:pPr lvl="1" eaLnBrk="1" hangingPunct="1"/>
            <a:r>
              <a:rPr lang="en-US" altLang="en-US" sz="2400"/>
              <a:t>Processor, memory, I/O controllers</a:t>
            </a:r>
            <a:endParaRPr lang="en-AU" altLang="en-US" sz="2400"/>
          </a:p>
        </p:txBody>
      </p:sp>
      <p:pic>
        <p:nvPicPr>
          <p:cNvPr id="27653" name="Picture 11" descr="f01-02-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781300"/>
            <a:ext cx="24003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067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8"/>
          <p:cNvSpPr>
            <a:spLocks noGrp="1" noChangeArrowheads="1"/>
          </p:cNvSpPr>
          <p:nvPr>
            <p:ph type="title"/>
          </p:nvPr>
        </p:nvSpPr>
        <p:spPr>
          <a:xfrm>
            <a:off x="457200" y="-34290"/>
            <a:ext cx="8229600" cy="1143000"/>
          </a:xfrm>
        </p:spPr>
        <p:txBody>
          <a:bodyPr/>
          <a:lstStyle/>
          <a:p>
            <a:pPr eaLnBrk="1" hangingPunct="1"/>
            <a:r>
              <a:rPr lang="en-US" altLang="en-US" dirty="0"/>
              <a:t>Levels of Program Code</a:t>
            </a:r>
            <a:endParaRPr lang="en-AU" altLang="en-US" dirty="0"/>
          </a:p>
        </p:txBody>
      </p:sp>
      <p:sp>
        <p:nvSpPr>
          <p:cNvPr id="29700" name="Rectangle 9"/>
          <p:cNvSpPr>
            <a:spLocks noGrp="1" noChangeArrowheads="1"/>
          </p:cNvSpPr>
          <p:nvPr>
            <p:ph type="body" idx="1"/>
          </p:nvPr>
        </p:nvSpPr>
        <p:spPr>
          <a:xfrm>
            <a:off x="684213" y="1125538"/>
            <a:ext cx="4751387" cy="5111750"/>
          </a:xfrm>
        </p:spPr>
        <p:txBody>
          <a:bodyPr>
            <a:normAutofit lnSpcReduction="10000"/>
          </a:bodyPr>
          <a:lstStyle/>
          <a:p>
            <a:pPr eaLnBrk="1" hangingPunct="1">
              <a:lnSpc>
                <a:spcPct val="90000"/>
              </a:lnSpc>
            </a:pPr>
            <a:r>
              <a:rPr lang="en-US" altLang="en-US" sz="2800" dirty="0"/>
              <a:t>High-level language</a:t>
            </a:r>
          </a:p>
          <a:p>
            <a:pPr lvl="1" eaLnBrk="1" hangingPunct="1">
              <a:lnSpc>
                <a:spcPct val="90000"/>
              </a:lnSpc>
            </a:pPr>
            <a:r>
              <a:rPr lang="en-US" altLang="en-US" sz="2400" dirty="0"/>
              <a:t>Level of abstraction closer to problem domain</a:t>
            </a:r>
          </a:p>
          <a:p>
            <a:pPr lvl="1" eaLnBrk="1" hangingPunct="1">
              <a:lnSpc>
                <a:spcPct val="90000"/>
              </a:lnSpc>
            </a:pPr>
            <a:r>
              <a:rPr lang="en-US" altLang="en-US" sz="2400" dirty="0"/>
              <a:t>Provides for productivity and portability </a:t>
            </a:r>
          </a:p>
          <a:p>
            <a:pPr marL="457200" lvl="1" indent="0" eaLnBrk="1" hangingPunct="1">
              <a:lnSpc>
                <a:spcPct val="90000"/>
              </a:lnSpc>
              <a:buNone/>
            </a:pPr>
            <a:endParaRPr lang="en-AU" altLang="en-US" sz="2400" dirty="0"/>
          </a:p>
          <a:p>
            <a:pPr eaLnBrk="1" hangingPunct="1">
              <a:lnSpc>
                <a:spcPct val="90000"/>
              </a:lnSpc>
            </a:pPr>
            <a:r>
              <a:rPr lang="en-US" altLang="en-US" sz="2800" dirty="0"/>
              <a:t>Assembly language</a:t>
            </a:r>
          </a:p>
          <a:p>
            <a:pPr lvl="1" eaLnBrk="1" hangingPunct="1">
              <a:lnSpc>
                <a:spcPct val="90000"/>
              </a:lnSpc>
            </a:pPr>
            <a:r>
              <a:rPr lang="en-US" altLang="en-US" sz="2400" dirty="0"/>
              <a:t>Textual representation of instructions</a:t>
            </a:r>
          </a:p>
          <a:p>
            <a:pPr marL="457200" lvl="1" indent="0" eaLnBrk="1" hangingPunct="1">
              <a:lnSpc>
                <a:spcPct val="90000"/>
              </a:lnSpc>
              <a:buNone/>
            </a:pPr>
            <a:endParaRPr lang="en-US" altLang="en-US" sz="2400" dirty="0"/>
          </a:p>
          <a:p>
            <a:pPr eaLnBrk="1" hangingPunct="1">
              <a:lnSpc>
                <a:spcPct val="90000"/>
              </a:lnSpc>
            </a:pPr>
            <a:r>
              <a:rPr lang="en-US" altLang="en-US" sz="2800" dirty="0"/>
              <a:t>Hardware representation</a:t>
            </a:r>
          </a:p>
          <a:p>
            <a:pPr lvl="1" eaLnBrk="1" hangingPunct="1">
              <a:lnSpc>
                <a:spcPct val="90000"/>
              </a:lnSpc>
            </a:pPr>
            <a:r>
              <a:rPr lang="en-US" altLang="en-US" sz="2400" dirty="0"/>
              <a:t>Binary digits (bits)</a:t>
            </a:r>
          </a:p>
          <a:p>
            <a:pPr lvl="1" eaLnBrk="1" hangingPunct="1">
              <a:lnSpc>
                <a:spcPct val="90000"/>
              </a:lnSpc>
            </a:pPr>
            <a:r>
              <a:rPr lang="en-US" altLang="en-US" sz="2400" dirty="0"/>
              <a:t>Encoded instructions and data</a:t>
            </a:r>
          </a:p>
        </p:txBody>
      </p:sp>
      <p:pic>
        <p:nvPicPr>
          <p:cNvPr id="29701" name="Picture 10" descr="f01-03-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0063" y="1268413"/>
            <a:ext cx="3228975" cy="505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7943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19</a:t>
            </a:fld>
            <a:endParaRPr lang="en-US"/>
          </a:p>
        </p:txBody>
      </p:sp>
      <p:pic>
        <p:nvPicPr>
          <p:cNvPr id="8" name="Picture 7"/>
          <p:cNvPicPr>
            <a:picLocks noChangeAspect="1"/>
          </p:cNvPicPr>
          <p:nvPr/>
        </p:nvPicPr>
        <p:blipFill>
          <a:blip r:embed="rId2"/>
          <a:stretch>
            <a:fillRect/>
          </a:stretch>
        </p:blipFill>
        <p:spPr>
          <a:xfrm>
            <a:off x="457199" y="0"/>
            <a:ext cx="8534401" cy="6126163"/>
          </a:xfrm>
          <a:prstGeom prst="rect">
            <a:avLst/>
          </a:prstGeom>
        </p:spPr>
      </p:pic>
    </p:spTree>
    <p:extLst>
      <p:ext uri="{BB962C8B-B14F-4D97-AF65-F5344CB8AC3E}">
        <p14:creationId xmlns:p14="http://schemas.microsoft.com/office/powerpoint/2010/main" val="705644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20</a:t>
            </a:fld>
            <a:endParaRPr lang="en-US"/>
          </a:p>
        </p:txBody>
      </p:sp>
      <p:pic>
        <p:nvPicPr>
          <p:cNvPr id="8" name="Picture 7"/>
          <p:cNvPicPr>
            <a:picLocks noChangeAspect="1"/>
          </p:cNvPicPr>
          <p:nvPr/>
        </p:nvPicPr>
        <p:blipFill>
          <a:blip r:embed="rId2"/>
          <a:stretch>
            <a:fillRect/>
          </a:stretch>
        </p:blipFill>
        <p:spPr>
          <a:xfrm>
            <a:off x="533400" y="762000"/>
            <a:ext cx="8087096" cy="5486400"/>
          </a:xfrm>
          <a:prstGeom prst="rect">
            <a:avLst/>
          </a:prstGeom>
        </p:spPr>
      </p:pic>
    </p:spTree>
    <p:extLst>
      <p:ext uri="{BB962C8B-B14F-4D97-AF65-F5344CB8AC3E}">
        <p14:creationId xmlns:p14="http://schemas.microsoft.com/office/powerpoint/2010/main" val="4066193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itchFamily="18" charset="0"/>
                <a:cs typeface="Times New Roman" pitchFamily="18" charset="0"/>
              </a:rPr>
              <a:t>CISC and RISC</a:t>
            </a:r>
            <a:endParaRPr lang="en-US" dirty="0"/>
          </a:p>
        </p:txBody>
      </p:sp>
      <p:pic>
        <p:nvPicPr>
          <p:cNvPr id="5122" name="Picture 2"/>
          <p:cNvPicPr>
            <a:picLocks noChangeAspect="1" noChangeArrowheads="1"/>
          </p:cNvPicPr>
          <p:nvPr/>
        </p:nvPicPr>
        <p:blipFill>
          <a:blip r:embed="rId2"/>
          <a:srcRect/>
          <a:stretch>
            <a:fillRect/>
          </a:stretch>
        </p:blipFill>
        <p:spPr bwMode="auto">
          <a:xfrm>
            <a:off x="685800" y="1524000"/>
            <a:ext cx="7906327" cy="4267200"/>
          </a:xfrm>
          <a:prstGeom prst="rect">
            <a:avLst/>
          </a:prstGeom>
          <a:noFill/>
          <a:ln w="9525">
            <a:noFill/>
            <a:miter lim="800000"/>
            <a:headEnd/>
            <a:tailEnd/>
          </a:ln>
          <a:effectLst/>
        </p:spPr>
      </p:pic>
    </p:spTree>
    <p:extLst>
      <p:ext uri="{BB962C8B-B14F-4D97-AF65-F5344CB8AC3E}">
        <p14:creationId xmlns:p14="http://schemas.microsoft.com/office/powerpoint/2010/main" val="669784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579A2DE-87F5-464A-A554-9D897836BC33}" type="datetime1">
              <a:rPr lang="en-US" smtClean="0"/>
              <a:t>1/7/2026</a:t>
            </a:fld>
            <a:endParaRPr lang="en-US"/>
          </a:p>
        </p:txBody>
      </p:sp>
      <p:sp>
        <p:nvSpPr>
          <p:cNvPr id="4" name="Footer Placeholder 3"/>
          <p:cNvSpPr>
            <a:spLocks noGrp="1"/>
          </p:cNvSpPr>
          <p:nvPr>
            <p:ph type="ftr" sz="quarter" idx="11"/>
          </p:nvPr>
        </p:nvSpPr>
        <p:spPr/>
        <p:txBody>
          <a:bodyPr/>
          <a:lstStyle/>
          <a:p>
            <a:r>
              <a:rPr lang="en-US"/>
              <a:t>Amrita School of Engineering, Bangalore</a:t>
            </a:r>
          </a:p>
        </p:txBody>
      </p:sp>
      <p:sp>
        <p:nvSpPr>
          <p:cNvPr id="5" name="Slide Number Placeholder 4"/>
          <p:cNvSpPr>
            <a:spLocks noGrp="1"/>
          </p:cNvSpPr>
          <p:nvPr>
            <p:ph type="sldNum" sz="quarter" idx="12"/>
          </p:nvPr>
        </p:nvSpPr>
        <p:spPr/>
        <p:txBody>
          <a:bodyPr/>
          <a:lstStyle/>
          <a:p>
            <a:fld id="{F5E843A0-D5C2-4D72-A6B6-2325E0D42116}" type="slidenum">
              <a:rPr lang="en-US" smtClean="0"/>
              <a:t>22</a:t>
            </a:fld>
            <a:endParaRPr lang="en-US"/>
          </a:p>
        </p:txBody>
      </p:sp>
      <p:pic>
        <p:nvPicPr>
          <p:cNvPr id="6" name="Picture 5"/>
          <p:cNvPicPr>
            <a:picLocks noChangeAspect="1"/>
          </p:cNvPicPr>
          <p:nvPr/>
        </p:nvPicPr>
        <p:blipFill>
          <a:blip r:embed="rId2"/>
          <a:stretch>
            <a:fillRect/>
          </a:stretch>
        </p:blipFill>
        <p:spPr>
          <a:xfrm>
            <a:off x="79634" y="1098550"/>
            <a:ext cx="8984731" cy="5257800"/>
          </a:xfrm>
          <a:prstGeom prst="rect">
            <a:avLst/>
          </a:prstGeom>
        </p:spPr>
      </p:pic>
    </p:spTree>
    <p:extLst>
      <p:ext uri="{BB962C8B-B14F-4D97-AF65-F5344CB8AC3E}">
        <p14:creationId xmlns:p14="http://schemas.microsoft.com/office/powerpoint/2010/main" val="2540347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CD83D4-8F59-4718-B813-AF8B3AC0AC22}" type="datetime1">
              <a:rPr lang="en-US" smtClean="0"/>
              <a:t>1/7/2026</a:t>
            </a:fld>
            <a:endParaRPr lang="en-US"/>
          </a:p>
        </p:txBody>
      </p:sp>
      <p:sp>
        <p:nvSpPr>
          <p:cNvPr id="3" name="Footer Placeholder 2"/>
          <p:cNvSpPr>
            <a:spLocks noGrp="1"/>
          </p:cNvSpPr>
          <p:nvPr>
            <p:ph type="ftr" sz="quarter" idx="11"/>
          </p:nvPr>
        </p:nvSpPr>
        <p:spPr/>
        <p:txBody>
          <a:bodyPr/>
          <a:lstStyle/>
          <a:p>
            <a:r>
              <a:rPr lang="en-US"/>
              <a:t>Amrita School of Engineering, Bangalore</a:t>
            </a:r>
          </a:p>
        </p:txBody>
      </p:sp>
      <p:sp>
        <p:nvSpPr>
          <p:cNvPr id="4" name="Slide Number Placeholder 3"/>
          <p:cNvSpPr>
            <a:spLocks noGrp="1"/>
          </p:cNvSpPr>
          <p:nvPr>
            <p:ph type="sldNum" sz="quarter" idx="12"/>
          </p:nvPr>
        </p:nvSpPr>
        <p:spPr/>
        <p:txBody>
          <a:bodyPr/>
          <a:lstStyle/>
          <a:p>
            <a:fld id="{F5E843A0-D5C2-4D72-A6B6-2325E0D42116}" type="slidenum">
              <a:rPr lang="en-US" smtClean="0"/>
              <a:t>23</a:t>
            </a:fld>
            <a:endParaRPr lang="en-US"/>
          </a:p>
        </p:txBody>
      </p:sp>
      <p:pic>
        <p:nvPicPr>
          <p:cNvPr id="14338" name="Picture 2" descr="Computer Architecture - Stored program concept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 y="609600"/>
            <a:ext cx="9067800" cy="5805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5942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13" descr="f01-04-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2060575"/>
            <a:ext cx="3973513" cy="340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Rectangle 2"/>
          <p:cNvSpPr>
            <a:spLocks noGrp="1" noChangeArrowheads="1"/>
          </p:cNvSpPr>
          <p:nvPr>
            <p:ph type="title"/>
          </p:nvPr>
        </p:nvSpPr>
        <p:spPr/>
        <p:txBody>
          <a:bodyPr/>
          <a:lstStyle/>
          <a:p>
            <a:pPr eaLnBrk="1" hangingPunct="1"/>
            <a:r>
              <a:rPr lang="en-US" altLang="en-US"/>
              <a:t>Components of a Computer</a:t>
            </a:r>
            <a:endParaRPr lang="en-AU" altLang="en-US"/>
          </a:p>
        </p:txBody>
      </p:sp>
      <p:sp>
        <p:nvSpPr>
          <p:cNvPr id="31749" name="Rectangle 7"/>
          <p:cNvSpPr>
            <a:spLocks noGrp="1" noChangeArrowheads="1"/>
          </p:cNvSpPr>
          <p:nvPr>
            <p:ph type="body" sz="half" idx="2"/>
          </p:nvPr>
        </p:nvSpPr>
        <p:spPr>
          <a:xfrm>
            <a:off x="4356100" y="1125538"/>
            <a:ext cx="4598988" cy="5111750"/>
          </a:xfrm>
        </p:spPr>
        <p:txBody>
          <a:bodyPr/>
          <a:lstStyle/>
          <a:p>
            <a:pPr eaLnBrk="1" hangingPunct="1"/>
            <a:r>
              <a:rPr lang="en-US" altLang="en-US" sz="2800"/>
              <a:t>Same components for</a:t>
            </a:r>
            <a:br>
              <a:rPr lang="en-US" altLang="en-US" sz="2800"/>
            </a:br>
            <a:r>
              <a:rPr lang="en-US" altLang="en-US" sz="2800"/>
              <a:t>all kinds of computer</a:t>
            </a:r>
          </a:p>
          <a:p>
            <a:pPr lvl="1" eaLnBrk="1" hangingPunct="1"/>
            <a:r>
              <a:rPr lang="en-US" altLang="en-US" sz="2400"/>
              <a:t>Desktop, server,</a:t>
            </a:r>
            <a:br>
              <a:rPr lang="en-US" altLang="en-US" sz="2400"/>
            </a:br>
            <a:r>
              <a:rPr lang="en-US" altLang="en-US" sz="2400"/>
              <a:t>embedded</a:t>
            </a:r>
          </a:p>
          <a:p>
            <a:pPr eaLnBrk="1" hangingPunct="1"/>
            <a:r>
              <a:rPr lang="en-US" altLang="en-US" sz="2800"/>
              <a:t>Input/output includes</a:t>
            </a:r>
          </a:p>
          <a:p>
            <a:pPr lvl="1" eaLnBrk="1" hangingPunct="1"/>
            <a:r>
              <a:rPr lang="en-US" altLang="en-US" sz="2400"/>
              <a:t>User-interface devices</a:t>
            </a:r>
          </a:p>
          <a:p>
            <a:pPr lvl="2" eaLnBrk="1" hangingPunct="1"/>
            <a:r>
              <a:rPr lang="en-US" altLang="en-US" sz="2000"/>
              <a:t>Display, keyboard, mouse</a:t>
            </a:r>
          </a:p>
          <a:p>
            <a:pPr lvl="1" eaLnBrk="1" hangingPunct="1"/>
            <a:r>
              <a:rPr lang="en-US" altLang="en-US" sz="2400"/>
              <a:t>Storage devices</a:t>
            </a:r>
          </a:p>
          <a:p>
            <a:pPr lvl="2" eaLnBrk="1" hangingPunct="1"/>
            <a:r>
              <a:rPr lang="en-US" altLang="en-US" sz="2000"/>
              <a:t>Hard disk, CD/DVD, flash</a:t>
            </a:r>
          </a:p>
          <a:p>
            <a:pPr lvl="1" eaLnBrk="1" hangingPunct="1"/>
            <a:r>
              <a:rPr lang="en-US" altLang="en-US" sz="2400"/>
              <a:t>Network adapters</a:t>
            </a:r>
          </a:p>
          <a:p>
            <a:pPr lvl="2" eaLnBrk="1" hangingPunct="1"/>
            <a:r>
              <a:rPr lang="en-US" altLang="en-US" sz="2000"/>
              <a:t>For communicating with other computers</a:t>
            </a:r>
            <a:endParaRPr lang="en-AU" altLang="en-US" sz="2000"/>
          </a:p>
        </p:txBody>
      </p:sp>
      <p:sp>
        <p:nvSpPr>
          <p:cNvPr id="31750" name="Text Box 11"/>
          <p:cNvSpPr txBox="1">
            <a:spLocks noChangeArrowheads="1"/>
          </p:cNvSpPr>
          <p:nvPr/>
        </p:nvSpPr>
        <p:spPr bwMode="auto">
          <a:xfrm>
            <a:off x="684213" y="1258888"/>
            <a:ext cx="2825750" cy="457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400" b="1">
                <a:solidFill>
                  <a:schemeClr val="folHlink"/>
                </a:solidFill>
                <a:latin typeface="Arial Black" panose="020B0A04020102020204" pitchFamily="34" charset="0"/>
              </a:rPr>
              <a:t>The BIG Picture</a:t>
            </a:r>
          </a:p>
        </p:txBody>
      </p:sp>
    </p:spTree>
    <p:extLst>
      <p:ext uri="{BB962C8B-B14F-4D97-AF65-F5344CB8AC3E}">
        <p14:creationId xmlns:p14="http://schemas.microsoft.com/office/powerpoint/2010/main" val="2638075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25</a:t>
            </a:fld>
            <a:endParaRPr lang="en-US"/>
          </a:p>
        </p:txBody>
      </p:sp>
      <p:pic>
        <p:nvPicPr>
          <p:cNvPr id="8" name="Picture 7"/>
          <p:cNvPicPr>
            <a:picLocks noChangeAspect="1"/>
          </p:cNvPicPr>
          <p:nvPr/>
        </p:nvPicPr>
        <p:blipFill>
          <a:blip r:embed="rId2"/>
          <a:stretch>
            <a:fillRect/>
          </a:stretch>
        </p:blipFill>
        <p:spPr>
          <a:xfrm>
            <a:off x="534468" y="1179786"/>
            <a:ext cx="7542732" cy="4840014"/>
          </a:xfrm>
          <a:prstGeom prst="rect">
            <a:avLst/>
          </a:prstGeom>
        </p:spPr>
      </p:pic>
    </p:spTree>
    <p:extLst>
      <p:ext uri="{BB962C8B-B14F-4D97-AF65-F5344CB8AC3E}">
        <p14:creationId xmlns:p14="http://schemas.microsoft.com/office/powerpoint/2010/main" val="1769142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26</a:t>
            </a:fld>
            <a:endParaRPr lang="en-US"/>
          </a:p>
        </p:txBody>
      </p:sp>
      <p:pic>
        <p:nvPicPr>
          <p:cNvPr id="8" name="Picture 7"/>
          <p:cNvPicPr>
            <a:picLocks noChangeAspect="1"/>
          </p:cNvPicPr>
          <p:nvPr/>
        </p:nvPicPr>
        <p:blipFill>
          <a:blip r:embed="rId2"/>
          <a:stretch>
            <a:fillRect/>
          </a:stretch>
        </p:blipFill>
        <p:spPr>
          <a:xfrm>
            <a:off x="152400" y="838200"/>
            <a:ext cx="8768242" cy="5105400"/>
          </a:xfrm>
          <a:prstGeom prst="rect">
            <a:avLst/>
          </a:prstGeom>
        </p:spPr>
      </p:pic>
    </p:spTree>
    <p:extLst>
      <p:ext uri="{BB962C8B-B14F-4D97-AF65-F5344CB8AC3E}">
        <p14:creationId xmlns:p14="http://schemas.microsoft.com/office/powerpoint/2010/main" val="4004009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27</a:t>
            </a:fld>
            <a:endParaRPr lang="en-US"/>
          </a:p>
        </p:txBody>
      </p:sp>
      <p:pic>
        <p:nvPicPr>
          <p:cNvPr id="8" name="Picture 7"/>
          <p:cNvPicPr>
            <a:picLocks noChangeAspect="1"/>
          </p:cNvPicPr>
          <p:nvPr/>
        </p:nvPicPr>
        <p:blipFill>
          <a:blip r:embed="rId2"/>
          <a:stretch>
            <a:fillRect/>
          </a:stretch>
        </p:blipFill>
        <p:spPr>
          <a:xfrm>
            <a:off x="609599" y="914400"/>
            <a:ext cx="7824139" cy="4953000"/>
          </a:xfrm>
          <a:prstGeom prst="rect">
            <a:avLst/>
          </a:prstGeom>
        </p:spPr>
      </p:pic>
    </p:spTree>
    <p:extLst>
      <p:ext uri="{BB962C8B-B14F-4D97-AF65-F5344CB8AC3E}">
        <p14:creationId xmlns:p14="http://schemas.microsoft.com/office/powerpoint/2010/main" val="84347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CD83D4-8F59-4718-B813-AF8B3AC0AC22}" type="datetime1">
              <a:rPr lang="en-US" smtClean="0"/>
              <a:t>1/7/2026</a:t>
            </a:fld>
            <a:endParaRPr lang="en-US"/>
          </a:p>
        </p:txBody>
      </p:sp>
      <p:sp>
        <p:nvSpPr>
          <p:cNvPr id="3" name="Footer Placeholder 2"/>
          <p:cNvSpPr>
            <a:spLocks noGrp="1"/>
          </p:cNvSpPr>
          <p:nvPr>
            <p:ph type="ftr" sz="quarter" idx="11"/>
          </p:nvPr>
        </p:nvSpPr>
        <p:spPr/>
        <p:txBody>
          <a:bodyPr/>
          <a:lstStyle/>
          <a:p>
            <a:r>
              <a:rPr lang="en-US"/>
              <a:t>Amrita School of Engineering, Bangalore</a:t>
            </a:r>
          </a:p>
        </p:txBody>
      </p:sp>
      <p:sp>
        <p:nvSpPr>
          <p:cNvPr id="4" name="Slide Number Placeholder 3"/>
          <p:cNvSpPr>
            <a:spLocks noGrp="1"/>
          </p:cNvSpPr>
          <p:nvPr>
            <p:ph type="sldNum" sz="quarter" idx="12"/>
          </p:nvPr>
        </p:nvSpPr>
        <p:spPr/>
        <p:txBody>
          <a:bodyPr/>
          <a:lstStyle/>
          <a:p>
            <a:fld id="{F5E843A0-D5C2-4D72-A6B6-2325E0D42116}" type="slidenum">
              <a:rPr lang="en-US" smtClean="0"/>
              <a:t>28</a:t>
            </a:fld>
            <a:endParaRPr lang="en-US"/>
          </a:p>
        </p:txBody>
      </p:sp>
      <p:pic>
        <p:nvPicPr>
          <p:cNvPr id="5" name="Picture 4"/>
          <p:cNvPicPr>
            <a:picLocks noChangeAspect="1"/>
          </p:cNvPicPr>
          <p:nvPr/>
        </p:nvPicPr>
        <p:blipFill>
          <a:blip r:embed="rId2"/>
          <a:stretch>
            <a:fillRect/>
          </a:stretch>
        </p:blipFill>
        <p:spPr>
          <a:xfrm>
            <a:off x="1143000" y="2514600"/>
            <a:ext cx="6417318" cy="2686800"/>
          </a:xfrm>
          <a:prstGeom prst="rect">
            <a:avLst/>
          </a:prstGeom>
        </p:spPr>
      </p:pic>
      <p:pic>
        <p:nvPicPr>
          <p:cNvPr id="6" name="Picture 5"/>
          <p:cNvPicPr>
            <a:picLocks noChangeAspect="1"/>
          </p:cNvPicPr>
          <p:nvPr/>
        </p:nvPicPr>
        <p:blipFill>
          <a:blip r:embed="rId3"/>
          <a:stretch>
            <a:fillRect/>
          </a:stretch>
        </p:blipFill>
        <p:spPr>
          <a:xfrm>
            <a:off x="2211000" y="1347866"/>
            <a:ext cx="3808800" cy="582400"/>
          </a:xfrm>
          <a:prstGeom prst="rect">
            <a:avLst/>
          </a:prstGeom>
        </p:spPr>
      </p:pic>
    </p:spTree>
    <p:extLst>
      <p:ext uri="{BB962C8B-B14F-4D97-AF65-F5344CB8AC3E}">
        <p14:creationId xmlns:p14="http://schemas.microsoft.com/office/powerpoint/2010/main" val="3548408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Processor Memory Interconnection</a:t>
            </a:r>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29</a:t>
            </a:fld>
            <a:endParaRPr lang="en-US"/>
          </a:p>
        </p:txBody>
      </p:sp>
      <p:pic>
        <p:nvPicPr>
          <p:cNvPr id="1026" name="Picture 2" descr="Computer 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895600"/>
            <a:ext cx="72390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187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CD83D4-8F59-4718-B813-AF8B3AC0AC22}" type="datetime1">
              <a:rPr lang="en-US" smtClean="0"/>
              <a:t>1/7/2026</a:t>
            </a:fld>
            <a:endParaRPr lang="en-US"/>
          </a:p>
        </p:txBody>
      </p:sp>
      <p:sp>
        <p:nvSpPr>
          <p:cNvPr id="3" name="Footer Placeholder 2"/>
          <p:cNvSpPr>
            <a:spLocks noGrp="1"/>
          </p:cNvSpPr>
          <p:nvPr>
            <p:ph type="ftr" sz="quarter" idx="11"/>
          </p:nvPr>
        </p:nvSpPr>
        <p:spPr/>
        <p:txBody>
          <a:bodyPr/>
          <a:lstStyle/>
          <a:p>
            <a:r>
              <a:rPr lang="en-US"/>
              <a:t>Amrita School of Engineering, Bangalore</a:t>
            </a:r>
          </a:p>
        </p:txBody>
      </p:sp>
      <p:sp>
        <p:nvSpPr>
          <p:cNvPr id="4" name="Slide Number Placeholder 3"/>
          <p:cNvSpPr>
            <a:spLocks noGrp="1"/>
          </p:cNvSpPr>
          <p:nvPr>
            <p:ph type="sldNum" sz="quarter" idx="12"/>
          </p:nvPr>
        </p:nvSpPr>
        <p:spPr/>
        <p:txBody>
          <a:bodyPr/>
          <a:lstStyle/>
          <a:p>
            <a:fld id="{F5E843A0-D5C2-4D72-A6B6-2325E0D42116}" type="slidenum">
              <a:rPr lang="en-US" smtClean="0"/>
              <a:t>30</a:t>
            </a:fld>
            <a:endParaRPr lang="en-US"/>
          </a:p>
        </p:txBody>
      </p:sp>
      <p:pic>
        <p:nvPicPr>
          <p:cNvPr id="24578" name="Picture 2" descr="Read/Write Operations&#10; The Write operation:&#10; Transfers the address of the desired word to the address lines.&#10; Transf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38200"/>
            <a:ext cx="8689213"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297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CD83D4-8F59-4718-B813-AF8B3AC0AC22}" type="datetime1">
              <a:rPr lang="en-US" smtClean="0"/>
              <a:t>1/7/2026</a:t>
            </a:fld>
            <a:endParaRPr lang="en-US"/>
          </a:p>
        </p:txBody>
      </p:sp>
      <p:sp>
        <p:nvSpPr>
          <p:cNvPr id="3" name="Footer Placeholder 2"/>
          <p:cNvSpPr>
            <a:spLocks noGrp="1"/>
          </p:cNvSpPr>
          <p:nvPr>
            <p:ph type="ftr" sz="quarter" idx="11"/>
          </p:nvPr>
        </p:nvSpPr>
        <p:spPr/>
        <p:txBody>
          <a:bodyPr/>
          <a:lstStyle/>
          <a:p>
            <a:r>
              <a:rPr lang="en-US"/>
              <a:t>Amrita School of Engineering, Bangalore</a:t>
            </a:r>
          </a:p>
        </p:txBody>
      </p:sp>
      <p:sp>
        <p:nvSpPr>
          <p:cNvPr id="4" name="Slide Number Placeholder 3"/>
          <p:cNvSpPr>
            <a:spLocks noGrp="1"/>
          </p:cNvSpPr>
          <p:nvPr>
            <p:ph type="sldNum" sz="quarter" idx="12"/>
          </p:nvPr>
        </p:nvSpPr>
        <p:spPr/>
        <p:txBody>
          <a:bodyPr/>
          <a:lstStyle/>
          <a:p>
            <a:fld id="{F5E843A0-D5C2-4D72-A6B6-2325E0D42116}" type="slidenum">
              <a:rPr lang="en-US" smtClean="0"/>
              <a:t>31</a:t>
            </a:fld>
            <a:endParaRPr lang="en-US"/>
          </a:p>
        </p:txBody>
      </p:sp>
      <p:pic>
        <p:nvPicPr>
          <p:cNvPr id="25602" name="Picture 2" descr="Data Transfer&#10;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14400"/>
            <a:ext cx="8458200" cy="5859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6887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CD83D4-8F59-4718-B813-AF8B3AC0AC22}" type="datetime1">
              <a:rPr lang="en-US" smtClean="0"/>
              <a:t>1/7/2026</a:t>
            </a:fld>
            <a:endParaRPr lang="en-US"/>
          </a:p>
        </p:txBody>
      </p:sp>
      <p:sp>
        <p:nvSpPr>
          <p:cNvPr id="3" name="Footer Placeholder 2"/>
          <p:cNvSpPr>
            <a:spLocks noGrp="1"/>
          </p:cNvSpPr>
          <p:nvPr>
            <p:ph type="ftr" sz="quarter" idx="11"/>
          </p:nvPr>
        </p:nvSpPr>
        <p:spPr/>
        <p:txBody>
          <a:bodyPr/>
          <a:lstStyle/>
          <a:p>
            <a:r>
              <a:rPr lang="en-US"/>
              <a:t>Amrita School of Engineering, Bangalore</a:t>
            </a:r>
          </a:p>
        </p:txBody>
      </p:sp>
      <p:sp>
        <p:nvSpPr>
          <p:cNvPr id="4" name="Slide Number Placeholder 3"/>
          <p:cNvSpPr>
            <a:spLocks noGrp="1"/>
          </p:cNvSpPr>
          <p:nvPr>
            <p:ph type="sldNum" sz="quarter" idx="12"/>
          </p:nvPr>
        </p:nvSpPr>
        <p:spPr/>
        <p:txBody>
          <a:bodyPr/>
          <a:lstStyle/>
          <a:p>
            <a:fld id="{F5E843A0-D5C2-4D72-A6B6-2325E0D42116}" type="slidenum">
              <a:rPr lang="en-US" smtClean="0"/>
              <a:t>32</a:t>
            </a:fld>
            <a:endParaRPr lang="en-US"/>
          </a:p>
        </p:txBody>
      </p:sp>
      <p:pic>
        <p:nvPicPr>
          <p:cNvPr id="26626" name="Picture 2" descr=" A memory unit stores binary information in groups of&#10;bits called words.&#10; The data consists of n lines (for n-bit wor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90600"/>
            <a:ext cx="8458200" cy="5859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28650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33</a:t>
            </a:fld>
            <a:endParaRPr lang="en-US"/>
          </a:p>
        </p:txBody>
      </p:sp>
      <p:pic>
        <p:nvPicPr>
          <p:cNvPr id="18434" name="Picture 2" descr="Von Neumann Architecture - A Level Computer Sc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74637"/>
            <a:ext cx="7849048" cy="5851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1897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990673101"/>
              </p:ext>
            </p:extLst>
          </p:nvPr>
        </p:nvGraphicFramePr>
        <p:xfrm>
          <a:off x="457200" y="1569909"/>
          <a:ext cx="8382000" cy="4634170"/>
        </p:xfrm>
        <a:graphic>
          <a:graphicData uri="http://schemas.openxmlformats.org/drawingml/2006/table">
            <a:tbl>
              <a:tblPr/>
              <a:tblGrid>
                <a:gridCol w="2794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tblGrid>
              <a:tr h="757581">
                <a:tc>
                  <a:txBody>
                    <a:bodyPr/>
                    <a:lstStyle/>
                    <a:p>
                      <a:r>
                        <a:rPr lang="en-US" sz="1800" u="none" strike="noStrike" dirty="0">
                          <a:solidFill>
                            <a:srgbClr val="000000"/>
                          </a:solidFill>
                          <a:effectLst/>
                          <a:hlinkClick r:id="rId3"/>
                        </a:rPr>
                        <a:t>MAR</a:t>
                      </a:r>
                      <a:endParaRPr lang="en-US" sz="1800" dirty="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5F5F5"/>
                    </a:solidFill>
                  </a:tcPr>
                </a:tc>
                <a:tc>
                  <a:txBody>
                    <a:bodyPr/>
                    <a:lstStyle/>
                    <a:p>
                      <a:r>
                        <a:rPr lang="en-US" sz="1800" u="none" strike="noStrike">
                          <a:solidFill>
                            <a:srgbClr val="000000"/>
                          </a:solidFill>
                          <a:effectLst/>
                          <a:hlinkClick r:id="rId3"/>
                        </a:rPr>
                        <a:t>Memory Address Register</a:t>
                      </a:r>
                      <a:endParaRPr lang="en-US" sz="180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r>
                        <a:rPr lang="en-US" sz="1800">
                          <a:effectLst/>
                        </a:rPr>
                        <a:t>Holds the memory location of data that needs to be accessed</a:t>
                      </a: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57581">
                <a:tc>
                  <a:txBody>
                    <a:bodyPr/>
                    <a:lstStyle/>
                    <a:p>
                      <a:r>
                        <a:rPr lang="en-US" sz="1800" u="none" strike="noStrike">
                          <a:solidFill>
                            <a:srgbClr val="000000"/>
                          </a:solidFill>
                          <a:effectLst/>
                          <a:hlinkClick r:id="rId4"/>
                        </a:rPr>
                        <a:t>MDR</a:t>
                      </a:r>
                      <a:endParaRPr lang="en-US" sz="180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5F5F5"/>
                    </a:solidFill>
                  </a:tcPr>
                </a:tc>
                <a:tc>
                  <a:txBody>
                    <a:bodyPr/>
                    <a:lstStyle/>
                    <a:p>
                      <a:r>
                        <a:rPr lang="en-US" sz="1800" u="none" strike="noStrike">
                          <a:solidFill>
                            <a:srgbClr val="000000"/>
                          </a:solidFill>
                          <a:effectLst/>
                          <a:hlinkClick r:id="rId4"/>
                        </a:rPr>
                        <a:t>Memory Data Register</a:t>
                      </a:r>
                      <a:endParaRPr lang="en-US" sz="180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r>
                        <a:rPr lang="en-US" sz="1800">
                          <a:effectLst/>
                        </a:rPr>
                        <a:t>Holds data that is being transferred to or from memory</a:t>
                      </a: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57581">
                <a:tc>
                  <a:txBody>
                    <a:bodyPr/>
                    <a:lstStyle/>
                    <a:p>
                      <a:r>
                        <a:rPr lang="en-US" sz="1800" u="none" strike="noStrike">
                          <a:solidFill>
                            <a:srgbClr val="000000"/>
                          </a:solidFill>
                          <a:effectLst/>
                          <a:hlinkClick r:id="rId5"/>
                        </a:rPr>
                        <a:t>AC</a:t>
                      </a:r>
                      <a:endParaRPr lang="en-US" sz="180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5F5F5"/>
                    </a:solidFill>
                  </a:tcPr>
                </a:tc>
                <a:tc>
                  <a:txBody>
                    <a:bodyPr/>
                    <a:lstStyle/>
                    <a:p>
                      <a:r>
                        <a:rPr lang="en-US" sz="1800" u="none" strike="noStrike">
                          <a:solidFill>
                            <a:srgbClr val="000000"/>
                          </a:solidFill>
                          <a:effectLst/>
                          <a:hlinkClick r:id="rId5"/>
                        </a:rPr>
                        <a:t>Accumulator</a:t>
                      </a:r>
                      <a:endParaRPr lang="en-US" sz="180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r>
                        <a:rPr lang="en-US" sz="1800">
                          <a:effectLst/>
                        </a:rPr>
                        <a:t>Where intermediate arithmetic and logic results are stored</a:t>
                      </a: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57581">
                <a:tc>
                  <a:txBody>
                    <a:bodyPr/>
                    <a:lstStyle/>
                    <a:p>
                      <a:r>
                        <a:rPr lang="en-US" sz="1800" u="none" strike="noStrike">
                          <a:solidFill>
                            <a:srgbClr val="000000"/>
                          </a:solidFill>
                          <a:effectLst/>
                          <a:hlinkClick r:id="rId6"/>
                        </a:rPr>
                        <a:t>PC</a:t>
                      </a:r>
                      <a:endParaRPr lang="en-US" sz="180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5F5F5"/>
                    </a:solidFill>
                  </a:tcPr>
                </a:tc>
                <a:tc>
                  <a:txBody>
                    <a:bodyPr/>
                    <a:lstStyle/>
                    <a:p>
                      <a:r>
                        <a:rPr lang="en-US" sz="1800" u="none" strike="noStrike">
                          <a:solidFill>
                            <a:srgbClr val="000000"/>
                          </a:solidFill>
                          <a:effectLst/>
                          <a:hlinkClick r:id="rId6"/>
                        </a:rPr>
                        <a:t>Program Counter</a:t>
                      </a:r>
                      <a:endParaRPr lang="en-US" sz="180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r>
                        <a:rPr lang="en-US" sz="1800">
                          <a:effectLst/>
                        </a:rPr>
                        <a:t>Contains the address of the next instruction to be executed</a:t>
                      </a: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57581">
                <a:tc>
                  <a:txBody>
                    <a:bodyPr/>
                    <a:lstStyle/>
                    <a:p>
                      <a:r>
                        <a:rPr lang="en-US" sz="1800" u="none" strike="noStrike" dirty="0">
                          <a:solidFill>
                            <a:srgbClr val="000000"/>
                          </a:solidFill>
                          <a:effectLst/>
                          <a:hlinkClick r:id="rId7"/>
                        </a:rPr>
                        <a:t>IR</a:t>
                      </a:r>
                      <a:endParaRPr lang="en-US" sz="1800" dirty="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5F5F5"/>
                    </a:solidFill>
                  </a:tcPr>
                </a:tc>
                <a:tc>
                  <a:txBody>
                    <a:bodyPr/>
                    <a:lstStyle/>
                    <a:p>
                      <a:r>
                        <a:rPr lang="en-US" sz="1800" u="none" strike="noStrike" dirty="0">
                          <a:solidFill>
                            <a:srgbClr val="000000"/>
                          </a:solidFill>
                          <a:effectLst/>
                          <a:hlinkClick r:id="rId7"/>
                        </a:rPr>
                        <a:t> Instruction Register</a:t>
                      </a:r>
                      <a:endParaRPr lang="en-US" sz="1800" dirty="0">
                        <a:effectLst/>
                      </a:endParaRP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tc>
                  <a:txBody>
                    <a:bodyPr/>
                    <a:lstStyle/>
                    <a:p>
                      <a:r>
                        <a:rPr lang="en-US" sz="1800" dirty="0">
                          <a:effectLst/>
                        </a:rPr>
                        <a:t>Contains the current instruction during processing</a:t>
                      </a:r>
                    </a:p>
                  </a:txBody>
                  <a:tcPr marL="51937" marR="51937" marT="51937" marB="51937" anchor="ctr">
                    <a:lnL w="7620" cap="flat" cmpd="sng" algn="ctr">
                      <a:solidFill>
                        <a:srgbClr val="E0E0E0"/>
                      </a:solidFill>
                      <a:prstDash val="solid"/>
                      <a:round/>
                      <a:headEnd type="none" w="med" len="med"/>
                      <a:tailEnd type="none" w="med" len="med"/>
                    </a:lnL>
                    <a:lnR w="7620" cap="flat" cmpd="sng" algn="ctr">
                      <a:solidFill>
                        <a:srgbClr val="E0E0E0"/>
                      </a:solidFill>
                      <a:prstDash val="solid"/>
                      <a:round/>
                      <a:headEnd type="none" w="med" len="med"/>
                      <a:tailEnd type="none" w="med" len="med"/>
                    </a:lnR>
                    <a:lnT w="7620" cap="flat" cmpd="sng" algn="ctr">
                      <a:solidFill>
                        <a:srgbClr val="E0E0E0"/>
                      </a:solidFill>
                      <a:prstDash val="solid"/>
                      <a:round/>
                      <a:headEnd type="none" w="med" len="med"/>
                      <a:tailEnd type="none" w="med" len="med"/>
                    </a:lnT>
                    <a:lnB w="762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34</a:t>
            </a:fld>
            <a:endParaRPr lang="en-US"/>
          </a:p>
        </p:txBody>
      </p:sp>
    </p:spTree>
    <p:extLst>
      <p:ext uri="{BB962C8B-B14F-4D97-AF65-F5344CB8AC3E}">
        <p14:creationId xmlns:p14="http://schemas.microsoft.com/office/powerpoint/2010/main" val="32953424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35</a:t>
            </a:fld>
            <a:endParaRPr lang="en-US"/>
          </a:p>
        </p:txBody>
      </p:sp>
      <p:pic>
        <p:nvPicPr>
          <p:cNvPr id="17410" name="Picture 2" descr="Difference Between Register and Main Memory - Pediaa.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984" y="33779"/>
            <a:ext cx="5948313" cy="6362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084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95325B9-25C3-4C47-AE59-2A7BFFE38C54}" type="datetime1">
              <a:rPr lang="en-US" smtClean="0"/>
              <a:pPr/>
              <a:t>1/7/2026</a:t>
            </a:fld>
            <a:endParaRPr lang="en-US" dirty="0"/>
          </a:p>
        </p:txBody>
      </p:sp>
      <p:sp>
        <p:nvSpPr>
          <p:cNvPr id="5" name="Footer Placeholder 4"/>
          <p:cNvSpPr>
            <a:spLocks noGrp="1"/>
          </p:cNvSpPr>
          <p:nvPr>
            <p:ph type="ftr" sz="quarter" idx="11"/>
          </p:nvPr>
        </p:nvSpPr>
        <p:spPr/>
        <p:txBody>
          <a:bodyPr/>
          <a:lstStyle/>
          <a:p>
            <a:r>
              <a:rPr lang="en-US"/>
              <a:t>Amrita School of Engineering, Bangalore</a:t>
            </a:r>
            <a:endParaRPr lang="en-US" dirty="0"/>
          </a:p>
        </p:txBody>
      </p:sp>
      <p:sp>
        <p:nvSpPr>
          <p:cNvPr id="6" name="Slide Number Placeholder 5"/>
          <p:cNvSpPr>
            <a:spLocks noGrp="1"/>
          </p:cNvSpPr>
          <p:nvPr>
            <p:ph type="sldNum" sz="quarter" idx="12"/>
          </p:nvPr>
        </p:nvSpPr>
        <p:spPr/>
        <p:txBody>
          <a:bodyPr/>
          <a:lstStyle/>
          <a:p>
            <a:fld id="{F5E843A0-D5C2-4D72-A6B6-2325E0D42116}" type="slidenum">
              <a:rPr lang="en-US" smtClean="0"/>
              <a:t>36</a:t>
            </a:fld>
            <a:endParaRPr lang="en-US"/>
          </a:p>
        </p:txBody>
      </p:sp>
      <p:pic>
        <p:nvPicPr>
          <p:cNvPr id="8" name="Picture 7"/>
          <p:cNvPicPr>
            <a:picLocks noChangeAspect="1"/>
          </p:cNvPicPr>
          <p:nvPr/>
        </p:nvPicPr>
        <p:blipFill>
          <a:blip r:embed="rId2"/>
          <a:stretch>
            <a:fillRect/>
          </a:stretch>
        </p:blipFill>
        <p:spPr>
          <a:xfrm>
            <a:off x="1314450" y="1190625"/>
            <a:ext cx="6515100" cy="4476750"/>
          </a:xfrm>
          <a:prstGeom prst="rect">
            <a:avLst/>
          </a:prstGeom>
        </p:spPr>
      </p:pic>
    </p:spTree>
    <p:extLst>
      <p:ext uri="{BB962C8B-B14F-4D97-AF65-F5344CB8AC3E}">
        <p14:creationId xmlns:p14="http://schemas.microsoft.com/office/powerpoint/2010/main" val="30512218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000" b="1" dirty="0">
                <a:latin typeface="Times New Roman" pitchFamily="18" charset="0"/>
                <a:cs typeface="Times New Roman" pitchFamily="18" charset="0"/>
              </a:rPr>
              <a:t>Harvard and Von-</a:t>
            </a:r>
            <a:r>
              <a:rPr lang="en-IN" sz="4000" b="1" dirty="0" err="1">
                <a:latin typeface="Times New Roman" pitchFamily="18" charset="0"/>
                <a:cs typeface="Times New Roman" pitchFamily="18" charset="0"/>
              </a:rPr>
              <a:t>neumann</a:t>
            </a:r>
            <a:r>
              <a:rPr lang="en-IN" sz="4000" b="1" dirty="0">
                <a:latin typeface="Times New Roman" pitchFamily="18" charset="0"/>
                <a:cs typeface="Times New Roman" pitchFamily="18" charset="0"/>
              </a:rPr>
              <a:t> Architecture</a:t>
            </a:r>
            <a:endParaRPr lang="en-US" sz="4000" b="1"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1524000" y="2133600"/>
            <a:ext cx="6048375" cy="19431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1981200" y="4267200"/>
            <a:ext cx="5343525" cy="2066925"/>
          </a:xfrm>
          <a:prstGeom prst="rect">
            <a:avLst/>
          </a:prstGeom>
          <a:noFill/>
          <a:ln w="9525">
            <a:noFill/>
            <a:miter lim="800000"/>
            <a:headEnd/>
            <a:tailEnd/>
          </a:ln>
          <a:effectLst/>
        </p:spPr>
      </p:pic>
    </p:spTree>
    <p:extLst>
      <p:ext uri="{BB962C8B-B14F-4D97-AF65-F5344CB8AC3E}">
        <p14:creationId xmlns:p14="http://schemas.microsoft.com/office/powerpoint/2010/main" val="4101311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000" b="1" dirty="0">
                <a:latin typeface="Times New Roman" pitchFamily="18" charset="0"/>
                <a:cs typeface="Times New Roman" pitchFamily="18" charset="0"/>
              </a:rPr>
              <a:t>Harvard and Von-</a:t>
            </a:r>
            <a:r>
              <a:rPr lang="en-IN" sz="4000" b="1" dirty="0" err="1">
                <a:latin typeface="Times New Roman" pitchFamily="18" charset="0"/>
                <a:cs typeface="Times New Roman" pitchFamily="18" charset="0"/>
              </a:rPr>
              <a:t>neumann</a:t>
            </a:r>
            <a:r>
              <a:rPr lang="en-IN" sz="4000" b="1" dirty="0">
                <a:latin typeface="Times New Roman" pitchFamily="18" charset="0"/>
                <a:cs typeface="Times New Roman" pitchFamily="18" charset="0"/>
              </a:rPr>
              <a:t> Architecture</a:t>
            </a:r>
            <a:endParaRPr lang="en-US" sz="4000" b="1"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990599" y="1676400"/>
            <a:ext cx="7380903" cy="4758740"/>
          </a:xfrm>
          <a:prstGeom prst="rect">
            <a:avLst/>
          </a:prstGeom>
          <a:noFill/>
          <a:ln w="9525">
            <a:noFill/>
            <a:miter lim="800000"/>
            <a:headEnd/>
            <a:tailEnd/>
          </a:ln>
          <a:effectLst/>
        </p:spPr>
      </p:pic>
    </p:spTree>
    <p:extLst>
      <p:ext uri="{BB962C8B-B14F-4D97-AF65-F5344CB8AC3E}">
        <p14:creationId xmlns:p14="http://schemas.microsoft.com/office/powerpoint/2010/main" val="6580872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Date Placeholder 2"/>
          <p:cNvSpPr>
            <a:spLocks noGrp="1"/>
          </p:cNvSpPr>
          <p:nvPr>
            <p:ph type="dt" sz="half" idx="10"/>
          </p:nvPr>
        </p:nvSpPr>
        <p:spPr/>
        <p:txBody>
          <a:bodyPr/>
          <a:lstStyle/>
          <a:p>
            <a:fld id="{E579A2DE-87F5-464A-A554-9D897836BC33}" type="datetime1">
              <a:rPr lang="en-US" smtClean="0"/>
              <a:t>1/7/2026</a:t>
            </a:fld>
            <a:endParaRPr lang="en-US"/>
          </a:p>
        </p:txBody>
      </p:sp>
      <p:sp>
        <p:nvSpPr>
          <p:cNvPr id="4" name="Footer Placeholder 3"/>
          <p:cNvSpPr>
            <a:spLocks noGrp="1"/>
          </p:cNvSpPr>
          <p:nvPr>
            <p:ph type="ftr" sz="quarter" idx="11"/>
          </p:nvPr>
        </p:nvSpPr>
        <p:spPr/>
        <p:txBody>
          <a:bodyPr/>
          <a:lstStyle/>
          <a:p>
            <a:r>
              <a:rPr lang="en-US"/>
              <a:t>Amrita School of Engineering, Bangalore</a:t>
            </a:r>
          </a:p>
        </p:txBody>
      </p:sp>
      <p:sp>
        <p:nvSpPr>
          <p:cNvPr id="5" name="Slide Number Placeholder 4"/>
          <p:cNvSpPr>
            <a:spLocks noGrp="1"/>
          </p:cNvSpPr>
          <p:nvPr>
            <p:ph type="sldNum" sz="quarter" idx="12"/>
          </p:nvPr>
        </p:nvSpPr>
        <p:spPr/>
        <p:txBody>
          <a:bodyPr/>
          <a:lstStyle/>
          <a:p>
            <a:fld id="{F5E843A0-D5C2-4D72-A6B6-2325E0D42116}" type="slidenum">
              <a:rPr lang="en-US" smtClean="0"/>
              <a:t>39</a:t>
            </a:fld>
            <a:endParaRPr lang="en-US"/>
          </a:p>
        </p:txBody>
      </p:sp>
      <p:pic>
        <p:nvPicPr>
          <p:cNvPr id="6" name="Picture 5"/>
          <p:cNvPicPr>
            <a:picLocks noChangeAspect="1"/>
          </p:cNvPicPr>
          <p:nvPr/>
        </p:nvPicPr>
        <p:blipFill>
          <a:blip r:embed="rId2"/>
          <a:stretch>
            <a:fillRect/>
          </a:stretch>
        </p:blipFill>
        <p:spPr>
          <a:xfrm>
            <a:off x="990600" y="1066800"/>
            <a:ext cx="5420212" cy="3763600"/>
          </a:xfrm>
          <a:prstGeom prst="rect">
            <a:avLst/>
          </a:prstGeom>
        </p:spPr>
      </p:pic>
    </p:spTree>
    <p:extLst>
      <p:ext uri="{BB962C8B-B14F-4D97-AF65-F5344CB8AC3E}">
        <p14:creationId xmlns:p14="http://schemas.microsoft.com/office/powerpoint/2010/main" val="3399630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Date Placeholder 2"/>
          <p:cNvSpPr>
            <a:spLocks noGrp="1"/>
          </p:cNvSpPr>
          <p:nvPr>
            <p:ph type="dt" sz="half" idx="10"/>
          </p:nvPr>
        </p:nvSpPr>
        <p:spPr/>
        <p:txBody>
          <a:bodyPr/>
          <a:lstStyle/>
          <a:p>
            <a:fld id="{E579A2DE-87F5-464A-A554-9D897836BC33}" type="datetime1">
              <a:rPr lang="en-US" smtClean="0"/>
              <a:t>1/7/2026</a:t>
            </a:fld>
            <a:endParaRPr lang="en-US"/>
          </a:p>
        </p:txBody>
      </p:sp>
      <p:sp>
        <p:nvSpPr>
          <p:cNvPr id="4" name="Footer Placeholder 3"/>
          <p:cNvSpPr>
            <a:spLocks noGrp="1"/>
          </p:cNvSpPr>
          <p:nvPr>
            <p:ph type="ftr" sz="quarter" idx="11"/>
          </p:nvPr>
        </p:nvSpPr>
        <p:spPr/>
        <p:txBody>
          <a:bodyPr/>
          <a:lstStyle/>
          <a:p>
            <a:r>
              <a:rPr lang="en-US"/>
              <a:t>Amrita School of Engineering, Bangalore</a:t>
            </a:r>
          </a:p>
        </p:txBody>
      </p:sp>
      <p:sp>
        <p:nvSpPr>
          <p:cNvPr id="5" name="Slide Number Placeholder 4"/>
          <p:cNvSpPr>
            <a:spLocks noGrp="1"/>
          </p:cNvSpPr>
          <p:nvPr>
            <p:ph type="sldNum" sz="quarter" idx="12"/>
          </p:nvPr>
        </p:nvSpPr>
        <p:spPr/>
        <p:txBody>
          <a:bodyPr/>
          <a:lstStyle/>
          <a:p>
            <a:fld id="{F5E843A0-D5C2-4D72-A6B6-2325E0D42116}" type="slidenum">
              <a:rPr lang="en-US" smtClean="0"/>
              <a:t>40</a:t>
            </a:fld>
            <a:endParaRPr lang="en-US"/>
          </a:p>
        </p:txBody>
      </p:sp>
      <p:pic>
        <p:nvPicPr>
          <p:cNvPr id="6" name="Picture 5"/>
          <p:cNvPicPr>
            <a:picLocks noChangeAspect="1"/>
          </p:cNvPicPr>
          <p:nvPr/>
        </p:nvPicPr>
        <p:blipFill>
          <a:blip r:embed="rId2"/>
          <a:stretch>
            <a:fillRect/>
          </a:stretch>
        </p:blipFill>
        <p:spPr>
          <a:xfrm>
            <a:off x="1247251" y="2133600"/>
            <a:ext cx="6032027" cy="2743200"/>
          </a:xfrm>
          <a:prstGeom prst="rect">
            <a:avLst/>
          </a:prstGeom>
        </p:spPr>
      </p:pic>
    </p:spTree>
    <p:extLst>
      <p:ext uri="{BB962C8B-B14F-4D97-AF65-F5344CB8AC3E}">
        <p14:creationId xmlns:p14="http://schemas.microsoft.com/office/powerpoint/2010/main" val="28570867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579A2DE-87F5-464A-A554-9D897836BC33}" type="datetime1">
              <a:rPr lang="en-US" smtClean="0"/>
              <a:t>1/7/2026</a:t>
            </a:fld>
            <a:endParaRPr lang="en-US"/>
          </a:p>
        </p:txBody>
      </p:sp>
      <p:sp>
        <p:nvSpPr>
          <p:cNvPr id="4" name="Footer Placeholder 3"/>
          <p:cNvSpPr>
            <a:spLocks noGrp="1"/>
          </p:cNvSpPr>
          <p:nvPr>
            <p:ph type="ftr" sz="quarter" idx="11"/>
          </p:nvPr>
        </p:nvSpPr>
        <p:spPr/>
        <p:txBody>
          <a:bodyPr/>
          <a:lstStyle/>
          <a:p>
            <a:r>
              <a:rPr lang="en-US"/>
              <a:t>Amrita School of Engineering, Bangalore</a:t>
            </a:r>
          </a:p>
        </p:txBody>
      </p:sp>
      <p:sp>
        <p:nvSpPr>
          <p:cNvPr id="5" name="Slide Number Placeholder 4"/>
          <p:cNvSpPr>
            <a:spLocks noGrp="1"/>
          </p:cNvSpPr>
          <p:nvPr>
            <p:ph type="sldNum" sz="quarter" idx="12"/>
          </p:nvPr>
        </p:nvSpPr>
        <p:spPr/>
        <p:txBody>
          <a:bodyPr/>
          <a:lstStyle/>
          <a:p>
            <a:fld id="{F5E843A0-D5C2-4D72-A6B6-2325E0D42116}" type="slidenum">
              <a:rPr lang="en-US" smtClean="0"/>
              <a:t>41</a:t>
            </a:fld>
            <a:endParaRPr lang="en-US"/>
          </a:p>
        </p:txBody>
      </p:sp>
      <p:pic>
        <p:nvPicPr>
          <p:cNvPr id="16386" name="Picture 2" descr="http://4.bp.blogspot.com/_IEmaCFe3y9g/SO3GGEF4UkI/AAAAAAAAAAc/z7waF2Lwg0s/s400/lb.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514600"/>
            <a:ext cx="6400800" cy="320040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609600" y="4270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000" kern="1200">
                <a:solidFill>
                  <a:schemeClr val="tx1"/>
                </a:solidFill>
                <a:latin typeface="Times New Roman" pitchFamily="18" charset="0"/>
                <a:ea typeface="+mj-ea"/>
                <a:cs typeface="Times New Roman" pitchFamily="18" charset="0"/>
              </a:defRPr>
            </a:lvl1pPr>
          </a:lstStyle>
          <a:p>
            <a:r>
              <a:rPr lang="en-IN"/>
              <a:t>Little Endian and Big Endian</a:t>
            </a:r>
            <a:endParaRPr lang="en-US" dirty="0"/>
          </a:p>
        </p:txBody>
      </p:sp>
    </p:spTree>
    <p:extLst>
      <p:ext uri="{BB962C8B-B14F-4D97-AF65-F5344CB8AC3E}">
        <p14:creationId xmlns:p14="http://schemas.microsoft.com/office/powerpoint/2010/main" val="15641505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Date Placeholder 2"/>
          <p:cNvSpPr>
            <a:spLocks noGrp="1"/>
          </p:cNvSpPr>
          <p:nvPr>
            <p:ph type="dt" sz="half" idx="10"/>
          </p:nvPr>
        </p:nvSpPr>
        <p:spPr/>
        <p:txBody>
          <a:bodyPr/>
          <a:lstStyle/>
          <a:p>
            <a:fld id="{E579A2DE-87F5-464A-A554-9D897836BC33}" type="datetime1">
              <a:rPr lang="en-US" smtClean="0"/>
              <a:t>1/7/2026</a:t>
            </a:fld>
            <a:endParaRPr lang="en-US"/>
          </a:p>
        </p:txBody>
      </p:sp>
      <p:sp>
        <p:nvSpPr>
          <p:cNvPr id="4" name="Footer Placeholder 3"/>
          <p:cNvSpPr>
            <a:spLocks noGrp="1"/>
          </p:cNvSpPr>
          <p:nvPr>
            <p:ph type="ftr" sz="quarter" idx="11"/>
          </p:nvPr>
        </p:nvSpPr>
        <p:spPr/>
        <p:txBody>
          <a:bodyPr/>
          <a:lstStyle/>
          <a:p>
            <a:r>
              <a:rPr lang="en-US"/>
              <a:t>Amrita School of Engineering, Bangalore</a:t>
            </a:r>
          </a:p>
        </p:txBody>
      </p:sp>
      <p:sp>
        <p:nvSpPr>
          <p:cNvPr id="5" name="Slide Number Placeholder 4"/>
          <p:cNvSpPr>
            <a:spLocks noGrp="1"/>
          </p:cNvSpPr>
          <p:nvPr>
            <p:ph type="sldNum" sz="quarter" idx="12"/>
          </p:nvPr>
        </p:nvSpPr>
        <p:spPr/>
        <p:txBody>
          <a:bodyPr/>
          <a:lstStyle/>
          <a:p>
            <a:fld id="{F5E843A0-D5C2-4D72-A6B6-2325E0D42116}" type="slidenum">
              <a:rPr lang="en-US" smtClean="0"/>
              <a:t>42</a:t>
            </a:fld>
            <a:endParaRPr lang="en-US"/>
          </a:p>
        </p:txBody>
      </p:sp>
      <p:pic>
        <p:nvPicPr>
          <p:cNvPr id="22530" name="Picture 2" descr="Big endian or little endian??. If you are like me, every time you come… |  by Francesc Figueras | Worldsensing TechBlog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905000"/>
            <a:ext cx="6553200" cy="2925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928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579A2DE-87F5-464A-A554-9D897836BC33}" type="datetime1">
              <a:rPr lang="en-US" smtClean="0"/>
              <a:t>1/7/2026</a:t>
            </a:fld>
            <a:endParaRPr lang="en-US"/>
          </a:p>
        </p:txBody>
      </p:sp>
      <p:sp>
        <p:nvSpPr>
          <p:cNvPr id="4" name="Footer Placeholder 3"/>
          <p:cNvSpPr>
            <a:spLocks noGrp="1"/>
          </p:cNvSpPr>
          <p:nvPr>
            <p:ph type="ftr" sz="quarter" idx="11"/>
          </p:nvPr>
        </p:nvSpPr>
        <p:spPr/>
        <p:txBody>
          <a:bodyPr/>
          <a:lstStyle/>
          <a:p>
            <a:r>
              <a:rPr lang="en-US"/>
              <a:t>Amrita School of Engineering, Bangalore</a:t>
            </a:r>
          </a:p>
        </p:txBody>
      </p:sp>
      <p:sp>
        <p:nvSpPr>
          <p:cNvPr id="5" name="Slide Number Placeholder 4"/>
          <p:cNvSpPr>
            <a:spLocks noGrp="1"/>
          </p:cNvSpPr>
          <p:nvPr>
            <p:ph type="sldNum" sz="quarter" idx="12"/>
          </p:nvPr>
        </p:nvSpPr>
        <p:spPr/>
        <p:txBody>
          <a:bodyPr/>
          <a:lstStyle/>
          <a:p>
            <a:fld id="{F5E843A0-D5C2-4D72-A6B6-2325E0D42116}" type="slidenum">
              <a:rPr lang="en-US" smtClean="0"/>
              <a:t>43</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1221929816"/>
              </p:ext>
            </p:extLst>
          </p:nvPr>
        </p:nvGraphicFramePr>
        <p:xfrm>
          <a:off x="757555" y="1417638"/>
          <a:ext cx="5490845" cy="1102360"/>
        </p:xfrm>
        <a:graphic>
          <a:graphicData uri="http://schemas.openxmlformats.org/drawingml/2006/table">
            <a:tbl>
              <a:tblPr firstRow="1" firstCol="1" bandRow="1">
                <a:tableStyleId>{5C22544A-7EE6-4342-B048-85BDC9FD1C3A}</a:tableStyleId>
              </a:tblPr>
              <a:tblGrid>
                <a:gridCol w="610870">
                  <a:extLst>
                    <a:ext uri="{9D8B030D-6E8A-4147-A177-3AD203B41FA5}">
                      <a16:colId xmlns:a16="http://schemas.microsoft.com/office/drawing/2014/main" val="20000"/>
                    </a:ext>
                  </a:extLst>
                </a:gridCol>
                <a:gridCol w="2059940">
                  <a:extLst>
                    <a:ext uri="{9D8B030D-6E8A-4147-A177-3AD203B41FA5}">
                      <a16:colId xmlns:a16="http://schemas.microsoft.com/office/drawing/2014/main" val="20001"/>
                    </a:ext>
                  </a:extLst>
                </a:gridCol>
                <a:gridCol w="2820035">
                  <a:extLst>
                    <a:ext uri="{9D8B030D-6E8A-4147-A177-3AD203B41FA5}">
                      <a16:colId xmlns:a16="http://schemas.microsoft.com/office/drawing/2014/main" val="20002"/>
                    </a:ext>
                  </a:extLst>
                </a:gridCol>
              </a:tblGrid>
              <a:tr h="287020">
                <a:tc>
                  <a:txBody>
                    <a:bodyPr/>
                    <a:lstStyle/>
                    <a:p>
                      <a:pPr>
                        <a:spcAft>
                          <a:spcPts val="0"/>
                        </a:spcAft>
                      </a:pPr>
                      <a:r>
                        <a:rPr lang="en-IN" sz="1400" dirty="0">
                          <a:effectLst/>
                        </a:rPr>
                        <a:t>S.NO</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400">
                          <a:effectLst/>
                        </a:rPr>
                        <a:t>Little Endian</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400">
                          <a:effectLst/>
                        </a:rPr>
                        <a:t>Big Endian</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71780">
                <a:tc>
                  <a:txBody>
                    <a:bodyPr/>
                    <a:lstStyle/>
                    <a:p>
                      <a:pPr>
                        <a:spcAft>
                          <a:spcPts val="0"/>
                        </a:spcAft>
                      </a:pPr>
                      <a:r>
                        <a:rPr lang="en-IN" sz="14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400">
                          <a:effectLst/>
                        </a:rPr>
                        <a:t>MS Paint </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400">
                          <a:effectLst/>
                        </a:rPr>
                        <a:t>JPEG </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71780">
                <a:tc>
                  <a:txBody>
                    <a:bodyPr/>
                    <a:lstStyle/>
                    <a:p>
                      <a:pPr>
                        <a:spcAft>
                          <a:spcPts val="0"/>
                        </a:spcAft>
                      </a:pPr>
                      <a:r>
                        <a:rPr lang="en-IN" sz="1400">
                          <a:effectLst/>
                        </a:rPr>
                        <a:t>2</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400" dirty="0">
                          <a:effectLst/>
                        </a:rPr>
                        <a:t>RTF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400" dirty="0">
                          <a:effectLst/>
                        </a:rPr>
                        <a:t>Adobe Photoshop</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71780">
                <a:tc>
                  <a:txBody>
                    <a:bodyPr/>
                    <a:lstStyle/>
                    <a:p>
                      <a:pPr>
                        <a:spcAft>
                          <a:spcPts val="0"/>
                        </a:spcAft>
                      </a:pPr>
                      <a:r>
                        <a:rPr lang="en-IN" sz="1400">
                          <a:effectLst/>
                        </a:rPr>
                        <a:t>3</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400">
                          <a:effectLst/>
                        </a:rPr>
                        <a:t>BMP</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400" dirty="0">
                          <a:effectLst/>
                        </a:rPr>
                        <a:t>Mac Paint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560638"/>
            <a:ext cx="3072765" cy="2626360"/>
          </a:xfrm>
          <a:prstGeom prst="rect">
            <a:avLst/>
          </a:prstGeom>
          <a:noFill/>
          <a:ln>
            <a:noFill/>
          </a:ln>
        </p:spPr>
      </p:pic>
    </p:spTree>
    <p:extLst>
      <p:ext uri="{BB962C8B-B14F-4D97-AF65-F5344CB8AC3E}">
        <p14:creationId xmlns:p14="http://schemas.microsoft.com/office/powerpoint/2010/main" val="793366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D9921F90-2E3B-4FA6-B286-07C3B7CA27AF}" type="datetime1">
              <a:rPr lang="en-US" smtClean="0"/>
              <a:t>1/7/2026</a:t>
            </a:fld>
            <a:endParaRPr lang="en-US"/>
          </a:p>
        </p:txBody>
      </p:sp>
      <p:sp>
        <p:nvSpPr>
          <p:cNvPr id="11" name="Footer Placeholder 10"/>
          <p:cNvSpPr>
            <a:spLocks noGrp="1"/>
          </p:cNvSpPr>
          <p:nvPr>
            <p:ph type="ftr" sz="quarter" idx="11"/>
          </p:nvPr>
        </p:nvSpPr>
        <p:spPr/>
        <p:txBody>
          <a:bodyPr/>
          <a:lstStyle/>
          <a:p>
            <a:r>
              <a:rPr lang="en-US" dirty="0"/>
              <a:t>Amrita School of </a:t>
            </a:r>
            <a:r>
              <a:rPr lang="en-US" dirty="0" err="1"/>
              <a:t>Engineering,Bangalore</a:t>
            </a:r>
            <a:endParaRPr lang="en-US" dirty="0"/>
          </a:p>
        </p:txBody>
      </p:sp>
      <p:sp>
        <p:nvSpPr>
          <p:cNvPr id="10" name="Content Placeholder 9"/>
          <p:cNvSpPr>
            <a:spLocks noGrp="1"/>
          </p:cNvSpPr>
          <p:nvPr>
            <p:ph idx="1"/>
          </p:nvPr>
        </p:nvSpPr>
        <p:spPr/>
        <p:txBody>
          <a:bodyPr>
            <a:normAutofit/>
          </a:bodyPr>
          <a:lstStyle/>
          <a:p>
            <a:pPr algn="ctr">
              <a:buNone/>
            </a:pPr>
            <a:endParaRPr lang="en-US" sz="6000" b="1" spc="50" dirty="0">
              <a:ln w="11430"/>
              <a:effectLst>
                <a:outerShdw blurRad="76200" dist="50800" dir="5400000" algn="tl" rotWithShape="0">
                  <a:srgbClr val="000000">
                    <a:alpha val="65000"/>
                  </a:srgbClr>
                </a:outerShdw>
              </a:effectLst>
            </a:endParaRPr>
          </a:p>
          <a:p>
            <a:pPr algn="ctr">
              <a:buNone/>
            </a:pPr>
            <a:r>
              <a:rPr lang="en-US" sz="6000" b="1" spc="50" dirty="0">
                <a:ln w="11430"/>
                <a:effectLst>
                  <a:outerShdw blurRad="76200" dist="50800" dir="5400000" algn="tl" rotWithShape="0">
                    <a:srgbClr val="000000">
                      <a:alpha val="65000"/>
                    </a:srgbClr>
                  </a:outerShdw>
                </a:effectLst>
              </a:rPr>
              <a:t>QUESTIONS!?!</a:t>
            </a:r>
          </a:p>
        </p:txBody>
      </p:sp>
    </p:spTree>
    <p:extLst>
      <p:ext uri="{BB962C8B-B14F-4D97-AF65-F5344CB8AC3E}">
        <p14:creationId xmlns:p14="http://schemas.microsoft.com/office/powerpoint/2010/main" val="4286004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27665</TotalTime>
  <Words>1438</Words>
  <Application>Microsoft Office PowerPoint</Application>
  <PresentationFormat>On-screen Show (4:3)</PresentationFormat>
  <Paragraphs>288</Paragraphs>
  <Slides>44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Arial Black</vt:lpstr>
      <vt:lpstr>Calibri</vt:lpstr>
      <vt:lpstr>Candara</vt:lpstr>
      <vt:lpstr>Times New Roman</vt:lpstr>
      <vt:lpstr>Wingdings</vt:lpstr>
      <vt:lpstr>Office Theme</vt:lpstr>
      <vt:lpstr>PowerPoint Presentation</vt:lpstr>
      <vt:lpstr>Decimal vs Binary</vt:lpstr>
      <vt:lpstr>Understanding Performance</vt:lpstr>
      <vt:lpstr>Eight Great Ideas</vt:lpstr>
      <vt:lpstr>Computer Architecture and Organization</vt:lpstr>
      <vt:lpstr>Architecture vs Organization</vt:lpstr>
      <vt:lpstr>Contd.,</vt:lpstr>
      <vt:lpstr>PowerPoint Presentation</vt:lpstr>
      <vt:lpstr>PowerPoint Presentation</vt:lpstr>
      <vt:lpstr>ISA – Instruction Set Architecture</vt:lpstr>
      <vt:lpstr>Contd., </vt:lpstr>
      <vt:lpstr>Contd., </vt:lpstr>
      <vt:lpstr>Contd.,</vt:lpstr>
      <vt:lpstr>PowerPoint Presentation</vt:lpstr>
      <vt:lpstr>Identify the idea</vt:lpstr>
      <vt:lpstr>Architecture or Organization</vt:lpstr>
      <vt:lpstr>Below Your Program</vt:lpstr>
      <vt:lpstr>Levels of Program Code</vt:lpstr>
      <vt:lpstr>PowerPoint Presentation</vt:lpstr>
      <vt:lpstr>PowerPoint Presentation</vt:lpstr>
      <vt:lpstr>CISC and RISC</vt:lpstr>
      <vt:lpstr>PowerPoint Presentation</vt:lpstr>
      <vt:lpstr>PowerPoint Presentation</vt:lpstr>
      <vt:lpstr>Components of a Computer</vt:lpstr>
      <vt:lpstr>PowerPoint Presentation</vt:lpstr>
      <vt:lpstr>PowerPoint Presentation</vt:lpstr>
      <vt:lpstr>PowerPoint Presentation</vt:lpstr>
      <vt:lpstr>PowerPoint Presentation</vt:lpstr>
      <vt:lpstr>Processor Memory Interconnection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Harvard and Von-neumann Architecture</vt:lpstr>
      <vt:lpstr>Harvard and Von-neumann Architecture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Vishwas Swamy</cp:lastModifiedBy>
  <cp:revision>358</cp:revision>
  <cp:lastPrinted>2021-01-06T16:01:16Z</cp:lastPrinted>
  <dcterms:created xsi:type="dcterms:W3CDTF">2015-12-18T05:39:53Z</dcterms:created>
  <dcterms:modified xsi:type="dcterms:W3CDTF">2026-01-07T08:16:00Z</dcterms:modified>
</cp:coreProperties>
</file>