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3"/>
  </p:notesMasterIdLst>
  <p:sldIdLst>
    <p:sldId id="256" r:id="rId2"/>
    <p:sldId id="257" r:id="rId3"/>
    <p:sldId id="258" r:id="rId4"/>
    <p:sldId id="259" r:id="rId5"/>
    <p:sldId id="260" r:id="rId6"/>
    <p:sldId id="261" r:id="rId7"/>
    <p:sldId id="262" r:id="rId8"/>
    <p:sldId id="396"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405"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406" r:id="rId44"/>
    <p:sldId id="407"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97" r:id="rId62"/>
    <p:sldId id="398" r:id="rId63"/>
    <p:sldId id="313" r:id="rId64"/>
    <p:sldId id="314" r:id="rId65"/>
    <p:sldId id="315" r:id="rId66"/>
    <p:sldId id="316" r:id="rId67"/>
    <p:sldId id="389" r:id="rId68"/>
    <p:sldId id="390" r:id="rId69"/>
    <p:sldId id="391" r:id="rId70"/>
    <p:sldId id="392" r:id="rId71"/>
    <p:sldId id="393" r:id="rId72"/>
    <p:sldId id="394" r:id="rId73"/>
    <p:sldId id="395"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99" r:id="rId97"/>
    <p:sldId id="400" r:id="rId98"/>
    <p:sldId id="401" r:id="rId99"/>
    <p:sldId id="402" r:id="rId100"/>
    <p:sldId id="339" r:id="rId101"/>
    <p:sldId id="340" r:id="rId102"/>
    <p:sldId id="404" r:id="rId103"/>
    <p:sldId id="403" r:id="rId104"/>
    <p:sldId id="341" r:id="rId105"/>
    <p:sldId id="342" r:id="rId106"/>
    <p:sldId id="343" r:id="rId107"/>
    <p:sldId id="344" r:id="rId108"/>
    <p:sldId id="345" r:id="rId109"/>
    <p:sldId id="346" r:id="rId110"/>
    <p:sldId id="347" r:id="rId111"/>
    <p:sldId id="348" r:id="rId112"/>
    <p:sldId id="349" r:id="rId113"/>
    <p:sldId id="350" r:id="rId114"/>
    <p:sldId id="351" r:id="rId115"/>
    <p:sldId id="352" r:id="rId116"/>
    <p:sldId id="355" r:id="rId117"/>
    <p:sldId id="353" r:id="rId118"/>
    <p:sldId id="356" r:id="rId119"/>
    <p:sldId id="354" r:id="rId120"/>
    <p:sldId id="357" r:id="rId121"/>
    <p:sldId id="358" r:id="rId122"/>
    <p:sldId id="359" r:id="rId123"/>
    <p:sldId id="360" r:id="rId124"/>
    <p:sldId id="361" r:id="rId125"/>
    <p:sldId id="362" r:id="rId126"/>
    <p:sldId id="363" r:id="rId127"/>
    <p:sldId id="364" r:id="rId128"/>
    <p:sldId id="365" r:id="rId129"/>
    <p:sldId id="366" r:id="rId130"/>
    <p:sldId id="367" r:id="rId131"/>
    <p:sldId id="368" r:id="rId132"/>
    <p:sldId id="370" r:id="rId133"/>
    <p:sldId id="369" r:id="rId134"/>
    <p:sldId id="371" r:id="rId135"/>
    <p:sldId id="372" r:id="rId136"/>
    <p:sldId id="373" r:id="rId137"/>
    <p:sldId id="374" r:id="rId138"/>
    <p:sldId id="375" r:id="rId139"/>
    <p:sldId id="384" r:id="rId140"/>
    <p:sldId id="385" r:id="rId141"/>
    <p:sldId id="376" r:id="rId142"/>
    <p:sldId id="377" r:id="rId143"/>
    <p:sldId id="378" r:id="rId144"/>
    <p:sldId id="379" r:id="rId145"/>
    <p:sldId id="380" r:id="rId146"/>
    <p:sldId id="381" r:id="rId147"/>
    <p:sldId id="382" r:id="rId148"/>
    <p:sldId id="383" r:id="rId149"/>
    <p:sldId id="386" r:id="rId150"/>
    <p:sldId id="387" r:id="rId151"/>
    <p:sldId id="388" r:id="rId1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488" autoAdjust="0"/>
  </p:normalViewPr>
  <p:slideViewPr>
    <p:cSldViewPr snapToGrid="0">
      <p:cViewPr varScale="1">
        <p:scale>
          <a:sx n="89" d="100"/>
          <a:sy n="89" d="100"/>
        </p:scale>
        <p:origin x="366"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97B16-6AC8-40CB-A61E-83D70B832D49}" type="datetimeFigureOut">
              <a:rPr lang="en-IN" smtClean="0"/>
              <a:t>04-04-2026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22FAF-4F8F-4EE2-8332-0D53CCC7844E}" type="slidenum">
              <a:rPr lang="en-IN" smtClean="0"/>
              <a:t>‹#›</a:t>
            </a:fld>
            <a:endParaRPr lang="en-IN"/>
          </a:p>
        </p:txBody>
      </p:sp>
    </p:spTree>
    <p:extLst>
      <p:ext uri="{BB962C8B-B14F-4D97-AF65-F5344CB8AC3E}">
        <p14:creationId xmlns:p14="http://schemas.microsoft.com/office/powerpoint/2010/main" val="4032934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be done</a:t>
            </a:r>
          </a:p>
        </p:txBody>
      </p:sp>
      <p:sp>
        <p:nvSpPr>
          <p:cNvPr id="4" name="Slide Number Placeholder 3"/>
          <p:cNvSpPr>
            <a:spLocks noGrp="1"/>
          </p:cNvSpPr>
          <p:nvPr>
            <p:ph type="sldNum" sz="quarter" idx="5"/>
          </p:nvPr>
        </p:nvSpPr>
        <p:spPr/>
        <p:txBody>
          <a:bodyPr/>
          <a:lstStyle/>
          <a:p>
            <a:fld id="{28E22FAF-4F8F-4EE2-8332-0D53CCC7844E}" type="slidenum">
              <a:rPr lang="en-IN" smtClean="0"/>
              <a:t>94</a:t>
            </a:fld>
            <a:endParaRPr lang="en-IN"/>
          </a:p>
        </p:txBody>
      </p:sp>
    </p:spTree>
    <p:extLst>
      <p:ext uri="{BB962C8B-B14F-4D97-AF65-F5344CB8AC3E}">
        <p14:creationId xmlns:p14="http://schemas.microsoft.com/office/powerpoint/2010/main" val="2822496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RSC =&gt; r0 = r2 – r2 – (1-c)</a:t>
            </a:r>
          </a:p>
        </p:txBody>
      </p:sp>
      <p:sp>
        <p:nvSpPr>
          <p:cNvPr id="4" name="Slide Number Placeholder 3"/>
          <p:cNvSpPr>
            <a:spLocks noGrp="1"/>
          </p:cNvSpPr>
          <p:nvPr>
            <p:ph type="sldNum" sz="quarter" idx="5"/>
          </p:nvPr>
        </p:nvSpPr>
        <p:spPr/>
        <p:txBody>
          <a:bodyPr/>
          <a:lstStyle/>
          <a:p>
            <a:fld id="{28E22FAF-4F8F-4EE2-8332-0D53CCC7844E}" type="slidenum">
              <a:rPr lang="en-IN" smtClean="0"/>
              <a:t>95</a:t>
            </a:fld>
            <a:endParaRPr lang="en-IN"/>
          </a:p>
        </p:txBody>
      </p:sp>
    </p:spTree>
    <p:extLst>
      <p:ext uri="{BB962C8B-B14F-4D97-AF65-F5344CB8AC3E}">
        <p14:creationId xmlns:p14="http://schemas.microsoft.com/office/powerpoint/2010/main" val="1527999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First add -&gt; set carry flag -&gt; then add the carry value</a:t>
            </a:r>
          </a:p>
        </p:txBody>
      </p:sp>
      <p:sp>
        <p:nvSpPr>
          <p:cNvPr id="4" name="Slide Number Placeholder 3"/>
          <p:cNvSpPr>
            <a:spLocks noGrp="1"/>
          </p:cNvSpPr>
          <p:nvPr>
            <p:ph type="sldNum" sz="quarter" idx="5"/>
          </p:nvPr>
        </p:nvSpPr>
        <p:spPr/>
        <p:txBody>
          <a:bodyPr/>
          <a:lstStyle/>
          <a:p>
            <a:fld id="{28E22FAF-4F8F-4EE2-8332-0D53CCC7844E}" type="slidenum">
              <a:rPr lang="en-IN" smtClean="0"/>
              <a:t>96</a:t>
            </a:fld>
            <a:endParaRPr lang="en-IN"/>
          </a:p>
        </p:txBody>
      </p:sp>
    </p:spTree>
    <p:extLst>
      <p:ext uri="{BB962C8B-B14F-4D97-AF65-F5344CB8AC3E}">
        <p14:creationId xmlns:p14="http://schemas.microsoft.com/office/powerpoint/2010/main" val="23316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E22FAF-4F8F-4EE2-8332-0D53CCC7844E}" type="slidenum">
              <a:rPr lang="en-IN" smtClean="0"/>
              <a:t>102</a:t>
            </a:fld>
            <a:endParaRPr lang="en-IN"/>
          </a:p>
        </p:txBody>
      </p:sp>
    </p:spTree>
    <p:extLst>
      <p:ext uri="{BB962C8B-B14F-4D97-AF65-F5344CB8AC3E}">
        <p14:creationId xmlns:p14="http://schemas.microsoft.com/office/powerpoint/2010/main" val="506548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50BA-4954-A322-FA4D-5369FE90F4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B69251-0CE6-AD33-B222-368EC2BF45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512C52F-D423-CB01-2386-59783EF83667}"/>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5" name="Footer Placeholder 4">
            <a:extLst>
              <a:ext uri="{FF2B5EF4-FFF2-40B4-BE49-F238E27FC236}">
                <a16:creationId xmlns:a16="http://schemas.microsoft.com/office/drawing/2014/main" id="{83202604-44A4-B4EA-9AD5-44CE377E8D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AFDE1-B773-6E7A-D8A5-84C66EC16F61}"/>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2804718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65BAA-A9FE-AA93-7136-F5AC253459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932963-3709-5EED-1777-C825D0BF13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14557F-894C-4FA4-1459-5E7DCFF04F3C}"/>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5" name="Footer Placeholder 4">
            <a:extLst>
              <a:ext uri="{FF2B5EF4-FFF2-40B4-BE49-F238E27FC236}">
                <a16:creationId xmlns:a16="http://schemas.microsoft.com/office/drawing/2014/main" id="{5B826689-757C-637E-841B-A05391500B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FEB3C8-C3BF-52AB-31E6-B4D46933168C}"/>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2600266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AD06-70FD-D2C3-99A5-C5194BA833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57488D8-36B5-1A09-B7CF-1FC1D4360E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D9EFC0-8760-CF9F-7ACE-BCA0C28827EB}"/>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5" name="Footer Placeholder 4">
            <a:extLst>
              <a:ext uri="{FF2B5EF4-FFF2-40B4-BE49-F238E27FC236}">
                <a16:creationId xmlns:a16="http://schemas.microsoft.com/office/drawing/2014/main" id="{ADA9E460-EA0C-D6BB-FA24-B657BEA13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697852-14DF-DD9E-C840-6B5116FB4397}"/>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3153455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67273-7ECC-4992-EFEC-69756C755A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A7ABAD-36CF-D684-AFFD-FE47A8FFCD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52B87B-8ADE-A8CF-52CF-BB2DF43191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E584D7-C0ED-B7C5-5F90-0B621B66DBDC}"/>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6" name="Footer Placeholder 5">
            <a:extLst>
              <a:ext uri="{FF2B5EF4-FFF2-40B4-BE49-F238E27FC236}">
                <a16:creationId xmlns:a16="http://schemas.microsoft.com/office/drawing/2014/main" id="{2537A469-28A5-E262-946E-5501E0C6D2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7B12BE-7CE7-4F54-883D-93016C5DF192}"/>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1235578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54DD-0D93-B036-8913-D232BD003B8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3F1905-A512-C9CF-7DA7-A5E1D15961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BC4495-26E7-D223-8076-3DCD66CDA1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022D79-ECAD-26E5-F708-3D22A1B93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618535-102A-882B-2915-DC375D6421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95B0DF-A97F-F0BE-F5DD-625DB5A19696}"/>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8" name="Footer Placeholder 7">
            <a:extLst>
              <a:ext uri="{FF2B5EF4-FFF2-40B4-BE49-F238E27FC236}">
                <a16:creationId xmlns:a16="http://schemas.microsoft.com/office/drawing/2014/main" id="{90FD1062-1E55-2480-5EF3-5EAE990897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59E1BB-70B6-F09F-0B32-60E9EB283C49}"/>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3658571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336BD-1C90-FDAD-F67B-D480EF4B62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57EC88D-68A4-8BFA-BF71-406C5EA9F251}"/>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4" name="Footer Placeholder 3">
            <a:extLst>
              <a:ext uri="{FF2B5EF4-FFF2-40B4-BE49-F238E27FC236}">
                <a16:creationId xmlns:a16="http://schemas.microsoft.com/office/drawing/2014/main" id="{6F62C806-4033-F8CF-64A2-1DE3973224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6213C3-191C-7EB2-AF90-AADC6EDC10CD}"/>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544313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C5FE9B-0569-85EA-44DF-6ADF4C33B185}"/>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3" name="Footer Placeholder 2">
            <a:extLst>
              <a:ext uri="{FF2B5EF4-FFF2-40B4-BE49-F238E27FC236}">
                <a16:creationId xmlns:a16="http://schemas.microsoft.com/office/drawing/2014/main" id="{75E22F54-0DFD-EA25-5930-8A702F35E5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1DAC5F-9DEE-AC59-DF46-C9CBAC0062CB}"/>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4184753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F95D2-59DF-23E4-41A0-3A43E3CADB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EB04E8-F913-3F77-0AE3-C529978458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25908E-95F6-1BF5-3445-DCACFC84AA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EF26D1-35F2-B42D-28AC-32A4CC924C28}"/>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6" name="Footer Placeholder 5">
            <a:extLst>
              <a:ext uri="{FF2B5EF4-FFF2-40B4-BE49-F238E27FC236}">
                <a16:creationId xmlns:a16="http://schemas.microsoft.com/office/drawing/2014/main" id="{28F90FF1-EC19-BACF-DB9A-171B4934DD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C531EF-915F-3DDD-82E8-9DDA5E196A2B}"/>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4216932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A117-B834-2F7F-EBFF-7EB3CCC10B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E08B601-AEF1-CE23-A3F8-1F4C72C303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D96D2F0-B2AB-2C1E-CE39-3449275DC8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747ED-A55A-3331-A398-1458036EFDCD}"/>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6" name="Footer Placeholder 5">
            <a:extLst>
              <a:ext uri="{FF2B5EF4-FFF2-40B4-BE49-F238E27FC236}">
                <a16:creationId xmlns:a16="http://schemas.microsoft.com/office/drawing/2014/main" id="{152EE5C4-9A24-CE07-89A7-9C5B972E3F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BB5FF5-E2B4-F2FC-0D96-C712ABAE6CFD}"/>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2175135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CCF1A-761A-0155-3179-68321D4BC96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A798F7-11D7-30BE-01FC-1E8162B6A6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F9092A-2CA8-3AAE-B8E6-13636F0C78E8}"/>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5" name="Footer Placeholder 4">
            <a:extLst>
              <a:ext uri="{FF2B5EF4-FFF2-40B4-BE49-F238E27FC236}">
                <a16:creationId xmlns:a16="http://schemas.microsoft.com/office/drawing/2014/main" id="{6936D587-053C-4884-2CC6-F4CBDEBE63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5F76A5-62C6-BE1F-321D-C92BA887DD5C}"/>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3405003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611FDD-59DA-AE62-CC6A-EF32311A1B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FFBE8B-19CF-D43B-E828-EC13E2A41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62C0C7-A42B-84CE-F4E9-481D36F967E1}"/>
              </a:ext>
            </a:extLst>
          </p:cNvPr>
          <p:cNvSpPr>
            <a:spLocks noGrp="1"/>
          </p:cNvSpPr>
          <p:nvPr>
            <p:ph type="dt" sz="half" idx="10"/>
          </p:nvPr>
        </p:nvSpPr>
        <p:spPr/>
        <p:txBody>
          <a:bodyPr/>
          <a:lstStyle/>
          <a:p>
            <a:fld id="{AA9F8864-8B2A-4B34-A366-EB7ADC897F69}" type="datetimeFigureOut">
              <a:rPr lang="en-IN" smtClean="0"/>
              <a:t>04-04-2026</a:t>
            </a:fld>
            <a:endParaRPr lang="en-IN"/>
          </a:p>
        </p:txBody>
      </p:sp>
      <p:sp>
        <p:nvSpPr>
          <p:cNvPr id="5" name="Footer Placeholder 4">
            <a:extLst>
              <a:ext uri="{FF2B5EF4-FFF2-40B4-BE49-F238E27FC236}">
                <a16:creationId xmlns:a16="http://schemas.microsoft.com/office/drawing/2014/main" id="{57237ED6-57BD-B87F-4D57-826C36BA4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1BEE0F-99BD-64B5-7E32-08D540CAB1A5}"/>
              </a:ext>
            </a:extLst>
          </p:cNvPr>
          <p:cNvSpPr>
            <a:spLocks noGrp="1"/>
          </p:cNvSpPr>
          <p:nvPr>
            <p:ph type="sldNum" sz="quarter" idx="12"/>
          </p:nvPr>
        </p:nvSpPr>
        <p:spPr/>
        <p:txBody>
          <a:bodyPr/>
          <a:lstStyle/>
          <a:p>
            <a:fld id="{FF4D79A4-189A-41F4-8350-66361AEE9A69}" type="slidenum">
              <a:rPr lang="en-IN" smtClean="0"/>
              <a:t>‹#›</a:t>
            </a:fld>
            <a:endParaRPr lang="en-IN"/>
          </a:p>
        </p:txBody>
      </p:sp>
    </p:spTree>
    <p:extLst>
      <p:ext uri="{BB962C8B-B14F-4D97-AF65-F5344CB8AC3E}">
        <p14:creationId xmlns:p14="http://schemas.microsoft.com/office/powerpoint/2010/main" val="1215380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6607E-B075-809F-AFE2-80A7814980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B12181-2A53-40E4-355D-60F5EC41B3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BF0E47-9730-FF1B-9501-63AE3DB7D7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9F8864-8B2A-4B34-A366-EB7ADC897F69}" type="datetimeFigureOut">
              <a:rPr lang="en-IN" smtClean="0"/>
              <a:t>04-04-2026</a:t>
            </a:fld>
            <a:endParaRPr lang="en-IN"/>
          </a:p>
        </p:txBody>
      </p:sp>
      <p:sp>
        <p:nvSpPr>
          <p:cNvPr id="5" name="Footer Placeholder 4">
            <a:extLst>
              <a:ext uri="{FF2B5EF4-FFF2-40B4-BE49-F238E27FC236}">
                <a16:creationId xmlns:a16="http://schemas.microsoft.com/office/drawing/2014/main" id="{FE59867C-1C9F-A958-F70D-1A1334F6DD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CA46265-FD04-3C8F-BE93-97326CC81F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4D79A4-189A-41F4-8350-66361AEE9A69}" type="slidenum">
              <a:rPr lang="en-IN" smtClean="0"/>
              <a:t>‹#›</a:t>
            </a:fld>
            <a:endParaRPr lang="en-IN"/>
          </a:p>
        </p:txBody>
      </p:sp>
    </p:spTree>
    <p:extLst>
      <p:ext uri="{BB962C8B-B14F-4D97-AF65-F5344CB8AC3E}">
        <p14:creationId xmlns:p14="http://schemas.microsoft.com/office/powerpoint/2010/main" val="2735532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spiceworks.com/tech/devops/articles/what-is-device-drive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spiceworks.com/tech/tech-101/articles/ssd-vs-hdd/"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spiceworks.com/tech/tech-general/articles/universal-serial-bu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spiceworks.com/tech/tech-101/articles/what-is-supercomputer/"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geeksforgeeks.org/nor-gat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geeksforgeeks.org/introduction-of-sequential-circuit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eeksforgeeks.org/what-is-combinational-circuit/"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geeksforgeeks.org/counters-in-digital-logic/"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geeksforgeeks.org/adders-and-subtractors-in-digital-logic/" TargetMode="External"/><Relationship Id="rId7" Type="http://schemas.openxmlformats.org/officeDocument/2006/relationships/hyperlink" Target="https://www.geeksforgeeks.org/flip-flop-types-their-conversion-and-applications/" TargetMode="External"/><Relationship Id="rId2" Type="http://schemas.openxmlformats.org/officeDocument/2006/relationships/hyperlink" Target="https://www.geeksforgeeks.org/full-adder-in-digital-logic/" TargetMode="External"/><Relationship Id="rId1" Type="http://schemas.openxmlformats.org/officeDocument/2006/relationships/slideLayout" Target="../slideLayouts/slideLayout2.xml"/><Relationship Id="rId6" Type="http://schemas.openxmlformats.org/officeDocument/2006/relationships/hyperlink" Target="https://www.geeksforgeeks.org/shift-registers-in-digital-logic/" TargetMode="External"/><Relationship Id="rId5" Type="http://schemas.openxmlformats.org/officeDocument/2006/relationships/hyperlink" Target="https://www.geeksforgeeks.org/encoder-in-digital-logic/" TargetMode="External"/><Relationship Id="rId4" Type="http://schemas.openxmlformats.org/officeDocument/2006/relationships/hyperlink" Target="https://www.geeksforgeeks.org/multiplexers-in-digital-logic/"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geeksforgeeks.org/hardware-description-language/"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geeksforgeeks.org/fpga-full-form/" TargetMode="External"/><Relationship Id="rId2" Type="http://schemas.openxmlformats.org/officeDocument/2006/relationships/hyperlink" Target="https://www.geeksforgeeks.org/clock-skew-in-synchronous-digital-circuit-system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D7D9B-9F8A-278E-2CD3-C293236D324F}"/>
              </a:ext>
            </a:extLst>
          </p:cNvPr>
          <p:cNvSpPr>
            <a:spLocks noGrp="1"/>
          </p:cNvSpPr>
          <p:nvPr>
            <p:ph type="ctrTitle"/>
          </p:nvPr>
        </p:nvSpPr>
        <p:spPr/>
        <p:txBody>
          <a:bodyPr/>
          <a:lstStyle/>
          <a:p>
            <a:r>
              <a:rPr lang="en-IN" b="1" dirty="0"/>
              <a:t>Computer Organization and Architecture</a:t>
            </a:r>
          </a:p>
        </p:txBody>
      </p:sp>
      <p:sp>
        <p:nvSpPr>
          <p:cNvPr id="3" name="Subtitle 2">
            <a:extLst>
              <a:ext uri="{FF2B5EF4-FFF2-40B4-BE49-F238E27FC236}">
                <a16:creationId xmlns:a16="http://schemas.microsoft.com/office/drawing/2014/main" id="{89814059-F3FF-CB04-4024-7A81562B6259}"/>
              </a:ext>
            </a:extLst>
          </p:cNvPr>
          <p:cNvSpPr>
            <a:spLocks noGrp="1"/>
          </p:cNvSpPr>
          <p:nvPr>
            <p:ph type="subTitle" idx="1"/>
          </p:nvPr>
        </p:nvSpPr>
        <p:spPr/>
        <p:txBody>
          <a:bodyPr/>
          <a:lstStyle/>
          <a:p>
            <a:r>
              <a:rPr lang="en-US" dirty="0"/>
              <a:t>23CSE213</a:t>
            </a:r>
            <a:endParaRPr lang="en-IN" dirty="0"/>
          </a:p>
        </p:txBody>
      </p:sp>
    </p:spTree>
    <p:extLst>
      <p:ext uri="{BB962C8B-B14F-4D97-AF65-F5344CB8AC3E}">
        <p14:creationId xmlns:p14="http://schemas.microsoft.com/office/powerpoint/2010/main" val="1621369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99D62-3F03-2EC3-9E7A-9100AADB42A7}"/>
              </a:ext>
            </a:extLst>
          </p:cNvPr>
          <p:cNvSpPr>
            <a:spLocks noGrp="1"/>
          </p:cNvSpPr>
          <p:nvPr>
            <p:ph type="title"/>
          </p:nvPr>
        </p:nvSpPr>
        <p:spPr/>
        <p:txBody>
          <a:bodyPr/>
          <a:lstStyle/>
          <a:p>
            <a:r>
              <a:rPr lang="en-US" sz="4400" b="0" i="0" u="none" strike="noStrike" baseline="0" dirty="0">
                <a:solidFill>
                  <a:srgbClr val="000000"/>
                </a:solidFill>
                <a:latin typeface="Times New Roman" panose="02020603050405020304" pitchFamily="18" charset="0"/>
              </a:rPr>
              <a:t>Overview and history of computer architecture</a:t>
            </a:r>
            <a:endParaRPr lang="en-IN" dirty="0"/>
          </a:p>
        </p:txBody>
      </p:sp>
      <p:sp>
        <p:nvSpPr>
          <p:cNvPr id="3" name="Content Placeholder 2">
            <a:extLst>
              <a:ext uri="{FF2B5EF4-FFF2-40B4-BE49-F238E27FC236}">
                <a16:creationId xmlns:a16="http://schemas.microsoft.com/office/drawing/2014/main" id="{15586FB9-BB93-4A64-7C48-64A136AA1C53}"/>
              </a:ext>
            </a:extLst>
          </p:cNvPr>
          <p:cNvSpPr>
            <a:spLocks noGrp="1"/>
          </p:cNvSpPr>
          <p:nvPr>
            <p:ph idx="1"/>
          </p:nvPr>
        </p:nvSpPr>
        <p:spPr/>
        <p:txBody>
          <a:bodyPr/>
          <a:lstStyle/>
          <a:p>
            <a:pPr algn="l"/>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 </a:t>
            </a:r>
            <a:endParaRPr lang="en-IN" dirty="0"/>
          </a:p>
        </p:txBody>
      </p:sp>
      <p:pic>
        <p:nvPicPr>
          <p:cNvPr id="5" name="Picture 4">
            <a:extLst>
              <a:ext uri="{FF2B5EF4-FFF2-40B4-BE49-F238E27FC236}">
                <a16:creationId xmlns:a16="http://schemas.microsoft.com/office/drawing/2014/main" id="{5A7F81CE-8A8F-9FD9-1BB4-5D52D802D873}"/>
              </a:ext>
            </a:extLst>
          </p:cNvPr>
          <p:cNvPicPr>
            <a:picLocks noChangeAspect="1"/>
          </p:cNvPicPr>
          <p:nvPr/>
        </p:nvPicPr>
        <p:blipFill>
          <a:blip r:embed="rId2"/>
          <a:stretch>
            <a:fillRect/>
          </a:stretch>
        </p:blipFill>
        <p:spPr>
          <a:xfrm>
            <a:off x="120915" y="2539890"/>
            <a:ext cx="12071085" cy="1890220"/>
          </a:xfrm>
          <a:prstGeom prst="rect">
            <a:avLst/>
          </a:prstGeom>
        </p:spPr>
      </p:pic>
    </p:spTree>
    <p:extLst>
      <p:ext uri="{BB962C8B-B14F-4D97-AF65-F5344CB8AC3E}">
        <p14:creationId xmlns:p14="http://schemas.microsoft.com/office/powerpoint/2010/main" val="1970200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50FF-54F3-D372-EDC9-52982B3EE9D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47322C9-BC36-9725-352D-F6B8CF4BCCD1}"/>
              </a:ext>
            </a:extLst>
          </p:cNvPr>
          <p:cNvPicPr>
            <a:picLocks noGrp="1" noChangeAspect="1"/>
          </p:cNvPicPr>
          <p:nvPr>
            <p:ph idx="1"/>
          </p:nvPr>
        </p:nvPicPr>
        <p:blipFill>
          <a:blip r:embed="rId2"/>
          <a:stretch>
            <a:fillRect/>
          </a:stretch>
        </p:blipFill>
        <p:spPr>
          <a:xfrm>
            <a:off x="406612" y="1844565"/>
            <a:ext cx="11080866" cy="3905551"/>
          </a:xfrm>
        </p:spPr>
      </p:pic>
    </p:spTree>
    <p:extLst>
      <p:ext uri="{BB962C8B-B14F-4D97-AF65-F5344CB8AC3E}">
        <p14:creationId xmlns:p14="http://schemas.microsoft.com/office/powerpoint/2010/main" val="881350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84499-01A6-02E2-A391-94F1892C0E48}"/>
              </a:ext>
            </a:extLst>
          </p:cNvPr>
          <p:cNvSpPr>
            <a:spLocks noGrp="1"/>
          </p:cNvSpPr>
          <p:nvPr>
            <p:ph type="title"/>
          </p:nvPr>
        </p:nvSpPr>
        <p:spPr>
          <a:xfrm>
            <a:off x="191813" y="0"/>
            <a:ext cx="10515600" cy="1325563"/>
          </a:xfrm>
        </p:spPr>
        <p:txBody>
          <a:bodyPr/>
          <a:lstStyle/>
          <a:p>
            <a:r>
              <a:rPr lang="en-US" dirty="0"/>
              <a:t>Evolution of Computers</a:t>
            </a:r>
            <a:endParaRPr lang="en-IN" dirty="0"/>
          </a:p>
        </p:txBody>
      </p:sp>
      <p:pic>
        <p:nvPicPr>
          <p:cNvPr id="5" name="Content Placeholder 4">
            <a:extLst>
              <a:ext uri="{FF2B5EF4-FFF2-40B4-BE49-F238E27FC236}">
                <a16:creationId xmlns:a16="http://schemas.microsoft.com/office/drawing/2014/main" id="{C68E40D5-F279-9AB8-EFCF-7FCF18205E9D}"/>
              </a:ext>
            </a:extLst>
          </p:cNvPr>
          <p:cNvPicPr>
            <a:picLocks noGrp="1" noChangeAspect="1"/>
          </p:cNvPicPr>
          <p:nvPr>
            <p:ph idx="1"/>
          </p:nvPr>
        </p:nvPicPr>
        <p:blipFill>
          <a:blip r:embed="rId2"/>
          <a:stretch>
            <a:fillRect/>
          </a:stretch>
        </p:blipFill>
        <p:spPr>
          <a:xfrm>
            <a:off x="1371600" y="994488"/>
            <a:ext cx="9080938" cy="5744857"/>
          </a:xfrm>
        </p:spPr>
      </p:pic>
    </p:spTree>
    <p:extLst>
      <p:ext uri="{BB962C8B-B14F-4D97-AF65-F5344CB8AC3E}">
        <p14:creationId xmlns:p14="http://schemas.microsoft.com/office/powerpoint/2010/main" val="749896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32443-324A-ACAB-18B6-0F74FDD69F5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C53DC42-98FD-B297-9C17-0A8FDF187B34}"/>
              </a:ext>
            </a:extLst>
          </p:cNvPr>
          <p:cNvPicPr>
            <a:picLocks noGrp="1" noChangeAspect="1"/>
          </p:cNvPicPr>
          <p:nvPr>
            <p:ph idx="1"/>
          </p:nvPr>
        </p:nvPicPr>
        <p:blipFill>
          <a:blip r:embed="rId2"/>
          <a:stretch>
            <a:fillRect/>
          </a:stretch>
        </p:blipFill>
        <p:spPr>
          <a:xfrm>
            <a:off x="289630" y="1826842"/>
            <a:ext cx="11953917" cy="3974868"/>
          </a:xfrm>
        </p:spPr>
      </p:pic>
    </p:spTree>
    <p:extLst>
      <p:ext uri="{BB962C8B-B14F-4D97-AF65-F5344CB8AC3E}">
        <p14:creationId xmlns:p14="http://schemas.microsoft.com/office/powerpoint/2010/main" val="2023889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EBAD4-CFE0-A80B-134E-1162C6A0A51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13C695B-9866-F860-06B7-DBF2FFA60F30}"/>
              </a:ext>
            </a:extLst>
          </p:cNvPr>
          <p:cNvPicPr>
            <a:picLocks noGrp="1" noChangeAspect="1"/>
          </p:cNvPicPr>
          <p:nvPr>
            <p:ph idx="1"/>
          </p:nvPr>
        </p:nvPicPr>
        <p:blipFill>
          <a:blip r:embed="rId2"/>
          <a:stretch>
            <a:fillRect/>
          </a:stretch>
        </p:blipFill>
        <p:spPr>
          <a:xfrm>
            <a:off x="0" y="2254469"/>
            <a:ext cx="11819407" cy="2695903"/>
          </a:xfrm>
        </p:spPr>
      </p:pic>
    </p:spTree>
    <p:extLst>
      <p:ext uri="{BB962C8B-B14F-4D97-AF65-F5344CB8AC3E}">
        <p14:creationId xmlns:p14="http://schemas.microsoft.com/office/powerpoint/2010/main" val="3637156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13E64-CD25-6585-18C6-D2E5B0C1FFD1}"/>
              </a:ext>
            </a:extLst>
          </p:cNvPr>
          <p:cNvSpPr>
            <a:spLocks noGrp="1"/>
          </p:cNvSpPr>
          <p:nvPr>
            <p:ph type="title"/>
          </p:nvPr>
        </p:nvSpPr>
        <p:spPr>
          <a:xfrm>
            <a:off x="633248" y="-80087"/>
            <a:ext cx="10515600" cy="1325563"/>
          </a:xfrm>
        </p:spPr>
        <p:txBody>
          <a:bodyPr/>
          <a:lstStyle/>
          <a:p>
            <a:r>
              <a:rPr lang="en-US" dirty="0"/>
              <a:t>Fourth Generation computers(</a:t>
            </a:r>
            <a:r>
              <a:rPr lang="en-US" b="0" i="0" dirty="0">
                <a:solidFill>
                  <a:srgbClr val="000000"/>
                </a:solidFill>
                <a:effectLst/>
                <a:latin typeface="Verdana" panose="020B0604030504040204" pitchFamily="34" charset="0"/>
              </a:rPr>
              <a:t>1971-1980)</a:t>
            </a:r>
            <a:endParaRPr lang="en-IN" dirty="0"/>
          </a:p>
        </p:txBody>
      </p:sp>
      <p:sp>
        <p:nvSpPr>
          <p:cNvPr id="4" name="Content Placeholder 3">
            <a:extLst>
              <a:ext uri="{FF2B5EF4-FFF2-40B4-BE49-F238E27FC236}">
                <a16:creationId xmlns:a16="http://schemas.microsoft.com/office/drawing/2014/main" id="{12A86EB1-B5D6-5310-653A-38AADA8EFC9E}"/>
              </a:ext>
            </a:extLst>
          </p:cNvPr>
          <p:cNvSpPr>
            <a:spLocks noGrp="1"/>
          </p:cNvSpPr>
          <p:nvPr>
            <p:ph idx="1"/>
          </p:nvPr>
        </p:nvSpPr>
        <p:spPr>
          <a:xfrm>
            <a:off x="0" y="1245476"/>
            <a:ext cx="12192000" cy="5612524"/>
          </a:xfrm>
        </p:spPr>
        <p:txBody>
          <a:bodyPr>
            <a:normAutofit/>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Computers of fourth generation used </a:t>
            </a:r>
            <a:r>
              <a:rPr lang="en-US" b="1" i="0" dirty="0">
                <a:solidFill>
                  <a:srgbClr val="000000"/>
                </a:solidFill>
                <a:effectLst/>
                <a:latin typeface="Times New Roman" panose="02020603050405020304" pitchFamily="18" charset="0"/>
                <a:cs typeface="Times New Roman" panose="02020603050405020304" pitchFamily="18" charset="0"/>
              </a:rPr>
              <a:t>Very Large Scale Integrated (VLSI) circuits</a:t>
            </a:r>
            <a:r>
              <a:rPr lang="en-US" b="0" i="0" dirty="0">
                <a:solidFill>
                  <a:srgbClr val="000000"/>
                </a:solidFill>
                <a:effectLst/>
                <a:latin typeface="Times New Roman" panose="02020603050405020304" pitchFamily="18" charset="0"/>
                <a:cs typeface="Times New Roman" panose="02020603050405020304" pitchFamily="18" charset="0"/>
              </a:rPr>
              <a:t>.</a:t>
            </a:r>
          </a:p>
          <a:p>
            <a:pPr algn="l"/>
            <a:r>
              <a:rPr lang="en-US" b="0" i="0" dirty="0">
                <a:solidFill>
                  <a:srgbClr val="000000"/>
                </a:solidFill>
                <a:effectLst/>
                <a:latin typeface="Times New Roman" panose="02020603050405020304" pitchFamily="18" charset="0"/>
                <a:cs typeface="Times New Roman" panose="02020603050405020304" pitchFamily="18" charset="0"/>
              </a:rPr>
              <a:t> VLSI circuits having about </a:t>
            </a:r>
            <a:r>
              <a:rPr lang="en-US" b="1" i="0" dirty="0">
                <a:solidFill>
                  <a:srgbClr val="000000"/>
                </a:solidFill>
                <a:effectLst/>
                <a:latin typeface="Times New Roman" panose="02020603050405020304" pitchFamily="18" charset="0"/>
                <a:cs typeface="Times New Roman" panose="02020603050405020304" pitchFamily="18" charset="0"/>
              </a:rPr>
              <a:t>5000 transistors </a:t>
            </a:r>
            <a:r>
              <a:rPr lang="en-US" b="0" i="0" dirty="0">
                <a:solidFill>
                  <a:srgbClr val="000000"/>
                </a:solidFill>
                <a:effectLst/>
                <a:latin typeface="Times New Roman" panose="02020603050405020304" pitchFamily="18" charset="0"/>
                <a:cs typeface="Times New Roman" panose="02020603050405020304" pitchFamily="18" charset="0"/>
              </a:rPr>
              <a:t>and other circuit elements with their associated circuits on a single chip made it possible to have microcomputers of fourth generation.</a:t>
            </a:r>
          </a:p>
          <a:p>
            <a:pPr algn="l"/>
            <a:r>
              <a:rPr lang="en-US" b="0" i="0" dirty="0">
                <a:solidFill>
                  <a:srgbClr val="000000"/>
                </a:solidFill>
                <a:effectLst/>
                <a:latin typeface="Times New Roman" panose="02020603050405020304" pitchFamily="18" charset="0"/>
                <a:cs typeface="Times New Roman" panose="02020603050405020304" pitchFamily="18" charset="0"/>
              </a:rPr>
              <a:t>Fourth generation computers became </a:t>
            </a:r>
            <a:r>
              <a:rPr lang="en-US" b="0" i="0" dirty="0">
                <a:solidFill>
                  <a:srgbClr val="FF0000"/>
                </a:solidFill>
                <a:effectLst/>
                <a:latin typeface="Times New Roman" panose="02020603050405020304" pitchFamily="18" charset="0"/>
                <a:cs typeface="Times New Roman" panose="02020603050405020304" pitchFamily="18" charset="0"/>
              </a:rPr>
              <a:t>more powerful, compact, reliable, and affordable. </a:t>
            </a:r>
          </a:p>
          <a:p>
            <a:pPr algn="l"/>
            <a:r>
              <a:rPr lang="en-US" b="0" i="0" dirty="0">
                <a:solidFill>
                  <a:srgbClr val="000000"/>
                </a:solidFill>
                <a:effectLst/>
                <a:latin typeface="Times New Roman" panose="02020603050405020304" pitchFamily="18" charset="0"/>
                <a:cs typeface="Times New Roman" panose="02020603050405020304" pitchFamily="18" charset="0"/>
              </a:rPr>
              <a:t>As a result, it gave rise to Personal Computer (PC) revolution. In this generation, time sharing, real time networks, distributed operating system were used.</a:t>
            </a:r>
          </a:p>
          <a:p>
            <a:pPr algn="l"/>
            <a:r>
              <a:rPr lang="en-US" b="0" i="0" dirty="0">
                <a:solidFill>
                  <a:srgbClr val="000000"/>
                </a:solidFill>
                <a:effectLst/>
                <a:latin typeface="Times New Roman" panose="02020603050405020304" pitchFamily="18" charset="0"/>
                <a:cs typeface="Times New Roman" panose="02020603050405020304" pitchFamily="18" charset="0"/>
              </a:rPr>
              <a:t> All the high-level languages like C, C++, DBASE etc., were used in this generation.</a:t>
            </a:r>
          </a:p>
          <a:p>
            <a:endParaRPr lang="en-IN" dirty="0"/>
          </a:p>
        </p:txBody>
      </p:sp>
    </p:spTree>
    <p:extLst>
      <p:ext uri="{BB962C8B-B14F-4D97-AF65-F5344CB8AC3E}">
        <p14:creationId xmlns:p14="http://schemas.microsoft.com/office/powerpoint/2010/main" val="2400594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5BA0-59AF-C187-0635-DA956ECCD959}"/>
              </a:ext>
            </a:extLst>
          </p:cNvPr>
          <p:cNvSpPr>
            <a:spLocks noGrp="1"/>
          </p:cNvSpPr>
          <p:nvPr>
            <p:ph type="title"/>
          </p:nvPr>
        </p:nvSpPr>
        <p:spPr>
          <a:xfrm>
            <a:off x="838200" y="144408"/>
            <a:ext cx="10515600" cy="1325563"/>
          </a:xfrm>
        </p:spPr>
        <p:txBody>
          <a:bodyPr/>
          <a:lstStyle/>
          <a:p>
            <a:r>
              <a:rPr lang="en-US" dirty="0">
                <a:solidFill>
                  <a:srgbClr val="000000"/>
                </a:solidFill>
                <a:latin typeface="Verdana" panose="020B0604030504040204" pitchFamily="34" charset="0"/>
              </a:rPr>
              <a:t>F</a:t>
            </a:r>
            <a:r>
              <a:rPr lang="en-US" b="0" i="0" dirty="0">
                <a:solidFill>
                  <a:srgbClr val="000000"/>
                </a:solidFill>
                <a:effectLst/>
                <a:latin typeface="Verdana" panose="020B0604030504040204" pitchFamily="34" charset="0"/>
              </a:rPr>
              <a:t>ifth generation is 1980-till date</a:t>
            </a:r>
            <a:endParaRPr lang="en-IN" dirty="0"/>
          </a:p>
        </p:txBody>
      </p:sp>
      <p:sp>
        <p:nvSpPr>
          <p:cNvPr id="3" name="Content Placeholder 2">
            <a:extLst>
              <a:ext uri="{FF2B5EF4-FFF2-40B4-BE49-F238E27FC236}">
                <a16:creationId xmlns:a16="http://schemas.microsoft.com/office/drawing/2014/main" id="{60DF04BF-8278-402A-BAA2-A4CD738168B4}"/>
              </a:ext>
            </a:extLst>
          </p:cNvPr>
          <p:cNvSpPr>
            <a:spLocks noGrp="1"/>
          </p:cNvSpPr>
          <p:nvPr>
            <p:ph idx="1"/>
          </p:nvPr>
        </p:nvSpPr>
        <p:spPr>
          <a:xfrm>
            <a:off x="0" y="1198178"/>
            <a:ext cx="12192000" cy="5659821"/>
          </a:xfrm>
        </p:spPr>
        <p:txBody>
          <a:bodyPr>
            <a:normAutofit/>
          </a:bodyPr>
          <a:lstStyle/>
          <a:p>
            <a:pPr algn="l"/>
            <a:r>
              <a:rPr lang="en-US" sz="2400" b="0" i="0" dirty="0">
                <a:solidFill>
                  <a:srgbClr val="000000"/>
                </a:solidFill>
                <a:effectLst/>
                <a:latin typeface="Times New Roman" panose="02020603050405020304" pitchFamily="18" charset="0"/>
                <a:cs typeface="Times New Roman" panose="02020603050405020304" pitchFamily="18" charset="0"/>
              </a:rPr>
              <a:t>In the fifth generation</a:t>
            </a:r>
            <a:r>
              <a:rPr lang="en-US" sz="2400" b="0" i="0" dirty="0">
                <a:solidFill>
                  <a:srgbClr val="FF0000"/>
                </a:solidFill>
                <a:effectLst/>
                <a:latin typeface="Times New Roman" panose="02020603050405020304" pitchFamily="18" charset="0"/>
                <a:cs typeface="Times New Roman" panose="02020603050405020304" pitchFamily="18" charset="0"/>
              </a:rPr>
              <a:t>, VLSI technology became ULSI (Ultra Large Scale Integration) </a:t>
            </a:r>
            <a:r>
              <a:rPr lang="en-US" sz="2400" b="0" i="0" dirty="0">
                <a:solidFill>
                  <a:srgbClr val="000000"/>
                </a:solidFill>
                <a:effectLst/>
                <a:latin typeface="Times New Roman" panose="02020603050405020304" pitchFamily="18" charset="0"/>
                <a:cs typeface="Times New Roman" panose="02020603050405020304" pitchFamily="18" charset="0"/>
              </a:rPr>
              <a:t>technology, resulting in the production of microprocessor chips having ten million electronic components.</a:t>
            </a:r>
          </a:p>
          <a:p>
            <a:pPr algn="l"/>
            <a:r>
              <a:rPr lang="en-US" sz="2400" b="0" i="0" dirty="0">
                <a:solidFill>
                  <a:srgbClr val="000000"/>
                </a:solidFill>
                <a:effectLst/>
                <a:latin typeface="Times New Roman" panose="02020603050405020304" pitchFamily="18" charset="0"/>
                <a:cs typeface="Times New Roman" panose="02020603050405020304" pitchFamily="18" charset="0"/>
              </a:rPr>
              <a:t>This generation is based on parallel processing hardware and AI (Artificial Intelligence) software. </a:t>
            </a:r>
            <a:endParaRPr lang="en-US" sz="2400" dirty="0">
              <a:solidFill>
                <a:srgbClr val="000000"/>
              </a:solidFill>
              <a:latin typeface="Times New Roman" panose="02020603050405020304" pitchFamily="18" charset="0"/>
              <a:cs typeface="Times New Roman" panose="02020603050405020304" pitchFamily="18" charset="0"/>
            </a:endParaRPr>
          </a:p>
          <a:p>
            <a:pPr algn="l"/>
            <a:r>
              <a:rPr lang="en-US" sz="2400" b="0" i="0" dirty="0">
                <a:solidFill>
                  <a:srgbClr val="000000"/>
                </a:solidFill>
                <a:effectLst/>
                <a:latin typeface="Times New Roman" panose="02020603050405020304" pitchFamily="18" charset="0"/>
                <a:cs typeface="Times New Roman" panose="02020603050405020304" pitchFamily="18" charset="0"/>
              </a:rPr>
              <a:t>AI is an emerging branch in computer science, which interprets the means and method of making computers think like human beings. </a:t>
            </a:r>
          </a:p>
          <a:p>
            <a:pPr algn="l"/>
            <a:r>
              <a:rPr lang="en-US" sz="2400" b="0" i="0" dirty="0">
                <a:solidFill>
                  <a:srgbClr val="000000"/>
                </a:solidFill>
                <a:effectLst/>
                <a:latin typeface="Times New Roman" panose="02020603050405020304" pitchFamily="18" charset="0"/>
                <a:cs typeface="Times New Roman" panose="02020603050405020304" pitchFamily="18" charset="0"/>
              </a:rPr>
              <a:t>All the high-level languages like C and C++, Java, </a:t>
            </a:r>
            <a:r>
              <a:rPr lang="en-US" sz="2400" b="0" i="0" dirty="0" err="1">
                <a:solidFill>
                  <a:srgbClr val="000000"/>
                </a:solidFill>
                <a:effectLst/>
                <a:latin typeface="Times New Roman" panose="02020603050405020304" pitchFamily="18" charset="0"/>
                <a:cs typeface="Times New Roman" panose="02020603050405020304" pitchFamily="18" charset="0"/>
              </a:rPr>
              <a:t>.Net</a:t>
            </a:r>
            <a:r>
              <a:rPr lang="en-US" sz="2400" b="0" i="0" dirty="0">
                <a:solidFill>
                  <a:srgbClr val="000000"/>
                </a:solidFill>
                <a:effectLst/>
                <a:latin typeface="Times New Roman" panose="02020603050405020304" pitchFamily="18" charset="0"/>
                <a:cs typeface="Times New Roman" panose="02020603050405020304" pitchFamily="18" charset="0"/>
              </a:rPr>
              <a:t> etc., are used in this generation.</a:t>
            </a:r>
          </a:p>
          <a:p>
            <a:endParaRPr lang="en-IN" dirty="0"/>
          </a:p>
        </p:txBody>
      </p:sp>
    </p:spTree>
    <p:extLst>
      <p:ext uri="{BB962C8B-B14F-4D97-AF65-F5344CB8AC3E}">
        <p14:creationId xmlns:p14="http://schemas.microsoft.com/office/powerpoint/2010/main" val="2370289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02EB-D21F-D885-386B-99CDFADBA858}"/>
              </a:ext>
            </a:extLst>
          </p:cNvPr>
          <p:cNvSpPr>
            <a:spLocks noGrp="1"/>
          </p:cNvSpPr>
          <p:nvPr>
            <p:ph type="title"/>
          </p:nvPr>
        </p:nvSpPr>
        <p:spPr/>
        <p:txBody>
          <a:bodyPr/>
          <a:lstStyle/>
          <a:p>
            <a:r>
              <a:rPr lang="en-US" b="0" i="0" dirty="0">
                <a:solidFill>
                  <a:srgbClr val="080809"/>
                </a:solidFill>
                <a:effectLst/>
                <a:latin typeface="Roboto" panose="02000000000000000000" pitchFamily="2" charset="0"/>
              </a:rPr>
              <a:t>Components of Computer Architecture</a:t>
            </a:r>
            <a:br>
              <a:rPr lang="en-US" b="1" i="0" dirty="0">
                <a:solidFill>
                  <a:srgbClr val="080809"/>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365D1F4E-024D-982A-E7AF-8031F2F0A0C2}"/>
              </a:ext>
            </a:extLst>
          </p:cNvPr>
          <p:cNvSpPr>
            <a:spLocks noGrp="1"/>
          </p:cNvSpPr>
          <p:nvPr>
            <p:ph idx="1"/>
          </p:nvPr>
        </p:nvSpPr>
        <p:spPr/>
        <p:txBody>
          <a:bodyPr/>
          <a:lstStyle/>
          <a:p>
            <a:pPr algn="just" fontAlgn="base">
              <a:lnSpc>
                <a:spcPts val="2250"/>
              </a:lnSpc>
              <a:spcAft>
                <a:spcPts val="3000"/>
              </a:spcAft>
            </a:pPr>
            <a:r>
              <a:rPr lang="en-US" sz="2400" b="0" i="0" dirty="0">
                <a:solidFill>
                  <a:srgbClr val="080809"/>
                </a:solidFill>
                <a:effectLst/>
                <a:latin typeface="Times New Roman" panose="02020603050405020304" pitchFamily="18" charset="0"/>
                <a:cs typeface="Times New Roman" panose="02020603050405020304" pitchFamily="18" charset="0"/>
              </a:rPr>
              <a:t>The main components of a computer architecture are the CPU, memory, and peripherals. </a:t>
            </a:r>
          </a:p>
          <a:p>
            <a:pPr algn="just" fontAlgn="base">
              <a:lnSpc>
                <a:spcPts val="2250"/>
              </a:lnSpc>
              <a:spcAft>
                <a:spcPts val="3000"/>
              </a:spcAft>
            </a:pPr>
            <a:r>
              <a:rPr lang="en-US" sz="2400" b="0" i="0" dirty="0">
                <a:solidFill>
                  <a:srgbClr val="080809"/>
                </a:solidFill>
                <a:effectLst/>
                <a:latin typeface="Times New Roman" panose="02020603050405020304" pitchFamily="18" charset="0"/>
                <a:cs typeface="Times New Roman" panose="02020603050405020304" pitchFamily="18" charset="0"/>
              </a:rPr>
              <a:t>All these elements are linked by the system bus, which comprises an </a:t>
            </a:r>
            <a:r>
              <a:rPr lang="en-US" sz="2400" b="1" i="0" dirty="0">
                <a:solidFill>
                  <a:srgbClr val="080809"/>
                </a:solidFill>
                <a:effectLst/>
                <a:latin typeface="Times New Roman" panose="02020603050405020304" pitchFamily="18" charset="0"/>
                <a:cs typeface="Times New Roman" panose="02020603050405020304" pitchFamily="18" charset="0"/>
              </a:rPr>
              <a:t>address bus, a data bus, and a control bus. </a:t>
            </a:r>
          </a:p>
          <a:p>
            <a:pPr algn="just" fontAlgn="base">
              <a:lnSpc>
                <a:spcPts val="2250"/>
              </a:lnSpc>
              <a:spcAft>
                <a:spcPts val="3000"/>
              </a:spcAft>
            </a:pPr>
            <a:r>
              <a:rPr lang="en-US" sz="2400" b="0" i="0" dirty="0">
                <a:solidFill>
                  <a:srgbClr val="080809"/>
                </a:solidFill>
                <a:effectLst/>
                <a:latin typeface="Times New Roman" panose="02020603050405020304" pitchFamily="18" charset="0"/>
                <a:cs typeface="Times New Roman" panose="02020603050405020304" pitchFamily="18" charset="0"/>
              </a:rPr>
              <a:t>Within this framework, the computer architecture has eight key components, as described below.</a:t>
            </a:r>
          </a:p>
          <a:p>
            <a:endParaRPr lang="en-IN" dirty="0"/>
          </a:p>
        </p:txBody>
      </p:sp>
    </p:spTree>
    <p:extLst>
      <p:ext uri="{BB962C8B-B14F-4D97-AF65-F5344CB8AC3E}">
        <p14:creationId xmlns:p14="http://schemas.microsoft.com/office/powerpoint/2010/main" val="1074092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BBCAC-D148-495A-19B7-0C87636846F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80DA8AD-67D0-B48C-C022-2C2C910FB009}"/>
              </a:ext>
            </a:extLst>
          </p:cNvPr>
          <p:cNvPicPr>
            <a:picLocks noGrp="1" noChangeAspect="1"/>
          </p:cNvPicPr>
          <p:nvPr>
            <p:ph idx="1"/>
          </p:nvPr>
        </p:nvPicPr>
        <p:blipFill>
          <a:blip r:embed="rId2"/>
          <a:stretch>
            <a:fillRect/>
          </a:stretch>
        </p:blipFill>
        <p:spPr>
          <a:xfrm>
            <a:off x="1513490" y="1600932"/>
            <a:ext cx="8387255" cy="4393324"/>
          </a:xfrm>
        </p:spPr>
      </p:pic>
    </p:spTree>
    <p:extLst>
      <p:ext uri="{BB962C8B-B14F-4D97-AF65-F5344CB8AC3E}">
        <p14:creationId xmlns:p14="http://schemas.microsoft.com/office/powerpoint/2010/main" val="2834081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EE216D-5F17-9151-645E-3118743FC645}"/>
              </a:ext>
            </a:extLst>
          </p:cNvPr>
          <p:cNvSpPr>
            <a:spLocks noGrp="1"/>
          </p:cNvSpPr>
          <p:nvPr>
            <p:ph idx="1"/>
          </p:nvPr>
        </p:nvSpPr>
        <p:spPr>
          <a:xfrm>
            <a:off x="0" y="0"/>
            <a:ext cx="12192000" cy="6858000"/>
          </a:xfrm>
        </p:spPr>
        <p:txBody>
          <a:bodyPr/>
          <a:lstStyle/>
          <a:p>
            <a:pPr marL="0" indent="0" algn="l" fontAlgn="base">
              <a:lnSpc>
                <a:spcPts val="3450"/>
              </a:lnSpc>
              <a:spcBef>
                <a:spcPts val="1500"/>
              </a:spcBef>
              <a:spcAft>
                <a:spcPts val="1800"/>
              </a:spcAft>
              <a:buNone/>
            </a:pPr>
            <a:r>
              <a:rPr lang="en-US" b="1" i="0" dirty="0">
                <a:solidFill>
                  <a:schemeClr val="accent2">
                    <a:lumMod val="75000"/>
                  </a:schemeClr>
                </a:solidFill>
                <a:effectLst/>
                <a:latin typeface="Roboto" panose="02000000000000000000" pitchFamily="2" charset="0"/>
              </a:rPr>
              <a:t>1</a:t>
            </a:r>
            <a:r>
              <a:rPr lang="en-US" b="1" i="0" dirty="0">
                <a:solidFill>
                  <a:schemeClr val="accent2">
                    <a:lumMod val="75000"/>
                  </a:schemeClr>
                </a:solidFill>
                <a:effectLst/>
                <a:latin typeface="Times New Roman" panose="02020603050405020304" pitchFamily="18" charset="0"/>
                <a:cs typeface="Times New Roman" panose="02020603050405020304" pitchFamily="18" charset="0"/>
              </a:rPr>
              <a:t>. Input unit and associated peripherals</a:t>
            </a:r>
          </a:p>
          <a:p>
            <a:pPr algn="l" fontAlgn="base">
              <a:lnSpc>
                <a:spcPts val="2250"/>
              </a:lnSpc>
              <a:spcAft>
                <a:spcPts val="3000"/>
              </a:spcAft>
              <a:buFont typeface="Wingdings" panose="05000000000000000000" pitchFamily="2" charset="2"/>
              <a:buChar char="v"/>
            </a:pPr>
            <a:r>
              <a:rPr lang="en-US" b="0" i="0" dirty="0">
                <a:solidFill>
                  <a:srgbClr val="080809"/>
                </a:solidFill>
                <a:effectLst/>
                <a:latin typeface="Times New Roman" panose="02020603050405020304" pitchFamily="18" charset="0"/>
                <a:cs typeface="Times New Roman" panose="02020603050405020304" pitchFamily="18" charset="0"/>
              </a:rPr>
              <a:t>The input unit provides external data sources to the computer system. Therefore, it connects the external environment to the computer. </a:t>
            </a:r>
          </a:p>
          <a:p>
            <a:pPr algn="l" fontAlgn="base">
              <a:lnSpc>
                <a:spcPts val="2250"/>
              </a:lnSpc>
              <a:spcAft>
                <a:spcPts val="3000"/>
              </a:spcAft>
              <a:buFont typeface="Wingdings" panose="05000000000000000000" pitchFamily="2" charset="2"/>
              <a:buChar char="v"/>
            </a:pPr>
            <a:r>
              <a:rPr lang="en-US" b="0" i="0" dirty="0">
                <a:solidFill>
                  <a:srgbClr val="080809"/>
                </a:solidFill>
                <a:effectLst/>
                <a:latin typeface="Times New Roman" panose="02020603050405020304" pitchFamily="18" charset="0"/>
                <a:cs typeface="Times New Roman" panose="02020603050405020304" pitchFamily="18" charset="0"/>
              </a:rPr>
              <a:t>It receives information from input devices, translates it to machine language, and then inserts it within the computer system. </a:t>
            </a:r>
          </a:p>
          <a:p>
            <a:pPr algn="l" fontAlgn="base">
              <a:lnSpc>
                <a:spcPts val="2250"/>
              </a:lnSpc>
              <a:spcAft>
                <a:spcPts val="3000"/>
              </a:spcAft>
              <a:buFont typeface="Wingdings" panose="05000000000000000000" pitchFamily="2" charset="2"/>
              <a:buChar char="v"/>
            </a:pPr>
            <a:r>
              <a:rPr lang="en-US" b="0" i="0" dirty="0">
                <a:solidFill>
                  <a:srgbClr val="080809"/>
                </a:solidFill>
                <a:effectLst/>
                <a:latin typeface="Times New Roman" panose="02020603050405020304" pitchFamily="18" charset="0"/>
                <a:cs typeface="Times New Roman" panose="02020603050405020304" pitchFamily="18" charset="0"/>
              </a:rPr>
              <a:t>The keyboard, mouse, or other input devices are the most often utilized and have corresponding </a:t>
            </a:r>
            <a:r>
              <a:rPr lang="en-US" b="0" i="0" u="sng" dirty="0">
                <a:solidFill>
                  <a:srgbClr val="007FA2"/>
                </a:solidFill>
                <a:effectLst/>
                <a:latin typeface="Times New Roman" panose="02020603050405020304" pitchFamily="18" charset="0"/>
                <a:cs typeface="Times New Roman" panose="02020603050405020304" pitchFamily="18" charset="0"/>
                <a:hlinkClick r:id="rId2" tooltip="hardware drivers"/>
              </a:rPr>
              <a:t>hardware drivers</a:t>
            </a:r>
            <a:r>
              <a:rPr lang="en-US" b="0" i="0" dirty="0">
                <a:solidFill>
                  <a:srgbClr val="080809"/>
                </a:solidFill>
                <a:effectLst/>
                <a:latin typeface="Times New Roman" panose="02020603050405020304" pitchFamily="18" charset="0"/>
                <a:cs typeface="Times New Roman" panose="02020603050405020304" pitchFamily="18" charset="0"/>
              </a:rPr>
              <a:t> that allow them to work in sync with the rest of the computer architecture.</a:t>
            </a:r>
          </a:p>
          <a:p>
            <a:endParaRPr lang="en-IN" dirty="0"/>
          </a:p>
        </p:txBody>
      </p:sp>
    </p:spTree>
    <p:extLst>
      <p:ext uri="{BB962C8B-B14F-4D97-AF65-F5344CB8AC3E}">
        <p14:creationId xmlns:p14="http://schemas.microsoft.com/office/powerpoint/2010/main" val="2845777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4CBB13-E7F2-7252-2C71-267601B2AC7F}"/>
              </a:ext>
            </a:extLst>
          </p:cNvPr>
          <p:cNvSpPr>
            <a:spLocks noGrp="1"/>
          </p:cNvSpPr>
          <p:nvPr>
            <p:ph idx="1"/>
          </p:nvPr>
        </p:nvSpPr>
        <p:spPr>
          <a:xfrm>
            <a:off x="0" y="173420"/>
            <a:ext cx="12192000" cy="6684579"/>
          </a:xfrm>
        </p:spPr>
        <p:txBody>
          <a:bodyPr>
            <a:normAutofit/>
          </a:bodyPr>
          <a:lstStyle/>
          <a:p>
            <a:pPr algn="l" fontAlgn="base">
              <a:lnSpc>
                <a:spcPts val="3450"/>
              </a:lnSpc>
              <a:spcBef>
                <a:spcPts val="1500"/>
              </a:spcBef>
              <a:spcAft>
                <a:spcPts val="1800"/>
              </a:spcAft>
            </a:pPr>
            <a:r>
              <a:rPr lang="en-US" b="1" i="0" dirty="0">
                <a:solidFill>
                  <a:schemeClr val="accent2">
                    <a:lumMod val="75000"/>
                  </a:schemeClr>
                </a:solidFill>
                <a:effectLst/>
                <a:latin typeface="Times New Roman" panose="02020603050405020304" pitchFamily="18" charset="0"/>
                <a:cs typeface="Times New Roman" panose="02020603050405020304" pitchFamily="18" charset="0"/>
              </a:rPr>
              <a:t>2. Output unit and associated peripherals</a:t>
            </a:r>
          </a:p>
          <a:p>
            <a:pPr algn="l"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The output unit delivers the computer process’s results to the user. </a:t>
            </a:r>
          </a:p>
          <a:p>
            <a:pPr algn="l"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A majority of the output data comprises music, graphics, or video. </a:t>
            </a:r>
          </a:p>
          <a:p>
            <a:pPr algn="l"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A computer architecture’s output devices encompass the display, printing unit, speakers, headphones, etc.</a:t>
            </a:r>
          </a:p>
          <a:p>
            <a:pPr algn="l" fontAlgn="base">
              <a:lnSpc>
                <a:spcPts val="2250"/>
              </a:lnSpc>
              <a:spcAft>
                <a:spcPts val="3000"/>
              </a:spcAft>
            </a:pPr>
            <a:r>
              <a:rPr lang="en-US" b="0" i="0" dirty="0" err="1">
                <a:solidFill>
                  <a:srgbClr val="080809"/>
                </a:solidFill>
                <a:effectLst/>
                <a:latin typeface="Times New Roman" panose="02020603050405020304" pitchFamily="18" charset="0"/>
                <a:cs typeface="Times New Roman" panose="02020603050405020304" pitchFamily="18" charset="0"/>
              </a:rPr>
              <a:t>Eg</a:t>
            </a:r>
            <a:r>
              <a:rPr lang="en-US" b="0" i="0" dirty="0">
                <a:solidFill>
                  <a:srgbClr val="080809"/>
                </a:solidFill>
                <a:effectLst/>
                <a:latin typeface="Times New Roman" panose="02020603050405020304" pitchFamily="18" charset="0"/>
                <a:cs typeface="Times New Roman" panose="02020603050405020304" pitchFamily="18" charset="0"/>
              </a:rPr>
              <a:t>: To play an MP3 file, for instance, the system reads a number array from the disc and into memory. The computer architecture manipulates these numbers to convert compressed audio data to uncompressed audio data and then outputs the resulting set of numbers (uncompressed audio file) to the audio chips. The chip then makes it user-ready through the output unit and associated peripherals.</a:t>
            </a:r>
          </a:p>
          <a:p>
            <a:endParaRPr lang="en-IN" dirty="0"/>
          </a:p>
        </p:txBody>
      </p:sp>
    </p:spTree>
    <p:extLst>
      <p:ext uri="{BB962C8B-B14F-4D97-AF65-F5344CB8AC3E}">
        <p14:creationId xmlns:p14="http://schemas.microsoft.com/office/powerpoint/2010/main" val="2269122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E242FE-7E01-DF26-7ED0-7352536CAA19}"/>
              </a:ext>
            </a:extLst>
          </p:cNvPr>
          <p:cNvSpPr>
            <a:spLocks noGrp="1"/>
          </p:cNvSpPr>
          <p:nvPr>
            <p:ph idx="1"/>
          </p:nvPr>
        </p:nvSpPr>
        <p:spPr>
          <a:xfrm>
            <a:off x="0" y="0"/>
            <a:ext cx="12192000" cy="6858000"/>
          </a:xfrm>
        </p:spPr>
        <p:txBody>
          <a:bodyPr/>
          <a:lstStyle/>
          <a:p>
            <a:pPr marL="0" indent="0" algn="just" fontAlgn="base">
              <a:lnSpc>
                <a:spcPts val="3450"/>
              </a:lnSpc>
              <a:spcBef>
                <a:spcPts val="1500"/>
              </a:spcBef>
              <a:spcAft>
                <a:spcPts val="1800"/>
              </a:spcAft>
              <a:buNone/>
            </a:pPr>
            <a:r>
              <a:rPr lang="en-US" b="1" i="0" dirty="0">
                <a:solidFill>
                  <a:schemeClr val="accent2">
                    <a:lumMod val="75000"/>
                  </a:schemeClr>
                </a:solidFill>
                <a:effectLst/>
                <a:latin typeface="Times New Roman" panose="02020603050405020304" pitchFamily="18" charset="0"/>
                <a:cs typeface="Times New Roman" panose="02020603050405020304" pitchFamily="18" charset="0"/>
              </a:rPr>
              <a:t>3. Storage unit/memory</a:t>
            </a:r>
          </a:p>
          <a:p>
            <a:pPr algn="just"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The storage unit contains numerous computer parts that are employed to store data. It is typically separated into </a:t>
            </a:r>
            <a:r>
              <a:rPr lang="en-US" b="1" i="0" dirty="0">
                <a:solidFill>
                  <a:srgbClr val="080809"/>
                </a:solidFill>
                <a:effectLst/>
                <a:latin typeface="Times New Roman" panose="02020603050405020304" pitchFamily="18" charset="0"/>
                <a:cs typeface="Times New Roman" panose="02020603050405020304" pitchFamily="18" charset="0"/>
              </a:rPr>
              <a:t>primary storage and secondary storage</a:t>
            </a:r>
            <a:r>
              <a:rPr lang="en-US" b="0" i="0" dirty="0">
                <a:solidFill>
                  <a:srgbClr val="080809"/>
                </a:solidFill>
                <a:effectLst/>
                <a:latin typeface="Times New Roman" panose="02020603050405020304" pitchFamily="18" charset="0"/>
                <a:cs typeface="Times New Roman" panose="02020603050405020304" pitchFamily="18" charset="0"/>
              </a:rPr>
              <a:t>.</a:t>
            </a:r>
          </a:p>
          <a:p>
            <a:pPr algn="just" fontAlgn="base">
              <a:lnSpc>
                <a:spcPts val="3150"/>
              </a:lnSpc>
              <a:spcBef>
                <a:spcPts val="750"/>
              </a:spcBef>
              <a:spcAft>
                <a:spcPts val="1800"/>
              </a:spcAft>
            </a:pPr>
            <a:r>
              <a:rPr lang="en-US" b="0" i="0" dirty="0">
                <a:solidFill>
                  <a:srgbClr val="080809"/>
                </a:solidFill>
                <a:effectLst/>
                <a:latin typeface="Times New Roman" panose="02020603050405020304" pitchFamily="18" charset="0"/>
                <a:cs typeface="Times New Roman" panose="02020603050405020304" pitchFamily="18" charset="0"/>
              </a:rPr>
              <a:t>Primary storage unit</a:t>
            </a:r>
            <a:endParaRPr lang="en-US" b="1" i="0" dirty="0">
              <a:solidFill>
                <a:srgbClr val="080809"/>
              </a:solidFill>
              <a:effectLst/>
              <a:latin typeface="Times New Roman" panose="02020603050405020304" pitchFamily="18" charset="0"/>
              <a:cs typeface="Times New Roman" panose="02020603050405020304" pitchFamily="18" charset="0"/>
            </a:endParaRPr>
          </a:p>
          <a:p>
            <a:pPr algn="just"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This component of the computer architecture is also referred to as the main memory, as the CPU has direct access to it.</a:t>
            </a:r>
          </a:p>
          <a:p>
            <a:pPr algn="just"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 Primary memory is utilized for storing information and instructions during program execution. </a:t>
            </a:r>
          </a:p>
          <a:p>
            <a:pPr algn="just" fontAlgn="base">
              <a:lnSpc>
                <a:spcPts val="2250"/>
              </a:lnSpc>
              <a:spcAft>
                <a:spcPts val="3000"/>
              </a:spcAft>
            </a:pPr>
            <a:r>
              <a:rPr lang="en-US" b="1" i="0" dirty="0">
                <a:solidFill>
                  <a:srgbClr val="080809"/>
                </a:solidFill>
                <a:effectLst/>
                <a:latin typeface="Times New Roman" panose="02020603050405020304" pitchFamily="18" charset="0"/>
                <a:cs typeface="Times New Roman" panose="02020603050405020304" pitchFamily="18" charset="0"/>
              </a:rPr>
              <a:t>Random access memory (RAM) and read-only memory (ROM) are the two kinds of memory:</a:t>
            </a:r>
          </a:p>
          <a:p>
            <a:endParaRPr lang="en-IN" dirty="0"/>
          </a:p>
        </p:txBody>
      </p:sp>
    </p:spTree>
    <p:extLst>
      <p:ext uri="{BB962C8B-B14F-4D97-AF65-F5344CB8AC3E}">
        <p14:creationId xmlns:p14="http://schemas.microsoft.com/office/powerpoint/2010/main" val="3057780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176E8E-0999-DE85-9C31-CD1B1DD632DF}"/>
              </a:ext>
            </a:extLst>
          </p:cNvPr>
          <p:cNvSpPr>
            <a:spLocks noGrp="1"/>
          </p:cNvSpPr>
          <p:nvPr>
            <p:ph idx="1"/>
          </p:nvPr>
        </p:nvSpPr>
        <p:spPr>
          <a:xfrm>
            <a:off x="0" y="0"/>
            <a:ext cx="12076386" cy="6858000"/>
          </a:xfrm>
        </p:spPr>
        <p:txBody>
          <a:bodyPr/>
          <a:lstStyle/>
          <a:p>
            <a:pPr algn="l" fontAlgn="base">
              <a:lnSpc>
                <a:spcPts val="2475"/>
              </a:lnSpc>
              <a:spcAft>
                <a:spcPts val="1500"/>
              </a:spcAft>
              <a:buFont typeface="Arial" panose="020B0604020202020204" pitchFamily="34" charset="0"/>
              <a:buChar char="•"/>
            </a:pPr>
            <a:endParaRPr lang="en-US" b="1" i="0" dirty="0">
              <a:solidFill>
                <a:srgbClr val="0D0D0D"/>
              </a:solidFill>
              <a:effectLst/>
              <a:latin typeface="Times New Roman" panose="02020603050405020304" pitchFamily="18" charset="0"/>
              <a:cs typeface="Times New Roman" panose="02020603050405020304" pitchFamily="18" charset="0"/>
            </a:endParaRPr>
          </a:p>
          <a:p>
            <a:pPr algn="l" fontAlgn="base">
              <a:lnSpc>
                <a:spcPts val="2475"/>
              </a:lnSpc>
              <a:spcAft>
                <a:spcPts val="1500"/>
              </a:spcAft>
              <a:buFont typeface="Wingdings" panose="05000000000000000000" pitchFamily="2" charset="2"/>
              <a:buChar char="v"/>
            </a:pPr>
            <a:r>
              <a:rPr lang="en-US" b="1" i="0" dirty="0">
                <a:solidFill>
                  <a:srgbClr val="0D0D0D"/>
                </a:solidFill>
                <a:effectLst/>
                <a:latin typeface="Times New Roman" panose="02020603050405020304" pitchFamily="18" charset="0"/>
                <a:cs typeface="Times New Roman" panose="02020603050405020304" pitchFamily="18" charset="0"/>
              </a:rPr>
              <a:t>RAM </a:t>
            </a:r>
            <a:r>
              <a:rPr lang="en-US" b="0" i="0" dirty="0">
                <a:solidFill>
                  <a:srgbClr val="0D0D0D"/>
                </a:solidFill>
                <a:effectLst/>
                <a:latin typeface="Times New Roman" panose="02020603050405020304" pitchFamily="18" charset="0"/>
                <a:cs typeface="Times New Roman" panose="02020603050405020304" pitchFamily="18" charset="0"/>
              </a:rPr>
              <a:t>supplies the necessary information straight to the CPU.</a:t>
            </a:r>
          </a:p>
          <a:p>
            <a:pPr algn="l" fontAlgn="base">
              <a:lnSpc>
                <a:spcPts val="2475"/>
              </a:lnSpc>
              <a:spcAft>
                <a:spcPts val="1500"/>
              </a:spcAft>
              <a:buFont typeface="Arial" panose="020B0604020202020204" pitchFamily="34" charset="0"/>
              <a:buChar char="•"/>
            </a:pPr>
            <a:r>
              <a:rPr lang="en-US" b="0" i="0" dirty="0">
                <a:solidFill>
                  <a:srgbClr val="0D0D0D"/>
                </a:solidFill>
                <a:effectLst/>
                <a:latin typeface="Times New Roman" panose="02020603050405020304" pitchFamily="18" charset="0"/>
                <a:cs typeface="Times New Roman" panose="02020603050405020304" pitchFamily="18" charset="0"/>
              </a:rPr>
              <a:t> It is a temporary memory that stores data and instructions intermittently.</a:t>
            </a:r>
          </a:p>
          <a:p>
            <a:pPr algn="l" fontAlgn="base">
              <a:lnSpc>
                <a:spcPts val="2475"/>
              </a:lnSpc>
              <a:spcAft>
                <a:spcPts val="150"/>
              </a:spcAft>
              <a:buFont typeface="Wingdings" panose="05000000000000000000" pitchFamily="2" charset="2"/>
              <a:buChar char="v"/>
            </a:pPr>
            <a:r>
              <a:rPr lang="en-US" b="1" i="0" dirty="0">
                <a:solidFill>
                  <a:srgbClr val="0D0D0D"/>
                </a:solidFill>
                <a:effectLst/>
                <a:latin typeface="Times New Roman" panose="02020603050405020304" pitchFamily="18" charset="0"/>
                <a:cs typeface="Times New Roman" panose="02020603050405020304" pitchFamily="18" charset="0"/>
              </a:rPr>
              <a:t>ROM </a:t>
            </a:r>
            <a:r>
              <a:rPr lang="en-US" b="0" i="0" dirty="0">
                <a:solidFill>
                  <a:srgbClr val="0D0D0D"/>
                </a:solidFill>
                <a:effectLst/>
                <a:latin typeface="Times New Roman" panose="02020603050405020304" pitchFamily="18" charset="0"/>
                <a:cs typeface="Times New Roman" panose="02020603050405020304" pitchFamily="18" charset="0"/>
              </a:rPr>
              <a:t>is a memory type that contains pre-installed instructions, including firmware.</a:t>
            </a:r>
          </a:p>
          <a:p>
            <a:pPr fontAlgn="base">
              <a:lnSpc>
                <a:spcPts val="2475"/>
              </a:lnSpc>
              <a:spcAft>
                <a:spcPts val="150"/>
              </a:spcAft>
            </a:pPr>
            <a:r>
              <a:rPr lang="en-US" b="0" i="0" dirty="0">
                <a:solidFill>
                  <a:srgbClr val="0D0D0D"/>
                </a:solidFill>
                <a:effectLst/>
                <a:latin typeface="Times New Roman" panose="02020603050405020304" pitchFamily="18" charset="0"/>
                <a:cs typeface="Times New Roman" panose="02020603050405020304" pitchFamily="18" charset="0"/>
              </a:rPr>
              <a:t> This memory’s content is persistent and cannot be modified. ROM is utilized to boot the machine upon initial startup. </a:t>
            </a:r>
          </a:p>
          <a:p>
            <a:pPr fontAlgn="base">
              <a:lnSpc>
                <a:spcPts val="2475"/>
              </a:lnSpc>
              <a:spcAft>
                <a:spcPts val="150"/>
              </a:spcAft>
            </a:pPr>
            <a:r>
              <a:rPr lang="en-US" b="0" i="0" dirty="0">
                <a:solidFill>
                  <a:srgbClr val="0D0D0D"/>
                </a:solidFill>
                <a:effectLst/>
                <a:latin typeface="Times New Roman" panose="02020603050405020304" pitchFamily="18" charset="0"/>
                <a:cs typeface="Times New Roman" panose="02020603050405020304" pitchFamily="18" charset="0"/>
              </a:rPr>
              <a:t>The computer is now unaware of anything outside the ROM. </a:t>
            </a:r>
          </a:p>
          <a:p>
            <a:pPr fontAlgn="base">
              <a:lnSpc>
                <a:spcPts val="2475"/>
              </a:lnSpc>
              <a:spcAft>
                <a:spcPts val="150"/>
              </a:spcAft>
            </a:pPr>
            <a:r>
              <a:rPr lang="en-US" b="0" i="0" dirty="0">
                <a:solidFill>
                  <a:srgbClr val="0D0D0D"/>
                </a:solidFill>
                <a:effectLst/>
                <a:latin typeface="Times New Roman" panose="02020603050405020304" pitchFamily="18" charset="0"/>
                <a:cs typeface="Times New Roman" panose="02020603050405020304" pitchFamily="18" charset="0"/>
              </a:rPr>
              <a:t>The chip instructs it on how to set up the computer architecture, conduct a power-on self-test (POST), and finally locate the hard drive so that the operating system can be launched.</a:t>
            </a:r>
          </a:p>
          <a:p>
            <a:endParaRPr lang="en-IN" dirty="0"/>
          </a:p>
        </p:txBody>
      </p:sp>
    </p:spTree>
    <p:extLst>
      <p:ext uri="{BB962C8B-B14F-4D97-AF65-F5344CB8AC3E}">
        <p14:creationId xmlns:p14="http://schemas.microsoft.com/office/powerpoint/2010/main" val="3629388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28A22-35DB-37A5-D46B-9D0134B56C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E41C19-599B-805E-9494-E218DE8481E6}"/>
              </a:ext>
            </a:extLst>
          </p:cNvPr>
          <p:cNvSpPr>
            <a:spLocks noGrp="1"/>
          </p:cNvSpPr>
          <p:nvPr>
            <p:ph idx="1"/>
          </p:nvPr>
        </p:nvSpPr>
        <p:spPr/>
        <p:txBody>
          <a:bodyPr/>
          <a:lstStyle/>
          <a:p>
            <a:pPr algn="just" fontAlgn="base">
              <a:lnSpc>
                <a:spcPts val="3150"/>
              </a:lnSpc>
              <a:spcBef>
                <a:spcPts val="750"/>
              </a:spcBef>
              <a:spcAft>
                <a:spcPts val="1800"/>
              </a:spcAft>
            </a:pPr>
            <a:r>
              <a:rPr lang="en-US" b="1" i="0" dirty="0">
                <a:solidFill>
                  <a:srgbClr val="080809"/>
                </a:solidFill>
                <a:effectLst/>
                <a:latin typeface="Times New Roman" panose="02020603050405020304" pitchFamily="18" charset="0"/>
                <a:cs typeface="Times New Roman" panose="02020603050405020304" pitchFamily="18" charset="0"/>
              </a:rPr>
              <a:t>Secondary storage unit</a:t>
            </a:r>
          </a:p>
          <a:p>
            <a:pPr algn="just"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Secondary or external storage is inaccessible directly to the CPU. Before the CPU uses secondary storage data, it must be transferred to the main storage. </a:t>
            </a:r>
          </a:p>
          <a:p>
            <a:pPr algn="just" fontAlgn="base">
              <a:lnSpc>
                <a:spcPts val="225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Secondary storage permanently retains vast amounts of data. Examples include </a:t>
            </a:r>
            <a:r>
              <a:rPr lang="en-US" b="0" i="0" u="sng" dirty="0">
                <a:solidFill>
                  <a:srgbClr val="007FA2"/>
                </a:solidFill>
                <a:effectLst/>
                <a:latin typeface="Times New Roman" panose="02020603050405020304" pitchFamily="18" charset="0"/>
                <a:cs typeface="Times New Roman" panose="02020603050405020304" pitchFamily="18" charset="0"/>
                <a:hlinkClick r:id="rId2" tooltip="hard disk drives (HDDs), solid-state drives (SSDs)"/>
              </a:rPr>
              <a:t>hard disk drives (HDDs), solid-state drives (SSDs)</a:t>
            </a:r>
            <a:r>
              <a:rPr lang="en-US" b="0" i="0" dirty="0">
                <a:solidFill>
                  <a:srgbClr val="080809"/>
                </a:solidFill>
                <a:effectLst/>
                <a:latin typeface="Times New Roman" panose="02020603050405020304" pitchFamily="18" charset="0"/>
                <a:cs typeface="Times New Roman" panose="02020603050405020304" pitchFamily="18" charset="0"/>
              </a:rPr>
              <a:t>, compact disks (CDs), </a:t>
            </a:r>
            <a:r>
              <a:rPr lang="en-US" b="0" i="0" dirty="0" err="1">
                <a:solidFill>
                  <a:srgbClr val="080809"/>
                </a:solidFill>
                <a:effectLst/>
                <a:latin typeface="Times New Roman" panose="02020603050405020304" pitchFamily="18" charset="0"/>
                <a:cs typeface="Times New Roman" panose="02020603050405020304" pitchFamily="18" charset="0"/>
              </a:rPr>
              <a:t>etc</a:t>
            </a:r>
            <a:endParaRPr lang="en-US" b="0" i="0" dirty="0">
              <a:solidFill>
                <a:srgbClr val="080809"/>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97731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20FE-13F0-F5E1-D8E0-65DBC2F63174}"/>
              </a:ext>
            </a:extLst>
          </p:cNvPr>
          <p:cNvSpPr>
            <a:spLocks noGrp="1"/>
          </p:cNvSpPr>
          <p:nvPr>
            <p:ph type="title"/>
          </p:nvPr>
        </p:nvSpPr>
        <p:spPr/>
        <p:txBody>
          <a:bodyPr/>
          <a:lstStyle/>
          <a:p>
            <a:r>
              <a:rPr lang="en-US" b="0" i="0" dirty="0">
                <a:solidFill>
                  <a:schemeClr val="accent2">
                    <a:lumMod val="75000"/>
                  </a:schemeClr>
                </a:solidFill>
                <a:effectLst/>
                <a:latin typeface="Roboto" panose="02000000000000000000" pitchFamily="2" charset="0"/>
              </a:rPr>
              <a:t>4. Central processing unit (CPU)</a:t>
            </a:r>
            <a:br>
              <a:rPr lang="en-US" b="1" i="0" dirty="0">
                <a:solidFill>
                  <a:srgbClr val="080809"/>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12783806-E1CF-DC04-FCB2-499711A68474}"/>
              </a:ext>
            </a:extLst>
          </p:cNvPr>
          <p:cNvSpPr>
            <a:spLocks noGrp="1"/>
          </p:cNvSpPr>
          <p:nvPr>
            <p:ph idx="1"/>
          </p:nvPr>
        </p:nvSpPr>
        <p:spPr/>
        <p:txBody>
          <a:bodyPr/>
          <a:lstStyle/>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The central processing unit includes registers, an arithmetic logic unit (ALU), and control circuits, which interpret and execute assembly language instructions. </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The CPU interacts with all the other parts of the computer architecture to make sense of the data and deliver the necessary output.</a:t>
            </a:r>
          </a:p>
          <a:p>
            <a:endParaRPr lang="en-IN" dirty="0"/>
          </a:p>
        </p:txBody>
      </p:sp>
    </p:spTree>
    <p:extLst>
      <p:ext uri="{BB962C8B-B14F-4D97-AF65-F5344CB8AC3E}">
        <p14:creationId xmlns:p14="http://schemas.microsoft.com/office/powerpoint/2010/main" val="3543237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619B74-160F-0447-22D6-2EF611CDF9C8}"/>
              </a:ext>
            </a:extLst>
          </p:cNvPr>
          <p:cNvSpPr>
            <a:spLocks noGrp="1"/>
          </p:cNvSpPr>
          <p:nvPr>
            <p:ph idx="1"/>
          </p:nvPr>
        </p:nvSpPr>
        <p:spPr>
          <a:xfrm>
            <a:off x="189186" y="1087821"/>
            <a:ext cx="11164614" cy="5089142"/>
          </a:xfrm>
        </p:spPr>
        <p:txBody>
          <a:bodyPr/>
          <a:lstStyle/>
          <a:p>
            <a:pPr algn="l" fontAlgn="base">
              <a:lnSpc>
                <a:spcPct val="100000"/>
              </a:lnSpc>
              <a:spcBef>
                <a:spcPts val="750"/>
              </a:spcBef>
              <a:spcAft>
                <a:spcPts val="1800"/>
              </a:spcAft>
            </a:pP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1. Registers</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These are high-speed and purpose-built temporary memory devices. Rather than being referred to by their address, they are accessed and modified directly by the CPU throughout execution. </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Essentially, they contain data that the CPU is presently processing. Registers contain information, commands, addresses, and intermediate processing results.</a:t>
            </a:r>
          </a:p>
          <a:p>
            <a:endParaRPr lang="en-IN" dirty="0"/>
          </a:p>
        </p:txBody>
      </p:sp>
    </p:spTree>
    <p:extLst>
      <p:ext uri="{BB962C8B-B14F-4D97-AF65-F5344CB8AC3E}">
        <p14:creationId xmlns:p14="http://schemas.microsoft.com/office/powerpoint/2010/main" val="470183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378FE-36A6-1489-35FF-3C260613BB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56F8A5-C353-7DA1-6514-686C94C09190}"/>
              </a:ext>
            </a:extLst>
          </p:cNvPr>
          <p:cNvSpPr>
            <a:spLocks noGrp="1"/>
          </p:cNvSpPr>
          <p:nvPr>
            <p:ph idx="1"/>
          </p:nvPr>
        </p:nvSpPr>
        <p:spPr/>
        <p:txBody>
          <a:bodyPr/>
          <a:lstStyle/>
          <a:p>
            <a:pPr algn="l" fontAlgn="base">
              <a:lnSpc>
                <a:spcPct val="100000"/>
              </a:lnSpc>
              <a:spcBef>
                <a:spcPts val="750"/>
              </a:spcBef>
              <a:spcAft>
                <a:spcPts val="1800"/>
              </a:spcAft>
            </a:pP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2. Arithmetic logic unit (ALU)</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The arithmetic logic unit includes the electrical circuitry that performs any arithmetic and logical processes on the supplied data. </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It is used to execute all arithmetic (additions, subtractions, multiplication, division) and logical (&lt;, &gt;, AND, OR, etc.) computations. Registers are used by the ALU to retain the data being processed.</a:t>
            </a:r>
          </a:p>
          <a:p>
            <a:endParaRPr lang="en-IN" dirty="0"/>
          </a:p>
        </p:txBody>
      </p:sp>
    </p:spTree>
    <p:extLst>
      <p:ext uri="{BB962C8B-B14F-4D97-AF65-F5344CB8AC3E}">
        <p14:creationId xmlns:p14="http://schemas.microsoft.com/office/powerpoint/2010/main" val="2122141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A33FE-6EA6-5506-F6C0-9D767A5DD1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D56A48-EB75-D20E-FBFA-408565235D6B}"/>
              </a:ext>
            </a:extLst>
          </p:cNvPr>
          <p:cNvSpPr>
            <a:spLocks noGrp="1"/>
          </p:cNvSpPr>
          <p:nvPr>
            <p:ph idx="1"/>
          </p:nvPr>
        </p:nvSpPr>
        <p:spPr/>
        <p:txBody>
          <a:bodyPr/>
          <a:lstStyle/>
          <a:p>
            <a:pPr algn="l" fontAlgn="base">
              <a:lnSpc>
                <a:spcPct val="100000"/>
              </a:lnSpc>
              <a:spcBef>
                <a:spcPts val="750"/>
              </a:spcBef>
              <a:spcAft>
                <a:spcPts val="1800"/>
              </a:spcAft>
            </a:pPr>
            <a:r>
              <a:rPr lang="en-US" sz="2400" b="1" i="0" dirty="0">
                <a:solidFill>
                  <a:schemeClr val="accent6">
                    <a:lumMod val="75000"/>
                  </a:schemeClr>
                </a:solidFill>
                <a:effectLst/>
                <a:latin typeface="Times New Roman" panose="02020603050405020304" pitchFamily="18" charset="0"/>
                <a:cs typeface="Times New Roman" panose="02020603050405020304" pitchFamily="18" charset="0"/>
              </a:rPr>
              <a:t>3. Control unit</a:t>
            </a:r>
          </a:p>
          <a:p>
            <a:pPr algn="l" fontAlgn="base">
              <a:lnSpc>
                <a:spcPct val="100000"/>
              </a:lnSpc>
              <a:spcAft>
                <a:spcPts val="3000"/>
              </a:spcAft>
            </a:pPr>
            <a:r>
              <a:rPr lang="en-US" sz="2400" b="0" i="0" dirty="0">
                <a:solidFill>
                  <a:srgbClr val="080809"/>
                </a:solidFill>
                <a:effectLst/>
                <a:latin typeface="Times New Roman" panose="02020603050405020304" pitchFamily="18" charset="0"/>
                <a:cs typeface="Times New Roman" panose="02020603050405020304" pitchFamily="18" charset="0"/>
              </a:rPr>
              <a:t>The control unit collaborates with the computer’s input and output devices.</a:t>
            </a:r>
          </a:p>
          <a:p>
            <a:pPr algn="l" fontAlgn="base">
              <a:lnSpc>
                <a:spcPct val="100000"/>
              </a:lnSpc>
              <a:spcAft>
                <a:spcPts val="3000"/>
              </a:spcAft>
            </a:pPr>
            <a:r>
              <a:rPr lang="en-US" sz="2400" b="0" i="0" dirty="0">
                <a:solidFill>
                  <a:srgbClr val="080809"/>
                </a:solidFill>
                <a:effectLst/>
                <a:latin typeface="Times New Roman" panose="02020603050405020304" pitchFamily="18" charset="0"/>
                <a:cs typeface="Times New Roman" panose="02020603050405020304" pitchFamily="18" charset="0"/>
              </a:rPr>
              <a:t> It instructs the computer to execute stored program instructions via communication with the ALU and registers. </a:t>
            </a:r>
          </a:p>
          <a:p>
            <a:pPr algn="l" fontAlgn="base">
              <a:lnSpc>
                <a:spcPct val="100000"/>
              </a:lnSpc>
              <a:spcAft>
                <a:spcPts val="3000"/>
              </a:spcAft>
            </a:pPr>
            <a:r>
              <a:rPr lang="en-US" sz="2400" b="0" i="0" dirty="0">
                <a:solidFill>
                  <a:srgbClr val="080809"/>
                </a:solidFill>
                <a:effectLst/>
                <a:latin typeface="Times New Roman" panose="02020603050405020304" pitchFamily="18" charset="0"/>
                <a:cs typeface="Times New Roman" panose="02020603050405020304" pitchFamily="18" charset="0"/>
              </a:rPr>
              <a:t>The control unit aims to arrange data and instruction processing.</a:t>
            </a:r>
          </a:p>
          <a:p>
            <a:endParaRPr lang="en-IN" dirty="0"/>
          </a:p>
        </p:txBody>
      </p:sp>
    </p:spTree>
    <p:extLst>
      <p:ext uri="{BB962C8B-B14F-4D97-AF65-F5344CB8AC3E}">
        <p14:creationId xmlns:p14="http://schemas.microsoft.com/office/powerpoint/2010/main" val="535295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013328-7690-00AD-7B9B-59A6B79CE9CA}"/>
              </a:ext>
            </a:extLst>
          </p:cNvPr>
          <p:cNvSpPr>
            <a:spLocks noGrp="1"/>
          </p:cNvSpPr>
          <p:nvPr>
            <p:ph idx="1"/>
          </p:nvPr>
        </p:nvSpPr>
        <p:spPr>
          <a:xfrm>
            <a:off x="110359" y="141890"/>
            <a:ext cx="11243441" cy="6035073"/>
          </a:xfrm>
        </p:spPr>
        <p:txBody>
          <a:bodyPr>
            <a:normAutofit fontScale="70000" lnSpcReduction="20000"/>
          </a:bodyPr>
          <a:lstStyle/>
          <a:p>
            <a:pPr marL="0" indent="0" algn="l" fontAlgn="base">
              <a:lnSpc>
                <a:spcPct val="120000"/>
              </a:lnSpc>
              <a:spcBef>
                <a:spcPts val="1500"/>
              </a:spcBef>
              <a:spcAft>
                <a:spcPts val="1800"/>
              </a:spcAft>
              <a:buNone/>
            </a:pPr>
            <a:r>
              <a:rPr lang="en-US" b="1" dirty="0">
                <a:solidFill>
                  <a:schemeClr val="accent6">
                    <a:lumMod val="75000"/>
                  </a:schemeClr>
                </a:solidFill>
                <a:latin typeface="Times New Roman" panose="02020603050405020304" pitchFamily="18" charset="0"/>
                <a:cs typeface="Times New Roman" panose="02020603050405020304" pitchFamily="18" charset="0"/>
              </a:rPr>
              <a:t>4.</a:t>
            </a:r>
            <a:r>
              <a:rPr lang="en-US" sz="3600" b="1" i="0" dirty="0">
                <a:solidFill>
                  <a:schemeClr val="accent6">
                    <a:lumMod val="75000"/>
                  </a:schemeClr>
                </a:solidFill>
                <a:effectLst/>
                <a:latin typeface="Times New Roman" panose="02020603050405020304" pitchFamily="18" charset="0"/>
                <a:cs typeface="Times New Roman" panose="02020603050405020304" pitchFamily="18" charset="0"/>
              </a:rPr>
              <a:t> Buses</a:t>
            </a:r>
          </a:p>
          <a:p>
            <a:pPr algn="l" fontAlgn="base">
              <a:lnSpc>
                <a:spcPct val="120000"/>
              </a:lnSpc>
              <a:spcAft>
                <a:spcPts val="3000"/>
              </a:spcAft>
            </a:pPr>
            <a:r>
              <a:rPr lang="en-US" sz="3600" b="0" i="0" dirty="0">
                <a:solidFill>
                  <a:srgbClr val="080809"/>
                </a:solidFill>
                <a:effectLst/>
                <a:latin typeface="Times New Roman" panose="02020603050405020304" pitchFamily="18" charset="0"/>
                <a:cs typeface="Times New Roman" panose="02020603050405020304" pitchFamily="18" charset="0"/>
              </a:rPr>
              <a:t>A bus is a tangible collection of signal lines with a linked purpose; a good example is the </a:t>
            </a:r>
            <a:r>
              <a:rPr lang="en-US" sz="3600" b="0" i="0" u="sng" dirty="0">
                <a:solidFill>
                  <a:srgbClr val="007FA2"/>
                </a:solidFill>
                <a:effectLst/>
                <a:latin typeface="Times New Roman" panose="02020603050405020304" pitchFamily="18" charset="0"/>
                <a:cs typeface="Times New Roman" panose="02020603050405020304" pitchFamily="18" charset="0"/>
                <a:hlinkClick r:id="rId2" tooltip="universal serial bus (USB)"/>
              </a:rPr>
              <a:t>universal serial bus (USB)</a:t>
            </a:r>
            <a:r>
              <a:rPr lang="en-US" sz="3600" b="0" i="0" dirty="0">
                <a:solidFill>
                  <a:srgbClr val="080809"/>
                </a:solidFill>
                <a:effectLst/>
                <a:latin typeface="Times New Roman" panose="02020603050405020304" pitchFamily="18" charset="0"/>
                <a:cs typeface="Times New Roman" panose="02020603050405020304" pitchFamily="18" charset="0"/>
              </a:rPr>
              <a:t>.</a:t>
            </a:r>
          </a:p>
          <a:p>
            <a:pPr algn="l" fontAlgn="base">
              <a:lnSpc>
                <a:spcPct val="120000"/>
              </a:lnSpc>
              <a:spcAft>
                <a:spcPts val="3000"/>
              </a:spcAft>
            </a:pPr>
            <a:r>
              <a:rPr lang="en-US" sz="3600" b="0" i="0" dirty="0">
                <a:solidFill>
                  <a:srgbClr val="080809"/>
                </a:solidFill>
                <a:effectLst/>
                <a:latin typeface="Times New Roman" panose="02020603050405020304" pitchFamily="18" charset="0"/>
                <a:cs typeface="Times New Roman" panose="02020603050405020304" pitchFamily="18" charset="0"/>
              </a:rPr>
              <a:t> Buses enable the flow of electrical impulses between various components of a computer’s design, transferring information from one system to another. </a:t>
            </a:r>
          </a:p>
          <a:p>
            <a:pPr algn="l" fontAlgn="base">
              <a:lnSpc>
                <a:spcPct val="120000"/>
              </a:lnSpc>
              <a:spcAft>
                <a:spcPts val="3000"/>
              </a:spcAft>
            </a:pPr>
            <a:r>
              <a:rPr lang="en-US" sz="3600" b="0" i="0" dirty="0">
                <a:solidFill>
                  <a:srgbClr val="080809"/>
                </a:solidFill>
                <a:effectLst/>
                <a:latin typeface="Times New Roman" panose="02020603050405020304" pitchFamily="18" charset="0"/>
                <a:cs typeface="Times New Roman" panose="02020603050405020304" pitchFamily="18" charset="0"/>
              </a:rPr>
              <a:t>The size of a bus is the count of information-transferring signal lines. </a:t>
            </a:r>
          </a:p>
          <a:p>
            <a:pPr algn="l" fontAlgn="base">
              <a:lnSpc>
                <a:spcPct val="120000"/>
              </a:lnSpc>
              <a:spcAft>
                <a:spcPts val="3000"/>
              </a:spcAft>
            </a:pPr>
            <a:r>
              <a:rPr lang="en-US" sz="3600" b="0" i="0" dirty="0">
                <a:solidFill>
                  <a:srgbClr val="080809"/>
                </a:solidFill>
                <a:effectLst/>
                <a:latin typeface="Times New Roman" panose="02020603050405020304" pitchFamily="18" charset="0"/>
                <a:cs typeface="Times New Roman" panose="02020603050405020304" pitchFamily="18" charset="0"/>
              </a:rPr>
              <a:t>A bus with a size of 8 bits, for instance, transports 8 data bits in a parallel formation.</a:t>
            </a:r>
          </a:p>
          <a:p>
            <a:pPr marL="0" indent="0">
              <a:buNone/>
            </a:pPr>
            <a:endParaRPr lang="en-IN" dirty="0"/>
          </a:p>
        </p:txBody>
      </p:sp>
    </p:spTree>
    <p:extLst>
      <p:ext uri="{BB962C8B-B14F-4D97-AF65-F5344CB8AC3E}">
        <p14:creationId xmlns:p14="http://schemas.microsoft.com/office/powerpoint/2010/main" val="1105866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b="1" dirty="0"/>
              <a:t>Eight Great Ideas</a:t>
            </a:r>
          </a:p>
        </p:txBody>
      </p:sp>
      <p:sp>
        <p:nvSpPr>
          <p:cNvPr id="26627" name="Content Placeholder 2"/>
          <p:cNvSpPr>
            <a:spLocks noGrp="1"/>
          </p:cNvSpPr>
          <p:nvPr>
            <p:ph idx="1"/>
          </p:nvPr>
        </p:nvSpPr>
        <p:spPr/>
        <p:txBody>
          <a:bodyPr>
            <a:normAutofit fontScale="85000" lnSpcReduction="20000"/>
          </a:bodyPr>
          <a:lstStyle/>
          <a:p>
            <a:pPr>
              <a:lnSpc>
                <a:spcPct val="150000"/>
              </a:lnSpc>
            </a:pPr>
            <a:r>
              <a:rPr lang="en-US" altLang="en-US" sz="2400" dirty="0"/>
              <a:t>Design for </a:t>
            </a:r>
            <a:r>
              <a:rPr lang="en-US" altLang="en-US" sz="2400" b="1" i="1" dirty="0"/>
              <a:t>Moore’s Law</a:t>
            </a:r>
          </a:p>
          <a:p>
            <a:pPr>
              <a:lnSpc>
                <a:spcPct val="150000"/>
              </a:lnSpc>
            </a:pPr>
            <a:r>
              <a:rPr lang="en-US" altLang="en-US" sz="2400" dirty="0"/>
              <a:t>Use </a:t>
            </a:r>
            <a:r>
              <a:rPr lang="en-US" altLang="en-US" sz="2400" b="1" i="1" dirty="0"/>
              <a:t>abstraction</a:t>
            </a:r>
            <a:r>
              <a:rPr lang="en-US" altLang="en-US" sz="2400" dirty="0"/>
              <a:t> to simplify design</a:t>
            </a:r>
          </a:p>
          <a:p>
            <a:pPr>
              <a:lnSpc>
                <a:spcPct val="150000"/>
              </a:lnSpc>
            </a:pPr>
            <a:r>
              <a:rPr lang="en-US" altLang="en-US" sz="2400" dirty="0"/>
              <a:t>Make the </a:t>
            </a:r>
            <a:r>
              <a:rPr lang="en-US" altLang="en-US" sz="2400" b="1" i="1" dirty="0"/>
              <a:t>common case fast</a:t>
            </a:r>
          </a:p>
          <a:p>
            <a:pPr>
              <a:lnSpc>
                <a:spcPct val="150000"/>
              </a:lnSpc>
            </a:pPr>
            <a:r>
              <a:rPr lang="en-US" altLang="en-US" sz="2400" dirty="0"/>
              <a:t>Performance </a:t>
            </a:r>
            <a:r>
              <a:rPr lang="en-US" altLang="en-US" sz="2400" i="1" dirty="0"/>
              <a:t>via</a:t>
            </a:r>
            <a:r>
              <a:rPr lang="en-US" altLang="en-US" sz="2400" dirty="0"/>
              <a:t> </a:t>
            </a:r>
            <a:r>
              <a:rPr lang="en-US" altLang="en-US" sz="2400" b="1" i="1" dirty="0"/>
              <a:t>parallelism</a:t>
            </a:r>
          </a:p>
          <a:p>
            <a:pPr>
              <a:lnSpc>
                <a:spcPct val="150000"/>
              </a:lnSpc>
            </a:pPr>
            <a:r>
              <a:rPr lang="en-US" altLang="en-US" sz="2400" dirty="0"/>
              <a:t>Performance </a:t>
            </a:r>
            <a:r>
              <a:rPr lang="en-US" altLang="en-US" sz="2400" i="1" dirty="0"/>
              <a:t>via</a:t>
            </a:r>
            <a:r>
              <a:rPr lang="en-US" altLang="en-US" sz="2400" dirty="0"/>
              <a:t> </a:t>
            </a:r>
            <a:r>
              <a:rPr lang="en-US" altLang="en-US" sz="2400" b="1" i="1" dirty="0"/>
              <a:t>pipelining</a:t>
            </a:r>
          </a:p>
          <a:p>
            <a:pPr>
              <a:lnSpc>
                <a:spcPct val="150000"/>
              </a:lnSpc>
            </a:pPr>
            <a:r>
              <a:rPr lang="en-US" altLang="en-US" sz="2400" dirty="0"/>
              <a:t>Performance </a:t>
            </a:r>
            <a:r>
              <a:rPr lang="en-US" altLang="en-US" sz="2400" i="1" dirty="0"/>
              <a:t>via</a:t>
            </a:r>
            <a:r>
              <a:rPr lang="en-US" altLang="en-US" sz="2400" dirty="0"/>
              <a:t> </a:t>
            </a:r>
            <a:r>
              <a:rPr lang="en-US" altLang="en-US" sz="2400" b="1" i="1" dirty="0"/>
              <a:t>prediction</a:t>
            </a:r>
          </a:p>
          <a:p>
            <a:pPr>
              <a:lnSpc>
                <a:spcPct val="150000"/>
              </a:lnSpc>
            </a:pPr>
            <a:r>
              <a:rPr lang="en-US" altLang="en-US" sz="2400" b="1" i="1" dirty="0"/>
              <a:t>Hierarchy</a:t>
            </a:r>
            <a:r>
              <a:rPr lang="en-US" altLang="en-US" sz="2400" dirty="0"/>
              <a:t> of memories</a:t>
            </a:r>
          </a:p>
          <a:p>
            <a:pPr>
              <a:lnSpc>
                <a:spcPct val="150000"/>
              </a:lnSpc>
            </a:pPr>
            <a:r>
              <a:rPr lang="en-US" altLang="en-US" sz="2400" b="1" i="1" dirty="0"/>
              <a:t>Dependability</a:t>
            </a:r>
            <a:r>
              <a:rPr lang="en-US" altLang="en-US" sz="2400" dirty="0"/>
              <a:t> </a:t>
            </a:r>
            <a:r>
              <a:rPr lang="en-US" altLang="en-US" sz="2400" i="1" dirty="0"/>
              <a:t>via</a:t>
            </a:r>
            <a:r>
              <a:rPr lang="en-US" altLang="en-US" sz="2400" dirty="0"/>
              <a:t> redundancy</a:t>
            </a:r>
          </a:p>
        </p:txBody>
      </p:sp>
      <p:pic>
        <p:nvPicPr>
          <p:cNvPr id="26629"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08888" y="1112838"/>
            <a:ext cx="6477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80438" y="1760538"/>
            <a:ext cx="576262"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9350" y="2389188"/>
            <a:ext cx="8588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9000" y="2997200"/>
            <a:ext cx="7191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81900" y="3597276"/>
            <a:ext cx="6985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20113" y="4197350"/>
            <a:ext cx="690562"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5"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35863" y="4808538"/>
            <a:ext cx="7874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6"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9464" y="5586413"/>
            <a:ext cx="92233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983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861EA2-C8CB-0C91-B9D1-57AA6E3DB5B0}"/>
              </a:ext>
            </a:extLst>
          </p:cNvPr>
          <p:cNvPicPr>
            <a:picLocks noGrp="1" noChangeAspect="1"/>
          </p:cNvPicPr>
          <p:nvPr>
            <p:ph idx="1"/>
          </p:nvPr>
        </p:nvPicPr>
        <p:blipFill>
          <a:blip r:embed="rId2"/>
          <a:stretch>
            <a:fillRect/>
          </a:stretch>
        </p:blipFill>
        <p:spPr>
          <a:xfrm>
            <a:off x="238730" y="236483"/>
            <a:ext cx="9835685" cy="6321972"/>
          </a:xfrm>
        </p:spPr>
      </p:pic>
    </p:spTree>
    <p:extLst>
      <p:ext uri="{BB962C8B-B14F-4D97-AF65-F5344CB8AC3E}">
        <p14:creationId xmlns:p14="http://schemas.microsoft.com/office/powerpoint/2010/main" val="1799169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05EE-53C2-4EEC-5F3E-72502DBCBE1E}"/>
              </a:ext>
            </a:extLst>
          </p:cNvPr>
          <p:cNvSpPr>
            <a:spLocks noGrp="1"/>
          </p:cNvSpPr>
          <p:nvPr>
            <p:ph type="title"/>
          </p:nvPr>
        </p:nvSpPr>
        <p:spPr/>
        <p:txBody>
          <a:bodyPr/>
          <a:lstStyle/>
          <a:p>
            <a:r>
              <a:rPr lang="en-US" dirty="0"/>
              <a:t>1.</a:t>
            </a:r>
            <a:r>
              <a:rPr lang="en-US" b="0" i="0" dirty="0">
                <a:solidFill>
                  <a:srgbClr val="080809"/>
                </a:solidFill>
                <a:effectLst/>
                <a:latin typeface="Roboto" panose="02000000000000000000" pitchFamily="2" charset="0"/>
              </a:rPr>
              <a:t> </a:t>
            </a:r>
            <a:r>
              <a:rPr lang="en-US" b="1" i="0" dirty="0">
                <a:solidFill>
                  <a:schemeClr val="accent4">
                    <a:lumMod val="75000"/>
                  </a:schemeClr>
                </a:solidFill>
                <a:effectLst/>
                <a:latin typeface="Roboto" panose="02000000000000000000" pitchFamily="2" charset="0"/>
              </a:rPr>
              <a:t>Instruction set architecture (ISA)</a:t>
            </a:r>
            <a:br>
              <a:rPr lang="en-US" b="1" i="0" dirty="0">
                <a:solidFill>
                  <a:srgbClr val="080809"/>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F600A4E3-7AAE-8F20-A82E-F9212B82E3A6}"/>
              </a:ext>
            </a:extLst>
          </p:cNvPr>
          <p:cNvSpPr>
            <a:spLocks noGrp="1"/>
          </p:cNvSpPr>
          <p:nvPr>
            <p:ph idx="1"/>
          </p:nvPr>
        </p:nvSpPr>
        <p:spPr>
          <a:xfrm>
            <a:off x="0" y="1213946"/>
            <a:ext cx="12192000" cy="5644054"/>
          </a:xfrm>
        </p:spPr>
        <p:txBody>
          <a:bodyPr>
            <a:normAutofit/>
          </a:bodyPr>
          <a:lstStyle/>
          <a:p>
            <a:pPr algn="l" fontAlgn="base">
              <a:lnSpc>
                <a:spcPts val="3450"/>
              </a:lnSpc>
              <a:spcBef>
                <a:spcPts val="1500"/>
              </a:spcBef>
              <a:spcAft>
                <a:spcPts val="1800"/>
              </a:spcAft>
            </a:pPr>
            <a:r>
              <a:rPr lang="en-US" b="0" i="0" dirty="0">
                <a:solidFill>
                  <a:srgbClr val="080809"/>
                </a:solidFill>
                <a:effectLst/>
                <a:latin typeface="Times New Roman" panose="02020603050405020304" pitchFamily="18" charset="0"/>
                <a:cs typeface="Times New Roman" panose="02020603050405020304" pitchFamily="18" charset="0"/>
              </a:rPr>
              <a:t>Instruction set architecture (ISA) is a bridge between the software and hardware of a computer. It functions as a programmer’s viewpoint on a machine. </a:t>
            </a:r>
          </a:p>
          <a:p>
            <a:pPr algn="l" fontAlgn="base">
              <a:lnSpc>
                <a:spcPts val="3450"/>
              </a:lnSpc>
              <a:spcBef>
                <a:spcPts val="1500"/>
              </a:spcBef>
              <a:spcAft>
                <a:spcPts val="1800"/>
              </a:spcAft>
            </a:pPr>
            <a:r>
              <a:rPr lang="en-US" b="0" i="0" dirty="0">
                <a:solidFill>
                  <a:srgbClr val="080809"/>
                </a:solidFill>
                <a:effectLst/>
                <a:latin typeface="Times New Roman" panose="02020603050405020304" pitchFamily="18" charset="0"/>
                <a:cs typeface="Times New Roman" panose="02020603050405020304" pitchFamily="18" charset="0"/>
              </a:rPr>
              <a:t>Computers can only comprehend binary language </a:t>
            </a:r>
            <a:r>
              <a:rPr lang="en-US" b="1" i="0" dirty="0">
                <a:solidFill>
                  <a:srgbClr val="080809"/>
                </a:solidFill>
                <a:effectLst/>
                <a:latin typeface="Times New Roman" panose="02020603050405020304" pitchFamily="18" charset="0"/>
                <a:cs typeface="Times New Roman" panose="02020603050405020304" pitchFamily="18" charset="0"/>
              </a:rPr>
              <a:t>(0 and 1), </a:t>
            </a:r>
            <a:r>
              <a:rPr lang="en-US" b="0" i="0" dirty="0">
                <a:solidFill>
                  <a:srgbClr val="080809"/>
                </a:solidFill>
                <a:effectLst/>
                <a:latin typeface="Times New Roman" panose="02020603050405020304" pitchFamily="18" charset="0"/>
                <a:cs typeface="Times New Roman" panose="02020603050405020304" pitchFamily="18" charset="0"/>
              </a:rPr>
              <a:t>but humans can comprehend high-level language (if-else, while, conditions, and the like). </a:t>
            </a:r>
          </a:p>
          <a:p>
            <a:pPr algn="l" fontAlgn="base">
              <a:lnSpc>
                <a:spcPts val="3450"/>
              </a:lnSpc>
              <a:spcBef>
                <a:spcPts val="1500"/>
              </a:spcBef>
              <a:spcAft>
                <a:spcPts val="1800"/>
              </a:spcAft>
            </a:pPr>
            <a:r>
              <a:rPr lang="en-US" b="0" i="0" dirty="0">
                <a:solidFill>
                  <a:srgbClr val="080809"/>
                </a:solidFill>
                <a:effectLst/>
                <a:latin typeface="Times New Roman" panose="02020603050405020304" pitchFamily="18" charset="0"/>
                <a:cs typeface="Times New Roman" panose="02020603050405020304" pitchFamily="18" charset="0"/>
              </a:rPr>
              <a:t>Consequently, ISA plays a crucial role in user-computer communications by translating </a:t>
            </a:r>
            <a:r>
              <a:rPr lang="en-US" b="1" i="0" dirty="0">
                <a:solidFill>
                  <a:srgbClr val="080809"/>
                </a:solidFill>
                <a:effectLst/>
                <a:latin typeface="Times New Roman" panose="02020603050405020304" pitchFamily="18" charset="0"/>
                <a:cs typeface="Times New Roman" panose="02020603050405020304" pitchFamily="18" charset="0"/>
              </a:rPr>
              <a:t>high-level language into binary language.</a:t>
            </a:r>
          </a:p>
          <a:p>
            <a:endParaRPr lang="en-IN" dirty="0"/>
          </a:p>
        </p:txBody>
      </p:sp>
    </p:spTree>
    <p:extLst>
      <p:ext uri="{BB962C8B-B14F-4D97-AF65-F5344CB8AC3E}">
        <p14:creationId xmlns:p14="http://schemas.microsoft.com/office/powerpoint/2010/main" val="386772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9D83E4-9907-2BAC-93B5-EC8989BA0F35}"/>
              </a:ext>
            </a:extLst>
          </p:cNvPr>
          <p:cNvSpPr>
            <a:spLocks noGrp="1"/>
          </p:cNvSpPr>
          <p:nvPr>
            <p:ph idx="1"/>
          </p:nvPr>
        </p:nvSpPr>
        <p:spPr>
          <a:xfrm>
            <a:off x="0" y="110358"/>
            <a:ext cx="12076386" cy="6747641"/>
          </a:xfrm>
        </p:spPr>
        <p:txBody>
          <a:bodyPr/>
          <a:lstStyle/>
          <a:p>
            <a:pPr algn="l" fontAlgn="base">
              <a:lnSpc>
                <a:spcPts val="2475"/>
              </a:lnSpc>
              <a:spcAft>
                <a:spcPts val="1500"/>
              </a:spcAft>
              <a:buFont typeface="Arial" panose="020B0604020202020204" pitchFamily="34" charset="0"/>
              <a:buChar char="•"/>
            </a:pPr>
            <a:endParaRPr lang="en-US" b="1" i="0" dirty="0">
              <a:solidFill>
                <a:srgbClr val="0D0D0D"/>
              </a:solidFill>
              <a:effectLst/>
              <a:latin typeface="PT Serif" panose="020A0603040505020204" pitchFamily="18" charset="0"/>
            </a:endParaRPr>
          </a:p>
          <a:p>
            <a:pPr algn="l" fontAlgn="base">
              <a:lnSpc>
                <a:spcPts val="2475"/>
              </a:lnSpc>
              <a:spcAft>
                <a:spcPts val="1500"/>
              </a:spcAft>
              <a:buFont typeface="Arial" panose="020B0604020202020204" pitchFamily="34" charset="0"/>
              <a:buChar char="•"/>
            </a:pPr>
            <a:endParaRPr lang="en-US" b="1" dirty="0">
              <a:solidFill>
                <a:srgbClr val="0D0D0D"/>
              </a:solidFill>
              <a:latin typeface="PT Serif" panose="020A0603040505020204" pitchFamily="18" charset="0"/>
            </a:endParaRPr>
          </a:p>
          <a:p>
            <a:pPr algn="l" fontAlgn="base">
              <a:lnSpc>
                <a:spcPts val="2475"/>
              </a:lnSpc>
              <a:spcAft>
                <a:spcPts val="1500"/>
              </a:spcAft>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Arithmetic/logic instructions:</a:t>
            </a:r>
            <a:r>
              <a:rPr lang="en-US" b="0" i="0" dirty="0">
                <a:solidFill>
                  <a:srgbClr val="0D0D0D"/>
                </a:solidFill>
                <a:effectLst/>
                <a:latin typeface="Times New Roman" panose="02020603050405020304" pitchFamily="18" charset="0"/>
                <a:cs typeface="Times New Roman" panose="02020603050405020304" pitchFamily="18" charset="0"/>
              </a:rPr>
              <a:t> These instructions execute various mathematical or logical processing elements solely on a single or maybe more operands (data inputs).</a:t>
            </a:r>
          </a:p>
          <a:p>
            <a:pPr algn="l" fontAlgn="base">
              <a:lnSpc>
                <a:spcPts val="2475"/>
              </a:lnSpc>
              <a:spcAft>
                <a:spcPts val="1500"/>
              </a:spcAft>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Data transfer instructions:</a:t>
            </a:r>
            <a:r>
              <a:rPr lang="en-US" b="0" i="0" dirty="0">
                <a:solidFill>
                  <a:srgbClr val="0D0D0D"/>
                </a:solidFill>
                <a:effectLst/>
                <a:latin typeface="Times New Roman" panose="02020603050405020304" pitchFamily="18" charset="0"/>
                <a:cs typeface="Times New Roman" panose="02020603050405020304" pitchFamily="18" charset="0"/>
              </a:rPr>
              <a:t> These instructions move commands from the memory or into the processor registers, or vice versa.</a:t>
            </a:r>
          </a:p>
          <a:p>
            <a:pPr algn="l" fontAlgn="base">
              <a:lnSpc>
                <a:spcPts val="2475"/>
              </a:lnSpc>
              <a:spcAft>
                <a:spcPts val="150"/>
              </a:spcAft>
              <a:buFont typeface="Arial" panose="020B0604020202020204" pitchFamily="34" charset="0"/>
              <a:buChar char="•"/>
            </a:pPr>
            <a:r>
              <a:rPr lang="en-US" b="1" i="0" dirty="0">
                <a:solidFill>
                  <a:srgbClr val="0D0D0D"/>
                </a:solidFill>
                <a:effectLst/>
                <a:latin typeface="Times New Roman" panose="02020603050405020304" pitchFamily="18" charset="0"/>
                <a:cs typeface="Times New Roman" panose="02020603050405020304" pitchFamily="18" charset="0"/>
              </a:rPr>
              <a:t>Branch and jump instructions:</a:t>
            </a:r>
            <a:r>
              <a:rPr lang="en-US" b="0" i="0" dirty="0">
                <a:solidFill>
                  <a:srgbClr val="0D0D0D"/>
                </a:solidFill>
                <a:effectLst/>
                <a:latin typeface="Times New Roman" panose="02020603050405020304" pitchFamily="18" charset="0"/>
                <a:cs typeface="Times New Roman" panose="02020603050405020304" pitchFamily="18" charset="0"/>
              </a:rPr>
              <a:t> These instructions are essential to interrupt the logical sequence of instructions and jump to other destinations.</a:t>
            </a:r>
          </a:p>
          <a:p>
            <a:endParaRPr lang="en-IN" dirty="0"/>
          </a:p>
        </p:txBody>
      </p:sp>
    </p:spTree>
    <p:extLst>
      <p:ext uri="{BB962C8B-B14F-4D97-AF65-F5344CB8AC3E}">
        <p14:creationId xmlns:p14="http://schemas.microsoft.com/office/powerpoint/2010/main" val="1425836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82B6-4B34-C657-A84F-C8518FCCE3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250E31A-2679-4CFF-AB6A-5923836B76AF}"/>
              </a:ext>
            </a:extLst>
          </p:cNvPr>
          <p:cNvSpPr>
            <a:spLocks noGrp="1"/>
          </p:cNvSpPr>
          <p:nvPr>
            <p:ph idx="1"/>
          </p:nvPr>
        </p:nvSpPr>
        <p:spPr/>
        <p:txBody>
          <a:bodyPr/>
          <a:lstStyle/>
          <a:p>
            <a:pPr algn="l" fontAlgn="base">
              <a:lnSpc>
                <a:spcPts val="3450"/>
              </a:lnSpc>
              <a:spcBef>
                <a:spcPts val="1500"/>
              </a:spcBef>
              <a:spcAft>
                <a:spcPts val="1800"/>
              </a:spcAft>
            </a:pPr>
            <a:r>
              <a:rPr lang="en-US" b="1" dirty="0">
                <a:solidFill>
                  <a:schemeClr val="accent4">
                    <a:lumMod val="75000"/>
                  </a:schemeClr>
                </a:solidFill>
                <a:latin typeface="Roboto" panose="02000000000000000000" pitchFamily="2" charset="0"/>
              </a:rPr>
              <a:t>2. </a:t>
            </a:r>
            <a:r>
              <a:rPr lang="en-US" b="1" i="0" dirty="0">
                <a:solidFill>
                  <a:schemeClr val="accent4">
                    <a:lumMod val="75000"/>
                  </a:schemeClr>
                </a:solidFill>
                <a:effectLst/>
                <a:latin typeface="Roboto" panose="02000000000000000000" pitchFamily="2" charset="0"/>
              </a:rPr>
              <a:t>Microarchitecture</a:t>
            </a:r>
          </a:p>
          <a:p>
            <a:pPr algn="l" fontAlgn="base">
              <a:lnSpc>
                <a:spcPct val="100000"/>
              </a:lnSpc>
              <a:spcAft>
                <a:spcPts val="3000"/>
              </a:spcAft>
            </a:pPr>
            <a:r>
              <a:rPr lang="en-US" b="0" i="0" dirty="0">
                <a:solidFill>
                  <a:srgbClr val="080809"/>
                </a:solidFill>
                <a:effectLst/>
                <a:latin typeface="PT Serif" panose="020A0603040505020204" pitchFamily="18" charset="0"/>
              </a:rPr>
              <a:t>Microarchitecture, unlike ISA, focuses on the implementation of how instructions will be executed at a lower level. This is influenced by the microprocessor’s structural design.</a:t>
            </a:r>
          </a:p>
          <a:p>
            <a:endParaRPr lang="en-IN" dirty="0"/>
          </a:p>
        </p:txBody>
      </p:sp>
    </p:spTree>
    <p:extLst>
      <p:ext uri="{BB962C8B-B14F-4D97-AF65-F5344CB8AC3E}">
        <p14:creationId xmlns:p14="http://schemas.microsoft.com/office/powerpoint/2010/main" val="1108503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985D5-F60F-16EA-1C2D-FA638974C310}"/>
              </a:ext>
            </a:extLst>
          </p:cNvPr>
          <p:cNvSpPr>
            <a:spLocks noGrp="1"/>
          </p:cNvSpPr>
          <p:nvPr>
            <p:ph type="title"/>
          </p:nvPr>
        </p:nvSpPr>
        <p:spPr>
          <a:xfrm>
            <a:off x="838200" y="365125"/>
            <a:ext cx="10515600" cy="801523"/>
          </a:xfrm>
        </p:spPr>
        <p:txBody>
          <a:bodyPr>
            <a:normAutofit fontScale="90000"/>
          </a:bodyPr>
          <a:lstStyle/>
          <a:p>
            <a:r>
              <a:rPr lang="en-US" b="0" i="0" dirty="0">
                <a:solidFill>
                  <a:srgbClr val="080809"/>
                </a:solidFill>
                <a:effectLst/>
                <a:latin typeface="Roboto" panose="02000000000000000000" pitchFamily="2" charset="0"/>
              </a:rPr>
              <a:t>3. Client-server architecture</a:t>
            </a:r>
            <a:br>
              <a:rPr lang="en-US" b="1" i="0" dirty="0">
                <a:solidFill>
                  <a:srgbClr val="080809"/>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802F0ED6-F9B8-F2E0-95B6-249F28FA98D6}"/>
              </a:ext>
            </a:extLst>
          </p:cNvPr>
          <p:cNvSpPr>
            <a:spLocks noGrp="1"/>
          </p:cNvSpPr>
          <p:nvPr>
            <p:ph idx="1"/>
          </p:nvPr>
        </p:nvSpPr>
        <p:spPr>
          <a:xfrm>
            <a:off x="0" y="930166"/>
            <a:ext cx="12192000" cy="5927834"/>
          </a:xfrm>
        </p:spPr>
        <p:txBody>
          <a:bodyPr>
            <a:normAutofit fontScale="85000" lnSpcReduction="20000"/>
          </a:bodyPr>
          <a:lstStyle/>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Multiple clients (remote processors) may request and get services from a single, centralized server in a client-server system (host computer).</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 Client computers allow users to request services from the server and receive the server’s reply. Servers receive and react to client inquiries.</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A server should provide clients with a standardized, transparent interface so that they are unaware of the system’s features (software and hardware components) that are used to provide the service.</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Clients are often located on desktops or laptops, while servers are typically located somewhere else on the network, on more powerful hardware.</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 This computer architecture is most efficient when the clients and the servers frequently perform pre-specified responsibilities.</a:t>
            </a:r>
          </a:p>
          <a:p>
            <a:endParaRPr lang="en-IN" dirty="0"/>
          </a:p>
        </p:txBody>
      </p:sp>
    </p:spTree>
    <p:extLst>
      <p:ext uri="{BB962C8B-B14F-4D97-AF65-F5344CB8AC3E}">
        <p14:creationId xmlns:p14="http://schemas.microsoft.com/office/powerpoint/2010/main" val="3079800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C0B6-321D-C3B6-4837-9C77ADF28F41}"/>
              </a:ext>
            </a:extLst>
          </p:cNvPr>
          <p:cNvSpPr>
            <a:spLocks noGrp="1"/>
          </p:cNvSpPr>
          <p:nvPr>
            <p:ph type="title"/>
          </p:nvPr>
        </p:nvSpPr>
        <p:spPr/>
        <p:txBody>
          <a:bodyPr>
            <a:normAutofit fontScale="90000"/>
          </a:bodyPr>
          <a:lstStyle/>
          <a:p>
            <a:r>
              <a:rPr lang="en-US" b="0" i="0" dirty="0">
                <a:solidFill>
                  <a:srgbClr val="080809"/>
                </a:solidFill>
                <a:effectLst/>
                <a:latin typeface="Roboto" panose="02000000000000000000" pitchFamily="2" charset="0"/>
              </a:rPr>
              <a:t>4. Single instruction, multiple data (SIMD) architecture</a:t>
            </a:r>
            <a:br>
              <a:rPr lang="en-US" b="1" i="0" dirty="0">
                <a:solidFill>
                  <a:srgbClr val="080809"/>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5648FD24-C9C6-4B94-8679-B962DC3453E3}"/>
              </a:ext>
            </a:extLst>
          </p:cNvPr>
          <p:cNvSpPr>
            <a:spLocks noGrp="1"/>
          </p:cNvSpPr>
          <p:nvPr>
            <p:ph idx="1"/>
          </p:nvPr>
        </p:nvSpPr>
        <p:spPr/>
        <p:txBody>
          <a:bodyPr>
            <a:normAutofit fontScale="85000" lnSpcReduction="20000"/>
          </a:bodyPr>
          <a:lstStyle/>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Single instruction, multiple data (SIMD) computer systems can process multiple data points concurrently. </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This cleared the path for </a:t>
            </a:r>
            <a:r>
              <a:rPr lang="en-US" b="0" i="0" u="sng" dirty="0">
                <a:solidFill>
                  <a:srgbClr val="007FA2"/>
                </a:solidFill>
                <a:effectLst/>
                <a:latin typeface="Times New Roman" panose="02020603050405020304" pitchFamily="18" charset="0"/>
                <a:cs typeface="Times New Roman" panose="02020603050405020304" pitchFamily="18" charset="0"/>
                <a:hlinkClick r:id="rId2" tooltip="supercomputers"/>
              </a:rPr>
              <a:t>supercomputers</a:t>
            </a:r>
            <a:r>
              <a:rPr lang="en-US" b="0" i="0" dirty="0">
                <a:solidFill>
                  <a:srgbClr val="080809"/>
                </a:solidFill>
                <a:effectLst/>
                <a:latin typeface="Times New Roman" panose="02020603050405020304" pitchFamily="18" charset="0"/>
                <a:cs typeface="Times New Roman" panose="02020603050405020304" pitchFamily="18" charset="0"/>
              </a:rPr>
              <a:t> and other devices with incredible performance capabilities. </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In this form of design, all processors receive an identical command from the control unit yet operate on distinct data packets. </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The shared memory unit requires numerous modules to interact with all CPUs concurrently</a:t>
            </a:r>
          </a:p>
          <a:p>
            <a:endParaRPr lang="en-IN" dirty="0"/>
          </a:p>
        </p:txBody>
      </p:sp>
    </p:spTree>
    <p:extLst>
      <p:ext uri="{BB962C8B-B14F-4D97-AF65-F5344CB8AC3E}">
        <p14:creationId xmlns:p14="http://schemas.microsoft.com/office/powerpoint/2010/main" val="2403081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CA7D0-D2F7-74A4-6B07-AE3A8D57A3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C72CFC-661E-2979-DBE2-7F8E91968991}"/>
              </a:ext>
            </a:extLst>
          </p:cNvPr>
          <p:cNvSpPr>
            <a:spLocks noGrp="1"/>
          </p:cNvSpPr>
          <p:nvPr>
            <p:ph idx="1"/>
          </p:nvPr>
        </p:nvSpPr>
        <p:spPr/>
        <p:txBody>
          <a:bodyPr>
            <a:normAutofit fontScale="92500" lnSpcReduction="10000"/>
          </a:bodyPr>
          <a:lstStyle/>
          <a:p>
            <a:pPr algn="l" fontAlgn="base">
              <a:lnSpc>
                <a:spcPct val="100000"/>
              </a:lnSpc>
              <a:spcBef>
                <a:spcPts val="1500"/>
              </a:spcBef>
              <a:spcAft>
                <a:spcPts val="1800"/>
              </a:spcAft>
            </a:pPr>
            <a:r>
              <a:rPr lang="en-US" b="1" i="0" dirty="0">
                <a:solidFill>
                  <a:srgbClr val="080809"/>
                </a:solidFill>
                <a:effectLst/>
                <a:latin typeface="Times New Roman" panose="02020603050405020304" pitchFamily="18" charset="0"/>
                <a:cs typeface="Times New Roman" panose="02020603050405020304" pitchFamily="18" charset="0"/>
              </a:rPr>
              <a:t>.5.Multicore architecture</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Multicore is a framework wherein a single physical processor has the logic of multiple processors. </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A multicore architecture integrates numerous processing cores onto only one integrated circuit.</a:t>
            </a:r>
          </a:p>
          <a:p>
            <a:pPr algn="l" fontAlgn="base">
              <a:lnSpc>
                <a:spcPct val="100000"/>
              </a:lnSpc>
              <a:spcAft>
                <a:spcPts val="3000"/>
              </a:spcAft>
            </a:pPr>
            <a:r>
              <a:rPr lang="en-US" b="0" i="0" dirty="0">
                <a:solidFill>
                  <a:srgbClr val="080809"/>
                </a:solidFill>
                <a:effectLst/>
                <a:latin typeface="Times New Roman" panose="02020603050405020304" pitchFamily="18" charset="0"/>
                <a:cs typeface="Times New Roman" panose="02020603050405020304" pitchFamily="18" charset="0"/>
              </a:rPr>
              <a:t> The goal is to develop a system capable of doing more tasks concurrently, improving overall system performance.</a:t>
            </a:r>
          </a:p>
          <a:p>
            <a:endParaRPr lang="en-IN" dirty="0"/>
          </a:p>
        </p:txBody>
      </p:sp>
    </p:spTree>
    <p:extLst>
      <p:ext uri="{BB962C8B-B14F-4D97-AF65-F5344CB8AC3E}">
        <p14:creationId xmlns:p14="http://schemas.microsoft.com/office/powerpoint/2010/main" val="3387794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89C77-7A26-563C-F3C9-34459D5EACA0}"/>
              </a:ext>
            </a:extLst>
          </p:cNvPr>
          <p:cNvSpPr>
            <a:spLocks noGrp="1"/>
          </p:cNvSpPr>
          <p:nvPr>
            <p:ph type="title"/>
          </p:nvPr>
        </p:nvSpPr>
        <p:spPr/>
        <p:txBody>
          <a:bodyPr/>
          <a:lstStyle/>
          <a:p>
            <a:r>
              <a:rPr lang="en-IN" b="1" i="0" dirty="0">
                <a:solidFill>
                  <a:srgbClr val="080809"/>
                </a:solidFill>
                <a:effectLst/>
                <a:latin typeface="Roboto" panose="02000000000000000000" pitchFamily="2" charset="0"/>
              </a:rPr>
              <a:t>Examples of Computer Architecture</a:t>
            </a:r>
            <a:endParaRPr lang="en-IN" dirty="0"/>
          </a:p>
        </p:txBody>
      </p:sp>
      <p:pic>
        <p:nvPicPr>
          <p:cNvPr id="5" name="Content Placeholder 4">
            <a:extLst>
              <a:ext uri="{FF2B5EF4-FFF2-40B4-BE49-F238E27FC236}">
                <a16:creationId xmlns:a16="http://schemas.microsoft.com/office/drawing/2014/main" id="{F2376233-33C1-D073-0C9B-2A6E30CC4A65}"/>
              </a:ext>
            </a:extLst>
          </p:cNvPr>
          <p:cNvPicPr>
            <a:picLocks noGrp="1" noChangeAspect="1"/>
          </p:cNvPicPr>
          <p:nvPr>
            <p:ph idx="1"/>
          </p:nvPr>
        </p:nvPicPr>
        <p:blipFill>
          <a:blip r:embed="rId2"/>
          <a:stretch>
            <a:fillRect/>
          </a:stretch>
        </p:blipFill>
        <p:spPr>
          <a:xfrm>
            <a:off x="2432211" y="1825625"/>
            <a:ext cx="7327577" cy="4351338"/>
          </a:xfrm>
          <a:prstGeom prst="rect">
            <a:avLst/>
          </a:prstGeom>
        </p:spPr>
      </p:pic>
    </p:spTree>
    <p:extLst>
      <p:ext uri="{BB962C8B-B14F-4D97-AF65-F5344CB8AC3E}">
        <p14:creationId xmlns:p14="http://schemas.microsoft.com/office/powerpoint/2010/main" val="1835675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9C401-8035-4A30-4945-9AFD4AE330A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824D2F8-FC79-010F-149E-0C8DE88B9271}"/>
              </a:ext>
            </a:extLst>
          </p:cNvPr>
          <p:cNvPicPr>
            <a:picLocks noGrp="1" noChangeAspect="1"/>
          </p:cNvPicPr>
          <p:nvPr>
            <p:ph idx="1"/>
          </p:nvPr>
        </p:nvPicPr>
        <p:blipFill>
          <a:blip r:embed="rId2"/>
          <a:stretch>
            <a:fillRect/>
          </a:stretch>
        </p:blipFill>
        <p:spPr>
          <a:xfrm>
            <a:off x="424601" y="0"/>
            <a:ext cx="9886047" cy="6974819"/>
          </a:xfrm>
        </p:spPr>
      </p:pic>
    </p:spTree>
    <p:extLst>
      <p:ext uri="{BB962C8B-B14F-4D97-AF65-F5344CB8AC3E}">
        <p14:creationId xmlns:p14="http://schemas.microsoft.com/office/powerpoint/2010/main" val="809337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CC92-58FC-7832-BDB3-2312C116480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29AFA96-2841-F847-EB7B-C82CFE50D2FC}"/>
              </a:ext>
            </a:extLst>
          </p:cNvPr>
          <p:cNvPicPr>
            <a:picLocks noGrp="1" noChangeAspect="1"/>
          </p:cNvPicPr>
          <p:nvPr>
            <p:ph idx="1"/>
          </p:nvPr>
        </p:nvPicPr>
        <p:blipFill>
          <a:blip r:embed="rId2"/>
          <a:stretch>
            <a:fillRect/>
          </a:stretch>
        </p:blipFill>
        <p:spPr>
          <a:xfrm>
            <a:off x="291457" y="1690687"/>
            <a:ext cx="11509633" cy="4158319"/>
          </a:xfrm>
        </p:spPr>
      </p:pic>
    </p:spTree>
    <p:extLst>
      <p:ext uri="{BB962C8B-B14F-4D97-AF65-F5344CB8AC3E}">
        <p14:creationId xmlns:p14="http://schemas.microsoft.com/office/powerpoint/2010/main" val="25465849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91FB-D7BE-0E32-3FF4-C2342D262ACD}"/>
              </a:ext>
            </a:extLst>
          </p:cNvPr>
          <p:cNvSpPr>
            <a:spLocks noGrp="1"/>
          </p:cNvSpPr>
          <p:nvPr>
            <p:ph type="title"/>
          </p:nvPr>
        </p:nvSpPr>
        <p:spPr>
          <a:xfrm>
            <a:off x="0" y="0"/>
            <a:ext cx="10515600" cy="1325563"/>
          </a:xfrm>
        </p:spPr>
        <p:txBody>
          <a:bodyPr/>
          <a:lstStyle/>
          <a:p>
            <a:r>
              <a:rPr lang="en-US" b="1" dirty="0">
                <a:solidFill>
                  <a:schemeClr val="accent2">
                    <a:lumMod val="75000"/>
                  </a:schemeClr>
                </a:solidFill>
              </a:rPr>
              <a:t>Combinational and Sequential logic</a:t>
            </a:r>
            <a:endParaRPr lang="en-IN" b="1" dirty="0">
              <a:solidFill>
                <a:schemeClr val="accent2">
                  <a:lumMod val="75000"/>
                </a:schemeClr>
              </a:solidFill>
            </a:endParaRPr>
          </a:p>
        </p:txBody>
      </p:sp>
      <p:sp>
        <p:nvSpPr>
          <p:cNvPr id="3" name="Content Placeholder 2">
            <a:extLst>
              <a:ext uri="{FF2B5EF4-FFF2-40B4-BE49-F238E27FC236}">
                <a16:creationId xmlns:a16="http://schemas.microsoft.com/office/drawing/2014/main" id="{FC7BF384-8177-52B0-9870-5502FC05448C}"/>
              </a:ext>
            </a:extLst>
          </p:cNvPr>
          <p:cNvSpPr>
            <a:spLocks noGrp="1"/>
          </p:cNvSpPr>
          <p:nvPr>
            <p:ph idx="1"/>
          </p:nvPr>
        </p:nvSpPr>
        <p:spPr>
          <a:xfrm>
            <a:off x="0" y="1253330"/>
            <a:ext cx="12192000" cy="5604669"/>
          </a:xfrm>
        </p:spPr>
        <p:txBody>
          <a:bodyPr/>
          <a:lstStyle/>
          <a:p>
            <a:pPr marL="0" indent="0" algn="l" fontAlgn="base">
              <a:buNone/>
            </a:pPr>
            <a:r>
              <a:rPr lang="en-US" b="1" i="0" dirty="0">
                <a:solidFill>
                  <a:srgbClr val="273239"/>
                </a:solidFill>
                <a:effectLst/>
                <a:latin typeface="Nunito" pitchFamily="2" charset="0"/>
              </a:rPr>
              <a:t>What is Combinational Circuit?</a:t>
            </a:r>
          </a:p>
          <a:p>
            <a:pPr marL="0" indent="0" algn="l" fontAlgn="base">
              <a:buNone/>
            </a:pPr>
            <a:endParaRPr lang="en-US" b="1" i="0" dirty="0">
              <a:solidFill>
                <a:srgbClr val="273239"/>
              </a:solidFill>
              <a:effectLst/>
              <a:latin typeface="Nunito" pitchFamily="2" charset="0"/>
            </a:endParaRPr>
          </a:p>
          <a:p>
            <a:pPr algn="just" rtl="0" fontAlgn="base">
              <a:spcAft>
                <a:spcPts val="750"/>
              </a:spcAft>
            </a:pPr>
            <a:r>
              <a:rPr lang="en-US" b="0" i="0" dirty="0">
                <a:solidFill>
                  <a:srgbClr val="273239"/>
                </a:solidFill>
                <a:effectLst/>
                <a:latin typeface="Nunito" pitchFamily="2" charset="0"/>
              </a:rPr>
              <a:t>A combinational circuit is a kind of digital electronic circuit of which outputs depend on the present inputs and have no connections to the past inputs. </a:t>
            </a:r>
          </a:p>
          <a:p>
            <a:pPr algn="just" rtl="0" fontAlgn="base">
              <a:spcAft>
                <a:spcPts val="750"/>
              </a:spcAft>
            </a:pPr>
            <a:r>
              <a:rPr lang="en-US" b="0" i="0" dirty="0">
                <a:solidFill>
                  <a:srgbClr val="273239"/>
                </a:solidFill>
                <a:effectLst/>
                <a:latin typeface="Nunito" pitchFamily="2" charset="0"/>
              </a:rPr>
              <a:t>These circuits do such tasks as additions, subtractions and logically AND, OR and </a:t>
            </a:r>
            <a:r>
              <a:rPr lang="en-US" b="0" i="0" u="sng" dirty="0">
                <a:solidFill>
                  <a:srgbClr val="273239"/>
                </a:solidFill>
                <a:effectLst/>
                <a:latin typeface="Nunito" pitchFamily="2" charset="0"/>
                <a:hlinkClick r:id="rId2"/>
              </a:rPr>
              <a:t>NOR</a:t>
            </a:r>
            <a:r>
              <a:rPr lang="en-US" b="0" i="0" dirty="0">
                <a:solidFill>
                  <a:srgbClr val="273239"/>
                </a:solidFill>
                <a:effectLst/>
                <a:latin typeface="Nunito" pitchFamily="2" charset="0"/>
              </a:rPr>
              <a:t> circuits.</a:t>
            </a:r>
          </a:p>
          <a:p>
            <a:endParaRPr lang="en-IN" dirty="0"/>
          </a:p>
        </p:txBody>
      </p:sp>
      <p:pic>
        <p:nvPicPr>
          <p:cNvPr id="1026" name="Picture 2" descr="Lightbox">
            <a:extLst>
              <a:ext uri="{FF2B5EF4-FFF2-40B4-BE49-F238E27FC236}">
                <a16:creationId xmlns:a16="http://schemas.microsoft.com/office/drawing/2014/main" id="{2DF71B7A-E44D-A12E-CD53-498621666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2524" y="4261812"/>
            <a:ext cx="6316462" cy="2343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977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35B0E9-61FD-DC31-6E62-E4AF65A3DF0F}"/>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The key characteristics of combinational circuits include: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No Memory Elements:</a:t>
            </a:r>
            <a:r>
              <a:rPr lang="en-US" b="0" i="0" dirty="0">
                <a:solidFill>
                  <a:srgbClr val="273239"/>
                </a:solidFill>
                <a:effectLst/>
                <a:latin typeface="Nunito" pitchFamily="2" charset="0"/>
              </a:rPr>
              <a:t> The output is dependent solely on the current policy inputs.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Immediate Response:</a:t>
            </a:r>
            <a:r>
              <a:rPr lang="en-US" b="0" i="0" dirty="0">
                <a:solidFill>
                  <a:srgbClr val="273239"/>
                </a:solidFill>
                <a:effectLst/>
                <a:latin typeface="Nunito" pitchFamily="2" charset="0"/>
              </a:rPr>
              <a:t> Good input differs from its output and bad input differs from its output.</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Examples:</a:t>
            </a:r>
            <a:r>
              <a:rPr lang="en-US" b="0" i="0" dirty="0">
                <a:solidFill>
                  <a:srgbClr val="273239"/>
                </a:solidFill>
                <a:effectLst/>
                <a:latin typeface="Nunito" pitchFamily="2" charset="0"/>
              </a:rPr>
              <a:t> The most commonly encountered examples are adders, multiplexers and encoders.</a:t>
            </a:r>
          </a:p>
          <a:p>
            <a:endParaRPr lang="en-IN" dirty="0"/>
          </a:p>
        </p:txBody>
      </p:sp>
    </p:spTree>
    <p:extLst>
      <p:ext uri="{BB962C8B-B14F-4D97-AF65-F5344CB8AC3E}">
        <p14:creationId xmlns:p14="http://schemas.microsoft.com/office/powerpoint/2010/main" val="1797403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C19B-5701-8A89-78B2-BD4F849528F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2C4F21-F977-EC81-A4A5-2EDDFC5636D4}"/>
              </a:ext>
            </a:extLst>
          </p:cNvPr>
          <p:cNvSpPr>
            <a:spLocks noGrp="1"/>
          </p:cNvSpPr>
          <p:nvPr>
            <p:ph idx="1"/>
          </p:nvPr>
        </p:nvSpPr>
        <p:spPr/>
        <p:txBody>
          <a:bodyPr/>
          <a:lstStyle/>
          <a:p>
            <a:pPr algn="l" fontAlgn="base">
              <a:spcBef>
                <a:spcPts val="1800"/>
              </a:spcBef>
              <a:spcAft>
                <a:spcPts val="1800"/>
              </a:spcAft>
            </a:pPr>
            <a:r>
              <a:rPr lang="en-US" b="1" i="0" dirty="0">
                <a:solidFill>
                  <a:srgbClr val="273239"/>
                </a:solidFill>
                <a:effectLst/>
                <a:latin typeface="Nunito" pitchFamily="2" charset="0"/>
              </a:rPr>
              <a:t>Advantages of Combinational Circuits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Simplicity:</a:t>
            </a:r>
            <a:r>
              <a:rPr lang="en-US" b="0" i="0" dirty="0">
                <a:solidFill>
                  <a:srgbClr val="273239"/>
                </a:solidFill>
                <a:effectLst/>
                <a:latin typeface="Nunito" pitchFamily="2" charset="0"/>
              </a:rPr>
              <a:t> It is easier to design and implement more so because it lacks memory elements mainly.</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Speed:</a:t>
            </a:r>
            <a:r>
              <a:rPr lang="en-US" b="0" i="0" dirty="0">
                <a:solidFill>
                  <a:srgbClr val="273239"/>
                </a:solidFill>
                <a:effectLst/>
                <a:latin typeface="Nunito" pitchFamily="2" charset="0"/>
              </a:rPr>
              <a:t> Operational at a faster rate as the output automatically adjusts with the changes in inputs.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Resource Efficiency:</a:t>
            </a:r>
            <a:r>
              <a:rPr lang="en-US" b="0" i="0" dirty="0">
                <a:solidFill>
                  <a:srgbClr val="273239"/>
                </a:solidFill>
                <a:effectLst/>
                <a:latin typeface="Nunito" pitchFamily="2" charset="0"/>
              </a:rPr>
              <a:t> Generally it needs far fewer components as compared to its equivalent </a:t>
            </a:r>
            <a:r>
              <a:rPr lang="en-US" b="0" i="0" u="sng" dirty="0">
                <a:solidFill>
                  <a:srgbClr val="273239"/>
                </a:solidFill>
                <a:effectLst/>
                <a:latin typeface="Nunito" pitchFamily="2" charset="0"/>
                <a:hlinkClick r:id="rId2"/>
              </a:rPr>
              <a:t>sequential circuits</a:t>
            </a:r>
            <a:r>
              <a:rPr lang="en-US" b="0" i="0" dirty="0">
                <a:solidFill>
                  <a:srgbClr val="273239"/>
                </a:solidFill>
                <a:effectLst/>
                <a:latin typeface="Nunito" pitchFamily="2" charset="0"/>
              </a:rPr>
              <a:t>.</a:t>
            </a:r>
          </a:p>
          <a:p>
            <a:endParaRPr lang="en-IN" dirty="0"/>
          </a:p>
        </p:txBody>
      </p:sp>
    </p:spTree>
    <p:extLst>
      <p:ext uri="{BB962C8B-B14F-4D97-AF65-F5344CB8AC3E}">
        <p14:creationId xmlns:p14="http://schemas.microsoft.com/office/powerpoint/2010/main" val="1674727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1288-B1BA-44DB-F8E3-895F414DFE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338D35-4CAD-0D07-0B80-1A77CA509878}"/>
              </a:ext>
            </a:extLst>
          </p:cNvPr>
          <p:cNvSpPr>
            <a:spLocks noGrp="1"/>
          </p:cNvSpPr>
          <p:nvPr>
            <p:ph idx="1"/>
          </p:nvPr>
        </p:nvSpPr>
        <p:spPr/>
        <p:txBody>
          <a:bodyPr/>
          <a:lstStyle/>
          <a:p>
            <a:pPr algn="l" fontAlgn="base">
              <a:spcBef>
                <a:spcPts val="1800"/>
              </a:spcBef>
              <a:spcAft>
                <a:spcPts val="1800"/>
              </a:spcAft>
            </a:pPr>
            <a:r>
              <a:rPr lang="en-US" b="1" i="0" dirty="0">
                <a:solidFill>
                  <a:srgbClr val="273239"/>
                </a:solidFill>
                <a:effectLst/>
                <a:latin typeface="Nunito" pitchFamily="2" charset="0"/>
              </a:rPr>
              <a:t>Disadvantages of Combinational Circuits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Limited Functionality: </a:t>
            </a:r>
            <a:r>
              <a:rPr lang="en-US" b="0" i="0" dirty="0">
                <a:solidFill>
                  <a:srgbClr val="273239"/>
                </a:solidFill>
                <a:effectLst/>
                <a:latin typeface="Nunito" pitchFamily="2" charset="0"/>
              </a:rPr>
              <a:t>Is not able to perform operations that need historical information or sequence details.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Complexity with Increased Inputs: </a:t>
            </a:r>
            <a:r>
              <a:rPr lang="en-US" b="0" i="0" dirty="0">
                <a:solidFill>
                  <a:srgbClr val="273239"/>
                </a:solidFill>
                <a:effectLst/>
                <a:latin typeface="Nunito" pitchFamily="2" charset="0"/>
              </a:rPr>
              <a:t>It becomes difficult to design </a:t>
            </a:r>
            <a:r>
              <a:rPr lang="en-US" b="0" i="0" u="sng" dirty="0">
                <a:solidFill>
                  <a:srgbClr val="273239"/>
                </a:solidFill>
                <a:effectLst/>
                <a:latin typeface="Nunito" pitchFamily="2" charset="0"/>
                <a:hlinkClick r:id="rId2"/>
              </a:rPr>
              <a:t>combinational circuits</a:t>
            </a:r>
            <a:r>
              <a:rPr lang="en-US" b="0" i="0" dirty="0">
                <a:solidFill>
                  <a:srgbClr val="273239"/>
                </a:solidFill>
                <a:effectLst/>
                <a:latin typeface="Nunito" pitchFamily="2" charset="0"/>
              </a:rPr>
              <a:t> when there are many inputs.</a:t>
            </a:r>
          </a:p>
          <a:p>
            <a:endParaRPr lang="en-IN" dirty="0"/>
          </a:p>
        </p:txBody>
      </p:sp>
    </p:spTree>
    <p:extLst>
      <p:ext uri="{BB962C8B-B14F-4D97-AF65-F5344CB8AC3E}">
        <p14:creationId xmlns:p14="http://schemas.microsoft.com/office/powerpoint/2010/main" val="4288586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B1758-DCAB-FE73-05B6-70478490BA0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7D481F-9053-3E82-6594-2A497EF5F444}"/>
              </a:ext>
            </a:extLst>
          </p:cNvPr>
          <p:cNvSpPr>
            <a:spLocks noGrp="1"/>
          </p:cNvSpPr>
          <p:nvPr>
            <p:ph idx="1"/>
          </p:nvPr>
        </p:nvSpPr>
        <p:spPr>
          <a:xfrm>
            <a:off x="396765" y="1690688"/>
            <a:ext cx="10515600" cy="4351338"/>
          </a:xfrm>
        </p:spPr>
        <p:txBody>
          <a:bodyPr/>
          <a:lstStyle/>
          <a:p>
            <a:pPr algn="l" fontAlgn="base"/>
            <a:r>
              <a:rPr lang="en-US" b="1" i="0" dirty="0">
                <a:solidFill>
                  <a:srgbClr val="273239"/>
                </a:solidFill>
                <a:effectLst/>
                <a:latin typeface="Nunito" pitchFamily="2" charset="0"/>
              </a:rPr>
              <a:t>What is Sequential Circuit?</a:t>
            </a:r>
          </a:p>
          <a:p>
            <a:pPr algn="just" rtl="0" fontAlgn="base">
              <a:spcAft>
                <a:spcPts val="750"/>
              </a:spcAft>
            </a:pPr>
            <a:r>
              <a:rPr lang="en-US" b="0" i="0" dirty="0">
                <a:solidFill>
                  <a:srgbClr val="273239"/>
                </a:solidFill>
                <a:effectLst/>
                <a:latin typeface="Nunito" pitchFamily="2" charset="0"/>
              </a:rPr>
              <a:t>Sequential circuits are quite different from combinational circuits in the sense that they employ memory components. </a:t>
            </a:r>
          </a:p>
          <a:p>
            <a:pPr algn="just" rtl="0" fontAlgn="base">
              <a:spcAft>
                <a:spcPts val="750"/>
              </a:spcAft>
            </a:pPr>
            <a:r>
              <a:rPr lang="en-US" b="0" i="0" dirty="0">
                <a:solidFill>
                  <a:srgbClr val="273239"/>
                </a:solidFill>
                <a:effectLst/>
                <a:latin typeface="Nunito" pitchFamily="2" charset="0"/>
              </a:rPr>
              <a:t>A sequential circuit provides output based on current inputs as well as prior inputs; therefore, it is more functional.</a:t>
            </a:r>
          </a:p>
          <a:p>
            <a:endParaRPr lang="en-IN" dirty="0"/>
          </a:p>
        </p:txBody>
      </p:sp>
      <p:pic>
        <p:nvPicPr>
          <p:cNvPr id="2050" name="Picture 2" descr="Sequential Circuit">
            <a:extLst>
              <a:ext uri="{FF2B5EF4-FFF2-40B4-BE49-F238E27FC236}">
                <a16:creationId xmlns:a16="http://schemas.microsoft.com/office/drawing/2014/main" id="{E86BA6F8-4163-2F3D-C537-0759BA35E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853" y="4019549"/>
            <a:ext cx="4425512" cy="2748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0562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A9EC-B547-31C3-EB2B-998EFC6152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7798C0-28E2-DA11-A7F9-0C3D8DF21B38}"/>
              </a:ext>
            </a:extLst>
          </p:cNvPr>
          <p:cNvSpPr>
            <a:spLocks noGrp="1"/>
          </p:cNvSpPr>
          <p:nvPr>
            <p:ph idx="1"/>
          </p:nvPr>
        </p:nvSpPr>
        <p:spPr/>
        <p:txBody>
          <a:bodyPr/>
          <a:lstStyle/>
          <a:p>
            <a:pPr algn="l" fontAlgn="base">
              <a:spcBef>
                <a:spcPts val="1800"/>
              </a:spcBef>
              <a:spcAft>
                <a:spcPts val="1800"/>
              </a:spcAft>
            </a:pPr>
            <a:r>
              <a:rPr lang="en-US" b="1" i="0" dirty="0">
                <a:solidFill>
                  <a:srgbClr val="273239"/>
                </a:solidFill>
                <a:effectLst/>
                <a:latin typeface="Nunito" pitchFamily="2" charset="0"/>
              </a:rPr>
              <a:t>Advantages of Sequential Circuits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Memory Utilization: </a:t>
            </a:r>
            <a:r>
              <a:rPr lang="en-US" b="0" i="0" dirty="0">
                <a:solidFill>
                  <a:srgbClr val="273239"/>
                </a:solidFill>
                <a:effectLst/>
                <a:latin typeface="Nunito" pitchFamily="2" charset="0"/>
              </a:rPr>
              <a:t>Able to store the previous states in order to perform the operations.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Functional Versatility: </a:t>
            </a:r>
            <a:r>
              <a:rPr lang="en-US" b="0" i="0" dirty="0">
                <a:solidFill>
                  <a:srgbClr val="273239"/>
                </a:solidFill>
                <a:effectLst/>
                <a:latin typeface="Nunito" pitchFamily="2" charset="0"/>
              </a:rPr>
              <a:t>It is used for those tasks which need a series of operations, state machines, and </a:t>
            </a:r>
            <a:r>
              <a:rPr lang="en-US" b="0" i="0" u="sng" dirty="0">
                <a:solidFill>
                  <a:srgbClr val="273239"/>
                </a:solidFill>
                <a:effectLst/>
                <a:latin typeface="Nunito" pitchFamily="2" charset="0"/>
                <a:hlinkClick r:id="rId2"/>
              </a:rPr>
              <a:t>counters</a:t>
            </a:r>
            <a:r>
              <a:rPr lang="en-US" b="0" i="0" dirty="0">
                <a:solidFill>
                  <a:srgbClr val="273239"/>
                </a:solidFill>
                <a:effectLst/>
                <a:latin typeface="Nunito" pitchFamily="2" charset="0"/>
              </a:rPr>
              <a:t>.</a:t>
            </a:r>
          </a:p>
          <a:p>
            <a:endParaRPr lang="en-IN" dirty="0"/>
          </a:p>
        </p:txBody>
      </p:sp>
    </p:spTree>
    <p:extLst>
      <p:ext uri="{BB962C8B-B14F-4D97-AF65-F5344CB8AC3E}">
        <p14:creationId xmlns:p14="http://schemas.microsoft.com/office/powerpoint/2010/main" val="3584755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6F85-D3DA-6A2A-EEEF-E1D5394EC9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376A20-8115-C60E-4A1E-1F9AE557080F}"/>
              </a:ext>
            </a:extLst>
          </p:cNvPr>
          <p:cNvSpPr>
            <a:spLocks noGrp="1"/>
          </p:cNvSpPr>
          <p:nvPr>
            <p:ph idx="1"/>
          </p:nvPr>
        </p:nvSpPr>
        <p:spPr/>
        <p:txBody>
          <a:bodyPr/>
          <a:lstStyle/>
          <a:p>
            <a:pPr algn="l" fontAlgn="base">
              <a:spcBef>
                <a:spcPts val="1800"/>
              </a:spcBef>
              <a:spcAft>
                <a:spcPts val="1800"/>
              </a:spcAft>
            </a:pPr>
            <a:r>
              <a:rPr lang="en-US" b="1" i="0" dirty="0">
                <a:solidFill>
                  <a:srgbClr val="273239"/>
                </a:solidFill>
                <a:effectLst/>
                <a:latin typeface="Nunito" pitchFamily="2" charset="0"/>
              </a:rPr>
              <a:t>Disadvantages of Sequential Circuits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Complexity:</a:t>
            </a:r>
            <a:r>
              <a:rPr lang="en-US" b="0" i="0" dirty="0">
                <a:solidFill>
                  <a:srgbClr val="273239"/>
                </a:solidFill>
                <a:effectLst/>
                <a:latin typeface="Nunito" pitchFamily="2" charset="0"/>
              </a:rPr>
              <a:t> More difficult to design compared to counter-propagators due to the use of memory elements.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Slower Operation: </a:t>
            </a:r>
            <a:r>
              <a:rPr lang="en-US" b="0" i="0" dirty="0">
                <a:solidFill>
                  <a:srgbClr val="273239"/>
                </a:solidFill>
                <a:effectLst/>
                <a:latin typeface="Nunito" pitchFamily="2" charset="0"/>
              </a:rPr>
              <a:t>Output changes may represent a delay because often they require data processing from the past.</a:t>
            </a:r>
          </a:p>
          <a:p>
            <a:endParaRPr lang="en-IN" dirty="0"/>
          </a:p>
        </p:txBody>
      </p:sp>
    </p:spTree>
    <p:extLst>
      <p:ext uri="{BB962C8B-B14F-4D97-AF65-F5344CB8AC3E}">
        <p14:creationId xmlns:p14="http://schemas.microsoft.com/office/powerpoint/2010/main" val="1735199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6926097-1D72-DC5B-DAB4-EC9A0BA8209E}"/>
              </a:ext>
            </a:extLst>
          </p:cNvPr>
          <p:cNvGraphicFramePr>
            <a:graphicFrameLocks noGrp="1"/>
          </p:cNvGraphicFramePr>
          <p:nvPr>
            <p:ph idx="1"/>
            <p:extLst>
              <p:ext uri="{D42A27DB-BD31-4B8C-83A1-F6EECF244321}">
                <p14:modId xmlns:p14="http://schemas.microsoft.com/office/powerpoint/2010/main" val="3237252402"/>
              </p:ext>
            </p:extLst>
          </p:nvPr>
        </p:nvGraphicFramePr>
        <p:xfrm>
          <a:off x="126124" y="0"/>
          <a:ext cx="12065875" cy="6849358"/>
        </p:xfrm>
        <a:graphic>
          <a:graphicData uri="http://schemas.openxmlformats.org/drawingml/2006/table">
            <a:tbl>
              <a:tblPr/>
              <a:tblGrid>
                <a:gridCol w="2298261">
                  <a:extLst>
                    <a:ext uri="{9D8B030D-6E8A-4147-A177-3AD203B41FA5}">
                      <a16:colId xmlns:a16="http://schemas.microsoft.com/office/drawing/2014/main" val="3021993051"/>
                    </a:ext>
                  </a:extLst>
                </a:gridCol>
                <a:gridCol w="4883807">
                  <a:extLst>
                    <a:ext uri="{9D8B030D-6E8A-4147-A177-3AD203B41FA5}">
                      <a16:colId xmlns:a16="http://schemas.microsoft.com/office/drawing/2014/main" val="2272628374"/>
                    </a:ext>
                  </a:extLst>
                </a:gridCol>
                <a:gridCol w="4883807">
                  <a:extLst>
                    <a:ext uri="{9D8B030D-6E8A-4147-A177-3AD203B41FA5}">
                      <a16:colId xmlns:a16="http://schemas.microsoft.com/office/drawing/2014/main" val="839685334"/>
                    </a:ext>
                  </a:extLst>
                </a:gridCol>
              </a:tblGrid>
              <a:tr h="466571">
                <a:tc>
                  <a:txBody>
                    <a:bodyPr/>
                    <a:lstStyle/>
                    <a:p>
                      <a:pPr algn="ctr" rtl="0" fontAlgn="base">
                        <a:spcAft>
                          <a:spcPts val="750"/>
                        </a:spcAft>
                      </a:pPr>
                      <a:r>
                        <a:rPr lang="en-IN" sz="1600" b="1" dirty="0">
                          <a:effectLst/>
                          <a:latin typeface="Times New Roman" panose="02020603050405020304" pitchFamily="18" charset="0"/>
                          <a:cs typeface="Times New Roman" panose="02020603050405020304" pitchFamily="18" charset="0"/>
                        </a:rPr>
                        <a:t>Aspect</a:t>
                      </a:r>
                    </a:p>
                  </a:txBody>
                  <a:tcPr marL="29886" marR="29886" marT="74714" marB="74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Combinational Circuit</a:t>
                      </a:r>
                    </a:p>
                  </a:txBody>
                  <a:tcPr marL="74714" marR="74714" marT="74714" marB="74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Sequential Circuit</a:t>
                      </a:r>
                    </a:p>
                  </a:txBody>
                  <a:tcPr marL="74714" marR="74714" marT="74714" marB="74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53127508"/>
                  </a:ext>
                </a:extLst>
              </a:tr>
              <a:tr h="756356">
                <a:tc>
                  <a:txBody>
                    <a:bodyPr/>
                    <a:lstStyle/>
                    <a:p>
                      <a:pPr algn="ctr" rtl="0" fontAlgn="base">
                        <a:spcAft>
                          <a:spcPts val="750"/>
                        </a:spcAft>
                      </a:pPr>
                      <a:r>
                        <a:rPr lang="en-IN" sz="1600" b="1" dirty="0">
                          <a:effectLst/>
                          <a:latin typeface="Times New Roman" panose="02020603050405020304" pitchFamily="18" charset="0"/>
                          <a:cs typeface="Times New Roman" panose="02020603050405020304" pitchFamily="18" charset="0"/>
                        </a:rPr>
                        <a:t>Definition</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Output depends only on the current inputs.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a:effectLst/>
                          <a:latin typeface="Times New Roman" panose="02020603050405020304" pitchFamily="18" charset="0"/>
                          <a:cs typeface="Times New Roman" panose="02020603050405020304" pitchFamily="18" charset="0"/>
                        </a:rPr>
                        <a:t>Output depends on both current inputs and past states (memory).</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31732570"/>
                  </a:ext>
                </a:extLst>
              </a:tr>
              <a:tr h="532097">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Memory Elements</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a:effectLst/>
                          <a:latin typeface="Times New Roman" panose="02020603050405020304" pitchFamily="18" charset="0"/>
                          <a:cs typeface="Times New Roman" panose="02020603050405020304" pitchFamily="18" charset="0"/>
                        </a:rPr>
                        <a:t>Does not require memory elements.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a:effectLst/>
                          <a:latin typeface="Times New Roman" panose="02020603050405020304" pitchFamily="18" charset="0"/>
                          <a:cs typeface="Times New Roman" panose="02020603050405020304" pitchFamily="18" charset="0"/>
                        </a:rPr>
                        <a:t>Requires memory elements like flip-flops or latches.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19792569"/>
                  </a:ext>
                </a:extLst>
              </a:tr>
              <a:tr h="532097">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Timing Dependency</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Output is immediate, based on input changes.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a:effectLst/>
                          <a:latin typeface="Times New Roman" panose="02020603050405020304" pitchFamily="18" charset="0"/>
                          <a:cs typeface="Times New Roman" panose="02020603050405020304" pitchFamily="18" charset="0"/>
                        </a:rPr>
                        <a:t>Output is dependent on clock pulses and previous states.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24911803"/>
                  </a:ext>
                </a:extLst>
              </a:tr>
              <a:tr h="532097">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Clock Signal</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IN" sz="1600" b="0">
                          <a:effectLst/>
                          <a:latin typeface="Times New Roman" panose="02020603050405020304" pitchFamily="18" charset="0"/>
                          <a:cs typeface="Times New Roman" panose="02020603050405020304" pitchFamily="18" charset="0"/>
                        </a:rPr>
                        <a:t>No clock signal required.</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Requires a clock signal to synchronize state changes.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6874851"/>
                  </a:ext>
                </a:extLst>
              </a:tr>
              <a:tr h="532097">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Design Complexity</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Simpler design without the need for memory.</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a:effectLst/>
                          <a:latin typeface="Times New Roman" panose="02020603050405020304" pitchFamily="18" charset="0"/>
                          <a:cs typeface="Times New Roman" panose="02020603050405020304" pitchFamily="18" charset="0"/>
                        </a:rPr>
                        <a:t>More complex due to memory and clock management.</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50588898"/>
                  </a:ext>
                </a:extLst>
              </a:tr>
              <a:tr h="532097">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Speed</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Faster, as outputs change instantly with inputs.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Slower due to dependency on clock cycles and past states.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04947884"/>
                  </a:ext>
                </a:extLst>
              </a:tr>
              <a:tr h="756356">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Functionality</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Performs basic logical operations without sequence dependency.</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Performs operations that require sequences or timed events.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65538133"/>
                  </a:ext>
                </a:extLst>
              </a:tr>
              <a:tr h="532097">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Examples</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IN" sz="1600" b="0" u="sng">
                          <a:effectLst/>
                          <a:latin typeface="Times New Roman" panose="02020603050405020304" pitchFamily="18" charset="0"/>
                          <a:cs typeface="Times New Roman" panose="02020603050405020304" pitchFamily="18" charset="0"/>
                          <a:hlinkClick r:id="rId2"/>
                        </a:rPr>
                        <a:t>Adders</a:t>
                      </a:r>
                      <a:r>
                        <a:rPr lang="en-IN" sz="1600" b="0">
                          <a:effectLst/>
                          <a:latin typeface="Times New Roman" panose="02020603050405020304" pitchFamily="18" charset="0"/>
                          <a:cs typeface="Times New Roman" panose="02020603050405020304" pitchFamily="18" charset="0"/>
                        </a:rPr>
                        <a:t>, </a:t>
                      </a:r>
                      <a:r>
                        <a:rPr lang="en-IN" sz="1600" b="0" u="sng">
                          <a:effectLst/>
                          <a:latin typeface="Times New Roman" panose="02020603050405020304" pitchFamily="18" charset="0"/>
                          <a:cs typeface="Times New Roman" panose="02020603050405020304" pitchFamily="18" charset="0"/>
                          <a:hlinkClick r:id="rId3"/>
                        </a:rPr>
                        <a:t>Subtractors</a:t>
                      </a:r>
                      <a:r>
                        <a:rPr lang="en-IN" sz="1600" b="0">
                          <a:effectLst/>
                          <a:latin typeface="Times New Roman" panose="02020603050405020304" pitchFamily="18" charset="0"/>
                          <a:cs typeface="Times New Roman" panose="02020603050405020304" pitchFamily="18" charset="0"/>
                        </a:rPr>
                        <a:t>, </a:t>
                      </a:r>
                      <a:r>
                        <a:rPr lang="en-IN" sz="1600" b="0" u="sng">
                          <a:effectLst/>
                          <a:latin typeface="Times New Roman" panose="02020603050405020304" pitchFamily="18" charset="0"/>
                          <a:cs typeface="Times New Roman" panose="02020603050405020304" pitchFamily="18" charset="0"/>
                          <a:hlinkClick r:id="rId4"/>
                        </a:rPr>
                        <a:t>Multiplexers</a:t>
                      </a:r>
                      <a:r>
                        <a:rPr lang="en-IN" sz="1600" b="0">
                          <a:effectLst/>
                          <a:latin typeface="Times New Roman" panose="02020603050405020304" pitchFamily="18" charset="0"/>
                          <a:cs typeface="Times New Roman" panose="02020603050405020304" pitchFamily="18" charset="0"/>
                        </a:rPr>
                        <a:t>, </a:t>
                      </a:r>
                      <a:r>
                        <a:rPr lang="en-IN" sz="1600" b="0" u="sng">
                          <a:effectLst/>
                          <a:latin typeface="Times New Roman" panose="02020603050405020304" pitchFamily="18" charset="0"/>
                          <a:cs typeface="Times New Roman" panose="02020603050405020304" pitchFamily="18" charset="0"/>
                          <a:hlinkClick r:id="rId5"/>
                        </a:rPr>
                        <a:t>Encoders</a:t>
                      </a:r>
                      <a:r>
                        <a:rPr lang="en-IN" sz="1600" b="0">
                          <a:effectLst/>
                          <a:latin typeface="Times New Roman" panose="02020603050405020304" pitchFamily="18" charset="0"/>
                          <a:cs typeface="Times New Roman" panose="02020603050405020304" pitchFamily="18" charset="0"/>
                        </a:rPr>
                        <a:t>.</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Counters, </a:t>
                      </a:r>
                      <a:r>
                        <a:rPr lang="en-US" sz="1600" b="0" u="sng" dirty="0">
                          <a:effectLst/>
                          <a:latin typeface="Times New Roman" panose="02020603050405020304" pitchFamily="18" charset="0"/>
                          <a:cs typeface="Times New Roman" panose="02020603050405020304" pitchFamily="18" charset="0"/>
                          <a:hlinkClick r:id="rId6"/>
                        </a:rPr>
                        <a:t>Shift Registers</a:t>
                      </a:r>
                      <a:r>
                        <a:rPr lang="en-US" sz="1600" b="0" dirty="0">
                          <a:effectLst/>
                          <a:latin typeface="Times New Roman" panose="02020603050405020304" pitchFamily="18" charset="0"/>
                          <a:cs typeface="Times New Roman" panose="02020603050405020304" pitchFamily="18" charset="0"/>
                        </a:rPr>
                        <a:t>, </a:t>
                      </a:r>
                      <a:r>
                        <a:rPr lang="en-US" sz="1600" b="0" u="sng" dirty="0">
                          <a:effectLst/>
                          <a:latin typeface="Times New Roman" panose="02020603050405020304" pitchFamily="18" charset="0"/>
                          <a:cs typeface="Times New Roman" panose="02020603050405020304" pitchFamily="18" charset="0"/>
                          <a:hlinkClick r:id="rId7"/>
                        </a:rPr>
                        <a:t>Flip-Flops</a:t>
                      </a:r>
                      <a:r>
                        <a:rPr lang="en-US" sz="1600" b="0" dirty="0">
                          <a:effectLst/>
                          <a:latin typeface="Times New Roman" panose="02020603050405020304" pitchFamily="18" charset="0"/>
                          <a:cs typeface="Times New Roman" panose="02020603050405020304" pitchFamily="18" charset="0"/>
                        </a:rPr>
                        <a:t>, State Machines.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32127245"/>
                  </a:ext>
                </a:extLst>
              </a:tr>
              <a:tr h="756356">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Power Consumption</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IN" sz="1600" b="0">
                          <a:effectLst/>
                          <a:latin typeface="Times New Roman" panose="02020603050405020304" pitchFamily="18" charset="0"/>
                          <a:cs typeface="Times New Roman" panose="02020603050405020304" pitchFamily="18" charset="0"/>
                        </a:rPr>
                        <a:t>Generally lower power consumption.</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Higher power consumption due to memory and clock circuitry.</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62926653"/>
                  </a:ext>
                </a:extLst>
              </a:tr>
              <a:tr h="756356">
                <a:tc>
                  <a:txBody>
                    <a:bodyPr/>
                    <a:lstStyle/>
                    <a:p>
                      <a:pPr algn="ctr" rtl="0" fontAlgn="base">
                        <a:spcAft>
                          <a:spcPts val="750"/>
                        </a:spcAft>
                      </a:pPr>
                      <a:r>
                        <a:rPr lang="en-IN" sz="1600" b="1">
                          <a:effectLst/>
                          <a:latin typeface="Times New Roman" panose="02020603050405020304" pitchFamily="18" charset="0"/>
                          <a:cs typeface="Times New Roman" panose="02020603050405020304" pitchFamily="18" charset="0"/>
                        </a:rPr>
                        <a:t>Application</a:t>
                      </a:r>
                    </a:p>
                  </a:txBody>
                  <a:tcPr marL="29886" marR="29886" marT="52060" marB="52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a:effectLst/>
                          <a:latin typeface="Times New Roman" panose="02020603050405020304" pitchFamily="18" charset="0"/>
                          <a:cs typeface="Times New Roman" panose="02020603050405020304" pitchFamily="18" charset="0"/>
                        </a:rPr>
                        <a:t>Used in tasks requiring direct logical operations (e.g., arithmetic).</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US" sz="1600" b="0" dirty="0">
                          <a:effectLst/>
                          <a:latin typeface="Times New Roman" panose="02020603050405020304" pitchFamily="18" charset="0"/>
                          <a:cs typeface="Times New Roman" panose="02020603050405020304" pitchFamily="18" charset="0"/>
                        </a:rPr>
                        <a:t>Used in applications involving sequential operations (e.g., counters, registers).</a:t>
                      </a:r>
                    </a:p>
                  </a:txBody>
                  <a:tcPr marL="74714" marR="74714" marT="104599" marB="1045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72786956"/>
                  </a:ext>
                </a:extLst>
              </a:tr>
            </a:tbl>
          </a:graphicData>
        </a:graphic>
      </p:graphicFrame>
    </p:spTree>
    <p:extLst>
      <p:ext uri="{BB962C8B-B14F-4D97-AF65-F5344CB8AC3E}">
        <p14:creationId xmlns:p14="http://schemas.microsoft.com/office/powerpoint/2010/main" val="7525583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CC91F-1C40-1393-C17C-B29F618A31B2}"/>
              </a:ext>
            </a:extLst>
          </p:cNvPr>
          <p:cNvSpPr>
            <a:spLocks noGrp="1"/>
          </p:cNvSpPr>
          <p:nvPr>
            <p:ph type="title"/>
          </p:nvPr>
        </p:nvSpPr>
        <p:spPr>
          <a:xfrm>
            <a:off x="254875" y="160173"/>
            <a:ext cx="10515600" cy="1325563"/>
          </a:xfrm>
        </p:spPr>
        <p:txBody>
          <a:bodyPr>
            <a:normAutofit fontScale="90000"/>
          </a:bodyPr>
          <a:lstStyle/>
          <a:p>
            <a:r>
              <a:rPr lang="en-US" b="1" i="0" dirty="0">
                <a:solidFill>
                  <a:srgbClr val="273239"/>
                </a:solidFill>
                <a:effectLst/>
                <a:latin typeface="Source Sans 3"/>
              </a:rPr>
              <a:t>VHDL - Very High Speed Integrated Circuit Hardware Description Language</a:t>
            </a:r>
            <a:br>
              <a:rPr lang="en-US" b="1" i="0" dirty="0">
                <a:solidFill>
                  <a:srgbClr val="273239"/>
                </a:solidFill>
                <a:effectLst/>
                <a:latin typeface="Source Sans 3"/>
              </a:rPr>
            </a:br>
            <a:endParaRPr lang="en-IN" dirty="0"/>
          </a:p>
        </p:txBody>
      </p:sp>
      <p:sp>
        <p:nvSpPr>
          <p:cNvPr id="3" name="Content Placeholder 2">
            <a:extLst>
              <a:ext uri="{FF2B5EF4-FFF2-40B4-BE49-F238E27FC236}">
                <a16:creationId xmlns:a16="http://schemas.microsoft.com/office/drawing/2014/main" id="{0DA84194-3A22-C641-816E-6E30A93AB4BD}"/>
              </a:ext>
            </a:extLst>
          </p:cNvPr>
          <p:cNvSpPr>
            <a:spLocks noGrp="1"/>
          </p:cNvSpPr>
          <p:nvPr>
            <p:ph idx="1"/>
          </p:nvPr>
        </p:nvSpPr>
        <p:spPr>
          <a:xfrm>
            <a:off x="0" y="1308538"/>
            <a:ext cx="12192000" cy="5549462"/>
          </a:xfrm>
        </p:spPr>
        <p:txBody>
          <a:bodyPr/>
          <a:lstStyle/>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VHDL is one of the type of hardware description language which describes the behavior of an integrated circuit or system which is used to implement physical circuit or system.</a:t>
            </a:r>
          </a:p>
          <a:p>
            <a:pPr marL="0" indent="0">
              <a:buNone/>
            </a:pPr>
            <a:r>
              <a:rPr lang="en-US" b="0" i="0" dirty="0">
                <a:solidFill>
                  <a:srgbClr val="273239"/>
                </a:solidFill>
                <a:effectLst/>
                <a:latin typeface="Nunito" pitchFamily="2" charset="0"/>
              </a:rPr>
              <a:t> </a:t>
            </a:r>
          </a:p>
          <a:p>
            <a:r>
              <a:rPr lang="en-US" b="0" i="0" dirty="0">
                <a:solidFill>
                  <a:srgbClr val="273239"/>
                </a:solidFill>
                <a:effectLst/>
                <a:latin typeface="Nunito" pitchFamily="2" charset="0"/>
              </a:rPr>
              <a:t>VHDL is an abbreviation for VHSIC which stands for </a:t>
            </a:r>
            <a:r>
              <a:rPr lang="en-US" b="1" i="0" dirty="0">
                <a:solidFill>
                  <a:srgbClr val="273239"/>
                </a:solidFill>
                <a:effectLst/>
                <a:latin typeface="Nunito" pitchFamily="2" charset="0"/>
              </a:rPr>
              <a:t>Very High Speed Integrated Circuit Hardware Description Language.</a:t>
            </a:r>
            <a:endParaRPr lang="en-IN" dirty="0"/>
          </a:p>
        </p:txBody>
      </p:sp>
    </p:spTree>
    <p:extLst>
      <p:ext uri="{BB962C8B-B14F-4D97-AF65-F5344CB8AC3E}">
        <p14:creationId xmlns:p14="http://schemas.microsoft.com/office/powerpoint/2010/main" val="1487658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944AF-A549-4861-0B24-316FF01749E6}"/>
              </a:ext>
            </a:extLst>
          </p:cNvPr>
          <p:cNvSpPr>
            <a:spLocks noGrp="1"/>
          </p:cNvSpPr>
          <p:nvPr>
            <p:ph idx="1"/>
          </p:nvPr>
        </p:nvSpPr>
        <p:spPr>
          <a:xfrm>
            <a:off x="0" y="0"/>
            <a:ext cx="12192000" cy="6858000"/>
          </a:xfrm>
        </p:spPr>
        <p:txBody>
          <a:bodyPr>
            <a:normAutofit/>
          </a:bodyPr>
          <a:lstStyle/>
          <a:p>
            <a:pPr marL="0" indent="0" algn="l" fontAlgn="base">
              <a:buNone/>
            </a:pPr>
            <a:r>
              <a:rPr lang="en-US" b="1" i="0" dirty="0">
                <a:solidFill>
                  <a:srgbClr val="273239"/>
                </a:solidFill>
                <a:effectLst/>
                <a:latin typeface="Nunito" pitchFamily="2" charset="0"/>
              </a:rPr>
              <a:t>What Are Hardware Description Languages (HDLs)?</a:t>
            </a:r>
          </a:p>
          <a:p>
            <a:pPr marL="0" indent="0" algn="l" fontAlgn="base">
              <a:buNone/>
            </a:pPr>
            <a:endParaRPr lang="en-US" b="1" i="0" dirty="0">
              <a:solidFill>
                <a:srgbClr val="273239"/>
              </a:solidFill>
              <a:effectLst/>
              <a:latin typeface="Nunito" pitchFamily="2" charset="0"/>
            </a:endParaRPr>
          </a:p>
          <a:p>
            <a:pPr algn="just" rtl="0" fontAlgn="base">
              <a:spcAft>
                <a:spcPts val="750"/>
              </a:spcAft>
            </a:pPr>
            <a:r>
              <a:rPr lang="en-US" b="0" i="0" dirty="0">
                <a:solidFill>
                  <a:srgbClr val="273239"/>
                </a:solidFill>
                <a:effectLst/>
                <a:latin typeface="Nunito" pitchFamily="2" charset="0"/>
              </a:rPr>
              <a:t>Hardware Description Languages(</a:t>
            </a:r>
            <a:r>
              <a:rPr lang="en-US" b="0" i="0" u="sng" dirty="0">
                <a:solidFill>
                  <a:srgbClr val="273239"/>
                </a:solidFill>
                <a:effectLst/>
                <a:latin typeface="Nunito" pitchFamily="2" charset="0"/>
                <a:hlinkClick r:id="rId2"/>
              </a:rPr>
              <a:t>HDL</a:t>
            </a:r>
            <a:r>
              <a:rPr lang="en-US" b="0" i="0" dirty="0">
                <a:solidFill>
                  <a:srgbClr val="273239"/>
                </a:solidFill>
                <a:effectLst/>
                <a:latin typeface="Nunito" pitchFamily="2" charset="0"/>
              </a:rPr>
              <a:t>) are special programming languages used to describe the </a:t>
            </a:r>
            <a:r>
              <a:rPr lang="en-US" b="0" i="0" dirty="0">
                <a:solidFill>
                  <a:srgbClr val="FF0000"/>
                </a:solidFill>
                <a:effectLst/>
                <a:latin typeface="Nunito" pitchFamily="2" charset="0"/>
              </a:rPr>
              <a:t>structure and behavior of electronic circuits.</a:t>
            </a:r>
          </a:p>
          <a:p>
            <a:pPr algn="just" rtl="0" fontAlgn="base">
              <a:spcAft>
                <a:spcPts val="750"/>
              </a:spcAft>
            </a:pPr>
            <a:r>
              <a:rPr lang="en-US" b="0" i="0" dirty="0">
                <a:solidFill>
                  <a:srgbClr val="273239"/>
                </a:solidFill>
                <a:effectLst/>
                <a:latin typeface="Nunito" pitchFamily="2" charset="0"/>
              </a:rPr>
              <a:t> Hardware Description Languages are required for designing various electronic components such as </a:t>
            </a:r>
            <a:r>
              <a:rPr lang="en-US" b="0" i="0" dirty="0">
                <a:solidFill>
                  <a:srgbClr val="FF0000"/>
                </a:solidFill>
                <a:effectLst/>
                <a:latin typeface="Nunito" pitchFamily="2" charset="0"/>
              </a:rPr>
              <a:t>processors, motherboards and Field Programmable Gate Arrays. </a:t>
            </a:r>
          </a:p>
          <a:p>
            <a:pPr algn="just" rtl="0" fontAlgn="base">
              <a:spcAft>
                <a:spcPts val="750"/>
              </a:spcAft>
            </a:pPr>
            <a:r>
              <a:rPr lang="en-US" b="0" i="0" dirty="0">
                <a:solidFill>
                  <a:srgbClr val="273239"/>
                </a:solidFill>
                <a:effectLst/>
                <a:latin typeface="Nunito" pitchFamily="2" charset="0"/>
              </a:rPr>
              <a:t>The difference between the traditional programming languages and the Hardware Description Languages is that Hardware Description Languages operate with </a:t>
            </a:r>
            <a:r>
              <a:rPr lang="en-US" b="0" i="0" dirty="0">
                <a:solidFill>
                  <a:srgbClr val="FF0000"/>
                </a:solidFill>
                <a:effectLst/>
                <a:latin typeface="Nunito" pitchFamily="2" charset="0"/>
              </a:rPr>
              <a:t>respect to clock signals and delays.</a:t>
            </a:r>
          </a:p>
          <a:p>
            <a:pPr algn="just" rtl="0" fontAlgn="base">
              <a:spcAft>
                <a:spcPts val="750"/>
              </a:spcAft>
            </a:pPr>
            <a:r>
              <a:rPr lang="en-US" b="0" i="0" dirty="0">
                <a:solidFill>
                  <a:srgbClr val="273239"/>
                </a:solidFill>
                <a:effectLst/>
                <a:latin typeface="Nunito" pitchFamily="2" charset="0"/>
              </a:rPr>
              <a:t> In Hardware Description </a:t>
            </a:r>
            <a:r>
              <a:rPr lang="en-US" b="0" i="0" dirty="0">
                <a:solidFill>
                  <a:srgbClr val="FF0000"/>
                </a:solidFill>
                <a:effectLst/>
                <a:latin typeface="Nunito" pitchFamily="2" charset="0"/>
              </a:rPr>
              <a:t>Languages time </a:t>
            </a:r>
            <a:r>
              <a:rPr lang="en-US" b="0" i="0" dirty="0">
                <a:solidFill>
                  <a:srgbClr val="273239"/>
                </a:solidFill>
                <a:effectLst/>
                <a:latin typeface="Nunito" pitchFamily="2" charset="0"/>
              </a:rPr>
              <a:t>is an important parameter.</a:t>
            </a:r>
          </a:p>
          <a:p>
            <a:endParaRPr lang="en-IN" dirty="0"/>
          </a:p>
        </p:txBody>
      </p:sp>
    </p:spTree>
    <p:extLst>
      <p:ext uri="{BB962C8B-B14F-4D97-AF65-F5344CB8AC3E}">
        <p14:creationId xmlns:p14="http://schemas.microsoft.com/office/powerpoint/2010/main" val="82685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A8D707-4FE7-972A-37EA-43A92A386D4A}"/>
              </a:ext>
            </a:extLst>
          </p:cNvPr>
          <p:cNvSpPr>
            <a:spLocks noGrp="1"/>
          </p:cNvSpPr>
          <p:nvPr>
            <p:ph idx="1"/>
          </p:nvPr>
        </p:nvSpPr>
        <p:spPr>
          <a:xfrm>
            <a:off x="0" y="0"/>
            <a:ext cx="12192000" cy="6858000"/>
          </a:xfrm>
        </p:spPr>
        <p:txBody>
          <a:bodyPr>
            <a:normAutofit/>
          </a:bodyPr>
          <a:lstStyle/>
          <a:p>
            <a:pPr algn="l" fontAlgn="base"/>
            <a:r>
              <a:rPr lang="en-US" b="1" i="0" dirty="0">
                <a:solidFill>
                  <a:srgbClr val="273239"/>
                </a:solidFill>
                <a:effectLst/>
                <a:latin typeface="Nunito" pitchFamily="2" charset="0"/>
              </a:rPr>
              <a:t>What is VHDL ?</a:t>
            </a:r>
          </a:p>
          <a:p>
            <a:pPr algn="just" rtl="0" fontAlgn="base">
              <a:spcAft>
                <a:spcPts val="750"/>
              </a:spcAft>
            </a:pPr>
            <a:r>
              <a:rPr lang="en-US" b="0" i="0" dirty="0">
                <a:solidFill>
                  <a:srgbClr val="273239"/>
                </a:solidFill>
                <a:effectLst/>
                <a:latin typeface="Nunito" pitchFamily="2" charset="0"/>
              </a:rPr>
              <a:t>VHDL is one of the type of hardware description language which describes </a:t>
            </a:r>
            <a:r>
              <a:rPr lang="en-US" b="0" i="0" dirty="0">
                <a:solidFill>
                  <a:srgbClr val="FF0000"/>
                </a:solidFill>
                <a:effectLst/>
                <a:latin typeface="Nunito" pitchFamily="2" charset="0"/>
              </a:rPr>
              <a:t>the behavior of an integrated circuit or system </a:t>
            </a:r>
            <a:r>
              <a:rPr lang="en-US" b="0" i="0" dirty="0">
                <a:solidFill>
                  <a:srgbClr val="273239"/>
                </a:solidFill>
                <a:effectLst/>
                <a:latin typeface="Nunito" pitchFamily="2" charset="0"/>
              </a:rPr>
              <a:t>which is used to implement physical circuit or system. </a:t>
            </a:r>
          </a:p>
          <a:p>
            <a:pPr algn="just" rtl="0" fontAlgn="base">
              <a:spcAft>
                <a:spcPts val="750"/>
              </a:spcAft>
            </a:pPr>
            <a:r>
              <a:rPr lang="en-US" b="0" i="0" dirty="0">
                <a:solidFill>
                  <a:srgbClr val="273239"/>
                </a:solidFill>
                <a:effectLst/>
                <a:latin typeface="Nunito" pitchFamily="2" charset="0"/>
              </a:rPr>
              <a:t>VHDL is an abbreviation for VHSIC which stands for </a:t>
            </a:r>
            <a:r>
              <a:rPr lang="en-US" b="1" i="0" dirty="0">
                <a:solidFill>
                  <a:srgbClr val="273239"/>
                </a:solidFill>
                <a:effectLst/>
                <a:latin typeface="Nunito" pitchFamily="2" charset="0"/>
              </a:rPr>
              <a:t>Very High Speed Integrated Circuit Hardware Description Language. </a:t>
            </a:r>
          </a:p>
          <a:p>
            <a:pPr algn="just" rtl="0" fontAlgn="base">
              <a:spcAft>
                <a:spcPts val="750"/>
              </a:spcAft>
            </a:pPr>
            <a:r>
              <a:rPr lang="en-US" b="0" i="0" dirty="0">
                <a:solidFill>
                  <a:srgbClr val="273239"/>
                </a:solidFill>
                <a:effectLst/>
                <a:latin typeface="Nunito" pitchFamily="2" charset="0"/>
              </a:rPr>
              <a:t>VHDL</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is a </a:t>
            </a:r>
            <a:r>
              <a:rPr lang="en-US" b="0" i="0" dirty="0">
                <a:solidFill>
                  <a:srgbClr val="FF0000"/>
                </a:solidFill>
                <a:effectLst/>
                <a:latin typeface="Nunito" pitchFamily="2" charset="0"/>
              </a:rPr>
              <a:t>standard</a:t>
            </a:r>
            <a:r>
              <a:rPr lang="en-US" b="1" i="0" dirty="0">
                <a:solidFill>
                  <a:srgbClr val="FF0000"/>
                </a:solidFill>
                <a:effectLst/>
                <a:latin typeface="Nunito" pitchFamily="2" charset="0"/>
              </a:rPr>
              <a:t> ,</a:t>
            </a:r>
            <a:r>
              <a:rPr lang="en-US" b="0" i="0" dirty="0">
                <a:solidFill>
                  <a:srgbClr val="FF0000"/>
                </a:solidFill>
                <a:effectLst/>
                <a:latin typeface="Nunito" pitchFamily="2" charset="0"/>
              </a:rPr>
              <a:t>portable, reusable and vendor independent language. </a:t>
            </a:r>
          </a:p>
          <a:p>
            <a:pPr algn="just" rtl="0" fontAlgn="base">
              <a:spcAft>
                <a:spcPts val="750"/>
              </a:spcAft>
            </a:pPr>
            <a:r>
              <a:rPr lang="en-US" b="0" i="0" dirty="0">
                <a:solidFill>
                  <a:srgbClr val="273239"/>
                </a:solidFill>
                <a:effectLst/>
                <a:latin typeface="Nunito" pitchFamily="2" charset="0"/>
              </a:rPr>
              <a:t>VHDL program code can be used to implement the circuit in programmable device like Complex Programmable Logic Device (</a:t>
            </a:r>
            <a:r>
              <a:rPr lang="en-US" b="0" i="0" u="sng" dirty="0">
                <a:solidFill>
                  <a:srgbClr val="273239"/>
                </a:solidFill>
                <a:effectLst/>
                <a:latin typeface="Nunito" pitchFamily="2" charset="0"/>
                <a:hlinkClick r:id="rId2"/>
              </a:rPr>
              <a:t>CPLD</a:t>
            </a:r>
            <a:r>
              <a:rPr lang="en-US" b="0" i="0" dirty="0">
                <a:solidFill>
                  <a:srgbClr val="273239"/>
                </a:solidFill>
                <a:effectLst/>
                <a:latin typeface="Nunito" pitchFamily="2" charset="0"/>
              </a:rPr>
              <a:t>) , Field Programmable Gate Array (</a:t>
            </a:r>
            <a:r>
              <a:rPr lang="en-US" b="0" i="0" u="sng" dirty="0">
                <a:solidFill>
                  <a:srgbClr val="273239"/>
                </a:solidFill>
                <a:effectLst/>
                <a:latin typeface="Nunito" pitchFamily="2" charset="0"/>
                <a:hlinkClick r:id="rId3"/>
              </a:rPr>
              <a:t>FPGA</a:t>
            </a:r>
            <a:r>
              <a:rPr lang="en-US" b="0" i="0" dirty="0">
                <a:solidFill>
                  <a:srgbClr val="273239"/>
                </a:solidFill>
                <a:effectLst/>
                <a:latin typeface="Nunito" pitchFamily="2" charset="0"/>
              </a:rPr>
              <a:t>) or used for fabrication of an ASIC chips. </a:t>
            </a:r>
          </a:p>
          <a:p>
            <a:pPr algn="just" rtl="0" fontAlgn="base">
              <a:spcAft>
                <a:spcPts val="750"/>
              </a:spcAft>
            </a:pPr>
            <a:r>
              <a:rPr lang="en-US" b="0" i="0" dirty="0">
                <a:solidFill>
                  <a:srgbClr val="273239"/>
                </a:solidFill>
                <a:effectLst/>
                <a:latin typeface="Nunito" pitchFamily="2" charset="0"/>
              </a:rPr>
              <a:t>It is a hardware description language that can be used to model a digital system at many levels of abstraction.</a:t>
            </a:r>
          </a:p>
          <a:p>
            <a:endParaRPr lang="en-IN" dirty="0"/>
          </a:p>
        </p:txBody>
      </p:sp>
    </p:spTree>
    <p:extLst>
      <p:ext uri="{BB962C8B-B14F-4D97-AF65-F5344CB8AC3E}">
        <p14:creationId xmlns:p14="http://schemas.microsoft.com/office/powerpoint/2010/main" val="35280352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41CBD-E52A-9AD5-6726-93CD814D21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ABCBE8-84E5-A90E-AE42-B093F7E3A350}"/>
              </a:ext>
            </a:extLst>
          </p:cNvPr>
          <p:cNvSpPr>
            <a:spLocks noGrp="1"/>
          </p:cNvSpPr>
          <p:nvPr>
            <p:ph idx="1"/>
          </p:nvPr>
        </p:nvSpPr>
        <p:spPr/>
        <p:txBody>
          <a:bodyPr/>
          <a:lstStyle/>
          <a:p>
            <a:r>
              <a:rPr lang="en-US" b="1" dirty="0"/>
              <a:t>What is Verilog ?</a:t>
            </a:r>
          </a:p>
          <a:p>
            <a:r>
              <a:rPr lang="en-US" dirty="0"/>
              <a:t>Verilog is a hardware description language (HDL) that is used to describe digital systems and circuits in the form of code.</a:t>
            </a:r>
          </a:p>
          <a:p>
            <a:r>
              <a:rPr lang="en-US" dirty="0"/>
              <a:t> It was developed by Gateway Design Automation in the mid-1980s and later acquired by Cadence Design Systems.</a:t>
            </a:r>
          </a:p>
          <a:p>
            <a:r>
              <a:rPr lang="en-US" dirty="0"/>
              <a:t>Verilog is widely used for design and verification of digital and mixed-signal systems, including both application-specific integrated circuits (ASICs) and field-programmable gate arrays (FPGAs). It supports a range of levels of abstraction, from structural to behavioral, and is used for both simulation-based design and synthesis-based design.</a:t>
            </a:r>
          </a:p>
          <a:p>
            <a:endParaRPr lang="en-IN" dirty="0"/>
          </a:p>
        </p:txBody>
      </p:sp>
    </p:spTree>
    <p:extLst>
      <p:ext uri="{BB962C8B-B14F-4D97-AF65-F5344CB8AC3E}">
        <p14:creationId xmlns:p14="http://schemas.microsoft.com/office/powerpoint/2010/main" val="4212004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D8705-6A8F-326C-B0D2-85D8DBF7F99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7E24016-0813-0411-FA7C-3BDC2845BAF8}"/>
              </a:ext>
            </a:extLst>
          </p:cNvPr>
          <p:cNvPicPr>
            <a:picLocks noGrp="1" noChangeAspect="1"/>
          </p:cNvPicPr>
          <p:nvPr>
            <p:ph idx="1"/>
          </p:nvPr>
        </p:nvPicPr>
        <p:blipFill>
          <a:blip r:embed="rId2"/>
          <a:stretch>
            <a:fillRect/>
          </a:stretch>
        </p:blipFill>
        <p:spPr>
          <a:xfrm>
            <a:off x="1727200" y="530193"/>
            <a:ext cx="7107142" cy="5646770"/>
          </a:xfrm>
          <a:prstGeom prst="rect">
            <a:avLst/>
          </a:prstGeom>
        </p:spPr>
      </p:pic>
    </p:spTree>
    <p:extLst>
      <p:ext uri="{BB962C8B-B14F-4D97-AF65-F5344CB8AC3E}">
        <p14:creationId xmlns:p14="http://schemas.microsoft.com/office/powerpoint/2010/main" val="2391954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D54E2-DAC8-31EA-77D2-29E8155AC07D}"/>
              </a:ext>
            </a:extLst>
          </p:cNvPr>
          <p:cNvSpPr>
            <a:spLocks noGrp="1"/>
          </p:cNvSpPr>
          <p:nvPr>
            <p:ph type="title"/>
          </p:nvPr>
        </p:nvSpPr>
        <p:spPr/>
        <p:txBody>
          <a:bodyPr/>
          <a:lstStyle/>
          <a:p>
            <a:r>
              <a:rPr lang="en-IN" b="1" dirty="0">
                <a:solidFill>
                  <a:srgbClr val="273239"/>
                </a:solidFill>
                <a:latin typeface="Nunito" pitchFamily="2" charset="0"/>
              </a:rPr>
              <a:t>Verilog</a:t>
            </a:r>
            <a:r>
              <a:rPr lang="en-IN" b="1" i="0" dirty="0">
                <a:solidFill>
                  <a:srgbClr val="273239"/>
                </a:solidFill>
                <a:effectLst/>
                <a:latin typeface="Nunito" pitchFamily="2" charset="0"/>
              </a:rPr>
              <a:t> </a:t>
            </a:r>
            <a:r>
              <a:rPr lang="en-IN" b="1" i="0" dirty="0" err="1">
                <a:solidFill>
                  <a:srgbClr val="273239"/>
                </a:solidFill>
                <a:effectLst/>
                <a:latin typeface="Nunito" pitchFamily="2" charset="0"/>
              </a:rPr>
              <a:t>Modeling</a:t>
            </a:r>
            <a:r>
              <a:rPr lang="en-IN" b="1" i="0" dirty="0">
                <a:solidFill>
                  <a:srgbClr val="273239"/>
                </a:solidFill>
                <a:effectLst/>
                <a:latin typeface="Nunito" pitchFamily="2" charset="0"/>
              </a:rPr>
              <a:t> Styles</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203A39A8-8BFC-671F-668C-938E6D6BFB46}"/>
              </a:ext>
            </a:extLst>
          </p:cNvPr>
          <p:cNvSpPr>
            <a:spLocks noGrp="1"/>
          </p:cNvSpPr>
          <p:nvPr>
            <p:ph idx="1"/>
          </p:nvPr>
        </p:nvSpPr>
        <p:spPr>
          <a:xfrm>
            <a:off x="0" y="1825625"/>
            <a:ext cx="12192000" cy="4906252"/>
          </a:xfrm>
        </p:spPr>
        <p:txBody>
          <a:bodyPr>
            <a:normAutofit/>
          </a:bodyPr>
          <a:lstStyle/>
          <a:p>
            <a:r>
              <a:rPr lang="en-US" b="1" i="0" dirty="0">
                <a:solidFill>
                  <a:schemeClr val="accent2">
                    <a:lumMod val="75000"/>
                  </a:schemeClr>
                </a:solidFill>
                <a:effectLst/>
                <a:latin typeface="Nunito" pitchFamily="2" charset="0"/>
              </a:rPr>
              <a:t>Data Flow modeling</a:t>
            </a:r>
            <a:r>
              <a:rPr lang="en-US" b="0" i="0" dirty="0">
                <a:solidFill>
                  <a:schemeClr val="accent2">
                    <a:lumMod val="75000"/>
                  </a:schemeClr>
                </a:solidFill>
                <a:effectLst/>
                <a:latin typeface="Nunito" pitchFamily="2" charset="0"/>
              </a:rPr>
              <a:t>: </a:t>
            </a:r>
          </a:p>
          <a:p>
            <a:r>
              <a:rPr lang="en-US" b="0" i="0" dirty="0">
                <a:solidFill>
                  <a:srgbClr val="273239"/>
                </a:solidFill>
                <a:effectLst/>
                <a:latin typeface="Nunito" pitchFamily="2" charset="0"/>
              </a:rPr>
              <a:t>A data flow model specifies, how data is been processed through the circuit using concurrent signal assignment statements and block statements. </a:t>
            </a:r>
          </a:p>
          <a:p>
            <a:r>
              <a:rPr lang="en-US" b="0" i="0" dirty="0">
                <a:solidFill>
                  <a:srgbClr val="273239"/>
                </a:solidFill>
                <a:effectLst/>
                <a:latin typeface="Nunito" pitchFamily="2" charset="0"/>
              </a:rPr>
              <a:t>There is no specified ordering of these statements therefore the ordering of these statements in an architecture body is not important. </a:t>
            </a:r>
          </a:p>
          <a:p>
            <a:r>
              <a:rPr lang="en-US" b="0" i="0" dirty="0">
                <a:solidFill>
                  <a:srgbClr val="273239"/>
                </a:solidFill>
                <a:effectLst/>
                <a:latin typeface="Nunito" pitchFamily="2" charset="0"/>
              </a:rPr>
              <a:t>It requires Boolean equations for designing circuit specifications. </a:t>
            </a:r>
            <a:endParaRPr lang="en-IN" dirty="0"/>
          </a:p>
        </p:txBody>
      </p:sp>
    </p:spTree>
    <p:extLst>
      <p:ext uri="{BB962C8B-B14F-4D97-AF65-F5344CB8AC3E}">
        <p14:creationId xmlns:p14="http://schemas.microsoft.com/office/powerpoint/2010/main" val="350317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FE664-97BE-F17C-74B0-4FAEAD1DDA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DD1B16-2A2F-E9DC-6349-AE1099DC53E0}"/>
              </a:ext>
            </a:extLst>
          </p:cNvPr>
          <p:cNvSpPr>
            <a:spLocks noGrp="1"/>
          </p:cNvSpPr>
          <p:nvPr>
            <p:ph idx="1"/>
          </p:nvPr>
        </p:nvSpPr>
        <p:spPr/>
        <p:txBody>
          <a:bodyPr/>
          <a:lstStyle/>
          <a:p>
            <a:r>
              <a:rPr lang="en-US" b="1" i="0" dirty="0">
                <a:solidFill>
                  <a:srgbClr val="273239"/>
                </a:solidFill>
                <a:effectLst/>
                <a:latin typeface="Nunito" pitchFamily="2" charset="0"/>
              </a:rPr>
              <a:t>Boolean equations </a:t>
            </a:r>
            <a:r>
              <a:rPr lang="en-US" b="0" i="0" dirty="0">
                <a:solidFill>
                  <a:srgbClr val="273239"/>
                </a:solidFill>
                <a:effectLst/>
                <a:latin typeface="Nunito" pitchFamily="2" charset="0"/>
              </a:rPr>
              <a:t>are series of equations defining signal relationship. </a:t>
            </a:r>
          </a:p>
          <a:p>
            <a:r>
              <a:rPr lang="en-US" b="0" i="0" dirty="0">
                <a:solidFill>
                  <a:srgbClr val="273239"/>
                </a:solidFill>
                <a:effectLst/>
                <a:latin typeface="Nunito" pitchFamily="2" charset="0"/>
              </a:rPr>
              <a:t>Data flow modeling focuses mainly on the </a:t>
            </a:r>
            <a:r>
              <a:rPr lang="en-US" b="1" i="0" dirty="0">
                <a:solidFill>
                  <a:srgbClr val="273239"/>
                </a:solidFill>
                <a:effectLst/>
                <a:latin typeface="Nunito" pitchFamily="2" charset="0"/>
              </a:rPr>
              <a:t>how data flows through the system instead of focusing on components</a:t>
            </a:r>
            <a:r>
              <a:rPr lang="en-US" b="0" i="0" dirty="0">
                <a:solidFill>
                  <a:srgbClr val="273239"/>
                </a:solidFill>
                <a:effectLst/>
                <a:latin typeface="Nunito" pitchFamily="2" charset="0"/>
              </a:rPr>
              <a:t>.</a:t>
            </a:r>
          </a:p>
          <a:p>
            <a:r>
              <a:rPr lang="en-US" b="0" i="0" dirty="0">
                <a:solidFill>
                  <a:srgbClr val="273239"/>
                </a:solidFill>
                <a:effectLst/>
                <a:latin typeface="Nunito" pitchFamily="2" charset="0"/>
              </a:rPr>
              <a:t> Data flow Modeling is suitable for simple logic which allows us to express data flow efficiently. </a:t>
            </a:r>
          </a:p>
          <a:p>
            <a:r>
              <a:rPr lang="en-US" b="0" i="0" dirty="0">
                <a:solidFill>
                  <a:srgbClr val="273239"/>
                </a:solidFill>
                <a:effectLst/>
                <a:latin typeface="Nunito" pitchFamily="2" charset="0"/>
              </a:rPr>
              <a:t>However it can be complicated for intricate designs with complex control flow.</a:t>
            </a:r>
            <a:endParaRPr lang="en-IN" dirty="0"/>
          </a:p>
        </p:txBody>
      </p:sp>
    </p:spTree>
    <p:extLst>
      <p:ext uri="{BB962C8B-B14F-4D97-AF65-F5344CB8AC3E}">
        <p14:creationId xmlns:p14="http://schemas.microsoft.com/office/powerpoint/2010/main" val="22517635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C35D1E-E0A9-B759-C2D8-5A48A0652B95}"/>
              </a:ext>
            </a:extLst>
          </p:cNvPr>
          <p:cNvSpPr>
            <a:spLocks noGrp="1"/>
          </p:cNvSpPr>
          <p:nvPr>
            <p:ph idx="1"/>
          </p:nvPr>
        </p:nvSpPr>
        <p:spPr>
          <a:xfrm>
            <a:off x="0" y="0"/>
            <a:ext cx="12192000" cy="6858000"/>
          </a:xfrm>
        </p:spPr>
        <p:txBody>
          <a:bodyPr>
            <a:normAutofit/>
          </a:bodyPr>
          <a:lstStyle/>
          <a:p>
            <a:pPr marL="0" indent="0">
              <a:buNone/>
            </a:pPr>
            <a:endParaRPr lang="en-US" b="1" i="0" dirty="0">
              <a:solidFill>
                <a:srgbClr val="273239"/>
              </a:solidFill>
              <a:effectLst/>
              <a:latin typeface="Nunito" pitchFamily="2" charset="0"/>
            </a:endParaRPr>
          </a:p>
          <a:p>
            <a:pPr marL="0" indent="0">
              <a:buNone/>
            </a:pPr>
            <a:r>
              <a:rPr lang="en-US" b="1" i="0" dirty="0">
                <a:solidFill>
                  <a:schemeClr val="accent2">
                    <a:lumMod val="75000"/>
                  </a:schemeClr>
                </a:solidFill>
                <a:effectLst/>
                <a:latin typeface="Nunito" pitchFamily="2" charset="0"/>
              </a:rPr>
              <a:t>Behavioral modeling:</a:t>
            </a:r>
            <a:r>
              <a:rPr lang="en-US" b="0" i="0" dirty="0">
                <a:solidFill>
                  <a:schemeClr val="accent2">
                    <a:lumMod val="75000"/>
                  </a:schemeClr>
                </a:solidFill>
                <a:effectLst/>
                <a:latin typeface="Nunito" pitchFamily="2" charset="0"/>
              </a:rPr>
              <a:t> </a:t>
            </a:r>
          </a:p>
          <a:p>
            <a:r>
              <a:rPr lang="en-US" b="0" i="0" dirty="0">
                <a:solidFill>
                  <a:srgbClr val="273239"/>
                </a:solidFill>
                <a:effectLst/>
                <a:latin typeface="Nunito" pitchFamily="2" charset="0"/>
              </a:rPr>
              <a:t>Behavioral modeling follows a more procedural approach, similar to writing a program. </a:t>
            </a:r>
          </a:p>
          <a:p>
            <a:r>
              <a:rPr lang="en-US" b="0" i="0" dirty="0">
                <a:solidFill>
                  <a:srgbClr val="273239"/>
                </a:solidFill>
                <a:effectLst/>
                <a:latin typeface="Nunito" pitchFamily="2" charset="0"/>
              </a:rPr>
              <a:t>In Behavioral modeling processes with control flow statements like if-then-else define how the design should react to input and update its output. </a:t>
            </a:r>
          </a:p>
          <a:p>
            <a:r>
              <a:rPr lang="en-US" b="0" i="0" dirty="0">
                <a:solidFill>
                  <a:srgbClr val="273239"/>
                </a:solidFill>
                <a:effectLst/>
                <a:latin typeface="Nunito" pitchFamily="2" charset="0"/>
              </a:rPr>
              <a:t>The set of instructions written by the programmer decide the system's behavior under different conditions. </a:t>
            </a:r>
            <a:endParaRPr lang="en-IN" dirty="0"/>
          </a:p>
        </p:txBody>
      </p:sp>
    </p:spTree>
    <p:extLst>
      <p:ext uri="{BB962C8B-B14F-4D97-AF65-F5344CB8AC3E}">
        <p14:creationId xmlns:p14="http://schemas.microsoft.com/office/powerpoint/2010/main" val="38252032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28EC4-0BD3-846E-DC27-976BACE8613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1C91AB-C081-6AD7-6C87-69C747BD2159}"/>
              </a:ext>
            </a:extLst>
          </p:cNvPr>
          <p:cNvSpPr>
            <a:spLocks noGrp="1"/>
          </p:cNvSpPr>
          <p:nvPr>
            <p:ph idx="1"/>
          </p:nvPr>
        </p:nvSpPr>
        <p:spPr/>
        <p:txBody>
          <a:bodyPr/>
          <a:lstStyle/>
          <a:p>
            <a:r>
              <a:rPr lang="en-US" b="0" i="0" dirty="0">
                <a:solidFill>
                  <a:srgbClr val="273239"/>
                </a:solidFill>
                <a:effectLst/>
                <a:latin typeface="Nunito" pitchFamily="2" charset="0"/>
              </a:rPr>
              <a:t>Behavioral modeling has great flexibility for modeling complex logic with control flow.</a:t>
            </a:r>
          </a:p>
          <a:p>
            <a:r>
              <a:rPr lang="en-US" b="0" i="0" dirty="0">
                <a:solidFill>
                  <a:srgbClr val="273239"/>
                </a:solidFill>
                <a:effectLst/>
                <a:latin typeface="Nunito" pitchFamily="2" charset="0"/>
              </a:rPr>
              <a:t> Hence it is suitable for describing intricate algorithms within the hardware. </a:t>
            </a:r>
          </a:p>
          <a:p>
            <a:r>
              <a:rPr lang="en-US" b="0" i="0" dirty="0">
                <a:solidFill>
                  <a:srgbClr val="273239"/>
                </a:solidFill>
                <a:effectLst/>
                <a:latin typeface="Nunito" pitchFamily="2" charset="0"/>
              </a:rPr>
              <a:t>Behavioral modeling is great for describing how things work, but it is difficult to see exactly how the hardware is built compared to structural modeling.</a:t>
            </a:r>
            <a:endParaRPr lang="en-IN" dirty="0"/>
          </a:p>
        </p:txBody>
      </p:sp>
    </p:spTree>
    <p:extLst>
      <p:ext uri="{BB962C8B-B14F-4D97-AF65-F5344CB8AC3E}">
        <p14:creationId xmlns:p14="http://schemas.microsoft.com/office/powerpoint/2010/main" val="349547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C353-D85D-E190-2F82-356D4B885D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EF9163-8378-C5DD-F3B6-E518C906C8DE}"/>
              </a:ext>
            </a:extLst>
          </p:cNvPr>
          <p:cNvSpPr>
            <a:spLocks noGrp="1"/>
          </p:cNvSpPr>
          <p:nvPr>
            <p:ph idx="1"/>
          </p:nvPr>
        </p:nvSpPr>
        <p:spPr/>
        <p:txBody>
          <a:bodyPr/>
          <a:lstStyle/>
          <a:p>
            <a:r>
              <a:rPr lang="en-US" b="1" i="0" dirty="0">
                <a:solidFill>
                  <a:schemeClr val="accent2">
                    <a:lumMod val="75000"/>
                  </a:schemeClr>
                </a:solidFill>
                <a:effectLst/>
                <a:latin typeface="Nunito" pitchFamily="2" charset="0"/>
              </a:rPr>
              <a:t>Structural Modeling:</a:t>
            </a:r>
            <a:r>
              <a:rPr lang="en-US" b="0" i="0" dirty="0">
                <a:solidFill>
                  <a:schemeClr val="accent2">
                    <a:lumMod val="75000"/>
                  </a:schemeClr>
                </a:solidFill>
                <a:effectLst/>
                <a:latin typeface="Nunito" pitchFamily="2" charset="0"/>
              </a:rPr>
              <a:t> </a:t>
            </a:r>
            <a:r>
              <a:rPr lang="en-US" b="0" i="0" dirty="0">
                <a:solidFill>
                  <a:srgbClr val="273239"/>
                </a:solidFill>
                <a:effectLst/>
                <a:latin typeface="Nunito" pitchFamily="2" charset="0"/>
              </a:rPr>
              <a:t>In Structural modeling the user don't need to design the internal working of each component. </a:t>
            </a:r>
          </a:p>
          <a:p>
            <a:r>
              <a:rPr lang="en-US" b="0" i="0" dirty="0">
                <a:solidFill>
                  <a:srgbClr val="273239"/>
                </a:solidFill>
                <a:effectLst/>
                <a:latin typeface="Nunito" pitchFamily="2" charset="0"/>
              </a:rPr>
              <a:t>We can simply use them in the design by giving them unique names. Hence it provides a clear, circuit-like view where each block is a known as entity. </a:t>
            </a:r>
          </a:p>
          <a:p>
            <a:r>
              <a:rPr lang="en-US" b="0" i="0" dirty="0">
                <a:solidFill>
                  <a:srgbClr val="273239"/>
                </a:solidFill>
                <a:effectLst/>
                <a:latin typeface="Nunito" pitchFamily="2" charset="0"/>
              </a:rPr>
              <a:t>Since structural modeling uses pre-verified components, troubleshooting becomes easier. Focusing on connections is more important rather than internal behavior.</a:t>
            </a:r>
            <a:endParaRPr lang="en-IN" dirty="0"/>
          </a:p>
        </p:txBody>
      </p:sp>
    </p:spTree>
    <p:extLst>
      <p:ext uri="{BB962C8B-B14F-4D97-AF65-F5344CB8AC3E}">
        <p14:creationId xmlns:p14="http://schemas.microsoft.com/office/powerpoint/2010/main" val="34048318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F7739-955F-34E0-2175-8E08E26376D4}"/>
              </a:ext>
            </a:extLst>
          </p:cNvPr>
          <p:cNvSpPr>
            <a:spLocks noGrp="1"/>
          </p:cNvSpPr>
          <p:nvPr>
            <p:ph type="title"/>
          </p:nvPr>
        </p:nvSpPr>
        <p:spPr>
          <a:xfrm>
            <a:off x="0" y="34050"/>
            <a:ext cx="10515600" cy="769992"/>
          </a:xfrm>
        </p:spPr>
        <p:txBody>
          <a:bodyPr/>
          <a:lstStyle/>
          <a:p>
            <a:r>
              <a:rPr lang="en-US" dirty="0"/>
              <a:t>VHDL Operators</a:t>
            </a:r>
            <a:endParaRPr lang="en-IN" dirty="0"/>
          </a:p>
        </p:txBody>
      </p:sp>
      <p:pic>
        <p:nvPicPr>
          <p:cNvPr id="5" name="Content Placeholder 4">
            <a:extLst>
              <a:ext uri="{FF2B5EF4-FFF2-40B4-BE49-F238E27FC236}">
                <a16:creationId xmlns:a16="http://schemas.microsoft.com/office/drawing/2014/main" id="{7ABB6C12-96C6-ACB5-E20B-B055D078AAFC}"/>
              </a:ext>
            </a:extLst>
          </p:cNvPr>
          <p:cNvPicPr>
            <a:picLocks noGrp="1" noChangeAspect="1"/>
          </p:cNvPicPr>
          <p:nvPr>
            <p:ph idx="1"/>
          </p:nvPr>
        </p:nvPicPr>
        <p:blipFill>
          <a:blip r:embed="rId2"/>
          <a:stretch>
            <a:fillRect/>
          </a:stretch>
        </p:blipFill>
        <p:spPr>
          <a:xfrm>
            <a:off x="662152" y="679007"/>
            <a:ext cx="10152993" cy="6207600"/>
          </a:xfrm>
        </p:spPr>
      </p:pic>
    </p:spTree>
    <p:extLst>
      <p:ext uri="{BB962C8B-B14F-4D97-AF65-F5344CB8AC3E}">
        <p14:creationId xmlns:p14="http://schemas.microsoft.com/office/powerpoint/2010/main" val="18152753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327EC-A95B-316E-43D7-1840D02E277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2EA03F0-45C3-2D5B-104C-60511B094775}"/>
              </a:ext>
            </a:extLst>
          </p:cNvPr>
          <p:cNvPicPr>
            <a:picLocks noGrp="1" noChangeAspect="1"/>
          </p:cNvPicPr>
          <p:nvPr>
            <p:ph idx="1"/>
          </p:nvPr>
        </p:nvPicPr>
        <p:blipFill>
          <a:blip r:embed="rId2"/>
          <a:stretch>
            <a:fillRect/>
          </a:stretch>
        </p:blipFill>
        <p:spPr>
          <a:xfrm>
            <a:off x="3421117" y="416256"/>
            <a:ext cx="4792717" cy="6423487"/>
          </a:xfrm>
        </p:spPr>
      </p:pic>
    </p:spTree>
    <p:extLst>
      <p:ext uri="{BB962C8B-B14F-4D97-AF65-F5344CB8AC3E}">
        <p14:creationId xmlns:p14="http://schemas.microsoft.com/office/powerpoint/2010/main" val="20328534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8F4A-48E7-67AA-F14D-CC7C569C6F9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2FFB209-0DEE-32D0-EAF9-3C766529F7E3}"/>
              </a:ext>
            </a:extLst>
          </p:cNvPr>
          <p:cNvPicPr>
            <a:picLocks noGrp="1" noChangeAspect="1"/>
          </p:cNvPicPr>
          <p:nvPr>
            <p:ph idx="1"/>
          </p:nvPr>
        </p:nvPicPr>
        <p:blipFill>
          <a:blip r:embed="rId2"/>
          <a:stretch>
            <a:fillRect/>
          </a:stretch>
        </p:blipFill>
        <p:spPr>
          <a:xfrm>
            <a:off x="1111508" y="365125"/>
            <a:ext cx="8773471" cy="6400216"/>
          </a:xfrm>
        </p:spPr>
      </p:pic>
    </p:spTree>
    <p:extLst>
      <p:ext uri="{BB962C8B-B14F-4D97-AF65-F5344CB8AC3E}">
        <p14:creationId xmlns:p14="http://schemas.microsoft.com/office/powerpoint/2010/main" val="6667101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021CB-4251-26C2-E4FB-3ED4AC48FA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75CEEA-A803-B5E3-EDF8-3F1DB947FF94}"/>
              </a:ext>
            </a:extLst>
          </p:cNvPr>
          <p:cNvSpPr>
            <a:spLocks noGrp="1"/>
          </p:cNvSpPr>
          <p:nvPr>
            <p:ph idx="1"/>
          </p:nvPr>
        </p:nvSpPr>
        <p:spPr/>
        <p:txBody>
          <a:bodyPr>
            <a:normAutofit fontScale="85000" lnSpcReduction="10000"/>
          </a:bodyPr>
          <a:lstStyle/>
          <a:p>
            <a:pPr algn="l" fontAlgn="base"/>
            <a:r>
              <a:rPr lang="en-US" b="1" i="0" dirty="0">
                <a:solidFill>
                  <a:srgbClr val="273239"/>
                </a:solidFill>
                <a:effectLst/>
                <a:latin typeface="Nunito" pitchFamily="2" charset="0"/>
              </a:rPr>
              <a:t>Advantages of VHDL</a:t>
            </a:r>
          </a:p>
          <a:p>
            <a:pPr algn="l" fontAlgn="base">
              <a:spcAft>
                <a:spcPts val="1800"/>
              </a:spcAft>
              <a:buFont typeface="+mj-lt"/>
              <a:buAutoNum type="arabicPeriod"/>
            </a:pPr>
            <a:r>
              <a:rPr lang="en-US" b="0" i="0" dirty="0">
                <a:solidFill>
                  <a:srgbClr val="273239"/>
                </a:solidFill>
                <a:effectLst/>
                <a:latin typeface="Nunito" pitchFamily="2" charset="0"/>
              </a:rPr>
              <a:t>VHDL is a standard language and has simpler syntax like Ada language.</a:t>
            </a:r>
          </a:p>
          <a:p>
            <a:pPr algn="l" fontAlgn="base">
              <a:spcAft>
                <a:spcPts val="1800"/>
              </a:spcAft>
              <a:buFont typeface="+mj-lt"/>
              <a:buAutoNum type="arabicPeriod" startAt="2"/>
            </a:pPr>
            <a:r>
              <a:rPr lang="en-US" b="0" i="0" dirty="0">
                <a:solidFill>
                  <a:srgbClr val="273239"/>
                </a:solidFill>
                <a:effectLst/>
                <a:latin typeface="Nunito" pitchFamily="2" charset="0"/>
              </a:rPr>
              <a:t>It describes the behavior of digital circuits and systems using testbench.</a:t>
            </a:r>
          </a:p>
          <a:p>
            <a:pPr algn="l" fontAlgn="base">
              <a:spcAft>
                <a:spcPts val="1800"/>
              </a:spcAft>
              <a:buFont typeface="+mj-lt"/>
              <a:buAutoNum type="arabicPeriod" startAt="3"/>
            </a:pPr>
            <a:r>
              <a:rPr lang="en-US" b="0" i="0" dirty="0">
                <a:solidFill>
                  <a:srgbClr val="273239"/>
                </a:solidFill>
                <a:effectLst/>
                <a:latin typeface="Nunito" pitchFamily="2" charset="0"/>
              </a:rPr>
              <a:t>It is a strongly typed language. It supports a multi-level abstraction.</a:t>
            </a:r>
          </a:p>
          <a:p>
            <a:pPr algn="l" fontAlgn="base">
              <a:spcAft>
                <a:spcPts val="1800"/>
              </a:spcAft>
              <a:buFont typeface="+mj-lt"/>
              <a:buAutoNum type="arabicPeriod" startAt="4"/>
            </a:pPr>
            <a:r>
              <a:rPr lang="en-US" b="0" i="0" dirty="0">
                <a:solidFill>
                  <a:srgbClr val="273239"/>
                </a:solidFill>
                <a:effectLst/>
                <a:latin typeface="Nunito" pitchFamily="2" charset="0"/>
              </a:rPr>
              <a:t>Signed and unsigned numbers can be used in VHDL.</a:t>
            </a:r>
          </a:p>
          <a:p>
            <a:pPr algn="l" fontAlgn="base">
              <a:spcAft>
                <a:spcPts val="1800"/>
              </a:spcAft>
              <a:buFont typeface="+mj-lt"/>
              <a:buAutoNum type="arabicPeriod" startAt="5"/>
            </a:pPr>
            <a:r>
              <a:rPr lang="en-US" b="0" i="0" dirty="0">
                <a:solidFill>
                  <a:srgbClr val="273239"/>
                </a:solidFill>
                <a:effectLst/>
                <a:latin typeface="Nunito" pitchFamily="2" charset="0"/>
              </a:rPr>
              <a:t>VHDL language supports readily available tools, supports all CAD tools.</a:t>
            </a:r>
          </a:p>
          <a:p>
            <a:endParaRPr lang="en-IN" dirty="0"/>
          </a:p>
        </p:txBody>
      </p:sp>
    </p:spTree>
    <p:extLst>
      <p:ext uri="{BB962C8B-B14F-4D97-AF65-F5344CB8AC3E}">
        <p14:creationId xmlns:p14="http://schemas.microsoft.com/office/powerpoint/2010/main" val="1809915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5CBB8-C67C-EA4D-1F90-6C95743F8E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3F7BD4-286F-84D0-8B41-63717AD3DD74}"/>
              </a:ext>
            </a:extLst>
          </p:cNvPr>
          <p:cNvSpPr>
            <a:spLocks noGrp="1"/>
          </p:cNvSpPr>
          <p:nvPr>
            <p:ph idx="1"/>
          </p:nvPr>
        </p:nvSpPr>
        <p:spPr/>
        <p:txBody>
          <a:bodyPr>
            <a:normAutofit fontScale="92500" lnSpcReduction="20000"/>
          </a:bodyPr>
          <a:lstStyle/>
          <a:p>
            <a:pPr algn="l" fontAlgn="base"/>
            <a:r>
              <a:rPr lang="en-US" b="1" i="0" dirty="0">
                <a:solidFill>
                  <a:srgbClr val="273239"/>
                </a:solidFill>
                <a:effectLst/>
                <a:latin typeface="Nunito" pitchFamily="2" charset="0"/>
              </a:rPr>
              <a:t>Disadvantages of VHDL</a:t>
            </a:r>
          </a:p>
          <a:p>
            <a:pPr algn="l" fontAlgn="base">
              <a:spcAft>
                <a:spcPts val="1800"/>
              </a:spcAft>
              <a:buFont typeface="+mj-lt"/>
              <a:buAutoNum type="arabicPeriod"/>
            </a:pPr>
            <a:r>
              <a:rPr lang="en-US" b="0" i="0" dirty="0">
                <a:solidFill>
                  <a:srgbClr val="273239"/>
                </a:solidFill>
                <a:effectLst/>
                <a:latin typeface="Nunito" pitchFamily="2" charset="0"/>
              </a:rPr>
              <a:t>It has more wordy and complicated coding.</a:t>
            </a:r>
          </a:p>
          <a:p>
            <a:pPr algn="l" fontAlgn="base">
              <a:spcAft>
                <a:spcPts val="1800"/>
              </a:spcAft>
              <a:buFont typeface="+mj-lt"/>
              <a:buAutoNum type="arabicPeriod" startAt="2"/>
            </a:pPr>
            <a:r>
              <a:rPr lang="en-US" b="0" i="0" dirty="0">
                <a:solidFill>
                  <a:srgbClr val="273239"/>
                </a:solidFill>
                <a:effectLst/>
                <a:latin typeface="Nunito" pitchFamily="2" charset="0"/>
              </a:rPr>
              <a:t>Every bit vector use the keyword "down to" is very tedious.</a:t>
            </a:r>
          </a:p>
          <a:p>
            <a:pPr algn="l" fontAlgn="base">
              <a:spcAft>
                <a:spcPts val="1800"/>
              </a:spcAft>
              <a:buFont typeface="+mj-lt"/>
              <a:buAutoNum type="arabicPeriod" startAt="3"/>
            </a:pPr>
            <a:r>
              <a:rPr lang="en-US" b="0" i="0" dirty="0">
                <a:solidFill>
                  <a:srgbClr val="273239"/>
                </a:solidFill>
                <a:effectLst/>
                <a:latin typeface="Nunito" pitchFamily="2" charset="0"/>
              </a:rPr>
              <a:t>Sometimes very long sensitivity list must have in each process.</a:t>
            </a:r>
          </a:p>
          <a:p>
            <a:pPr algn="l" fontAlgn="base">
              <a:spcAft>
                <a:spcPts val="1800"/>
              </a:spcAft>
              <a:buFont typeface="+mj-lt"/>
              <a:buAutoNum type="arabicPeriod" startAt="4"/>
            </a:pPr>
            <a:r>
              <a:rPr lang="en-US" b="0" i="0" dirty="0">
                <a:solidFill>
                  <a:srgbClr val="273239"/>
                </a:solidFill>
                <a:effectLst/>
                <a:latin typeface="Nunito" pitchFamily="2" charset="0"/>
              </a:rPr>
              <a:t>Missing a single signal in sensitivity list may fail simulation and synthesis.</a:t>
            </a:r>
          </a:p>
          <a:p>
            <a:pPr algn="l" fontAlgn="base">
              <a:spcAft>
                <a:spcPts val="1800"/>
              </a:spcAft>
              <a:buFont typeface="+mj-lt"/>
              <a:buAutoNum type="arabicPeriod" startAt="5"/>
            </a:pPr>
            <a:r>
              <a:rPr lang="en-US" b="0" i="0" dirty="0">
                <a:solidFill>
                  <a:srgbClr val="273239"/>
                </a:solidFill>
                <a:effectLst/>
                <a:latin typeface="Nunito" pitchFamily="2" charset="0"/>
              </a:rPr>
              <a:t>Synthesized hardware from a VHDL description may not always be immediately obvious.</a:t>
            </a:r>
          </a:p>
          <a:p>
            <a:endParaRPr lang="en-IN" dirty="0"/>
          </a:p>
        </p:txBody>
      </p:sp>
    </p:spTree>
    <p:extLst>
      <p:ext uri="{BB962C8B-B14F-4D97-AF65-F5344CB8AC3E}">
        <p14:creationId xmlns:p14="http://schemas.microsoft.com/office/powerpoint/2010/main" val="11696811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039D1-84B8-DB1B-FDE3-7AA0904A8315}"/>
              </a:ext>
            </a:extLst>
          </p:cNvPr>
          <p:cNvSpPr>
            <a:spLocks noGrp="1"/>
          </p:cNvSpPr>
          <p:nvPr>
            <p:ph type="title"/>
          </p:nvPr>
        </p:nvSpPr>
        <p:spPr/>
        <p:txBody>
          <a:bodyPr/>
          <a:lstStyle/>
          <a:p>
            <a:r>
              <a:rPr lang="en-US" dirty="0">
                <a:solidFill>
                  <a:schemeClr val="accent2">
                    <a:lumMod val="75000"/>
                  </a:schemeClr>
                </a:solidFill>
              </a:rPr>
              <a:t>Physical Constraints</a:t>
            </a:r>
            <a:endParaRPr lang="en-IN" dirty="0">
              <a:solidFill>
                <a:schemeClr val="accent2">
                  <a:lumMod val="75000"/>
                </a:schemeClr>
              </a:solidFill>
            </a:endParaRPr>
          </a:p>
        </p:txBody>
      </p:sp>
      <p:sp>
        <p:nvSpPr>
          <p:cNvPr id="3" name="Content Placeholder 2">
            <a:extLst>
              <a:ext uri="{FF2B5EF4-FFF2-40B4-BE49-F238E27FC236}">
                <a16:creationId xmlns:a16="http://schemas.microsoft.com/office/drawing/2014/main" id="{C736BC0E-F455-253E-4AEF-88462D8960B9}"/>
              </a:ext>
            </a:extLst>
          </p:cNvPr>
          <p:cNvSpPr>
            <a:spLocks noGrp="1"/>
          </p:cNvSpPr>
          <p:nvPr>
            <p:ph idx="1"/>
          </p:nvPr>
        </p:nvSpPr>
        <p:spPr/>
        <p:txBody>
          <a:bodyPr/>
          <a:lstStyle/>
          <a:p>
            <a:pPr algn="l" fontAlgn="ctr">
              <a:spcAft>
                <a:spcPts val="750"/>
              </a:spcAft>
            </a:pPr>
            <a:r>
              <a:rPr lang="en-US" b="0" i="0" dirty="0">
                <a:solidFill>
                  <a:srgbClr val="001D35"/>
                </a:solidFill>
                <a:effectLst/>
                <a:latin typeface="Google Sans"/>
              </a:rPr>
              <a:t>Physical constraints in digital systems include gate delay, fan-in, fan-out, and power: </a:t>
            </a:r>
          </a:p>
          <a:p>
            <a:pPr algn="l" fontAlgn="ctr">
              <a:spcBef>
                <a:spcPts val="750"/>
              </a:spcBef>
              <a:spcAft>
                <a:spcPts val="600"/>
              </a:spcAft>
              <a:buFont typeface="Arial" panose="020B0604020202020204" pitchFamily="34" charset="0"/>
              <a:buChar char="•"/>
            </a:pPr>
            <a:r>
              <a:rPr lang="en-US" b="1" i="0" dirty="0">
                <a:solidFill>
                  <a:srgbClr val="001D35"/>
                </a:solidFill>
                <a:effectLst/>
                <a:latin typeface="Google Sans"/>
              </a:rPr>
              <a:t>Gate delay</a:t>
            </a:r>
            <a:r>
              <a:rPr lang="en-US" b="0" i="0" dirty="0">
                <a:solidFill>
                  <a:srgbClr val="001D35"/>
                </a:solidFill>
                <a:effectLst/>
                <a:latin typeface="Google Sans"/>
              </a:rPr>
              <a:t>: The time it takes for a gate to propagate an input signal to the output. It's measured in nanoseconds. </a:t>
            </a:r>
          </a:p>
          <a:p>
            <a:pPr algn="l" fontAlgn="ctr">
              <a:spcBef>
                <a:spcPts val="750"/>
              </a:spcBef>
              <a:spcAft>
                <a:spcPts val="600"/>
              </a:spcAft>
              <a:buFont typeface="Arial" panose="020B0604020202020204" pitchFamily="34" charset="0"/>
              <a:buChar char="•"/>
            </a:pPr>
            <a:r>
              <a:rPr lang="en-US" b="1" i="0" dirty="0">
                <a:solidFill>
                  <a:srgbClr val="001D35"/>
                </a:solidFill>
                <a:effectLst/>
                <a:latin typeface="Google Sans"/>
              </a:rPr>
              <a:t>Fan-in</a:t>
            </a:r>
            <a:r>
              <a:rPr lang="en-US" b="0" i="0" dirty="0">
                <a:solidFill>
                  <a:srgbClr val="001D35"/>
                </a:solidFill>
                <a:effectLst/>
                <a:latin typeface="Google Sans"/>
              </a:rPr>
              <a:t>: The maximum number of inputs that can be connected to a logic gate. </a:t>
            </a:r>
          </a:p>
          <a:p>
            <a:endParaRPr lang="en-IN" dirty="0"/>
          </a:p>
        </p:txBody>
      </p:sp>
      <p:pic>
        <p:nvPicPr>
          <p:cNvPr id="5" name="Picture 4">
            <a:extLst>
              <a:ext uri="{FF2B5EF4-FFF2-40B4-BE49-F238E27FC236}">
                <a16:creationId xmlns:a16="http://schemas.microsoft.com/office/drawing/2014/main" id="{B90039FE-D332-2D06-AE56-BC896D4D2ECF}"/>
              </a:ext>
            </a:extLst>
          </p:cNvPr>
          <p:cNvPicPr>
            <a:picLocks noChangeAspect="1"/>
          </p:cNvPicPr>
          <p:nvPr/>
        </p:nvPicPr>
        <p:blipFill>
          <a:blip r:embed="rId2"/>
          <a:stretch>
            <a:fillRect/>
          </a:stretch>
        </p:blipFill>
        <p:spPr>
          <a:xfrm>
            <a:off x="5340076" y="4338801"/>
            <a:ext cx="3189069" cy="2076603"/>
          </a:xfrm>
          <a:prstGeom prst="rect">
            <a:avLst/>
          </a:prstGeom>
        </p:spPr>
      </p:pic>
    </p:spTree>
    <p:extLst>
      <p:ext uri="{BB962C8B-B14F-4D97-AF65-F5344CB8AC3E}">
        <p14:creationId xmlns:p14="http://schemas.microsoft.com/office/powerpoint/2010/main" val="24330250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D8F2-5C40-FE70-8899-7915E7309A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E533C4-F80D-6EB7-2BB4-431348835C19}"/>
              </a:ext>
            </a:extLst>
          </p:cNvPr>
          <p:cNvSpPr>
            <a:spLocks noGrp="1"/>
          </p:cNvSpPr>
          <p:nvPr>
            <p:ph idx="1"/>
          </p:nvPr>
        </p:nvSpPr>
        <p:spPr/>
        <p:txBody>
          <a:bodyPr/>
          <a:lstStyle/>
          <a:p>
            <a:r>
              <a:rPr lang="en-US" b="1" i="0" dirty="0">
                <a:solidFill>
                  <a:srgbClr val="001D35"/>
                </a:solidFill>
                <a:effectLst/>
                <a:latin typeface="Google Sans"/>
              </a:rPr>
              <a:t>Fan-out</a:t>
            </a:r>
            <a:r>
              <a:rPr lang="en-US" b="0" i="0" dirty="0">
                <a:solidFill>
                  <a:srgbClr val="001D35"/>
                </a:solidFill>
                <a:effectLst/>
                <a:latin typeface="Google Sans"/>
              </a:rPr>
              <a:t>: The maximum number of units that can be connected to the output of a logic gate. </a:t>
            </a:r>
          </a:p>
          <a:p>
            <a:endParaRPr lang="en-IN" dirty="0"/>
          </a:p>
        </p:txBody>
      </p:sp>
      <p:pic>
        <p:nvPicPr>
          <p:cNvPr id="5" name="Picture 4">
            <a:extLst>
              <a:ext uri="{FF2B5EF4-FFF2-40B4-BE49-F238E27FC236}">
                <a16:creationId xmlns:a16="http://schemas.microsoft.com/office/drawing/2014/main" id="{C1BDE764-21EC-8C65-FF02-5B3B0B791027}"/>
              </a:ext>
            </a:extLst>
          </p:cNvPr>
          <p:cNvPicPr>
            <a:picLocks noChangeAspect="1"/>
          </p:cNvPicPr>
          <p:nvPr/>
        </p:nvPicPr>
        <p:blipFill>
          <a:blip r:embed="rId2"/>
          <a:stretch>
            <a:fillRect/>
          </a:stretch>
        </p:blipFill>
        <p:spPr>
          <a:xfrm>
            <a:off x="4978947" y="2606565"/>
            <a:ext cx="2556970" cy="3190348"/>
          </a:xfrm>
          <a:prstGeom prst="rect">
            <a:avLst/>
          </a:prstGeom>
        </p:spPr>
      </p:pic>
    </p:spTree>
    <p:extLst>
      <p:ext uri="{BB962C8B-B14F-4D97-AF65-F5344CB8AC3E}">
        <p14:creationId xmlns:p14="http://schemas.microsoft.com/office/powerpoint/2010/main" val="9555329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3F128-9431-87FE-A549-BB27F6F630AD}"/>
              </a:ext>
            </a:extLst>
          </p:cNvPr>
          <p:cNvSpPr>
            <a:spLocks noGrp="1"/>
          </p:cNvSpPr>
          <p:nvPr>
            <p:ph type="title"/>
          </p:nvPr>
        </p:nvSpPr>
        <p:spPr/>
        <p:txBody>
          <a:bodyPr/>
          <a:lstStyle/>
          <a:p>
            <a:r>
              <a:rPr lang="en-US" b="0" i="0" dirty="0">
                <a:solidFill>
                  <a:srgbClr val="001D35"/>
                </a:solidFill>
                <a:effectLst/>
                <a:latin typeface="Google Sans"/>
              </a:rPr>
              <a:t>Instruction set architecture (ISA)</a:t>
            </a:r>
            <a:endParaRPr lang="en-IN" dirty="0"/>
          </a:p>
        </p:txBody>
      </p:sp>
      <p:sp>
        <p:nvSpPr>
          <p:cNvPr id="3" name="Content Placeholder 2">
            <a:extLst>
              <a:ext uri="{FF2B5EF4-FFF2-40B4-BE49-F238E27FC236}">
                <a16:creationId xmlns:a16="http://schemas.microsoft.com/office/drawing/2014/main" id="{C8F2F9F7-7B2E-FFCA-F11B-C61AC751D87A}"/>
              </a:ext>
            </a:extLst>
          </p:cNvPr>
          <p:cNvSpPr>
            <a:spLocks noGrp="1"/>
          </p:cNvSpPr>
          <p:nvPr>
            <p:ph idx="1"/>
          </p:nvPr>
        </p:nvSpPr>
        <p:spPr/>
        <p:txBody>
          <a:bodyPr/>
          <a:lstStyle/>
          <a:p>
            <a:r>
              <a:rPr lang="en-US" b="0" i="0" dirty="0">
                <a:solidFill>
                  <a:srgbClr val="001D35"/>
                </a:solidFill>
                <a:effectLst/>
                <a:latin typeface="Google Sans"/>
              </a:rPr>
              <a:t>Instruction set architecture (ISA) is the code that a computer's processor (CPU) can understand. </a:t>
            </a:r>
          </a:p>
          <a:p>
            <a:r>
              <a:rPr lang="en-US" b="0" i="0" dirty="0">
                <a:solidFill>
                  <a:srgbClr val="001D35"/>
                </a:solidFill>
                <a:effectLst/>
                <a:latin typeface="Google Sans"/>
              </a:rPr>
              <a:t>It's written in machine language, which is made up of 1s and 0s. </a:t>
            </a:r>
          </a:p>
          <a:p>
            <a:r>
              <a:rPr lang="en-US" b="0" i="0" dirty="0">
                <a:solidFill>
                  <a:srgbClr val="001D35"/>
                </a:solidFill>
                <a:effectLst/>
                <a:latin typeface="Google Sans"/>
              </a:rPr>
              <a:t>The instructions in ISA control how bits and bytes move within the processor. </a:t>
            </a:r>
            <a:endParaRPr lang="en-IN" dirty="0"/>
          </a:p>
        </p:txBody>
      </p:sp>
    </p:spTree>
    <p:extLst>
      <p:ext uri="{BB962C8B-B14F-4D97-AF65-F5344CB8AC3E}">
        <p14:creationId xmlns:p14="http://schemas.microsoft.com/office/powerpoint/2010/main" val="165718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656871-5381-D1ED-5D49-44FAA3502F63}"/>
              </a:ext>
            </a:extLst>
          </p:cNvPr>
          <p:cNvSpPr>
            <a:spLocks noGrp="1"/>
          </p:cNvSpPr>
          <p:nvPr>
            <p:ph idx="1"/>
          </p:nvPr>
        </p:nvSpPr>
        <p:spPr>
          <a:xfrm>
            <a:off x="0" y="110358"/>
            <a:ext cx="12192000" cy="6747641"/>
          </a:xfrm>
        </p:spPr>
        <p:txBody>
          <a:bodyPr>
            <a:normAutofit/>
          </a:bodyPr>
          <a:lstStyle/>
          <a:p>
            <a:pPr algn="just"/>
            <a:r>
              <a:rPr lang="en-US" b="0" i="0" dirty="0">
                <a:solidFill>
                  <a:srgbClr val="333E48"/>
                </a:solidFill>
                <a:effectLst/>
                <a:latin typeface="Lato" panose="020F0502020204030203" pitchFamily="34" charset="0"/>
              </a:rPr>
              <a:t> </a:t>
            </a:r>
            <a:r>
              <a:rPr lang="en-US" b="0" i="0" dirty="0">
                <a:solidFill>
                  <a:srgbClr val="333E48"/>
                </a:solidFill>
                <a:effectLst/>
                <a:latin typeface="Times New Roman" panose="02020603050405020304" pitchFamily="18" charset="0"/>
                <a:cs typeface="Times New Roman" panose="02020603050405020304" pitchFamily="18" charset="0"/>
              </a:rPr>
              <a:t>The ISA acts as an interface between the hardware and the software, specifying both what the processor is capable of doing as well as how it gets done.</a:t>
            </a:r>
          </a:p>
          <a:p>
            <a:pPr algn="just"/>
            <a:endParaRPr lang="en-US" b="0" i="0" dirty="0">
              <a:solidFill>
                <a:srgbClr val="333E48"/>
              </a:solidFill>
              <a:effectLst/>
              <a:latin typeface="Times New Roman" panose="02020603050405020304" pitchFamily="18" charset="0"/>
              <a:cs typeface="Times New Roman" panose="02020603050405020304" pitchFamily="18" charset="0"/>
            </a:endParaRPr>
          </a:p>
          <a:p>
            <a:pPr algn="just"/>
            <a:r>
              <a:rPr lang="en-US" b="0" i="0" dirty="0">
                <a:solidFill>
                  <a:srgbClr val="333E48"/>
                </a:solidFill>
                <a:effectLst/>
                <a:latin typeface="Times New Roman" panose="02020603050405020304" pitchFamily="18" charset="0"/>
                <a:cs typeface="Times New Roman" panose="02020603050405020304" pitchFamily="18" charset="0"/>
              </a:rPr>
              <a:t>The ISA provides the only way through which a user is able to interact with the hardware. It can be viewed as a programmer’s manual because it’s the portion of the machine that’s visible to the assembly language programmer, the compiler writer, and the application programmer.</a:t>
            </a:r>
          </a:p>
          <a:p>
            <a:pPr algn="just"/>
            <a:endParaRPr lang="en-US" b="0" i="0" dirty="0">
              <a:solidFill>
                <a:srgbClr val="333E48"/>
              </a:solidFill>
              <a:effectLst/>
              <a:latin typeface="Times New Roman" panose="02020603050405020304" pitchFamily="18" charset="0"/>
              <a:cs typeface="Times New Roman" panose="02020603050405020304" pitchFamily="18" charset="0"/>
            </a:endParaRPr>
          </a:p>
          <a:p>
            <a:pPr algn="just"/>
            <a:r>
              <a:rPr lang="en-US" b="0" i="0" dirty="0">
                <a:solidFill>
                  <a:srgbClr val="333E48"/>
                </a:solidFill>
                <a:effectLst/>
                <a:latin typeface="Times New Roman" panose="02020603050405020304" pitchFamily="18" charset="0"/>
                <a:cs typeface="Times New Roman" panose="02020603050405020304" pitchFamily="18" charset="0"/>
              </a:rPr>
              <a:t>The ISA defines the supported data types, the registers, how the hardware manages main memory, key features (such as virtual memory), which instructions a microprocessor can execute, and the input/output model of multiple ISA implementations. The ISA can be extended by adding instructions or other capabilities, or by adding support for larger addresses and data values.</a:t>
            </a:r>
          </a:p>
          <a:p>
            <a:pPr algn="just"/>
            <a:r>
              <a:rPr lang="en-US" b="0" i="0" dirty="0">
                <a:solidFill>
                  <a:srgbClr val="333E48"/>
                </a:solidFill>
                <a:effectLst/>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4803220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90980-BFA8-8867-54D9-041F0249BA73}"/>
              </a:ext>
            </a:extLst>
          </p:cNvPr>
          <p:cNvSpPr>
            <a:spLocks noGrp="1"/>
          </p:cNvSpPr>
          <p:nvPr>
            <p:ph type="title"/>
          </p:nvPr>
        </p:nvSpPr>
        <p:spPr/>
        <p:txBody>
          <a:bodyPr/>
          <a:lstStyle/>
          <a:p>
            <a:r>
              <a:rPr lang="en-US" dirty="0" err="1"/>
              <a:t>Eg</a:t>
            </a:r>
            <a:r>
              <a:rPr lang="en-US" dirty="0"/>
              <a:t> of ISA</a:t>
            </a:r>
            <a:endParaRPr lang="en-IN" dirty="0"/>
          </a:p>
        </p:txBody>
      </p:sp>
      <p:sp>
        <p:nvSpPr>
          <p:cNvPr id="3" name="Content Placeholder 2">
            <a:extLst>
              <a:ext uri="{FF2B5EF4-FFF2-40B4-BE49-F238E27FC236}">
                <a16:creationId xmlns:a16="http://schemas.microsoft.com/office/drawing/2014/main" id="{B104A8B7-E330-81CF-604A-31C6FC85E1B4}"/>
              </a:ext>
            </a:extLst>
          </p:cNvPr>
          <p:cNvSpPr>
            <a:spLocks noGrp="1"/>
          </p:cNvSpPr>
          <p:nvPr>
            <p:ph idx="1"/>
          </p:nvPr>
        </p:nvSpPr>
        <p:spPr>
          <a:xfrm>
            <a:off x="488731" y="1825625"/>
            <a:ext cx="10865069" cy="4667250"/>
          </a:xfrm>
        </p:spPr>
        <p:txBody>
          <a:bodyPr>
            <a:normAutofit/>
          </a:bodyPr>
          <a:lstStyle/>
          <a:p>
            <a:r>
              <a:rPr lang="en-US" b="1" dirty="0"/>
              <a:t>ARM: </a:t>
            </a:r>
            <a:r>
              <a:rPr lang="en-US" dirty="0"/>
              <a:t>An Advanced RISC Machine processor that is commonly used in mobile devices, such as Apple's iPhones, iPods, and iPads, and most Android phones</a:t>
            </a:r>
          </a:p>
          <a:p>
            <a:r>
              <a:rPr lang="en-US" b="1" dirty="0"/>
              <a:t>MIPS</a:t>
            </a:r>
            <a:r>
              <a:rPr lang="en-US" dirty="0"/>
              <a:t>: A Microprocessor without Interlocked Pipeline Stages processor that is often used in embedded systems like video game consoles</a:t>
            </a:r>
          </a:p>
          <a:p>
            <a:r>
              <a:rPr lang="en-US" b="1" dirty="0"/>
              <a:t>IA-32: </a:t>
            </a:r>
            <a:r>
              <a:rPr lang="en-US" dirty="0"/>
              <a:t>The dominant ISA design on desktops and laptops</a:t>
            </a:r>
          </a:p>
          <a:p>
            <a:r>
              <a:rPr lang="en-US" b="1" dirty="0"/>
              <a:t>PowerPC: </a:t>
            </a:r>
            <a:r>
              <a:rPr lang="en-US" dirty="0"/>
              <a:t>Used on the Nintendo Wii, the </a:t>
            </a:r>
            <a:r>
              <a:rPr lang="en-US" dirty="0" err="1"/>
              <a:t>Gamecube</a:t>
            </a:r>
            <a:r>
              <a:rPr lang="en-US" dirty="0"/>
              <a:t>, and network devices such as switches and routers</a:t>
            </a:r>
          </a:p>
          <a:p>
            <a:r>
              <a:rPr lang="en-US" b="1" dirty="0"/>
              <a:t>Freescale's Power Architecture: </a:t>
            </a:r>
            <a:r>
              <a:rPr lang="en-US" dirty="0"/>
              <a:t>Used in the Xbox 360 and </a:t>
            </a:r>
            <a:r>
              <a:rPr lang="en-US" dirty="0" err="1"/>
              <a:t>Playstation</a:t>
            </a:r>
            <a:r>
              <a:rPr lang="en-US" dirty="0"/>
              <a:t> 3</a:t>
            </a:r>
          </a:p>
          <a:p>
            <a:r>
              <a:rPr lang="en-US" b="1" dirty="0"/>
              <a:t>Atmel AVR: </a:t>
            </a:r>
            <a:r>
              <a:rPr lang="en-US" dirty="0"/>
              <a:t>Used in embedded environments such as motor cars</a:t>
            </a:r>
            <a:endParaRPr lang="en-IN" dirty="0"/>
          </a:p>
        </p:txBody>
      </p:sp>
    </p:spTree>
    <p:extLst>
      <p:ext uri="{BB962C8B-B14F-4D97-AF65-F5344CB8AC3E}">
        <p14:creationId xmlns:p14="http://schemas.microsoft.com/office/powerpoint/2010/main" val="3207184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02C3A-4D53-FDC4-4516-300D8D60476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5435774-E8B4-6818-7E0D-C39A2282939E}"/>
              </a:ext>
            </a:extLst>
          </p:cNvPr>
          <p:cNvPicPr>
            <a:picLocks noGrp="1" noChangeAspect="1"/>
          </p:cNvPicPr>
          <p:nvPr>
            <p:ph idx="1"/>
          </p:nvPr>
        </p:nvPicPr>
        <p:blipFill>
          <a:blip r:embed="rId2"/>
          <a:stretch>
            <a:fillRect/>
          </a:stretch>
        </p:blipFill>
        <p:spPr>
          <a:xfrm>
            <a:off x="961697" y="24940"/>
            <a:ext cx="8923282" cy="6910798"/>
          </a:xfrm>
        </p:spPr>
      </p:pic>
    </p:spTree>
    <p:extLst>
      <p:ext uri="{BB962C8B-B14F-4D97-AF65-F5344CB8AC3E}">
        <p14:creationId xmlns:p14="http://schemas.microsoft.com/office/powerpoint/2010/main" val="39457805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CCA7-A8BE-F75C-A562-385205D78EA3}"/>
              </a:ext>
            </a:extLst>
          </p:cNvPr>
          <p:cNvSpPr>
            <a:spLocks noGrp="1"/>
          </p:cNvSpPr>
          <p:nvPr>
            <p:ph type="title"/>
          </p:nvPr>
        </p:nvSpPr>
        <p:spPr>
          <a:xfrm>
            <a:off x="0" y="-216766"/>
            <a:ext cx="10515600" cy="1325563"/>
          </a:xfrm>
        </p:spPr>
        <p:txBody>
          <a:bodyPr/>
          <a:lstStyle/>
          <a:p>
            <a:r>
              <a:rPr lang="en-US" dirty="0"/>
              <a:t>Evolution of ARM</a:t>
            </a:r>
            <a:endParaRPr lang="en-IN" dirty="0"/>
          </a:p>
        </p:txBody>
      </p:sp>
      <p:pic>
        <p:nvPicPr>
          <p:cNvPr id="5" name="Content Placeholder 4">
            <a:extLst>
              <a:ext uri="{FF2B5EF4-FFF2-40B4-BE49-F238E27FC236}">
                <a16:creationId xmlns:a16="http://schemas.microsoft.com/office/drawing/2014/main" id="{6F5C8C47-088F-1A04-6567-A91C0F56F5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358" y="1234280"/>
            <a:ext cx="12041642" cy="5465777"/>
          </a:xfrm>
        </p:spPr>
      </p:pic>
    </p:spTree>
    <p:extLst>
      <p:ext uri="{BB962C8B-B14F-4D97-AF65-F5344CB8AC3E}">
        <p14:creationId xmlns:p14="http://schemas.microsoft.com/office/powerpoint/2010/main" val="31701013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F9EF-351D-1EFF-03BC-49796173848A}"/>
              </a:ext>
            </a:extLst>
          </p:cNvPr>
          <p:cNvSpPr>
            <a:spLocks noGrp="1"/>
          </p:cNvSpPr>
          <p:nvPr>
            <p:ph type="title"/>
          </p:nvPr>
        </p:nvSpPr>
        <p:spPr>
          <a:xfrm>
            <a:off x="0" y="0"/>
            <a:ext cx="10515600" cy="1325563"/>
          </a:xfrm>
        </p:spPr>
        <p:txBody>
          <a:bodyPr/>
          <a:lstStyle/>
          <a:p>
            <a:r>
              <a:rPr lang="en-US" dirty="0"/>
              <a:t>FEATURES OF ARM</a:t>
            </a:r>
            <a:endParaRPr lang="en-IN" dirty="0"/>
          </a:p>
        </p:txBody>
      </p:sp>
      <p:pic>
        <p:nvPicPr>
          <p:cNvPr id="5" name="Content Placeholder 4">
            <a:extLst>
              <a:ext uri="{FF2B5EF4-FFF2-40B4-BE49-F238E27FC236}">
                <a16:creationId xmlns:a16="http://schemas.microsoft.com/office/drawing/2014/main" id="{75238284-788F-F0A5-0630-7EBCD5FD64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97776"/>
            <a:ext cx="12423944" cy="5960224"/>
          </a:xfrm>
        </p:spPr>
      </p:pic>
    </p:spTree>
    <p:extLst>
      <p:ext uri="{BB962C8B-B14F-4D97-AF65-F5344CB8AC3E}">
        <p14:creationId xmlns:p14="http://schemas.microsoft.com/office/powerpoint/2010/main" val="28957840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E9221-73B8-4A8E-6B2A-60CEA0082EE9}"/>
              </a:ext>
            </a:extLst>
          </p:cNvPr>
          <p:cNvSpPr>
            <a:spLocks noGrp="1"/>
          </p:cNvSpPr>
          <p:nvPr>
            <p:ph type="title"/>
          </p:nvPr>
        </p:nvSpPr>
        <p:spPr/>
        <p:txBody>
          <a:bodyPr/>
          <a:lstStyle/>
          <a:p>
            <a:r>
              <a:rPr lang="en-US" b="1" dirty="0">
                <a:solidFill>
                  <a:srgbClr val="FF0000"/>
                </a:solidFill>
              </a:rPr>
              <a:t>ARM Processor </a:t>
            </a:r>
            <a:endParaRPr lang="en-IN" b="1" dirty="0">
              <a:solidFill>
                <a:srgbClr val="FF0000"/>
              </a:solidFill>
            </a:endParaRPr>
          </a:p>
        </p:txBody>
      </p:sp>
      <p:sp>
        <p:nvSpPr>
          <p:cNvPr id="3" name="Content Placeholder 2">
            <a:extLst>
              <a:ext uri="{FF2B5EF4-FFF2-40B4-BE49-F238E27FC236}">
                <a16:creationId xmlns:a16="http://schemas.microsoft.com/office/drawing/2014/main" id="{B691222F-98CF-0CB5-F63C-19C776EC8A06}"/>
              </a:ext>
            </a:extLst>
          </p:cNvPr>
          <p:cNvSpPr>
            <a:spLocks noGrp="1"/>
          </p:cNvSpPr>
          <p:nvPr>
            <p:ph idx="1"/>
          </p:nvPr>
        </p:nvSpPr>
        <p:spPr>
          <a:xfrm>
            <a:off x="110359" y="1690688"/>
            <a:ext cx="12081641" cy="5167312"/>
          </a:xfrm>
        </p:spPr>
        <p:txBody>
          <a:bodyPr/>
          <a:lstStyle/>
          <a:p>
            <a:r>
              <a:rPr lang="en-US" b="0" i="0" dirty="0">
                <a:solidFill>
                  <a:srgbClr val="373D3F"/>
                </a:solidFill>
                <a:effectLst/>
                <a:latin typeface="Times New Roman" panose="02020603050405020304" pitchFamily="18" charset="0"/>
                <a:cs typeface="Times New Roman" panose="02020603050405020304" pitchFamily="18" charset="0"/>
              </a:rPr>
              <a:t>ARM is </a:t>
            </a:r>
            <a:r>
              <a:rPr lang="en-US" b="0" i="0" dirty="0" err="1">
                <a:solidFill>
                  <a:srgbClr val="373D3F"/>
                </a:solidFill>
                <a:effectLst/>
                <a:latin typeface="Times New Roman" panose="02020603050405020304" pitchFamily="18" charset="0"/>
                <a:cs typeface="Times New Roman" panose="02020603050405020304" pitchFamily="18" charset="0"/>
              </a:rPr>
              <a:t>apopular</a:t>
            </a:r>
            <a:r>
              <a:rPr lang="en-US" b="0" i="0" dirty="0">
                <a:solidFill>
                  <a:srgbClr val="373D3F"/>
                </a:solidFill>
                <a:effectLst/>
                <a:latin typeface="Times New Roman" panose="02020603050405020304" pitchFamily="18" charset="0"/>
                <a:cs typeface="Times New Roman" panose="02020603050405020304" pitchFamily="18" charset="0"/>
              </a:rPr>
              <a:t> low power embedded </a:t>
            </a:r>
            <a:r>
              <a:rPr lang="en-US" b="0" i="0" dirty="0" err="1">
                <a:solidFill>
                  <a:srgbClr val="373D3F"/>
                </a:solidFill>
                <a:effectLst/>
                <a:latin typeface="Times New Roman" panose="02020603050405020304" pitchFamily="18" charset="0"/>
                <a:cs typeface="Times New Roman" panose="02020603050405020304" pitchFamily="18" charset="0"/>
              </a:rPr>
              <a:t>processor.Itscore</a:t>
            </a:r>
            <a:r>
              <a:rPr lang="en-US" b="0" i="0" dirty="0">
                <a:solidFill>
                  <a:srgbClr val="373D3F"/>
                </a:solidFill>
                <a:effectLst/>
                <a:latin typeface="Times New Roman" panose="02020603050405020304" pitchFamily="18" charset="0"/>
                <a:cs typeface="Times New Roman" panose="02020603050405020304" pitchFamily="18" charset="0"/>
              </a:rPr>
              <a:t> is based on the RISC architecture. </a:t>
            </a:r>
          </a:p>
          <a:p>
            <a:r>
              <a:rPr lang="en-US" b="0" i="0" dirty="0">
                <a:solidFill>
                  <a:srgbClr val="373D3F"/>
                </a:solidFill>
                <a:effectLst/>
                <a:latin typeface="Times New Roman" panose="02020603050405020304" pitchFamily="18" charset="0"/>
                <a:cs typeface="Times New Roman" panose="02020603050405020304" pitchFamily="18" charset="0"/>
              </a:rPr>
              <a:t>In 1985 the first prototype was introduced under the name Acorn RISC machine later renamed as </a:t>
            </a:r>
            <a:r>
              <a:rPr lang="en-US" b="1" i="0" dirty="0">
                <a:solidFill>
                  <a:srgbClr val="7030A0"/>
                </a:solidFill>
                <a:effectLst/>
                <a:latin typeface="Times New Roman" panose="02020603050405020304" pitchFamily="18" charset="0"/>
                <a:cs typeface="Times New Roman" panose="02020603050405020304" pitchFamily="18" charset="0"/>
              </a:rPr>
              <a:t>A</a:t>
            </a:r>
            <a:r>
              <a:rPr lang="en-US" b="0" i="0" dirty="0">
                <a:solidFill>
                  <a:srgbClr val="7030A0"/>
                </a:solidFill>
                <a:effectLst/>
                <a:latin typeface="Times New Roman" panose="02020603050405020304" pitchFamily="18" charset="0"/>
                <a:cs typeface="Times New Roman" panose="02020603050405020304" pitchFamily="18" charset="0"/>
              </a:rPr>
              <a:t>dvanced</a:t>
            </a:r>
            <a:r>
              <a:rPr lang="en-US" b="1" i="0" dirty="0">
                <a:solidFill>
                  <a:srgbClr val="7030A0"/>
                </a:solidFill>
                <a:effectLst/>
                <a:latin typeface="Times New Roman" panose="02020603050405020304" pitchFamily="18" charset="0"/>
                <a:cs typeface="Times New Roman" panose="02020603050405020304" pitchFamily="18" charset="0"/>
              </a:rPr>
              <a:t> R</a:t>
            </a:r>
            <a:r>
              <a:rPr lang="en-US" b="0" i="0" dirty="0">
                <a:solidFill>
                  <a:srgbClr val="7030A0"/>
                </a:solidFill>
                <a:effectLst/>
                <a:latin typeface="Times New Roman" panose="02020603050405020304" pitchFamily="18" charset="0"/>
                <a:cs typeface="Times New Roman" panose="02020603050405020304" pitchFamily="18" charset="0"/>
              </a:rPr>
              <a:t>ISC</a:t>
            </a:r>
            <a:r>
              <a:rPr lang="en-US" b="1" i="0" dirty="0">
                <a:solidFill>
                  <a:srgbClr val="7030A0"/>
                </a:solidFill>
                <a:effectLst/>
                <a:latin typeface="Times New Roman" panose="02020603050405020304" pitchFamily="18" charset="0"/>
                <a:cs typeface="Times New Roman" panose="02020603050405020304" pitchFamily="18" charset="0"/>
              </a:rPr>
              <a:t> M</a:t>
            </a:r>
            <a:r>
              <a:rPr lang="en-US" b="0" i="0" dirty="0">
                <a:solidFill>
                  <a:srgbClr val="7030A0"/>
                </a:solidFill>
                <a:effectLst/>
                <a:latin typeface="Times New Roman" panose="02020603050405020304" pitchFamily="18" charset="0"/>
                <a:cs typeface="Times New Roman" panose="02020603050405020304" pitchFamily="18" charset="0"/>
              </a:rPr>
              <a:t>achine (ARM). </a:t>
            </a:r>
          </a:p>
          <a:p>
            <a:r>
              <a:rPr lang="en-US" b="0" i="0" dirty="0">
                <a:solidFill>
                  <a:srgbClr val="373D3F"/>
                </a:solidFill>
                <a:effectLst/>
                <a:latin typeface="Times New Roman" panose="02020603050405020304" pitchFamily="18" charset="0"/>
                <a:cs typeface="Times New Roman" panose="02020603050405020304" pitchFamily="18" charset="0"/>
              </a:rPr>
              <a:t>Being a RISC machine the design is simple which means it can be built by </a:t>
            </a:r>
            <a:r>
              <a:rPr lang="en-US" b="0" i="0" dirty="0">
                <a:solidFill>
                  <a:srgbClr val="7030A0"/>
                </a:solidFill>
                <a:effectLst/>
                <a:latin typeface="Times New Roman" panose="02020603050405020304" pitchFamily="18" charset="0"/>
                <a:cs typeface="Times New Roman" panose="02020603050405020304" pitchFamily="18" charset="0"/>
              </a:rPr>
              <a:t>less number of transistors. </a:t>
            </a:r>
          </a:p>
          <a:p>
            <a:r>
              <a:rPr lang="en-US" b="0" i="0" dirty="0">
                <a:solidFill>
                  <a:srgbClr val="373D3F"/>
                </a:solidFill>
                <a:effectLst/>
                <a:latin typeface="Times New Roman" panose="02020603050405020304" pitchFamily="18" charset="0"/>
                <a:cs typeface="Times New Roman" panose="02020603050405020304" pitchFamily="18" charset="0"/>
              </a:rPr>
              <a:t>It’s easy to program high density code and low power consumption makes it suitable for embedded applications.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595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68F30-12AF-867A-C4DC-47B42C9D1ECF}"/>
              </a:ext>
            </a:extLst>
          </p:cNvPr>
          <p:cNvSpPr>
            <a:spLocks noGrp="1"/>
          </p:cNvSpPr>
          <p:nvPr>
            <p:ph idx="1"/>
          </p:nvPr>
        </p:nvSpPr>
        <p:spPr>
          <a:xfrm>
            <a:off x="0" y="0"/>
            <a:ext cx="12192000" cy="6858000"/>
          </a:xfrm>
        </p:spPr>
        <p:txBody>
          <a:bodyPr/>
          <a:lstStyle/>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ARM is based on the </a:t>
            </a:r>
            <a:r>
              <a:rPr lang="en-US" b="0" i="0" dirty="0">
                <a:solidFill>
                  <a:srgbClr val="7030A0"/>
                </a:solidFill>
                <a:effectLst/>
                <a:latin typeface="Times New Roman" panose="02020603050405020304" pitchFamily="18" charset="0"/>
                <a:cs typeface="Times New Roman" panose="02020603050405020304" pitchFamily="18" charset="0"/>
              </a:rPr>
              <a:t>load store architecture.</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 This means the access of memory is done via these two instructions.</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The load instruction copies </a:t>
            </a:r>
            <a:r>
              <a:rPr lang="en-US" b="0" i="0" dirty="0">
                <a:solidFill>
                  <a:srgbClr val="7030A0"/>
                </a:solidFill>
                <a:effectLst/>
                <a:latin typeface="Times New Roman" panose="02020603050405020304" pitchFamily="18" charset="0"/>
                <a:cs typeface="Times New Roman" panose="02020603050405020304" pitchFamily="18" charset="0"/>
              </a:rPr>
              <a:t>data from memory to the register file</a:t>
            </a:r>
            <a:r>
              <a:rPr lang="en-US" b="0" i="0" dirty="0">
                <a:solidFill>
                  <a:srgbClr val="373D3F"/>
                </a:solidFill>
                <a:effectLst/>
                <a:latin typeface="Times New Roman" panose="02020603050405020304" pitchFamily="18" charset="0"/>
                <a:cs typeface="Times New Roman" panose="02020603050405020304" pitchFamily="18" charset="0"/>
              </a:rPr>
              <a:t>, whereas the store instruction writes the data from </a:t>
            </a:r>
            <a:r>
              <a:rPr lang="en-US" b="0" i="0" dirty="0">
                <a:solidFill>
                  <a:srgbClr val="7030A0"/>
                </a:solidFill>
                <a:effectLst/>
                <a:latin typeface="Times New Roman" panose="02020603050405020304" pitchFamily="18" charset="0"/>
                <a:cs typeface="Times New Roman" panose="02020603050405020304" pitchFamily="18" charset="0"/>
              </a:rPr>
              <a:t>the registers to the memory</a:t>
            </a:r>
            <a:r>
              <a:rPr lang="en-US" b="0" i="0" dirty="0">
                <a:solidFill>
                  <a:srgbClr val="373D3F"/>
                </a:solidFill>
                <a:effectLst/>
                <a:latin typeface="Times New Roman" panose="02020603050405020304" pitchFamily="18" charset="0"/>
                <a:cs typeface="Times New Roman" panose="02020603050405020304" pitchFamily="18" charset="0"/>
              </a:rPr>
              <a:t>. </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All the </a:t>
            </a:r>
            <a:r>
              <a:rPr lang="en-US" b="0" i="0" dirty="0">
                <a:solidFill>
                  <a:srgbClr val="7030A0"/>
                </a:solidFill>
                <a:effectLst/>
                <a:latin typeface="Times New Roman" panose="02020603050405020304" pitchFamily="18" charset="0"/>
                <a:cs typeface="Times New Roman" panose="02020603050405020304" pitchFamily="18" charset="0"/>
              </a:rPr>
              <a:t>arithmetic and logical instructions access only the register file, </a:t>
            </a:r>
            <a:r>
              <a:rPr lang="en-US" b="0" i="0" dirty="0">
                <a:solidFill>
                  <a:srgbClr val="373D3F"/>
                </a:solidFill>
                <a:effectLst/>
                <a:latin typeface="Times New Roman" panose="02020603050405020304" pitchFamily="18" charset="0"/>
                <a:cs typeface="Times New Roman" panose="02020603050405020304" pitchFamily="18" charset="0"/>
              </a:rPr>
              <a:t>thus keeping the operand access less time consuming and simple.</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Basically the core is a </a:t>
            </a:r>
            <a:r>
              <a:rPr lang="en-US" b="0" i="0" dirty="0">
                <a:solidFill>
                  <a:srgbClr val="7030A0"/>
                </a:solidFill>
                <a:effectLst/>
                <a:latin typeface="Times New Roman" panose="02020603050405020304" pitchFamily="18" charset="0"/>
                <a:cs typeface="Times New Roman" panose="02020603050405020304" pitchFamily="18" charset="0"/>
              </a:rPr>
              <a:t>32 bit processor</a:t>
            </a:r>
            <a:r>
              <a:rPr lang="en-US" b="0" i="0" dirty="0">
                <a:solidFill>
                  <a:srgbClr val="373D3F"/>
                </a:solidFill>
                <a:effectLst/>
                <a:latin typeface="Times New Roman" panose="02020603050405020304" pitchFamily="18" charset="0"/>
                <a:cs typeface="Times New Roman" panose="02020603050405020304" pitchFamily="18" charset="0"/>
              </a:rPr>
              <a:t>, extended to 64 bit from the revision ARM9 family onwards.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52855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2BA39-1C75-CC88-52A4-A7CB7B1290CE}"/>
              </a:ext>
            </a:extLst>
          </p:cNvPr>
          <p:cNvSpPr>
            <a:spLocks noGrp="1"/>
          </p:cNvSpPr>
          <p:nvPr>
            <p:ph type="title"/>
          </p:nvPr>
        </p:nvSpPr>
        <p:spPr/>
        <p:txBody>
          <a:bodyPr/>
          <a:lstStyle/>
          <a:p>
            <a:r>
              <a:rPr lang="en-IN" b="1" i="0" dirty="0">
                <a:solidFill>
                  <a:srgbClr val="373D3F"/>
                </a:solidFill>
                <a:effectLst/>
                <a:latin typeface="Lora" pitchFamily="2" charset="0"/>
              </a:rPr>
              <a:t>Functional Blocks of ARM</a:t>
            </a:r>
            <a:endParaRPr lang="en-IN" dirty="0"/>
          </a:p>
        </p:txBody>
      </p:sp>
      <p:pic>
        <p:nvPicPr>
          <p:cNvPr id="4" name="Content Placeholder 3">
            <a:extLst>
              <a:ext uri="{FF2B5EF4-FFF2-40B4-BE49-F238E27FC236}">
                <a16:creationId xmlns:a16="http://schemas.microsoft.com/office/drawing/2014/main" id="{209816A2-DBEB-1EAD-73AA-04F14C61D0B8}"/>
              </a:ext>
            </a:extLst>
          </p:cNvPr>
          <p:cNvPicPr>
            <a:picLocks noGrp="1" noChangeAspect="1"/>
          </p:cNvPicPr>
          <p:nvPr>
            <p:ph idx="1"/>
          </p:nvPr>
        </p:nvPicPr>
        <p:blipFill>
          <a:blip r:embed="rId2"/>
          <a:stretch>
            <a:fillRect/>
          </a:stretch>
        </p:blipFill>
        <p:spPr>
          <a:xfrm>
            <a:off x="3421117" y="1358039"/>
            <a:ext cx="6258911" cy="5383654"/>
          </a:xfrm>
          <a:prstGeom prst="rect">
            <a:avLst/>
          </a:prstGeom>
        </p:spPr>
      </p:pic>
    </p:spTree>
    <p:extLst>
      <p:ext uri="{BB962C8B-B14F-4D97-AF65-F5344CB8AC3E}">
        <p14:creationId xmlns:p14="http://schemas.microsoft.com/office/powerpoint/2010/main" val="37705850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E04EBF-4B60-9863-BC8B-3B9C09E63E26}"/>
              </a:ext>
            </a:extLst>
          </p:cNvPr>
          <p:cNvSpPr>
            <a:spLocks noGrp="1"/>
          </p:cNvSpPr>
          <p:nvPr>
            <p:ph idx="1"/>
          </p:nvPr>
        </p:nvSpPr>
        <p:spPr>
          <a:xfrm>
            <a:off x="0" y="0"/>
            <a:ext cx="12192000" cy="6858000"/>
          </a:xfrm>
        </p:spPr>
        <p:txBody>
          <a:bodyPr/>
          <a:lstStyle/>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The functional units are connected by data bus. </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The Arithmetic Logic Unit (ALU) and Multiply-Accumulate unit (MAC) retrieve value from data path A and B and store the answer back in the register file. </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One of the integral parts of the core is the Barrel Shifter (BS). </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It is used in pre-processing the source operand Rm. </a:t>
            </a:r>
          </a:p>
          <a:p>
            <a:pPr algn="just">
              <a:lnSpc>
                <a:spcPct val="10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The BS along with ALU is used in calculating many different expressions.</a:t>
            </a:r>
          </a:p>
          <a:p>
            <a:pPr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base address is generated by the ALU for the load and store instructions and stored in the address register. </a:t>
            </a:r>
          </a:p>
          <a:p>
            <a:pPr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core is capable of accessing an array of memory locations with help of the </a:t>
            </a:r>
            <a:r>
              <a:rPr lang="en-US" dirty="0" err="1">
                <a:latin typeface="Times New Roman" panose="02020603050405020304" pitchFamily="18" charset="0"/>
                <a:cs typeface="Times New Roman" panose="02020603050405020304" pitchFamily="18" charset="0"/>
              </a:rPr>
              <a:t>incrementer</a:t>
            </a:r>
            <a:r>
              <a:rPr lang="en-US" dirty="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It auto-increments, to access the next sequential memory location until an exception or interrupt changes the flow of execution.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9410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F79F5-3680-69A2-F296-16880279E1A1}"/>
              </a:ext>
            </a:extLst>
          </p:cNvPr>
          <p:cNvSpPr>
            <a:spLocks noGrp="1"/>
          </p:cNvSpPr>
          <p:nvPr>
            <p:ph type="title"/>
          </p:nvPr>
        </p:nvSpPr>
        <p:spPr/>
        <p:txBody>
          <a:bodyPr/>
          <a:lstStyle/>
          <a:p>
            <a:r>
              <a:rPr lang="en-US" b="1" dirty="0">
                <a:solidFill>
                  <a:srgbClr val="FF0000"/>
                </a:solidFill>
              </a:rPr>
              <a:t>Design of ALU in ARM</a:t>
            </a:r>
            <a:endParaRPr lang="en-IN" b="1" dirty="0">
              <a:solidFill>
                <a:srgbClr val="FF0000"/>
              </a:solidFill>
            </a:endParaRPr>
          </a:p>
        </p:txBody>
      </p:sp>
      <p:sp>
        <p:nvSpPr>
          <p:cNvPr id="3" name="Content Placeholder 2">
            <a:extLst>
              <a:ext uri="{FF2B5EF4-FFF2-40B4-BE49-F238E27FC236}">
                <a16:creationId xmlns:a16="http://schemas.microsoft.com/office/drawing/2014/main" id="{2D9EA357-7B34-B825-F351-ED8A4A2D0D36}"/>
              </a:ext>
            </a:extLst>
          </p:cNvPr>
          <p:cNvSpPr>
            <a:spLocks noGrp="1"/>
          </p:cNvSpPr>
          <p:nvPr>
            <p:ph idx="1"/>
          </p:nvPr>
        </p:nvSpPr>
        <p:spPr>
          <a:xfrm>
            <a:off x="0" y="1387366"/>
            <a:ext cx="12192000" cy="5470634"/>
          </a:xfrm>
        </p:spPr>
        <p:txBody>
          <a:bodyPr/>
          <a:lstStyle/>
          <a:p>
            <a:r>
              <a:rPr lang="en-US" b="0" i="0" dirty="0">
                <a:solidFill>
                  <a:srgbClr val="555555"/>
                </a:solidFill>
                <a:effectLst/>
                <a:latin typeface="-apple-system"/>
              </a:rPr>
              <a:t>The role of the ALU is to decode the operational activities of the arithmetic and logic in electronic code and then perform the corresponding function on the bus information and the existing data in the accumulator. </a:t>
            </a:r>
          </a:p>
          <a:p>
            <a:r>
              <a:rPr lang="en-US" b="0" i="0" dirty="0">
                <a:solidFill>
                  <a:srgbClr val="555555"/>
                </a:solidFill>
                <a:effectLst/>
                <a:latin typeface="-apple-system"/>
              </a:rPr>
              <a:t>If the legitimate arithmetic logic unit is small, the Bus significance for all bits should be established to Z. </a:t>
            </a:r>
          </a:p>
          <a:p>
            <a:r>
              <a:rPr lang="en-US" b="0" i="0" dirty="0">
                <a:solidFill>
                  <a:srgbClr val="555555"/>
                </a:solidFill>
                <a:effectLst/>
                <a:latin typeface="-apple-system"/>
              </a:rPr>
              <a:t>The Arithmetic and Logic Unit seems to have the same clock and reconfigure transmissions as the PC, as well as the same bus interface characterized as just an input and output form logic module bus.</a:t>
            </a:r>
          </a:p>
          <a:p>
            <a:r>
              <a:rPr lang="en-US" b="0" i="0" dirty="0">
                <a:solidFill>
                  <a:srgbClr val="555555"/>
                </a:solidFill>
                <a:effectLst/>
                <a:latin typeface="-apple-system"/>
              </a:rPr>
              <a:t> </a:t>
            </a:r>
            <a:endParaRPr lang="en-IN" dirty="0"/>
          </a:p>
        </p:txBody>
      </p:sp>
    </p:spTree>
    <p:extLst>
      <p:ext uri="{BB962C8B-B14F-4D97-AF65-F5344CB8AC3E}">
        <p14:creationId xmlns:p14="http://schemas.microsoft.com/office/powerpoint/2010/main" val="28066410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4AB6E-A08E-B6E8-42D4-3C09F611828C}"/>
              </a:ext>
            </a:extLst>
          </p:cNvPr>
          <p:cNvSpPr>
            <a:spLocks noGrp="1"/>
          </p:cNvSpPr>
          <p:nvPr>
            <p:ph idx="1"/>
          </p:nvPr>
        </p:nvSpPr>
        <p:spPr>
          <a:xfrm>
            <a:off x="0" y="133515"/>
            <a:ext cx="10515600" cy="4351338"/>
          </a:xfrm>
        </p:spPr>
        <p:txBody>
          <a:bodyPr/>
          <a:lstStyle/>
          <a:p>
            <a:r>
              <a:rPr lang="en-US" b="0" i="0" dirty="0">
                <a:solidFill>
                  <a:srgbClr val="555555"/>
                </a:solidFill>
                <a:effectLst/>
                <a:latin typeface="-apple-system"/>
              </a:rPr>
              <a:t>Indeed, the arithmetic logic unit does have three additional control signals that can be decrypted to track to the ALU’s 8 specific components. </a:t>
            </a:r>
          </a:p>
          <a:p>
            <a:r>
              <a:rPr lang="en-US" b="0" i="0" dirty="0">
                <a:solidFill>
                  <a:srgbClr val="555555"/>
                </a:solidFill>
                <a:effectLst/>
                <a:latin typeface="-apple-system"/>
              </a:rPr>
              <a:t>The ALU also includes the Accumulator that is an input of the height adjustment for the length of the system bus.</a:t>
            </a:r>
          </a:p>
          <a:p>
            <a:r>
              <a:rPr lang="en-US" b="0" i="0" dirty="0">
                <a:solidFill>
                  <a:srgbClr val="555555"/>
                </a:solidFill>
                <a:effectLst/>
                <a:latin typeface="-apple-system"/>
              </a:rPr>
              <a:t> There seems to be a single bit outcome arithmetic unit zero that also goes high once all the bits are zero in the accumulator.</a:t>
            </a:r>
            <a:endParaRPr lang="en-IN" dirty="0"/>
          </a:p>
        </p:txBody>
      </p:sp>
      <p:pic>
        <p:nvPicPr>
          <p:cNvPr id="4" name="Picture 3">
            <a:extLst>
              <a:ext uri="{FF2B5EF4-FFF2-40B4-BE49-F238E27FC236}">
                <a16:creationId xmlns:a16="http://schemas.microsoft.com/office/drawing/2014/main" id="{7005643F-61B1-F471-DC3E-2F10F1FA8411}"/>
              </a:ext>
            </a:extLst>
          </p:cNvPr>
          <p:cNvPicPr>
            <a:picLocks noChangeAspect="1"/>
          </p:cNvPicPr>
          <p:nvPr/>
        </p:nvPicPr>
        <p:blipFill>
          <a:blip r:embed="rId2"/>
          <a:stretch>
            <a:fillRect/>
          </a:stretch>
        </p:blipFill>
        <p:spPr>
          <a:xfrm>
            <a:off x="7305309" y="3429000"/>
            <a:ext cx="3877041" cy="3295485"/>
          </a:xfrm>
          <a:prstGeom prst="rect">
            <a:avLst/>
          </a:prstGeom>
        </p:spPr>
      </p:pic>
    </p:spTree>
    <p:extLst>
      <p:ext uri="{BB962C8B-B14F-4D97-AF65-F5344CB8AC3E}">
        <p14:creationId xmlns:p14="http://schemas.microsoft.com/office/powerpoint/2010/main" val="11815929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6B75D6-14B1-DB49-8632-73A074384226}"/>
              </a:ext>
            </a:extLst>
          </p:cNvPr>
          <p:cNvSpPr>
            <a:spLocks noGrp="1"/>
          </p:cNvSpPr>
          <p:nvPr>
            <p:ph idx="1"/>
          </p:nvPr>
        </p:nvSpPr>
        <p:spPr>
          <a:xfrm>
            <a:off x="173421" y="204952"/>
            <a:ext cx="11180379" cy="5972011"/>
          </a:xfrm>
        </p:spPr>
        <p:txBody>
          <a:bodyPr/>
          <a:lstStyle/>
          <a:p>
            <a:pPr marL="0" indent="0">
              <a:buNone/>
            </a:pPr>
            <a:r>
              <a:rPr lang="en-US" b="1" i="0" dirty="0">
                <a:solidFill>
                  <a:srgbClr val="555555"/>
                </a:solidFill>
                <a:effectLst/>
                <a:latin typeface="-apple-system"/>
              </a:rPr>
              <a:t>Booth Multiplier Factor: </a:t>
            </a:r>
          </a:p>
          <a:p>
            <a:pPr marL="0" indent="0">
              <a:buNone/>
            </a:pPr>
            <a:endParaRPr lang="en-US" b="1" i="0" dirty="0">
              <a:solidFill>
                <a:srgbClr val="555555"/>
              </a:solidFill>
              <a:effectLst/>
              <a:latin typeface="-apple-system"/>
            </a:endParaRPr>
          </a:p>
          <a:p>
            <a:r>
              <a:rPr lang="en-US" b="0" i="0" dirty="0">
                <a:solidFill>
                  <a:srgbClr val="555555"/>
                </a:solidFill>
                <a:effectLst/>
                <a:latin typeface="-apple-system"/>
              </a:rPr>
              <a:t>The multiplier element has 3 32-bit inputs, as well as the register file returns the inputs. </a:t>
            </a:r>
          </a:p>
          <a:p>
            <a:r>
              <a:rPr lang="en-US" b="0" i="0" dirty="0">
                <a:solidFill>
                  <a:srgbClr val="555555"/>
                </a:solidFill>
                <a:effectLst/>
                <a:latin typeface="-apple-system"/>
              </a:rPr>
              <a:t>The performance of the generator is scarcely 32-Least Significant Commodity Bits. </a:t>
            </a:r>
          </a:p>
          <a:p>
            <a:r>
              <a:rPr lang="en-US" b="0" i="0" dirty="0">
                <a:solidFill>
                  <a:srgbClr val="555555"/>
                </a:solidFill>
                <a:effectLst/>
                <a:latin typeface="-apple-system"/>
              </a:rPr>
              <a:t>The multiplier variable description of the entity is seen in the block diagram described. </a:t>
            </a:r>
          </a:p>
          <a:p>
            <a:r>
              <a:rPr lang="en-US" b="0" i="0" dirty="0">
                <a:solidFill>
                  <a:srgbClr val="555555"/>
                </a:solidFill>
                <a:effectLst/>
                <a:latin typeface="-apple-system"/>
              </a:rPr>
              <a:t>The multiplication begins every time the 04 input begins to go work. Finishing the production goes up high at the edge.</a:t>
            </a:r>
            <a:endParaRPr lang="en-IN" dirty="0"/>
          </a:p>
        </p:txBody>
      </p:sp>
    </p:spTree>
    <p:extLst>
      <p:ext uri="{BB962C8B-B14F-4D97-AF65-F5344CB8AC3E}">
        <p14:creationId xmlns:p14="http://schemas.microsoft.com/office/powerpoint/2010/main" val="42604659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6120EB-6FE4-D8AD-6267-72D6798FF54D}"/>
              </a:ext>
            </a:extLst>
          </p:cNvPr>
          <p:cNvSpPr>
            <a:spLocks noGrp="1"/>
          </p:cNvSpPr>
          <p:nvPr>
            <p:ph idx="1"/>
          </p:nvPr>
        </p:nvSpPr>
        <p:spPr>
          <a:xfrm>
            <a:off x="0" y="0"/>
            <a:ext cx="12192000" cy="6858000"/>
          </a:xfrm>
        </p:spPr>
        <p:txBody>
          <a:bodyPr/>
          <a:lstStyle/>
          <a:p>
            <a:pPr marL="0" indent="0">
              <a:buNone/>
            </a:pPr>
            <a:r>
              <a:rPr lang="en-US" b="1" i="0" dirty="0">
                <a:solidFill>
                  <a:srgbClr val="555555"/>
                </a:solidFill>
                <a:effectLst/>
                <a:latin typeface="-apple-system"/>
              </a:rPr>
              <a:t>Booth Algorithm: </a:t>
            </a:r>
          </a:p>
          <a:p>
            <a:endParaRPr lang="en-US" b="1" i="0" dirty="0">
              <a:solidFill>
                <a:srgbClr val="555555"/>
              </a:solidFill>
              <a:effectLst/>
              <a:latin typeface="-apple-system"/>
            </a:endParaRPr>
          </a:p>
          <a:p>
            <a:r>
              <a:rPr lang="en-US" b="0" i="0" dirty="0">
                <a:solidFill>
                  <a:srgbClr val="555555"/>
                </a:solidFill>
                <a:effectLst/>
                <a:latin typeface="-apple-system"/>
              </a:rPr>
              <a:t>The booth algorithm is a notable algorithmic principle of multiplication for the supplement number of 2. </a:t>
            </a:r>
          </a:p>
          <a:p>
            <a:r>
              <a:rPr lang="en-US" b="0" i="0" dirty="0">
                <a:solidFill>
                  <a:srgbClr val="555555"/>
                </a:solidFill>
                <a:effectLst/>
                <a:latin typeface="-apple-system"/>
              </a:rPr>
              <a:t>This equally views all positive and negative numbers. </a:t>
            </a:r>
          </a:p>
          <a:p>
            <a:r>
              <a:rPr lang="en-US" b="0" i="0" dirty="0">
                <a:solidFill>
                  <a:srgbClr val="555555"/>
                </a:solidFill>
                <a:effectLst/>
                <a:latin typeface="-apple-system"/>
              </a:rPr>
              <a:t>In insertion, the 0’s or 1’s runs within the multiplier element are passed over with no addition or subtraction becoming done, thus creating the possibility of faster multiplication.  </a:t>
            </a:r>
          </a:p>
          <a:p>
            <a:r>
              <a:rPr lang="en-US" b="0" i="0" dirty="0">
                <a:solidFill>
                  <a:srgbClr val="555555"/>
                </a:solidFill>
                <a:effectLst/>
                <a:latin typeface="-apple-system"/>
              </a:rPr>
              <a:t>It is obvious that perhaps the multiplication ends just in the span of the 16 clocks.</a:t>
            </a:r>
            <a:endParaRPr lang="en-IN" dirty="0"/>
          </a:p>
        </p:txBody>
      </p:sp>
    </p:spTree>
    <p:extLst>
      <p:ext uri="{BB962C8B-B14F-4D97-AF65-F5344CB8AC3E}">
        <p14:creationId xmlns:p14="http://schemas.microsoft.com/office/powerpoint/2010/main" val="21894829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06CBC-5D70-B32B-BEEF-4CCCDA60EC60}"/>
              </a:ext>
            </a:extLst>
          </p:cNvPr>
          <p:cNvSpPr>
            <a:spLocks noGrp="1"/>
          </p:cNvSpPr>
          <p:nvPr>
            <p:ph idx="1"/>
          </p:nvPr>
        </p:nvSpPr>
        <p:spPr>
          <a:xfrm>
            <a:off x="0" y="0"/>
            <a:ext cx="12192000" cy="6858000"/>
          </a:xfrm>
        </p:spPr>
        <p:txBody>
          <a:bodyPr/>
          <a:lstStyle/>
          <a:p>
            <a:pPr marL="0" indent="0">
              <a:buNone/>
            </a:pPr>
            <a:r>
              <a:rPr lang="en-US" b="1" i="0" dirty="0">
                <a:solidFill>
                  <a:srgbClr val="555555"/>
                </a:solidFill>
                <a:effectLst/>
                <a:latin typeface="-apple-system"/>
              </a:rPr>
              <a:t>Barrel Shifter:</a:t>
            </a:r>
          </a:p>
          <a:p>
            <a:r>
              <a:rPr lang="en-US" b="1" i="0" dirty="0">
                <a:solidFill>
                  <a:srgbClr val="555555"/>
                </a:solidFill>
                <a:effectLst/>
                <a:latin typeface="-apple-system"/>
              </a:rPr>
              <a:t> </a:t>
            </a:r>
            <a:r>
              <a:rPr lang="en-US" b="0" i="0" dirty="0">
                <a:solidFill>
                  <a:srgbClr val="555555"/>
                </a:solidFill>
                <a:effectLst/>
                <a:latin typeface="-apple-system"/>
              </a:rPr>
              <a:t>A barrel shifter is a logic circuit that allows you to change a term by a different number. </a:t>
            </a:r>
          </a:p>
          <a:p>
            <a:r>
              <a:rPr lang="en-US" b="0" i="0" dirty="0">
                <a:solidFill>
                  <a:srgbClr val="555555"/>
                </a:solidFill>
                <a:effectLst/>
                <a:latin typeface="-apple-system"/>
              </a:rPr>
              <a:t>It does have a control input determining how many bits positions it moves by. </a:t>
            </a:r>
          </a:p>
          <a:p>
            <a:r>
              <a:rPr lang="en-US" b="0" i="0" dirty="0">
                <a:solidFill>
                  <a:srgbClr val="555555"/>
                </a:solidFill>
                <a:effectLst/>
                <a:latin typeface="-apple-system"/>
              </a:rPr>
              <a:t>A barrel shifter is enacted with a pattern of shift multiplexers, the 16-bit thumb steps involve only different directions to obtain the barrel shifter. </a:t>
            </a:r>
          </a:p>
          <a:p>
            <a:r>
              <a:rPr lang="en-US" b="0" i="0" dirty="0">
                <a:solidFill>
                  <a:srgbClr val="555555"/>
                </a:solidFill>
                <a:effectLst/>
                <a:latin typeface="-apple-system"/>
              </a:rPr>
              <a:t>32 bit Thumb directions offer the barrel shifter nearly the very same direct exposure as the ARM commands. </a:t>
            </a:r>
          </a:p>
          <a:p>
            <a:r>
              <a:rPr lang="en-US" b="0" i="0" dirty="0">
                <a:solidFill>
                  <a:srgbClr val="555555"/>
                </a:solidFill>
                <a:effectLst/>
                <a:latin typeface="-apple-system"/>
              </a:rPr>
              <a:t>The center of the ARM includes a barrel shifter that takes a value to shift or rotation, a quantity to shift or adjust by, and the form of shift or rotation. </a:t>
            </a:r>
          </a:p>
          <a:p>
            <a:r>
              <a:rPr lang="en-US" b="0" i="0" dirty="0">
                <a:solidFill>
                  <a:srgbClr val="555555"/>
                </a:solidFill>
                <a:effectLst/>
                <a:latin typeface="-apple-system"/>
              </a:rPr>
              <a:t>This can be used to conduct relatively complicated operating systems on a single instruction by different classes of ARM guidelines.</a:t>
            </a:r>
            <a:endParaRPr lang="en-IN" dirty="0"/>
          </a:p>
        </p:txBody>
      </p:sp>
    </p:spTree>
    <p:extLst>
      <p:ext uri="{BB962C8B-B14F-4D97-AF65-F5344CB8AC3E}">
        <p14:creationId xmlns:p14="http://schemas.microsoft.com/office/powerpoint/2010/main" val="15144012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B4CDD2-CB33-C12E-4400-B3FF7FA50660}"/>
              </a:ext>
            </a:extLst>
          </p:cNvPr>
          <p:cNvSpPr>
            <a:spLocks noGrp="1"/>
          </p:cNvSpPr>
          <p:nvPr>
            <p:ph idx="1"/>
          </p:nvPr>
        </p:nvSpPr>
        <p:spPr>
          <a:xfrm>
            <a:off x="0" y="0"/>
            <a:ext cx="12192000" cy="6858000"/>
          </a:xfrm>
        </p:spPr>
        <p:txBody>
          <a:bodyPr>
            <a:normAutofit/>
          </a:bodyPr>
          <a:lstStyle/>
          <a:p>
            <a:r>
              <a:rPr lang="en-US" b="1" i="0" dirty="0">
                <a:solidFill>
                  <a:srgbClr val="555555"/>
                </a:solidFill>
                <a:effectLst/>
                <a:latin typeface="-apple-system"/>
              </a:rPr>
              <a:t>Control Unit: </a:t>
            </a:r>
          </a:p>
          <a:p>
            <a:r>
              <a:rPr lang="en-US" b="0" i="0" dirty="0">
                <a:solidFill>
                  <a:srgbClr val="555555"/>
                </a:solidFill>
                <a:effectLst/>
                <a:latin typeface="-apple-system"/>
              </a:rPr>
              <a:t>The control unit is the main element of a central processing unit (CPU) in computing which can coordinate the activities by the CPU / computer during the execution of the program. </a:t>
            </a:r>
          </a:p>
          <a:p>
            <a:r>
              <a:rPr lang="en-US" b="0" i="0" dirty="0">
                <a:solidFill>
                  <a:srgbClr val="555555"/>
                </a:solidFill>
                <a:effectLst/>
                <a:latin typeface="-apple-system"/>
              </a:rPr>
              <a:t>The control unit’s principal purpose is to receive and receive commands from a computer’s memory. </a:t>
            </a:r>
          </a:p>
          <a:p>
            <a:r>
              <a:rPr lang="en-US" b="0" i="0" dirty="0">
                <a:solidFill>
                  <a:srgbClr val="555555"/>
                </a:solidFill>
                <a:effectLst/>
                <a:latin typeface="-apple-system"/>
              </a:rPr>
              <a:t>The Control system is the portion of the central processing unit (CPU) of a computer that guides process or procedure. </a:t>
            </a:r>
          </a:p>
        </p:txBody>
      </p:sp>
    </p:spTree>
    <p:extLst>
      <p:ext uri="{BB962C8B-B14F-4D97-AF65-F5344CB8AC3E}">
        <p14:creationId xmlns:p14="http://schemas.microsoft.com/office/powerpoint/2010/main" val="21566004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97E2D-A53D-A4DC-B3AF-F61752251D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233DBB-D30A-C3BD-6804-08FD61C53B3B}"/>
              </a:ext>
            </a:extLst>
          </p:cNvPr>
          <p:cNvSpPr>
            <a:spLocks noGrp="1"/>
          </p:cNvSpPr>
          <p:nvPr>
            <p:ph idx="1"/>
          </p:nvPr>
        </p:nvSpPr>
        <p:spPr/>
        <p:txBody>
          <a:bodyPr/>
          <a:lstStyle/>
          <a:p>
            <a:r>
              <a:rPr lang="en-US" b="0" i="0" dirty="0">
                <a:solidFill>
                  <a:srgbClr val="555555"/>
                </a:solidFill>
                <a:effectLst/>
                <a:latin typeface="-apple-system"/>
              </a:rPr>
              <a:t>John von Neumann had included it as part of the Von Neumann architecture design. </a:t>
            </a:r>
          </a:p>
          <a:p>
            <a:r>
              <a:rPr lang="en-US" b="0" i="0" dirty="0">
                <a:solidFill>
                  <a:srgbClr val="555555"/>
                </a:solidFill>
                <a:effectLst/>
                <a:latin typeface="-apple-system"/>
              </a:rPr>
              <a:t>The Control Unit is responsible for telling the computer’s memory, arithmetic/logic module, and input and operations that can be applied to commands sent to the CPU</a:t>
            </a:r>
            <a:r>
              <a:rPr lang="en-US" b="0" i="0">
                <a:solidFill>
                  <a:srgbClr val="555555"/>
                </a:solidFill>
                <a:effectLst/>
                <a:latin typeface="-apple-system"/>
              </a:rPr>
              <a:t>. </a:t>
            </a:r>
          </a:p>
          <a:p>
            <a:r>
              <a:rPr lang="en-US" b="0" i="0">
                <a:solidFill>
                  <a:srgbClr val="555555"/>
                </a:solidFill>
                <a:effectLst/>
                <a:latin typeface="-apple-system"/>
              </a:rPr>
              <a:t>It </a:t>
            </a:r>
            <a:r>
              <a:rPr lang="en-US" b="0" i="0" dirty="0">
                <a:solidFill>
                  <a:srgbClr val="555555"/>
                </a:solidFill>
                <a:effectLst/>
                <a:latin typeface="-apple-system"/>
              </a:rPr>
              <a:t>collects the services’ internal directions from the main memory to the CPU instruction register, and the control unit creates a reference voltage that inspects the implementation of those instructions based on just this register material.</a:t>
            </a:r>
            <a:endParaRPr lang="en-IN" dirty="0"/>
          </a:p>
          <a:p>
            <a:endParaRPr lang="en-IN" dirty="0"/>
          </a:p>
        </p:txBody>
      </p:sp>
    </p:spTree>
    <p:extLst>
      <p:ext uri="{BB962C8B-B14F-4D97-AF65-F5344CB8AC3E}">
        <p14:creationId xmlns:p14="http://schemas.microsoft.com/office/powerpoint/2010/main" val="7571058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128BC-2EED-0C2D-A74B-79D651AA4518}"/>
              </a:ext>
            </a:extLst>
          </p:cNvPr>
          <p:cNvSpPr>
            <a:spLocks noGrp="1"/>
          </p:cNvSpPr>
          <p:nvPr>
            <p:ph type="title"/>
          </p:nvPr>
        </p:nvSpPr>
        <p:spPr/>
        <p:txBody>
          <a:bodyPr/>
          <a:lstStyle/>
          <a:p>
            <a:r>
              <a:rPr lang="en-US" b="1" i="0" dirty="0">
                <a:solidFill>
                  <a:srgbClr val="373D3F"/>
                </a:solidFill>
                <a:effectLst/>
                <a:latin typeface="Lora" pitchFamily="2" charset="0"/>
              </a:rPr>
              <a:t>Data Size and Instruction Set</a:t>
            </a:r>
            <a:endParaRPr lang="en-IN" dirty="0"/>
          </a:p>
        </p:txBody>
      </p:sp>
      <p:sp>
        <p:nvSpPr>
          <p:cNvPr id="3" name="Content Placeholder 2">
            <a:extLst>
              <a:ext uri="{FF2B5EF4-FFF2-40B4-BE49-F238E27FC236}">
                <a16:creationId xmlns:a16="http://schemas.microsoft.com/office/drawing/2014/main" id="{97838377-3314-64A7-7F78-2E2AD91EC337}"/>
              </a:ext>
            </a:extLst>
          </p:cNvPr>
          <p:cNvSpPr>
            <a:spLocks noGrp="1"/>
          </p:cNvSpPr>
          <p:nvPr>
            <p:ph idx="1"/>
          </p:nvPr>
        </p:nvSpPr>
        <p:spPr/>
        <p:txBody>
          <a:bodyPr>
            <a:normAutofit/>
          </a:bodyPr>
          <a:lstStyle/>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The data processing capability of the instruction basically depends on the </a:t>
            </a:r>
            <a:r>
              <a:rPr lang="en-US" b="1" i="0" dirty="0">
                <a:solidFill>
                  <a:srgbClr val="373D3F"/>
                </a:solidFill>
                <a:effectLst/>
                <a:latin typeface="Times New Roman" panose="02020603050405020304" pitchFamily="18" charset="0"/>
                <a:cs typeface="Times New Roman" panose="02020603050405020304" pitchFamily="18" charset="0"/>
              </a:rPr>
              <a:t>register width.</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The group of registers called the </a:t>
            </a:r>
            <a:r>
              <a:rPr lang="en-US" b="1" i="0" dirty="0">
                <a:solidFill>
                  <a:srgbClr val="373D3F"/>
                </a:solidFill>
                <a:effectLst/>
                <a:latin typeface="Times New Roman" panose="02020603050405020304" pitchFamily="18" charset="0"/>
                <a:cs typeface="Times New Roman" panose="02020603050405020304" pitchFamily="18" charset="0"/>
              </a:rPr>
              <a:t>register file </a:t>
            </a:r>
            <a:r>
              <a:rPr lang="en-US" b="0" i="0" dirty="0">
                <a:solidFill>
                  <a:srgbClr val="373D3F"/>
                </a:solidFill>
                <a:effectLst/>
                <a:latin typeface="Times New Roman" panose="02020603050405020304" pitchFamily="18" charset="0"/>
                <a:cs typeface="Times New Roman" panose="02020603050405020304" pitchFamily="18" charset="0"/>
              </a:rPr>
              <a:t>typically holds a </a:t>
            </a:r>
            <a:r>
              <a:rPr lang="en-US" b="1" i="0" dirty="0">
                <a:solidFill>
                  <a:srgbClr val="373D3F"/>
                </a:solidFill>
                <a:effectLst/>
                <a:latin typeface="Times New Roman" panose="02020603050405020304" pitchFamily="18" charset="0"/>
                <a:cs typeface="Times New Roman" panose="02020603050405020304" pitchFamily="18" charset="0"/>
              </a:rPr>
              <a:t>signed or unsigned 32/64 bit </a:t>
            </a:r>
            <a:r>
              <a:rPr lang="en-US" b="0" i="0" dirty="0">
                <a:solidFill>
                  <a:srgbClr val="373D3F"/>
                </a:solidFill>
                <a:effectLst/>
                <a:latin typeface="Times New Roman" panose="02020603050405020304" pitchFamily="18" charset="0"/>
                <a:cs typeface="Times New Roman" panose="02020603050405020304" pitchFamily="18" charset="0"/>
              </a:rPr>
              <a:t>data depending on the ARM core family.</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 The ARM sign extend hardware converts the Byte (8 bits) and Halfword (16 bits or two bytes) into </a:t>
            </a:r>
            <a:r>
              <a:rPr lang="en-US" b="1" i="0" dirty="0">
                <a:solidFill>
                  <a:srgbClr val="373D3F"/>
                </a:solidFill>
                <a:effectLst/>
                <a:latin typeface="Times New Roman" panose="02020603050405020304" pitchFamily="18" charset="0"/>
                <a:cs typeface="Times New Roman" panose="02020603050405020304" pitchFamily="18" charset="0"/>
              </a:rPr>
              <a:t>Word</a:t>
            </a:r>
            <a:r>
              <a:rPr lang="en-US" b="0" i="0" dirty="0">
                <a:solidFill>
                  <a:srgbClr val="373D3F"/>
                </a:solidFill>
                <a:effectLst/>
                <a:latin typeface="Times New Roman" panose="02020603050405020304" pitchFamily="18" charset="0"/>
                <a:cs typeface="Times New Roman" panose="02020603050405020304" pitchFamily="18" charset="0"/>
              </a:rPr>
              <a:t> (32 bits or four bytes) to store in the register file.</a:t>
            </a:r>
          </a:p>
          <a:p>
            <a:pPr algn="l"/>
            <a:r>
              <a:rPr lang="en-US" b="0" i="0" dirty="0">
                <a:solidFill>
                  <a:srgbClr val="373D3F"/>
                </a:solidFill>
                <a:effectLst/>
                <a:latin typeface="Lora" pitchFamily="2" charset="0"/>
              </a:rPr>
              <a:t> </a:t>
            </a:r>
          </a:p>
          <a:p>
            <a:endParaRPr lang="en-IN" dirty="0"/>
          </a:p>
        </p:txBody>
      </p:sp>
    </p:spTree>
    <p:extLst>
      <p:ext uri="{BB962C8B-B14F-4D97-AF65-F5344CB8AC3E}">
        <p14:creationId xmlns:p14="http://schemas.microsoft.com/office/powerpoint/2010/main" val="14885294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24B8E5-E882-61AC-B9B0-E80EC4313871}"/>
              </a:ext>
            </a:extLst>
          </p:cNvPr>
          <p:cNvSpPr>
            <a:spLocks noGrp="1"/>
          </p:cNvSpPr>
          <p:nvPr>
            <p:ph idx="1"/>
          </p:nvPr>
        </p:nvSpPr>
        <p:spPr>
          <a:xfrm>
            <a:off x="0" y="0"/>
            <a:ext cx="12192000" cy="6858000"/>
          </a:xfrm>
        </p:spPr>
        <p:txBody>
          <a:bodyPr>
            <a:normAutofit/>
          </a:bodyPr>
          <a:lstStyle/>
          <a:p>
            <a:pPr algn="l"/>
            <a:r>
              <a:rPr lang="en-US" b="0" i="0" dirty="0">
                <a:solidFill>
                  <a:srgbClr val="373D3F"/>
                </a:solidFill>
                <a:effectLst/>
                <a:latin typeface="Lora" pitchFamily="2" charset="0"/>
              </a:rPr>
              <a:t>ARM implements three categories of  instruction sets:</a:t>
            </a:r>
          </a:p>
          <a:p>
            <a:pPr algn="l"/>
            <a:endParaRPr lang="en-US" b="0" i="0" dirty="0">
              <a:solidFill>
                <a:srgbClr val="373D3F"/>
              </a:solidFill>
              <a:effectLst/>
              <a:latin typeface="Lora" pitchFamily="2" charset="0"/>
            </a:endParaRPr>
          </a:p>
          <a:p>
            <a:pPr algn="l">
              <a:buFont typeface="Wingdings" panose="05000000000000000000" pitchFamily="2" charset="2"/>
              <a:buChar char="v"/>
            </a:pPr>
            <a:r>
              <a:rPr lang="en-US" b="1" i="0" dirty="0">
                <a:solidFill>
                  <a:schemeClr val="accent6">
                    <a:lumMod val="75000"/>
                  </a:schemeClr>
                </a:solidFill>
                <a:effectLst/>
                <a:latin typeface="Lora" pitchFamily="2" charset="0"/>
              </a:rPr>
              <a:t>32-bit ARM Instruction Set, </a:t>
            </a:r>
          </a:p>
          <a:p>
            <a:pPr algn="l">
              <a:buFont typeface="Wingdings" panose="05000000000000000000" pitchFamily="2" charset="2"/>
              <a:buChar char="v"/>
            </a:pPr>
            <a:r>
              <a:rPr lang="en-US" b="1" i="0" dirty="0">
                <a:solidFill>
                  <a:schemeClr val="accent6">
                    <a:lumMod val="75000"/>
                  </a:schemeClr>
                </a:solidFill>
                <a:effectLst/>
                <a:latin typeface="Lora" pitchFamily="2" charset="0"/>
              </a:rPr>
              <a:t>16-bit Thumb Instruction Set,</a:t>
            </a:r>
          </a:p>
          <a:p>
            <a:pPr algn="l">
              <a:buFont typeface="Wingdings" panose="05000000000000000000" pitchFamily="2" charset="2"/>
              <a:buChar char="v"/>
            </a:pPr>
            <a:r>
              <a:rPr lang="en-US" b="1" i="0" dirty="0">
                <a:solidFill>
                  <a:schemeClr val="accent6">
                    <a:lumMod val="75000"/>
                  </a:schemeClr>
                </a:solidFill>
                <a:effectLst/>
                <a:latin typeface="Lora" pitchFamily="2" charset="0"/>
              </a:rPr>
              <a:t>8-bit </a:t>
            </a:r>
            <a:r>
              <a:rPr lang="en-US" b="1" i="0" dirty="0" err="1">
                <a:solidFill>
                  <a:schemeClr val="accent6">
                    <a:lumMod val="75000"/>
                  </a:schemeClr>
                </a:solidFill>
                <a:effectLst/>
                <a:latin typeface="Lora" pitchFamily="2" charset="0"/>
              </a:rPr>
              <a:t>Jazelle</a:t>
            </a:r>
            <a:r>
              <a:rPr lang="en-US" b="1" i="0" dirty="0">
                <a:solidFill>
                  <a:schemeClr val="accent6">
                    <a:lumMod val="75000"/>
                  </a:schemeClr>
                </a:solidFill>
                <a:effectLst/>
                <a:latin typeface="Lora" pitchFamily="2" charset="0"/>
              </a:rPr>
              <a:t> instruction set </a:t>
            </a:r>
            <a:r>
              <a:rPr lang="en-US" b="0" i="0" dirty="0">
                <a:solidFill>
                  <a:srgbClr val="373D3F"/>
                </a:solidFill>
                <a:effectLst/>
                <a:latin typeface="Lora" pitchFamily="2" charset="0"/>
              </a:rPr>
              <a:t>– </a:t>
            </a:r>
            <a:r>
              <a:rPr lang="en-US" b="0" i="0" dirty="0" err="1">
                <a:solidFill>
                  <a:srgbClr val="373D3F"/>
                </a:solidFill>
                <a:effectLst/>
                <a:latin typeface="Lora" pitchFamily="2" charset="0"/>
              </a:rPr>
              <a:t>Jazelle</a:t>
            </a:r>
            <a:r>
              <a:rPr lang="en-US" b="0" i="0" dirty="0">
                <a:solidFill>
                  <a:srgbClr val="373D3F"/>
                </a:solidFill>
                <a:effectLst/>
                <a:latin typeface="Lora" pitchFamily="2" charset="0"/>
              </a:rPr>
              <a:t> cores can also execute Java bytecode.</a:t>
            </a:r>
          </a:p>
          <a:p>
            <a:pPr algn="l"/>
            <a:endParaRPr lang="en-US" b="1" i="0" dirty="0">
              <a:solidFill>
                <a:srgbClr val="373D3F"/>
              </a:solidFill>
              <a:effectLst/>
              <a:latin typeface="Lora" pitchFamily="2" charset="0"/>
            </a:endParaRPr>
          </a:p>
          <a:p>
            <a:pPr algn="just"/>
            <a:r>
              <a:rPr lang="en-US" b="1" i="0" dirty="0">
                <a:solidFill>
                  <a:srgbClr val="373D3F"/>
                </a:solidFill>
                <a:effectLst/>
                <a:latin typeface="Lora" pitchFamily="2" charset="0"/>
              </a:rPr>
              <a:t>The “current program status register” </a:t>
            </a:r>
            <a:r>
              <a:rPr lang="en-US" b="0" i="0" dirty="0">
                <a:solidFill>
                  <a:srgbClr val="373D3F"/>
                </a:solidFill>
                <a:effectLst/>
                <a:latin typeface="Lora" pitchFamily="2" charset="0"/>
              </a:rPr>
              <a:t>decides which instruction set will be executed. </a:t>
            </a:r>
          </a:p>
          <a:p>
            <a:pPr algn="just"/>
            <a:r>
              <a:rPr lang="en-US" b="0" i="0" dirty="0">
                <a:solidFill>
                  <a:srgbClr val="373D3F"/>
                </a:solidFill>
                <a:effectLst/>
                <a:latin typeface="Lora" pitchFamily="2" charset="0"/>
              </a:rPr>
              <a:t>The instruction set typically uses a </a:t>
            </a:r>
            <a:r>
              <a:rPr lang="en-US" b="1" i="0" dirty="0">
                <a:solidFill>
                  <a:schemeClr val="accent6">
                    <a:lumMod val="75000"/>
                  </a:schemeClr>
                </a:solidFill>
                <a:effectLst/>
                <a:latin typeface="Lora" pitchFamily="2" charset="0"/>
              </a:rPr>
              <a:t>three address format </a:t>
            </a:r>
            <a:r>
              <a:rPr lang="en-US" b="0" i="0" dirty="0">
                <a:solidFill>
                  <a:srgbClr val="373D3F"/>
                </a:solidFill>
                <a:effectLst/>
                <a:latin typeface="Lora" pitchFamily="2" charset="0"/>
              </a:rPr>
              <a:t>with one destination operand Rd and two source operands Rn and Rm.</a:t>
            </a:r>
          </a:p>
          <a:p>
            <a:endParaRPr lang="en-IN" dirty="0"/>
          </a:p>
        </p:txBody>
      </p:sp>
    </p:spTree>
    <p:extLst>
      <p:ext uri="{BB962C8B-B14F-4D97-AF65-F5344CB8AC3E}">
        <p14:creationId xmlns:p14="http://schemas.microsoft.com/office/powerpoint/2010/main" val="15519373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EA9B-4FDE-3A00-8510-EB8F9EB567D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59EC9B4-9445-81E5-AD4C-9602AAEB432C}"/>
              </a:ext>
            </a:extLst>
          </p:cNvPr>
          <p:cNvPicPr>
            <a:picLocks noGrp="1" noChangeAspect="1"/>
          </p:cNvPicPr>
          <p:nvPr>
            <p:ph idx="1"/>
          </p:nvPr>
        </p:nvPicPr>
        <p:blipFill>
          <a:blip r:embed="rId2"/>
          <a:stretch>
            <a:fillRect/>
          </a:stretch>
        </p:blipFill>
        <p:spPr>
          <a:xfrm>
            <a:off x="838200" y="2506689"/>
            <a:ext cx="10330663" cy="2412152"/>
          </a:xfrm>
          <a:prstGeom prst="rect">
            <a:avLst/>
          </a:prstGeom>
        </p:spPr>
      </p:pic>
    </p:spTree>
    <p:extLst>
      <p:ext uri="{BB962C8B-B14F-4D97-AF65-F5344CB8AC3E}">
        <p14:creationId xmlns:p14="http://schemas.microsoft.com/office/powerpoint/2010/main" val="9397856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3AD89-2AB1-22EA-9A11-E78677525D1B}"/>
              </a:ext>
            </a:extLst>
          </p:cNvPr>
          <p:cNvSpPr>
            <a:spLocks noGrp="1"/>
          </p:cNvSpPr>
          <p:nvPr>
            <p:ph type="title"/>
          </p:nvPr>
        </p:nvSpPr>
        <p:spPr/>
        <p:txBody>
          <a:bodyPr/>
          <a:lstStyle/>
          <a:p>
            <a:r>
              <a:rPr lang="en-IN">
                <a:solidFill>
                  <a:srgbClr val="373D3F"/>
                </a:solidFill>
                <a:latin typeface="Lora" pitchFamily="2" charset="0"/>
              </a:rPr>
              <a:t>Register </a:t>
            </a:r>
            <a:r>
              <a:rPr lang="en-IN" b="0" i="0">
                <a:solidFill>
                  <a:srgbClr val="373D3F"/>
                </a:solidFill>
                <a:effectLst/>
                <a:latin typeface="Lora" pitchFamily="2" charset="0"/>
              </a:rPr>
              <a:t>Modes</a:t>
            </a:r>
            <a:endParaRPr lang="en-IN" dirty="0"/>
          </a:p>
        </p:txBody>
      </p:sp>
      <p:sp>
        <p:nvSpPr>
          <p:cNvPr id="3" name="Content Placeholder 2">
            <a:extLst>
              <a:ext uri="{FF2B5EF4-FFF2-40B4-BE49-F238E27FC236}">
                <a16:creationId xmlns:a16="http://schemas.microsoft.com/office/drawing/2014/main" id="{85C82DD7-DF6F-A01B-E944-4D2372BF9B2B}"/>
              </a:ext>
            </a:extLst>
          </p:cNvPr>
          <p:cNvSpPr>
            <a:spLocks noGrp="1"/>
          </p:cNvSpPr>
          <p:nvPr>
            <p:ph idx="1"/>
          </p:nvPr>
        </p:nvSpPr>
        <p:spPr/>
        <p:txBody>
          <a:bodyPr/>
          <a:lstStyle/>
          <a:p>
            <a:pPr algn="just"/>
            <a:r>
              <a:rPr lang="en-US" b="0" i="0" dirty="0">
                <a:solidFill>
                  <a:srgbClr val="373D3F"/>
                </a:solidFill>
                <a:effectLst/>
                <a:latin typeface="Lora" pitchFamily="2" charset="0"/>
              </a:rPr>
              <a:t>The ARM has seven basic operating modes: six privileged mode and one non privileged mode (user). The privileged modes are used to service interrupt , exception and access protected resources.</a:t>
            </a:r>
          </a:p>
          <a:p>
            <a:pPr marL="0" indent="0" algn="l">
              <a:buNone/>
            </a:pPr>
            <a:r>
              <a:rPr lang="en-US" b="0" i="0" dirty="0">
                <a:solidFill>
                  <a:srgbClr val="373D3F"/>
                </a:solidFill>
                <a:effectLst/>
                <a:latin typeface="Lora" pitchFamily="2" charset="0"/>
              </a:rPr>
              <a:t> </a:t>
            </a:r>
          </a:p>
          <a:p>
            <a:pPr algn="just"/>
            <a:r>
              <a:rPr lang="en-US" b="1" i="0" dirty="0">
                <a:solidFill>
                  <a:srgbClr val="373D3F"/>
                </a:solidFill>
                <a:effectLst/>
                <a:latin typeface="Lora" pitchFamily="2" charset="0"/>
              </a:rPr>
              <a:t>User Mode </a:t>
            </a:r>
            <a:r>
              <a:rPr lang="en-US" b="0" i="0" dirty="0">
                <a:solidFill>
                  <a:srgbClr val="373D3F"/>
                </a:solidFill>
                <a:effectLst/>
                <a:latin typeface="Lora" pitchFamily="2" charset="0"/>
              </a:rPr>
              <a:t>: is an unprivileged mode under which most tasks run. This mode is used for executing application programs.</a:t>
            </a:r>
          </a:p>
          <a:p>
            <a:endParaRPr lang="en-IN" dirty="0"/>
          </a:p>
        </p:txBody>
      </p:sp>
    </p:spTree>
    <p:extLst>
      <p:ext uri="{BB962C8B-B14F-4D97-AF65-F5344CB8AC3E}">
        <p14:creationId xmlns:p14="http://schemas.microsoft.com/office/powerpoint/2010/main" val="26054873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F3C3-0357-74FC-1C2F-BC0D4F94003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80CF178-BA0C-818B-7B4A-B62EDB2C1B40}"/>
              </a:ext>
            </a:extLst>
          </p:cNvPr>
          <p:cNvSpPr>
            <a:spLocks noGrp="1"/>
          </p:cNvSpPr>
          <p:nvPr>
            <p:ph idx="1"/>
          </p:nvPr>
        </p:nvSpPr>
        <p:spPr/>
        <p:txBody>
          <a:bodyPr/>
          <a:lstStyle/>
          <a:p>
            <a:pPr algn="just"/>
            <a:r>
              <a:rPr lang="en-US" b="1" i="0" dirty="0">
                <a:solidFill>
                  <a:srgbClr val="373D3F"/>
                </a:solidFill>
                <a:effectLst/>
                <a:latin typeface="Lora" pitchFamily="2" charset="0"/>
              </a:rPr>
              <a:t>System mode </a:t>
            </a:r>
            <a:r>
              <a:rPr lang="en-US" b="0" i="0" dirty="0">
                <a:solidFill>
                  <a:srgbClr val="373D3F"/>
                </a:solidFill>
                <a:effectLst/>
                <a:latin typeface="Lora" pitchFamily="2" charset="0"/>
              </a:rPr>
              <a:t>: is a privileged mode to run user and system programs. Under this mode the user has all the access permissions. This mode uses the same set of registers as the non privileged user mode.</a:t>
            </a:r>
          </a:p>
          <a:p>
            <a:pPr algn="l"/>
            <a:r>
              <a:rPr lang="en-US" b="0" i="0" dirty="0">
                <a:solidFill>
                  <a:srgbClr val="373D3F"/>
                </a:solidFill>
                <a:effectLst/>
                <a:latin typeface="Lora" pitchFamily="2" charset="0"/>
              </a:rPr>
              <a:t> </a:t>
            </a:r>
          </a:p>
          <a:p>
            <a:pPr algn="just"/>
            <a:r>
              <a:rPr lang="en-US" b="1" i="0" dirty="0">
                <a:solidFill>
                  <a:srgbClr val="373D3F"/>
                </a:solidFill>
                <a:effectLst/>
                <a:latin typeface="Lora" pitchFamily="2" charset="0"/>
              </a:rPr>
              <a:t>Supervisor </a:t>
            </a:r>
            <a:r>
              <a:rPr lang="en-US" b="0" i="0" dirty="0">
                <a:solidFill>
                  <a:srgbClr val="373D3F"/>
                </a:solidFill>
                <a:effectLst/>
                <a:latin typeface="Lora" pitchFamily="2" charset="0"/>
              </a:rPr>
              <a:t>Mode: This is the mode where in the OS kernel operates. This mode is entered on reset and when a Software Interrupt instruction is executed.</a:t>
            </a:r>
          </a:p>
          <a:p>
            <a:endParaRPr lang="en-IN" dirty="0"/>
          </a:p>
        </p:txBody>
      </p:sp>
    </p:spTree>
    <p:extLst>
      <p:ext uri="{BB962C8B-B14F-4D97-AF65-F5344CB8AC3E}">
        <p14:creationId xmlns:p14="http://schemas.microsoft.com/office/powerpoint/2010/main" val="37140412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49861-0961-37C3-5A7C-F3F7CF01C7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6C3A10-BE54-B63C-45E0-B207D853BF9E}"/>
              </a:ext>
            </a:extLst>
          </p:cNvPr>
          <p:cNvSpPr>
            <a:spLocks noGrp="1"/>
          </p:cNvSpPr>
          <p:nvPr>
            <p:ph idx="1"/>
          </p:nvPr>
        </p:nvSpPr>
        <p:spPr/>
        <p:txBody>
          <a:bodyPr>
            <a:normAutofit lnSpcReduction="10000"/>
          </a:bodyPr>
          <a:lstStyle/>
          <a:p>
            <a:pPr algn="just"/>
            <a:r>
              <a:rPr lang="en-US" b="0" i="0" dirty="0">
                <a:solidFill>
                  <a:srgbClr val="373D3F"/>
                </a:solidFill>
                <a:effectLst/>
                <a:latin typeface="Lora" pitchFamily="2" charset="0"/>
              </a:rPr>
              <a:t>Two of the privilege modes are allocated for interrupt handling. In general, ARM has two levels of interrupts.</a:t>
            </a:r>
          </a:p>
          <a:p>
            <a:pPr algn="l"/>
            <a:endParaRPr lang="en-US" b="0" i="0" dirty="0">
              <a:solidFill>
                <a:srgbClr val="373D3F"/>
              </a:solidFill>
              <a:effectLst/>
              <a:latin typeface="Lora" pitchFamily="2" charset="0"/>
            </a:endParaRPr>
          </a:p>
          <a:p>
            <a:pPr algn="just"/>
            <a:r>
              <a:rPr lang="en-US" b="1" i="0" dirty="0">
                <a:solidFill>
                  <a:srgbClr val="373D3F"/>
                </a:solidFill>
                <a:effectLst/>
                <a:latin typeface="Lora" pitchFamily="2" charset="0"/>
              </a:rPr>
              <a:t>Fast Interrupt Request (FIQ) </a:t>
            </a:r>
            <a:r>
              <a:rPr lang="en-US" b="0" i="0" dirty="0">
                <a:solidFill>
                  <a:srgbClr val="373D3F"/>
                </a:solidFill>
                <a:effectLst/>
                <a:latin typeface="Lora" pitchFamily="2" charset="0"/>
              </a:rPr>
              <a:t>: FIQ mode is entered when a high priority (fast) interrupt is raised. FIQ supports channel communication for data transfer.</a:t>
            </a:r>
          </a:p>
          <a:p>
            <a:pPr marL="0" indent="0" algn="l">
              <a:buNone/>
            </a:pPr>
            <a:r>
              <a:rPr lang="en-US" b="0" i="0" dirty="0">
                <a:solidFill>
                  <a:srgbClr val="373D3F"/>
                </a:solidFill>
                <a:effectLst/>
                <a:latin typeface="Lora" pitchFamily="2" charset="0"/>
              </a:rPr>
              <a:t> </a:t>
            </a:r>
          </a:p>
          <a:p>
            <a:pPr algn="just"/>
            <a:r>
              <a:rPr lang="en-US" b="1" i="0" dirty="0">
                <a:solidFill>
                  <a:srgbClr val="373D3F"/>
                </a:solidFill>
                <a:effectLst/>
                <a:latin typeface="Lora" pitchFamily="2" charset="0"/>
              </a:rPr>
              <a:t>Interrupt Request (IRQ) </a:t>
            </a:r>
            <a:r>
              <a:rPr lang="en-US" b="0" i="0" dirty="0">
                <a:solidFill>
                  <a:srgbClr val="373D3F"/>
                </a:solidFill>
                <a:effectLst/>
                <a:latin typeface="Lora" pitchFamily="2" charset="0"/>
              </a:rPr>
              <a:t>:IRQ is entered when a low priority (normal) interrupt is raised. This is a privileged mode for general purpose interrupt handling.</a:t>
            </a:r>
          </a:p>
          <a:p>
            <a:endParaRPr lang="en-IN" dirty="0"/>
          </a:p>
        </p:txBody>
      </p:sp>
    </p:spTree>
    <p:extLst>
      <p:ext uri="{BB962C8B-B14F-4D97-AF65-F5344CB8AC3E}">
        <p14:creationId xmlns:p14="http://schemas.microsoft.com/office/powerpoint/2010/main" val="32298107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B70A3-1320-839C-5A7C-D5CD584F97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0AB99B1-493C-99F5-FEEB-3F3302E7C6F9}"/>
              </a:ext>
            </a:extLst>
          </p:cNvPr>
          <p:cNvSpPr>
            <a:spLocks noGrp="1"/>
          </p:cNvSpPr>
          <p:nvPr>
            <p:ph idx="1"/>
          </p:nvPr>
        </p:nvSpPr>
        <p:spPr/>
        <p:txBody>
          <a:bodyPr/>
          <a:lstStyle/>
          <a:p>
            <a:pPr algn="just"/>
            <a:r>
              <a:rPr lang="en-US" b="1" i="0" dirty="0">
                <a:solidFill>
                  <a:srgbClr val="373D3F"/>
                </a:solidFill>
                <a:effectLst/>
                <a:latin typeface="Lora" pitchFamily="2" charset="0"/>
              </a:rPr>
              <a:t>Abort </a:t>
            </a:r>
            <a:r>
              <a:rPr lang="en-US" b="0" i="0" dirty="0">
                <a:solidFill>
                  <a:srgbClr val="373D3F"/>
                </a:solidFill>
                <a:effectLst/>
                <a:latin typeface="Lora" pitchFamily="2" charset="0"/>
              </a:rPr>
              <a:t>: used to handle memory access violations. The abort mode handles data abort.</a:t>
            </a:r>
          </a:p>
          <a:p>
            <a:pPr marL="0" indent="0" algn="l">
              <a:buNone/>
            </a:pPr>
            <a:r>
              <a:rPr lang="en-US" b="0" i="0" dirty="0">
                <a:solidFill>
                  <a:srgbClr val="373D3F"/>
                </a:solidFill>
                <a:effectLst/>
                <a:latin typeface="Lora" pitchFamily="2" charset="0"/>
              </a:rPr>
              <a:t> </a:t>
            </a:r>
          </a:p>
          <a:p>
            <a:pPr algn="just"/>
            <a:r>
              <a:rPr lang="en-US" b="1" i="0" dirty="0">
                <a:solidFill>
                  <a:srgbClr val="373D3F"/>
                </a:solidFill>
                <a:effectLst/>
                <a:latin typeface="Lora" pitchFamily="2" charset="0"/>
              </a:rPr>
              <a:t>Undefined </a:t>
            </a:r>
            <a:r>
              <a:rPr lang="en-US" b="0" i="0" dirty="0">
                <a:solidFill>
                  <a:srgbClr val="373D3F"/>
                </a:solidFill>
                <a:effectLst/>
                <a:latin typeface="Lora" pitchFamily="2" charset="0"/>
              </a:rPr>
              <a:t>: used to handle undefined instructions that are not supported by the implementation.</a:t>
            </a:r>
          </a:p>
          <a:p>
            <a:endParaRPr lang="en-IN" dirty="0"/>
          </a:p>
        </p:txBody>
      </p:sp>
    </p:spTree>
    <p:extLst>
      <p:ext uri="{BB962C8B-B14F-4D97-AF65-F5344CB8AC3E}">
        <p14:creationId xmlns:p14="http://schemas.microsoft.com/office/powerpoint/2010/main" val="18771249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3FE23-B4AE-D657-7278-BD74DBFA95E2}"/>
              </a:ext>
            </a:extLst>
          </p:cNvPr>
          <p:cNvSpPr>
            <a:spLocks noGrp="1"/>
          </p:cNvSpPr>
          <p:nvPr>
            <p:ph type="title"/>
          </p:nvPr>
        </p:nvSpPr>
        <p:spPr/>
        <p:txBody>
          <a:bodyPr/>
          <a:lstStyle/>
          <a:p>
            <a:r>
              <a:rPr lang="en-US" dirty="0"/>
              <a:t>ARM </a:t>
            </a:r>
            <a:r>
              <a:rPr lang="en-US" dirty="0" err="1"/>
              <a:t>REgisters</a:t>
            </a:r>
            <a:endParaRPr lang="en-IN" dirty="0"/>
          </a:p>
        </p:txBody>
      </p:sp>
      <p:sp>
        <p:nvSpPr>
          <p:cNvPr id="3" name="Content Placeholder 2">
            <a:extLst>
              <a:ext uri="{FF2B5EF4-FFF2-40B4-BE49-F238E27FC236}">
                <a16:creationId xmlns:a16="http://schemas.microsoft.com/office/drawing/2014/main" id="{F6A525F6-35DE-9219-8427-A74071ED8816}"/>
              </a:ext>
            </a:extLst>
          </p:cNvPr>
          <p:cNvSpPr>
            <a:spLocks noGrp="1"/>
          </p:cNvSpPr>
          <p:nvPr>
            <p:ph idx="1"/>
          </p:nvPr>
        </p:nvSpPr>
        <p:spPr/>
        <p:txBody>
          <a:bodyPr>
            <a:normAutofit/>
          </a:bodyPr>
          <a:lstStyle/>
          <a:p>
            <a:pPr algn="just">
              <a:lnSpc>
                <a:spcPct val="100000"/>
              </a:lnSpc>
            </a:pPr>
            <a:r>
              <a:rPr lang="en-US" sz="2400" b="0" i="0" dirty="0">
                <a:effectLst/>
                <a:latin typeface="Times New Roman" panose="02020603050405020304" pitchFamily="18" charset="0"/>
                <a:cs typeface="Times New Roman" panose="02020603050405020304" pitchFamily="18" charset="0"/>
              </a:rPr>
              <a:t>The ARM architecture provides </a:t>
            </a:r>
            <a:r>
              <a:rPr lang="en-US" sz="2400" b="1" i="0" dirty="0">
                <a:solidFill>
                  <a:schemeClr val="accent6">
                    <a:lumMod val="75000"/>
                  </a:schemeClr>
                </a:solidFill>
                <a:effectLst/>
                <a:latin typeface="Times New Roman" panose="02020603050405020304" pitchFamily="18" charset="0"/>
                <a:cs typeface="Times New Roman" panose="02020603050405020304" pitchFamily="18" charset="0"/>
              </a:rPr>
              <a:t>sixteen 32-bit general purpose registers (R0-R15) for software use. </a:t>
            </a:r>
          </a:p>
          <a:p>
            <a:pPr algn="just">
              <a:lnSpc>
                <a:spcPct val="100000"/>
              </a:lnSpc>
            </a:pPr>
            <a:r>
              <a:rPr lang="en-US" sz="2400" b="0" i="0" dirty="0">
                <a:effectLst/>
                <a:latin typeface="Times New Roman" panose="02020603050405020304" pitchFamily="18" charset="0"/>
                <a:cs typeface="Times New Roman" panose="02020603050405020304" pitchFamily="18" charset="0"/>
              </a:rPr>
              <a:t>Fifteen of them </a:t>
            </a:r>
            <a:r>
              <a:rPr lang="en-US" sz="2400" b="0" i="0" dirty="0">
                <a:solidFill>
                  <a:schemeClr val="accent6">
                    <a:lumMod val="75000"/>
                  </a:schemeClr>
                </a:solidFill>
                <a:effectLst/>
                <a:latin typeface="Times New Roman" panose="02020603050405020304" pitchFamily="18" charset="0"/>
                <a:cs typeface="Times New Roman" panose="02020603050405020304" pitchFamily="18" charset="0"/>
              </a:rPr>
              <a:t>(R0-R14) can be used for general purpose data storage</a:t>
            </a:r>
            <a:r>
              <a:rPr lang="en-US" sz="2400" b="0" i="0" dirty="0">
                <a:effectLst/>
                <a:latin typeface="Times New Roman" panose="02020603050405020304" pitchFamily="18" charset="0"/>
                <a:cs typeface="Times New Roman" panose="02020603050405020304" pitchFamily="18" charset="0"/>
              </a:rPr>
              <a:t>, while </a:t>
            </a:r>
            <a:r>
              <a:rPr lang="en-US" sz="2400" b="0" i="0" dirty="0">
                <a:solidFill>
                  <a:schemeClr val="accent6">
                    <a:lumMod val="75000"/>
                  </a:schemeClr>
                </a:solidFill>
                <a:effectLst/>
                <a:latin typeface="Times New Roman" panose="02020603050405020304" pitchFamily="18" charset="0"/>
                <a:cs typeface="Times New Roman" panose="02020603050405020304" pitchFamily="18" charset="0"/>
              </a:rPr>
              <a:t>R15 is the program counter </a:t>
            </a:r>
            <a:r>
              <a:rPr lang="en-US" sz="2400" b="0" i="0" dirty="0">
                <a:effectLst/>
                <a:latin typeface="Times New Roman" panose="02020603050405020304" pitchFamily="18" charset="0"/>
                <a:cs typeface="Times New Roman" panose="02020603050405020304" pitchFamily="18" charset="0"/>
              </a:rPr>
              <a:t>whose value is altered as the core executes instructions.</a:t>
            </a:r>
          </a:p>
          <a:p>
            <a:pPr algn="just">
              <a:lnSpc>
                <a:spcPct val="100000"/>
              </a:lnSpc>
            </a:pPr>
            <a:r>
              <a:rPr lang="en-US" sz="2400" b="0" i="0" dirty="0">
                <a:effectLst/>
                <a:latin typeface="Times New Roman" panose="02020603050405020304" pitchFamily="18" charset="0"/>
                <a:cs typeface="Times New Roman" panose="02020603050405020304" pitchFamily="18" charset="0"/>
              </a:rPr>
              <a:t> An explicit write to R15 by software will alter program flow.</a:t>
            </a:r>
          </a:p>
          <a:p>
            <a:pPr algn="just">
              <a:lnSpc>
                <a:spcPct val="100000"/>
              </a:lnSpc>
            </a:pPr>
            <a:r>
              <a:rPr lang="en-US" sz="2400" b="0" i="0" dirty="0">
                <a:effectLst/>
                <a:latin typeface="Times New Roman" panose="02020603050405020304" pitchFamily="18" charset="0"/>
                <a:cs typeface="Times New Roman" panose="02020603050405020304" pitchFamily="18" charset="0"/>
              </a:rPr>
              <a:t>Software can also access the CPSR, and a saved copy of the CPSR from the previously executed mode, called the </a:t>
            </a:r>
            <a:r>
              <a:rPr lang="en-US" sz="2400" b="0" i="1" dirty="0">
                <a:solidFill>
                  <a:schemeClr val="accent6">
                    <a:lumMod val="75000"/>
                  </a:schemeClr>
                </a:solidFill>
                <a:effectLst/>
                <a:latin typeface="Times New Roman" panose="02020603050405020304" pitchFamily="18" charset="0"/>
                <a:cs typeface="Times New Roman" panose="02020603050405020304" pitchFamily="18" charset="0"/>
              </a:rPr>
              <a:t>Saved Program Status Register</a:t>
            </a:r>
            <a:r>
              <a:rPr lang="en-US" sz="2400" b="0" i="0" dirty="0">
                <a:solidFill>
                  <a:schemeClr val="accent6">
                    <a:lumMod val="75000"/>
                  </a:schemeClr>
                </a:solidFill>
                <a:effectLst/>
                <a:latin typeface="Times New Roman" panose="02020603050405020304" pitchFamily="18" charset="0"/>
                <a:cs typeface="Times New Roman" panose="02020603050405020304" pitchFamily="18" charset="0"/>
              </a:rPr>
              <a:t> (SPSR)</a:t>
            </a:r>
            <a:endParaRPr lang="en-IN" sz="24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87801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DCFE19-2739-181C-7E95-6C547186B10C}"/>
              </a:ext>
            </a:extLst>
          </p:cNvPr>
          <p:cNvSpPr>
            <a:spLocks noGrp="1"/>
          </p:cNvSpPr>
          <p:nvPr>
            <p:ph type="title"/>
          </p:nvPr>
        </p:nvSpPr>
        <p:spPr>
          <a:xfrm>
            <a:off x="1" y="0"/>
            <a:ext cx="3531476" cy="788276"/>
          </a:xfrm>
        </p:spPr>
        <p:txBody>
          <a:bodyPr/>
          <a:lstStyle/>
          <a:p>
            <a:r>
              <a:rPr lang="en-US" dirty="0"/>
              <a:t>ARM Registers</a:t>
            </a:r>
            <a:endParaRPr lang="en-IN" dirty="0"/>
          </a:p>
        </p:txBody>
      </p:sp>
      <p:pic>
        <p:nvPicPr>
          <p:cNvPr id="12" name="Picture Placeholder 11">
            <a:extLst>
              <a:ext uri="{FF2B5EF4-FFF2-40B4-BE49-F238E27FC236}">
                <a16:creationId xmlns:a16="http://schemas.microsoft.com/office/drawing/2014/main" id="{C3F517E7-74F4-4F6E-304C-B7DD9D343833}"/>
              </a:ext>
            </a:extLst>
          </p:cNvPr>
          <p:cNvPicPr>
            <a:picLocks noGrp="1" noChangeAspect="1"/>
          </p:cNvPicPr>
          <p:nvPr>
            <p:ph type="pic" idx="1"/>
          </p:nvPr>
        </p:nvPicPr>
        <p:blipFill>
          <a:blip r:embed="rId2"/>
          <a:srcRect l="11915" r="11915"/>
          <a:stretch/>
        </p:blipFill>
        <p:spPr>
          <a:xfrm>
            <a:off x="5183188" y="0"/>
            <a:ext cx="6172200" cy="6858000"/>
          </a:xfrm>
        </p:spPr>
      </p:pic>
      <p:sp>
        <p:nvSpPr>
          <p:cNvPr id="6" name="Text Placeholder 5">
            <a:extLst>
              <a:ext uri="{FF2B5EF4-FFF2-40B4-BE49-F238E27FC236}">
                <a16:creationId xmlns:a16="http://schemas.microsoft.com/office/drawing/2014/main" id="{D957BD34-7FF5-EDCF-F1E5-E73A49B3AC84}"/>
              </a:ext>
            </a:extLst>
          </p:cNvPr>
          <p:cNvSpPr>
            <a:spLocks noGrp="1"/>
          </p:cNvSpPr>
          <p:nvPr>
            <p:ph type="body" sz="half" idx="2"/>
          </p:nvPr>
        </p:nvSpPr>
        <p:spPr>
          <a:xfrm>
            <a:off x="0" y="788276"/>
            <a:ext cx="4772025" cy="6069724"/>
          </a:xfrm>
        </p:spPr>
        <p:txBody>
          <a:bodyPr>
            <a:normAutofit lnSpcReduction="10000"/>
          </a:bodyPr>
          <a:lstStyle/>
          <a:p>
            <a:pPr marL="457200" indent="-457200">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Although software can access the registers, depending on which mode the software is executing in and the register being accessed, a register might correspond to a different physical storage location. </a:t>
            </a:r>
          </a:p>
          <a:p>
            <a:pPr marL="457200" indent="-457200">
              <a:buFont typeface="Wingdings" panose="05000000000000000000" pitchFamily="2" charset="2"/>
              <a:buChar char="v"/>
            </a:pPr>
            <a:r>
              <a:rPr lang="en-US" sz="2800" b="0" i="0" dirty="0">
                <a:effectLst/>
                <a:latin typeface="Times New Roman" panose="02020603050405020304" pitchFamily="18" charset="0"/>
                <a:cs typeface="Times New Roman" panose="02020603050405020304" pitchFamily="18" charset="0"/>
              </a:rPr>
              <a:t>This is called banking, the shaded registers in </a:t>
            </a:r>
            <a:r>
              <a:rPr lang="en-US" sz="2800" dirty="0">
                <a:solidFill>
                  <a:srgbClr val="00C1DE"/>
                </a:solidFill>
                <a:latin typeface="Times New Roman" panose="02020603050405020304" pitchFamily="18" charset="0"/>
                <a:cs typeface="Times New Roman" panose="02020603050405020304" pitchFamily="18" charset="0"/>
              </a:rPr>
              <a:t>Figure </a:t>
            </a:r>
            <a:r>
              <a:rPr lang="en-US" sz="2800" b="0" i="0" dirty="0">
                <a:effectLst/>
                <a:latin typeface="Times New Roman" panose="02020603050405020304" pitchFamily="18" charset="0"/>
                <a:cs typeface="Times New Roman" panose="02020603050405020304" pitchFamily="18" charset="0"/>
              </a:rPr>
              <a:t>are banked. They use physically distinct storage and are usually accessible only when a process is executing in that particular mode.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24652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B5D222-F54C-5BA9-A414-E03885077C49}"/>
              </a:ext>
            </a:extLst>
          </p:cNvPr>
          <p:cNvSpPr>
            <a:spLocks noGrp="1"/>
          </p:cNvSpPr>
          <p:nvPr>
            <p:ph type="title"/>
          </p:nvPr>
        </p:nvSpPr>
        <p:spPr>
          <a:xfrm>
            <a:off x="118672" y="-1588"/>
            <a:ext cx="10515600" cy="841037"/>
          </a:xfrm>
        </p:spPr>
        <p:txBody>
          <a:bodyPr/>
          <a:lstStyle/>
          <a:p>
            <a:r>
              <a:rPr lang="en-US" dirty="0"/>
              <a:t>ARM Register Set</a:t>
            </a:r>
            <a:endParaRPr lang="en-IN" dirty="0"/>
          </a:p>
        </p:txBody>
      </p:sp>
      <p:sp>
        <p:nvSpPr>
          <p:cNvPr id="10" name="Content Placeholder 9">
            <a:extLst>
              <a:ext uri="{FF2B5EF4-FFF2-40B4-BE49-F238E27FC236}">
                <a16:creationId xmlns:a16="http://schemas.microsoft.com/office/drawing/2014/main" id="{02372422-084C-8C69-B420-CA9D9F0C7D16}"/>
              </a:ext>
            </a:extLst>
          </p:cNvPr>
          <p:cNvSpPr>
            <a:spLocks noGrp="1"/>
          </p:cNvSpPr>
          <p:nvPr>
            <p:ph idx="1"/>
          </p:nvPr>
        </p:nvSpPr>
        <p:spPr/>
        <p:txBody>
          <a:bodyPr/>
          <a:lstStyle/>
          <a:p>
            <a:endParaRPr lang="en-IN"/>
          </a:p>
        </p:txBody>
      </p:sp>
      <p:pic>
        <p:nvPicPr>
          <p:cNvPr id="3" name="Picture 2">
            <a:extLst>
              <a:ext uri="{FF2B5EF4-FFF2-40B4-BE49-F238E27FC236}">
                <a16:creationId xmlns:a16="http://schemas.microsoft.com/office/drawing/2014/main" id="{3117D967-6B79-2300-1851-10692AECBBA2}"/>
              </a:ext>
            </a:extLst>
          </p:cNvPr>
          <p:cNvPicPr>
            <a:picLocks noChangeAspect="1"/>
          </p:cNvPicPr>
          <p:nvPr/>
        </p:nvPicPr>
        <p:blipFill>
          <a:blip r:embed="rId2"/>
          <a:stretch>
            <a:fillRect/>
          </a:stretch>
        </p:blipFill>
        <p:spPr>
          <a:xfrm>
            <a:off x="329783" y="681037"/>
            <a:ext cx="12192000" cy="6176963"/>
          </a:xfrm>
          <a:prstGeom prst="rect">
            <a:avLst/>
          </a:prstGeom>
        </p:spPr>
      </p:pic>
    </p:spTree>
    <p:extLst>
      <p:ext uri="{BB962C8B-B14F-4D97-AF65-F5344CB8AC3E}">
        <p14:creationId xmlns:p14="http://schemas.microsoft.com/office/powerpoint/2010/main" val="33652827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EFFF70-B229-C565-2154-566490BE2297}"/>
              </a:ext>
            </a:extLst>
          </p:cNvPr>
          <p:cNvSpPr>
            <a:spLocks noGrp="1"/>
          </p:cNvSpPr>
          <p:nvPr>
            <p:ph idx="1"/>
          </p:nvPr>
        </p:nvSpPr>
        <p:spPr>
          <a:xfrm>
            <a:off x="0" y="0"/>
            <a:ext cx="12192000" cy="6858000"/>
          </a:xfrm>
        </p:spPr>
        <p:txBody>
          <a:bodyPr>
            <a:normAutofit/>
          </a:bodyPr>
          <a:lstStyle/>
          <a:p>
            <a:pPr algn="just">
              <a:lnSpc>
                <a:spcPct val="100000"/>
              </a:lnSpc>
              <a:buFont typeface="Wingdings" panose="05000000000000000000" pitchFamily="2" charset="2"/>
              <a:buChar char="v"/>
            </a:pPr>
            <a:endParaRPr lang="en-US" b="0" i="0" dirty="0">
              <a:solidFill>
                <a:srgbClr val="373D3F"/>
              </a:solidFill>
              <a:effectLst/>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v"/>
            </a:pPr>
            <a:r>
              <a:rPr lang="en-US" b="0" i="0" dirty="0">
                <a:solidFill>
                  <a:srgbClr val="373D3F"/>
                </a:solidFill>
                <a:effectLst/>
                <a:latin typeface="Times New Roman" panose="02020603050405020304" pitchFamily="18" charset="0"/>
                <a:cs typeface="Times New Roman" panose="02020603050405020304" pitchFamily="18" charset="0"/>
              </a:rPr>
              <a:t>The registers are broadly classified into </a:t>
            </a: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Special Purpose Registers(SPR) and General Purpose Registers(GPR). </a:t>
            </a:r>
          </a:p>
          <a:p>
            <a:pPr algn="just">
              <a:lnSpc>
                <a:spcPct val="100000"/>
              </a:lnSpc>
              <a:buFont typeface="Wingdings" panose="05000000000000000000" pitchFamily="2" charset="2"/>
              <a:buChar char="v"/>
            </a:pPr>
            <a:r>
              <a:rPr lang="en-US" b="0" i="0" dirty="0">
                <a:solidFill>
                  <a:srgbClr val="373D3F"/>
                </a:solidFill>
                <a:effectLst/>
                <a:latin typeface="Times New Roman" panose="02020603050405020304" pitchFamily="18" charset="0"/>
                <a:cs typeface="Times New Roman" panose="02020603050405020304" pitchFamily="18" charset="0"/>
              </a:rPr>
              <a:t>The SPRs are processor driven registers and GPRs are for the programmer.</a:t>
            </a:r>
          </a:p>
          <a:p>
            <a:pPr algn="just">
              <a:lnSpc>
                <a:spcPct val="100000"/>
              </a:lnSpc>
              <a:buFont typeface="Wingdings" panose="05000000000000000000" pitchFamily="2" charset="2"/>
              <a:buChar char="v"/>
            </a:pPr>
            <a:r>
              <a:rPr lang="en-US" b="0" i="0" dirty="0">
                <a:solidFill>
                  <a:srgbClr val="373D3F"/>
                </a:solidFill>
                <a:effectLst/>
                <a:latin typeface="Times New Roman" panose="02020603050405020304" pitchFamily="18" charset="0"/>
                <a:cs typeface="Times New Roman" panose="02020603050405020304" pitchFamily="18" charset="0"/>
              </a:rPr>
              <a:t> Overall there are about 18 active registers of which 16 registers r0 to r15 are visible to the user. </a:t>
            </a:r>
          </a:p>
          <a:p>
            <a:pPr algn="just">
              <a:lnSpc>
                <a:spcPct val="100000"/>
              </a:lnSpc>
              <a:buFont typeface="Wingdings" panose="05000000000000000000" pitchFamily="2" charset="2"/>
              <a:buChar char="v"/>
            </a:pPr>
            <a:r>
              <a:rPr lang="en-US" b="0" i="0" dirty="0">
                <a:solidFill>
                  <a:srgbClr val="373D3F"/>
                </a:solidFill>
                <a:effectLst/>
                <a:latin typeface="Times New Roman" panose="02020603050405020304" pitchFamily="18" charset="0"/>
                <a:cs typeface="Times New Roman" panose="02020603050405020304" pitchFamily="18" charset="0"/>
              </a:rPr>
              <a:t>In this the registers r13, r14 and r15 are used as the stack pointer, link register(</a:t>
            </a:r>
            <a:r>
              <a:rPr lang="en-US" b="0" i="0" dirty="0" err="1">
                <a:solidFill>
                  <a:srgbClr val="373D3F"/>
                </a:solidFill>
                <a:effectLst/>
                <a:latin typeface="Times New Roman" panose="02020603050405020304" pitchFamily="18" charset="0"/>
                <a:cs typeface="Times New Roman" panose="02020603050405020304" pitchFamily="18" charset="0"/>
              </a:rPr>
              <a:t>lr</a:t>
            </a:r>
            <a:r>
              <a:rPr lang="en-US" b="0" i="0" dirty="0">
                <a:solidFill>
                  <a:srgbClr val="373D3F"/>
                </a:solidFill>
                <a:effectLst/>
                <a:latin typeface="Times New Roman" panose="02020603050405020304" pitchFamily="18" charset="0"/>
                <a:cs typeface="Times New Roman" panose="02020603050405020304" pitchFamily="18" charset="0"/>
              </a:rPr>
              <a:t>) and program counter(pc) respectively. </a:t>
            </a:r>
          </a:p>
        </p:txBody>
      </p:sp>
    </p:spTree>
    <p:extLst>
      <p:ext uri="{BB962C8B-B14F-4D97-AF65-F5344CB8AC3E}">
        <p14:creationId xmlns:p14="http://schemas.microsoft.com/office/powerpoint/2010/main" val="11841729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65A82-7E4A-3CFC-FD1A-9B5B2D76829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4B12EA8-F37E-4B2E-C8D1-379D88F0232F}"/>
              </a:ext>
            </a:extLst>
          </p:cNvPr>
          <p:cNvSpPr>
            <a:spLocks noGrp="1"/>
          </p:cNvSpPr>
          <p:nvPr>
            <p:ph idx="1"/>
          </p:nvPr>
        </p:nvSpPr>
        <p:spPr/>
        <p:txBody>
          <a:bodyPr/>
          <a:lstStyle/>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The </a:t>
            </a:r>
            <a:r>
              <a:rPr lang="en-US" b="0" i="0" dirty="0" err="1">
                <a:solidFill>
                  <a:srgbClr val="373D3F"/>
                </a:solidFill>
                <a:effectLst/>
                <a:latin typeface="Times New Roman" panose="02020603050405020304" pitchFamily="18" charset="0"/>
                <a:cs typeface="Times New Roman" panose="02020603050405020304" pitchFamily="18" charset="0"/>
              </a:rPr>
              <a:t>lr</a:t>
            </a:r>
            <a:r>
              <a:rPr lang="en-US" b="0" i="0" dirty="0">
                <a:solidFill>
                  <a:srgbClr val="373D3F"/>
                </a:solidFill>
                <a:effectLst/>
                <a:latin typeface="Times New Roman" panose="02020603050405020304" pitchFamily="18" charset="0"/>
                <a:cs typeface="Times New Roman" panose="02020603050405020304" pitchFamily="18" charset="0"/>
              </a:rPr>
              <a:t> is used to store the </a:t>
            </a:r>
            <a:r>
              <a:rPr lang="en-US" b="0" i="0" dirty="0">
                <a:solidFill>
                  <a:schemeClr val="accent6">
                    <a:lumMod val="75000"/>
                  </a:schemeClr>
                </a:solidFill>
                <a:effectLst/>
                <a:latin typeface="Times New Roman" panose="02020603050405020304" pitchFamily="18" charset="0"/>
                <a:cs typeface="Times New Roman" panose="02020603050405020304" pitchFamily="18" charset="0"/>
              </a:rPr>
              <a:t>return address </a:t>
            </a:r>
            <a:r>
              <a:rPr lang="en-US" b="0" i="0" dirty="0">
                <a:solidFill>
                  <a:srgbClr val="373D3F"/>
                </a:solidFill>
                <a:effectLst/>
                <a:latin typeface="Times New Roman" panose="02020603050405020304" pitchFamily="18" charset="0"/>
                <a:cs typeface="Times New Roman" panose="02020603050405020304" pitchFamily="18" charset="0"/>
              </a:rPr>
              <a:t>whenever the control shifts to the </a:t>
            </a:r>
            <a:r>
              <a:rPr lang="en-US" b="0" i="0" dirty="0">
                <a:solidFill>
                  <a:schemeClr val="accent6">
                    <a:lumMod val="75000"/>
                  </a:schemeClr>
                </a:solidFill>
                <a:effectLst/>
                <a:latin typeface="Times New Roman" panose="02020603050405020304" pitchFamily="18" charset="0"/>
                <a:cs typeface="Times New Roman" panose="02020603050405020304" pitchFamily="18" charset="0"/>
              </a:rPr>
              <a:t>subroutine. </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There are two program status registers CPSR and SPSR (current program status register and saved program status register). </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Out of the </a:t>
            </a: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37 registers, 20 registers </a:t>
            </a:r>
            <a:r>
              <a:rPr lang="en-US" b="0" i="0" dirty="0">
                <a:solidFill>
                  <a:srgbClr val="373D3F"/>
                </a:solidFill>
                <a:effectLst/>
                <a:latin typeface="Times New Roman" panose="02020603050405020304" pitchFamily="18" charset="0"/>
                <a:cs typeface="Times New Roman" panose="02020603050405020304" pitchFamily="18" charset="0"/>
              </a:rPr>
              <a:t>are used orthogonally under different banks. The processor mode decides which bank is accessible. </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004881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B707-6A22-AB40-B035-6A0A70E322E1}"/>
              </a:ext>
            </a:extLst>
          </p:cNvPr>
          <p:cNvSpPr>
            <a:spLocks noGrp="1"/>
          </p:cNvSpPr>
          <p:nvPr>
            <p:ph type="title"/>
          </p:nvPr>
        </p:nvSpPr>
        <p:spPr/>
        <p:txBody>
          <a:bodyPr/>
          <a:lstStyle/>
          <a:p>
            <a:r>
              <a:rPr lang="en-IN" b="1" i="0" dirty="0">
                <a:solidFill>
                  <a:srgbClr val="373D3F"/>
                </a:solidFill>
                <a:effectLst/>
                <a:latin typeface="Lora" pitchFamily="2" charset="0"/>
              </a:rPr>
              <a:t>ARM Register Set</a:t>
            </a:r>
            <a:endParaRPr lang="en-IN" dirty="0"/>
          </a:p>
        </p:txBody>
      </p:sp>
      <p:sp>
        <p:nvSpPr>
          <p:cNvPr id="3" name="Content Placeholder 2">
            <a:extLst>
              <a:ext uri="{FF2B5EF4-FFF2-40B4-BE49-F238E27FC236}">
                <a16:creationId xmlns:a16="http://schemas.microsoft.com/office/drawing/2014/main" id="{06190009-1B4A-08B6-B599-499FACE25F1C}"/>
              </a:ext>
            </a:extLst>
          </p:cNvPr>
          <p:cNvSpPr>
            <a:spLocks noGrp="1"/>
          </p:cNvSpPr>
          <p:nvPr>
            <p:ph idx="1"/>
          </p:nvPr>
        </p:nvSpPr>
        <p:spPr>
          <a:xfrm>
            <a:off x="0" y="1825624"/>
            <a:ext cx="12192000" cy="5032375"/>
          </a:xfrm>
        </p:spPr>
        <p:txBody>
          <a:bodyPr/>
          <a:lstStyle/>
          <a:p>
            <a:r>
              <a:rPr lang="en-US" b="0" i="0" dirty="0">
                <a:solidFill>
                  <a:srgbClr val="373D3F"/>
                </a:solidFill>
                <a:effectLst/>
                <a:latin typeface="Lora" pitchFamily="2" charset="0"/>
              </a:rPr>
              <a:t>The shaded region in Figure  shows the way the registers are used for different privileged and non privileged modes. </a:t>
            </a:r>
          </a:p>
          <a:p>
            <a:r>
              <a:rPr lang="en-US" b="0" i="0" dirty="0">
                <a:solidFill>
                  <a:srgbClr val="373D3F"/>
                </a:solidFill>
                <a:effectLst/>
                <a:latin typeface="Lora" pitchFamily="2" charset="0"/>
              </a:rPr>
              <a:t>On the left is the user and system mode and on the right side the currently visible set of registers is shown for each privileged mode.</a:t>
            </a:r>
          </a:p>
          <a:p>
            <a:r>
              <a:rPr lang="en-US" b="0" i="0" dirty="0">
                <a:solidFill>
                  <a:srgbClr val="373D3F"/>
                </a:solidFill>
                <a:effectLst/>
                <a:latin typeface="Lora" pitchFamily="2" charset="0"/>
              </a:rPr>
              <a:t>All instructions can access GPRs and only a few instructions can access the SPRs. </a:t>
            </a:r>
          </a:p>
          <a:p>
            <a:r>
              <a:rPr lang="en-US" b="0" i="0" dirty="0">
                <a:solidFill>
                  <a:srgbClr val="373D3F"/>
                </a:solidFill>
                <a:effectLst/>
                <a:latin typeface="Lora" pitchFamily="2" charset="0"/>
              </a:rPr>
              <a:t>One of the prominent SPR is </a:t>
            </a:r>
            <a:r>
              <a:rPr lang="en-US" b="0" i="0" dirty="0">
                <a:solidFill>
                  <a:schemeClr val="accent6">
                    <a:lumMod val="75000"/>
                  </a:schemeClr>
                </a:solidFill>
                <a:effectLst/>
                <a:latin typeface="Lora" pitchFamily="2" charset="0"/>
              </a:rPr>
              <a:t>Program Status Register </a:t>
            </a:r>
            <a:r>
              <a:rPr lang="en-US" b="0" i="0" dirty="0">
                <a:solidFill>
                  <a:srgbClr val="373D3F"/>
                </a:solidFill>
                <a:effectLst/>
                <a:latin typeface="Lora" pitchFamily="2" charset="0"/>
              </a:rPr>
              <a:t>(PSR). </a:t>
            </a:r>
          </a:p>
          <a:p>
            <a:r>
              <a:rPr lang="en-US" b="0" i="0" dirty="0">
                <a:solidFill>
                  <a:srgbClr val="373D3F"/>
                </a:solidFill>
                <a:effectLst/>
                <a:latin typeface="Lora" pitchFamily="2" charset="0"/>
              </a:rPr>
              <a:t>The PSR in ARM represents the outcome of internal operations.</a:t>
            </a:r>
          </a:p>
          <a:p>
            <a:r>
              <a:rPr lang="en-US" b="0" i="0" dirty="0">
                <a:solidFill>
                  <a:srgbClr val="373D3F"/>
                </a:solidFill>
                <a:effectLst/>
                <a:latin typeface="Lora" pitchFamily="2" charset="0"/>
              </a:rPr>
              <a:t> It helps in monitoring the </a:t>
            </a:r>
            <a:r>
              <a:rPr lang="en-US" b="0" i="0" dirty="0">
                <a:solidFill>
                  <a:schemeClr val="accent6">
                    <a:lumMod val="75000"/>
                  </a:schemeClr>
                </a:solidFill>
                <a:effectLst/>
                <a:latin typeface="Lora" pitchFamily="2" charset="0"/>
              </a:rPr>
              <a:t>status of the processor. </a:t>
            </a:r>
            <a:endParaRPr lang="en-IN" dirty="0">
              <a:solidFill>
                <a:schemeClr val="accent6">
                  <a:lumMod val="75000"/>
                </a:schemeClr>
              </a:solidFill>
            </a:endParaRPr>
          </a:p>
        </p:txBody>
      </p:sp>
    </p:spTree>
    <p:extLst>
      <p:ext uri="{BB962C8B-B14F-4D97-AF65-F5344CB8AC3E}">
        <p14:creationId xmlns:p14="http://schemas.microsoft.com/office/powerpoint/2010/main" val="3758083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FBC20E-442C-0582-9ACD-D426C60B20FC}"/>
              </a:ext>
            </a:extLst>
          </p:cNvPr>
          <p:cNvSpPr>
            <a:spLocks noGrp="1"/>
          </p:cNvSpPr>
          <p:nvPr>
            <p:ph idx="1"/>
          </p:nvPr>
        </p:nvSpPr>
        <p:spPr>
          <a:xfrm>
            <a:off x="0" y="0"/>
            <a:ext cx="12192000" cy="6858000"/>
          </a:xfrm>
        </p:spPr>
        <p:txBody>
          <a:bodyPr/>
          <a:lstStyle/>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The PSR is generally referred to as </a:t>
            </a:r>
            <a:r>
              <a:rPr lang="en-US" b="0" i="0" dirty="0">
                <a:solidFill>
                  <a:schemeClr val="accent6">
                    <a:lumMod val="75000"/>
                  </a:schemeClr>
                </a:solidFill>
                <a:effectLst/>
                <a:latin typeface="Times New Roman" panose="02020603050405020304" pitchFamily="18" charset="0"/>
                <a:cs typeface="Times New Roman" panose="02020603050405020304" pitchFamily="18" charset="0"/>
              </a:rPr>
              <a:t>Current PSR</a:t>
            </a:r>
            <a:r>
              <a:rPr lang="en-US" b="0" i="0" dirty="0">
                <a:solidFill>
                  <a:srgbClr val="373D3F"/>
                </a:solidFill>
                <a:effectLst/>
                <a:latin typeface="Times New Roman" panose="02020603050405020304" pitchFamily="18" charset="0"/>
                <a:cs typeface="Times New Roman" panose="02020603050405020304" pitchFamily="18" charset="0"/>
              </a:rPr>
              <a:t>. </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There is another PSR for storage purpose called </a:t>
            </a:r>
            <a:r>
              <a:rPr lang="en-US" b="0" i="0" dirty="0">
                <a:solidFill>
                  <a:schemeClr val="accent6">
                    <a:lumMod val="75000"/>
                  </a:schemeClr>
                </a:solidFill>
                <a:effectLst/>
                <a:latin typeface="Times New Roman" panose="02020603050405020304" pitchFamily="18" charset="0"/>
                <a:cs typeface="Times New Roman" panose="02020603050405020304" pitchFamily="18" charset="0"/>
              </a:rPr>
              <a:t>Saved PSR (SPSR).</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The processor switches from </a:t>
            </a: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one mode to another </a:t>
            </a:r>
            <a:r>
              <a:rPr lang="en-US" b="0" i="0" dirty="0">
                <a:solidFill>
                  <a:srgbClr val="373D3F"/>
                </a:solidFill>
                <a:effectLst/>
                <a:latin typeface="Times New Roman" panose="02020603050405020304" pitchFamily="18" charset="0"/>
                <a:cs typeface="Times New Roman" panose="02020603050405020304" pitchFamily="18" charset="0"/>
              </a:rPr>
              <a:t>on demand of a interrupt, exception and privileged instruction. </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As the processor transits via a privileged mode to non privileged mode vice </a:t>
            </a:r>
            <a:r>
              <a:rPr lang="en-US" b="0" i="0" dirty="0" err="1">
                <a:solidFill>
                  <a:srgbClr val="373D3F"/>
                </a:solidFill>
                <a:effectLst/>
                <a:latin typeface="Times New Roman" panose="02020603050405020304" pitchFamily="18" charset="0"/>
                <a:cs typeface="Times New Roman" panose="02020603050405020304" pitchFamily="18" charset="0"/>
              </a:rPr>
              <a:t>versa,the</a:t>
            </a:r>
            <a:r>
              <a:rPr lang="en-US" b="0" i="0" dirty="0">
                <a:solidFill>
                  <a:srgbClr val="373D3F"/>
                </a:solidFill>
                <a:effectLst/>
                <a:latin typeface="Times New Roman" panose="02020603050405020304" pitchFamily="18" charset="0"/>
                <a:cs typeface="Times New Roman" panose="02020603050405020304" pitchFamily="18" charset="0"/>
              </a:rPr>
              <a:t> current executing mode </a:t>
            </a:r>
            <a:r>
              <a:rPr lang="en-US" b="0" i="0" dirty="0">
                <a:solidFill>
                  <a:schemeClr val="accent6">
                    <a:lumMod val="75000"/>
                  </a:schemeClr>
                </a:solidFill>
                <a:effectLst/>
                <a:latin typeface="Times New Roman" panose="02020603050405020304" pitchFamily="18" charset="0"/>
                <a:cs typeface="Times New Roman" panose="02020603050405020304" pitchFamily="18" charset="0"/>
              </a:rPr>
              <a:t>CPSR is saved in the SPSR of the initiator mode. </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After completion of the task, it moves back to </a:t>
            </a: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the earlier switched mode. </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This procedure is similar to context switching. </a:t>
            </a:r>
          </a:p>
          <a:p>
            <a:pPr algn="just">
              <a:lnSpc>
                <a:spcPct val="100000"/>
              </a:lnSpc>
            </a:pPr>
            <a:r>
              <a:rPr lang="en-US" b="0" i="0" dirty="0">
                <a:solidFill>
                  <a:srgbClr val="373D3F"/>
                </a:solidFill>
                <a:effectLst/>
                <a:latin typeface="Times New Roman" panose="02020603050405020304" pitchFamily="18" charset="0"/>
                <a:cs typeface="Times New Roman" panose="02020603050405020304" pitchFamily="18" charset="0"/>
              </a:rPr>
              <a:t>At the end a special return instruction it copies the </a:t>
            </a: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SPSR into the CPSR.</a:t>
            </a:r>
            <a:endParaRPr lang="en-IN"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738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1E7B9-62FD-024F-9DEB-B6C066EE67E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9E6BDC6-89E7-F5A9-6A84-AF0F92515601}"/>
              </a:ext>
            </a:extLst>
          </p:cNvPr>
          <p:cNvPicPr>
            <a:picLocks noGrp="1" noChangeAspect="1"/>
          </p:cNvPicPr>
          <p:nvPr>
            <p:ph idx="1"/>
          </p:nvPr>
        </p:nvPicPr>
        <p:blipFill>
          <a:blip r:embed="rId2"/>
          <a:stretch>
            <a:fillRect/>
          </a:stretch>
        </p:blipFill>
        <p:spPr>
          <a:xfrm>
            <a:off x="1952651" y="1690688"/>
            <a:ext cx="8531418" cy="4802187"/>
          </a:xfrm>
        </p:spPr>
      </p:pic>
    </p:spTree>
    <p:extLst>
      <p:ext uri="{BB962C8B-B14F-4D97-AF65-F5344CB8AC3E}">
        <p14:creationId xmlns:p14="http://schemas.microsoft.com/office/powerpoint/2010/main" val="20904637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219ACC-CD22-D11E-82D6-5ED789C2DD74}"/>
              </a:ext>
            </a:extLst>
          </p:cNvPr>
          <p:cNvSpPr>
            <a:spLocks noGrp="1"/>
          </p:cNvSpPr>
          <p:nvPr>
            <p:ph idx="1"/>
          </p:nvPr>
        </p:nvSpPr>
        <p:spPr>
          <a:xfrm>
            <a:off x="0" y="0"/>
            <a:ext cx="12192000" cy="6858000"/>
          </a:xfrm>
        </p:spPr>
        <p:txBody>
          <a:bodyPr>
            <a:normAutofit/>
          </a:bodyPr>
          <a:lstStyle/>
          <a:p>
            <a:pPr algn="just">
              <a:lnSpc>
                <a:spcPct val="15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The Condition Code(CC)bits Negative(N), Zero(Z), Carry(C) and overflow(V) are set on the occurrence of respective result. </a:t>
            </a:r>
          </a:p>
          <a:p>
            <a:pPr algn="just">
              <a:lnSpc>
                <a:spcPct val="15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All Thumb instructions and few ARM instruction affect the CC flags.</a:t>
            </a:r>
          </a:p>
          <a:p>
            <a:pPr algn="just">
              <a:lnSpc>
                <a:spcPct val="15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The ARM instruction can influence the </a:t>
            </a:r>
            <a:r>
              <a:rPr lang="en-US" b="0" i="0" dirty="0" err="1">
                <a:solidFill>
                  <a:srgbClr val="373D3F"/>
                </a:solidFill>
                <a:effectLst/>
                <a:latin typeface="Times New Roman" panose="02020603050405020304" pitchFamily="18" charset="0"/>
                <a:cs typeface="Times New Roman" panose="02020603050405020304" pitchFamily="18" charset="0"/>
              </a:rPr>
              <a:t>cc,if</a:t>
            </a:r>
            <a:r>
              <a:rPr lang="en-US" b="0" i="0" dirty="0">
                <a:solidFill>
                  <a:srgbClr val="373D3F"/>
                </a:solidFill>
                <a:effectLst/>
                <a:latin typeface="Times New Roman" panose="02020603050405020304" pitchFamily="18" charset="0"/>
                <a:cs typeface="Times New Roman" panose="02020603050405020304" pitchFamily="18" charset="0"/>
              </a:rPr>
              <a:t> they are appended with a S variable in the instruction.</a:t>
            </a:r>
          </a:p>
          <a:p>
            <a:pPr algn="just">
              <a:lnSpc>
                <a:spcPct val="150000"/>
              </a:lnSpc>
              <a:buFont typeface="Wingdings" panose="05000000000000000000" pitchFamily="2" charset="2"/>
              <a:buChar char="ü"/>
            </a:pPr>
            <a:r>
              <a:rPr lang="en-US" b="0" i="0" dirty="0">
                <a:solidFill>
                  <a:srgbClr val="373D3F"/>
                </a:solidFill>
                <a:effectLst/>
                <a:latin typeface="Times New Roman" panose="02020603050405020304" pitchFamily="18" charset="0"/>
                <a:cs typeface="Times New Roman" panose="02020603050405020304" pitchFamily="18" charset="0"/>
              </a:rPr>
              <a:t> </a:t>
            </a:r>
            <a:r>
              <a:rPr lang="en-US" b="1" i="0" dirty="0">
                <a:solidFill>
                  <a:schemeClr val="accent6">
                    <a:lumMod val="75000"/>
                  </a:schemeClr>
                </a:solidFill>
                <a:effectLst/>
                <a:latin typeface="Times New Roman" panose="02020603050405020304" pitchFamily="18" charset="0"/>
                <a:cs typeface="Times New Roman" panose="02020603050405020304" pitchFamily="18" charset="0"/>
              </a:rPr>
              <a:t>Sticky overflow flag (Q flag) </a:t>
            </a:r>
            <a:r>
              <a:rPr lang="en-US" b="0" i="0" dirty="0">
                <a:solidFill>
                  <a:srgbClr val="373D3F"/>
                </a:solidFill>
                <a:effectLst/>
                <a:latin typeface="Times New Roman" panose="02020603050405020304" pitchFamily="18" charset="0"/>
                <a:cs typeface="Times New Roman" panose="02020603050405020304" pitchFamily="18" charset="0"/>
              </a:rPr>
              <a:t>is set either when saturation occurs during signed add and subtract and Double add and subtract (QADD, QDADD, QSUB or QDSUB), or the result of signed multiply and accumulate multiple and accumulate word (SML </a:t>
            </a:r>
            <a:r>
              <a:rPr lang="en-US" b="0" i="0" dirty="0" err="1">
                <a:solidFill>
                  <a:srgbClr val="373D3F"/>
                </a:solidFill>
                <a:effectLst/>
                <a:latin typeface="Times New Roman" panose="02020603050405020304" pitchFamily="18" charset="0"/>
                <a:cs typeface="Times New Roman" panose="02020603050405020304" pitchFamily="18" charset="0"/>
              </a:rPr>
              <a:t>Axy</a:t>
            </a:r>
            <a:r>
              <a:rPr lang="en-US" b="0" i="0" dirty="0">
                <a:solidFill>
                  <a:srgbClr val="373D3F"/>
                </a:solidFill>
                <a:effectLst/>
                <a:latin typeface="Times New Roman" panose="02020603050405020304" pitchFamily="18" charset="0"/>
                <a:cs typeface="Times New Roman" panose="02020603050405020304" pitchFamily="18" charset="0"/>
              </a:rPr>
              <a:t> or SML </a:t>
            </a:r>
            <a:r>
              <a:rPr lang="en-US" b="0" i="0" dirty="0" err="1">
                <a:solidFill>
                  <a:srgbClr val="373D3F"/>
                </a:solidFill>
                <a:effectLst/>
                <a:latin typeface="Times New Roman" panose="02020603050405020304" pitchFamily="18" charset="0"/>
                <a:cs typeface="Times New Roman" panose="02020603050405020304" pitchFamily="18" charset="0"/>
              </a:rPr>
              <a:t>AWx</a:t>
            </a:r>
            <a:r>
              <a:rPr lang="en-US" b="0" i="0" dirty="0">
                <a:solidFill>
                  <a:srgbClr val="373D3F"/>
                </a:solidFill>
                <a:effectLst/>
                <a:latin typeface="Times New Roman" panose="02020603050405020304" pitchFamily="18" charset="0"/>
                <a:cs typeface="Times New Roman" panose="02020603050405020304" pitchFamily="18" charset="0"/>
              </a:rPr>
              <a:t>) overflows 32-bits.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9184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90B316-75D3-4F45-1D45-EDED2EA69703}"/>
              </a:ext>
            </a:extLst>
          </p:cNvPr>
          <p:cNvSpPr>
            <a:spLocks noGrp="1"/>
          </p:cNvSpPr>
          <p:nvPr>
            <p:ph idx="1"/>
          </p:nvPr>
        </p:nvSpPr>
        <p:spPr>
          <a:xfrm>
            <a:off x="0" y="0"/>
            <a:ext cx="12192000" cy="6858000"/>
          </a:xfrm>
        </p:spPr>
        <p:txBody>
          <a:bodyPr>
            <a:normAutofit fontScale="92500" lnSpcReduction="10000"/>
          </a:bodyPr>
          <a:lstStyle/>
          <a:p>
            <a:pPr algn="just">
              <a:lnSpc>
                <a:spcPct val="150000"/>
              </a:lnSpc>
            </a:pPr>
            <a:r>
              <a:rPr lang="en-US" b="0" i="0" dirty="0">
                <a:solidFill>
                  <a:srgbClr val="373D3F"/>
                </a:solidFill>
                <a:effectLst/>
                <a:latin typeface="Times New Roman" panose="02020603050405020304" pitchFamily="18" charset="0"/>
                <a:cs typeface="Times New Roman" panose="02020603050405020304" pitchFamily="18" charset="0"/>
              </a:rPr>
              <a:t>Bits that are reserved for future use should not be modified by current software. </a:t>
            </a:r>
          </a:p>
          <a:p>
            <a:pPr algn="just">
              <a:lnSpc>
                <a:spcPct val="150000"/>
              </a:lnSpc>
            </a:pPr>
            <a:r>
              <a:rPr lang="en-US" b="0" i="0" dirty="0">
                <a:solidFill>
                  <a:srgbClr val="373D3F"/>
                </a:solidFill>
                <a:effectLst/>
                <a:latin typeface="Times New Roman" panose="02020603050405020304" pitchFamily="18" charset="0"/>
                <a:cs typeface="Times New Roman" panose="02020603050405020304" pitchFamily="18" charset="0"/>
              </a:rPr>
              <a:t>Typically, a read-modify-write strategy should be used to update the value of a status register to ensure future compatibility.</a:t>
            </a:r>
          </a:p>
          <a:p>
            <a:pPr algn="just">
              <a:lnSpc>
                <a:spcPct val="150000"/>
              </a:lnSpc>
            </a:pPr>
            <a:r>
              <a:rPr lang="en-US" b="0" i="0" dirty="0">
                <a:solidFill>
                  <a:srgbClr val="373D3F"/>
                </a:solidFill>
                <a:effectLst/>
                <a:latin typeface="Times New Roman" panose="02020603050405020304" pitchFamily="18" charset="0"/>
                <a:cs typeface="Times New Roman" panose="02020603050405020304" pitchFamily="18" charset="0"/>
              </a:rPr>
              <a:t> Note that the T/J bits in the CPSR should never be changed directly by writing to the PSR. </a:t>
            </a:r>
          </a:p>
          <a:p>
            <a:pPr algn="just">
              <a:lnSpc>
                <a:spcPct val="150000"/>
              </a:lnSpc>
            </a:pPr>
            <a:r>
              <a:rPr lang="en-US" b="0" i="0" dirty="0">
                <a:solidFill>
                  <a:srgbClr val="373D3F"/>
                </a:solidFill>
                <a:effectLst/>
                <a:latin typeface="Times New Roman" panose="02020603050405020304" pitchFamily="18" charset="0"/>
                <a:cs typeface="Times New Roman" panose="02020603050405020304" pitchFamily="18" charset="0"/>
              </a:rPr>
              <a:t>This is used by Branch exchange or branch link exchange (BX/BLX) instruction to change the state.</a:t>
            </a:r>
          </a:p>
          <a:p>
            <a:pPr algn="just">
              <a:lnSpc>
                <a:spcPct val="150000"/>
              </a:lnSpc>
            </a:pPr>
            <a:r>
              <a:rPr lang="en-US" b="0" i="0" dirty="0">
                <a:solidFill>
                  <a:srgbClr val="373D3F"/>
                </a:solidFill>
                <a:effectLst/>
                <a:latin typeface="Times New Roman" panose="02020603050405020304" pitchFamily="18" charset="0"/>
                <a:cs typeface="Times New Roman" panose="02020603050405020304" pitchFamily="18" charset="0"/>
              </a:rPr>
              <a:t>The processor is in ARM </a:t>
            </a:r>
            <a:r>
              <a:rPr lang="en-US" b="0" i="0" dirty="0" err="1">
                <a:solidFill>
                  <a:srgbClr val="373D3F"/>
                </a:solidFill>
                <a:effectLst/>
                <a:latin typeface="Times New Roman" panose="02020603050405020304" pitchFamily="18" charset="0"/>
                <a:cs typeface="Times New Roman" panose="02020603050405020304" pitchFamily="18" charset="0"/>
              </a:rPr>
              <a:t>stateon</a:t>
            </a:r>
            <a:r>
              <a:rPr lang="en-US" b="0" i="0" dirty="0">
                <a:solidFill>
                  <a:srgbClr val="373D3F"/>
                </a:solidFill>
                <a:effectLst/>
                <a:latin typeface="Times New Roman" panose="02020603050405020304" pitchFamily="18" charset="0"/>
                <a:cs typeface="Times New Roman" panose="02020603050405020304" pitchFamily="18" charset="0"/>
              </a:rPr>
              <a:t> reset, following an interrupt, or during exception execution. </a:t>
            </a:r>
          </a:p>
          <a:p>
            <a:pPr algn="just">
              <a:lnSpc>
                <a:spcPct val="150000"/>
              </a:lnSpc>
            </a:pPr>
            <a:r>
              <a:rPr lang="en-US" b="0" i="0" dirty="0">
                <a:solidFill>
                  <a:srgbClr val="373D3F"/>
                </a:solidFill>
                <a:effectLst/>
                <a:latin typeface="Times New Roman" panose="02020603050405020304" pitchFamily="18" charset="0"/>
                <a:cs typeface="Times New Roman" panose="02020603050405020304" pitchFamily="18" charset="0"/>
              </a:rPr>
              <a:t>The mode of the processor can be changed by using data transfer instruction and writing into the specific mode bit.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8741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F08D2-9C22-F930-A727-EF34724A6FB2}"/>
              </a:ext>
            </a:extLst>
          </p:cNvPr>
          <p:cNvSpPr>
            <a:spLocks noGrp="1"/>
          </p:cNvSpPr>
          <p:nvPr>
            <p:ph type="title"/>
          </p:nvPr>
        </p:nvSpPr>
        <p:spPr/>
        <p:txBody>
          <a:bodyPr/>
          <a:lstStyle/>
          <a:p>
            <a:r>
              <a:rPr lang="en-US" dirty="0"/>
              <a:t>ARM Instruction Set</a:t>
            </a:r>
            <a:endParaRPr lang="en-IN" dirty="0"/>
          </a:p>
        </p:txBody>
      </p:sp>
      <p:pic>
        <p:nvPicPr>
          <p:cNvPr id="5" name="Content Placeholder 4">
            <a:extLst>
              <a:ext uri="{FF2B5EF4-FFF2-40B4-BE49-F238E27FC236}">
                <a16:creationId xmlns:a16="http://schemas.microsoft.com/office/drawing/2014/main" id="{41B5C67F-2CB2-95BC-DEAB-DF95D2F10F17}"/>
              </a:ext>
            </a:extLst>
          </p:cNvPr>
          <p:cNvPicPr>
            <a:picLocks noGrp="1" noChangeAspect="1"/>
          </p:cNvPicPr>
          <p:nvPr>
            <p:ph idx="1"/>
          </p:nvPr>
        </p:nvPicPr>
        <p:blipFill>
          <a:blip r:embed="rId2"/>
          <a:stretch>
            <a:fillRect/>
          </a:stretch>
        </p:blipFill>
        <p:spPr>
          <a:xfrm>
            <a:off x="1749972" y="1219629"/>
            <a:ext cx="8464453" cy="5417654"/>
          </a:xfrm>
        </p:spPr>
      </p:pic>
      <p:pic>
        <p:nvPicPr>
          <p:cNvPr id="7" name="Picture 6">
            <a:extLst>
              <a:ext uri="{FF2B5EF4-FFF2-40B4-BE49-F238E27FC236}">
                <a16:creationId xmlns:a16="http://schemas.microsoft.com/office/drawing/2014/main" id="{76DB63A5-EDD4-F711-9C67-79D1F056A6D4}"/>
              </a:ext>
            </a:extLst>
          </p:cNvPr>
          <p:cNvPicPr>
            <a:picLocks noChangeAspect="1"/>
          </p:cNvPicPr>
          <p:nvPr/>
        </p:nvPicPr>
        <p:blipFill>
          <a:blip r:embed="rId3"/>
          <a:stretch>
            <a:fillRect/>
          </a:stretch>
        </p:blipFill>
        <p:spPr>
          <a:xfrm>
            <a:off x="5331864" y="5019675"/>
            <a:ext cx="6257925" cy="1838325"/>
          </a:xfrm>
          <a:prstGeom prst="rect">
            <a:avLst/>
          </a:prstGeom>
        </p:spPr>
      </p:pic>
    </p:spTree>
    <p:extLst>
      <p:ext uri="{BB962C8B-B14F-4D97-AF65-F5344CB8AC3E}">
        <p14:creationId xmlns:p14="http://schemas.microsoft.com/office/powerpoint/2010/main" val="18074483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A060-12BD-B9C5-1C26-9C7E571B22F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D3D4B95-741E-E0BC-3EA7-D9F2F37579B7}"/>
              </a:ext>
            </a:extLst>
          </p:cNvPr>
          <p:cNvPicPr>
            <a:picLocks noGrp="1" noChangeAspect="1"/>
          </p:cNvPicPr>
          <p:nvPr>
            <p:ph idx="1"/>
          </p:nvPr>
        </p:nvPicPr>
        <p:blipFill>
          <a:blip r:embed="rId2"/>
          <a:stretch>
            <a:fillRect/>
          </a:stretch>
        </p:blipFill>
        <p:spPr>
          <a:xfrm>
            <a:off x="576999" y="1434662"/>
            <a:ext cx="9954367" cy="4629316"/>
          </a:xfrm>
        </p:spPr>
      </p:pic>
    </p:spTree>
    <p:extLst>
      <p:ext uri="{BB962C8B-B14F-4D97-AF65-F5344CB8AC3E}">
        <p14:creationId xmlns:p14="http://schemas.microsoft.com/office/powerpoint/2010/main" val="19775009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C42E2-3D00-02B6-67BE-34B997762FF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54A24A8-25C2-11BA-DECB-EA2D115A14CC}"/>
              </a:ext>
            </a:extLst>
          </p:cNvPr>
          <p:cNvPicPr>
            <a:picLocks noGrp="1" noChangeAspect="1"/>
          </p:cNvPicPr>
          <p:nvPr>
            <p:ph idx="1"/>
          </p:nvPr>
        </p:nvPicPr>
        <p:blipFill>
          <a:blip r:embed="rId2"/>
          <a:stretch>
            <a:fillRect/>
          </a:stretch>
        </p:blipFill>
        <p:spPr>
          <a:xfrm>
            <a:off x="359089" y="365124"/>
            <a:ext cx="9541656" cy="6047693"/>
          </a:xfrm>
        </p:spPr>
      </p:pic>
    </p:spTree>
    <p:extLst>
      <p:ext uri="{BB962C8B-B14F-4D97-AF65-F5344CB8AC3E}">
        <p14:creationId xmlns:p14="http://schemas.microsoft.com/office/powerpoint/2010/main" val="15086186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8736-EF7C-9429-E43F-337FB875D000}"/>
              </a:ext>
            </a:extLst>
          </p:cNvPr>
          <p:cNvSpPr>
            <a:spLocks noGrp="1"/>
          </p:cNvSpPr>
          <p:nvPr>
            <p:ph type="title"/>
          </p:nvPr>
        </p:nvSpPr>
        <p:spPr/>
        <p:txBody>
          <a:bodyPr/>
          <a:lstStyle/>
          <a:p>
            <a:r>
              <a:rPr lang="en-US" dirty="0"/>
              <a:t>ARM Datatypes</a:t>
            </a:r>
            <a:endParaRPr lang="en-IN" dirty="0"/>
          </a:p>
        </p:txBody>
      </p:sp>
      <p:pic>
        <p:nvPicPr>
          <p:cNvPr id="5" name="Content Placeholder 4">
            <a:extLst>
              <a:ext uri="{FF2B5EF4-FFF2-40B4-BE49-F238E27FC236}">
                <a16:creationId xmlns:a16="http://schemas.microsoft.com/office/drawing/2014/main" id="{4FF97035-E43C-AC4A-71E2-FA7AADA3FB9B}"/>
              </a:ext>
            </a:extLst>
          </p:cNvPr>
          <p:cNvPicPr>
            <a:picLocks noGrp="1" noChangeAspect="1"/>
          </p:cNvPicPr>
          <p:nvPr>
            <p:ph idx="1"/>
          </p:nvPr>
        </p:nvPicPr>
        <p:blipFill>
          <a:blip r:embed="rId3"/>
          <a:stretch>
            <a:fillRect/>
          </a:stretch>
        </p:blipFill>
        <p:spPr>
          <a:xfrm>
            <a:off x="1225775" y="2727435"/>
            <a:ext cx="10186438" cy="2664372"/>
          </a:xfrm>
        </p:spPr>
      </p:pic>
    </p:spTree>
    <p:extLst>
      <p:ext uri="{BB962C8B-B14F-4D97-AF65-F5344CB8AC3E}">
        <p14:creationId xmlns:p14="http://schemas.microsoft.com/office/powerpoint/2010/main" val="35308985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7A08B-AF84-6C2D-3D9E-A0DC8E69CD84}"/>
              </a:ext>
            </a:extLst>
          </p:cNvPr>
          <p:cNvSpPr>
            <a:spLocks noGrp="1"/>
          </p:cNvSpPr>
          <p:nvPr>
            <p:ph type="title"/>
          </p:nvPr>
        </p:nvSpPr>
        <p:spPr/>
        <p:txBody>
          <a:bodyPr/>
          <a:lstStyle/>
          <a:p>
            <a:r>
              <a:rPr lang="en-IN" b="1" i="0" dirty="0">
                <a:solidFill>
                  <a:srgbClr val="373D3F"/>
                </a:solidFill>
                <a:effectLst/>
                <a:latin typeface="Lora" pitchFamily="2" charset="0"/>
              </a:rPr>
              <a:t>Arithmetic Instructions</a:t>
            </a:r>
            <a:endParaRPr lang="en-IN" dirty="0"/>
          </a:p>
        </p:txBody>
      </p:sp>
      <p:pic>
        <p:nvPicPr>
          <p:cNvPr id="5" name="Content Placeholder 4">
            <a:extLst>
              <a:ext uri="{FF2B5EF4-FFF2-40B4-BE49-F238E27FC236}">
                <a16:creationId xmlns:a16="http://schemas.microsoft.com/office/drawing/2014/main" id="{533AC630-7439-D914-2F31-5FBFFC08CD25}"/>
              </a:ext>
            </a:extLst>
          </p:cNvPr>
          <p:cNvPicPr>
            <a:picLocks noGrp="1" noChangeAspect="1"/>
          </p:cNvPicPr>
          <p:nvPr>
            <p:ph idx="1"/>
          </p:nvPr>
        </p:nvPicPr>
        <p:blipFill>
          <a:blip r:embed="rId3"/>
          <a:stretch>
            <a:fillRect/>
          </a:stretch>
        </p:blipFill>
        <p:spPr>
          <a:xfrm>
            <a:off x="978374" y="2222938"/>
            <a:ext cx="9981153" cy="3468413"/>
          </a:xfrm>
        </p:spPr>
      </p:pic>
    </p:spTree>
    <p:extLst>
      <p:ext uri="{BB962C8B-B14F-4D97-AF65-F5344CB8AC3E}">
        <p14:creationId xmlns:p14="http://schemas.microsoft.com/office/powerpoint/2010/main" val="42022786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69DE0-6850-BF18-D211-103188A840B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D6FE872-6FCE-557D-1641-C980E3E010F6}"/>
              </a:ext>
            </a:extLst>
          </p:cNvPr>
          <p:cNvPicPr>
            <a:picLocks noGrp="1" noChangeAspect="1"/>
          </p:cNvPicPr>
          <p:nvPr>
            <p:ph idx="1"/>
          </p:nvPr>
        </p:nvPicPr>
        <p:blipFill>
          <a:blip r:embed="rId3"/>
          <a:stretch>
            <a:fillRect/>
          </a:stretch>
        </p:blipFill>
        <p:spPr>
          <a:xfrm>
            <a:off x="838200" y="1186191"/>
            <a:ext cx="10591755" cy="3734593"/>
          </a:xfrm>
        </p:spPr>
      </p:pic>
    </p:spTree>
    <p:extLst>
      <p:ext uri="{BB962C8B-B14F-4D97-AF65-F5344CB8AC3E}">
        <p14:creationId xmlns:p14="http://schemas.microsoft.com/office/powerpoint/2010/main" val="8615482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42BBA-DCE3-A00F-FD1E-DB7575415AA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58F4881-9901-9863-6E76-719A15EF15CC}"/>
              </a:ext>
            </a:extLst>
          </p:cNvPr>
          <p:cNvPicPr>
            <a:picLocks noGrp="1" noChangeAspect="1"/>
          </p:cNvPicPr>
          <p:nvPr>
            <p:ph idx="1"/>
          </p:nvPr>
        </p:nvPicPr>
        <p:blipFill>
          <a:blip r:embed="rId2"/>
          <a:stretch>
            <a:fillRect/>
          </a:stretch>
        </p:blipFill>
        <p:spPr>
          <a:xfrm>
            <a:off x="1655379" y="1900539"/>
            <a:ext cx="9585435" cy="4534648"/>
          </a:xfrm>
        </p:spPr>
      </p:pic>
    </p:spTree>
    <p:extLst>
      <p:ext uri="{BB962C8B-B14F-4D97-AF65-F5344CB8AC3E}">
        <p14:creationId xmlns:p14="http://schemas.microsoft.com/office/powerpoint/2010/main" val="9499054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96C43-2754-7414-193D-794B826D4EB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19FF53-7F89-202A-DF2E-841621E8E091}"/>
              </a:ext>
            </a:extLst>
          </p:cNvPr>
          <p:cNvPicPr>
            <a:picLocks noGrp="1" noChangeAspect="1"/>
          </p:cNvPicPr>
          <p:nvPr>
            <p:ph idx="1"/>
          </p:nvPr>
        </p:nvPicPr>
        <p:blipFill>
          <a:blip r:embed="rId2"/>
          <a:stretch>
            <a:fillRect/>
          </a:stretch>
        </p:blipFill>
        <p:spPr>
          <a:xfrm>
            <a:off x="838439" y="1387365"/>
            <a:ext cx="10370843" cy="5156125"/>
          </a:xfrm>
        </p:spPr>
      </p:pic>
    </p:spTree>
    <p:extLst>
      <p:ext uri="{BB962C8B-B14F-4D97-AF65-F5344CB8AC3E}">
        <p14:creationId xmlns:p14="http://schemas.microsoft.com/office/powerpoint/2010/main" val="214232881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8835-4A2C-2C96-6406-35AB831C5B2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7F3A827-2813-C980-36B4-EB5B4EDCE60E}"/>
              </a:ext>
            </a:extLst>
          </p:cNvPr>
          <p:cNvPicPr>
            <a:picLocks noGrp="1" noChangeAspect="1"/>
          </p:cNvPicPr>
          <p:nvPr>
            <p:ph idx="1"/>
          </p:nvPr>
        </p:nvPicPr>
        <p:blipFill>
          <a:blip r:embed="rId2"/>
          <a:stretch>
            <a:fillRect/>
          </a:stretch>
        </p:blipFill>
        <p:spPr>
          <a:xfrm>
            <a:off x="273880" y="1690687"/>
            <a:ext cx="11298009" cy="4483805"/>
          </a:xfrm>
        </p:spPr>
      </p:pic>
    </p:spTree>
    <p:extLst>
      <p:ext uri="{BB962C8B-B14F-4D97-AF65-F5344CB8AC3E}">
        <p14:creationId xmlns:p14="http://schemas.microsoft.com/office/powerpoint/2010/main" val="18725801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6BE0-A2AF-4826-A20F-AA7E21D7B121}"/>
              </a:ext>
            </a:extLst>
          </p:cNvPr>
          <p:cNvSpPr>
            <a:spLocks noGrp="1"/>
          </p:cNvSpPr>
          <p:nvPr>
            <p:ph type="title"/>
          </p:nvPr>
        </p:nvSpPr>
        <p:spPr/>
        <p:txBody>
          <a:bodyPr/>
          <a:lstStyle/>
          <a:p>
            <a:r>
              <a:rPr lang="en-US" dirty="0"/>
              <a:t>Logical instructions</a:t>
            </a:r>
            <a:br>
              <a:rPr lang="en-US" dirty="0"/>
            </a:br>
            <a:r>
              <a:rPr lang="en-US"/>
              <a:t>MVN –Bitwise NOT (MVN R1,R2)</a:t>
            </a:r>
            <a:endParaRPr lang="en-IN" dirty="0"/>
          </a:p>
        </p:txBody>
      </p:sp>
      <p:pic>
        <p:nvPicPr>
          <p:cNvPr id="5" name="Content Placeholder 4">
            <a:extLst>
              <a:ext uri="{FF2B5EF4-FFF2-40B4-BE49-F238E27FC236}">
                <a16:creationId xmlns:a16="http://schemas.microsoft.com/office/drawing/2014/main" id="{E179F81C-C09A-F33C-18AD-5D67347E4567}"/>
              </a:ext>
            </a:extLst>
          </p:cNvPr>
          <p:cNvPicPr>
            <a:picLocks noGrp="1" noChangeAspect="1"/>
          </p:cNvPicPr>
          <p:nvPr>
            <p:ph idx="1"/>
          </p:nvPr>
        </p:nvPicPr>
        <p:blipFill>
          <a:blip r:embed="rId2"/>
          <a:stretch>
            <a:fillRect/>
          </a:stretch>
        </p:blipFill>
        <p:spPr>
          <a:xfrm>
            <a:off x="1621869" y="2672556"/>
            <a:ext cx="6860143" cy="3820319"/>
          </a:xfrm>
        </p:spPr>
      </p:pic>
    </p:spTree>
    <p:extLst>
      <p:ext uri="{BB962C8B-B14F-4D97-AF65-F5344CB8AC3E}">
        <p14:creationId xmlns:p14="http://schemas.microsoft.com/office/powerpoint/2010/main" val="1193358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857E4-AB58-8F0D-D9F5-48B1F4ED87E0}"/>
              </a:ext>
            </a:extLst>
          </p:cNvPr>
          <p:cNvSpPr>
            <a:spLocks noGrp="1"/>
          </p:cNvSpPr>
          <p:nvPr>
            <p:ph type="title"/>
          </p:nvPr>
        </p:nvSpPr>
        <p:spPr/>
        <p:txBody>
          <a:bodyPr/>
          <a:lstStyle/>
          <a:p>
            <a:r>
              <a:rPr lang="en-US" dirty="0"/>
              <a:t>Register Move instruction</a:t>
            </a:r>
            <a:endParaRPr lang="en-IN" dirty="0"/>
          </a:p>
        </p:txBody>
      </p:sp>
      <p:pic>
        <p:nvPicPr>
          <p:cNvPr id="5" name="Content Placeholder 4">
            <a:extLst>
              <a:ext uri="{FF2B5EF4-FFF2-40B4-BE49-F238E27FC236}">
                <a16:creationId xmlns:a16="http://schemas.microsoft.com/office/drawing/2014/main" id="{7629CECE-3BC5-EE12-DF09-10C3A589F61E}"/>
              </a:ext>
            </a:extLst>
          </p:cNvPr>
          <p:cNvPicPr>
            <a:picLocks noGrp="1" noChangeAspect="1"/>
          </p:cNvPicPr>
          <p:nvPr>
            <p:ph idx="1"/>
          </p:nvPr>
        </p:nvPicPr>
        <p:blipFill>
          <a:blip r:embed="rId2"/>
          <a:stretch>
            <a:fillRect/>
          </a:stretch>
        </p:blipFill>
        <p:spPr>
          <a:xfrm>
            <a:off x="2081048" y="1559280"/>
            <a:ext cx="7583214" cy="5127016"/>
          </a:xfrm>
        </p:spPr>
      </p:pic>
    </p:spTree>
    <p:extLst>
      <p:ext uri="{BB962C8B-B14F-4D97-AF65-F5344CB8AC3E}">
        <p14:creationId xmlns:p14="http://schemas.microsoft.com/office/powerpoint/2010/main" val="41367346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AD90B-691F-F281-6CFF-5548B458A76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3618592-5F53-4A6A-DBE0-CCE26A1EEEAE}"/>
              </a:ext>
            </a:extLst>
          </p:cNvPr>
          <p:cNvPicPr>
            <a:picLocks noGrp="1" noChangeAspect="1"/>
          </p:cNvPicPr>
          <p:nvPr>
            <p:ph idx="1"/>
          </p:nvPr>
        </p:nvPicPr>
        <p:blipFill>
          <a:blip r:embed="rId3"/>
          <a:stretch>
            <a:fillRect/>
          </a:stretch>
        </p:blipFill>
        <p:spPr>
          <a:xfrm>
            <a:off x="683282" y="614856"/>
            <a:ext cx="10075041" cy="5064973"/>
          </a:xfrm>
        </p:spPr>
      </p:pic>
    </p:spTree>
    <p:extLst>
      <p:ext uri="{BB962C8B-B14F-4D97-AF65-F5344CB8AC3E}">
        <p14:creationId xmlns:p14="http://schemas.microsoft.com/office/powerpoint/2010/main" val="2279120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9DF48-EFB6-AA07-110F-4FBC60102E4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C80A121-8813-E73D-DFAF-5B44B4F3188F}"/>
              </a:ext>
            </a:extLst>
          </p:cNvPr>
          <p:cNvPicPr>
            <a:picLocks noGrp="1" noChangeAspect="1"/>
          </p:cNvPicPr>
          <p:nvPr>
            <p:ph idx="1"/>
          </p:nvPr>
        </p:nvPicPr>
        <p:blipFill>
          <a:blip r:embed="rId2"/>
          <a:stretch>
            <a:fillRect/>
          </a:stretch>
        </p:blipFill>
        <p:spPr>
          <a:xfrm>
            <a:off x="516077" y="851337"/>
            <a:ext cx="10515599" cy="5936225"/>
          </a:xfrm>
        </p:spPr>
      </p:pic>
    </p:spTree>
    <p:extLst>
      <p:ext uri="{BB962C8B-B14F-4D97-AF65-F5344CB8AC3E}">
        <p14:creationId xmlns:p14="http://schemas.microsoft.com/office/powerpoint/2010/main" val="29257270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5779-4C68-B419-073D-6B0147E167B3}"/>
              </a:ext>
            </a:extLst>
          </p:cNvPr>
          <p:cNvSpPr>
            <a:spLocks noGrp="1"/>
          </p:cNvSpPr>
          <p:nvPr>
            <p:ph type="title"/>
          </p:nvPr>
        </p:nvSpPr>
        <p:spPr/>
        <p:txBody>
          <a:bodyPr/>
          <a:lstStyle/>
          <a:p>
            <a:r>
              <a:rPr lang="en-US" dirty="0"/>
              <a:t>Compare instructions</a:t>
            </a:r>
            <a:endParaRPr lang="en-IN" dirty="0"/>
          </a:p>
        </p:txBody>
      </p:sp>
      <p:pic>
        <p:nvPicPr>
          <p:cNvPr id="5" name="Content Placeholder 4">
            <a:extLst>
              <a:ext uri="{FF2B5EF4-FFF2-40B4-BE49-F238E27FC236}">
                <a16:creationId xmlns:a16="http://schemas.microsoft.com/office/drawing/2014/main" id="{325D568D-4F5A-9EBD-A7F2-ED02EE1988CF}"/>
              </a:ext>
            </a:extLst>
          </p:cNvPr>
          <p:cNvPicPr>
            <a:picLocks noGrp="1" noChangeAspect="1"/>
          </p:cNvPicPr>
          <p:nvPr>
            <p:ph idx="1"/>
          </p:nvPr>
        </p:nvPicPr>
        <p:blipFill>
          <a:blip r:embed="rId2"/>
          <a:stretch>
            <a:fillRect/>
          </a:stretch>
        </p:blipFill>
        <p:spPr>
          <a:xfrm>
            <a:off x="1834766" y="3005930"/>
            <a:ext cx="7309234" cy="3169357"/>
          </a:xfrm>
        </p:spPr>
      </p:pic>
    </p:spTree>
    <p:extLst>
      <p:ext uri="{BB962C8B-B14F-4D97-AF65-F5344CB8AC3E}">
        <p14:creationId xmlns:p14="http://schemas.microsoft.com/office/powerpoint/2010/main" val="22264604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27D02-391C-61FA-24DD-820DAFCAD893}"/>
              </a:ext>
            </a:extLst>
          </p:cNvPr>
          <p:cNvSpPr>
            <a:spLocks noGrp="1"/>
          </p:cNvSpPr>
          <p:nvPr>
            <p:ph type="title"/>
          </p:nvPr>
        </p:nvSpPr>
        <p:spPr/>
        <p:txBody>
          <a:bodyPr/>
          <a:lstStyle/>
          <a:p>
            <a:r>
              <a:rPr lang="en-IN" b="1" i="0" dirty="0">
                <a:solidFill>
                  <a:srgbClr val="373D3F"/>
                </a:solidFill>
                <a:effectLst/>
                <a:latin typeface="Lora" pitchFamily="2" charset="0"/>
              </a:rPr>
              <a:t>Immediate operands</a:t>
            </a:r>
            <a:endParaRPr lang="en-IN" dirty="0"/>
          </a:p>
        </p:txBody>
      </p:sp>
      <p:pic>
        <p:nvPicPr>
          <p:cNvPr id="5" name="Content Placeholder 4">
            <a:extLst>
              <a:ext uri="{FF2B5EF4-FFF2-40B4-BE49-F238E27FC236}">
                <a16:creationId xmlns:a16="http://schemas.microsoft.com/office/drawing/2014/main" id="{8CCE4153-3B0A-DECD-D26D-25054D1684D8}"/>
              </a:ext>
            </a:extLst>
          </p:cNvPr>
          <p:cNvPicPr>
            <a:picLocks noGrp="1" noChangeAspect="1"/>
          </p:cNvPicPr>
          <p:nvPr>
            <p:ph idx="1"/>
          </p:nvPr>
        </p:nvPicPr>
        <p:blipFill>
          <a:blip r:embed="rId2"/>
          <a:stretch>
            <a:fillRect/>
          </a:stretch>
        </p:blipFill>
        <p:spPr>
          <a:xfrm>
            <a:off x="190220" y="1686747"/>
            <a:ext cx="11163580" cy="2577306"/>
          </a:xfrm>
        </p:spPr>
      </p:pic>
      <p:pic>
        <p:nvPicPr>
          <p:cNvPr id="7" name="Picture 6">
            <a:extLst>
              <a:ext uri="{FF2B5EF4-FFF2-40B4-BE49-F238E27FC236}">
                <a16:creationId xmlns:a16="http://schemas.microsoft.com/office/drawing/2014/main" id="{C98347EB-A143-A32F-0666-C3448A5F8E33}"/>
              </a:ext>
            </a:extLst>
          </p:cNvPr>
          <p:cNvPicPr>
            <a:picLocks noChangeAspect="1"/>
          </p:cNvPicPr>
          <p:nvPr/>
        </p:nvPicPr>
        <p:blipFill>
          <a:blip r:embed="rId3"/>
          <a:stretch>
            <a:fillRect/>
          </a:stretch>
        </p:blipFill>
        <p:spPr>
          <a:xfrm>
            <a:off x="3556108" y="4142553"/>
            <a:ext cx="6811581" cy="2350322"/>
          </a:xfrm>
          <a:prstGeom prst="rect">
            <a:avLst/>
          </a:prstGeom>
        </p:spPr>
      </p:pic>
    </p:spTree>
    <p:extLst>
      <p:ext uri="{BB962C8B-B14F-4D97-AF65-F5344CB8AC3E}">
        <p14:creationId xmlns:p14="http://schemas.microsoft.com/office/powerpoint/2010/main" val="397691820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AC333-0675-948F-496E-F35C590E043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D1816D4-C0EE-72ED-1A2A-85841E724FD1}"/>
              </a:ext>
            </a:extLst>
          </p:cNvPr>
          <p:cNvPicPr>
            <a:picLocks noGrp="1" noChangeAspect="1"/>
          </p:cNvPicPr>
          <p:nvPr>
            <p:ph idx="1"/>
          </p:nvPr>
        </p:nvPicPr>
        <p:blipFill>
          <a:blip r:embed="rId2"/>
          <a:stretch>
            <a:fillRect/>
          </a:stretch>
        </p:blipFill>
        <p:spPr>
          <a:xfrm>
            <a:off x="258282" y="630620"/>
            <a:ext cx="10273084" cy="5931633"/>
          </a:xfrm>
        </p:spPr>
      </p:pic>
    </p:spTree>
    <p:extLst>
      <p:ext uri="{BB962C8B-B14F-4D97-AF65-F5344CB8AC3E}">
        <p14:creationId xmlns:p14="http://schemas.microsoft.com/office/powerpoint/2010/main" val="32194357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606BF-A4FF-B4D3-1526-C462BDC3080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184B8A3-2E29-8CCE-A05C-108268F24E35}"/>
              </a:ext>
            </a:extLst>
          </p:cNvPr>
          <p:cNvPicPr>
            <a:picLocks noGrp="1" noChangeAspect="1"/>
          </p:cNvPicPr>
          <p:nvPr>
            <p:ph idx="1"/>
          </p:nvPr>
        </p:nvPicPr>
        <p:blipFill>
          <a:blip r:embed="rId2"/>
          <a:stretch>
            <a:fillRect/>
          </a:stretch>
        </p:blipFill>
        <p:spPr>
          <a:xfrm>
            <a:off x="1040524" y="1480717"/>
            <a:ext cx="9884979" cy="4928488"/>
          </a:xfrm>
        </p:spPr>
      </p:pic>
    </p:spTree>
    <p:extLst>
      <p:ext uri="{BB962C8B-B14F-4D97-AF65-F5344CB8AC3E}">
        <p14:creationId xmlns:p14="http://schemas.microsoft.com/office/powerpoint/2010/main" val="8477219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A2F8C-52C3-DED2-8D3C-FB1A6520680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15D618F-BF87-ED1C-0D3E-49B455FF5EFE}"/>
              </a:ext>
            </a:extLst>
          </p:cNvPr>
          <p:cNvPicPr>
            <a:picLocks noGrp="1" noChangeAspect="1"/>
          </p:cNvPicPr>
          <p:nvPr>
            <p:ph idx="1"/>
          </p:nvPr>
        </p:nvPicPr>
        <p:blipFill>
          <a:blip r:embed="rId2"/>
          <a:stretch>
            <a:fillRect/>
          </a:stretch>
        </p:blipFill>
        <p:spPr>
          <a:xfrm>
            <a:off x="567559" y="427058"/>
            <a:ext cx="9270123" cy="5993299"/>
          </a:xfrm>
        </p:spPr>
      </p:pic>
    </p:spTree>
    <p:extLst>
      <p:ext uri="{BB962C8B-B14F-4D97-AF65-F5344CB8AC3E}">
        <p14:creationId xmlns:p14="http://schemas.microsoft.com/office/powerpoint/2010/main" val="35314366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64F58-6959-876A-A32D-E3069B111F2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B08DC2E-632A-850D-0FC3-3FD6DC4F85E5}"/>
              </a:ext>
            </a:extLst>
          </p:cNvPr>
          <p:cNvPicPr>
            <a:picLocks noGrp="1" noChangeAspect="1"/>
          </p:cNvPicPr>
          <p:nvPr>
            <p:ph idx="1"/>
          </p:nvPr>
        </p:nvPicPr>
        <p:blipFill>
          <a:blip r:embed="rId2"/>
          <a:stretch>
            <a:fillRect/>
          </a:stretch>
        </p:blipFill>
        <p:spPr>
          <a:xfrm>
            <a:off x="883891" y="851338"/>
            <a:ext cx="9474054" cy="5725677"/>
          </a:xfrm>
        </p:spPr>
      </p:pic>
    </p:spTree>
    <p:extLst>
      <p:ext uri="{BB962C8B-B14F-4D97-AF65-F5344CB8AC3E}">
        <p14:creationId xmlns:p14="http://schemas.microsoft.com/office/powerpoint/2010/main" val="17708233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485E-34F0-A2A7-39BE-D2E94676C79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A90B856-5812-3AD1-E067-D55838B29155}"/>
              </a:ext>
            </a:extLst>
          </p:cNvPr>
          <p:cNvPicPr>
            <a:picLocks noGrp="1" noChangeAspect="1"/>
          </p:cNvPicPr>
          <p:nvPr>
            <p:ph idx="1"/>
          </p:nvPr>
        </p:nvPicPr>
        <p:blipFill>
          <a:blip r:embed="rId2"/>
          <a:stretch>
            <a:fillRect/>
          </a:stretch>
        </p:blipFill>
        <p:spPr>
          <a:xfrm>
            <a:off x="942783" y="851338"/>
            <a:ext cx="9809300" cy="5996034"/>
          </a:xfrm>
        </p:spPr>
      </p:pic>
    </p:spTree>
    <p:extLst>
      <p:ext uri="{BB962C8B-B14F-4D97-AF65-F5344CB8AC3E}">
        <p14:creationId xmlns:p14="http://schemas.microsoft.com/office/powerpoint/2010/main" val="39166291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B292-5FA4-371D-9218-C7C0D88C6F7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47635AD-D9F3-376B-CA8D-AAB49B79AE79}"/>
              </a:ext>
            </a:extLst>
          </p:cNvPr>
          <p:cNvPicPr>
            <a:picLocks noGrp="1" noChangeAspect="1"/>
          </p:cNvPicPr>
          <p:nvPr>
            <p:ph idx="1"/>
          </p:nvPr>
        </p:nvPicPr>
        <p:blipFill>
          <a:blip r:embed="rId2"/>
          <a:stretch>
            <a:fillRect/>
          </a:stretch>
        </p:blipFill>
        <p:spPr>
          <a:xfrm>
            <a:off x="770748" y="945930"/>
            <a:ext cx="9918273" cy="5690609"/>
          </a:xfrm>
        </p:spPr>
      </p:pic>
    </p:spTree>
    <p:extLst>
      <p:ext uri="{BB962C8B-B14F-4D97-AF65-F5344CB8AC3E}">
        <p14:creationId xmlns:p14="http://schemas.microsoft.com/office/powerpoint/2010/main" val="8859300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AC351-2191-3C3A-7D4A-290FB8484B6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A500B04-2D23-1253-2D14-14AD0E92596B}"/>
              </a:ext>
            </a:extLst>
          </p:cNvPr>
          <p:cNvPicPr>
            <a:picLocks noGrp="1" noChangeAspect="1"/>
          </p:cNvPicPr>
          <p:nvPr>
            <p:ph idx="1"/>
          </p:nvPr>
        </p:nvPicPr>
        <p:blipFill>
          <a:blip r:embed="rId2"/>
          <a:stretch>
            <a:fillRect/>
          </a:stretch>
        </p:blipFill>
        <p:spPr>
          <a:xfrm>
            <a:off x="268014" y="316403"/>
            <a:ext cx="10184524" cy="6439422"/>
          </a:xfrm>
        </p:spPr>
      </p:pic>
    </p:spTree>
    <p:extLst>
      <p:ext uri="{BB962C8B-B14F-4D97-AF65-F5344CB8AC3E}">
        <p14:creationId xmlns:p14="http://schemas.microsoft.com/office/powerpoint/2010/main" val="16252861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A73E5-6E77-C058-F752-F9DB384FCDC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D93392A-CD60-8AE6-B194-5EFA8D7E9230}"/>
              </a:ext>
            </a:extLst>
          </p:cNvPr>
          <p:cNvPicPr>
            <a:picLocks noGrp="1" noChangeAspect="1"/>
          </p:cNvPicPr>
          <p:nvPr>
            <p:ph idx="1"/>
          </p:nvPr>
        </p:nvPicPr>
        <p:blipFill>
          <a:blip r:embed="rId2"/>
          <a:stretch>
            <a:fillRect/>
          </a:stretch>
        </p:blipFill>
        <p:spPr>
          <a:xfrm>
            <a:off x="513484" y="520262"/>
            <a:ext cx="9071628" cy="5656701"/>
          </a:xfrm>
        </p:spPr>
      </p:pic>
    </p:spTree>
    <p:extLst>
      <p:ext uri="{BB962C8B-B14F-4D97-AF65-F5344CB8AC3E}">
        <p14:creationId xmlns:p14="http://schemas.microsoft.com/office/powerpoint/2010/main" val="9824868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1A847-196A-0942-6DD1-16F4A835FDE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D3B6782-E9C3-9EB4-4E51-D28FDCDFBCDB}"/>
              </a:ext>
            </a:extLst>
          </p:cNvPr>
          <p:cNvPicPr>
            <a:picLocks noGrp="1" noChangeAspect="1"/>
          </p:cNvPicPr>
          <p:nvPr>
            <p:ph idx="1"/>
          </p:nvPr>
        </p:nvPicPr>
        <p:blipFill>
          <a:blip r:embed="rId2"/>
          <a:stretch>
            <a:fillRect/>
          </a:stretch>
        </p:blipFill>
        <p:spPr>
          <a:xfrm>
            <a:off x="1413261" y="1056290"/>
            <a:ext cx="8142187" cy="5120673"/>
          </a:xfrm>
        </p:spPr>
      </p:pic>
    </p:spTree>
    <p:extLst>
      <p:ext uri="{BB962C8B-B14F-4D97-AF65-F5344CB8AC3E}">
        <p14:creationId xmlns:p14="http://schemas.microsoft.com/office/powerpoint/2010/main" val="12035102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29AB-5179-A8C9-FBD9-3FC74F746BB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509FE16-8EC0-A8CD-8BD3-333A997338D0}"/>
              </a:ext>
            </a:extLst>
          </p:cNvPr>
          <p:cNvPicPr>
            <a:picLocks noGrp="1" noChangeAspect="1"/>
          </p:cNvPicPr>
          <p:nvPr>
            <p:ph idx="1"/>
          </p:nvPr>
        </p:nvPicPr>
        <p:blipFill>
          <a:blip r:embed="rId2"/>
          <a:stretch>
            <a:fillRect/>
          </a:stretch>
        </p:blipFill>
        <p:spPr>
          <a:xfrm>
            <a:off x="573018" y="583324"/>
            <a:ext cx="9038572" cy="5593639"/>
          </a:xfrm>
        </p:spPr>
      </p:pic>
    </p:spTree>
    <p:extLst>
      <p:ext uri="{BB962C8B-B14F-4D97-AF65-F5344CB8AC3E}">
        <p14:creationId xmlns:p14="http://schemas.microsoft.com/office/powerpoint/2010/main" val="358138194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0037-7007-8792-2C26-28BFDB71F839}"/>
              </a:ext>
            </a:extLst>
          </p:cNvPr>
          <p:cNvSpPr>
            <a:spLocks noGrp="1"/>
          </p:cNvSpPr>
          <p:nvPr>
            <p:ph type="title"/>
          </p:nvPr>
        </p:nvSpPr>
        <p:spPr/>
        <p:txBody>
          <a:bodyPr/>
          <a:lstStyle/>
          <a:p>
            <a:r>
              <a:rPr lang="en-US" dirty="0"/>
              <a:t>Multiply instructions</a:t>
            </a:r>
            <a:endParaRPr lang="en-IN" dirty="0"/>
          </a:p>
        </p:txBody>
      </p:sp>
      <p:pic>
        <p:nvPicPr>
          <p:cNvPr id="5" name="Content Placeholder 4">
            <a:extLst>
              <a:ext uri="{FF2B5EF4-FFF2-40B4-BE49-F238E27FC236}">
                <a16:creationId xmlns:a16="http://schemas.microsoft.com/office/drawing/2014/main" id="{128ECDC9-3063-4A64-3D69-371288D7CC81}"/>
              </a:ext>
            </a:extLst>
          </p:cNvPr>
          <p:cNvPicPr>
            <a:picLocks noGrp="1" noChangeAspect="1"/>
          </p:cNvPicPr>
          <p:nvPr>
            <p:ph idx="1"/>
          </p:nvPr>
        </p:nvPicPr>
        <p:blipFill>
          <a:blip r:embed="rId2"/>
          <a:stretch>
            <a:fillRect/>
          </a:stretch>
        </p:blipFill>
        <p:spPr>
          <a:xfrm>
            <a:off x="1292772" y="1841048"/>
            <a:ext cx="10343168" cy="4651827"/>
          </a:xfrm>
        </p:spPr>
      </p:pic>
    </p:spTree>
    <p:extLst>
      <p:ext uri="{BB962C8B-B14F-4D97-AF65-F5344CB8AC3E}">
        <p14:creationId xmlns:p14="http://schemas.microsoft.com/office/powerpoint/2010/main" val="24577607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FFC3A-11C9-21BD-DC05-00135896BE3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9C0A151-1AC5-12B3-8D2A-7609D04E9D2A}"/>
              </a:ext>
            </a:extLst>
          </p:cNvPr>
          <p:cNvPicPr>
            <a:picLocks noGrp="1" noChangeAspect="1"/>
          </p:cNvPicPr>
          <p:nvPr>
            <p:ph idx="1"/>
          </p:nvPr>
        </p:nvPicPr>
        <p:blipFill>
          <a:blip r:embed="rId2"/>
          <a:stretch>
            <a:fillRect/>
          </a:stretch>
        </p:blipFill>
        <p:spPr>
          <a:xfrm>
            <a:off x="492841" y="914400"/>
            <a:ext cx="10054289" cy="5539111"/>
          </a:xfrm>
        </p:spPr>
      </p:pic>
    </p:spTree>
    <p:extLst>
      <p:ext uri="{BB962C8B-B14F-4D97-AF65-F5344CB8AC3E}">
        <p14:creationId xmlns:p14="http://schemas.microsoft.com/office/powerpoint/2010/main" val="70442018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E7035-5118-F531-40BB-BFE370EC561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C63353F-7701-1383-F841-E8B306276D7E}"/>
              </a:ext>
            </a:extLst>
          </p:cNvPr>
          <p:cNvPicPr>
            <a:picLocks noGrp="1" noChangeAspect="1"/>
          </p:cNvPicPr>
          <p:nvPr>
            <p:ph idx="1"/>
          </p:nvPr>
        </p:nvPicPr>
        <p:blipFill>
          <a:blip r:embed="rId2"/>
          <a:stretch>
            <a:fillRect/>
          </a:stretch>
        </p:blipFill>
        <p:spPr>
          <a:xfrm>
            <a:off x="1655379" y="168571"/>
            <a:ext cx="7930055" cy="6844472"/>
          </a:xfrm>
        </p:spPr>
      </p:pic>
    </p:spTree>
    <p:extLst>
      <p:ext uri="{BB962C8B-B14F-4D97-AF65-F5344CB8AC3E}">
        <p14:creationId xmlns:p14="http://schemas.microsoft.com/office/powerpoint/2010/main" val="186443748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45A8-7202-82F4-74E3-629EBE38C7B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603744A-AAA8-3045-CADA-D14970053AD4}"/>
              </a:ext>
            </a:extLst>
          </p:cNvPr>
          <p:cNvPicPr>
            <a:picLocks noGrp="1" noChangeAspect="1"/>
          </p:cNvPicPr>
          <p:nvPr>
            <p:ph idx="1"/>
          </p:nvPr>
        </p:nvPicPr>
        <p:blipFill>
          <a:blip r:embed="rId2"/>
          <a:stretch>
            <a:fillRect/>
          </a:stretch>
        </p:blipFill>
        <p:spPr>
          <a:xfrm>
            <a:off x="838200" y="401614"/>
            <a:ext cx="9015248" cy="6172165"/>
          </a:xfrm>
        </p:spPr>
      </p:pic>
    </p:spTree>
    <p:extLst>
      <p:ext uri="{BB962C8B-B14F-4D97-AF65-F5344CB8AC3E}">
        <p14:creationId xmlns:p14="http://schemas.microsoft.com/office/powerpoint/2010/main" val="166008101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C01A-27EB-A24B-9A03-94F4B6DEC95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8D586E1-93F0-35ED-BCA0-FD2D3EDCE6AA}"/>
              </a:ext>
            </a:extLst>
          </p:cNvPr>
          <p:cNvPicPr>
            <a:picLocks noGrp="1" noChangeAspect="1"/>
          </p:cNvPicPr>
          <p:nvPr>
            <p:ph idx="1"/>
          </p:nvPr>
        </p:nvPicPr>
        <p:blipFill>
          <a:blip r:embed="rId2"/>
          <a:stretch>
            <a:fillRect/>
          </a:stretch>
        </p:blipFill>
        <p:spPr>
          <a:xfrm>
            <a:off x="591442" y="157655"/>
            <a:ext cx="10278554" cy="5378313"/>
          </a:xfrm>
        </p:spPr>
      </p:pic>
    </p:spTree>
    <p:extLst>
      <p:ext uri="{BB962C8B-B14F-4D97-AF65-F5344CB8AC3E}">
        <p14:creationId xmlns:p14="http://schemas.microsoft.com/office/powerpoint/2010/main" val="995243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68F20-96E1-6513-0AB0-00F2EDCA1A3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E7E7055-C44F-95B4-3F5F-4DA39CC0B7EB}"/>
              </a:ext>
            </a:extLst>
          </p:cNvPr>
          <p:cNvPicPr>
            <a:picLocks noGrp="1" noChangeAspect="1"/>
          </p:cNvPicPr>
          <p:nvPr>
            <p:ph idx="1"/>
          </p:nvPr>
        </p:nvPicPr>
        <p:blipFill>
          <a:blip r:embed="rId2"/>
          <a:stretch>
            <a:fillRect/>
          </a:stretch>
        </p:blipFill>
        <p:spPr>
          <a:xfrm>
            <a:off x="238037" y="1907627"/>
            <a:ext cx="11380650" cy="4067503"/>
          </a:xfrm>
        </p:spPr>
      </p:pic>
    </p:spTree>
    <p:extLst>
      <p:ext uri="{BB962C8B-B14F-4D97-AF65-F5344CB8AC3E}">
        <p14:creationId xmlns:p14="http://schemas.microsoft.com/office/powerpoint/2010/main" val="28883601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ABBC-CCB5-BD2D-DA73-F8066875409D}"/>
              </a:ext>
            </a:extLst>
          </p:cNvPr>
          <p:cNvSpPr>
            <a:spLocks noGrp="1"/>
          </p:cNvSpPr>
          <p:nvPr>
            <p:ph type="title"/>
          </p:nvPr>
        </p:nvSpPr>
        <p:spPr/>
        <p:txBody>
          <a:bodyPr/>
          <a:lstStyle/>
          <a:p>
            <a:r>
              <a:rPr lang="en-US" b="1" i="0" dirty="0">
                <a:solidFill>
                  <a:srgbClr val="373D3F"/>
                </a:solidFill>
                <a:effectLst/>
                <a:latin typeface="Lora" pitchFamily="2" charset="0"/>
              </a:rPr>
              <a:t>Barrel Shifter</a:t>
            </a:r>
            <a:br>
              <a:rPr lang="en-US" b="0" i="0" dirty="0">
                <a:solidFill>
                  <a:srgbClr val="373D3F"/>
                </a:solidFill>
                <a:effectLst/>
                <a:latin typeface="Lora" pitchFamily="2" charset="0"/>
              </a:rPr>
            </a:br>
            <a:endParaRPr lang="en-IN" dirty="0"/>
          </a:p>
        </p:txBody>
      </p:sp>
      <p:sp>
        <p:nvSpPr>
          <p:cNvPr id="3" name="Content Placeholder 2">
            <a:extLst>
              <a:ext uri="{FF2B5EF4-FFF2-40B4-BE49-F238E27FC236}">
                <a16:creationId xmlns:a16="http://schemas.microsoft.com/office/drawing/2014/main" id="{9410643A-FD57-482E-E70C-CCADD5EB67AE}"/>
              </a:ext>
            </a:extLst>
          </p:cNvPr>
          <p:cNvSpPr>
            <a:spLocks noGrp="1"/>
          </p:cNvSpPr>
          <p:nvPr>
            <p:ph idx="1"/>
          </p:nvPr>
        </p:nvSpPr>
        <p:spPr/>
        <p:txBody>
          <a:bodyPr>
            <a:normAutofit fontScale="92500"/>
          </a:bodyPr>
          <a:lstStyle/>
          <a:p>
            <a:pPr marL="0" indent="0" algn="l">
              <a:buNone/>
            </a:pPr>
            <a:endParaRPr lang="en-US" b="0" i="0" dirty="0">
              <a:solidFill>
                <a:srgbClr val="373D3F"/>
              </a:solidFill>
              <a:effectLst/>
              <a:latin typeface="Lora" pitchFamily="2" charset="0"/>
            </a:endParaRPr>
          </a:p>
          <a:p>
            <a:pPr algn="just"/>
            <a:r>
              <a:rPr lang="en-US" b="0" i="0" dirty="0">
                <a:solidFill>
                  <a:srgbClr val="373D3F"/>
                </a:solidFill>
                <a:effectLst/>
                <a:latin typeface="Lora" pitchFamily="2" charset="0"/>
              </a:rPr>
              <a:t>The second operand is the one that passes through the barrel shifter. Figure  shows the connection of barrel shifter and ALU in ARM processor. </a:t>
            </a:r>
          </a:p>
          <a:p>
            <a:pPr algn="just"/>
            <a:r>
              <a:rPr lang="en-US" b="0" i="0" dirty="0">
                <a:solidFill>
                  <a:srgbClr val="373D3F"/>
                </a:solidFill>
                <a:effectLst/>
                <a:latin typeface="Lora" pitchFamily="2" charset="0"/>
              </a:rPr>
              <a:t>The barrel shifter has the ability to shift 32bits right or le ft by specific number of positions. Register uses the shift operation optionally. </a:t>
            </a:r>
          </a:p>
          <a:p>
            <a:pPr algn="just"/>
            <a:r>
              <a:rPr lang="en-US" b="0" i="0" dirty="0">
                <a:solidFill>
                  <a:srgbClr val="373D3F"/>
                </a:solidFill>
                <a:effectLst/>
                <a:latin typeface="Lora" pitchFamily="2" charset="0"/>
              </a:rPr>
              <a:t>The Shift value can </a:t>
            </a:r>
            <a:r>
              <a:rPr lang="en-US" b="0" i="0">
                <a:solidFill>
                  <a:srgbClr val="373D3F"/>
                </a:solidFill>
                <a:effectLst/>
                <a:latin typeface="Lora" pitchFamily="2" charset="0"/>
              </a:rPr>
              <a:t>be either5-bit </a:t>
            </a:r>
            <a:r>
              <a:rPr lang="en-US" b="0" i="0" dirty="0">
                <a:solidFill>
                  <a:srgbClr val="373D3F"/>
                </a:solidFill>
                <a:effectLst/>
                <a:latin typeface="Lora" pitchFamily="2" charset="0"/>
              </a:rPr>
              <a:t>unsigned integer or specified in bottom byte of another register. </a:t>
            </a:r>
          </a:p>
          <a:p>
            <a:pPr algn="just"/>
            <a:r>
              <a:rPr lang="en-US" b="0" i="0" dirty="0">
                <a:solidFill>
                  <a:srgbClr val="373D3F"/>
                </a:solidFill>
                <a:effectLst/>
                <a:latin typeface="Lora" pitchFamily="2" charset="0"/>
              </a:rPr>
              <a:t>The shift operation is also used for multiplication by constant. </a:t>
            </a:r>
          </a:p>
        </p:txBody>
      </p:sp>
    </p:spTree>
    <p:extLst>
      <p:ext uri="{BB962C8B-B14F-4D97-AF65-F5344CB8AC3E}">
        <p14:creationId xmlns:p14="http://schemas.microsoft.com/office/powerpoint/2010/main" val="12930840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5B94-D9BC-7652-0822-65EB132AF4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CC7905-9803-92C1-8EFB-D89703FBE44D}"/>
              </a:ext>
            </a:extLst>
          </p:cNvPr>
          <p:cNvSpPr>
            <a:spLocks noGrp="1"/>
          </p:cNvSpPr>
          <p:nvPr>
            <p:ph idx="1"/>
          </p:nvPr>
        </p:nvSpPr>
        <p:spPr/>
        <p:txBody>
          <a:bodyPr/>
          <a:lstStyle/>
          <a:p>
            <a:pPr algn="just"/>
            <a:r>
              <a:rPr lang="en-US" b="0" i="0" dirty="0">
                <a:solidFill>
                  <a:srgbClr val="373D3F"/>
                </a:solidFill>
                <a:effectLst/>
                <a:latin typeface="Lora" pitchFamily="2" charset="0"/>
              </a:rPr>
              <a:t>We had earlier discussed about immediate value, where the 8-bit number, with a range of 0 – 255 is rotated right through even number of positions. </a:t>
            </a:r>
          </a:p>
          <a:p>
            <a:pPr algn="just"/>
            <a:r>
              <a:rPr lang="en-US" b="0" i="0" dirty="0">
                <a:solidFill>
                  <a:srgbClr val="373D3F"/>
                </a:solidFill>
                <a:effectLst/>
                <a:latin typeface="Lora" pitchFamily="2" charset="0"/>
              </a:rPr>
              <a:t>This preprocessing allows increased range of 32-bit constants that can be loaded directly into registers. Thus barrel shifter brings in a unique and powerful feature for ARM processor.</a:t>
            </a:r>
          </a:p>
          <a:p>
            <a:br>
              <a:rPr lang="en-US" b="0" i="0" dirty="0">
                <a:solidFill>
                  <a:srgbClr val="373D3F"/>
                </a:solidFill>
                <a:effectLst/>
                <a:latin typeface="Lora" pitchFamily="2" charset="0"/>
              </a:rPr>
            </a:br>
            <a:endParaRPr lang="en-IN" dirty="0"/>
          </a:p>
          <a:p>
            <a:endParaRPr lang="en-IN" dirty="0"/>
          </a:p>
        </p:txBody>
      </p:sp>
      <p:pic>
        <p:nvPicPr>
          <p:cNvPr id="5" name="Picture 4">
            <a:extLst>
              <a:ext uri="{FF2B5EF4-FFF2-40B4-BE49-F238E27FC236}">
                <a16:creationId xmlns:a16="http://schemas.microsoft.com/office/drawing/2014/main" id="{80B7B5A3-7E45-ED42-7D8A-F0519C932D2E}"/>
              </a:ext>
            </a:extLst>
          </p:cNvPr>
          <p:cNvPicPr>
            <a:picLocks noChangeAspect="1"/>
          </p:cNvPicPr>
          <p:nvPr/>
        </p:nvPicPr>
        <p:blipFill>
          <a:blip r:embed="rId2"/>
          <a:stretch>
            <a:fillRect/>
          </a:stretch>
        </p:blipFill>
        <p:spPr>
          <a:xfrm>
            <a:off x="5587562" y="4274026"/>
            <a:ext cx="3761390" cy="2628151"/>
          </a:xfrm>
          <a:prstGeom prst="rect">
            <a:avLst/>
          </a:prstGeom>
        </p:spPr>
      </p:pic>
    </p:spTree>
    <p:extLst>
      <p:ext uri="{BB962C8B-B14F-4D97-AF65-F5344CB8AC3E}">
        <p14:creationId xmlns:p14="http://schemas.microsoft.com/office/powerpoint/2010/main" val="33217571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6F7C-5DB2-2099-8D1D-9AF4071F9B9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1F7C7EB-2947-1A05-5411-D7FC5E730697}"/>
              </a:ext>
            </a:extLst>
          </p:cNvPr>
          <p:cNvPicPr>
            <a:picLocks noGrp="1" noChangeAspect="1"/>
          </p:cNvPicPr>
          <p:nvPr>
            <p:ph idx="1"/>
          </p:nvPr>
        </p:nvPicPr>
        <p:blipFill>
          <a:blip r:embed="rId2"/>
          <a:stretch>
            <a:fillRect/>
          </a:stretch>
        </p:blipFill>
        <p:spPr>
          <a:xfrm>
            <a:off x="1182415" y="990148"/>
            <a:ext cx="9506606" cy="5825843"/>
          </a:xfrm>
        </p:spPr>
      </p:pic>
    </p:spTree>
    <p:extLst>
      <p:ext uri="{BB962C8B-B14F-4D97-AF65-F5344CB8AC3E}">
        <p14:creationId xmlns:p14="http://schemas.microsoft.com/office/powerpoint/2010/main" val="365187116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075CE-F882-173F-97B7-F9DE7292771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A6A07E8-BD68-9DBE-DEA6-766AEC433E5B}"/>
              </a:ext>
            </a:extLst>
          </p:cNvPr>
          <p:cNvPicPr>
            <a:picLocks noGrp="1" noChangeAspect="1"/>
          </p:cNvPicPr>
          <p:nvPr>
            <p:ph idx="1"/>
          </p:nvPr>
        </p:nvPicPr>
        <p:blipFill>
          <a:blip r:embed="rId2"/>
          <a:stretch>
            <a:fillRect/>
          </a:stretch>
        </p:blipFill>
        <p:spPr>
          <a:xfrm>
            <a:off x="702469" y="365125"/>
            <a:ext cx="8620702" cy="5811838"/>
          </a:xfrm>
        </p:spPr>
      </p:pic>
    </p:spTree>
    <p:extLst>
      <p:ext uri="{BB962C8B-B14F-4D97-AF65-F5344CB8AC3E}">
        <p14:creationId xmlns:p14="http://schemas.microsoft.com/office/powerpoint/2010/main" val="353223364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AD966-833D-92BD-B116-219AD91C27B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3862B66-04CD-4A76-F346-B26FF0053F2D}"/>
              </a:ext>
            </a:extLst>
          </p:cNvPr>
          <p:cNvPicPr>
            <a:picLocks noGrp="1" noChangeAspect="1"/>
          </p:cNvPicPr>
          <p:nvPr>
            <p:ph idx="1"/>
          </p:nvPr>
        </p:nvPicPr>
        <p:blipFill>
          <a:blip r:embed="rId2"/>
          <a:stretch>
            <a:fillRect/>
          </a:stretch>
        </p:blipFill>
        <p:spPr>
          <a:xfrm>
            <a:off x="495162" y="0"/>
            <a:ext cx="10613141" cy="7217487"/>
          </a:xfrm>
        </p:spPr>
      </p:pic>
    </p:spTree>
    <p:extLst>
      <p:ext uri="{BB962C8B-B14F-4D97-AF65-F5344CB8AC3E}">
        <p14:creationId xmlns:p14="http://schemas.microsoft.com/office/powerpoint/2010/main" val="371343729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34D5A-989F-FA69-1D4E-C9D271CC83D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635F1E8-E46F-321F-3F7C-41691CB37B87}"/>
              </a:ext>
            </a:extLst>
          </p:cNvPr>
          <p:cNvPicPr>
            <a:picLocks noGrp="1" noChangeAspect="1"/>
          </p:cNvPicPr>
          <p:nvPr>
            <p:ph idx="1"/>
          </p:nvPr>
        </p:nvPicPr>
        <p:blipFill>
          <a:blip r:embed="rId2"/>
          <a:stretch>
            <a:fillRect/>
          </a:stretch>
        </p:blipFill>
        <p:spPr>
          <a:xfrm>
            <a:off x="977462" y="508010"/>
            <a:ext cx="9238593" cy="6305127"/>
          </a:xfrm>
        </p:spPr>
      </p:pic>
    </p:spTree>
    <p:extLst>
      <p:ext uri="{BB962C8B-B14F-4D97-AF65-F5344CB8AC3E}">
        <p14:creationId xmlns:p14="http://schemas.microsoft.com/office/powerpoint/2010/main" val="349226542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D65D-604D-3205-544D-31730CEF396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09DF979-95F6-2F3B-5E48-C5DECFFE728B}"/>
              </a:ext>
            </a:extLst>
          </p:cNvPr>
          <p:cNvPicPr>
            <a:picLocks noGrp="1" noChangeAspect="1"/>
          </p:cNvPicPr>
          <p:nvPr>
            <p:ph idx="1"/>
          </p:nvPr>
        </p:nvPicPr>
        <p:blipFill>
          <a:blip r:embed="rId2"/>
          <a:stretch>
            <a:fillRect/>
          </a:stretch>
        </p:blipFill>
        <p:spPr>
          <a:xfrm>
            <a:off x="724635" y="551792"/>
            <a:ext cx="9302234" cy="5973913"/>
          </a:xfrm>
        </p:spPr>
      </p:pic>
    </p:spTree>
    <p:extLst>
      <p:ext uri="{BB962C8B-B14F-4D97-AF65-F5344CB8AC3E}">
        <p14:creationId xmlns:p14="http://schemas.microsoft.com/office/powerpoint/2010/main" val="399293851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F6A-BA32-2104-CA35-49063935BAE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79E9568-AF83-BB31-63BD-C870DAD9DA27}"/>
              </a:ext>
            </a:extLst>
          </p:cNvPr>
          <p:cNvPicPr>
            <a:picLocks noGrp="1" noChangeAspect="1"/>
          </p:cNvPicPr>
          <p:nvPr>
            <p:ph idx="1"/>
          </p:nvPr>
        </p:nvPicPr>
        <p:blipFill>
          <a:blip r:embed="rId2"/>
          <a:stretch>
            <a:fillRect/>
          </a:stretch>
        </p:blipFill>
        <p:spPr>
          <a:xfrm>
            <a:off x="726970" y="365125"/>
            <a:ext cx="8581541" cy="5811838"/>
          </a:xfrm>
        </p:spPr>
      </p:pic>
    </p:spTree>
    <p:extLst>
      <p:ext uri="{BB962C8B-B14F-4D97-AF65-F5344CB8AC3E}">
        <p14:creationId xmlns:p14="http://schemas.microsoft.com/office/powerpoint/2010/main" val="235185641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0005-770E-15B0-CC6F-FB222C652F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61D49F-D224-797A-7EA7-78B768C616B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FC0C869-9265-A713-309F-4E3B44C9E990}"/>
              </a:ext>
            </a:extLst>
          </p:cNvPr>
          <p:cNvPicPr>
            <a:picLocks noChangeAspect="1"/>
          </p:cNvPicPr>
          <p:nvPr/>
        </p:nvPicPr>
        <p:blipFill>
          <a:blip r:embed="rId2"/>
          <a:stretch>
            <a:fillRect/>
          </a:stretch>
        </p:blipFill>
        <p:spPr>
          <a:xfrm>
            <a:off x="1403131" y="365125"/>
            <a:ext cx="8302679" cy="5935532"/>
          </a:xfrm>
          <a:prstGeom prst="rect">
            <a:avLst/>
          </a:prstGeom>
        </p:spPr>
      </p:pic>
    </p:spTree>
    <p:extLst>
      <p:ext uri="{BB962C8B-B14F-4D97-AF65-F5344CB8AC3E}">
        <p14:creationId xmlns:p14="http://schemas.microsoft.com/office/powerpoint/2010/main" val="395571144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71D23-3C57-A073-52B0-B7640E78517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85D20BA-E636-B168-7853-ABA97BFA7AE6}"/>
              </a:ext>
            </a:extLst>
          </p:cNvPr>
          <p:cNvPicPr>
            <a:picLocks noGrp="1" noChangeAspect="1"/>
          </p:cNvPicPr>
          <p:nvPr>
            <p:ph idx="1"/>
          </p:nvPr>
        </p:nvPicPr>
        <p:blipFill>
          <a:blip r:embed="rId2"/>
          <a:stretch>
            <a:fillRect/>
          </a:stretch>
        </p:blipFill>
        <p:spPr>
          <a:xfrm>
            <a:off x="267717" y="365125"/>
            <a:ext cx="9772618" cy="5784056"/>
          </a:xfrm>
        </p:spPr>
      </p:pic>
    </p:spTree>
    <p:extLst>
      <p:ext uri="{BB962C8B-B14F-4D97-AF65-F5344CB8AC3E}">
        <p14:creationId xmlns:p14="http://schemas.microsoft.com/office/powerpoint/2010/main" val="426752826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3CB2D-BBA2-FF2F-0C36-9105FD65CBD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5A116F1-C8F4-9BD3-1082-489AC5A781DE}"/>
              </a:ext>
            </a:extLst>
          </p:cNvPr>
          <p:cNvPicPr>
            <a:picLocks noGrp="1" noChangeAspect="1"/>
          </p:cNvPicPr>
          <p:nvPr>
            <p:ph idx="1"/>
          </p:nvPr>
        </p:nvPicPr>
        <p:blipFill>
          <a:blip r:embed="rId2"/>
          <a:stretch>
            <a:fillRect/>
          </a:stretch>
        </p:blipFill>
        <p:spPr>
          <a:xfrm>
            <a:off x="1012935" y="740979"/>
            <a:ext cx="8475089" cy="5435984"/>
          </a:xfrm>
        </p:spPr>
      </p:pic>
    </p:spTree>
    <p:extLst>
      <p:ext uri="{BB962C8B-B14F-4D97-AF65-F5344CB8AC3E}">
        <p14:creationId xmlns:p14="http://schemas.microsoft.com/office/powerpoint/2010/main" val="277943365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0C7A1-DD47-D045-DADC-BB5518D280A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0C825CC-4926-7A1A-C3F7-CCC3FDF4C3D3}"/>
              </a:ext>
            </a:extLst>
          </p:cNvPr>
          <p:cNvPicPr>
            <a:picLocks noGrp="1" noChangeAspect="1"/>
          </p:cNvPicPr>
          <p:nvPr>
            <p:ph idx="1"/>
          </p:nvPr>
        </p:nvPicPr>
        <p:blipFill>
          <a:blip r:embed="rId2"/>
          <a:stretch>
            <a:fillRect/>
          </a:stretch>
        </p:blipFill>
        <p:spPr>
          <a:xfrm>
            <a:off x="643923" y="835572"/>
            <a:ext cx="9698255" cy="5631245"/>
          </a:xfrm>
        </p:spPr>
      </p:pic>
    </p:spTree>
    <p:extLst>
      <p:ext uri="{BB962C8B-B14F-4D97-AF65-F5344CB8AC3E}">
        <p14:creationId xmlns:p14="http://schemas.microsoft.com/office/powerpoint/2010/main" val="10968030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BC6AE-8035-B921-5FD4-391C57752F8A}"/>
              </a:ext>
            </a:extLst>
          </p:cNvPr>
          <p:cNvSpPr>
            <a:spLocks noGrp="1"/>
          </p:cNvSpPr>
          <p:nvPr>
            <p:ph type="title"/>
          </p:nvPr>
        </p:nvSpPr>
        <p:spPr/>
        <p:txBody>
          <a:bodyPr/>
          <a:lstStyle/>
          <a:p>
            <a:r>
              <a:rPr lang="en-IN" b="1" i="0" dirty="0">
                <a:solidFill>
                  <a:srgbClr val="FF0000"/>
                </a:solidFill>
                <a:effectLst/>
                <a:latin typeface="-apple-system"/>
              </a:rPr>
              <a:t>Addressing Modes in ARM</a:t>
            </a:r>
            <a:br>
              <a:rPr lang="en-IN" b="1"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id="{2BB9296A-A4CA-D83F-2B83-09D85CF6A4B6}"/>
              </a:ext>
            </a:extLst>
          </p:cNvPr>
          <p:cNvSpPr>
            <a:spLocks noGrp="1"/>
          </p:cNvSpPr>
          <p:nvPr>
            <p:ph idx="1"/>
          </p:nvPr>
        </p:nvSpPr>
        <p:spPr/>
        <p:txBody>
          <a:bodyPr/>
          <a:lstStyle/>
          <a:p>
            <a:r>
              <a:rPr lang="en-US" b="0" i="0" dirty="0">
                <a:solidFill>
                  <a:srgbClr val="000000"/>
                </a:solidFill>
                <a:effectLst/>
                <a:latin typeface="-apple-system"/>
              </a:rPr>
              <a:t>The phrase addressing modes in ARM relates to the manner an instruction operand is expressed. </a:t>
            </a:r>
          </a:p>
          <a:p>
            <a:r>
              <a:rPr lang="en-US" b="0" i="0" dirty="0">
                <a:solidFill>
                  <a:srgbClr val="000000"/>
                </a:solidFill>
                <a:effectLst/>
                <a:latin typeface="-apple-system"/>
              </a:rPr>
              <a:t>Before the operand is actually performed, the addressing mode provides a rule for interpreting or altering the address field of the instruction. </a:t>
            </a:r>
            <a:endParaRPr lang="en-IN" dirty="0"/>
          </a:p>
        </p:txBody>
      </p:sp>
      <p:pic>
        <p:nvPicPr>
          <p:cNvPr id="5" name="Picture 4">
            <a:extLst>
              <a:ext uri="{FF2B5EF4-FFF2-40B4-BE49-F238E27FC236}">
                <a16:creationId xmlns:a16="http://schemas.microsoft.com/office/drawing/2014/main" id="{A0369AA8-0992-7A35-C8E3-2D14D393B066}"/>
              </a:ext>
            </a:extLst>
          </p:cNvPr>
          <p:cNvPicPr>
            <a:picLocks noChangeAspect="1"/>
          </p:cNvPicPr>
          <p:nvPr/>
        </p:nvPicPr>
        <p:blipFill>
          <a:blip r:embed="rId2"/>
          <a:stretch>
            <a:fillRect/>
          </a:stretch>
        </p:blipFill>
        <p:spPr>
          <a:xfrm>
            <a:off x="3077396" y="3871913"/>
            <a:ext cx="8155307" cy="2620962"/>
          </a:xfrm>
          <a:prstGeom prst="rect">
            <a:avLst/>
          </a:prstGeom>
        </p:spPr>
      </p:pic>
    </p:spTree>
    <p:extLst>
      <p:ext uri="{BB962C8B-B14F-4D97-AF65-F5344CB8AC3E}">
        <p14:creationId xmlns:p14="http://schemas.microsoft.com/office/powerpoint/2010/main" val="58964517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1276E-07FB-57D7-08FB-D9ACFB90D76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BB30EDD-1BD8-19DE-6FB7-E44A41C3EA11}"/>
              </a:ext>
            </a:extLst>
          </p:cNvPr>
          <p:cNvPicPr>
            <a:picLocks noGrp="1" noChangeAspect="1"/>
          </p:cNvPicPr>
          <p:nvPr>
            <p:ph idx="1"/>
          </p:nvPr>
        </p:nvPicPr>
        <p:blipFill>
          <a:blip r:embed="rId2"/>
          <a:stretch>
            <a:fillRect/>
          </a:stretch>
        </p:blipFill>
        <p:spPr>
          <a:xfrm>
            <a:off x="358158" y="1027905"/>
            <a:ext cx="11638011" cy="4490025"/>
          </a:xfrm>
        </p:spPr>
      </p:pic>
    </p:spTree>
    <p:extLst>
      <p:ext uri="{BB962C8B-B14F-4D97-AF65-F5344CB8AC3E}">
        <p14:creationId xmlns:p14="http://schemas.microsoft.com/office/powerpoint/2010/main" val="157363701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95DA8-38EA-38D6-2281-630CA495E56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5B22A14-4EA1-826F-6CED-9487DD2BECB7}"/>
              </a:ext>
            </a:extLst>
          </p:cNvPr>
          <p:cNvPicPr>
            <a:picLocks noGrp="1" noChangeAspect="1"/>
          </p:cNvPicPr>
          <p:nvPr>
            <p:ph idx="1"/>
          </p:nvPr>
        </p:nvPicPr>
        <p:blipFill>
          <a:blip r:embed="rId2"/>
          <a:stretch>
            <a:fillRect/>
          </a:stretch>
        </p:blipFill>
        <p:spPr>
          <a:xfrm>
            <a:off x="0" y="112877"/>
            <a:ext cx="11353800" cy="6709064"/>
          </a:xfrm>
        </p:spPr>
      </p:pic>
    </p:spTree>
    <p:extLst>
      <p:ext uri="{BB962C8B-B14F-4D97-AF65-F5344CB8AC3E}">
        <p14:creationId xmlns:p14="http://schemas.microsoft.com/office/powerpoint/2010/main" val="194148991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0273-531E-9770-8BC5-05CD4682300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2D9E268-DA5B-1750-75FD-8D540832FDAE}"/>
              </a:ext>
            </a:extLst>
          </p:cNvPr>
          <p:cNvPicPr>
            <a:picLocks noGrp="1" noChangeAspect="1"/>
          </p:cNvPicPr>
          <p:nvPr>
            <p:ph idx="1"/>
          </p:nvPr>
        </p:nvPicPr>
        <p:blipFill>
          <a:blip r:embed="rId2"/>
          <a:stretch>
            <a:fillRect/>
          </a:stretch>
        </p:blipFill>
        <p:spPr>
          <a:xfrm>
            <a:off x="658927" y="992366"/>
            <a:ext cx="11135630" cy="3989537"/>
          </a:xfrm>
        </p:spPr>
      </p:pic>
    </p:spTree>
    <p:extLst>
      <p:ext uri="{BB962C8B-B14F-4D97-AF65-F5344CB8AC3E}">
        <p14:creationId xmlns:p14="http://schemas.microsoft.com/office/powerpoint/2010/main" val="347793527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20702-CF04-5B79-E87C-D553BDCB6C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6435F5-34FC-5114-EB4A-B8397A919596}"/>
              </a:ext>
            </a:extLst>
          </p:cNvPr>
          <p:cNvSpPr>
            <a:spLocks noGrp="1"/>
          </p:cNvSpPr>
          <p:nvPr>
            <p:ph idx="1"/>
          </p:nvPr>
        </p:nvSpPr>
        <p:spPr/>
        <p:txBody>
          <a:bodyPr/>
          <a:lstStyle/>
          <a:p>
            <a:pPr algn="l" fontAlgn="base">
              <a:spcAft>
                <a:spcPts val="1500"/>
              </a:spcAft>
            </a:pPr>
            <a:r>
              <a:rPr lang="en-US" b="1" i="0" dirty="0">
                <a:solidFill>
                  <a:srgbClr val="000000"/>
                </a:solidFill>
                <a:effectLst/>
                <a:latin typeface="-apple-system"/>
              </a:rPr>
              <a:t>Register indirect addressing mode</a:t>
            </a:r>
          </a:p>
          <a:p>
            <a:pPr algn="l" fontAlgn="base"/>
            <a:r>
              <a:rPr lang="en-US" b="0" i="0" dirty="0">
                <a:solidFill>
                  <a:srgbClr val="000000"/>
                </a:solidFill>
                <a:effectLst/>
                <a:latin typeface="-apple-system"/>
              </a:rPr>
              <a:t>A register is </a:t>
            </a:r>
            <a:r>
              <a:rPr lang="en-US" b="0" i="0" dirty="0" err="1">
                <a:solidFill>
                  <a:srgbClr val="000000"/>
                </a:solidFill>
                <a:effectLst/>
                <a:latin typeface="-apple-system"/>
              </a:rPr>
              <a:t>utilised</a:t>
            </a:r>
            <a:r>
              <a:rPr lang="en-US" b="0" i="0" dirty="0">
                <a:solidFill>
                  <a:srgbClr val="000000"/>
                </a:solidFill>
                <a:effectLst/>
                <a:latin typeface="-apple-system"/>
              </a:rPr>
              <a:t> in this addressing mechanism to provide the address of the memory region to be accessed. LDR R0, [R1] is an example. This instruction loads the 32-bit word at the memory location contained in register R0 into register R0. This is known as Register indirect addressing mode.</a:t>
            </a:r>
          </a:p>
          <a:p>
            <a:endParaRPr lang="en-IN" dirty="0"/>
          </a:p>
        </p:txBody>
      </p:sp>
    </p:spTree>
    <p:extLst>
      <p:ext uri="{BB962C8B-B14F-4D97-AF65-F5344CB8AC3E}">
        <p14:creationId xmlns:p14="http://schemas.microsoft.com/office/powerpoint/2010/main" val="26880381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6C3C3-185F-37EF-B781-C14690C5525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15AA4AF-377C-F685-7CEB-46CBC3AA7E30}"/>
              </a:ext>
            </a:extLst>
          </p:cNvPr>
          <p:cNvPicPr>
            <a:picLocks noGrp="1" noChangeAspect="1"/>
          </p:cNvPicPr>
          <p:nvPr>
            <p:ph idx="1"/>
          </p:nvPr>
        </p:nvPicPr>
        <p:blipFill>
          <a:blip r:embed="rId2"/>
          <a:stretch>
            <a:fillRect/>
          </a:stretch>
        </p:blipFill>
        <p:spPr>
          <a:xfrm>
            <a:off x="612483" y="950338"/>
            <a:ext cx="10967034" cy="4279818"/>
          </a:xfrm>
        </p:spPr>
      </p:pic>
    </p:spTree>
    <p:extLst>
      <p:ext uri="{BB962C8B-B14F-4D97-AF65-F5344CB8AC3E}">
        <p14:creationId xmlns:p14="http://schemas.microsoft.com/office/powerpoint/2010/main" val="170062942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1BD39-8F26-B60A-2BC6-26C96B0D88C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B1B8A2F-1DF7-7431-E90B-6F6D84AF0EA8}"/>
              </a:ext>
            </a:extLst>
          </p:cNvPr>
          <p:cNvPicPr>
            <a:picLocks noGrp="1" noChangeAspect="1"/>
          </p:cNvPicPr>
          <p:nvPr>
            <p:ph idx="1"/>
          </p:nvPr>
        </p:nvPicPr>
        <p:blipFill>
          <a:blip r:embed="rId2"/>
          <a:stretch>
            <a:fillRect/>
          </a:stretch>
        </p:blipFill>
        <p:spPr>
          <a:xfrm>
            <a:off x="697590" y="1690688"/>
            <a:ext cx="11494410" cy="3458368"/>
          </a:xfrm>
        </p:spPr>
      </p:pic>
    </p:spTree>
    <p:extLst>
      <p:ext uri="{BB962C8B-B14F-4D97-AF65-F5344CB8AC3E}">
        <p14:creationId xmlns:p14="http://schemas.microsoft.com/office/powerpoint/2010/main" val="171971411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92084-D94E-B0C5-8C27-3564D48EC7F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AA9CC41-593F-2E60-419D-10658508E05D}"/>
              </a:ext>
            </a:extLst>
          </p:cNvPr>
          <p:cNvPicPr>
            <a:picLocks noGrp="1" noChangeAspect="1"/>
          </p:cNvPicPr>
          <p:nvPr>
            <p:ph idx="1"/>
          </p:nvPr>
        </p:nvPicPr>
        <p:blipFill>
          <a:blip r:embed="rId2"/>
          <a:stretch>
            <a:fillRect/>
          </a:stretch>
        </p:blipFill>
        <p:spPr>
          <a:xfrm>
            <a:off x="360114" y="536028"/>
            <a:ext cx="10076657" cy="6087691"/>
          </a:xfrm>
        </p:spPr>
      </p:pic>
    </p:spTree>
    <p:extLst>
      <p:ext uri="{BB962C8B-B14F-4D97-AF65-F5344CB8AC3E}">
        <p14:creationId xmlns:p14="http://schemas.microsoft.com/office/powerpoint/2010/main" val="385797479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48A0A-3F13-598C-2010-02B70003710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A6A30FC-7784-50F4-CB3F-6526A190532F}"/>
              </a:ext>
            </a:extLst>
          </p:cNvPr>
          <p:cNvPicPr>
            <a:picLocks noGrp="1" noChangeAspect="1"/>
          </p:cNvPicPr>
          <p:nvPr>
            <p:ph idx="1"/>
          </p:nvPr>
        </p:nvPicPr>
        <p:blipFill>
          <a:blip r:embed="rId2"/>
          <a:stretch>
            <a:fillRect/>
          </a:stretch>
        </p:blipFill>
        <p:spPr>
          <a:xfrm>
            <a:off x="760683" y="551793"/>
            <a:ext cx="8700408" cy="5625170"/>
          </a:xfrm>
        </p:spPr>
      </p:pic>
    </p:spTree>
    <p:extLst>
      <p:ext uri="{BB962C8B-B14F-4D97-AF65-F5344CB8AC3E}">
        <p14:creationId xmlns:p14="http://schemas.microsoft.com/office/powerpoint/2010/main" val="307594333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6A1A1-5786-07BA-08DF-85B87C52CF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F2B6D8-B5D5-7BF9-92B1-B41A7DE706F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1DC43E5-43F3-A3F6-B9E2-6EDA812CF442}"/>
              </a:ext>
            </a:extLst>
          </p:cNvPr>
          <p:cNvPicPr>
            <a:picLocks noChangeAspect="1"/>
          </p:cNvPicPr>
          <p:nvPr/>
        </p:nvPicPr>
        <p:blipFill>
          <a:blip r:embed="rId2"/>
          <a:stretch>
            <a:fillRect/>
          </a:stretch>
        </p:blipFill>
        <p:spPr>
          <a:xfrm>
            <a:off x="1469548" y="365125"/>
            <a:ext cx="9266769" cy="6136933"/>
          </a:xfrm>
          <a:prstGeom prst="rect">
            <a:avLst/>
          </a:prstGeom>
        </p:spPr>
      </p:pic>
    </p:spTree>
    <p:extLst>
      <p:ext uri="{BB962C8B-B14F-4D97-AF65-F5344CB8AC3E}">
        <p14:creationId xmlns:p14="http://schemas.microsoft.com/office/powerpoint/2010/main" val="13885166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08960-E9B4-8132-3397-CDAD54E70AA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8D43CEC-D121-46A3-A156-42FC264C1F98}"/>
              </a:ext>
            </a:extLst>
          </p:cNvPr>
          <p:cNvPicPr>
            <a:picLocks noGrp="1" noChangeAspect="1"/>
          </p:cNvPicPr>
          <p:nvPr>
            <p:ph idx="1"/>
          </p:nvPr>
        </p:nvPicPr>
        <p:blipFill>
          <a:blip r:embed="rId2"/>
          <a:stretch>
            <a:fillRect/>
          </a:stretch>
        </p:blipFill>
        <p:spPr>
          <a:xfrm>
            <a:off x="751733" y="488730"/>
            <a:ext cx="9432791" cy="6199779"/>
          </a:xfrm>
        </p:spPr>
      </p:pic>
    </p:spTree>
    <p:extLst>
      <p:ext uri="{BB962C8B-B14F-4D97-AF65-F5344CB8AC3E}">
        <p14:creationId xmlns:p14="http://schemas.microsoft.com/office/powerpoint/2010/main" val="3511894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C3AB1-4260-9EBE-F4AE-40443A97CD8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20F6908-2402-B422-7B4B-67F895E63D2D}"/>
              </a:ext>
            </a:extLst>
          </p:cNvPr>
          <p:cNvPicPr>
            <a:picLocks noGrp="1" noChangeAspect="1"/>
          </p:cNvPicPr>
          <p:nvPr>
            <p:ph idx="1"/>
          </p:nvPr>
        </p:nvPicPr>
        <p:blipFill>
          <a:blip r:embed="rId2"/>
          <a:stretch>
            <a:fillRect/>
          </a:stretch>
        </p:blipFill>
        <p:spPr>
          <a:xfrm>
            <a:off x="762775" y="914400"/>
            <a:ext cx="9516342" cy="5508100"/>
          </a:xfrm>
        </p:spPr>
      </p:pic>
    </p:spTree>
    <p:extLst>
      <p:ext uri="{BB962C8B-B14F-4D97-AF65-F5344CB8AC3E}">
        <p14:creationId xmlns:p14="http://schemas.microsoft.com/office/powerpoint/2010/main" val="424327393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54160-7C53-6445-82F8-1D73B36A9FB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A56B00E-DEBD-67A6-ED91-E5B8697A4BD0}"/>
              </a:ext>
            </a:extLst>
          </p:cNvPr>
          <p:cNvPicPr>
            <a:picLocks noGrp="1" noChangeAspect="1"/>
          </p:cNvPicPr>
          <p:nvPr>
            <p:ph idx="1"/>
          </p:nvPr>
        </p:nvPicPr>
        <p:blipFill>
          <a:blip r:embed="rId2"/>
          <a:stretch>
            <a:fillRect/>
          </a:stretch>
        </p:blipFill>
        <p:spPr>
          <a:xfrm>
            <a:off x="1024759" y="156234"/>
            <a:ext cx="8339958" cy="6323431"/>
          </a:xfrm>
        </p:spPr>
      </p:pic>
    </p:spTree>
    <p:extLst>
      <p:ext uri="{BB962C8B-B14F-4D97-AF65-F5344CB8AC3E}">
        <p14:creationId xmlns:p14="http://schemas.microsoft.com/office/powerpoint/2010/main" val="425829130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D0E0F-C32A-19E7-D609-F06CCE81564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13E52ED-AB71-FEF8-34F9-E5F680D3249A}"/>
              </a:ext>
            </a:extLst>
          </p:cNvPr>
          <p:cNvPicPr>
            <a:picLocks noGrp="1" noChangeAspect="1"/>
          </p:cNvPicPr>
          <p:nvPr>
            <p:ph idx="1"/>
          </p:nvPr>
        </p:nvPicPr>
        <p:blipFill>
          <a:blip r:embed="rId2"/>
          <a:stretch>
            <a:fillRect/>
          </a:stretch>
        </p:blipFill>
        <p:spPr>
          <a:xfrm>
            <a:off x="1371600" y="383197"/>
            <a:ext cx="8229600" cy="6302492"/>
          </a:xfrm>
        </p:spPr>
      </p:pic>
    </p:spTree>
    <p:extLst>
      <p:ext uri="{BB962C8B-B14F-4D97-AF65-F5344CB8AC3E}">
        <p14:creationId xmlns:p14="http://schemas.microsoft.com/office/powerpoint/2010/main" val="41017377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F611-209B-31EE-DFF9-11DCC013B58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3BB4AC0-7FE3-303A-60F1-5012016B04FB}"/>
              </a:ext>
            </a:extLst>
          </p:cNvPr>
          <p:cNvPicPr>
            <a:picLocks noGrp="1" noChangeAspect="1"/>
          </p:cNvPicPr>
          <p:nvPr>
            <p:ph idx="1"/>
          </p:nvPr>
        </p:nvPicPr>
        <p:blipFill>
          <a:blip r:embed="rId2"/>
          <a:stretch>
            <a:fillRect/>
          </a:stretch>
        </p:blipFill>
        <p:spPr>
          <a:xfrm>
            <a:off x="1166647" y="93132"/>
            <a:ext cx="9506607" cy="7537169"/>
          </a:xfrm>
        </p:spPr>
      </p:pic>
    </p:spTree>
    <p:extLst>
      <p:ext uri="{BB962C8B-B14F-4D97-AF65-F5344CB8AC3E}">
        <p14:creationId xmlns:p14="http://schemas.microsoft.com/office/powerpoint/2010/main" val="389315533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5EA15-BE3E-FF26-DA4C-FBE5F6B2C0D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63BD687-3E81-3436-E6D9-A2390DF17FAF}"/>
              </a:ext>
            </a:extLst>
          </p:cNvPr>
          <p:cNvPicPr>
            <a:picLocks noGrp="1" noChangeAspect="1"/>
          </p:cNvPicPr>
          <p:nvPr>
            <p:ph idx="1"/>
          </p:nvPr>
        </p:nvPicPr>
        <p:blipFill>
          <a:blip r:embed="rId2"/>
          <a:stretch>
            <a:fillRect/>
          </a:stretch>
        </p:blipFill>
        <p:spPr>
          <a:xfrm>
            <a:off x="614855" y="1221417"/>
            <a:ext cx="9901453" cy="5021728"/>
          </a:xfrm>
        </p:spPr>
      </p:pic>
    </p:spTree>
    <p:extLst>
      <p:ext uri="{BB962C8B-B14F-4D97-AF65-F5344CB8AC3E}">
        <p14:creationId xmlns:p14="http://schemas.microsoft.com/office/powerpoint/2010/main" val="282093656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02697-2571-D771-B01D-7DE66E61F2B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B4CF466-1B9C-33D5-D964-14E629C1336A}"/>
              </a:ext>
            </a:extLst>
          </p:cNvPr>
          <p:cNvPicPr>
            <a:picLocks noGrp="1" noChangeAspect="1"/>
          </p:cNvPicPr>
          <p:nvPr>
            <p:ph idx="1"/>
          </p:nvPr>
        </p:nvPicPr>
        <p:blipFill>
          <a:blip r:embed="rId2"/>
          <a:stretch>
            <a:fillRect/>
          </a:stretch>
        </p:blipFill>
        <p:spPr>
          <a:xfrm>
            <a:off x="838200" y="701264"/>
            <a:ext cx="9346323" cy="5866169"/>
          </a:xfrm>
        </p:spPr>
      </p:pic>
    </p:spTree>
    <p:extLst>
      <p:ext uri="{BB962C8B-B14F-4D97-AF65-F5344CB8AC3E}">
        <p14:creationId xmlns:p14="http://schemas.microsoft.com/office/powerpoint/2010/main" val="262566763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46701-9F8C-03C9-AE07-29BE8D78547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003849B-D6DB-95AC-0870-E9328CFF7FBB}"/>
              </a:ext>
            </a:extLst>
          </p:cNvPr>
          <p:cNvPicPr>
            <a:picLocks noGrp="1" noChangeAspect="1"/>
          </p:cNvPicPr>
          <p:nvPr>
            <p:ph idx="1"/>
          </p:nvPr>
        </p:nvPicPr>
        <p:blipFill>
          <a:blip r:embed="rId2"/>
          <a:stretch>
            <a:fillRect/>
          </a:stretch>
        </p:blipFill>
        <p:spPr>
          <a:xfrm>
            <a:off x="1124071" y="1690688"/>
            <a:ext cx="10677935" cy="4962360"/>
          </a:xfrm>
        </p:spPr>
      </p:pic>
    </p:spTree>
    <p:extLst>
      <p:ext uri="{BB962C8B-B14F-4D97-AF65-F5344CB8AC3E}">
        <p14:creationId xmlns:p14="http://schemas.microsoft.com/office/powerpoint/2010/main" val="1483639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1599</TotalTime>
  <Words>5663</Words>
  <Application>Microsoft Office PowerPoint</Application>
  <PresentationFormat>Widescreen</PresentationFormat>
  <Paragraphs>387</Paragraphs>
  <Slides>151</Slides>
  <Notes>4</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151</vt:i4>
      </vt:variant>
    </vt:vector>
  </HeadingPairs>
  <TitlesOfParts>
    <vt:vector size="167" baseType="lpstr">
      <vt:lpstr>-apple-system</vt:lpstr>
      <vt:lpstr>Aptos</vt:lpstr>
      <vt:lpstr>Arial</vt:lpstr>
      <vt:lpstr>Calibri</vt:lpstr>
      <vt:lpstr>Calibri Light</vt:lpstr>
      <vt:lpstr>Google Sans</vt:lpstr>
      <vt:lpstr>Lato</vt:lpstr>
      <vt:lpstr>Lora</vt:lpstr>
      <vt:lpstr>Nunito</vt:lpstr>
      <vt:lpstr>PT Serif</vt:lpstr>
      <vt:lpstr>Roboto</vt:lpstr>
      <vt:lpstr>Source Sans 3</vt:lpstr>
      <vt:lpstr>Times New Roman</vt:lpstr>
      <vt:lpstr>Verdana</vt:lpstr>
      <vt:lpstr>Wingdings</vt:lpstr>
      <vt:lpstr>Office Theme</vt:lpstr>
      <vt:lpstr>Computer Organization and Architecture</vt:lpstr>
      <vt:lpstr>Overview and history of computer architecture</vt:lpstr>
      <vt:lpstr>PowerPoint Presentation</vt:lpstr>
      <vt:lpstr>Evolution of Computers</vt:lpstr>
      <vt:lpstr>PowerPoint Presentation</vt:lpstr>
      <vt:lpstr>PowerPoint Presentation</vt:lpstr>
      <vt:lpstr>Fourth Generation computers(1971-1980)</vt:lpstr>
      <vt:lpstr>Fifth generation is 1980-till date</vt:lpstr>
      <vt:lpstr>Components of Computer Architecture </vt:lpstr>
      <vt:lpstr>PowerPoint Presentation</vt:lpstr>
      <vt:lpstr>PowerPoint Presentation</vt:lpstr>
      <vt:lpstr>PowerPoint Presentation</vt:lpstr>
      <vt:lpstr>PowerPoint Presentation</vt:lpstr>
      <vt:lpstr>PowerPoint Presentation</vt:lpstr>
      <vt:lpstr>PowerPoint Presentation</vt:lpstr>
      <vt:lpstr>4. Central processing unit (CPU) </vt:lpstr>
      <vt:lpstr>PowerPoint Presentation</vt:lpstr>
      <vt:lpstr>PowerPoint Presentation</vt:lpstr>
      <vt:lpstr>PowerPoint Presentation</vt:lpstr>
      <vt:lpstr>PowerPoint Presentation</vt:lpstr>
      <vt:lpstr>Eight Great Ideas</vt:lpstr>
      <vt:lpstr>PowerPoint Presentation</vt:lpstr>
      <vt:lpstr>1. Instruction set architecture (ISA) </vt:lpstr>
      <vt:lpstr>PowerPoint Presentation</vt:lpstr>
      <vt:lpstr>PowerPoint Presentation</vt:lpstr>
      <vt:lpstr>3. Client-server architecture </vt:lpstr>
      <vt:lpstr>4. Single instruction, multiple data (SIMD) architecture </vt:lpstr>
      <vt:lpstr>PowerPoint Presentation</vt:lpstr>
      <vt:lpstr>Examples of Computer Architecture</vt:lpstr>
      <vt:lpstr>PowerPoint Presentation</vt:lpstr>
      <vt:lpstr>PowerPoint Presentation</vt:lpstr>
      <vt:lpstr>Combinational and Sequential logic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VHDL - Very High Speed Integrated Circuit Hardware Description Language </vt:lpstr>
      <vt:lpstr>PowerPoint Presentation</vt:lpstr>
      <vt:lpstr>PowerPoint Presentation</vt:lpstr>
      <vt:lpstr>PowerPoint Presentation</vt:lpstr>
      <vt:lpstr>PowerPoint Presentation</vt:lpstr>
      <vt:lpstr>Verilog Modeling Styles </vt:lpstr>
      <vt:lpstr>PowerPoint Presentation</vt:lpstr>
      <vt:lpstr>PowerPoint Presentation</vt:lpstr>
      <vt:lpstr>PowerPoint Presentation</vt:lpstr>
      <vt:lpstr>PowerPoint Presentation</vt:lpstr>
      <vt:lpstr>VHDL Operators</vt:lpstr>
      <vt:lpstr>PowerPoint Presentation</vt:lpstr>
      <vt:lpstr>PowerPoint Presentation</vt:lpstr>
      <vt:lpstr>PowerPoint Presentation</vt:lpstr>
      <vt:lpstr>PowerPoint Presentation</vt:lpstr>
      <vt:lpstr>Physical Constraints</vt:lpstr>
      <vt:lpstr>PowerPoint Presentation</vt:lpstr>
      <vt:lpstr>Instruction set architecture (ISA)</vt:lpstr>
      <vt:lpstr>PowerPoint Presentation</vt:lpstr>
      <vt:lpstr>Eg of ISA</vt:lpstr>
      <vt:lpstr>PowerPoint Presentation</vt:lpstr>
      <vt:lpstr>Evolution of ARM</vt:lpstr>
      <vt:lpstr>FEATURES OF ARM</vt:lpstr>
      <vt:lpstr>ARM Processor </vt:lpstr>
      <vt:lpstr>PowerPoint Presentation</vt:lpstr>
      <vt:lpstr>Functional Blocks of ARM</vt:lpstr>
      <vt:lpstr>PowerPoint Presentation</vt:lpstr>
      <vt:lpstr>Design of ALU in ARM</vt:lpstr>
      <vt:lpstr>PowerPoint Presentation</vt:lpstr>
      <vt:lpstr>PowerPoint Presentation</vt:lpstr>
      <vt:lpstr>PowerPoint Presentation</vt:lpstr>
      <vt:lpstr>PowerPoint Presentation</vt:lpstr>
      <vt:lpstr>PowerPoint Presentation</vt:lpstr>
      <vt:lpstr>PowerPoint Presentation</vt:lpstr>
      <vt:lpstr>Data Size and Instruction Set</vt:lpstr>
      <vt:lpstr>PowerPoint Presentation</vt:lpstr>
      <vt:lpstr>PowerPoint Presentation</vt:lpstr>
      <vt:lpstr>Register Modes</vt:lpstr>
      <vt:lpstr>PowerPoint Presentation</vt:lpstr>
      <vt:lpstr>PowerPoint Presentation</vt:lpstr>
      <vt:lpstr>PowerPoint Presentation</vt:lpstr>
      <vt:lpstr>ARM REgisters</vt:lpstr>
      <vt:lpstr>ARM Registers</vt:lpstr>
      <vt:lpstr>ARM Register Set</vt:lpstr>
      <vt:lpstr>PowerPoint Presentation</vt:lpstr>
      <vt:lpstr>PowerPoint Presentation</vt:lpstr>
      <vt:lpstr>ARM Register Set</vt:lpstr>
      <vt:lpstr>PowerPoint Presentation</vt:lpstr>
      <vt:lpstr>PowerPoint Presentation</vt:lpstr>
      <vt:lpstr>PowerPoint Presentation</vt:lpstr>
      <vt:lpstr>PowerPoint Presentation</vt:lpstr>
      <vt:lpstr>ARM Instruction Set</vt:lpstr>
      <vt:lpstr>PowerPoint Presentation</vt:lpstr>
      <vt:lpstr>PowerPoint Presentation</vt:lpstr>
      <vt:lpstr>ARM Datatypes</vt:lpstr>
      <vt:lpstr>Arithmetic Instructions</vt:lpstr>
      <vt:lpstr>PowerPoint Presentation</vt:lpstr>
      <vt:lpstr>PowerPoint Presentation</vt:lpstr>
      <vt:lpstr>PowerPoint Presentation</vt:lpstr>
      <vt:lpstr>PowerPoint Presentation</vt:lpstr>
      <vt:lpstr>Logical instructions MVN –Bitwise NOT (MVN R1,R2)</vt:lpstr>
      <vt:lpstr>Register Move instruction</vt:lpstr>
      <vt:lpstr>PowerPoint Presentation</vt:lpstr>
      <vt:lpstr>PowerPoint Presentation</vt:lpstr>
      <vt:lpstr>Compare instructions</vt:lpstr>
      <vt:lpstr>Immediate operands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Multiply instructions</vt:lpstr>
      <vt:lpstr>PowerPoint Presentation</vt:lpstr>
      <vt:lpstr>PowerPoint Presentation</vt:lpstr>
      <vt:lpstr>PowerPoint Presentation</vt:lpstr>
      <vt:lpstr>PowerPoint Presentation</vt:lpstr>
      <vt:lpstr>PowerPoint Presentation</vt:lpstr>
      <vt:lpstr>Barrel Shifter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Addressing Modes in ARM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GURUPRIYA</dc:creator>
  <cp:lastModifiedBy>Gandrala Venkata Satya Sreepada-[BL.SC.U4CSE24012]</cp:lastModifiedBy>
  <cp:revision>185</cp:revision>
  <dcterms:created xsi:type="dcterms:W3CDTF">2024-12-21T09:34:19Z</dcterms:created>
  <dcterms:modified xsi:type="dcterms:W3CDTF">2026-04-04T15:55:54Z</dcterms:modified>
</cp:coreProperties>
</file>