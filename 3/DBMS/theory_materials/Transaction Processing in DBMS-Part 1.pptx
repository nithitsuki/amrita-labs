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2"/>
  </p:notesMasterIdLst>
  <p:sldIdLst>
    <p:sldId id="256" r:id="rId2"/>
    <p:sldId id="410" r:id="rId3"/>
    <p:sldId id="411" r:id="rId4"/>
    <p:sldId id="412" r:id="rId5"/>
    <p:sldId id="413" r:id="rId6"/>
    <p:sldId id="303" r:id="rId7"/>
    <p:sldId id="305" r:id="rId8"/>
    <p:sldId id="306" r:id="rId9"/>
    <p:sldId id="307" r:id="rId10"/>
    <p:sldId id="308" r:id="rId11"/>
    <p:sldId id="309" r:id="rId12"/>
    <p:sldId id="310" r:id="rId13"/>
    <p:sldId id="311" r:id="rId14"/>
    <p:sldId id="312" r:id="rId15"/>
    <p:sldId id="313" r:id="rId16"/>
    <p:sldId id="316" r:id="rId17"/>
    <p:sldId id="371" r:id="rId18"/>
    <p:sldId id="257" r:id="rId19"/>
    <p:sldId id="258" r:id="rId20"/>
    <p:sldId id="259" r:id="rId21"/>
    <p:sldId id="260" r:id="rId22"/>
    <p:sldId id="261" r:id="rId23"/>
    <p:sldId id="262" r:id="rId24"/>
    <p:sldId id="263" r:id="rId25"/>
    <p:sldId id="264" r:id="rId26"/>
    <p:sldId id="283" r:id="rId27"/>
    <p:sldId id="325" r:id="rId28"/>
    <p:sldId id="351" r:id="rId29"/>
    <p:sldId id="324" r:id="rId30"/>
    <p:sldId id="317" r:id="rId31"/>
    <p:sldId id="318" r:id="rId32"/>
    <p:sldId id="319" r:id="rId33"/>
    <p:sldId id="320" r:id="rId34"/>
    <p:sldId id="321" r:id="rId35"/>
    <p:sldId id="322" r:id="rId36"/>
    <p:sldId id="323" r:id="rId37"/>
    <p:sldId id="327" r:id="rId38"/>
    <p:sldId id="414" r:id="rId39"/>
    <p:sldId id="326" r:id="rId40"/>
    <p:sldId id="329" r:id="rId41"/>
    <p:sldId id="328" r:id="rId42"/>
    <p:sldId id="330" r:id="rId43"/>
    <p:sldId id="331" r:id="rId44"/>
    <p:sldId id="332" r:id="rId45"/>
    <p:sldId id="333" r:id="rId46"/>
    <p:sldId id="334" r:id="rId47"/>
    <p:sldId id="335" r:id="rId48"/>
    <p:sldId id="415" r:id="rId49"/>
    <p:sldId id="336" r:id="rId50"/>
    <p:sldId id="340" r:id="rId51"/>
    <p:sldId id="341" r:id="rId52"/>
    <p:sldId id="337" r:id="rId53"/>
    <p:sldId id="338" r:id="rId54"/>
    <p:sldId id="342" r:id="rId55"/>
    <p:sldId id="343" r:id="rId56"/>
    <p:sldId id="344" r:id="rId57"/>
    <p:sldId id="347" r:id="rId58"/>
    <p:sldId id="348" r:id="rId59"/>
    <p:sldId id="349" r:id="rId60"/>
    <p:sldId id="350" r:id="rId61"/>
    <p:sldId id="416" r:id="rId62"/>
    <p:sldId id="417" r:id="rId63"/>
    <p:sldId id="432" r:id="rId64"/>
    <p:sldId id="421" r:id="rId65"/>
    <p:sldId id="422" r:id="rId66"/>
    <p:sldId id="423" r:id="rId67"/>
    <p:sldId id="424" r:id="rId68"/>
    <p:sldId id="425" r:id="rId69"/>
    <p:sldId id="426" r:id="rId70"/>
    <p:sldId id="427" r:id="rId71"/>
    <p:sldId id="428" r:id="rId72"/>
    <p:sldId id="429" r:id="rId73"/>
    <p:sldId id="430" r:id="rId74"/>
    <p:sldId id="431" r:id="rId75"/>
    <p:sldId id="358" r:id="rId76"/>
    <p:sldId id="359" r:id="rId77"/>
    <p:sldId id="360" r:id="rId78"/>
    <p:sldId id="365" r:id="rId79"/>
    <p:sldId id="366" r:id="rId80"/>
    <p:sldId id="362" r:id="rId81"/>
    <p:sldId id="363" r:id="rId82"/>
    <p:sldId id="364" r:id="rId83"/>
    <p:sldId id="367" r:id="rId84"/>
    <p:sldId id="368" r:id="rId85"/>
    <p:sldId id="369" r:id="rId86"/>
    <p:sldId id="370" r:id="rId87"/>
    <p:sldId id="402" r:id="rId88"/>
    <p:sldId id="406" r:id="rId89"/>
    <p:sldId id="407" r:id="rId90"/>
    <p:sldId id="409" r:id="rId91"/>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56" autoAdjust="0"/>
    <p:restoredTop sz="90196" autoAdjust="0"/>
  </p:normalViewPr>
  <p:slideViewPr>
    <p:cSldViewPr snapToGrid="0">
      <p:cViewPr varScale="1">
        <p:scale>
          <a:sx n="58" d="100"/>
          <a:sy n="58" d="100"/>
        </p:scale>
        <p:origin x="62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CF369307-8C4D-422D-A68E-320FEA5F4A87}" type="datetimeFigureOut">
              <a:rPr lang="en-US" smtClean="0"/>
              <a:t>9/23/2025</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A822FB03-4617-4EBB-BC4D-8D3A452E8B87}" type="slidenum">
              <a:rPr lang="en-US" smtClean="0"/>
              <a:t>‹#›</a:t>
            </a:fld>
            <a:endParaRPr lang="en-US"/>
          </a:p>
        </p:txBody>
      </p:sp>
    </p:spTree>
    <p:extLst>
      <p:ext uri="{BB962C8B-B14F-4D97-AF65-F5344CB8AC3E}">
        <p14:creationId xmlns:p14="http://schemas.microsoft.com/office/powerpoint/2010/main" val="2728230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geeksforgeeks.org/dbms/types-of-schedules-in-dbms/" TargetMode="External"/><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DA026FEE-DDDB-4534-8F48-2472B4E65D90}" type="slidenum">
              <a:rPr lang="en-CA" altLang="en-US" sz="1300">
                <a:latin typeface="Tahoma" panose="020B0604030504040204" pitchFamily="34" charset="0"/>
              </a:rPr>
              <a:pPr/>
              <a:t>6</a:t>
            </a:fld>
            <a:endParaRPr lang="en-CA" altLang="en-US" sz="1300">
              <a:latin typeface="Tahoma" panose="020B0604030504040204" pitchFamily="34" charset="0"/>
            </a:endParaRPr>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617314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3CC6CE91-F0AD-459D-A330-9EEDB8166FA8}" type="slidenum">
              <a:rPr lang="en-CA" altLang="en-US" sz="1300">
                <a:latin typeface="Tahoma" panose="020B0604030504040204" pitchFamily="34" charset="0"/>
              </a:rPr>
              <a:pPr/>
              <a:t>7</a:t>
            </a:fld>
            <a:endParaRPr lang="en-CA" altLang="en-US" sz="1300">
              <a:latin typeface="Tahoma" panose="020B0604030504040204" pitchFamily="34" charset="0"/>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939980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B04B5EB7-4334-4117-9EBF-CF7EB086BFD0}" type="slidenum">
              <a:rPr lang="en-CA" altLang="en-US" sz="1300">
                <a:latin typeface="Tahoma" panose="020B0604030504040204" pitchFamily="34" charset="0"/>
              </a:rPr>
              <a:pPr/>
              <a:t>8</a:t>
            </a:fld>
            <a:endParaRPr lang="en-CA" altLang="en-US" sz="1300">
              <a:latin typeface="Tahoma" panose="020B0604030504040204" pitchFamily="34" charset="0"/>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1302892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DF91C7B5-7F8E-4945-A48F-5EB8CBA0F185}" type="slidenum">
              <a:rPr lang="en-CA" altLang="en-US" sz="1300">
                <a:latin typeface="Tahoma" panose="020B0604030504040204" pitchFamily="34" charset="0"/>
              </a:rPr>
              <a:pPr/>
              <a:t>9</a:t>
            </a:fld>
            <a:endParaRPr lang="en-CA" altLang="en-US" sz="1300">
              <a:latin typeface="Tahoma" panose="020B0604030504040204" pitchFamily="34"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8628692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5879D238-A615-4109-BC1A-81A0268912F1}" type="slidenum">
              <a:rPr lang="en-CA" altLang="en-US" sz="1300">
                <a:latin typeface="Tahoma" panose="020B0604030504040204" pitchFamily="34" charset="0"/>
              </a:rPr>
              <a:pPr/>
              <a:t>10</a:t>
            </a:fld>
            <a:endParaRPr lang="en-CA" altLang="en-US" sz="1300">
              <a:latin typeface="Tahoma" panose="020B0604030504040204" pitchFamily="34" charset="0"/>
            </a:endParaRP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368352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B34C2C86-84A2-4394-94BE-54BBB40EFE71}" type="slidenum">
              <a:rPr lang="en-CA" altLang="en-US" sz="1300">
                <a:latin typeface="Tahoma" panose="020B0604030504040204" pitchFamily="34" charset="0"/>
              </a:rPr>
              <a:pPr/>
              <a:t>11</a:t>
            </a:fld>
            <a:endParaRPr lang="en-CA" altLang="en-US" sz="1300">
              <a:latin typeface="Tahoma" panose="020B060403050404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057199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90FDA594-D6A0-41E2-92BE-848B3171ECF4}" type="slidenum">
              <a:rPr lang="en-CA" altLang="en-US" sz="1300">
                <a:latin typeface="Tahoma" panose="020B0604030504040204" pitchFamily="34" charset="0"/>
              </a:rPr>
              <a:pPr/>
              <a:t>12</a:t>
            </a:fld>
            <a:endParaRPr lang="en-CA" altLang="en-US" sz="1300">
              <a:latin typeface="Tahoma" panose="020B0604030504040204" pitchFamily="34" charset="0"/>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040802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06859AD7-59A0-4611-9ED6-35D76DB7B460}" type="slidenum">
              <a:rPr lang="en-CA" altLang="en-US" sz="1300">
                <a:latin typeface="Tahoma" panose="020B0604030504040204" pitchFamily="34" charset="0"/>
              </a:rPr>
              <a:pPr/>
              <a:t>13</a:t>
            </a:fld>
            <a:endParaRPr lang="en-CA" altLang="en-US" sz="1300">
              <a:latin typeface="Tahoma" panose="020B0604030504040204" pitchFamily="34"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6888835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EA3F6554-2286-4D80-9AE6-3456C44620BD}" type="slidenum">
              <a:rPr lang="en-CA" altLang="en-US" sz="1300">
                <a:latin typeface="Tahoma" panose="020B0604030504040204" pitchFamily="34" charset="0"/>
              </a:rPr>
              <a:pPr/>
              <a:t>14</a:t>
            </a:fld>
            <a:endParaRPr lang="en-CA" altLang="en-US" sz="1300">
              <a:latin typeface="Tahoma" panose="020B0604030504040204" pitchFamily="3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2554001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2EBBA9FB-21EB-483E-B6FF-EA6D8D949A21}" type="slidenum">
              <a:rPr lang="en-CA" altLang="en-US" sz="1300">
                <a:latin typeface="Tahoma" panose="020B0604030504040204" pitchFamily="34" charset="0"/>
              </a:rPr>
              <a:pPr/>
              <a:t>15</a:t>
            </a:fld>
            <a:endParaRPr lang="en-CA" altLang="en-US" sz="1300">
              <a:latin typeface="Tahoma" panose="020B0604030504040204" pitchFamily="34"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42040432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45C1AAF5-6AEA-4D14-8684-0B8539C0EA31}" type="slidenum">
              <a:rPr lang="en-US" altLang="en-US" sz="1400">
                <a:latin typeface="Times New Roman" panose="02020603050405020304" pitchFamily="18" charset="0"/>
              </a:rPr>
              <a:pPr/>
              <a:t>17</a:t>
            </a:fld>
            <a:endParaRPr lang="en-US" altLang="en-US" sz="1400">
              <a:latin typeface="Times New Roman" panose="02020603050405020304"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71200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6720BA8D-4F0C-4D4D-9BE4-41F6950D838A}" type="slidenum">
              <a:rPr lang="en-CA" altLang="en-US" sz="1300">
                <a:latin typeface="Tahoma" panose="020B0604030504040204" pitchFamily="34" charset="0"/>
              </a:rPr>
              <a:pPr/>
              <a:t>30</a:t>
            </a:fld>
            <a:endParaRPr lang="en-CA" altLang="en-US" sz="1300">
              <a:latin typeface="Tahoma" panose="020B0604030504040204" pitchFamily="34"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3952275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A28C9CD5-056F-4C61-B487-79FCB6DC83E1}" type="slidenum">
              <a:rPr lang="en-CA" altLang="en-US" sz="1300">
                <a:latin typeface="Tahoma" panose="020B0604030504040204" pitchFamily="34" charset="0"/>
              </a:rPr>
              <a:pPr/>
              <a:t>31</a:t>
            </a:fld>
            <a:endParaRPr lang="en-CA" altLang="en-US" sz="1300">
              <a:latin typeface="Tahoma" panose="020B0604030504040204" pitchFamily="34"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7839181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8522531E-CCD3-475D-9183-A01018E80684}" type="slidenum">
              <a:rPr lang="en-CA" altLang="en-US" sz="1300">
                <a:latin typeface="Tahoma" panose="020B0604030504040204" pitchFamily="34" charset="0"/>
              </a:rPr>
              <a:pPr/>
              <a:t>32</a:t>
            </a:fld>
            <a:endParaRPr lang="en-CA" altLang="en-US" sz="1300">
              <a:latin typeface="Tahoma" panose="020B0604030504040204" pitchFamily="34"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41313916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B47FA0F4-44C0-4CA1-83CE-30FCA983F713}" type="slidenum">
              <a:rPr lang="en-CA" altLang="en-US" sz="1300">
                <a:latin typeface="Tahoma" panose="020B0604030504040204" pitchFamily="34" charset="0"/>
              </a:rPr>
              <a:pPr/>
              <a:t>33</a:t>
            </a:fld>
            <a:endParaRPr lang="en-CA" altLang="en-US" sz="1300">
              <a:latin typeface="Tahoma" panose="020B0604030504040204" pitchFamily="34"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0138259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83248449-20A9-4DF9-8823-9B76399F7B34}" type="slidenum">
              <a:rPr lang="en-CA" altLang="en-US" sz="1300">
                <a:latin typeface="Tahoma" panose="020B0604030504040204" pitchFamily="34" charset="0"/>
              </a:rPr>
              <a:pPr/>
              <a:t>34</a:t>
            </a:fld>
            <a:endParaRPr lang="en-CA" altLang="en-US" sz="1300">
              <a:latin typeface="Tahoma" panose="020B0604030504040204" pitchFamily="34"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9231338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0CAA7790-0F83-4B79-A26A-238D14A3ECB0}" type="slidenum">
              <a:rPr lang="en-CA" altLang="en-US" sz="1300">
                <a:latin typeface="Tahoma" panose="020B0604030504040204" pitchFamily="34" charset="0"/>
              </a:rPr>
              <a:pPr/>
              <a:t>35</a:t>
            </a:fld>
            <a:endParaRPr lang="en-CA" altLang="en-US" sz="1300">
              <a:latin typeface="Tahoma" panose="020B0604030504040204" pitchFamily="34"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875881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700944A5-057F-4AFE-8148-A9B7EBFDDC10}" type="slidenum">
              <a:rPr lang="en-CA" altLang="en-US" sz="1300">
                <a:latin typeface="Tahoma" panose="020B0604030504040204" pitchFamily="34" charset="0"/>
              </a:rPr>
              <a:pPr/>
              <a:t>36</a:t>
            </a:fld>
            <a:endParaRPr lang="en-CA" altLang="en-US" sz="1300">
              <a:latin typeface="Tahoma" panose="020B0604030504040204" pitchFamily="34"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2155579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73D1A389-AEC8-4E15-84F2-F25B8AE188D6}" type="slidenum">
              <a:rPr lang="en-CA" altLang="en-US" sz="1300">
                <a:latin typeface="Tahoma" panose="020B0604030504040204" pitchFamily="34" charset="0"/>
              </a:rPr>
              <a:pPr/>
              <a:t>37</a:t>
            </a:fld>
            <a:endParaRPr lang="en-CA" altLang="en-US" sz="1300">
              <a:latin typeface="Tahoma" panose="020B0604030504040204" pitchFamily="34"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0411577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93328FE2-192E-4E49-B6B7-BF1F91DBF82C}" type="slidenum">
              <a:rPr lang="en-CA" altLang="en-US" sz="1300">
                <a:latin typeface="Tahoma" panose="020B0604030504040204" pitchFamily="34" charset="0"/>
              </a:rPr>
              <a:pPr/>
              <a:t>50</a:t>
            </a:fld>
            <a:endParaRPr lang="en-CA" altLang="en-US" sz="1300">
              <a:latin typeface="Tahoma" panose="020B0604030504040204" pitchFamily="3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6046767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a:defRPr sz="2500">
                <a:solidFill>
                  <a:schemeClr val="tx1"/>
                </a:solidFill>
                <a:latin typeface="Arial" panose="020B0604020202020204" pitchFamily="34" charset="0"/>
              </a:defRPr>
            </a:lvl1pPr>
            <a:lvl2pPr marL="785372" indent="-302066">
              <a:defRPr sz="2500">
                <a:solidFill>
                  <a:schemeClr val="tx1"/>
                </a:solidFill>
                <a:latin typeface="Arial" panose="020B0604020202020204" pitchFamily="34" charset="0"/>
              </a:defRPr>
            </a:lvl2pPr>
            <a:lvl3pPr marL="1208265" indent="-241653">
              <a:defRPr sz="2500">
                <a:solidFill>
                  <a:schemeClr val="tx1"/>
                </a:solidFill>
                <a:latin typeface="Arial" panose="020B0604020202020204" pitchFamily="34" charset="0"/>
              </a:defRPr>
            </a:lvl3pPr>
            <a:lvl4pPr marL="1691571" indent="-241653">
              <a:defRPr sz="2500">
                <a:solidFill>
                  <a:schemeClr val="tx1"/>
                </a:solidFill>
                <a:latin typeface="Arial" panose="020B0604020202020204" pitchFamily="34" charset="0"/>
              </a:defRPr>
            </a:lvl4pPr>
            <a:lvl5pPr marL="2174878" indent="-241653">
              <a:defRPr sz="2500">
                <a:solidFill>
                  <a:schemeClr val="tx1"/>
                </a:solidFill>
                <a:latin typeface="Arial" panose="020B0604020202020204" pitchFamily="34" charset="0"/>
              </a:defRPr>
            </a:lvl5pPr>
            <a:lvl6pPr marL="2658184" indent="-241653" eaLnBrk="0" fontAlgn="base" hangingPunct="0">
              <a:spcBef>
                <a:spcPct val="0"/>
              </a:spcBef>
              <a:spcAft>
                <a:spcPct val="0"/>
              </a:spcAft>
              <a:defRPr sz="2500">
                <a:solidFill>
                  <a:schemeClr val="tx1"/>
                </a:solidFill>
                <a:latin typeface="Arial" panose="020B0604020202020204" pitchFamily="34" charset="0"/>
              </a:defRPr>
            </a:lvl6pPr>
            <a:lvl7pPr marL="3141490" indent="-241653" eaLnBrk="0" fontAlgn="base" hangingPunct="0">
              <a:spcBef>
                <a:spcPct val="0"/>
              </a:spcBef>
              <a:spcAft>
                <a:spcPct val="0"/>
              </a:spcAft>
              <a:defRPr sz="2500">
                <a:solidFill>
                  <a:schemeClr val="tx1"/>
                </a:solidFill>
                <a:latin typeface="Arial" panose="020B0604020202020204" pitchFamily="34" charset="0"/>
              </a:defRPr>
            </a:lvl7pPr>
            <a:lvl8pPr marL="3624796" indent="-241653" eaLnBrk="0" fontAlgn="base" hangingPunct="0">
              <a:spcBef>
                <a:spcPct val="0"/>
              </a:spcBef>
              <a:spcAft>
                <a:spcPct val="0"/>
              </a:spcAft>
              <a:defRPr sz="2500">
                <a:solidFill>
                  <a:schemeClr val="tx1"/>
                </a:solidFill>
                <a:latin typeface="Arial" panose="020B0604020202020204" pitchFamily="34" charset="0"/>
              </a:defRPr>
            </a:lvl8pPr>
            <a:lvl9pPr marL="4108102" indent="-241653" eaLnBrk="0" fontAlgn="base" hangingPunct="0">
              <a:spcBef>
                <a:spcPct val="0"/>
              </a:spcBef>
              <a:spcAft>
                <a:spcPct val="0"/>
              </a:spcAft>
              <a:defRPr sz="2500">
                <a:solidFill>
                  <a:schemeClr val="tx1"/>
                </a:solidFill>
                <a:latin typeface="Arial" panose="020B0604020202020204" pitchFamily="34" charset="0"/>
              </a:defRPr>
            </a:lvl9pPr>
          </a:lstStyle>
          <a:p>
            <a:fld id="{47813EC7-709E-4230-9723-E7FEB99E67CD}" type="slidenum">
              <a:rPr lang="en-CA" altLang="en-US" sz="1300">
                <a:latin typeface="Tahoma" panose="020B0604030504040204" pitchFamily="34" charset="0"/>
              </a:rPr>
              <a:pPr/>
              <a:t>51</a:t>
            </a:fld>
            <a:endParaRPr lang="en-CA" altLang="en-US" sz="1300">
              <a:latin typeface="Tahoma" panose="020B0604030504040204" pitchFamily="34"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1218969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822FB03-4617-4EBB-BC4D-8D3A452E8B87}" type="slidenum">
              <a:rPr lang="en-US" smtClean="0"/>
              <a:t>59</a:t>
            </a:fld>
            <a:endParaRPr lang="en-US"/>
          </a:p>
        </p:txBody>
      </p:sp>
    </p:spTree>
    <p:extLst>
      <p:ext uri="{BB962C8B-B14F-4D97-AF65-F5344CB8AC3E}">
        <p14:creationId xmlns:p14="http://schemas.microsoft.com/office/powerpoint/2010/main" val="5244810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822FB03-4617-4EBB-BC4D-8D3A452E8B87}" type="slidenum">
              <a:rPr lang="en-US" smtClean="0"/>
              <a:t>71</a:t>
            </a:fld>
            <a:endParaRPr lang="en-US"/>
          </a:p>
        </p:txBody>
      </p:sp>
    </p:spTree>
    <p:extLst>
      <p:ext uri="{BB962C8B-B14F-4D97-AF65-F5344CB8AC3E}">
        <p14:creationId xmlns:p14="http://schemas.microsoft.com/office/powerpoint/2010/main" val="22441383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Types of Schedules in DBMS - </a:t>
            </a:r>
            <a:r>
              <a:rPr lang="en-US" dirty="0" err="1">
                <a:hlinkClick r:id="rId3"/>
              </a:rPr>
              <a:t>GeeksforGeeks</a:t>
            </a:r>
            <a:endParaRPr lang="en-IN" dirty="0"/>
          </a:p>
        </p:txBody>
      </p:sp>
      <p:sp>
        <p:nvSpPr>
          <p:cNvPr id="4" name="Slide Number Placeholder 3"/>
          <p:cNvSpPr>
            <a:spLocks noGrp="1"/>
          </p:cNvSpPr>
          <p:nvPr>
            <p:ph type="sldNum" sz="quarter" idx="5"/>
          </p:nvPr>
        </p:nvSpPr>
        <p:spPr/>
        <p:txBody>
          <a:bodyPr/>
          <a:lstStyle/>
          <a:p>
            <a:fld id="{A822FB03-4617-4EBB-BC4D-8D3A452E8B87}" type="slidenum">
              <a:rPr lang="en-US" smtClean="0"/>
              <a:t>88</a:t>
            </a:fld>
            <a:endParaRPr lang="en-US"/>
          </a:p>
        </p:txBody>
      </p:sp>
    </p:spTree>
    <p:extLst>
      <p:ext uri="{BB962C8B-B14F-4D97-AF65-F5344CB8AC3E}">
        <p14:creationId xmlns:p14="http://schemas.microsoft.com/office/powerpoint/2010/main" val="31365075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12D418C-086E-4123-BF9D-F1E9253A4BF2}" type="datetime1">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3358682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A109E8-DA95-4715-AEDB-7CFBED44B419}" type="datetime1">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3127045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755139-314C-4067-9F90-35EF08285CE1}" type="datetime1">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2915332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B509285-6AB0-44DF-AF45-F4EA877ADB0E}" type="datetime1">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1713333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5A6A3C6-5910-4DE2-B530-4FF10D4D21F2}" type="datetime1">
              <a:rPr lang="en-US" smtClean="0"/>
              <a:t>9/23/2025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160372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CEE9880-BFEB-4F92-B328-CE559799142E}" type="datetime1">
              <a:rPr lang="en-US" smtClean="0"/>
              <a:t>9/23/2025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4150492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4F2FF4-F1DA-4A19-8C23-C8721452295B}" type="datetime1">
              <a:rPr lang="en-US" smtClean="0"/>
              <a:t>9/23/2025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973614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3E0F881-4FA7-4EC2-BF66-BBD055DB636C}" type="datetime1">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2497554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9E9D9D-B6AD-4DEB-8973-983B70040541}" type="datetime1">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3626492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1C9880D-94CC-4D8F-970C-1A0318E65607}" type="datetime1">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3384071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D4C0E2-A8CC-4E4A-AAA5-9A9241D18D3F}" type="datetime1">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174862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0BCC69-5C7F-4321-ACCB-399A7C0D5C2A}" type="datetime1">
              <a:rPr lang="en-US" smtClean="0"/>
              <a:t>9/23/2025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ED7385-1A27-4338-8D43-B2B3002AB878}" type="slidenum">
              <a:rPr lang="en-US" smtClean="0"/>
              <a:t>‹#›</a:t>
            </a:fld>
            <a:endParaRPr lang="en-US"/>
          </a:p>
        </p:txBody>
      </p:sp>
    </p:spTree>
    <p:extLst>
      <p:ext uri="{BB962C8B-B14F-4D97-AF65-F5344CB8AC3E}">
        <p14:creationId xmlns:p14="http://schemas.microsoft.com/office/powerpoint/2010/main" val="1942817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google.com/search?sca_esv=f04038ad81816743&amp;sxsrf=AE3TifMP-MZcWSp-yXaf8kImh-3lSc8KEA%3A1758361729282&amp;q=ACID+properties&amp;sa=X&amp;ved=2ahUKEwj3y4ryh-ePAxVHUGwGHT1TGhYQxccNegQIHRAD&amp;mstk=AUtExfB7ZansEIQjgxbHow0hCbWpnAwmiZvIDLzk9n9na0tnyH3x9916wuarXseGUwdQgYNK33nkL83S11WB_gQ2fTkwAVLa5vncOu5O2XWzrqmZQ57CZ_4kCa88Xh824IuLujjeSxGSrvJHth9bLWMCI_onEGvZz1NvJv6dkyL4TkUilcI&amp;csui=3" TargetMode="External"/><Relationship Id="rId7" Type="http://schemas.openxmlformats.org/officeDocument/2006/relationships/hyperlink" Target="https://www.google.com/search?sca_esv=f04038ad81816743&amp;sxsrf=AE3TifMP-MZcWSp-yXaf8kImh-3lSc8KEA%3A1758361729282&amp;q=durability&amp;sa=X&amp;ved=2ahUKEwj3y4ryh-ePAxVHUGwGHT1TGhYQxccNegQIHhAE&amp;mstk=AUtExfB7ZansEIQjgxbHow0hCbWpnAwmiZvIDLzk9n9na0tnyH3x9916wuarXseGUwdQgYNK33nkL83S11WB_gQ2fTkwAVLa5vncOu5O2XWzrqmZQ57CZ_4kCa88Xh824IuLujjeSxGSrvJHth9bLWMCI_onEGvZz1NvJv6dkyL4TkUilcI&amp;csui=3" TargetMode="External"/><Relationship Id="rId2" Type="http://schemas.openxmlformats.org/officeDocument/2006/relationships/hyperlink" Target="https://www.google.com/search?sca_esv=f04038ad81816743&amp;sxsrf=AE3TifMP-MZcWSp-yXaf8kImh-3lSc8KEA%3A1758361729282&amp;q=Database+Management+System&amp;sa=X&amp;ved=2ahUKEwj3y4ryh-ePAxVHUGwGHT1TGhYQxccNegQIHRAB&amp;mstk=AUtExfB7ZansEIQjgxbHow0hCbWpnAwmiZvIDLzk9n9na0tnyH3x9916wuarXseGUwdQgYNK33nkL83S11WB_gQ2fTkwAVLa5vncOu5O2XWzrqmZQ57CZ_4kCa88Xh824IuLujjeSxGSrvJHth9bLWMCI_onEGvZz1NvJv6dkyL4TkUilcI&amp;csui=3" TargetMode="External"/><Relationship Id="rId1" Type="http://schemas.openxmlformats.org/officeDocument/2006/relationships/slideLayout" Target="../slideLayouts/slideLayout2.xml"/><Relationship Id="rId6" Type="http://schemas.openxmlformats.org/officeDocument/2006/relationships/hyperlink" Target="https://www.google.com/search?sca_esv=f04038ad81816743&amp;sxsrf=AE3TifMP-MZcWSp-yXaf8kImh-3lSc8KEA%3A1758361729282&amp;q=isolation&amp;sa=X&amp;ved=2ahUKEwj3y4ryh-ePAxVHUGwGHT1TGhYQxccNegQIHhAD&amp;mstk=AUtExfB7ZansEIQjgxbHow0hCbWpnAwmiZvIDLzk9n9na0tnyH3x9916wuarXseGUwdQgYNK33nkL83S11WB_gQ2fTkwAVLa5vncOu5O2XWzrqmZQ57CZ_4kCa88Xh824IuLujjeSxGSrvJHth9bLWMCI_onEGvZz1NvJv6dkyL4TkUilcI&amp;csui=3" TargetMode="External"/><Relationship Id="rId5" Type="http://schemas.openxmlformats.org/officeDocument/2006/relationships/hyperlink" Target="https://www.google.com/search?sca_esv=f04038ad81816743&amp;sxsrf=AE3TifMP-MZcWSp-yXaf8kImh-3lSc8KEA%3A1758361729282&amp;q=consistency&amp;sa=X&amp;ved=2ahUKEwj3y4ryh-ePAxVHUGwGHT1TGhYQxccNegQIHhAC&amp;mstk=AUtExfB7ZansEIQjgxbHow0hCbWpnAwmiZvIDLzk9n9na0tnyH3x9916wuarXseGUwdQgYNK33nkL83S11WB_gQ2fTkwAVLa5vncOu5O2XWzrqmZQ57CZ_4kCa88Xh824IuLujjeSxGSrvJHth9bLWMCI_onEGvZz1NvJv6dkyL4TkUilcI&amp;csui=3" TargetMode="External"/><Relationship Id="rId4" Type="http://schemas.openxmlformats.org/officeDocument/2006/relationships/hyperlink" Target="https://www.google.com/search?sca_esv=f04038ad81816743&amp;sxsrf=AE3TifMP-MZcWSp-yXaf8kImh-3lSc8KEA%3A1758361729282&amp;q=atomicity&amp;sa=X&amp;ved=2ahUKEwj3y4ryh-ePAxVHUGwGHT1TGhYQxccNegQIHhAB&amp;mstk=AUtExfB7ZansEIQjgxbHow0hCbWpnAwmiZvIDLzk9n9na0tnyH3x9916wuarXseGUwdQgYNK33nkL83S11WB_gQ2fTkwAVLa5vncOu5O2XWzrqmZQ57CZ_4kCa88Xh824IuLujjeSxGSrvJHth9bLWMCI_onEGvZz1NvJv6dkyL4TkUilcI&amp;csui=3"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s://www.gatevidyalay.com/topological-sort-topological-sorting/" TargetMode="External"/><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UNIT 3:</a:t>
            </a:r>
            <a:br>
              <a:rPr lang="en-US" dirty="0"/>
            </a:br>
            <a:r>
              <a:rPr lang="en-US" dirty="0"/>
              <a:t>Transaction Processing &amp; Concurrency Control</a:t>
            </a:r>
            <a:br>
              <a:rPr lang="en-US" dirty="0"/>
            </a:br>
            <a:endParaRPr lang="en-US" dirty="0"/>
          </a:p>
        </p:txBody>
      </p:sp>
      <p:sp>
        <p:nvSpPr>
          <p:cNvPr id="3" name="Slide Number Placeholder 2">
            <a:extLst>
              <a:ext uri="{FF2B5EF4-FFF2-40B4-BE49-F238E27FC236}">
                <a16:creationId xmlns:a16="http://schemas.microsoft.com/office/drawing/2014/main" id="{CA0AB414-AEED-F749-8D9B-D6D4E70A7271}"/>
              </a:ext>
            </a:extLst>
          </p:cNvPr>
          <p:cNvSpPr>
            <a:spLocks noGrp="1"/>
          </p:cNvSpPr>
          <p:nvPr>
            <p:ph type="sldNum" sz="quarter" idx="12"/>
          </p:nvPr>
        </p:nvSpPr>
        <p:spPr/>
        <p:txBody>
          <a:bodyPr/>
          <a:lstStyle/>
          <a:p>
            <a:fld id="{9BED7385-1A27-4338-8D43-B2B3002AB878}" type="slidenum">
              <a:rPr lang="en-US" smtClean="0"/>
              <a:t>1</a:t>
            </a:fld>
            <a:endParaRPr lang="en-US"/>
          </a:p>
        </p:txBody>
      </p:sp>
    </p:spTree>
    <p:extLst>
      <p:ext uri="{BB962C8B-B14F-4D97-AF65-F5344CB8AC3E}">
        <p14:creationId xmlns:p14="http://schemas.microsoft.com/office/powerpoint/2010/main" val="394156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30E12-9585-AE3E-4989-FF7E06392C40}"/>
              </a:ext>
            </a:extLst>
          </p:cNvPr>
          <p:cNvSpPr>
            <a:spLocks noGrp="1"/>
          </p:cNvSpPr>
          <p:nvPr>
            <p:ph type="title"/>
          </p:nvPr>
        </p:nvSpPr>
        <p:spPr>
          <a:xfrm>
            <a:off x="838200" y="365126"/>
            <a:ext cx="10515600" cy="628788"/>
          </a:xfrm>
        </p:spPr>
        <p:txBody>
          <a:bodyPr>
            <a:normAutofit fontScale="90000"/>
          </a:bodyPr>
          <a:lstStyle/>
          <a:p>
            <a:r>
              <a:rPr lang="en-IN" dirty="0"/>
              <a:t>Transaction processing</a:t>
            </a:r>
          </a:p>
        </p:txBody>
      </p:sp>
      <p:sp>
        <p:nvSpPr>
          <p:cNvPr id="3" name="Content Placeholder 2">
            <a:extLst>
              <a:ext uri="{FF2B5EF4-FFF2-40B4-BE49-F238E27FC236}">
                <a16:creationId xmlns:a16="http://schemas.microsoft.com/office/drawing/2014/main" id="{1BDB6C55-1EED-29EA-BA3C-E1300A6EC814}"/>
              </a:ext>
            </a:extLst>
          </p:cNvPr>
          <p:cNvSpPr>
            <a:spLocks noGrp="1"/>
          </p:cNvSpPr>
          <p:nvPr>
            <p:ph idx="1"/>
          </p:nvPr>
        </p:nvSpPr>
        <p:spPr>
          <a:xfrm>
            <a:off x="838200" y="1143000"/>
            <a:ext cx="10515600" cy="5033963"/>
          </a:xfrm>
        </p:spPr>
        <p:txBody>
          <a:bodyPr/>
          <a:lstStyle/>
          <a:p>
            <a:pPr algn="just"/>
            <a:r>
              <a:rPr lang="en-IN" dirty="0"/>
              <a:t>Transaction processing in a </a:t>
            </a:r>
            <a:r>
              <a:rPr lang="en-IN" u="sng" dirty="0">
                <a:hlinkClick r:id="rId2"/>
              </a:rPr>
              <a:t>Database Management System</a:t>
            </a:r>
            <a:r>
              <a:rPr lang="en-IN" dirty="0"/>
              <a:t> (DBMS) ensures data integrity by treating a series of database operations as a single, indivisible unit, either fully completing or failing entirely, a concept known as the </a:t>
            </a:r>
            <a:r>
              <a:rPr lang="en-IN" u="sng" dirty="0">
                <a:hlinkClick r:id="rId3"/>
              </a:rPr>
              <a:t>ACID properties</a:t>
            </a:r>
            <a:r>
              <a:rPr lang="en-IN" dirty="0"/>
              <a:t>. </a:t>
            </a:r>
          </a:p>
          <a:p>
            <a:pPr algn="just"/>
            <a:r>
              <a:rPr lang="en-IN" dirty="0"/>
              <a:t>Key to this are </a:t>
            </a:r>
            <a:r>
              <a:rPr lang="en-IN" u="sng" dirty="0">
                <a:hlinkClick r:id="rId4"/>
              </a:rPr>
              <a:t>atomicity</a:t>
            </a:r>
            <a:r>
              <a:rPr lang="en-IN" dirty="0"/>
              <a:t>, which ensures all operations succeed or none do, </a:t>
            </a:r>
            <a:r>
              <a:rPr lang="en-IN" u="sng" dirty="0">
                <a:hlinkClick r:id="rId5"/>
              </a:rPr>
              <a:t>consistency</a:t>
            </a:r>
            <a:r>
              <a:rPr lang="en-IN" dirty="0"/>
              <a:t>, which maintains data validity, </a:t>
            </a:r>
            <a:r>
              <a:rPr lang="en-IN" u="sng" dirty="0">
                <a:hlinkClick r:id="rId6"/>
              </a:rPr>
              <a:t>isolation</a:t>
            </a:r>
            <a:r>
              <a:rPr lang="en-IN" dirty="0"/>
              <a:t>, preventing concurrent transactions from interfering with each other, and </a:t>
            </a:r>
            <a:r>
              <a:rPr lang="en-IN" u="sng" dirty="0">
                <a:hlinkClick r:id="rId7"/>
              </a:rPr>
              <a:t>durability</a:t>
            </a:r>
            <a:r>
              <a:rPr lang="en-IN" dirty="0"/>
              <a:t>, which makes committed changes permanent.  </a:t>
            </a:r>
          </a:p>
          <a:p>
            <a:pPr algn="just"/>
            <a:endParaRPr lang="en-IN" dirty="0"/>
          </a:p>
        </p:txBody>
      </p:sp>
      <p:sp>
        <p:nvSpPr>
          <p:cNvPr id="4" name="Slide Number Placeholder 3">
            <a:extLst>
              <a:ext uri="{FF2B5EF4-FFF2-40B4-BE49-F238E27FC236}">
                <a16:creationId xmlns:a16="http://schemas.microsoft.com/office/drawing/2014/main" id="{15C0E144-E6F0-FCED-B36A-F4BD6345E75C}"/>
              </a:ext>
            </a:extLst>
          </p:cNvPr>
          <p:cNvSpPr>
            <a:spLocks noGrp="1"/>
          </p:cNvSpPr>
          <p:nvPr>
            <p:ph type="sldNum" sz="quarter" idx="12"/>
          </p:nvPr>
        </p:nvSpPr>
        <p:spPr/>
        <p:txBody>
          <a:bodyPr/>
          <a:lstStyle/>
          <a:p>
            <a:fld id="{9BED7385-1A27-4338-8D43-B2B3002AB878}" type="slidenum">
              <a:rPr lang="en-US" smtClean="0"/>
              <a:t>2</a:t>
            </a:fld>
            <a:endParaRPr lang="en-US"/>
          </a:p>
        </p:txBody>
      </p:sp>
    </p:spTree>
    <p:extLst>
      <p:ext uri="{BB962C8B-B14F-4D97-AF65-F5344CB8AC3E}">
        <p14:creationId xmlns:p14="http://schemas.microsoft.com/office/powerpoint/2010/main" val="3611634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3432C8-99A3-61D0-59BD-43C608D4102F}"/>
              </a:ext>
            </a:extLst>
          </p:cNvPr>
          <p:cNvSpPr>
            <a:spLocks noGrp="1"/>
          </p:cNvSpPr>
          <p:nvPr>
            <p:ph idx="1"/>
          </p:nvPr>
        </p:nvSpPr>
        <p:spPr>
          <a:xfrm>
            <a:off x="838200" y="765313"/>
            <a:ext cx="10515600" cy="5411650"/>
          </a:xfrm>
        </p:spPr>
        <p:txBody>
          <a:bodyPr/>
          <a:lstStyle/>
          <a:p>
            <a:pPr algn="just"/>
            <a:r>
              <a:rPr lang="en-IN" dirty="0"/>
              <a:t>What is a Transaction?</a:t>
            </a:r>
          </a:p>
          <a:p>
            <a:pPr lvl="0" algn="just"/>
            <a:r>
              <a:rPr lang="en-IN" dirty="0"/>
              <a:t>A transaction is a logical unit of work that involves one or more database operations, such as reading, inserting, updating, or deleting data. </a:t>
            </a:r>
          </a:p>
          <a:p>
            <a:pPr lvl="0" algn="just"/>
            <a:r>
              <a:rPr lang="en-IN" dirty="0"/>
              <a:t>For example, transferring money between bank accounts involves multiple steps: debiting one account, crediting another, and writing both new balances. </a:t>
            </a:r>
          </a:p>
          <a:p>
            <a:pPr lvl="0" algn="just"/>
            <a:r>
              <a:rPr lang="en-IN" dirty="0"/>
              <a:t>These operations are grouped into a single transaction to ensure data remains consistent, even if the system crashes during execution. </a:t>
            </a:r>
          </a:p>
          <a:p>
            <a:pPr algn="just"/>
            <a:r>
              <a:rPr lang="en-US" altLang="en-US" dirty="0"/>
              <a:t>A transaction (set of operations) may be stand-alone specified in a high level language like SQL submitted interactively, or may be embedded within a program.</a:t>
            </a:r>
          </a:p>
          <a:p>
            <a:pPr lvl="0" algn="just"/>
            <a:endParaRPr lang="en-IN" dirty="0"/>
          </a:p>
          <a:p>
            <a:pPr algn="just"/>
            <a:endParaRPr lang="en-IN" dirty="0"/>
          </a:p>
        </p:txBody>
      </p:sp>
      <p:sp>
        <p:nvSpPr>
          <p:cNvPr id="4" name="Slide Number Placeholder 3">
            <a:extLst>
              <a:ext uri="{FF2B5EF4-FFF2-40B4-BE49-F238E27FC236}">
                <a16:creationId xmlns:a16="http://schemas.microsoft.com/office/drawing/2014/main" id="{DD6D9669-AB62-9EA2-D025-F9F3B256F205}"/>
              </a:ext>
            </a:extLst>
          </p:cNvPr>
          <p:cNvSpPr>
            <a:spLocks noGrp="1"/>
          </p:cNvSpPr>
          <p:nvPr>
            <p:ph type="sldNum" sz="quarter" idx="12"/>
          </p:nvPr>
        </p:nvSpPr>
        <p:spPr/>
        <p:txBody>
          <a:bodyPr/>
          <a:lstStyle/>
          <a:p>
            <a:fld id="{9BED7385-1A27-4338-8D43-B2B3002AB878}" type="slidenum">
              <a:rPr lang="en-US" smtClean="0"/>
              <a:t>3</a:t>
            </a:fld>
            <a:endParaRPr lang="en-US"/>
          </a:p>
        </p:txBody>
      </p:sp>
    </p:spTree>
    <p:extLst>
      <p:ext uri="{BB962C8B-B14F-4D97-AF65-F5344CB8AC3E}">
        <p14:creationId xmlns:p14="http://schemas.microsoft.com/office/powerpoint/2010/main" val="2145349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B9F9B0-D6D9-E18A-D690-8B78C12E505A}"/>
              </a:ext>
            </a:extLst>
          </p:cNvPr>
          <p:cNvSpPr>
            <a:spLocks noGrp="1"/>
          </p:cNvSpPr>
          <p:nvPr>
            <p:ph idx="1"/>
          </p:nvPr>
        </p:nvSpPr>
        <p:spPr>
          <a:xfrm>
            <a:off x="838200" y="566530"/>
            <a:ext cx="10515600" cy="5610433"/>
          </a:xfrm>
        </p:spPr>
        <p:txBody>
          <a:bodyPr>
            <a:normAutofit fontScale="85000" lnSpcReduction="20000"/>
          </a:bodyPr>
          <a:lstStyle/>
          <a:p>
            <a:pPr algn="just"/>
            <a:r>
              <a:rPr lang="en-IN" dirty="0"/>
              <a:t>The ACID Properties</a:t>
            </a:r>
          </a:p>
          <a:p>
            <a:pPr algn="just"/>
            <a:r>
              <a:rPr lang="en-IN" dirty="0"/>
              <a:t>To maintain data integrity, every transaction in a DBMS must adhere to the ACID properties: </a:t>
            </a:r>
          </a:p>
          <a:p>
            <a:pPr lvl="0" algn="just"/>
            <a:r>
              <a:rPr lang="en-IN" b="1" dirty="0"/>
              <a:t>Atomicity:</a:t>
            </a:r>
            <a:r>
              <a:rPr lang="en-IN" dirty="0"/>
              <a:t> </a:t>
            </a:r>
          </a:p>
          <a:p>
            <a:pPr algn="just"/>
            <a:r>
              <a:rPr lang="en-IN" dirty="0"/>
              <a:t>Either all operations within a transaction complete successfully, or none of them do. There's no partially completed state. </a:t>
            </a:r>
          </a:p>
          <a:p>
            <a:pPr lvl="0" algn="just"/>
            <a:r>
              <a:rPr lang="en-IN" b="1" dirty="0"/>
              <a:t>Consistency:</a:t>
            </a:r>
            <a:r>
              <a:rPr lang="en-IN" dirty="0"/>
              <a:t> </a:t>
            </a:r>
          </a:p>
          <a:p>
            <a:pPr algn="just"/>
            <a:r>
              <a:rPr lang="en-IN" dirty="0"/>
              <a:t>A transaction must bring the database from one valid state to another valid state, ensuring all integrity constraints are met. </a:t>
            </a:r>
          </a:p>
          <a:p>
            <a:pPr lvl="0" algn="just"/>
            <a:r>
              <a:rPr lang="en-IN" b="1" dirty="0"/>
              <a:t>Isolation:</a:t>
            </a:r>
            <a:r>
              <a:rPr lang="en-IN" dirty="0"/>
              <a:t> </a:t>
            </a:r>
          </a:p>
          <a:p>
            <a:pPr algn="just"/>
            <a:r>
              <a:rPr lang="en-IN" dirty="0"/>
              <a:t>Concurrent transactions must not interfere with each other. The execution of one transaction should not affect the outcome of another running simultaneously. </a:t>
            </a:r>
          </a:p>
          <a:p>
            <a:pPr lvl="0" algn="just"/>
            <a:r>
              <a:rPr lang="en-IN" b="1" dirty="0"/>
              <a:t>Durability:</a:t>
            </a:r>
            <a:r>
              <a:rPr lang="en-IN" dirty="0"/>
              <a:t> </a:t>
            </a:r>
          </a:p>
          <a:p>
            <a:pPr algn="just"/>
            <a:r>
              <a:rPr lang="en-IN" dirty="0"/>
              <a:t>Once a transaction is committed, its changes are permanent and will survive any subsequent system failures. </a:t>
            </a:r>
          </a:p>
          <a:p>
            <a:pPr marL="0" indent="0" algn="just">
              <a:buNone/>
            </a:pPr>
            <a:endParaRPr lang="en-IN" dirty="0"/>
          </a:p>
        </p:txBody>
      </p:sp>
      <p:sp>
        <p:nvSpPr>
          <p:cNvPr id="4" name="Slide Number Placeholder 3">
            <a:extLst>
              <a:ext uri="{FF2B5EF4-FFF2-40B4-BE49-F238E27FC236}">
                <a16:creationId xmlns:a16="http://schemas.microsoft.com/office/drawing/2014/main" id="{EEAB5558-E8CD-F7B6-940B-84BCB5A2BE11}"/>
              </a:ext>
            </a:extLst>
          </p:cNvPr>
          <p:cNvSpPr>
            <a:spLocks noGrp="1"/>
          </p:cNvSpPr>
          <p:nvPr>
            <p:ph type="sldNum" sz="quarter" idx="12"/>
          </p:nvPr>
        </p:nvSpPr>
        <p:spPr/>
        <p:txBody>
          <a:bodyPr/>
          <a:lstStyle/>
          <a:p>
            <a:fld id="{9BED7385-1A27-4338-8D43-B2B3002AB878}" type="slidenum">
              <a:rPr lang="en-US" smtClean="0"/>
              <a:t>4</a:t>
            </a:fld>
            <a:endParaRPr lang="en-US"/>
          </a:p>
        </p:txBody>
      </p:sp>
    </p:spTree>
    <p:extLst>
      <p:ext uri="{BB962C8B-B14F-4D97-AF65-F5344CB8AC3E}">
        <p14:creationId xmlns:p14="http://schemas.microsoft.com/office/powerpoint/2010/main" val="4042370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FE1D56-77FD-93CE-E54C-E75C598628D8}"/>
              </a:ext>
            </a:extLst>
          </p:cNvPr>
          <p:cNvSpPr>
            <a:spLocks noGrp="1"/>
          </p:cNvSpPr>
          <p:nvPr>
            <p:ph idx="1"/>
          </p:nvPr>
        </p:nvSpPr>
        <p:spPr>
          <a:xfrm>
            <a:off x="838200" y="715617"/>
            <a:ext cx="10515600" cy="5461346"/>
          </a:xfrm>
        </p:spPr>
        <p:txBody>
          <a:bodyPr>
            <a:normAutofit fontScale="92500" lnSpcReduction="10000"/>
          </a:bodyPr>
          <a:lstStyle/>
          <a:p>
            <a:pPr algn="just"/>
            <a:r>
              <a:rPr lang="en-IN" dirty="0"/>
              <a:t>How DBMS Supports Transaction Processing</a:t>
            </a:r>
          </a:p>
          <a:p>
            <a:pPr algn="just"/>
            <a:r>
              <a:rPr lang="en-IN" dirty="0"/>
              <a:t>DBMS uses various techniques to manage transactions: </a:t>
            </a:r>
          </a:p>
          <a:p>
            <a:pPr lvl="0" algn="just"/>
            <a:r>
              <a:rPr lang="en-IN" b="1" dirty="0"/>
              <a:t>Logging and Recovery:</a:t>
            </a:r>
            <a:r>
              <a:rPr lang="en-IN" dirty="0"/>
              <a:t> </a:t>
            </a:r>
          </a:p>
          <a:p>
            <a:pPr algn="just"/>
            <a:r>
              <a:rPr lang="en-IN" dirty="0"/>
              <a:t>The DBMS maintains a log of all transaction operations. If a system failure occurs, this log is used to undo incomplete transactions or re apply committed ones, ensuring durability. </a:t>
            </a:r>
          </a:p>
          <a:p>
            <a:pPr lvl="0" algn="just"/>
            <a:r>
              <a:rPr lang="en-IN" b="1" dirty="0"/>
              <a:t>Concurrency Control:</a:t>
            </a:r>
            <a:r>
              <a:rPr lang="en-IN" dirty="0"/>
              <a:t> </a:t>
            </a:r>
          </a:p>
          <a:p>
            <a:pPr algn="just"/>
            <a:r>
              <a:rPr lang="en-IN" dirty="0"/>
              <a:t>Mechanisms like locking prevent multiple transactions from accessing and modifying the same data simultaneously, thus maintaining isolation and preventing data corruption. </a:t>
            </a:r>
          </a:p>
          <a:p>
            <a:pPr lvl="0" algn="just"/>
            <a:r>
              <a:rPr lang="en-IN" b="1" dirty="0"/>
              <a:t>Transaction Boundaries:</a:t>
            </a:r>
            <a:r>
              <a:rPr lang="en-IN" dirty="0"/>
              <a:t> </a:t>
            </a:r>
          </a:p>
          <a:p>
            <a:pPr algn="just"/>
            <a:r>
              <a:rPr lang="en-IN" dirty="0"/>
              <a:t>Transactions are explicitly defined within application programs by using begin transaction and end transaction statements to delineate the start and end of a logical unit of work. </a:t>
            </a:r>
          </a:p>
          <a:p>
            <a:pPr algn="just"/>
            <a:endParaRPr lang="en-IN" dirty="0"/>
          </a:p>
        </p:txBody>
      </p:sp>
      <p:sp>
        <p:nvSpPr>
          <p:cNvPr id="4" name="Slide Number Placeholder 3">
            <a:extLst>
              <a:ext uri="{FF2B5EF4-FFF2-40B4-BE49-F238E27FC236}">
                <a16:creationId xmlns:a16="http://schemas.microsoft.com/office/drawing/2014/main" id="{19E6CE9F-D3B5-CE79-1063-27DE201C56D5}"/>
              </a:ext>
            </a:extLst>
          </p:cNvPr>
          <p:cNvSpPr>
            <a:spLocks noGrp="1"/>
          </p:cNvSpPr>
          <p:nvPr>
            <p:ph type="sldNum" sz="quarter" idx="12"/>
          </p:nvPr>
        </p:nvSpPr>
        <p:spPr/>
        <p:txBody>
          <a:bodyPr/>
          <a:lstStyle/>
          <a:p>
            <a:fld id="{9BED7385-1A27-4338-8D43-B2B3002AB878}" type="slidenum">
              <a:rPr lang="en-US" smtClean="0"/>
              <a:t>5</a:t>
            </a:fld>
            <a:endParaRPr lang="en-US"/>
          </a:p>
        </p:txBody>
      </p:sp>
    </p:spTree>
    <p:extLst>
      <p:ext uri="{BB962C8B-B14F-4D97-AF65-F5344CB8AC3E}">
        <p14:creationId xmlns:p14="http://schemas.microsoft.com/office/powerpoint/2010/main" val="1487748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title"/>
          </p:nvPr>
        </p:nvSpPr>
        <p:spPr/>
        <p:txBody>
          <a:bodyPr/>
          <a:lstStyle/>
          <a:p>
            <a:pPr eaLnBrk="1" hangingPunct="1"/>
            <a:r>
              <a:rPr lang="en-US" altLang="en-US" dirty="0"/>
              <a:t> Transaction Processing</a:t>
            </a:r>
          </a:p>
        </p:txBody>
      </p:sp>
      <p:sp>
        <p:nvSpPr>
          <p:cNvPr id="11267" name="Rectangle 5"/>
          <p:cNvSpPr>
            <a:spLocks noGrp="1" noChangeArrowheads="1"/>
          </p:cNvSpPr>
          <p:nvPr>
            <p:ph type="body" idx="1"/>
          </p:nvPr>
        </p:nvSpPr>
        <p:spPr/>
        <p:txBody>
          <a:bodyPr/>
          <a:lstStyle/>
          <a:p>
            <a:pPr eaLnBrk="1" hangingPunct="1">
              <a:lnSpc>
                <a:spcPct val="80000"/>
              </a:lnSpc>
            </a:pPr>
            <a:r>
              <a:rPr lang="en-US" altLang="en-US" b="1" dirty="0"/>
              <a:t>Single-User System</a:t>
            </a:r>
            <a:r>
              <a:rPr lang="en-US" altLang="en-US" dirty="0"/>
              <a:t>:</a:t>
            </a:r>
          </a:p>
          <a:p>
            <a:pPr lvl="1" eaLnBrk="1" hangingPunct="1">
              <a:lnSpc>
                <a:spcPct val="80000"/>
              </a:lnSpc>
            </a:pPr>
            <a:r>
              <a:rPr lang="en-US" altLang="en-US" dirty="0"/>
              <a:t>At most one user at a time can use the system. </a:t>
            </a:r>
          </a:p>
          <a:p>
            <a:pPr eaLnBrk="1" hangingPunct="1">
              <a:lnSpc>
                <a:spcPct val="80000"/>
              </a:lnSpc>
            </a:pPr>
            <a:r>
              <a:rPr lang="en-US" altLang="en-US" b="1" dirty="0"/>
              <a:t>Multiuser System</a:t>
            </a:r>
            <a:r>
              <a:rPr lang="en-US" altLang="en-US" dirty="0"/>
              <a:t>:</a:t>
            </a:r>
          </a:p>
          <a:p>
            <a:pPr lvl="1" eaLnBrk="1" hangingPunct="1">
              <a:lnSpc>
                <a:spcPct val="80000"/>
              </a:lnSpc>
            </a:pPr>
            <a:r>
              <a:rPr lang="en-US" altLang="en-US" dirty="0"/>
              <a:t>Many users can access the system concurrently.</a:t>
            </a:r>
          </a:p>
          <a:p>
            <a:pPr eaLnBrk="1" hangingPunct="1">
              <a:lnSpc>
                <a:spcPct val="80000"/>
              </a:lnSpc>
            </a:pPr>
            <a:r>
              <a:rPr lang="en-US" altLang="en-US" b="1" dirty="0"/>
              <a:t>Concurrency</a:t>
            </a:r>
          </a:p>
          <a:p>
            <a:pPr lvl="1" eaLnBrk="1" hangingPunct="1">
              <a:lnSpc>
                <a:spcPct val="80000"/>
              </a:lnSpc>
            </a:pPr>
            <a:r>
              <a:rPr lang="en-US" altLang="en-US" b="1" dirty="0"/>
              <a:t>Interleaved processing</a:t>
            </a:r>
            <a:r>
              <a:rPr lang="en-US" altLang="en-US" dirty="0"/>
              <a:t>:</a:t>
            </a:r>
          </a:p>
          <a:p>
            <a:pPr lvl="2" eaLnBrk="1" hangingPunct="1">
              <a:lnSpc>
                <a:spcPct val="80000"/>
              </a:lnSpc>
            </a:pPr>
            <a:r>
              <a:rPr lang="en-US" altLang="en-US" dirty="0"/>
              <a:t>Concurrent execution of processes is interleaved in a single CPU</a:t>
            </a:r>
          </a:p>
          <a:p>
            <a:pPr lvl="1" eaLnBrk="1" hangingPunct="1">
              <a:lnSpc>
                <a:spcPct val="80000"/>
              </a:lnSpc>
            </a:pPr>
            <a:r>
              <a:rPr lang="en-US" altLang="en-US" b="1" dirty="0"/>
              <a:t>Parallel processing</a:t>
            </a:r>
            <a:r>
              <a:rPr lang="en-US" altLang="en-US" dirty="0"/>
              <a:t>:</a:t>
            </a:r>
          </a:p>
          <a:p>
            <a:pPr lvl="2" eaLnBrk="1" hangingPunct="1">
              <a:lnSpc>
                <a:spcPct val="80000"/>
              </a:lnSpc>
            </a:pPr>
            <a:r>
              <a:rPr lang="en-US" altLang="en-US" dirty="0"/>
              <a:t>Processes are concurrently executed in multiple CPUs. </a:t>
            </a:r>
          </a:p>
        </p:txBody>
      </p:sp>
      <p:sp>
        <p:nvSpPr>
          <p:cNvPr id="2" name="Slide Number Placeholder 1">
            <a:extLst>
              <a:ext uri="{FF2B5EF4-FFF2-40B4-BE49-F238E27FC236}">
                <a16:creationId xmlns:a16="http://schemas.microsoft.com/office/drawing/2014/main" id="{936AC2AF-240F-CC3A-FDE6-B4F79F87B1F0}"/>
              </a:ext>
            </a:extLst>
          </p:cNvPr>
          <p:cNvSpPr>
            <a:spLocks noGrp="1"/>
          </p:cNvSpPr>
          <p:nvPr>
            <p:ph type="sldNum" sz="quarter" idx="12"/>
          </p:nvPr>
        </p:nvSpPr>
        <p:spPr/>
        <p:txBody>
          <a:bodyPr/>
          <a:lstStyle/>
          <a:p>
            <a:fld id="{9BED7385-1A27-4338-8D43-B2B3002AB878}" type="slidenum">
              <a:rPr lang="en-US" smtClean="0"/>
              <a:t>6</a:t>
            </a:fld>
            <a:endParaRPr lang="en-US"/>
          </a:p>
        </p:txBody>
      </p:sp>
    </p:spTree>
    <p:extLst>
      <p:ext uri="{BB962C8B-B14F-4D97-AF65-F5344CB8AC3E}">
        <p14:creationId xmlns:p14="http://schemas.microsoft.com/office/powerpoint/2010/main" val="2626241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5"/>
          <p:cNvSpPr>
            <a:spLocks noGrp="1" noChangeArrowheads="1"/>
          </p:cNvSpPr>
          <p:nvPr>
            <p:ph type="body" idx="1"/>
          </p:nvPr>
        </p:nvSpPr>
        <p:spPr>
          <a:xfrm>
            <a:off x="838200" y="924339"/>
            <a:ext cx="10515600" cy="5252624"/>
          </a:xfrm>
        </p:spPr>
        <p:txBody>
          <a:bodyPr/>
          <a:lstStyle/>
          <a:p>
            <a:pPr eaLnBrk="1" hangingPunct="1">
              <a:lnSpc>
                <a:spcPct val="90000"/>
              </a:lnSpc>
              <a:buFont typeface="Wingdings" panose="05000000000000000000" pitchFamily="2" charset="2"/>
              <a:buNone/>
            </a:pPr>
            <a:r>
              <a:rPr lang="en-US" altLang="en-US" sz="2400" dirty="0"/>
              <a:t>SIMPLE MODEL OF A DATABASE (for purposes of discussing transactions):</a:t>
            </a:r>
          </a:p>
          <a:p>
            <a:pPr eaLnBrk="1" hangingPunct="1">
              <a:lnSpc>
                <a:spcPct val="90000"/>
              </a:lnSpc>
            </a:pPr>
            <a:r>
              <a:rPr lang="en-US" altLang="en-US" sz="2400" b="1" dirty="0"/>
              <a:t>A database</a:t>
            </a:r>
            <a:r>
              <a:rPr lang="en-US" altLang="en-US" sz="2400" dirty="0"/>
              <a:t> is a collection of named data items</a:t>
            </a:r>
          </a:p>
          <a:p>
            <a:pPr eaLnBrk="1" hangingPunct="1">
              <a:lnSpc>
                <a:spcPct val="90000"/>
              </a:lnSpc>
            </a:pPr>
            <a:r>
              <a:rPr lang="en-US" altLang="en-US" sz="2400" b="1" dirty="0"/>
              <a:t>Granularity</a:t>
            </a:r>
            <a:r>
              <a:rPr lang="en-US" altLang="en-US" sz="2400" dirty="0"/>
              <a:t> of data - a field, a record , or a whole disk block (Concepts are independent of granularity)</a:t>
            </a:r>
          </a:p>
          <a:p>
            <a:pPr eaLnBrk="1" hangingPunct="1">
              <a:lnSpc>
                <a:spcPct val="90000"/>
              </a:lnSpc>
            </a:pPr>
            <a:r>
              <a:rPr lang="en-US" altLang="en-US" sz="2400" dirty="0"/>
              <a:t>Basic operations are </a:t>
            </a:r>
            <a:r>
              <a:rPr lang="en-US" altLang="en-US" sz="2400" b="1" dirty="0"/>
              <a:t>read</a:t>
            </a:r>
            <a:r>
              <a:rPr lang="en-US" altLang="en-US" sz="2400" dirty="0"/>
              <a:t> and </a:t>
            </a:r>
            <a:r>
              <a:rPr lang="en-US" altLang="en-US" sz="2400" b="1" dirty="0"/>
              <a:t>write</a:t>
            </a:r>
          </a:p>
          <a:p>
            <a:pPr lvl="1" eaLnBrk="1" hangingPunct="1">
              <a:lnSpc>
                <a:spcPct val="90000"/>
              </a:lnSpc>
            </a:pPr>
            <a:r>
              <a:rPr lang="en-US" altLang="en-US" b="1" dirty="0" err="1"/>
              <a:t>read_item</a:t>
            </a:r>
            <a:r>
              <a:rPr lang="en-US" altLang="en-US" b="1" dirty="0"/>
              <a:t>(X</a:t>
            </a:r>
            <a:r>
              <a:rPr lang="en-US" altLang="en-US" dirty="0"/>
              <a:t>): Reads a database item named X into a program variable. To simplify our notation, we assume that the program variable is also named X.</a:t>
            </a:r>
          </a:p>
          <a:p>
            <a:pPr lvl="1" eaLnBrk="1" hangingPunct="1">
              <a:lnSpc>
                <a:spcPct val="90000"/>
              </a:lnSpc>
            </a:pPr>
            <a:r>
              <a:rPr lang="en-US" altLang="en-US" b="1" dirty="0" err="1"/>
              <a:t>write_item</a:t>
            </a:r>
            <a:r>
              <a:rPr lang="en-US" altLang="en-US" b="1" dirty="0"/>
              <a:t>(X</a:t>
            </a:r>
            <a:r>
              <a:rPr lang="en-US" altLang="en-US" dirty="0"/>
              <a:t>): Writes the value of program variable X into the database item named X.</a:t>
            </a:r>
          </a:p>
        </p:txBody>
      </p:sp>
      <p:sp>
        <p:nvSpPr>
          <p:cNvPr id="2" name="Slide Number Placeholder 1">
            <a:extLst>
              <a:ext uri="{FF2B5EF4-FFF2-40B4-BE49-F238E27FC236}">
                <a16:creationId xmlns:a16="http://schemas.microsoft.com/office/drawing/2014/main" id="{A1576294-3890-4BD3-B8AF-4793CBC2B4F4}"/>
              </a:ext>
            </a:extLst>
          </p:cNvPr>
          <p:cNvSpPr>
            <a:spLocks noGrp="1"/>
          </p:cNvSpPr>
          <p:nvPr>
            <p:ph type="sldNum" sz="quarter" idx="12"/>
          </p:nvPr>
        </p:nvSpPr>
        <p:spPr/>
        <p:txBody>
          <a:bodyPr/>
          <a:lstStyle/>
          <a:p>
            <a:fld id="{9BED7385-1A27-4338-8D43-B2B3002AB878}" type="slidenum">
              <a:rPr lang="en-US" smtClean="0"/>
              <a:t>7</a:t>
            </a:fld>
            <a:endParaRPr lang="en-US"/>
          </a:p>
        </p:txBody>
      </p:sp>
    </p:spTree>
    <p:extLst>
      <p:ext uri="{BB962C8B-B14F-4D97-AF65-F5344CB8AC3E}">
        <p14:creationId xmlns:p14="http://schemas.microsoft.com/office/powerpoint/2010/main" val="2890202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5"/>
          <p:cNvSpPr>
            <a:spLocks noGrp="1" noChangeArrowheads="1"/>
          </p:cNvSpPr>
          <p:nvPr>
            <p:ph type="body" idx="1"/>
          </p:nvPr>
        </p:nvSpPr>
        <p:spPr>
          <a:xfrm>
            <a:off x="838200" y="708338"/>
            <a:ext cx="10515600" cy="5468625"/>
          </a:xfrm>
        </p:spPr>
        <p:txBody>
          <a:bodyPr>
            <a:normAutofit/>
          </a:bodyPr>
          <a:lstStyle/>
          <a:p>
            <a:pPr algn="just" eaLnBrk="1" hangingPunct="1">
              <a:lnSpc>
                <a:spcPct val="80000"/>
              </a:lnSpc>
              <a:buFont typeface="Wingdings" panose="05000000000000000000" pitchFamily="2" charset="2"/>
              <a:buNone/>
            </a:pPr>
            <a:r>
              <a:rPr lang="en-US" altLang="en-US" dirty="0"/>
              <a:t>READ AND WRITE OPERATIONS:</a:t>
            </a:r>
          </a:p>
          <a:p>
            <a:pPr algn="just" eaLnBrk="1" hangingPunct="1">
              <a:lnSpc>
                <a:spcPct val="80000"/>
              </a:lnSpc>
            </a:pPr>
            <a:r>
              <a:rPr lang="en-US" altLang="en-US" dirty="0"/>
              <a:t>Basic unit of data transfer from the disk to the computer main memory is one block. In general, a data item (what is read or written) will be the field of some record in the database, although it may be a larger unit such as a record or even a whole block.</a:t>
            </a:r>
          </a:p>
          <a:p>
            <a:pPr algn="just" eaLnBrk="1" hangingPunct="1">
              <a:lnSpc>
                <a:spcPct val="80000"/>
              </a:lnSpc>
            </a:pPr>
            <a:r>
              <a:rPr lang="en-US" altLang="en-US" dirty="0" err="1"/>
              <a:t>read_item</a:t>
            </a:r>
            <a:r>
              <a:rPr lang="en-US" altLang="en-US" dirty="0"/>
              <a:t>(X) command includes the following steps:</a:t>
            </a:r>
          </a:p>
          <a:p>
            <a:pPr lvl="1" algn="just" eaLnBrk="1" hangingPunct="1">
              <a:lnSpc>
                <a:spcPct val="80000"/>
              </a:lnSpc>
            </a:pPr>
            <a:r>
              <a:rPr lang="en-US" altLang="en-US" dirty="0"/>
              <a:t>Find the address of the disk block that contains item X.</a:t>
            </a:r>
          </a:p>
          <a:p>
            <a:pPr lvl="1" algn="just" eaLnBrk="1" hangingPunct="1">
              <a:lnSpc>
                <a:spcPct val="80000"/>
              </a:lnSpc>
            </a:pPr>
            <a:r>
              <a:rPr lang="en-US" altLang="en-US" dirty="0"/>
              <a:t>Copy that disk block into a buffer in main memory (if that disk block is not already in some main memory buffer).</a:t>
            </a:r>
          </a:p>
          <a:p>
            <a:pPr lvl="1" algn="just" eaLnBrk="1" hangingPunct="1">
              <a:lnSpc>
                <a:spcPct val="80000"/>
              </a:lnSpc>
            </a:pPr>
            <a:r>
              <a:rPr lang="en-US" altLang="en-US" dirty="0"/>
              <a:t>Copy item X from the buffer to the program variable named X.   </a:t>
            </a:r>
          </a:p>
        </p:txBody>
      </p:sp>
      <p:sp>
        <p:nvSpPr>
          <p:cNvPr id="2" name="Slide Number Placeholder 1">
            <a:extLst>
              <a:ext uri="{FF2B5EF4-FFF2-40B4-BE49-F238E27FC236}">
                <a16:creationId xmlns:a16="http://schemas.microsoft.com/office/drawing/2014/main" id="{7930D962-D435-A5AD-2480-6A1338404EDD}"/>
              </a:ext>
            </a:extLst>
          </p:cNvPr>
          <p:cNvSpPr>
            <a:spLocks noGrp="1"/>
          </p:cNvSpPr>
          <p:nvPr>
            <p:ph type="sldNum" sz="quarter" idx="12"/>
          </p:nvPr>
        </p:nvSpPr>
        <p:spPr/>
        <p:txBody>
          <a:bodyPr/>
          <a:lstStyle/>
          <a:p>
            <a:fld id="{9BED7385-1A27-4338-8D43-B2B3002AB878}" type="slidenum">
              <a:rPr lang="en-US" smtClean="0"/>
              <a:t>8</a:t>
            </a:fld>
            <a:endParaRPr lang="en-US"/>
          </a:p>
        </p:txBody>
      </p:sp>
    </p:spTree>
    <p:extLst>
      <p:ext uri="{BB962C8B-B14F-4D97-AF65-F5344CB8AC3E}">
        <p14:creationId xmlns:p14="http://schemas.microsoft.com/office/powerpoint/2010/main" val="4294036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5"/>
          <p:cNvSpPr>
            <a:spLocks noGrp="1" noChangeArrowheads="1"/>
          </p:cNvSpPr>
          <p:nvPr>
            <p:ph type="body" idx="1"/>
          </p:nvPr>
        </p:nvSpPr>
        <p:spPr>
          <a:xfrm>
            <a:off x="838200" y="721217"/>
            <a:ext cx="10515600" cy="5455746"/>
          </a:xfrm>
        </p:spPr>
        <p:txBody>
          <a:bodyPr>
            <a:normAutofit/>
          </a:bodyPr>
          <a:lstStyle/>
          <a:p>
            <a:pPr eaLnBrk="1" hangingPunct="1">
              <a:lnSpc>
                <a:spcPct val="80000"/>
              </a:lnSpc>
              <a:buFont typeface="Wingdings" panose="05000000000000000000" pitchFamily="2" charset="2"/>
              <a:buNone/>
            </a:pPr>
            <a:r>
              <a:rPr lang="en-US" altLang="en-US" dirty="0"/>
              <a:t>READ AND WRITE OPERATIONS (contd.):</a:t>
            </a:r>
          </a:p>
          <a:p>
            <a:pPr eaLnBrk="1" hangingPunct="1">
              <a:lnSpc>
                <a:spcPct val="80000"/>
              </a:lnSpc>
            </a:pPr>
            <a:r>
              <a:rPr lang="en-US" altLang="en-US" b="1" dirty="0" err="1"/>
              <a:t>write_item</a:t>
            </a:r>
            <a:r>
              <a:rPr lang="en-US" altLang="en-US" b="1" dirty="0"/>
              <a:t>(X</a:t>
            </a:r>
            <a:r>
              <a:rPr lang="en-US" altLang="en-US" dirty="0"/>
              <a:t>) command includes the following steps:</a:t>
            </a:r>
          </a:p>
          <a:p>
            <a:pPr lvl="1" eaLnBrk="1" hangingPunct="1">
              <a:lnSpc>
                <a:spcPct val="80000"/>
              </a:lnSpc>
            </a:pPr>
            <a:r>
              <a:rPr lang="en-US" altLang="en-US" dirty="0"/>
              <a:t>Find the address of the disk block that contains item X.</a:t>
            </a:r>
          </a:p>
          <a:p>
            <a:pPr lvl="1" eaLnBrk="1" hangingPunct="1">
              <a:lnSpc>
                <a:spcPct val="80000"/>
              </a:lnSpc>
            </a:pPr>
            <a:r>
              <a:rPr lang="en-US" altLang="en-US" dirty="0"/>
              <a:t>Copy that disk block into a buffer in main memory (if that disk block is not already in some main memory buffer).</a:t>
            </a:r>
          </a:p>
          <a:p>
            <a:pPr lvl="1" eaLnBrk="1" hangingPunct="1">
              <a:lnSpc>
                <a:spcPct val="80000"/>
              </a:lnSpc>
            </a:pPr>
            <a:r>
              <a:rPr lang="en-US" altLang="en-US" dirty="0"/>
              <a:t>Copy item X from the program variable named X into its correct location in the buffer.</a:t>
            </a:r>
          </a:p>
          <a:p>
            <a:pPr lvl="1" eaLnBrk="1" hangingPunct="1">
              <a:lnSpc>
                <a:spcPct val="80000"/>
              </a:lnSpc>
            </a:pPr>
            <a:r>
              <a:rPr lang="en-US" altLang="en-US" dirty="0"/>
              <a:t>Store the updated block from the buffer back to disk (either immediately or at some later point in time). </a:t>
            </a:r>
          </a:p>
        </p:txBody>
      </p:sp>
      <p:sp>
        <p:nvSpPr>
          <p:cNvPr id="2" name="Slide Number Placeholder 1">
            <a:extLst>
              <a:ext uri="{FF2B5EF4-FFF2-40B4-BE49-F238E27FC236}">
                <a16:creationId xmlns:a16="http://schemas.microsoft.com/office/drawing/2014/main" id="{46079BB2-889F-6CEA-AFCD-A5AA0B674B46}"/>
              </a:ext>
            </a:extLst>
          </p:cNvPr>
          <p:cNvSpPr>
            <a:spLocks noGrp="1"/>
          </p:cNvSpPr>
          <p:nvPr>
            <p:ph type="sldNum" sz="quarter" idx="12"/>
          </p:nvPr>
        </p:nvSpPr>
        <p:spPr/>
        <p:txBody>
          <a:bodyPr/>
          <a:lstStyle/>
          <a:p>
            <a:fld id="{9BED7385-1A27-4338-8D43-B2B3002AB878}" type="slidenum">
              <a:rPr lang="en-US" smtClean="0"/>
              <a:t>9</a:t>
            </a:fld>
            <a:endParaRPr lang="en-US"/>
          </a:p>
        </p:txBody>
      </p:sp>
    </p:spTree>
    <p:extLst>
      <p:ext uri="{BB962C8B-B14F-4D97-AF65-F5344CB8AC3E}">
        <p14:creationId xmlns:p14="http://schemas.microsoft.com/office/powerpoint/2010/main" val="3588367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291BD9CB-D1D2-4CD3-8062-04098A455B11}" type="slidenum">
              <a:rPr lang="en-US" altLang="en-US" sz="1400">
                <a:solidFill>
                  <a:srgbClr val="990033"/>
                </a:solidFill>
              </a:rPr>
              <a:pPr>
                <a:spcBef>
                  <a:spcPct val="0"/>
                </a:spcBef>
                <a:buClrTx/>
                <a:buSzTx/>
                <a:buFontTx/>
                <a:buNone/>
              </a:pPr>
              <a:t>10</a:t>
            </a:fld>
            <a:endParaRPr lang="en-CA" altLang="en-US" sz="1400">
              <a:solidFill>
                <a:srgbClr val="990033"/>
              </a:solidFill>
            </a:endParaRPr>
          </a:p>
        </p:txBody>
      </p:sp>
      <p:sp>
        <p:nvSpPr>
          <p:cNvPr id="21507" name="Rectangle 5"/>
          <p:cNvSpPr>
            <a:spLocks noGrp="1" noChangeArrowheads="1"/>
          </p:cNvSpPr>
          <p:nvPr>
            <p:ph type="title"/>
          </p:nvPr>
        </p:nvSpPr>
        <p:spPr/>
        <p:txBody>
          <a:bodyPr/>
          <a:lstStyle/>
          <a:p>
            <a:pPr eaLnBrk="1" hangingPunct="1"/>
            <a:r>
              <a:rPr lang="en-US" altLang="en-US"/>
              <a:t>Two sample transactions</a:t>
            </a:r>
          </a:p>
        </p:txBody>
      </p:sp>
      <p:sp>
        <p:nvSpPr>
          <p:cNvPr id="21508" name="Rectangle 6"/>
          <p:cNvSpPr>
            <a:spLocks noGrp="1" noChangeArrowheads="1"/>
          </p:cNvSpPr>
          <p:nvPr>
            <p:ph type="body" idx="1"/>
          </p:nvPr>
        </p:nvSpPr>
        <p:spPr>
          <a:xfrm>
            <a:off x="1763714" y="1600200"/>
            <a:ext cx="8294687" cy="1295400"/>
          </a:xfrm>
        </p:spPr>
        <p:txBody>
          <a:bodyPr/>
          <a:lstStyle/>
          <a:p>
            <a:pPr eaLnBrk="1" hangingPunct="1">
              <a:lnSpc>
                <a:spcPct val="80000"/>
              </a:lnSpc>
            </a:pPr>
            <a:r>
              <a:rPr lang="en-US" altLang="en-US" dirty="0"/>
              <a:t>FIGURE : Two sample transactions:</a:t>
            </a:r>
          </a:p>
          <a:p>
            <a:pPr lvl="1" eaLnBrk="1" hangingPunct="1">
              <a:lnSpc>
                <a:spcPct val="80000"/>
              </a:lnSpc>
            </a:pPr>
            <a:r>
              <a:rPr lang="en-US" altLang="en-US" dirty="0"/>
              <a:t>(a) Transaction T1</a:t>
            </a:r>
          </a:p>
          <a:p>
            <a:pPr lvl="1" eaLnBrk="1" hangingPunct="1">
              <a:lnSpc>
                <a:spcPct val="80000"/>
              </a:lnSpc>
            </a:pPr>
            <a:r>
              <a:rPr lang="en-US" altLang="en-US" dirty="0"/>
              <a:t>(b) Transaction T2</a:t>
            </a:r>
          </a:p>
        </p:txBody>
      </p:sp>
      <p:pic>
        <p:nvPicPr>
          <p:cNvPr id="21509" name="Picture 3"/>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1763714" y="2819401"/>
            <a:ext cx="8294687" cy="3667125"/>
          </a:xfrm>
        </p:spPr>
      </p:pic>
    </p:spTree>
    <p:extLst>
      <p:ext uri="{BB962C8B-B14F-4D97-AF65-F5344CB8AC3E}">
        <p14:creationId xmlns:p14="http://schemas.microsoft.com/office/powerpoint/2010/main" val="2612046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4"/>
          <p:cNvSpPr>
            <a:spLocks noGrp="1" noChangeArrowheads="1"/>
          </p:cNvSpPr>
          <p:nvPr>
            <p:ph type="title"/>
          </p:nvPr>
        </p:nvSpPr>
        <p:spPr/>
        <p:txBody>
          <a:bodyPr/>
          <a:lstStyle/>
          <a:p>
            <a:pPr eaLnBrk="1" hangingPunct="1"/>
            <a:r>
              <a:rPr lang="en-US" altLang="en-US" sz="3200"/>
              <a:t>2 Transaction and System Concepts (1)</a:t>
            </a:r>
          </a:p>
        </p:txBody>
      </p:sp>
      <p:sp>
        <p:nvSpPr>
          <p:cNvPr id="23556" name="Rectangle 5"/>
          <p:cNvSpPr>
            <a:spLocks noGrp="1" noChangeArrowheads="1"/>
          </p:cNvSpPr>
          <p:nvPr>
            <p:ph type="body" idx="1"/>
          </p:nvPr>
        </p:nvSpPr>
        <p:spPr/>
        <p:txBody>
          <a:bodyPr>
            <a:normAutofit lnSpcReduction="10000"/>
          </a:bodyPr>
          <a:lstStyle/>
          <a:p>
            <a:pPr algn="just">
              <a:lnSpc>
                <a:spcPct val="80000"/>
              </a:lnSpc>
            </a:pPr>
            <a:r>
              <a:rPr lang="en-US" altLang="en-US" dirty="0"/>
              <a:t>A </a:t>
            </a:r>
            <a:r>
              <a:rPr lang="en-US" altLang="en-US" b="1" dirty="0">
                <a:solidFill>
                  <a:srgbClr val="000099"/>
                </a:solidFill>
              </a:rPr>
              <a:t>transaction</a:t>
            </a:r>
            <a:r>
              <a:rPr lang="en-US" altLang="en-US" i="1" dirty="0"/>
              <a:t> </a:t>
            </a:r>
            <a:r>
              <a:rPr lang="en-US" altLang="en-US" dirty="0"/>
              <a:t>is a </a:t>
            </a:r>
            <a:r>
              <a:rPr lang="en-US" altLang="en-US" i="1" dirty="0"/>
              <a:t>unit </a:t>
            </a:r>
            <a:r>
              <a:rPr lang="en-US" altLang="en-US" dirty="0"/>
              <a:t>of program execution that accesses and  possibly updates various data items.</a:t>
            </a:r>
          </a:p>
          <a:p>
            <a:pPr marL="0" indent="0" algn="just" eaLnBrk="1" hangingPunct="1">
              <a:lnSpc>
                <a:spcPct val="80000"/>
              </a:lnSpc>
              <a:buNone/>
            </a:pPr>
            <a:r>
              <a:rPr lang="en-US" altLang="en-US" dirty="0"/>
              <a:t> </a:t>
            </a:r>
          </a:p>
          <a:p>
            <a:pPr lvl="1" algn="just" eaLnBrk="1" hangingPunct="1">
              <a:lnSpc>
                <a:spcPct val="80000"/>
              </a:lnSpc>
            </a:pPr>
            <a:r>
              <a:rPr lang="en-US" altLang="en-US" sz="2800" dirty="0"/>
              <a:t>For recovery purposes, the system needs to keep track of when the transaction starts, terminates, and commits or aborts.</a:t>
            </a:r>
          </a:p>
          <a:p>
            <a:pPr algn="just" eaLnBrk="1" hangingPunct="1">
              <a:lnSpc>
                <a:spcPct val="80000"/>
              </a:lnSpc>
            </a:pPr>
            <a:r>
              <a:rPr lang="en-US" altLang="en-US" b="1" dirty="0"/>
              <a:t>Transaction</a:t>
            </a:r>
            <a:r>
              <a:rPr lang="en-US" altLang="en-US" dirty="0"/>
              <a:t> </a:t>
            </a:r>
            <a:r>
              <a:rPr lang="en-US" altLang="en-US" b="1" dirty="0"/>
              <a:t>states</a:t>
            </a:r>
            <a:r>
              <a:rPr lang="en-US" altLang="en-US" dirty="0"/>
              <a:t>:</a:t>
            </a:r>
          </a:p>
          <a:p>
            <a:pPr lvl="1" algn="just" eaLnBrk="1" hangingPunct="1">
              <a:lnSpc>
                <a:spcPct val="80000"/>
              </a:lnSpc>
            </a:pPr>
            <a:r>
              <a:rPr lang="en-US" altLang="en-US" sz="2800" dirty="0"/>
              <a:t>Active state</a:t>
            </a:r>
          </a:p>
          <a:p>
            <a:pPr lvl="1" algn="just" eaLnBrk="1" hangingPunct="1">
              <a:lnSpc>
                <a:spcPct val="80000"/>
              </a:lnSpc>
            </a:pPr>
            <a:r>
              <a:rPr lang="en-US" altLang="en-US" sz="2800" dirty="0"/>
              <a:t>Partially committed state</a:t>
            </a:r>
          </a:p>
          <a:p>
            <a:pPr lvl="1" algn="just" eaLnBrk="1" hangingPunct="1">
              <a:lnSpc>
                <a:spcPct val="80000"/>
              </a:lnSpc>
            </a:pPr>
            <a:r>
              <a:rPr lang="en-US" altLang="en-US" sz="2800" dirty="0"/>
              <a:t>Committed state</a:t>
            </a:r>
          </a:p>
          <a:p>
            <a:pPr lvl="1" algn="just" eaLnBrk="1" hangingPunct="1">
              <a:lnSpc>
                <a:spcPct val="80000"/>
              </a:lnSpc>
            </a:pPr>
            <a:r>
              <a:rPr lang="en-US" altLang="en-US" sz="2800" dirty="0"/>
              <a:t>Failed state</a:t>
            </a:r>
          </a:p>
          <a:p>
            <a:pPr lvl="1" algn="just" eaLnBrk="1" hangingPunct="1">
              <a:lnSpc>
                <a:spcPct val="80000"/>
              </a:lnSpc>
            </a:pPr>
            <a:r>
              <a:rPr lang="en-US" altLang="en-US" sz="2800" dirty="0"/>
              <a:t>Terminated State </a:t>
            </a:r>
          </a:p>
        </p:txBody>
      </p:sp>
      <p:sp>
        <p:nvSpPr>
          <p:cNvPr id="2" name="Slide Number Placeholder 1">
            <a:extLst>
              <a:ext uri="{FF2B5EF4-FFF2-40B4-BE49-F238E27FC236}">
                <a16:creationId xmlns:a16="http://schemas.microsoft.com/office/drawing/2014/main" id="{7D23B05E-03CE-FB48-DA52-F3DA7123A00A}"/>
              </a:ext>
            </a:extLst>
          </p:cNvPr>
          <p:cNvSpPr>
            <a:spLocks noGrp="1"/>
          </p:cNvSpPr>
          <p:nvPr>
            <p:ph type="sldNum" sz="quarter" idx="12"/>
          </p:nvPr>
        </p:nvSpPr>
        <p:spPr/>
        <p:txBody>
          <a:bodyPr/>
          <a:lstStyle/>
          <a:p>
            <a:fld id="{9BED7385-1A27-4338-8D43-B2B3002AB878}" type="slidenum">
              <a:rPr lang="en-US" smtClean="0"/>
              <a:t>11</a:t>
            </a:fld>
            <a:endParaRPr lang="en-US"/>
          </a:p>
        </p:txBody>
      </p:sp>
    </p:spTree>
    <p:extLst>
      <p:ext uri="{BB962C8B-B14F-4D97-AF65-F5344CB8AC3E}">
        <p14:creationId xmlns:p14="http://schemas.microsoft.com/office/powerpoint/2010/main" val="2495173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5"/>
          <p:cNvSpPr>
            <a:spLocks noGrp="1" noChangeArrowheads="1"/>
          </p:cNvSpPr>
          <p:nvPr>
            <p:ph type="body" idx="1"/>
          </p:nvPr>
        </p:nvSpPr>
        <p:spPr>
          <a:xfrm>
            <a:off x="838200" y="953037"/>
            <a:ext cx="10515600" cy="5223926"/>
          </a:xfrm>
        </p:spPr>
        <p:txBody>
          <a:bodyPr>
            <a:noAutofit/>
          </a:bodyPr>
          <a:lstStyle/>
          <a:p>
            <a:pPr algn="just" eaLnBrk="1" hangingPunct="1">
              <a:lnSpc>
                <a:spcPct val="80000"/>
              </a:lnSpc>
            </a:pPr>
            <a:r>
              <a:rPr lang="en-US" altLang="en-US" sz="3200" dirty="0"/>
              <a:t>Recovery manager keeps track of the following operations:</a:t>
            </a:r>
          </a:p>
          <a:p>
            <a:pPr lvl="1" algn="just" eaLnBrk="1" hangingPunct="1">
              <a:lnSpc>
                <a:spcPct val="80000"/>
              </a:lnSpc>
            </a:pPr>
            <a:r>
              <a:rPr lang="en-US" altLang="en-US" sz="2800" b="1" dirty="0" err="1"/>
              <a:t>begin_transaction</a:t>
            </a:r>
            <a:r>
              <a:rPr lang="en-US" altLang="en-US" sz="2800" dirty="0"/>
              <a:t>: This marks the beginning of transaction execution.</a:t>
            </a:r>
          </a:p>
          <a:p>
            <a:pPr lvl="1" algn="just" eaLnBrk="1" hangingPunct="1">
              <a:lnSpc>
                <a:spcPct val="80000"/>
              </a:lnSpc>
            </a:pPr>
            <a:r>
              <a:rPr lang="en-US" altLang="en-US" sz="2800" b="1" dirty="0"/>
              <a:t>read</a:t>
            </a:r>
            <a:r>
              <a:rPr lang="en-US" altLang="en-US" sz="2800" dirty="0"/>
              <a:t> or </a:t>
            </a:r>
            <a:r>
              <a:rPr lang="en-US" altLang="en-US" sz="2800" b="1" dirty="0"/>
              <a:t>write</a:t>
            </a:r>
            <a:r>
              <a:rPr lang="en-US" altLang="en-US" sz="2800" dirty="0"/>
              <a:t>: These specify read or write operations on the database items that are executed as part of a transaction.</a:t>
            </a:r>
          </a:p>
          <a:p>
            <a:pPr lvl="1" algn="just" eaLnBrk="1" hangingPunct="1">
              <a:lnSpc>
                <a:spcPct val="80000"/>
              </a:lnSpc>
            </a:pPr>
            <a:r>
              <a:rPr lang="en-US" altLang="en-US" sz="2800" b="1" dirty="0" err="1"/>
              <a:t>end_transaction</a:t>
            </a:r>
            <a:r>
              <a:rPr lang="en-US" altLang="en-US" sz="2800" dirty="0"/>
              <a:t>: This specifies that read and write transaction operations have ended and marks the end limit of transaction execution.</a:t>
            </a:r>
          </a:p>
          <a:p>
            <a:pPr lvl="2" algn="just" eaLnBrk="1" hangingPunct="1">
              <a:lnSpc>
                <a:spcPct val="80000"/>
              </a:lnSpc>
            </a:pPr>
            <a:r>
              <a:rPr lang="en-US" altLang="en-US" sz="2800" dirty="0"/>
              <a:t>At this point it may be necessary to check whether the changes introduced by the transaction can be permanently applied to the database or whether the transaction has to be aborted because it violates concurrency control or for some other reason.</a:t>
            </a:r>
          </a:p>
        </p:txBody>
      </p:sp>
      <p:sp>
        <p:nvSpPr>
          <p:cNvPr id="2" name="Slide Number Placeholder 1">
            <a:extLst>
              <a:ext uri="{FF2B5EF4-FFF2-40B4-BE49-F238E27FC236}">
                <a16:creationId xmlns:a16="http://schemas.microsoft.com/office/drawing/2014/main" id="{C15D26CB-2982-80B3-90E3-6758C54B652D}"/>
              </a:ext>
            </a:extLst>
          </p:cNvPr>
          <p:cNvSpPr>
            <a:spLocks noGrp="1"/>
          </p:cNvSpPr>
          <p:nvPr>
            <p:ph type="sldNum" sz="quarter" idx="12"/>
          </p:nvPr>
        </p:nvSpPr>
        <p:spPr/>
        <p:txBody>
          <a:bodyPr/>
          <a:lstStyle/>
          <a:p>
            <a:fld id="{9BED7385-1A27-4338-8D43-B2B3002AB878}" type="slidenum">
              <a:rPr lang="en-US" smtClean="0"/>
              <a:t>12</a:t>
            </a:fld>
            <a:endParaRPr lang="en-US"/>
          </a:p>
        </p:txBody>
      </p:sp>
    </p:spTree>
    <p:extLst>
      <p:ext uri="{BB962C8B-B14F-4D97-AF65-F5344CB8AC3E}">
        <p14:creationId xmlns:p14="http://schemas.microsoft.com/office/powerpoint/2010/main" val="3590887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5"/>
          <p:cNvSpPr>
            <a:spLocks noGrp="1" noChangeArrowheads="1"/>
          </p:cNvSpPr>
          <p:nvPr>
            <p:ph type="body" idx="1"/>
          </p:nvPr>
        </p:nvSpPr>
        <p:spPr>
          <a:xfrm>
            <a:off x="838200" y="347730"/>
            <a:ext cx="10817180" cy="5829233"/>
          </a:xfrm>
        </p:spPr>
        <p:txBody>
          <a:bodyPr>
            <a:normAutofit/>
          </a:bodyPr>
          <a:lstStyle/>
          <a:p>
            <a:pPr algn="just" eaLnBrk="1" hangingPunct="1"/>
            <a:r>
              <a:rPr lang="en-US" altLang="en-US" sz="3200" dirty="0"/>
              <a:t>Recovery manager keeps track of the following operations (</a:t>
            </a:r>
            <a:r>
              <a:rPr lang="en-US" altLang="en-US" sz="3200" dirty="0" err="1"/>
              <a:t>cont</a:t>
            </a:r>
            <a:r>
              <a:rPr lang="en-US" altLang="en-US" sz="3200" dirty="0"/>
              <a:t>):</a:t>
            </a:r>
          </a:p>
          <a:p>
            <a:pPr lvl="1" algn="just" eaLnBrk="1" hangingPunct="1"/>
            <a:r>
              <a:rPr lang="en-US" altLang="en-US" sz="2800" b="1" dirty="0" err="1"/>
              <a:t>commit_transaction</a:t>
            </a:r>
            <a:r>
              <a:rPr lang="en-US" altLang="en-US" sz="2800" dirty="0"/>
              <a:t>: This signals a successful end of the transaction so that any changes (updates) executed by the transaction can be safely committed to the database and will not be undone.</a:t>
            </a:r>
          </a:p>
          <a:p>
            <a:pPr marL="457200" lvl="1" indent="0" algn="just" eaLnBrk="1" hangingPunct="1">
              <a:buNone/>
            </a:pPr>
            <a:endParaRPr lang="en-US" altLang="en-US" sz="2800" dirty="0"/>
          </a:p>
          <a:p>
            <a:pPr lvl="1" algn="just" eaLnBrk="1" hangingPunct="1"/>
            <a:r>
              <a:rPr lang="en-US" altLang="en-US" sz="2800" b="1" dirty="0"/>
              <a:t>rollback</a:t>
            </a:r>
            <a:r>
              <a:rPr lang="en-US" altLang="en-US" sz="2800" dirty="0"/>
              <a:t> (or </a:t>
            </a:r>
            <a:r>
              <a:rPr lang="en-US" altLang="en-US" sz="2800" b="1" dirty="0"/>
              <a:t>abort</a:t>
            </a:r>
            <a:r>
              <a:rPr lang="en-US" altLang="en-US" sz="2800" dirty="0"/>
              <a:t>): This signals that the transaction has ended unsuccessfully, so that any changes or effects that the transaction may have applied to the database must be undone.  </a:t>
            </a:r>
          </a:p>
        </p:txBody>
      </p:sp>
      <p:sp>
        <p:nvSpPr>
          <p:cNvPr id="2" name="Slide Number Placeholder 1">
            <a:extLst>
              <a:ext uri="{FF2B5EF4-FFF2-40B4-BE49-F238E27FC236}">
                <a16:creationId xmlns:a16="http://schemas.microsoft.com/office/drawing/2014/main" id="{DFFBE0A3-E4AC-7FBD-7202-D7C5FCE2ACD5}"/>
              </a:ext>
            </a:extLst>
          </p:cNvPr>
          <p:cNvSpPr>
            <a:spLocks noGrp="1"/>
          </p:cNvSpPr>
          <p:nvPr>
            <p:ph type="sldNum" sz="quarter" idx="12"/>
          </p:nvPr>
        </p:nvSpPr>
        <p:spPr/>
        <p:txBody>
          <a:bodyPr/>
          <a:lstStyle/>
          <a:p>
            <a:fld id="{9BED7385-1A27-4338-8D43-B2B3002AB878}" type="slidenum">
              <a:rPr lang="en-US" smtClean="0"/>
              <a:t>13</a:t>
            </a:fld>
            <a:endParaRPr lang="en-US"/>
          </a:p>
        </p:txBody>
      </p:sp>
    </p:spTree>
    <p:extLst>
      <p:ext uri="{BB962C8B-B14F-4D97-AF65-F5344CB8AC3E}">
        <p14:creationId xmlns:p14="http://schemas.microsoft.com/office/powerpoint/2010/main" val="3952623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4"/>
          <p:cNvSpPr>
            <a:spLocks noGrp="1" noChangeArrowheads="1"/>
          </p:cNvSpPr>
          <p:nvPr>
            <p:ph type="title"/>
          </p:nvPr>
        </p:nvSpPr>
        <p:spPr/>
        <p:txBody>
          <a:bodyPr/>
          <a:lstStyle/>
          <a:p>
            <a:pPr eaLnBrk="1" hangingPunct="1"/>
            <a:r>
              <a:rPr lang="en-US" altLang="en-US" sz="3200"/>
              <a:t>Transaction and System Concepts (4)</a:t>
            </a:r>
          </a:p>
        </p:txBody>
      </p:sp>
      <p:sp>
        <p:nvSpPr>
          <p:cNvPr id="29700" name="Rectangle 5"/>
          <p:cNvSpPr>
            <a:spLocks noGrp="1" noChangeArrowheads="1"/>
          </p:cNvSpPr>
          <p:nvPr>
            <p:ph type="body" idx="1"/>
          </p:nvPr>
        </p:nvSpPr>
        <p:spPr/>
        <p:txBody>
          <a:bodyPr>
            <a:normAutofit/>
          </a:bodyPr>
          <a:lstStyle/>
          <a:p>
            <a:pPr eaLnBrk="1" hangingPunct="1"/>
            <a:r>
              <a:rPr lang="en-US" altLang="en-US" sz="3200" dirty="0"/>
              <a:t>Recovery techniques use the following operators:</a:t>
            </a:r>
          </a:p>
          <a:p>
            <a:pPr lvl="1" eaLnBrk="1" hangingPunct="1"/>
            <a:r>
              <a:rPr lang="en-US" altLang="en-US" sz="2800" b="1" dirty="0"/>
              <a:t>undo</a:t>
            </a:r>
            <a:r>
              <a:rPr lang="en-US" altLang="en-US" sz="2800" dirty="0"/>
              <a:t>: Similar to rollback except that it applies to a single operation rather than to a whole transaction.</a:t>
            </a:r>
          </a:p>
          <a:p>
            <a:pPr lvl="1" eaLnBrk="1" hangingPunct="1"/>
            <a:r>
              <a:rPr lang="en-US" altLang="en-US" sz="2800" b="1" dirty="0"/>
              <a:t>redo</a:t>
            </a:r>
            <a:r>
              <a:rPr lang="en-US" altLang="en-US" sz="2800" dirty="0"/>
              <a:t>: This specifies that certain </a:t>
            </a:r>
            <a:r>
              <a:rPr lang="en-US" altLang="en-US" sz="2800" i="1" dirty="0"/>
              <a:t>transaction</a:t>
            </a:r>
            <a:r>
              <a:rPr lang="en-US" altLang="en-US" sz="2800" dirty="0"/>
              <a:t> </a:t>
            </a:r>
            <a:r>
              <a:rPr lang="en-US" altLang="en-US" sz="2800" i="1" dirty="0"/>
              <a:t>operations</a:t>
            </a:r>
            <a:r>
              <a:rPr lang="en-US" altLang="en-US" sz="2800" dirty="0"/>
              <a:t> must be </a:t>
            </a:r>
            <a:r>
              <a:rPr lang="en-US" altLang="en-US" sz="2800" i="1" dirty="0"/>
              <a:t>redone</a:t>
            </a:r>
            <a:r>
              <a:rPr lang="en-US" altLang="en-US" sz="2800" dirty="0"/>
              <a:t> to ensure that all the operations of a committed transaction have been applied successfully to the database. </a:t>
            </a:r>
          </a:p>
        </p:txBody>
      </p:sp>
      <p:sp>
        <p:nvSpPr>
          <p:cNvPr id="2" name="Slide Number Placeholder 1">
            <a:extLst>
              <a:ext uri="{FF2B5EF4-FFF2-40B4-BE49-F238E27FC236}">
                <a16:creationId xmlns:a16="http://schemas.microsoft.com/office/drawing/2014/main" id="{6C2C6723-3EBF-FE7E-9E19-F201A73271E6}"/>
              </a:ext>
            </a:extLst>
          </p:cNvPr>
          <p:cNvSpPr>
            <a:spLocks noGrp="1"/>
          </p:cNvSpPr>
          <p:nvPr>
            <p:ph type="sldNum" sz="quarter" idx="12"/>
          </p:nvPr>
        </p:nvSpPr>
        <p:spPr/>
        <p:txBody>
          <a:bodyPr/>
          <a:lstStyle/>
          <a:p>
            <a:fld id="{9BED7385-1A27-4338-8D43-B2B3002AB878}" type="slidenum">
              <a:rPr lang="en-US" smtClean="0"/>
              <a:t>14</a:t>
            </a:fld>
            <a:endParaRPr lang="en-US"/>
          </a:p>
        </p:txBody>
      </p:sp>
    </p:spTree>
    <p:extLst>
      <p:ext uri="{BB962C8B-B14F-4D97-AF65-F5344CB8AC3E}">
        <p14:creationId xmlns:p14="http://schemas.microsoft.com/office/powerpoint/2010/main" val="1294286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5"/>
          <p:cNvSpPr>
            <a:spLocks noGrp="1" noChangeArrowheads="1"/>
          </p:cNvSpPr>
          <p:nvPr>
            <p:ph type="title"/>
          </p:nvPr>
        </p:nvSpPr>
        <p:spPr/>
        <p:txBody>
          <a:bodyPr/>
          <a:lstStyle/>
          <a:p>
            <a:pPr eaLnBrk="1" hangingPunct="1"/>
            <a:r>
              <a:rPr lang="en-US" altLang="en-US"/>
              <a:t>State transition diagram illustrating the states for transaction execution</a:t>
            </a:r>
            <a:endParaRPr lang="en-US" altLang="en-US">
              <a:sym typeface="Symbol" panose="05050102010706020507" pitchFamily="18" charset="2"/>
            </a:endParaRPr>
          </a:p>
        </p:txBody>
      </p:sp>
      <p:pic>
        <p:nvPicPr>
          <p:cNvPr id="31748" name="Picture 7" descr="fig17_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970468"/>
            <a:ext cx="8305800" cy="3683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C3C44947-768D-F2EA-C77A-404474EEC97A}"/>
              </a:ext>
            </a:extLst>
          </p:cNvPr>
          <p:cNvSpPr>
            <a:spLocks noGrp="1"/>
          </p:cNvSpPr>
          <p:nvPr>
            <p:ph type="sldNum" sz="quarter" idx="12"/>
          </p:nvPr>
        </p:nvSpPr>
        <p:spPr/>
        <p:txBody>
          <a:bodyPr/>
          <a:lstStyle/>
          <a:p>
            <a:fld id="{9BED7385-1A27-4338-8D43-B2B3002AB878}" type="slidenum">
              <a:rPr lang="en-US" smtClean="0"/>
              <a:t>15</a:t>
            </a:fld>
            <a:endParaRPr lang="en-US"/>
          </a:p>
        </p:txBody>
      </p:sp>
    </p:spTree>
    <p:extLst>
      <p:ext uri="{BB962C8B-B14F-4D97-AF65-F5344CB8AC3E}">
        <p14:creationId xmlns:p14="http://schemas.microsoft.com/office/powerpoint/2010/main" val="907384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18186"/>
            <a:ext cx="10515600" cy="5558777"/>
          </a:xfrm>
        </p:spPr>
        <p:txBody>
          <a:bodyPr/>
          <a:lstStyle/>
          <a:p>
            <a:endParaRPr lang="en-US" dirty="0"/>
          </a:p>
        </p:txBody>
      </p:sp>
      <p:sp>
        <p:nvSpPr>
          <p:cNvPr id="4" name="Rectangle 3"/>
          <p:cNvSpPr/>
          <p:nvPr/>
        </p:nvSpPr>
        <p:spPr>
          <a:xfrm>
            <a:off x="1892341" y="3272034"/>
            <a:ext cx="7788927" cy="597087"/>
          </a:xfrm>
          <a:prstGeom prst="rect">
            <a:avLst/>
          </a:prstGeom>
        </p:spPr>
        <p:txBody>
          <a:bodyPr wrap="none">
            <a:spAutoFit/>
          </a:bodyPr>
          <a:lstStyle/>
          <a:p>
            <a:pPr algn="ctr">
              <a:lnSpc>
                <a:spcPct val="80000"/>
              </a:lnSpc>
            </a:pPr>
            <a:r>
              <a:rPr lang="en-US" altLang="en-US" sz="4000" dirty="0"/>
              <a:t>Why Concurrency Control is needed:</a:t>
            </a:r>
          </a:p>
        </p:txBody>
      </p:sp>
      <p:sp>
        <p:nvSpPr>
          <p:cNvPr id="2" name="Slide Number Placeholder 1">
            <a:extLst>
              <a:ext uri="{FF2B5EF4-FFF2-40B4-BE49-F238E27FC236}">
                <a16:creationId xmlns:a16="http://schemas.microsoft.com/office/drawing/2014/main" id="{53010962-3586-69AF-00CC-ED6E0A3746D1}"/>
              </a:ext>
            </a:extLst>
          </p:cNvPr>
          <p:cNvSpPr>
            <a:spLocks noGrp="1"/>
          </p:cNvSpPr>
          <p:nvPr>
            <p:ph type="sldNum" sz="quarter" idx="12"/>
          </p:nvPr>
        </p:nvSpPr>
        <p:spPr/>
        <p:txBody>
          <a:bodyPr/>
          <a:lstStyle/>
          <a:p>
            <a:fld id="{9BED7385-1A27-4338-8D43-B2B3002AB878}" type="slidenum">
              <a:rPr lang="en-US" smtClean="0"/>
              <a:t>16</a:t>
            </a:fld>
            <a:endParaRPr lang="en-US"/>
          </a:p>
        </p:txBody>
      </p:sp>
    </p:spTree>
    <p:extLst>
      <p:ext uri="{BB962C8B-B14F-4D97-AF65-F5344CB8AC3E}">
        <p14:creationId xmlns:p14="http://schemas.microsoft.com/office/powerpoint/2010/main" val="9277606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a:xfrm>
            <a:off x="838200" y="-343212"/>
            <a:ext cx="10515600" cy="1325563"/>
          </a:xfrm>
        </p:spPr>
        <p:txBody>
          <a:bodyPr/>
          <a:lstStyle/>
          <a:p>
            <a:pPr>
              <a:defRPr/>
            </a:pPr>
            <a:r>
              <a:rPr lang="en-US" dirty="0">
                <a:effectLst>
                  <a:outerShdw blurRad="38100" dist="38100" dir="2700000" algn="tl">
                    <a:srgbClr val="C0C0C0"/>
                  </a:outerShdw>
                </a:effectLst>
              </a:rPr>
              <a:t>Concurrent Executions</a:t>
            </a:r>
          </a:p>
        </p:txBody>
      </p:sp>
      <p:sp>
        <p:nvSpPr>
          <p:cNvPr id="13315" name="Rectangle 3"/>
          <p:cNvSpPr>
            <a:spLocks noGrp="1" noChangeArrowheads="1"/>
          </p:cNvSpPr>
          <p:nvPr>
            <p:ph idx="1"/>
          </p:nvPr>
        </p:nvSpPr>
        <p:spPr>
          <a:xfrm>
            <a:off x="708338" y="1102497"/>
            <a:ext cx="10406129" cy="5367972"/>
          </a:xfrm>
        </p:spPr>
        <p:txBody>
          <a:bodyPr/>
          <a:lstStyle/>
          <a:p>
            <a:pPr algn="just"/>
            <a:r>
              <a:rPr lang="en-US" altLang="en-US" dirty="0"/>
              <a:t>Multiple transactions are allowed to run concurrently in the system.  Advantages are:</a:t>
            </a:r>
          </a:p>
          <a:p>
            <a:pPr lvl="1" algn="just"/>
            <a:r>
              <a:rPr lang="en-US" altLang="en-US" b="1" dirty="0"/>
              <a:t>Increased processor and disk utilization</a:t>
            </a:r>
            <a:r>
              <a:rPr lang="en-US" altLang="en-US" dirty="0"/>
              <a:t>, leading to better transaction </a:t>
            </a:r>
            <a:r>
              <a:rPr lang="en-US" altLang="en-US" i="1" dirty="0"/>
              <a:t>throughput</a:t>
            </a:r>
          </a:p>
          <a:p>
            <a:pPr lvl="2" algn="just"/>
            <a:r>
              <a:rPr lang="en-US" altLang="en-US" dirty="0"/>
              <a:t>E.g., one transaction can be using the CPU while another is reading from or writing to the disk</a:t>
            </a:r>
          </a:p>
          <a:p>
            <a:pPr lvl="1" algn="just"/>
            <a:r>
              <a:rPr lang="en-US" altLang="en-US" b="1" dirty="0"/>
              <a:t>Reduced average response time</a:t>
            </a:r>
            <a:r>
              <a:rPr lang="en-US" altLang="en-US" dirty="0"/>
              <a:t> for transactions: short transactions need not wait behind long ones.</a:t>
            </a:r>
          </a:p>
          <a:p>
            <a:pPr algn="just"/>
            <a:r>
              <a:rPr lang="en-US" altLang="en-US" b="1" dirty="0">
                <a:solidFill>
                  <a:srgbClr val="000099"/>
                </a:solidFill>
              </a:rPr>
              <a:t>Concurrency control schemes</a:t>
            </a:r>
            <a:r>
              <a:rPr lang="en-US" altLang="en-US" i="1" dirty="0"/>
              <a:t> </a:t>
            </a:r>
            <a:r>
              <a:rPr lang="en-US" altLang="en-US" dirty="0"/>
              <a:t>– mechanisms  to achieve isolation</a:t>
            </a:r>
          </a:p>
          <a:p>
            <a:pPr lvl="1" algn="just"/>
            <a:r>
              <a:rPr lang="en-US" altLang="en-US" dirty="0"/>
              <a:t>That is, to control the interaction among the concurrent transactions in order to prevent them from destroying the consistency of the database</a:t>
            </a:r>
          </a:p>
          <a:p>
            <a:pPr marL="857250" lvl="2" indent="0" algn="just">
              <a:buNone/>
            </a:pPr>
            <a:endParaRPr lang="en-US" altLang="en-US" dirty="0"/>
          </a:p>
        </p:txBody>
      </p:sp>
      <p:sp>
        <p:nvSpPr>
          <p:cNvPr id="2" name="Slide Number Placeholder 1">
            <a:extLst>
              <a:ext uri="{FF2B5EF4-FFF2-40B4-BE49-F238E27FC236}">
                <a16:creationId xmlns:a16="http://schemas.microsoft.com/office/drawing/2014/main" id="{5D8CD8F8-DD88-9EAF-ED97-0B88D6EDE685}"/>
              </a:ext>
            </a:extLst>
          </p:cNvPr>
          <p:cNvSpPr>
            <a:spLocks noGrp="1"/>
          </p:cNvSpPr>
          <p:nvPr>
            <p:ph type="sldNum" sz="quarter" idx="12"/>
          </p:nvPr>
        </p:nvSpPr>
        <p:spPr/>
        <p:txBody>
          <a:bodyPr/>
          <a:lstStyle/>
          <a:p>
            <a:fld id="{9BED7385-1A27-4338-8D43-B2B3002AB878}" type="slidenum">
              <a:rPr lang="en-US" smtClean="0"/>
              <a:t>17</a:t>
            </a:fld>
            <a:endParaRPr lang="en-US"/>
          </a:p>
        </p:txBody>
      </p:sp>
    </p:spTree>
    <p:extLst>
      <p:ext uri="{BB962C8B-B14F-4D97-AF65-F5344CB8AC3E}">
        <p14:creationId xmlns:p14="http://schemas.microsoft.com/office/powerpoint/2010/main" val="3952789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6366"/>
            <a:ext cx="10515600" cy="5790597"/>
          </a:xfrm>
        </p:spPr>
        <p:txBody>
          <a:bodyPr/>
          <a:lstStyle/>
          <a:p>
            <a:pPr algn="just"/>
            <a:r>
              <a:rPr lang="en-US" dirty="0"/>
              <a:t>In a </a:t>
            </a:r>
            <a:r>
              <a:rPr lang="en-US" b="1" dirty="0"/>
              <a:t>multi-user system</a:t>
            </a:r>
            <a:r>
              <a:rPr lang="en-US" dirty="0"/>
              <a:t>, </a:t>
            </a:r>
            <a:r>
              <a:rPr lang="en-US" dirty="0">
                <a:solidFill>
                  <a:srgbClr val="FF0000"/>
                </a:solidFill>
              </a:rPr>
              <a:t>multiple users can access and use the same database at one time, which is known as the concurrent execution of the database</a:t>
            </a:r>
            <a:r>
              <a:rPr lang="en-US" dirty="0"/>
              <a:t>. It means that the same database is executed simultaneously on a multi-user system by different users.</a:t>
            </a:r>
          </a:p>
          <a:p>
            <a:pPr algn="just"/>
            <a:r>
              <a:rPr lang="en-US" dirty="0"/>
              <a:t>While working on the database transactions, there occurs the requirement of using the database by multiple users for performing different operations, and in that case, concurrent execution of the database is performed.</a:t>
            </a:r>
          </a:p>
          <a:p>
            <a:pPr algn="just"/>
            <a:r>
              <a:rPr lang="en-US" dirty="0"/>
              <a:t>The thing is that the </a:t>
            </a:r>
            <a:r>
              <a:rPr lang="en-US" dirty="0">
                <a:solidFill>
                  <a:srgbClr val="FF0000"/>
                </a:solidFill>
              </a:rPr>
              <a:t>simultaneous execution that is performed should be done in an interleaved manner, and no operation should affect the other executing operations, thus maintaining the consistency of the database.</a:t>
            </a:r>
            <a:r>
              <a:rPr lang="en-US" dirty="0"/>
              <a:t> Thus, on making the concurrent execution of the transaction operations, there occur several challenging problems that need to be solved.</a:t>
            </a:r>
          </a:p>
          <a:p>
            <a:pPr algn="just"/>
            <a:endParaRPr lang="en-US" dirty="0"/>
          </a:p>
        </p:txBody>
      </p:sp>
      <p:sp>
        <p:nvSpPr>
          <p:cNvPr id="2" name="Slide Number Placeholder 1">
            <a:extLst>
              <a:ext uri="{FF2B5EF4-FFF2-40B4-BE49-F238E27FC236}">
                <a16:creationId xmlns:a16="http://schemas.microsoft.com/office/drawing/2014/main" id="{204ED861-9185-6B43-BAF8-6ACC6D492524}"/>
              </a:ext>
            </a:extLst>
          </p:cNvPr>
          <p:cNvSpPr>
            <a:spLocks noGrp="1"/>
          </p:cNvSpPr>
          <p:nvPr>
            <p:ph type="sldNum" sz="quarter" idx="12"/>
          </p:nvPr>
        </p:nvSpPr>
        <p:spPr/>
        <p:txBody>
          <a:bodyPr/>
          <a:lstStyle/>
          <a:p>
            <a:fld id="{9BED7385-1A27-4338-8D43-B2B3002AB878}" type="slidenum">
              <a:rPr lang="en-US" smtClean="0"/>
              <a:t>18</a:t>
            </a:fld>
            <a:endParaRPr lang="en-US"/>
          </a:p>
        </p:txBody>
      </p:sp>
    </p:spTree>
    <p:extLst>
      <p:ext uri="{BB962C8B-B14F-4D97-AF65-F5344CB8AC3E}">
        <p14:creationId xmlns:p14="http://schemas.microsoft.com/office/powerpoint/2010/main" val="4162439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46244"/>
          </a:xfrm>
        </p:spPr>
        <p:txBody>
          <a:bodyPr>
            <a:normAutofit fontScale="90000"/>
          </a:bodyPr>
          <a:lstStyle/>
          <a:p>
            <a:r>
              <a:rPr lang="en-US" dirty="0"/>
              <a:t>Problems with Concurrent Execution</a:t>
            </a:r>
            <a:br>
              <a:rPr lang="en-US" dirty="0"/>
            </a:br>
            <a:endParaRPr lang="en-US" dirty="0"/>
          </a:p>
        </p:txBody>
      </p:sp>
      <p:sp>
        <p:nvSpPr>
          <p:cNvPr id="3" name="Content Placeholder 2"/>
          <p:cNvSpPr>
            <a:spLocks noGrp="1"/>
          </p:cNvSpPr>
          <p:nvPr>
            <p:ph idx="1"/>
          </p:nvPr>
        </p:nvSpPr>
        <p:spPr>
          <a:xfrm>
            <a:off x="838199" y="940158"/>
            <a:ext cx="11036121" cy="5236805"/>
          </a:xfrm>
        </p:spPr>
        <p:txBody>
          <a:bodyPr/>
          <a:lstStyle/>
          <a:p>
            <a:pPr algn="just"/>
            <a:r>
              <a:rPr lang="en-US" dirty="0"/>
              <a:t>In a database transaction, the two main operations are </a:t>
            </a:r>
            <a:r>
              <a:rPr lang="en-US" b="1" dirty="0"/>
              <a:t>READ</a:t>
            </a:r>
            <a:r>
              <a:rPr lang="en-US" dirty="0"/>
              <a:t> and </a:t>
            </a:r>
            <a:r>
              <a:rPr lang="en-US" b="1" dirty="0"/>
              <a:t>WRITE </a:t>
            </a:r>
            <a:r>
              <a:rPr lang="en-US" dirty="0"/>
              <a:t>operations. So, there is a need to manage these two operations in the concurrent execution of the transactions as if these operations are not performed in an interleaved manner, and the data may become inconsistent. So, the following problems occur with the Concurrent Execution of the operations:</a:t>
            </a:r>
          </a:p>
          <a:p>
            <a:pPr algn="just"/>
            <a:r>
              <a:rPr lang="en-US" dirty="0"/>
              <a:t>Lost Update Problems (W - W Conflict)</a:t>
            </a:r>
          </a:p>
          <a:p>
            <a:pPr algn="just"/>
            <a:r>
              <a:rPr lang="en-US" dirty="0"/>
              <a:t>Dirty Read Problems (W-R Conflict)</a:t>
            </a:r>
          </a:p>
          <a:p>
            <a:pPr algn="just"/>
            <a:r>
              <a:rPr lang="en-US" dirty="0"/>
              <a:t>Unrepeatable Read Problem (W-R Conflict)</a:t>
            </a:r>
          </a:p>
          <a:p>
            <a:pPr algn="just"/>
            <a:r>
              <a:rPr lang="en-US" altLang="en-US" dirty="0"/>
              <a:t>The Blind Write Problem</a:t>
            </a:r>
          </a:p>
          <a:p>
            <a:pPr algn="just"/>
            <a:r>
              <a:rPr lang="en-US" dirty="0"/>
              <a:t>Phantom Read Problem</a:t>
            </a:r>
            <a:endParaRPr lang="en-US" altLang="en-US" dirty="0"/>
          </a:p>
          <a:p>
            <a:pPr algn="just"/>
            <a:endParaRPr lang="en-US" dirty="0"/>
          </a:p>
          <a:p>
            <a:pPr algn="just"/>
            <a:endParaRPr lang="en-US" dirty="0"/>
          </a:p>
          <a:p>
            <a:pPr marL="0" indent="0" algn="just">
              <a:buNone/>
            </a:pPr>
            <a:endParaRPr lang="en-US" dirty="0"/>
          </a:p>
          <a:p>
            <a:pPr algn="just"/>
            <a:endParaRPr lang="en-US" dirty="0"/>
          </a:p>
        </p:txBody>
      </p:sp>
      <p:sp>
        <p:nvSpPr>
          <p:cNvPr id="4" name="Slide Number Placeholder 3">
            <a:extLst>
              <a:ext uri="{FF2B5EF4-FFF2-40B4-BE49-F238E27FC236}">
                <a16:creationId xmlns:a16="http://schemas.microsoft.com/office/drawing/2014/main" id="{73415542-A9AF-E915-04C8-BA62BB6E7186}"/>
              </a:ext>
            </a:extLst>
          </p:cNvPr>
          <p:cNvSpPr>
            <a:spLocks noGrp="1"/>
          </p:cNvSpPr>
          <p:nvPr>
            <p:ph type="sldNum" sz="quarter" idx="12"/>
          </p:nvPr>
        </p:nvSpPr>
        <p:spPr/>
        <p:txBody>
          <a:bodyPr/>
          <a:lstStyle/>
          <a:p>
            <a:fld id="{9BED7385-1A27-4338-8D43-B2B3002AB878}" type="slidenum">
              <a:rPr lang="en-US" smtClean="0"/>
              <a:t>19</a:t>
            </a:fld>
            <a:endParaRPr lang="en-US"/>
          </a:p>
        </p:txBody>
      </p:sp>
    </p:spTree>
    <p:extLst>
      <p:ext uri="{BB962C8B-B14F-4D97-AF65-F5344CB8AC3E}">
        <p14:creationId xmlns:p14="http://schemas.microsoft.com/office/powerpoint/2010/main" val="21413774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2154"/>
          </a:xfrm>
        </p:spPr>
        <p:txBody>
          <a:bodyPr>
            <a:normAutofit fontScale="90000"/>
          </a:bodyPr>
          <a:lstStyle/>
          <a:p>
            <a:r>
              <a:rPr lang="en-US" dirty="0"/>
              <a:t>Lost Update Problems (W - W Conflict)</a:t>
            </a:r>
            <a:br>
              <a:rPr lang="en-US" dirty="0"/>
            </a:br>
            <a:endParaRPr lang="en-US" dirty="0"/>
          </a:p>
        </p:txBody>
      </p:sp>
      <p:sp>
        <p:nvSpPr>
          <p:cNvPr id="3" name="Content Placeholder 2"/>
          <p:cNvSpPr>
            <a:spLocks noGrp="1"/>
          </p:cNvSpPr>
          <p:nvPr>
            <p:ph idx="1"/>
          </p:nvPr>
        </p:nvSpPr>
        <p:spPr>
          <a:xfrm>
            <a:off x="838200" y="798490"/>
            <a:ext cx="10515600" cy="5378473"/>
          </a:xfrm>
        </p:spPr>
        <p:txBody>
          <a:bodyPr/>
          <a:lstStyle/>
          <a:p>
            <a:r>
              <a:rPr lang="en-US" sz="2400" dirty="0"/>
              <a:t>The problem occurs </a:t>
            </a:r>
            <a:r>
              <a:rPr lang="en-US" sz="2400" i="1" dirty="0"/>
              <a:t>when two different database transactions perform the read/write operations on the same database items in an interleaved manner (i.e., concurrent execution) that makes the values of the items incorrect hence making the database inconsistent</a:t>
            </a:r>
            <a:r>
              <a:rPr lang="en-US" sz="2400" dirty="0"/>
              <a:t>.</a:t>
            </a:r>
          </a:p>
          <a:p>
            <a:r>
              <a:rPr lang="en-US" sz="2400" b="1" dirty="0"/>
              <a:t>Consider the below diagram where two transactions T</a:t>
            </a:r>
            <a:r>
              <a:rPr lang="en-US" sz="2400" b="1" baseline="-25000" dirty="0"/>
              <a:t>X</a:t>
            </a:r>
            <a:r>
              <a:rPr lang="en-US" sz="2400" b="1" dirty="0"/>
              <a:t> and T</a:t>
            </a:r>
            <a:r>
              <a:rPr lang="en-US" sz="2400" b="1" baseline="-25000" dirty="0"/>
              <a:t>Y</a:t>
            </a:r>
            <a:r>
              <a:rPr lang="en-US" sz="2400" b="1" dirty="0"/>
              <a:t>, are performed on the same account A where the balance of account A is $300.</a:t>
            </a:r>
            <a:endParaRPr lang="en-US" sz="2400" dirty="0"/>
          </a:p>
          <a:p>
            <a:br>
              <a:rPr lang="en-US" dirty="0"/>
            </a:br>
            <a:endParaRPr lang="en-US" dirty="0"/>
          </a:p>
        </p:txBody>
      </p:sp>
      <p:pic>
        <p:nvPicPr>
          <p:cNvPr id="4" name="Picture 3"/>
          <p:cNvPicPr>
            <a:picLocks noChangeAspect="1"/>
          </p:cNvPicPr>
          <p:nvPr/>
        </p:nvPicPr>
        <p:blipFill>
          <a:blip r:embed="rId2"/>
          <a:stretch>
            <a:fillRect/>
          </a:stretch>
        </p:blipFill>
        <p:spPr>
          <a:xfrm>
            <a:off x="2144264" y="3062755"/>
            <a:ext cx="5095875" cy="3486150"/>
          </a:xfrm>
          <a:prstGeom prst="rect">
            <a:avLst/>
          </a:prstGeom>
        </p:spPr>
      </p:pic>
      <p:sp>
        <p:nvSpPr>
          <p:cNvPr id="5" name="Slide Number Placeholder 4">
            <a:extLst>
              <a:ext uri="{FF2B5EF4-FFF2-40B4-BE49-F238E27FC236}">
                <a16:creationId xmlns:a16="http://schemas.microsoft.com/office/drawing/2014/main" id="{67127D25-B7AA-E608-FC89-E9FAB94D7E0A}"/>
              </a:ext>
            </a:extLst>
          </p:cNvPr>
          <p:cNvSpPr>
            <a:spLocks noGrp="1"/>
          </p:cNvSpPr>
          <p:nvPr>
            <p:ph type="sldNum" sz="quarter" idx="12"/>
          </p:nvPr>
        </p:nvSpPr>
        <p:spPr/>
        <p:txBody>
          <a:bodyPr/>
          <a:lstStyle/>
          <a:p>
            <a:fld id="{9BED7385-1A27-4338-8D43-B2B3002AB878}" type="slidenum">
              <a:rPr lang="en-US" smtClean="0"/>
              <a:t>20</a:t>
            </a:fld>
            <a:endParaRPr lang="en-US"/>
          </a:p>
        </p:txBody>
      </p:sp>
    </p:spTree>
    <p:extLst>
      <p:ext uri="{BB962C8B-B14F-4D97-AF65-F5344CB8AC3E}">
        <p14:creationId xmlns:p14="http://schemas.microsoft.com/office/powerpoint/2010/main" val="4020385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02276"/>
            <a:ext cx="10515600" cy="5674687"/>
          </a:xfrm>
        </p:spPr>
        <p:txBody>
          <a:bodyPr>
            <a:normAutofit fontScale="92500" lnSpcReduction="20000"/>
          </a:bodyPr>
          <a:lstStyle/>
          <a:p>
            <a:r>
              <a:rPr lang="en-US" dirty="0"/>
              <a:t>At time t1, transaction T</a:t>
            </a:r>
            <a:r>
              <a:rPr lang="en-US" baseline="-25000" dirty="0"/>
              <a:t>X</a:t>
            </a:r>
            <a:r>
              <a:rPr lang="en-US" dirty="0"/>
              <a:t> reads the value of account A, i.e., $300 (only read).</a:t>
            </a:r>
          </a:p>
          <a:p>
            <a:r>
              <a:rPr lang="en-US" dirty="0"/>
              <a:t>At time t2, transaction T</a:t>
            </a:r>
            <a:r>
              <a:rPr lang="en-US" baseline="-25000" dirty="0"/>
              <a:t>X</a:t>
            </a:r>
            <a:r>
              <a:rPr lang="en-US" dirty="0"/>
              <a:t> deducts $50 from account A that becomes $250 (only deducted and not updated/write).</a:t>
            </a:r>
          </a:p>
          <a:p>
            <a:r>
              <a:rPr lang="en-US" dirty="0"/>
              <a:t>Alternately, at time t3, transaction T</a:t>
            </a:r>
            <a:r>
              <a:rPr lang="en-US" baseline="-25000" dirty="0"/>
              <a:t>Y</a:t>
            </a:r>
            <a:r>
              <a:rPr lang="en-US" dirty="0"/>
              <a:t> reads the value of account A that will be $300 only because T</a:t>
            </a:r>
            <a:r>
              <a:rPr lang="en-US" baseline="-25000" dirty="0"/>
              <a:t>X</a:t>
            </a:r>
            <a:r>
              <a:rPr lang="en-US" dirty="0"/>
              <a:t> didn't update the value yet.</a:t>
            </a:r>
          </a:p>
          <a:p>
            <a:r>
              <a:rPr lang="en-US" dirty="0"/>
              <a:t>At time t4, transaction T</a:t>
            </a:r>
            <a:r>
              <a:rPr lang="en-US" baseline="-25000" dirty="0"/>
              <a:t>Y</a:t>
            </a:r>
            <a:r>
              <a:rPr lang="en-US" dirty="0"/>
              <a:t> adds $100 to account A that becomes $400 (only added but not updated/write).</a:t>
            </a:r>
          </a:p>
          <a:p>
            <a:r>
              <a:rPr lang="en-US" dirty="0"/>
              <a:t>At time t6, transaction T</a:t>
            </a:r>
            <a:r>
              <a:rPr lang="en-US" baseline="-25000" dirty="0"/>
              <a:t>X</a:t>
            </a:r>
            <a:r>
              <a:rPr lang="en-US" dirty="0"/>
              <a:t> writes the value of account A that will be updated as $250 only, as T</a:t>
            </a:r>
            <a:r>
              <a:rPr lang="en-US" baseline="-25000" dirty="0"/>
              <a:t>Y</a:t>
            </a:r>
            <a:r>
              <a:rPr lang="en-US" dirty="0"/>
              <a:t> didn't update the value yet.</a:t>
            </a:r>
          </a:p>
          <a:p>
            <a:r>
              <a:rPr lang="en-US" dirty="0"/>
              <a:t>Similarly, at time t7, transaction T</a:t>
            </a:r>
            <a:r>
              <a:rPr lang="en-US" baseline="-25000" dirty="0"/>
              <a:t>Y</a:t>
            </a:r>
            <a:r>
              <a:rPr lang="en-US" dirty="0"/>
              <a:t> writes the values of account A, so it will write as done at time t4 that will be $400. It means the value written by T</a:t>
            </a:r>
            <a:r>
              <a:rPr lang="en-US" baseline="-25000" dirty="0"/>
              <a:t>X</a:t>
            </a:r>
            <a:r>
              <a:rPr lang="en-US" dirty="0"/>
              <a:t> is lost, i.e., $250 is lost.</a:t>
            </a:r>
          </a:p>
          <a:p>
            <a:pPr marL="0" indent="0">
              <a:buNone/>
            </a:pPr>
            <a:endParaRPr lang="en-US" dirty="0"/>
          </a:p>
          <a:p>
            <a:pPr marL="0" indent="0">
              <a:buNone/>
            </a:pPr>
            <a:r>
              <a:rPr lang="en-US" dirty="0"/>
              <a:t>Hence data becomes incorrect, and database sets to inconsistent.</a:t>
            </a:r>
          </a:p>
        </p:txBody>
      </p:sp>
      <p:sp>
        <p:nvSpPr>
          <p:cNvPr id="2" name="Slide Number Placeholder 1">
            <a:extLst>
              <a:ext uri="{FF2B5EF4-FFF2-40B4-BE49-F238E27FC236}">
                <a16:creationId xmlns:a16="http://schemas.microsoft.com/office/drawing/2014/main" id="{0E099385-F5EA-9967-9BB7-48ECA17DDADB}"/>
              </a:ext>
            </a:extLst>
          </p:cNvPr>
          <p:cNvSpPr>
            <a:spLocks noGrp="1"/>
          </p:cNvSpPr>
          <p:nvPr>
            <p:ph type="sldNum" sz="quarter" idx="12"/>
          </p:nvPr>
        </p:nvSpPr>
        <p:spPr/>
        <p:txBody>
          <a:bodyPr/>
          <a:lstStyle/>
          <a:p>
            <a:fld id="{9BED7385-1A27-4338-8D43-B2B3002AB878}" type="slidenum">
              <a:rPr lang="en-US" smtClean="0"/>
              <a:t>21</a:t>
            </a:fld>
            <a:endParaRPr lang="en-US"/>
          </a:p>
        </p:txBody>
      </p:sp>
    </p:spTree>
    <p:extLst>
      <p:ext uri="{BB962C8B-B14F-4D97-AF65-F5344CB8AC3E}">
        <p14:creationId xmlns:p14="http://schemas.microsoft.com/office/powerpoint/2010/main" val="41930425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07607"/>
          </a:xfrm>
        </p:spPr>
        <p:txBody>
          <a:bodyPr>
            <a:normAutofit fontScale="90000"/>
          </a:bodyPr>
          <a:lstStyle/>
          <a:p>
            <a:r>
              <a:rPr lang="en-US" dirty="0"/>
              <a:t>Dirty Read Problems (W-R Conflict)</a:t>
            </a:r>
            <a:br>
              <a:rPr lang="en-US" dirty="0"/>
            </a:br>
            <a:endParaRPr lang="en-US" dirty="0"/>
          </a:p>
        </p:txBody>
      </p:sp>
      <p:sp>
        <p:nvSpPr>
          <p:cNvPr id="3" name="Content Placeholder 2"/>
          <p:cNvSpPr>
            <a:spLocks noGrp="1"/>
          </p:cNvSpPr>
          <p:nvPr>
            <p:ph idx="1"/>
          </p:nvPr>
        </p:nvSpPr>
        <p:spPr>
          <a:xfrm>
            <a:off x="838200" y="927279"/>
            <a:ext cx="10515600" cy="5666704"/>
          </a:xfrm>
        </p:spPr>
        <p:txBody>
          <a:bodyPr/>
          <a:lstStyle/>
          <a:p>
            <a:r>
              <a:rPr lang="en-US" sz="2400" dirty="0"/>
              <a:t>The dirty read problem occurs </a:t>
            </a:r>
            <a:r>
              <a:rPr lang="en-US" sz="2400" i="1" dirty="0"/>
              <a:t>when one transaction updates an item of the database, and somehow the transaction fails, and before the data gets rollback, the updated database item is accessed by another transaction. </a:t>
            </a:r>
            <a:endParaRPr lang="en-US" sz="2400" dirty="0"/>
          </a:p>
          <a:p>
            <a:r>
              <a:rPr lang="en-US" sz="2400" b="1" dirty="0"/>
              <a:t>Consider two transactions T</a:t>
            </a:r>
            <a:r>
              <a:rPr lang="en-US" sz="2400" b="1" baseline="-25000" dirty="0"/>
              <a:t>X</a:t>
            </a:r>
            <a:r>
              <a:rPr lang="en-US" sz="2400" b="1" dirty="0"/>
              <a:t> and T</a:t>
            </a:r>
            <a:r>
              <a:rPr lang="en-US" sz="2400" b="1" baseline="-25000" dirty="0"/>
              <a:t>Y</a:t>
            </a:r>
            <a:r>
              <a:rPr lang="en-US" sz="2400" b="1" dirty="0"/>
              <a:t> in the below diagram performing read/write operations on account A where the available balance in account A is $300:</a:t>
            </a:r>
            <a:endParaRPr lang="en-US" sz="2400" dirty="0"/>
          </a:p>
          <a:p>
            <a:endParaRPr lang="en-US" dirty="0"/>
          </a:p>
        </p:txBody>
      </p:sp>
      <p:pic>
        <p:nvPicPr>
          <p:cNvPr id="4" name="Picture 3"/>
          <p:cNvPicPr>
            <a:picLocks noChangeAspect="1"/>
          </p:cNvPicPr>
          <p:nvPr/>
        </p:nvPicPr>
        <p:blipFill>
          <a:blip r:embed="rId2"/>
          <a:stretch>
            <a:fillRect/>
          </a:stretch>
        </p:blipFill>
        <p:spPr>
          <a:xfrm>
            <a:off x="2744273" y="3327846"/>
            <a:ext cx="5029200" cy="3009900"/>
          </a:xfrm>
          <a:prstGeom prst="rect">
            <a:avLst/>
          </a:prstGeom>
        </p:spPr>
      </p:pic>
      <p:sp>
        <p:nvSpPr>
          <p:cNvPr id="5" name="Slide Number Placeholder 4">
            <a:extLst>
              <a:ext uri="{FF2B5EF4-FFF2-40B4-BE49-F238E27FC236}">
                <a16:creationId xmlns:a16="http://schemas.microsoft.com/office/drawing/2014/main" id="{82277A44-B8FA-32CF-2E1E-CF0146C53946}"/>
              </a:ext>
            </a:extLst>
          </p:cNvPr>
          <p:cNvSpPr>
            <a:spLocks noGrp="1"/>
          </p:cNvSpPr>
          <p:nvPr>
            <p:ph type="sldNum" sz="quarter" idx="12"/>
          </p:nvPr>
        </p:nvSpPr>
        <p:spPr/>
        <p:txBody>
          <a:bodyPr/>
          <a:lstStyle/>
          <a:p>
            <a:fld id="{9BED7385-1A27-4338-8D43-B2B3002AB878}" type="slidenum">
              <a:rPr lang="en-US" smtClean="0"/>
              <a:t>22</a:t>
            </a:fld>
            <a:endParaRPr lang="en-US"/>
          </a:p>
        </p:txBody>
      </p:sp>
    </p:spTree>
    <p:extLst>
      <p:ext uri="{BB962C8B-B14F-4D97-AF65-F5344CB8AC3E}">
        <p14:creationId xmlns:p14="http://schemas.microsoft.com/office/powerpoint/2010/main" val="28403002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1972"/>
            <a:ext cx="10515600" cy="5854991"/>
          </a:xfrm>
        </p:spPr>
        <p:txBody>
          <a:bodyPr/>
          <a:lstStyle/>
          <a:p>
            <a:r>
              <a:rPr lang="en-US" dirty="0"/>
              <a:t>At time t1, transaction T</a:t>
            </a:r>
            <a:r>
              <a:rPr lang="en-US" baseline="-25000" dirty="0"/>
              <a:t>X</a:t>
            </a:r>
            <a:r>
              <a:rPr lang="en-US" dirty="0"/>
              <a:t> reads the value of account A, i.e., $300.</a:t>
            </a:r>
          </a:p>
          <a:p>
            <a:r>
              <a:rPr lang="en-US" dirty="0"/>
              <a:t>At time t2, transaction T</a:t>
            </a:r>
            <a:r>
              <a:rPr lang="en-US" baseline="-25000" dirty="0"/>
              <a:t>X</a:t>
            </a:r>
            <a:r>
              <a:rPr lang="en-US" dirty="0"/>
              <a:t> adds $50 to account A that becomes $350.</a:t>
            </a:r>
          </a:p>
          <a:p>
            <a:r>
              <a:rPr lang="en-US" dirty="0"/>
              <a:t>At time t3, transaction T</a:t>
            </a:r>
            <a:r>
              <a:rPr lang="en-US" baseline="-25000" dirty="0"/>
              <a:t>X</a:t>
            </a:r>
            <a:r>
              <a:rPr lang="en-US" dirty="0"/>
              <a:t> writes the updated value in account A, i.e., $350.</a:t>
            </a:r>
          </a:p>
          <a:p>
            <a:r>
              <a:rPr lang="en-US" dirty="0"/>
              <a:t>Then at time t4, transaction T</a:t>
            </a:r>
            <a:r>
              <a:rPr lang="en-US" baseline="-25000" dirty="0"/>
              <a:t>Y</a:t>
            </a:r>
            <a:r>
              <a:rPr lang="en-US" dirty="0"/>
              <a:t> reads account A that will be read as $350.</a:t>
            </a:r>
          </a:p>
          <a:p>
            <a:r>
              <a:rPr lang="en-US" dirty="0"/>
              <a:t>Then at time t5, transaction T</a:t>
            </a:r>
            <a:r>
              <a:rPr lang="en-US" baseline="-25000" dirty="0"/>
              <a:t>X</a:t>
            </a:r>
            <a:r>
              <a:rPr lang="en-US" dirty="0"/>
              <a:t> rollbacks due to server problem, and the value changes back to $300 (as initially).</a:t>
            </a:r>
          </a:p>
          <a:p>
            <a:r>
              <a:rPr lang="en-US" dirty="0"/>
              <a:t>But the value for account A remains $350 for transaction T</a:t>
            </a:r>
            <a:r>
              <a:rPr lang="en-US" baseline="-25000" dirty="0"/>
              <a:t>Y</a:t>
            </a:r>
            <a:r>
              <a:rPr lang="en-US" dirty="0"/>
              <a:t> as committed, which is the dirty read and therefore known as the Dirty Read Problem.</a:t>
            </a:r>
          </a:p>
          <a:p>
            <a:pPr marL="0" indent="0">
              <a:buNone/>
            </a:pPr>
            <a:endParaRPr lang="en-US" dirty="0"/>
          </a:p>
        </p:txBody>
      </p:sp>
      <p:sp>
        <p:nvSpPr>
          <p:cNvPr id="2" name="Slide Number Placeholder 1">
            <a:extLst>
              <a:ext uri="{FF2B5EF4-FFF2-40B4-BE49-F238E27FC236}">
                <a16:creationId xmlns:a16="http://schemas.microsoft.com/office/drawing/2014/main" id="{CBAE976A-41B8-F3A6-1882-D5C20A59229E}"/>
              </a:ext>
            </a:extLst>
          </p:cNvPr>
          <p:cNvSpPr>
            <a:spLocks noGrp="1"/>
          </p:cNvSpPr>
          <p:nvPr>
            <p:ph type="sldNum" sz="quarter" idx="12"/>
          </p:nvPr>
        </p:nvSpPr>
        <p:spPr/>
        <p:txBody>
          <a:bodyPr/>
          <a:lstStyle/>
          <a:p>
            <a:fld id="{9BED7385-1A27-4338-8D43-B2B3002AB878}" type="slidenum">
              <a:rPr lang="en-US" smtClean="0"/>
              <a:t>23</a:t>
            </a:fld>
            <a:endParaRPr lang="en-US"/>
          </a:p>
        </p:txBody>
      </p:sp>
    </p:spTree>
    <p:extLst>
      <p:ext uri="{BB962C8B-B14F-4D97-AF65-F5344CB8AC3E}">
        <p14:creationId xmlns:p14="http://schemas.microsoft.com/office/powerpoint/2010/main" val="26891105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10638"/>
          </a:xfrm>
        </p:spPr>
        <p:txBody>
          <a:bodyPr>
            <a:normAutofit fontScale="90000"/>
          </a:bodyPr>
          <a:lstStyle/>
          <a:p>
            <a:r>
              <a:rPr lang="en-US"/>
              <a:t>Unrepeatable Read Problem (W-R Conflict)</a:t>
            </a:r>
          </a:p>
        </p:txBody>
      </p:sp>
      <p:sp>
        <p:nvSpPr>
          <p:cNvPr id="3" name="Content Placeholder 2"/>
          <p:cNvSpPr>
            <a:spLocks noGrp="1"/>
          </p:cNvSpPr>
          <p:nvPr>
            <p:ph idx="1"/>
          </p:nvPr>
        </p:nvSpPr>
        <p:spPr>
          <a:xfrm>
            <a:off x="838200" y="1133341"/>
            <a:ext cx="10515600" cy="5043622"/>
          </a:xfrm>
        </p:spPr>
        <p:txBody>
          <a:bodyPr>
            <a:normAutofit/>
          </a:bodyPr>
          <a:lstStyle/>
          <a:p>
            <a:r>
              <a:rPr lang="en-US" sz="2400" i="1" dirty="0"/>
              <a:t>Also known as Inconsistent Retrievals Problem that occurs when in a transaction, two different values are read for the same database item.</a:t>
            </a:r>
          </a:p>
          <a:p>
            <a:r>
              <a:rPr lang="en-US" sz="2400" b="1" dirty="0"/>
              <a:t>Consider two transactions, T</a:t>
            </a:r>
            <a:r>
              <a:rPr lang="en-US" sz="2400" b="1" baseline="-25000" dirty="0"/>
              <a:t>X</a:t>
            </a:r>
            <a:r>
              <a:rPr lang="en-US" sz="2400" b="1" dirty="0"/>
              <a:t> and T</a:t>
            </a:r>
            <a:r>
              <a:rPr lang="en-US" sz="2400" b="1" baseline="-25000" dirty="0"/>
              <a:t>Y</a:t>
            </a:r>
            <a:r>
              <a:rPr lang="en-US" sz="2400" b="1" dirty="0"/>
              <a:t>, performing the read/write operations on account A, having an available balance = $300. The diagram is shown below:</a:t>
            </a:r>
            <a:endParaRPr lang="en-US" sz="2400" dirty="0"/>
          </a:p>
        </p:txBody>
      </p:sp>
      <p:pic>
        <p:nvPicPr>
          <p:cNvPr id="4" name="Picture 3"/>
          <p:cNvPicPr>
            <a:picLocks noChangeAspect="1"/>
          </p:cNvPicPr>
          <p:nvPr/>
        </p:nvPicPr>
        <p:blipFill>
          <a:blip r:embed="rId2"/>
          <a:stretch>
            <a:fillRect/>
          </a:stretch>
        </p:blipFill>
        <p:spPr>
          <a:xfrm>
            <a:off x="2910625" y="2640171"/>
            <a:ext cx="5578967" cy="3856350"/>
          </a:xfrm>
          <a:prstGeom prst="rect">
            <a:avLst/>
          </a:prstGeom>
        </p:spPr>
      </p:pic>
      <p:sp>
        <p:nvSpPr>
          <p:cNvPr id="5" name="Slide Number Placeholder 4">
            <a:extLst>
              <a:ext uri="{FF2B5EF4-FFF2-40B4-BE49-F238E27FC236}">
                <a16:creationId xmlns:a16="http://schemas.microsoft.com/office/drawing/2014/main" id="{C19EA053-B773-9E87-458B-624D9F33B2A4}"/>
              </a:ext>
            </a:extLst>
          </p:cNvPr>
          <p:cNvSpPr>
            <a:spLocks noGrp="1"/>
          </p:cNvSpPr>
          <p:nvPr>
            <p:ph type="sldNum" sz="quarter" idx="12"/>
          </p:nvPr>
        </p:nvSpPr>
        <p:spPr/>
        <p:txBody>
          <a:bodyPr/>
          <a:lstStyle/>
          <a:p>
            <a:fld id="{9BED7385-1A27-4338-8D43-B2B3002AB878}" type="slidenum">
              <a:rPr lang="en-US" smtClean="0"/>
              <a:t>24</a:t>
            </a:fld>
            <a:endParaRPr lang="en-US"/>
          </a:p>
        </p:txBody>
      </p:sp>
    </p:spTree>
    <p:extLst>
      <p:ext uri="{BB962C8B-B14F-4D97-AF65-F5344CB8AC3E}">
        <p14:creationId xmlns:p14="http://schemas.microsoft.com/office/powerpoint/2010/main" val="2110562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4546"/>
            <a:ext cx="10515600" cy="6022417"/>
          </a:xfrm>
        </p:spPr>
        <p:txBody>
          <a:bodyPr>
            <a:normAutofit/>
          </a:bodyPr>
          <a:lstStyle/>
          <a:p>
            <a:r>
              <a:rPr lang="en-US" dirty="0"/>
              <a:t>At time t1, transaction T</a:t>
            </a:r>
            <a:r>
              <a:rPr lang="en-US" baseline="-25000" dirty="0"/>
              <a:t>X</a:t>
            </a:r>
            <a:r>
              <a:rPr lang="en-US" dirty="0"/>
              <a:t> reads the value from account A, i.e., $300.</a:t>
            </a:r>
          </a:p>
          <a:p>
            <a:r>
              <a:rPr lang="en-US" dirty="0"/>
              <a:t>At time t2, transaction T</a:t>
            </a:r>
            <a:r>
              <a:rPr lang="en-US" baseline="-25000" dirty="0"/>
              <a:t>Y</a:t>
            </a:r>
            <a:r>
              <a:rPr lang="en-US" dirty="0"/>
              <a:t> reads the value from account A, i.e., $300.</a:t>
            </a:r>
          </a:p>
          <a:p>
            <a:r>
              <a:rPr lang="en-US" dirty="0"/>
              <a:t>At time t3, transaction T</a:t>
            </a:r>
            <a:r>
              <a:rPr lang="en-US" baseline="-25000" dirty="0"/>
              <a:t>Y</a:t>
            </a:r>
            <a:r>
              <a:rPr lang="en-US" dirty="0"/>
              <a:t> updates the value of account A by adding $100 to the available balance, and then it becomes $400.</a:t>
            </a:r>
          </a:p>
          <a:p>
            <a:r>
              <a:rPr lang="en-US" dirty="0"/>
              <a:t>At time t4, transaction T</a:t>
            </a:r>
            <a:r>
              <a:rPr lang="en-US" baseline="-25000" dirty="0"/>
              <a:t>Y</a:t>
            </a:r>
            <a:r>
              <a:rPr lang="en-US" dirty="0"/>
              <a:t> writes the updated value, i.e., $400.</a:t>
            </a:r>
          </a:p>
          <a:p>
            <a:r>
              <a:rPr lang="en-US" dirty="0"/>
              <a:t>After that, at time t5, transaction T</a:t>
            </a:r>
            <a:r>
              <a:rPr lang="en-US" baseline="-25000" dirty="0"/>
              <a:t>X</a:t>
            </a:r>
            <a:r>
              <a:rPr lang="en-US" dirty="0"/>
              <a:t> reads the available value of account A, and that will be read as $400.</a:t>
            </a:r>
          </a:p>
          <a:p>
            <a:r>
              <a:rPr lang="en-US" dirty="0"/>
              <a:t>It means that within the same transaction T</a:t>
            </a:r>
            <a:r>
              <a:rPr lang="en-US" baseline="-25000" dirty="0"/>
              <a:t>X</a:t>
            </a:r>
            <a:r>
              <a:rPr lang="en-US" dirty="0"/>
              <a:t>, it reads two different values of account A, i.e., $ 300 initially, and after </a:t>
            </a:r>
            <a:r>
              <a:rPr lang="en-US" dirty="0" err="1"/>
              <a:t>updation</a:t>
            </a:r>
            <a:r>
              <a:rPr lang="en-US" dirty="0"/>
              <a:t> made by transaction T</a:t>
            </a:r>
            <a:r>
              <a:rPr lang="en-US" baseline="-25000" dirty="0"/>
              <a:t>Y</a:t>
            </a:r>
            <a:r>
              <a:rPr lang="en-US" dirty="0"/>
              <a:t>, it reads $400. It is an unrepeatable read and is therefore known as the Unrepeatable read problem.</a:t>
            </a:r>
          </a:p>
          <a:p>
            <a:pPr marL="0" indent="0">
              <a:buNone/>
            </a:pPr>
            <a:endParaRPr lang="en-US" dirty="0"/>
          </a:p>
        </p:txBody>
      </p:sp>
      <p:sp>
        <p:nvSpPr>
          <p:cNvPr id="2" name="Slide Number Placeholder 1">
            <a:extLst>
              <a:ext uri="{FF2B5EF4-FFF2-40B4-BE49-F238E27FC236}">
                <a16:creationId xmlns:a16="http://schemas.microsoft.com/office/drawing/2014/main" id="{D4A8330B-2EF7-F82A-9736-E7166CBE1547}"/>
              </a:ext>
            </a:extLst>
          </p:cNvPr>
          <p:cNvSpPr>
            <a:spLocks noGrp="1"/>
          </p:cNvSpPr>
          <p:nvPr>
            <p:ph type="sldNum" sz="quarter" idx="12"/>
          </p:nvPr>
        </p:nvSpPr>
        <p:spPr/>
        <p:txBody>
          <a:bodyPr/>
          <a:lstStyle/>
          <a:p>
            <a:fld id="{9BED7385-1A27-4338-8D43-B2B3002AB878}" type="slidenum">
              <a:rPr lang="en-US" smtClean="0"/>
              <a:t>25</a:t>
            </a:fld>
            <a:endParaRPr lang="en-US"/>
          </a:p>
        </p:txBody>
      </p:sp>
    </p:spTree>
    <p:extLst>
      <p:ext uri="{BB962C8B-B14F-4D97-AF65-F5344CB8AC3E}">
        <p14:creationId xmlns:p14="http://schemas.microsoft.com/office/powerpoint/2010/main" val="16398919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5185"/>
          </a:xfrm>
        </p:spPr>
        <p:txBody>
          <a:bodyPr>
            <a:normAutofit fontScale="90000"/>
          </a:bodyPr>
          <a:lstStyle/>
          <a:p>
            <a:r>
              <a:rPr lang="en-US" altLang="en-US" b="1" dirty="0"/>
              <a:t>The Blind Write Problem</a:t>
            </a:r>
            <a:br>
              <a:rPr lang="en-US" altLang="en-US" b="1" dirty="0"/>
            </a:br>
            <a:endParaRPr lang="en-US" dirty="0"/>
          </a:p>
        </p:txBody>
      </p:sp>
      <p:sp>
        <p:nvSpPr>
          <p:cNvPr id="3" name="Content Placeholder 2"/>
          <p:cNvSpPr>
            <a:spLocks noGrp="1"/>
          </p:cNvSpPr>
          <p:nvPr>
            <p:ph idx="1"/>
          </p:nvPr>
        </p:nvSpPr>
        <p:spPr>
          <a:xfrm>
            <a:off x="838200" y="837127"/>
            <a:ext cx="10515600" cy="5339836"/>
          </a:xfrm>
        </p:spPr>
        <p:txBody>
          <a:bodyPr/>
          <a:lstStyle/>
          <a:p>
            <a:pPr lvl="1">
              <a:lnSpc>
                <a:spcPct val="80000"/>
              </a:lnSpc>
            </a:pPr>
            <a:r>
              <a:rPr lang="en-US" altLang="en-US" sz="1900" dirty="0"/>
              <a:t>If one transaction writes a value without reading it. </a:t>
            </a:r>
          </a:p>
          <a:p>
            <a:endParaRPr lang="en-US" dirty="0"/>
          </a:p>
        </p:txBody>
      </p:sp>
      <p:pic>
        <p:nvPicPr>
          <p:cNvPr id="4" name="Picture 3"/>
          <p:cNvPicPr>
            <a:picLocks noChangeAspect="1"/>
          </p:cNvPicPr>
          <p:nvPr/>
        </p:nvPicPr>
        <p:blipFill>
          <a:blip r:embed="rId2"/>
          <a:stretch>
            <a:fillRect/>
          </a:stretch>
        </p:blipFill>
        <p:spPr>
          <a:xfrm>
            <a:off x="2268492" y="1416676"/>
            <a:ext cx="6051260" cy="4314423"/>
          </a:xfrm>
          <a:prstGeom prst="rect">
            <a:avLst/>
          </a:prstGeom>
        </p:spPr>
      </p:pic>
      <p:sp>
        <p:nvSpPr>
          <p:cNvPr id="5" name="Slide Number Placeholder 4">
            <a:extLst>
              <a:ext uri="{FF2B5EF4-FFF2-40B4-BE49-F238E27FC236}">
                <a16:creationId xmlns:a16="http://schemas.microsoft.com/office/drawing/2014/main" id="{970CF57D-CDE6-C328-1ED9-68033FF8219D}"/>
              </a:ext>
            </a:extLst>
          </p:cNvPr>
          <p:cNvSpPr>
            <a:spLocks noGrp="1"/>
          </p:cNvSpPr>
          <p:nvPr>
            <p:ph type="sldNum" sz="quarter" idx="12"/>
          </p:nvPr>
        </p:nvSpPr>
        <p:spPr/>
        <p:txBody>
          <a:bodyPr/>
          <a:lstStyle/>
          <a:p>
            <a:fld id="{9BED7385-1A27-4338-8D43-B2B3002AB878}" type="slidenum">
              <a:rPr lang="en-US" smtClean="0"/>
              <a:t>26</a:t>
            </a:fld>
            <a:endParaRPr lang="en-US"/>
          </a:p>
        </p:txBody>
      </p:sp>
    </p:spTree>
    <p:extLst>
      <p:ext uri="{BB962C8B-B14F-4D97-AF65-F5344CB8AC3E}">
        <p14:creationId xmlns:p14="http://schemas.microsoft.com/office/powerpoint/2010/main" val="1401388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97760"/>
          </a:xfrm>
        </p:spPr>
        <p:txBody>
          <a:bodyPr>
            <a:normAutofit fontScale="90000"/>
          </a:bodyPr>
          <a:lstStyle/>
          <a:p>
            <a:r>
              <a:rPr lang="en-US" b="1" u="sng" dirty="0"/>
              <a:t>Phantom Read Problem-</a:t>
            </a:r>
            <a:br>
              <a:rPr lang="en-US" b="1" dirty="0"/>
            </a:br>
            <a:endParaRPr lang="en-US" dirty="0"/>
          </a:p>
        </p:txBody>
      </p:sp>
      <p:sp>
        <p:nvSpPr>
          <p:cNvPr id="3" name="Content Placeholder 2"/>
          <p:cNvSpPr>
            <a:spLocks noGrp="1"/>
          </p:cNvSpPr>
          <p:nvPr>
            <p:ph idx="1"/>
          </p:nvPr>
        </p:nvSpPr>
        <p:spPr>
          <a:xfrm>
            <a:off x="838200" y="991673"/>
            <a:ext cx="10515600" cy="5185290"/>
          </a:xfrm>
        </p:spPr>
        <p:txBody>
          <a:bodyPr/>
          <a:lstStyle/>
          <a:p>
            <a:r>
              <a:rPr lang="en-US" sz="2400" dirty="0"/>
              <a:t>This problem occurs when a transaction reads some variable from the buffer and when it reads the same variable later, it finds that the variable does not exist.</a:t>
            </a:r>
          </a:p>
          <a:p>
            <a:endParaRPr lang="en-US" dirty="0"/>
          </a:p>
        </p:txBody>
      </p:sp>
      <p:pic>
        <p:nvPicPr>
          <p:cNvPr id="4" name="Picture 3"/>
          <p:cNvPicPr>
            <a:picLocks noChangeAspect="1"/>
          </p:cNvPicPr>
          <p:nvPr/>
        </p:nvPicPr>
        <p:blipFill>
          <a:blip r:embed="rId2"/>
          <a:stretch>
            <a:fillRect/>
          </a:stretch>
        </p:blipFill>
        <p:spPr>
          <a:xfrm>
            <a:off x="1666941" y="2206446"/>
            <a:ext cx="4067175" cy="2419350"/>
          </a:xfrm>
          <a:prstGeom prst="rect">
            <a:avLst/>
          </a:prstGeom>
        </p:spPr>
      </p:pic>
      <p:sp>
        <p:nvSpPr>
          <p:cNvPr id="5" name="Rectangle 4"/>
          <p:cNvSpPr/>
          <p:nvPr/>
        </p:nvSpPr>
        <p:spPr>
          <a:xfrm>
            <a:off x="5628066" y="1975250"/>
            <a:ext cx="5164428" cy="3139321"/>
          </a:xfrm>
          <a:prstGeom prst="rect">
            <a:avLst/>
          </a:prstGeom>
        </p:spPr>
        <p:txBody>
          <a:bodyPr wrap="square">
            <a:spAutoFit/>
          </a:bodyPr>
          <a:lstStyle/>
          <a:p>
            <a:pPr fontAlgn="base"/>
            <a:r>
              <a:rPr lang="en-US" b="0" i="0" dirty="0">
                <a:solidFill>
                  <a:srgbClr val="303030"/>
                </a:solidFill>
                <a:effectLst/>
                <a:latin typeface="Arimo"/>
              </a:rPr>
              <a:t>Here,</a:t>
            </a:r>
          </a:p>
          <a:p>
            <a:pPr fontAlgn="base">
              <a:buFont typeface="+mj-lt"/>
              <a:buAutoNum type="arabicPeriod"/>
            </a:pPr>
            <a:r>
              <a:rPr lang="en-US" b="0" i="0" dirty="0">
                <a:solidFill>
                  <a:srgbClr val="303030"/>
                </a:solidFill>
                <a:effectLst/>
                <a:latin typeface="Arimo"/>
              </a:rPr>
              <a:t>T1 reads X.</a:t>
            </a:r>
          </a:p>
          <a:p>
            <a:pPr fontAlgn="base">
              <a:buFont typeface="+mj-lt"/>
              <a:buAutoNum type="arabicPeriod"/>
            </a:pPr>
            <a:r>
              <a:rPr lang="en-US" b="0" i="0" dirty="0">
                <a:solidFill>
                  <a:srgbClr val="303030"/>
                </a:solidFill>
                <a:effectLst/>
                <a:latin typeface="Arimo"/>
              </a:rPr>
              <a:t>T2 reads X.</a:t>
            </a:r>
          </a:p>
          <a:p>
            <a:pPr fontAlgn="base">
              <a:buFont typeface="+mj-lt"/>
              <a:buAutoNum type="arabicPeriod"/>
            </a:pPr>
            <a:r>
              <a:rPr lang="en-US" b="0" i="0" dirty="0">
                <a:solidFill>
                  <a:srgbClr val="303030"/>
                </a:solidFill>
                <a:effectLst/>
                <a:latin typeface="Arimo"/>
              </a:rPr>
              <a:t>T1 deletes X.</a:t>
            </a:r>
          </a:p>
          <a:p>
            <a:pPr fontAlgn="base">
              <a:buFont typeface="+mj-lt"/>
              <a:buAutoNum type="arabicPeriod"/>
            </a:pPr>
            <a:r>
              <a:rPr lang="en-US" b="0" i="0" dirty="0">
                <a:solidFill>
                  <a:srgbClr val="303030"/>
                </a:solidFill>
                <a:effectLst/>
                <a:latin typeface="Arimo"/>
              </a:rPr>
              <a:t>T2 tries reading X but does not find it.</a:t>
            </a:r>
          </a:p>
          <a:p>
            <a:pPr fontAlgn="base"/>
            <a:r>
              <a:rPr lang="en-US" b="0" i="0" dirty="0">
                <a:solidFill>
                  <a:srgbClr val="303030"/>
                </a:solidFill>
                <a:effectLst/>
                <a:latin typeface="Arimo"/>
              </a:rPr>
              <a:t> </a:t>
            </a:r>
          </a:p>
          <a:p>
            <a:pPr fontAlgn="base"/>
            <a:r>
              <a:rPr lang="en-US" b="0" i="0" dirty="0">
                <a:solidFill>
                  <a:srgbClr val="303030"/>
                </a:solidFill>
                <a:effectLst/>
                <a:latin typeface="Arimo"/>
              </a:rPr>
              <a:t>In this example,</a:t>
            </a:r>
          </a:p>
          <a:p>
            <a:pPr fontAlgn="base">
              <a:buFont typeface="Arial" panose="020B0604020202020204" pitchFamily="34" charset="0"/>
              <a:buChar char="•"/>
            </a:pPr>
            <a:r>
              <a:rPr lang="en-US" b="0" i="0" dirty="0">
                <a:solidFill>
                  <a:srgbClr val="303030"/>
                </a:solidFill>
                <a:effectLst/>
                <a:latin typeface="Arimo"/>
              </a:rPr>
              <a:t>T2 finds that there does not exist any variable X when it tries reading X again.</a:t>
            </a:r>
          </a:p>
          <a:p>
            <a:pPr fontAlgn="base">
              <a:buFont typeface="Arial" panose="020B0604020202020204" pitchFamily="34" charset="0"/>
              <a:buChar char="•"/>
            </a:pPr>
            <a:r>
              <a:rPr lang="en-US" b="0" i="0" dirty="0">
                <a:solidFill>
                  <a:srgbClr val="303030"/>
                </a:solidFill>
                <a:effectLst/>
                <a:latin typeface="Arimo"/>
              </a:rPr>
              <a:t>T2 wonders who deleted the variable X because according to it, it is running in isolation.</a:t>
            </a:r>
          </a:p>
        </p:txBody>
      </p:sp>
      <p:sp>
        <p:nvSpPr>
          <p:cNvPr id="6" name="Slide Number Placeholder 5">
            <a:extLst>
              <a:ext uri="{FF2B5EF4-FFF2-40B4-BE49-F238E27FC236}">
                <a16:creationId xmlns:a16="http://schemas.microsoft.com/office/drawing/2014/main" id="{78BCDF18-F6CD-6261-2C7F-1BB2A4E0CFDF}"/>
              </a:ext>
            </a:extLst>
          </p:cNvPr>
          <p:cNvSpPr>
            <a:spLocks noGrp="1"/>
          </p:cNvSpPr>
          <p:nvPr>
            <p:ph type="sldNum" sz="quarter" idx="12"/>
          </p:nvPr>
        </p:nvSpPr>
        <p:spPr/>
        <p:txBody>
          <a:bodyPr/>
          <a:lstStyle/>
          <a:p>
            <a:fld id="{9BED7385-1A27-4338-8D43-B2B3002AB878}" type="slidenum">
              <a:rPr lang="en-US" smtClean="0"/>
              <a:t>27</a:t>
            </a:fld>
            <a:endParaRPr lang="en-US"/>
          </a:p>
        </p:txBody>
      </p:sp>
    </p:spTree>
    <p:extLst>
      <p:ext uri="{BB962C8B-B14F-4D97-AF65-F5344CB8AC3E}">
        <p14:creationId xmlns:p14="http://schemas.microsoft.com/office/powerpoint/2010/main" val="1249731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Thus, in order to maintain consistency in the database and avoid such problems that take place in concurrent execution, management is needed, and that is where the concept of Concurrency Control comes into role.</a:t>
            </a:r>
          </a:p>
          <a:p>
            <a:pPr marL="0" indent="0">
              <a:buNone/>
            </a:pPr>
            <a:endParaRPr lang="en-US" dirty="0"/>
          </a:p>
        </p:txBody>
      </p:sp>
      <p:sp>
        <p:nvSpPr>
          <p:cNvPr id="4" name="Slide Number Placeholder 3">
            <a:extLst>
              <a:ext uri="{FF2B5EF4-FFF2-40B4-BE49-F238E27FC236}">
                <a16:creationId xmlns:a16="http://schemas.microsoft.com/office/drawing/2014/main" id="{E8823998-4D06-BB85-A076-6F8B2E1FAB26}"/>
              </a:ext>
            </a:extLst>
          </p:cNvPr>
          <p:cNvSpPr>
            <a:spLocks noGrp="1"/>
          </p:cNvSpPr>
          <p:nvPr>
            <p:ph type="sldNum" sz="quarter" idx="12"/>
          </p:nvPr>
        </p:nvSpPr>
        <p:spPr/>
        <p:txBody>
          <a:bodyPr/>
          <a:lstStyle/>
          <a:p>
            <a:fld id="{9BED7385-1A27-4338-8D43-B2B3002AB878}" type="slidenum">
              <a:rPr lang="en-US" smtClean="0"/>
              <a:t>28</a:t>
            </a:fld>
            <a:endParaRPr lang="en-US"/>
          </a:p>
        </p:txBody>
      </p:sp>
    </p:spTree>
    <p:extLst>
      <p:ext uri="{BB962C8B-B14F-4D97-AF65-F5344CB8AC3E}">
        <p14:creationId xmlns:p14="http://schemas.microsoft.com/office/powerpoint/2010/main" val="2171478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r>
              <a:rPr lang="en-US" altLang="en-US" sz="3600" dirty="0"/>
              <a:t>Why </a:t>
            </a:r>
            <a:r>
              <a:rPr lang="en-US" altLang="en-US" sz="3600" b="1" dirty="0"/>
              <a:t>recovery</a:t>
            </a:r>
            <a:r>
              <a:rPr lang="en-US" altLang="en-US" sz="3600" dirty="0"/>
              <a:t> is needed: </a:t>
            </a:r>
          </a:p>
          <a:p>
            <a:pPr marL="0" indent="0" algn="ctr">
              <a:buNone/>
            </a:pPr>
            <a:endParaRPr lang="en-US" sz="3600" dirty="0"/>
          </a:p>
        </p:txBody>
      </p:sp>
      <p:sp>
        <p:nvSpPr>
          <p:cNvPr id="2" name="Slide Number Placeholder 1">
            <a:extLst>
              <a:ext uri="{FF2B5EF4-FFF2-40B4-BE49-F238E27FC236}">
                <a16:creationId xmlns:a16="http://schemas.microsoft.com/office/drawing/2014/main" id="{B5AC68FE-5424-D737-26B9-B20509AA8DBD}"/>
              </a:ext>
            </a:extLst>
          </p:cNvPr>
          <p:cNvSpPr>
            <a:spLocks noGrp="1"/>
          </p:cNvSpPr>
          <p:nvPr>
            <p:ph type="sldNum" sz="quarter" idx="12"/>
          </p:nvPr>
        </p:nvSpPr>
        <p:spPr/>
        <p:txBody>
          <a:bodyPr/>
          <a:lstStyle/>
          <a:p>
            <a:fld id="{9BED7385-1A27-4338-8D43-B2B3002AB878}" type="slidenum">
              <a:rPr lang="en-US" smtClean="0"/>
              <a:t>29</a:t>
            </a:fld>
            <a:endParaRPr lang="en-US"/>
          </a:p>
        </p:txBody>
      </p:sp>
    </p:spTree>
    <p:extLst>
      <p:ext uri="{BB962C8B-B14F-4D97-AF65-F5344CB8AC3E}">
        <p14:creationId xmlns:p14="http://schemas.microsoft.com/office/powerpoint/2010/main" val="20348573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2484B692-3C09-4084-BEC7-C8984094724F}" type="slidenum">
              <a:rPr lang="en-US" altLang="en-US" sz="1400">
                <a:solidFill>
                  <a:srgbClr val="990033"/>
                </a:solidFill>
              </a:rPr>
              <a:pPr>
                <a:spcBef>
                  <a:spcPct val="0"/>
                </a:spcBef>
                <a:buClrTx/>
                <a:buSzTx/>
                <a:buFontTx/>
                <a:buNone/>
              </a:pPr>
              <a:t>30</a:t>
            </a:fld>
            <a:endParaRPr lang="en-CA" altLang="en-US" sz="1400">
              <a:solidFill>
                <a:srgbClr val="990033"/>
              </a:solidFill>
            </a:endParaRPr>
          </a:p>
        </p:txBody>
      </p:sp>
      <p:sp>
        <p:nvSpPr>
          <p:cNvPr id="45059" name="Rectangle 4"/>
          <p:cNvSpPr>
            <a:spLocks noGrp="1" noChangeArrowheads="1"/>
          </p:cNvSpPr>
          <p:nvPr>
            <p:ph type="title"/>
          </p:nvPr>
        </p:nvSpPr>
        <p:spPr>
          <a:xfrm>
            <a:off x="1752600" y="303214"/>
            <a:ext cx="8305800" cy="992187"/>
          </a:xfrm>
        </p:spPr>
        <p:txBody>
          <a:bodyPr>
            <a:normAutofit/>
          </a:bodyPr>
          <a:lstStyle/>
          <a:p>
            <a:pPr eaLnBrk="1" hangingPunct="1"/>
            <a:r>
              <a:rPr lang="en-US" altLang="en-US" dirty="0"/>
              <a:t>Transaction Processing</a:t>
            </a:r>
          </a:p>
        </p:txBody>
      </p:sp>
      <p:sp>
        <p:nvSpPr>
          <p:cNvPr id="45060" name="Rectangle 5"/>
          <p:cNvSpPr>
            <a:spLocks noGrp="1" noChangeArrowheads="1"/>
          </p:cNvSpPr>
          <p:nvPr>
            <p:ph type="body" idx="1"/>
          </p:nvPr>
        </p:nvSpPr>
        <p:spPr>
          <a:xfrm>
            <a:off x="838200" y="1361985"/>
            <a:ext cx="10515600" cy="4351338"/>
          </a:xfrm>
        </p:spPr>
        <p:txBody>
          <a:bodyPr>
            <a:normAutofit/>
          </a:bodyPr>
          <a:lstStyle/>
          <a:p>
            <a:pPr marL="533400" indent="-533400">
              <a:lnSpc>
                <a:spcPct val="80000"/>
              </a:lnSpc>
              <a:buNone/>
            </a:pPr>
            <a:r>
              <a:rPr lang="en-US" altLang="en-US" dirty="0"/>
              <a:t>Why </a:t>
            </a:r>
            <a:r>
              <a:rPr lang="en-US" altLang="en-US" b="1" dirty="0"/>
              <a:t>recovery</a:t>
            </a:r>
            <a:r>
              <a:rPr lang="en-US" altLang="en-US" dirty="0"/>
              <a:t> is needed: </a:t>
            </a:r>
          </a:p>
          <a:p>
            <a:pPr marL="533400" indent="-533400">
              <a:lnSpc>
                <a:spcPct val="80000"/>
              </a:lnSpc>
              <a:buNone/>
            </a:pPr>
            <a:r>
              <a:rPr lang="en-US" altLang="en-US" dirty="0"/>
              <a:t>(What causes a Transaction to fail)</a:t>
            </a:r>
          </a:p>
          <a:p>
            <a:pPr marL="952500" lvl="1" indent="-495300">
              <a:lnSpc>
                <a:spcPct val="80000"/>
              </a:lnSpc>
              <a:buNone/>
            </a:pPr>
            <a:r>
              <a:rPr lang="en-US" altLang="en-US" dirty="0"/>
              <a:t>1. A computer failure (system crash):</a:t>
            </a:r>
          </a:p>
          <a:p>
            <a:pPr marL="1371600" lvl="2" indent="-457200">
              <a:lnSpc>
                <a:spcPct val="80000"/>
              </a:lnSpc>
              <a:buNone/>
            </a:pPr>
            <a:r>
              <a:rPr lang="en-US" altLang="en-US" sz="2400" dirty="0"/>
              <a:t>A hardware or software error occurs in the computer system during transaction execution. If the hardware crashes, the contents of the computer’s internal memory may be lost.</a:t>
            </a:r>
          </a:p>
          <a:p>
            <a:pPr marL="952500" lvl="1" indent="-495300">
              <a:lnSpc>
                <a:spcPct val="80000"/>
              </a:lnSpc>
              <a:buNone/>
            </a:pPr>
            <a:r>
              <a:rPr lang="en-US" altLang="en-US" dirty="0"/>
              <a:t>2. A transaction or system error:</a:t>
            </a:r>
          </a:p>
          <a:p>
            <a:pPr marL="1371600" lvl="2" indent="-457200">
              <a:lnSpc>
                <a:spcPct val="80000"/>
              </a:lnSpc>
              <a:buNone/>
            </a:pPr>
            <a:r>
              <a:rPr lang="en-US" altLang="en-US" sz="2400" dirty="0"/>
              <a:t>Some operation in the transaction may cause it to fail, such as integer overflow or division by zero. Transaction failure may also occur because of erroneous parameter values or because of a logical programming error. In addition, the user may interrupt the transaction during its execution.</a:t>
            </a:r>
          </a:p>
        </p:txBody>
      </p:sp>
    </p:spTree>
    <p:extLst>
      <p:ext uri="{BB962C8B-B14F-4D97-AF65-F5344CB8AC3E}">
        <p14:creationId xmlns:p14="http://schemas.microsoft.com/office/powerpoint/2010/main" val="31921879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F767812F-1DAB-4D2E-8B77-D4DA06149D5F}" type="slidenum">
              <a:rPr lang="en-US" altLang="en-US" sz="1400">
                <a:solidFill>
                  <a:srgbClr val="990033"/>
                </a:solidFill>
              </a:rPr>
              <a:pPr>
                <a:spcBef>
                  <a:spcPct val="0"/>
                </a:spcBef>
                <a:buClrTx/>
                <a:buSzTx/>
                <a:buFontTx/>
                <a:buNone/>
              </a:pPr>
              <a:t>31</a:t>
            </a:fld>
            <a:endParaRPr lang="en-CA" altLang="en-US" sz="1400">
              <a:solidFill>
                <a:srgbClr val="990033"/>
              </a:solidFill>
            </a:endParaRPr>
          </a:p>
        </p:txBody>
      </p:sp>
      <p:sp>
        <p:nvSpPr>
          <p:cNvPr id="47107" name="Rectangle 2"/>
          <p:cNvSpPr>
            <a:spLocks noGrp="1" noChangeArrowheads="1"/>
          </p:cNvSpPr>
          <p:nvPr>
            <p:ph type="title"/>
          </p:nvPr>
        </p:nvSpPr>
        <p:spPr>
          <a:xfrm>
            <a:off x="1752600" y="303214"/>
            <a:ext cx="8001000" cy="992187"/>
          </a:xfrm>
        </p:spPr>
        <p:txBody>
          <a:bodyPr>
            <a:normAutofit/>
          </a:bodyPr>
          <a:lstStyle/>
          <a:p>
            <a:pPr eaLnBrk="1" hangingPunct="1"/>
            <a:r>
              <a:rPr lang="en-US" altLang="en-US" dirty="0"/>
              <a:t>Transaction Processing</a:t>
            </a:r>
          </a:p>
        </p:txBody>
      </p:sp>
      <p:sp>
        <p:nvSpPr>
          <p:cNvPr id="47108" name="Rectangle 3"/>
          <p:cNvSpPr>
            <a:spLocks noGrp="1" noChangeArrowheads="1"/>
          </p:cNvSpPr>
          <p:nvPr>
            <p:ph type="body" idx="1"/>
          </p:nvPr>
        </p:nvSpPr>
        <p:spPr>
          <a:xfrm>
            <a:off x="838200" y="1287887"/>
            <a:ext cx="10515600" cy="4889076"/>
          </a:xfrm>
        </p:spPr>
        <p:txBody>
          <a:bodyPr/>
          <a:lstStyle/>
          <a:p>
            <a:pPr marL="533400" indent="-533400">
              <a:lnSpc>
                <a:spcPct val="80000"/>
              </a:lnSpc>
              <a:buNone/>
            </a:pPr>
            <a:r>
              <a:rPr lang="en-US" altLang="en-US" sz="2400" dirty="0"/>
              <a:t>Why </a:t>
            </a:r>
            <a:r>
              <a:rPr lang="en-US" altLang="en-US" sz="2400" b="1" dirty="0"/>
              <a:t>recovery</a:t>
            </a:r>
            <a:r>
              <a:rPr lang="en-US" altLang="en-US" sz="2400" dirty="0"/>
              <a:t> is needed (Contd.): </a:t>
            </a:r>
          </a:p>
          <a:p>
            <a:pPr marL="533400" indent="-533400">
              <a:lnSpc>
                <a:spcPct val="80000"/>
              </a:lnSpc>
              <a:buNone/>
            </a:pPr>
            <a:r>
              <a:rPr lang="en-US" altLang="en-US" sz="2400" dirty="0"/>
              <a:t>(What causes a Transaction to fail)</a:t>
            </a:r>
          </a:p>
          <a:p>
            <a:pPr marL="952500" lvl="1" indent="-495300">
              <a:lnSpc>
                <a:spcPct val="80000"/>
              </a:lnSpc>
              <a:buNone/>
            </a:pPr>
            <a:r>
              <a:rPr lang="en-US" altLang="en-US" sz="2300" dirty="0"/>
              <a:t>3. Local errors or exception conditions detected by the transaction:</a:t>
            </a:r>
          </a:p>
          <a:p>
            <a:pPr marL="1371600" lvl="2" indent="-457200">
              <a:lnSpc>
                <a:spcPct val="80000"/>
              </a:lnSpc>
              <a:buNone/>
            </a:pPr>
            <a:r>
              <a:rPr lang="en-US" altLang="en-US" dirty="0"/>
              <a:t>Certain conditions necessitate cancellation of the transaction. For example, data for the transaction may not be found. A condition, such as insufficient account balance in a banking database, may cause a transaction, such as a fund withdrawal from that account, to be canceled. </a:t>
            </a:r>
          </a:p>
          <a:p>
            <a:pPr marL="1371600" lvl="2" indent="-457200">
              <a:lnSpc>
                <a:spcPct val="80000"/>
              </a:lnSpc>
              <a:buNone/>
            </a:pPr>
            <a:r>
              <a:rPr lang="en-US" altLang="en-US" dirty="0"/>
              <a:t>A programmed abort in the transaction causes it to fail.</a:t>
            </a:r>
          </a:p>
          <a:p>
            <a:pPr marL="952500" lvl="1" indent="-495300">
              <a:lnSpc>
                <a:spcPct val="80000"/>
              </a:lnSpc>
              <a:buNone/>
            </a:pPr>
            <a:r>
              <a:rPr lang="en-US" altLang="en-US" sz="2300" dirty="0"/>
              <a:t>4. Concurrency control enforcement:</a:t>
            </a:r>
          </a:p>
          <a:p>
            <a:pPr marL="1371600" lvl="2" indent="-457200">
              <a:lnSpc>
                <a:spcPct val="80000"/>
              </a:lnSpc>
              <a:buNone/>
            </a:pPr>
            <a:r>
              <a:rPr lang="en-US" altLang="en-US" dirty="0"/>
              <a:t>The concurrency control method may decide to abort the transaction, to be restarted later, because it violates serializability or because several transactions are in a state of deadlock (see later).</a:t>
            </a:r>
          </a:p>
        </p:txBody>
      </p:sp>
    </p:spTree>
    <p:extLst>
      <p:ext uri="{BB962C8B-B14F-4D97-AF65-F5344CB8AC3E}">
        <p14:creationId xmlns:p14="http://schemas.microsoft.com/office/powerpoint/2010/main" val="5050920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084C8FC9-0A09-4408-8672-F98FD5F9D973}" type="slidenum">
              <a:rPr lang="en-US" altLang="en-US" sz="1400">
                <a:solidFill>
                  <a:srgbClr val="990033"/>
                </a:solidFill>
              </a:rPr>
              <a:pPr>
                <a:spcBef>
                  <a:spcPct val="0"/>
                </a:spcBef>
                <a:buClrTx/>
                <a:buSzTx/>
                <a:buFontTx/>
                <a:buNone/>
              </a:pPr>
              <a:t>32</a:t>
            </a:fld>
            <a:endParaRPr lang="en-CA" altLang="en-US" sz="1400">
              <a:solidFill>
                <a:srgbClr val="990033"/>
              </a:solidFill>
            </a:endParaRPr>
          </a:p>
        </p:txBody>
      </p:sp>
      <p:sp>
        <p:nvSpPr>
          <p:cNvPr id="49155" name="Rectangle 2"/>
          <p:cNvSpPr>
            <a:spLocks noGrp="1" noChangeArrowheads="1"/>
          </p:cNvSpPr>
          <p:nvPr>
            <p:ph type="title"/>
          </p:nvPr>
        </p:nvSpPr>
        <p:spPr>
          <a:xfrm>
            <a:off x="1752600" y="303214"/>
            <a:ext cx="8077200" cy="992187"/>
          </a:xfrm>
        </p:spPr>
        <p:txBody>
          <a:bodyPr>
            <a:normAutofit/>
          </a:bodyPr>
          <a:lstStyle/>
          <a:p>
            <a:pPr eaLnBrk="1" hangingPunct="1"/>
            <a:r>
              <a:rPr lang="en-US" altLang="en-US" dirty="0"/>
              <a:t>Transaction Processing</a:t>
            </a:r>
          </a:p>
        </p:txBody>
      </p:sp>
      <p:sp>
        <p:nvSpPr>
          <p:cNvPr id="49156" name="Rectangle 3"/>
          <p:cNvSpPr>
            <a:spLocks noGrp="1" noChangeArrowheads="1"/>
          </p:cNvSpPr>
          <p:nvPr>
            <p:ph type="body" idx="1"/>
          </p:nvPr>
        </p:nvSpPr>
        <p:spPr>
          <a:xfrm>
            <a:off x="838200" y="1352282"/>
            <a:ext cx="10515600" cy="4824681"/>
          </a:xfrm>
        </p:spPr>
        <p:txBody>
          <a:bodyPr>
            <a:normAutofit/>
          </a:bodyPr>
          <a:lstStyle/>
          <a:p>
            <a:pPr marL="533400" indent="-533400">
              <a:lnSpc>
                <a:spcPct val="80000"/>
              </a:lnSpc>
              <a:buNone/>
            </a:pPr>
            <a:r>
              <a:rPr lang="en-US" altLang="en-US" sz="3200" dirty="0"/>
              <a:t>Why </a:t>
            </a:r>
            <a:r>
              <a:rPr lang="en-US" altLang="en-US" sz="3200" b="1" dirty="0"/>
              <a:t>recovery</a:t>
            </a:r>
            <a:r>
              <a:rPr lang="en-US" altLang="en-US" sz="3200" dirty="0"/>
              <a:t> is needed (contd.): </a:t>
            </a:r>
          </a:p>
          <a:p>
            <a:pPr marL="533400" indent="-533400">
              <a:lnSpc>
                <a:spcPct val="80000"/>
              </a:lnSpc>
              <a:buNone/>
            </a:pPr>
            <a:r>
              <a:rPr lang="en-US" altLang="en-US" sz="3200" dirty="0"/>
              <a:t>(What causes a Transaction to fail)</a:t>
            </a:r>
          </a:p>
          <a:p>
            <a:pPr marL="952500" lvl="1" indent="-495300">
              <a:lnSpc>
                <a:spcPct val="80000"/>
              </a:lnSpc>
              <a:buNone/>
            </a:pPr>
            <a:r>
              <a:rPr lang="en-US" altLang="en-US" sz="2800" dirty="0"/>
              <a:t>5. Disk failure:</a:t>
            </a:r>
          </a:p>
          <a:p>
            <a:pPr marL="1371600" lvl="2" indent="-457200">
              <a:lnSpc>
                <a:spcPct val="80000"/>
              </a:lnSpc>
              <a:buNone/>
            </a:pPr>
            <a:r>
              <a:rPr lang="en-US" altLang="en-US" sz="2400" dirty="0"/>
              <a:t>Some disk blocks may lose their data because of a read or write malfunction or because of a disk read/write head crash. This may happen during a read or a write operation of the transaction.</a:t>
            </a:r>
          </a:p>
          <a:p>
            <a:pPr marL="952500" lvl="1" indent="-495300">
              <a:lnSpc>
                <a:spcPct val="80000"/>
              </a:lnSpc>
              <a:buNone/>
            </a:pPr>
            <a:r>
              <a:rPr lang="en-US" altLang="en-US" sz="2800" dirty="0"/>
              <a:t>6. Physical problems and catastrophes:</a:t>
            </a:r>
          </a:p>
          <a:p>
            <a:pPr marL="1371600" lvl="2" indent="-457200">
              <a:lnSpc>
                <a:spcPct val="80000"/>
              </a:lnSpc>
              <a:buNone/>
            </a:pPr>
            <a:r>
              <a:rPr lang="en-US" altLang="en-US" sz="2400" dirty="0"/>
              <a:t>This refers to an endless list of problems that includes power or air-conditioning failure, fire, theft, sabotage, overwriting disks or tapes by mistake, and mounting of a wrong tape by the operator. </a:t>
            </a:r>
          </a:p>
        </p:txBody>
      </p:sp>
    </p:spTree>
    <p:extLst>
      <p:ext uri="{BB962C8B-B14F-4D97-AF65-F5344CB8AC3E}">
        <p14:creationId xmlns:p14="http://schemas.microsoft.com/office/powerpoint/2010/main" val="21067327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43B351C8-8E01-4ECA-AD56-463EDDE2A960}" type="slidenum">
              <a:rPr lang="en-US" altLang="en-US" sz="1400">
                <a:solidFill>
                  <a:srgbClr val="990033"/>
                </a:solidFill>
              </a:rPr>
              <a:pPr>
                <a:spcBef>
                  <a:spcPct val="0"/>
                </a:spcBef>
                <a:buClrTx/>
                <a:buSzTx/>
                <a:buFontTx/>
                <a:buNone/>
              </a:pPr>
              <a:t>33</a:t>
            </a:fld>
            <a:endParaRPr lang="en-CA" altLang="en-US" sz="1400">
              <a:solidFill>
                <a:srgbClr val="990033"/>
              </a:solidFill>
            </a:endParaRPr>
          </a:p>
        </p:txBody>
      </p:sp>
      <p:sp>
        <p:nvSpPr>
          <p:cNvPr id="51203" name="Rectangle 4"/>
          <p:cNvSpPr>
            <a:spLocks noGrp="1" noChangeArrowheads="1"/>
          </p:cNvSpPr>
          <p:nvPr>
            <p:ph type="title"/>
          </p:nvPr>
        </p:nvSpPr>
        <p:spPr/>
        <p:txBody>
          <a:bodyPr/>
          <a:lstStyle/>
          <a:p>
            <a:pPr eaLnBrk="1" hangingPunct="1"/>
            <a:r>
              <a:rPr lang="en-US" altLang="en-US" sz="3200"/>
              <a:t>Transaction and System Concepts</a:t>
            </a:r>
          </a:p>
        </p:txBody>
      </p:sp>
      <p:sp>
        <p:nvSpPr>
          <p:cNvPr id="51204" name="Rectangle 5"/>
          <p:cNvSpPr>
            <a:spLocks noGrp="1" noChangeArrowheads="1"/>
          </p:cNvSpPr>
          <p:nvPr>
            <p:ph type="body" idx="1"/>
          </p:nvPr>
        </p:nvSpPr>
        <p:spPr>
          <a:xfrm>
            <a:off x="786685" y="1323349"/>
            <a:ext cx="10515600" cy="4351338"/>
          </a:xfrm>
        </p:spPr>
        <p:txBody>
          <a:bodyPr>
            <a:normAutofit/>
          </a:bodyPr>
          <a:lstStyle/>
          <a:p>
            <a:pPr eaLnBrk="1" hangingPunct="1"/>
            <a:r>
              <a:rPr lang="en-US" altLang="en-US" sz="3200" dirty="0"/>
              <a:t>The System Log</a:t>
            </a:r>
          </a:p>
          <a:p>
            <a:pPr lvl="1" eaLnBrk="1" hangingPunct="1"/>
            <a:r>
              <a:rPr lang="en-US" altLang="en-US" sz="2800" b="1" dirty="0"/>
              <a:t>Log</a:t>
            </a:r>
            <a:r>
              <a:rPr lang="en-US" altLang="en-US" sz="2800" dirty="0"/>
              <a:t> or </a:t>
            </a:r>
            <a:r>
              <a:rPr lang="en-US" altLang="en-US" sz="2800" b="1" dirty="0"/>
              <a:t>Journal</a:t>
            </a:r>
            <a:r>
              <a:rPr lang="en-US" altLang="en-US" sz="2800" dirty="0"/>
              <a:t>: The log keeps track of all transaction operations that affect the values of database items.</a:t>
            </a:r>
          </a:p>
          <a:p>
            <a:pPr lvl="2" eaLnBrk="1" hangingPunct="1"/>
            <a:r>
              <a:rPr lang="en-US" altLang="en-US" sz="2400" dirty="0"/>
              <a:t>This information may be needed to permit recovery from transaction failures.</a:t>
            </a:r>
          </a:p>
          <a:p>
            <a:pPr lvl="2" eaLnBrk="1" hangingPunct="1"/>
            <a:r>
              <a:rPr lang="en-US" altLang="en-US" sz="2400" dirty="0"/>
              <a:t>The log is kept on disk, so it is not affected by any type of failure except for disk or catastrophic failure.</a:t>
            </a:r>
          </a:p>
          <a:p>
            <a:pPr lvl="2" eaLnBrk="1" hangingPunct="1"/>
            <a:r>
              <a:rPr lang="en-US" altLang="en-US" sz="2400" dirty="0"/>
              <a:t>In addition, the log is periodically backed up to archival storage (tape) to guard against such catastrophic failures.  </a:t>
            </a:r>
          </a:p>
        </p:txBody>
      </p:sp>
    </p:spTree>
    <p:extLst>
      <p:ext uri="{BB962C8B-B14F-4D97-AF65-F5344CB8AC3E}">
        <p14:creationId xmlns:p14="http://schemas.microsoft.com/office/powerpoint/2010/main" val="26984372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459C7354-A890-46E0-90BC-3151E618405F}" type="slidenum">
              <a:rPr lang="en-US" altLang="en-US" sz="1400">
                <a:solidFill>
                  <a:srgbClr val="990033"/>
                </a:solidFill>
              </a:rPr>
              <a:pPr>
                <a:spcBef>
                  <a:spcPct val="0"/>
                </a:spcBef>
                <a:buClrTx/>
                <a:buSzTx/>
                <a:buFontTx/>
                <a:buNone/>
              </a:pPr>
              <a:t>34</a:t>
            </a:fld>
            <a:endParaRPr lang="en-CA" altLang="en-US" sz="1400">
              <a:solidFill>
                <a:srgbClr val="990033"/>
              </a:solidFill>
            </a:endParaRPr>
          </a:p>
        </p:txBody>
      </p:sp>
      <p:sp>
        <p:nvSpPr>
          <p:cNvPr id="53252" name="Rectangle 5"/>
          <p:cNvSpPr>
            <a:spLocks noGrp="1" noChangeArrowheads="1"/>
          </p:cNvSpPr>
          <p:nvPr>
            <p:ph type="body" idx="1"/>
          </p:nvPr>
        </p:nvSpPr>
        <p:spPr>
          <a:xfrm>
            <a:off x="838200" y="679405"/>
            <a:ext cx="10515600" cy="4858510"/>
          </a:xfrm>
        </p:spPr>
        <p:txBody>
          <a:bodyPr>
            <a:noAutofit/>
          </a:bodyPr>
          <a:lstStyle/>
          <a:p>
            <a:pPr eaLnBrk="1" hangingPunct="1">
              <a:lnSpc>
                <a:spcPct val="80000"/>
              </a:lnSpc>
            </a:pPr>
            <a:r>
              <a:rPr lang="en-US" altLang="en-US" dirty="0"/>
              <a:t>The System Log (</a:t>
            </a:r>
            <a:r>
              <a:rPr lang="en-US" altLang="en-US" dirty="0" err="1"/>
              <a:t>cont</a:t>
            </a:r>
            <a:r>
              <a:rPr lang="en-US" altLang="en-US" dirty="0"/>
              <a:t>):</a:t>
            </a:r>
          </a:p>
          <a:p>
            <a:pPr lvl="1" eaLnBrk="1" hangingPunct="1">
              <a:lnSpc>
                <a:spcPct val="80000"/>
              </a:lnSpc>
            </a:pPr>
            <a:r>
              <a:rPr lang="en-US" altLang="en-US" dirty="0"/>
              <a:t>T in the following discussion refers to a unique </a:t>
            </a:r>
            <a:r>
              <a:rPr lang="en-US" altLang="en-US" b="1" dirty="0"/>
              <a:t>transaction-id</a:t>
            </a:r>
            <a:r>
              <a:rPr lang="en-US" altLang="en-US" dirty="0"/>
              <a:t> that is generated automatically by the system and is used to identify each transaction: </a:t>
            </a:r>
          </a:p>
          <a:p>
            <a:pPr lvl="1" eaLnBrk="1" hangingPunct="1">
              <a:lnSpc>
                <a:spcPct val="80000"/>
              </a:lnSpc>
            </a:pPr>
            <a:r>
              <a:rPr lang="en-US" altLang="en-US" dirty="0"/>
              <a:t>Types of log record: </a:t>
            </a:r>
          </a:p>
          <a:p>
            <a:pPr lvl="2" eaLnBrk="1" hangingPunct="1">
              <a:lnSpc>
                <a:spcPct val="80000"/>
              </a:lnSpc>
            </a:pPr>
            <a:r>
              <a:rPr lang="en-US" altLang="en-US" sz="2400" dirty="0"/>
              <a:t>[start_transaction,T]: Records that transaction T has started execution.</a:t>
            </a:r>
          </a:p>
          <a:p>
            <a:pPr lvl="2" eaLnBrk="1" hangingPunct="1">
              <a:lnSpc>
                <a:spcPct val="80000"/>
              </a:lnSpc>
            </a:pPr>
            <a:r>
              <a:rPr lang="en-US" altLang="en-US" sz="2400" dirty="0"/>
              <a:t>[</a:t>
            </a:r>
            <a:r>
              <a:rPr lang="en-US" altLang="en-US" sz="2400" dirty="0" err="1"/>
              <a:t>write_item,T,X,old_value,new_value</a:t>
            </a:r>
            <a:r>
              <a:rPr lang="en-US" altLang="en-US" sz="2400" dirty="0"/>
              <a:t>]: Records that transaction T has changed the value of database item X from </a:t>
            </a:r>
            <a:r>
              <a:rPr lang="en-US" altLang="en-US" sz="2400" dirty="0" err="1"/>
              <a:t>old_value</a:t>
            </a:r>
            <a:r>
              <a:rPr lang="en-US" altLang="en-US" sz="2400" dirty="0"/>
              <a:t> to </a:t>
            </a:r>
            <a:r>
              <a:rPr lang="en-US" altLang="en-US" sz="2400" dirty="0" err="1"/>
              <a:t>new_value</a:t>
            </a:r>
            <a:r>
              <a:rPr lang="en-US" altLang="en-US" sz="2400" dirty="0"/>
              <a:t>.</a:t>
            </a:r>
          </a:p>
          <a:p>
            <a:pPr lvl="2" eaLnBrk="1" hangingPunct="1">
              <a:lnSpc>
                <a:spcPct val="80000"/>
              </a:lnSpc>
            </a:pPr>
            <a:r>
              <a:rPr lang="en-US" altLang="en-US" sz="2400" dirty="0"/>
              <a:t>[</a:t>
            </a:r>
            <a:r>
              <a:rPr lang="en-US" altLang="en-US" sz="2400" dirty="0" err="1"/>
              <a:t>read_item,T,X</a:t>
            </a:r>
            <a:r>
              <a:rPr lang="en-US" altLang="en-US" sz="2400" dirty="0"/>
              <a:t>]: Records that transaction T  has read the value of database item X.</a:t>
            </a:r>
          </a:p>
          <a:p>
            <a:pPr lvl="2" eaLnBrk="1" hangingPunct="1">
              <a:lnSpc>
                <a:spcPct val="80000"/>
              </a:lnSpc>
            </a:pPr>
            <a:r>
              <a:rPr lang="en-US" altLang="en-US" sz="2400" dirty="0"/>
              <a:t>[</a:t>
            </a:r>
            <a:r>
              <a:rPr lang="en-US" altLang="en-US" sz="2400" dirty="0" err="1"/>
              <a:t>commit,T</a:t>
            </a:r>
            <a:r>
              <a:rPr lang="en-US" altLang="en-US" sz="2400" dirty="0"/>
              <a:t>]: Records that transaction T has completed successfully, and affirms that its effect can be committed (recorded permanently) to the database.</a:t>
            </a:r>
          </a:p>
          <a:p>
            <a:pPr lvl="2" eaLnBrk="1" hangingPunct="1">
              <a:lnSpc>
                <a:spcPct val="80000"/>
              </a:lnSpc>
            </a:pPr>
            <a:r>
              <a:rPr lang="en-US" altLang="en-US" sz="2400" dirty="0"/>
              <a:t>[</a:t>
            </a:r>
            <a:r>
              <a:rPr lang="en-US" altLang="en-US" sz="2400" dirty="0" err="1"/>
              <a:t>abort,T</a:t>
            </a:r>
            <a:r>
              <a:rPr lang="en-US" altLang="en-US" sz="2400" dirty="0"/>
              <a:t>]: Records that transaction T has been aborted. </a:t>
            </a:r>
          </a:p>
        </p:txBody>
      </p:sp>
    </p:spTree>
    <p:extLst>
      <p:ext uri="{BB962C8B-B14F-4D97-AF65-F5344CB8AC3E}">
        <p14:creationId xmlns:p14="http://schemas.microsoft.com/office/powerpoint/2010/main" val="30804942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1CD9AA59-5EDA-4531-9263-BC0DF87D6E1F}" type="slidenum">
              <a:rPr lang="en-US" altLang="en-US" sz="1400">
                <a:solidFill>
                  <a:srgbClr val="990033"/>
                </a:solidFill>
              </a:rPr>
              <a:pPr>
                <a:spcBef>
                  <a:spcPct val="0"/>
                </a:spcBef>
                <a:buClrTx/>
                <a:buSzTx/>
                <a:buFontTx/>
                <a:buNone/>
              </a:pPr>
              <a:t>35</a:t>
            </a:fld>
            <a:endParaRPr lang="en-CA" altLang="en-US" sz="1400">
              <a:solidFill>
                <a:srgbClr val="990033"/>
              </a:solidFill>
            </a:endParaRPr>
          </a:p>
        </p:txBody>
      </p:sp>
      <p:sp>
        <p:nvSpPr>
          <p:cNvPr id="55300" name="Rectangle 5"/>
          <p:cNvSpPr>
            <a:spLocks noGrp="1" noChangeArrowheads="1"/>
          </p:cNvSpPr>
          <p:nvPr>
            <p:ph type="body" idx="1"/>
          </p:nvPr>
        </p:nvSpPr>
        <p:spPr>
          <a:xfrm>
            <a:off x="838200" y="1365161"/>
            <a:ext cx="10515600" cy="4811802"/>
          </a:xfrm>
        </p:spPr>
        <p:txBody>
          <a:bodyPr>
            <a:normAutofit/>
          </a:bodyPr>
          <a:lstStyle/>
          <a:p>
            <a:pPr algn="just" eaLnBrk="1" hangingPunct="1">
              <a:lnSpc>
                <a:spcPct val="80000"/>
              </a:lnSpc>
              <a:buFont typeface="Wingdings" panose="05000000000000000000" pitchFamily="2" charset="2"/>
              <a:buNone/>
            </a:pPr>
            <a:r>
              <a:rPr lang="en-US" altLang="en-US" dirty="0"/>
              <a:t>Commit Point of a Transaction:</a:t>
            </a:r>
          </a:p>
          <a:p>
            <a:pPr algn="just" eaLnBrk="1" hangingPunct="1">
              <a:lnSpc>
                <a:spcPct val="80000"/>
              </a:lnSpc>
            </a:pPr>
            <a:r>
              <a:rPr lang="en-US" altLang="en-US" b="1" dirty="0"/>
              <a:t>Definition a Commit Point: </a:t>
            </a:r>
          </a:p>
          <a:p>
            <a:pPr lvl="1" algn="just" eaLnBrk="1" hangingPunct="1">
              <a:lnSpc>
                <a:spcPct val="80000"/>
              </a:lnSpc>
            </a:pPr>
            <a:r>
              <a:rPr lang="en-US" altLang="en-US" dirty="0"/>
              <a:t>A transaction T reaches its </a:t>
            </a:r>
            <a:r>
              <a:rPr lang="en-US" altLang="en-US" b="1" dirty="0"/>
              <a:t>commit point</a:t>
            </a:r>
            <a:r>
              <a:rPr lang="en-US" altLang="en-US" dirty="0"/>
              <a:t> when all its operations that access the database have been executed successfully </a:t>
            </a:r>
            <a:r>
              <a:rPr lang="en-US" altLang="en-US" i="1" dirty="0"/>
              <a:t>and</a:t>
            </a:r>
            <a:r>
              <a:rPr lang="en-US" altLang="en-US" dirty="0"/>
              <a:t> the effect of all the transaction operations on the database has been recorded in the log.</a:t>
            </a:r>
          </a:p>
          <a:p>
            <a:pPr lvl="1" algn="just" eaLnBrk="1" hangingPunct="1">
              <a:lnSpc>
                <a:spcPct val="80000"/>
              </a:lnSpc>
            </a:pPr>
            <a:r>
              <a:rPr lang="en-US" altLang="en-US" dirty="0"/>
              <a:t>Beyond the commit point, the transaction is said to be committed, and its effect is assumed to be permanently recorded in the database.</a:t>
            </a:r>
          </a:p>
          <a:p>
            <a:pPr lvl="1" algn="just" eaLnBrk="1" hangingPunct="1">
              <a:lnSpc>
                <a:spcPct val="80000"/>
              </a:lnSpc>
            </a:pPr>
            <a:r>
              <a:rPr lang="en-US" altLang="en-US" dirty="0"/>
              <a:t>The transaction then writes an entry [commit, T] into the log. </a:t>
            </a:r>
          </a:p>
          <a:p>
            <a:pPr algn="just" eaLnBrk="1" hangingPunct="1">
              <a:lnSpc>
                <a:spcPct val="80000"/>
              </a:lnSpc>
            </a:pPr>
            <a:r>
              <a:rPr lang="en-US" altLang="en-US" b="1" dirty="0"/>
              <a:t>Roll Back of transactions:</a:t>
            </a:r>
          </a:p>
          <a:p>
            <a:pPr lvl="1" algn="just" eaLnBrk="1" hangingPunct="1">
              <a:lnSpc>
                <a:spcPct val="80000"/>
              </a:lnSpc>
            </a:pPr>
            <a:r>
              <a:rPr lang="en-US" altLang="en-US" dirty="0"/>
              <a:t>Needed for transactions that have a [start_transaction,T] entry into the log but no commit entry [commit, T] into the log. </a:t>
            </a:r>
          </a:p>
        </p:txBody>
      </p:sp>
    </p:spTree>
    <p:extLst>
      <p:ext uri="{BB962C8B-B14F-4D97-AF65-F5344CB8AC3E}">
        <p14:creationId xmlns:p14="http://schemas.microsoft.com/office/powerpoint/2010/main" val="20813493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B7110DEF-9F60-421B-B136-4A70127DF939}" type="slidenum">
              <a:rPr lang="en-US" altLang="en-US" sz="1400">
                <a:solidFill>
                  <a:srgbClr val="990033"/>
                </a:solidFill>
              </a:rPr>
              <a:pPr>
                <a:spcBef>
                  <a:spcPct val="0"/>
                </a:spcBef>
                <a:buClrTx/>
                <a:buSzTx/>
                <a:buFontTx/>
                <a:buNone/>
              </a:pPr>
              <a:t>36</a:t>
            </a:fld>
            <a:endParaRPr lang="en-CA" altLang="en-US" sz="1400">
              <a:solidFill>
                <a:srgbClr val="990033"/>
              </a:solidFill>
            </a:endParaRPr>
          </a:p>
        </p:txBody>
      </p:sp>
      <p:sp>
        <p:nvSpPr>
          <p:cNvPr id="57348" name="Rectangle 5"/>
          <p:cNvSpPr>
            <a:spLocks noGrp="1" noChangeArrowheads="1"/>
          </p:cNvSpPr>
          <p:nvPr>
            <p:ph type="body" idx="1"/>
          </p:nvPr>
        </p:nvSpPr>
        <p:spPr>
          <a:xfrm>
            <a:off x="696533" y="911224"/>
            <a:ext cx="10515600" cy="4755479"/>
          </a:xfrm>
        </p:spPr>
        <p:txBody>
          <a:bodyPr>
            <a:noAutofit/>
          </a:bodyPr>
          <a:lstStyle/>
          <a:p>
            <a:pPr eaLnBrk="1" hangingPunct="1">
              <a:lnSpc>
                <a:spcPct val="80000"/>
              </a:lnSpc>
              <a:buFont typeface="Wingdings" panose="05000000000000000000" pitchFamily="2" charset="2"/>
              <a:buNone/>
            </a:pPr>
            <a:r>
              <a:rPr lang="en-US" altLang="en-US" sz="2400" dirty="0"/>
              <a:t>Commit Point of a Transaction (</a:t>
            </a:r>
            <a:r>
              <a:rPr lang="en-US" altLang="en-US" sz="2400" dirty="0" err="1"/>
              <a:t>cont</a:t>
            </a:r>
            <a:r>
              <a:rPr lang="en-US" altLang="en-US" sz="2400" dirty="0"/>
              <a:t>):</a:t>
            </a:r>
          </a:p>
          <a:p>
            <a:pPr eaLnBrk="1" hangingPunct="1">
              <a:lnSpc>
                <a:spcPct val="80000"/>
              </a:lnSpc>
            </a:pPr>
            <a:r>
              <a:rPr lang="en-US" altLang="en-US" sz="2400" b="1" dirty="0"/>
              <a:t>Redoing transactions:</a:t>
            </a:r>
          </a:p>
          <a:p>
            <a:pPr lvl="1" eaLnBrk="1" hangingPunct="1">
              <a:lnSpc>
                <a:spcPct val="80000"/>
              </a:lnSpc>
            </a:pPr>
            <a:r>
              <a:rPr lang="en-US" altLang="en-US" dirty="0"/>
              <a:t>Transactions that have written their commit entry in the log must also have recorded all their write operations in the log; otherwise they would not be committed, so their effect on the database can be redone from the log entries. (Notice that the log file must be kept on disk.</a:t>
            </a:r>
          </a:p>
          <a:p>
            <a:pPr lvl="1" eaLnBrk="1" hangingPunct="1">
              <a:lnSpc>
                <a:spcPct val="80000"/>
              </a:lnSpc>
            </a:pPr>
            <a:r>
              <a:rPr lang="en-US" altLang="en-US" dirty="0"/>
              <a:t>At the time of a system crash, only the log entries that have been written back to disk are considered in the recovery process because the contents of main memory may be lost.)</a:t>
            </a:r>
          </a:p>
          <a:p>
            <a:pPr eaLnBrk="1" hangingPunct="1">
              <a:lnSpc>
                <a:spcPct val="80000"/>
              </a:lnSpc>
            </a:pPr>
            <a:r>
              <a:rPr lang="en-US" altLang="en-US" sz="2400" b="1" dirty="0"/>
              <a:t>Force writing a log:</a:t>
            </a:r>
          </a:p>
          <a:p>
            <a:pPr lvl="1" eaLnBrk="1" hangingPunct="1">
              <a:lnSpc>
                <a:spcPct val="80000"/>
              </a:lnSpc>
            </a:pPr>
            <a:r>
              <a:rPr lang="en-US" altLang="en-US" dirty="0"/>
              <a:t>Before a transaction reaches its commit point, any portion of the log that has not been written to the disk yet must now be written to the disk. </a:t>
            </a:r>
          </a:p>
          <a:p>
            <a:pPr lvl="1" eaLnBrk="1" hangingPunct="1">
              <a:lnSpc>
                <a:spcPct val="80000"/>
              </a:lnSpc>
            </a:pPr>
            <a:r>
              <a:rPr lang="en-US" altLang="en-US" dirty="0"/>
              <a:t>This process is called force-writing the log file before committing a transaction. </a:t>
            </a:r>
          </a:p>
        </p:txBody>
      </p:sp>
    </p:spTree>
    <p:extLst>
      <p:ext uri="{BB962C8B-B14F-4D97-AF65-F5344CB8AC3E}">
        <p14:creationId xmlns:p14="http://schemas.microsoft.com/office/powerpoint/2010/main" val="36404609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FD9DC5A6-D8C0-4F4A-99DE-6D1F013421EE}" type="slidenum">
              <a:rPr lang="en-US" altLang="en-US" sz="1400">
                <a:solidFill>
                  <a:srgbClr val="990033"/>
                </a:solidFill>
              </a:rPr>
              <a:pPr>
                <a:spcBef>
                  <a:spcPct val="0"/>
                </a:spcBef>
                <a:buClrTx/>
                <a:buSzTx/>
                <a:buFontTx/>
                <a:buNone/>
              </a:pPr>
              <a:t>37</a:t>
            </a:fld>
            <a:endParaRPr lang="en-CA" altLang="en-US" sz="1400">
              <a:solidFill>
                <a:srgbClr val="990033"/>
              </a:solidFill>
            </a:endParaRPr>
          </a:p>
        </p:txBody>
      </p:sp>
      <p:sp>
        <p:nvSpPr>
          <p:cNvPr id="59395" name="Rectangle 4"/>
          <p:cNvSpPr>
            <a:spLocks noGrp="1" noChangeArrowheads="1"/>
          </p:cNvSpPr>
          <p:nvPr>
            <p:ph type="title"/>
          </p:nvPr>
        </p:nvSpPr>
        <p:spPr>
          <a:xfrm>
            <a:off x="838200" y="365126"/>
            <a:ext cx="10515600" cy="626548"/>
          </a:xfrm>
        </p:spPr>
        <p:txBody>
          <a:bodyPr>
            <a:normAutofit fontScale="90000"/>
          </a:bodyPr>
          <a:lstStyle/>
          <a:p>
            <a:pPr eaLnBrk="1" hangingPunct="1"/>
            <a:r>
              <a:rPr lang="en-US" altLang="en-US"/>
              <a:t>Schedules</a:t>
            </a:r>
          </a:p>
        </p:txBody>
      </p:sp>
      <p:sp>
        <p:nvSpPr>
          <p:cNvPr id="59396" name="Rectangle 5"/>
          <p:cNvSpPr>
            <a:spLocks noGrp="1" noChangeArrowheads="1"/>
          </p:cNvSpPr>
          <p:nvPr>
            <p:ph type="body" idx="1"/>
          </p:nvPr>
        </p:nvSpPr>
        <p:spPr>
          <a:xfrm>
            <a:off x="838200" y="991673"/>
            <a:ext cx="10515600" cy="5185290"/>
          </a:xfrm>
        </p:spPr>
        <p:txBody>
          <a:bodyPr>
            <a:normAutofit/>
          </a:bodyPr>
          <a:lstStyle/>
          <a:p>
            <a:pPr eaLnBrk="1" hangingPunct="1">
              <a:lnSpc>
                <a:spcPct val="80000"/>
              </a:lnSpc>
            </a:pPr>
            <a:r>
              <a:rPr lang="en-US" altLang="en-US" b="1" dirty="0"/>
              <a:t>Transaction schedule or history</a:t>
            </a:r>
            <a:r>
              <a:rPr lang="en-US" altLang="en-US" dirty="0"/>
              <a:t>:</a:t>
            </a:r>
          </a:p>
          <a:p>
            <a:pPr lvl="1" eaLnBrk="1" hangingPunct="1">
              <a:lnSpc>
                <a:spcPct val="80000"/>
              </a:lnSpc>
            </a:pPr>
            <a:r>
              <a:rPr lang="en-US" altLang="en-US" dirty="0"/>
              <a:t>When transactions are executing concurrently in an interleaved fashion, the order of execution of operations from the various transactions forms what is known as a transaction schedule (or history). </a:t>
            </a:r>
          </a:p>
          <a:p>
            <a:pPr marL="457200" lvl="1" indent="0" eaLnBrk="1" hangingPunct="1">
              <a:lnSpc>
                <a:spcPct val="80000"/>
              </a:lnSpc>
              <a:buNone/>
            </a:pPr>
            <a:endParaRPr lang="en-US" altLang="en-US" dirty="0"/>
          </a:p>
          <a:p>
            <a:pPr algn="just">
              <a:lnSpc>
                <a:spcPct val="80000"/>
              </a:lnSpc>
            </a:pPr>
            <a:r>
              <a:rPr lang="en-US" altLang="en-US" dirty="0"/>
              <a:t>A </a:t>
            </a:r>
            <a:r>
              <a:rPr lang="en-US" altLang="en-US" b="1" dirty="0"/>
              <a:t>schedule</a:t>
            </a:r>
            <a:r>
              <a:rPr lang="en-US" altLang="en-US" dirty="0"/>
              <a:t> (or </a:t>
            </a:r>
            <a:r>
              <a:rPr lang="en-US" altLang="en-US" b="1" dirty="0"/>
              <a:t>history</a:t>
            </a:r>
            <a:r>
              <a:rPr lang="en-US" altLang="en-US" dirty="0"/>
              <a:t>) S of n transactions T1, T2, …, Tn:</a:t>
            </a:r>
          </a:p>
          <a:p>
            <a:pPr marL="0" indent="0" algn="just">
              <a:lnSpc>
                <a:spcPct val="80000"/>
              </a:lnSpc>
              <a:buNone/>
            </a:pPr>
            <a:r>
              <a:rPr lang="en-US" sz="2400" dirty="0"/>
              <a:t>In DBMS transaction processing, a </a:t>
            </a:r>
            <a:r>
              <a:rPr lang="en-US" sz="2400" b="1" dirty="0"/>
              <a:t>schedule</a:t>
            </a:r>
            <a:r>
              <a:rPr lang="en-US" sz="2400" dirty="0"/>
              <a:t> (or </a:t>
            </a:r>
            <a:r>
              <a:rPr lang="en-US" sz="2400" b="1" dirty="0"/>
              <a:t>history</a:t>
            </a:r>
            <a:r>
              <a:rPr lang="en-US" sz="2400" dirty="0"/>
              <a:t>) is the actual, chronological order in which operations from multiple concurrent transactions are executed, either serially or with interleaved operations. Schedules are crucial for </a:t>
            </a:r>
            <a:r>
              <a:rPr lang="en-US" sz="2400" b="1" dirty="0"/>
              <a:t>concurrency control</a:t>
            </a:r>
            <a:r>
              <a:rPr lang="en-US" sz="2400" dirty="0"/>
              <a:t> .</a:t>
            </a:r>
            <a:endParaRPr lang="en-US" altLang="en-US" dirty="0"/>
          </a:p>
        </p:txBody>
      </p:sp>
    </p:spTree>
    <p:extLst>
      <p:ext uri="{BB962C8B-B14F-4D97-AF65-F5344CB8AC3E}">
        <p14:creationId xmlns:p14="http://schemas.microsoft.com/office/powerpoint/2010/main" val="33182972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4ACB1-7039-DB17-54D6-C364EBFDFF04}"/>
              </a:ext>
            </a:extLst>
          </p:cNvPr>
          <p:cNvSpPr>
            <a:spLocks noGrp="1"/>
          </p:cNvSpPr>
          <p:nvPr>
            <p:ph type="title"/>
          </p:nvPr>
        </p:nvSpPr>
        <p:spPr/>
        <p:txBody>
          <a:bodyPr/>
          <a:lstStyle/>
          <a:p>
            <a:r>
              <a:rPr lang="en-US" altLang="en-US" b="1" dirty="0">
                <a:solidFill>
                  <a:srgbClr val="001D35"/>
                </a:solidFill>
                <a:latin typeface="Google Sans"/>
              </a:rPr>
              <a:t>Why are Schedules Important?</a:t>
            </a:r>
            <a:br>
              <a:rPr lang="en-US" altLang="en-US" sz="2400" dirty="0"/>
            </a:br>
            <a:endParaRPr lang="en-IN" dirty="0"/>
          </a:p>
        </p:txBody>
      </p:sp>
      <p:sp>
        <p:nvSpPr>
          <p:cNvPr id="4" name="Slide Number Placeholder 3">
            <a:extLst>
              <a:ext uri="{FF2B5EF4-FFF2-40B4-BE49-F238E27FC236}">
                <a16:creationId xmlns:a16="http://schemas.microsoft.com/office/drawing/2014/main" id="{67B433D9-F5C2-32FA-E965-2AE4141A3F7D}"/>
              </a:ext>
            </a:extLst>
          </p:cNvPr>
          <p:cNvSpPr>
            <a:spLocks noGrp="1"/>
          </p:cNvSpPr>
          <p:nvPr>
            <p:ph type="sldNum" sz="quarter" idx="12"/>
          </p:nvPr>
        </p:nvSpPr>
        <p:spPr/>
        <p:txBody>
          <a:bodyPr/>
          <a:lstStyle/>
          <a:p>
            <a:fld id="{9BED7385-1A27-4338-8D43-B2B3002AB878}" type="slidenum">
              <a:rPr lang="en-US" smtClean="0"/>
              <a:t>38</a:t>
            </a:fld>
            <a:endParaRPr lang="en-US"/>
          </a:p>
        </p:txBody>
      </p:sp>
      <p:sp>
        <p:nvSpPr>
          <p:cNvPr id="5" name="Rectangle 1">
            <a:extLst>
              <a:ext uri="{FF2B5EF4-FFF2-40B4-BE49-F238E27FC236}">
                <a16:creationId xmlns:a16="http://schemas.microsoft.com/office/drawing/2014/main" id="{28EFD067-6061-F9BC-FA60-7ABBD6003DAA}"/>
              </a:ext>
            </a:extLst>
          </p:cNvPr>
          <p:cNvSpPr>
            <a:spLocks noGrp="1" noChangeArrowheads="1"/>
          </p:cNvSpPr>
          <p:nvPr>
            <p:ph idx="1"/>
          </p:nvPr>
        </p:nvSpPr>
        <p:spPr bwMode="auto">
          <a:xfrm>
            <a:off x="1361660" y="1347048"/>
            <a:ext cx="9541566" cy="425495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Concurrency: </a:t>
            </a:r>
            <a:r>
              <a:rPr kumimoji="0" lang="en-US" altLang="en-US" b="0" i="0" u="none" strike="noStrike" cap="none" normalizeH="0" baseline="0" dirty="0">
                <a:ln>
                  <a:noFill/>
                </a:ln>
                <a:solidFill>
                  <a:srgbClr val="545D7E"/>
                </a:solidFill>
                <a:effectLst/>
                <a:latin typeface="Times New Roman" panose="02020603050405020304" pitchFamily="18" charset="0"/>
                <a:cs typeface="Times New Roman" panose="02020603050405020304" pitchFamily="18" charset="0"/>
              </a:rPr>
              <a:t>In a multi-user system, many transactions run simultaneously. A schedule determines the specific order in which their operations are interleaved. </a:t>
            </a:r>
            <a:endParaRPr kumimoji="0" lang="en-US" altLang="en-US" b="0" i="0" u="none" strike="noStrike" cap="none" normalizeH="0" baseline="0" dirty="0">
              <a:ln>
                <a:noFill/>
              </a:ln>
              <a:solidFill>
                <a:srgbClr val="474747"/>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Data Consistency: </a:t>
            </a:r>
            <a:r>
              <a:rPr kumimoji="0" lang="en-US" altLang="en-US" b="0" i="0" u="none" strike="noStrike" cap="none" normalizeH="0" baseline="0" dirty="0">
                <a:ln>
                  <a:noFill/>
                </a:ln>
                <a:solidFill>
                  <a:srgbClr val="545D7E"/>
                </a:solidFill>
                <a:effectLst/>
                <a:latin typeface="Times New Roman" panose="02020603050405020304" pitchFamily="18" charset="0"/>
                <a:cs typeface="Times New Roman" panose="02020603050405020304" pitchFamily="18" charset="0"/>
              </a:rPr>
              <a:t>Without proper scheduling, interleaved operations can lead to data loss or inconsistencies. </a:t>
            </a:r>
            <a:endParaRPr kumimoji="0" lang="en-US" altLang="en-US" b="0" i="0" u="none" strike="noStrike" cap="none" normalizeH="0" baseline="0" dirty="0">
              <a:ln>
                <a:noFill/>
              </a:ln>
              <a:solidFill>
                <a:srgbClr val="474747"/>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rPr>
              <a:t>Transaction Integrity: </a:t>
            </a:r>
            <a:r>
              <a:rPr kumimoji="0" lang="en-US" altLang="en-US" b="0" i="0" u="none" strike="noStrike" cap="none" normalizeH="0" baseline="0" dirty="0">
                <a:ln>
                  <a:noFill/>
                </a:ln>
                <a:solidFill>
                  <a:srgbClr val="545D7E"/>
                </a:solidFill>
                <a:effectLst/>
                <a:latin typeface="Times New Roman" panose="02020603050405020304" pitchFamily="18" charset="0"/>
                <a:cs typeface="Times New Roman" panose="02020603050405020304" pitchFamily="18" charset="0"/>
              </a:rPr>
              <a:t>Schedules are fundamental to ensuring that transactions are processed reliably, even in the face of failures. </a:t>
            </a:r>
            <a:endParaRPr kumimoji="0" lang="en-US" altLang="en-US" b="0" i="0" u="none" strike="noStrike" cap="none" normalizeH="0" baseline="0" dirty="0">
              <a:ln>
                <a:noFill/>
              </a:ln>
              <a:solidFill>
                <a:srgbClr val="001D35"/>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12519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519708" y="231820"/>
            <a:ext cx="8281116" cy="6375042"/>
          </a:xfrm>
          <a:prstGeom prst="rect">
            <a:avLst/>
          </a:prstGeom>
        </p:spPr>
      </p:pic>
      <p:sp>
        <p:nvSpPr>
          <p:cNvPr id="2" name="Slide Number Placeholder 1">
            <a:extLst>
              <a:ext uri="{FF2B5EF4-FFF2-40B4-BE49-F238E27FC236}">
                <a16:creationId xmlns:a16="http://schemas.microsoft.com/office/drawing/2014/main" id="{E20E0EFF-2A95-7309-BF97-4A6C8E0D615C}"/>
              </a:ext>
            </a:extLst>
          </p:cNvPr>
          <p:cNvSpPr>
            <a:spLocks noGrp="1"/>
          </p:cNvSpPr>
          <p:nvPr>
            <p:ph type="sldNum" sz="quarter" idx="12"/>
          </p:nvPr>
        </p:nvSpPr>
        <p:spPr/>
        <p:txBody>
          <a:bodyPr/>
          <a:lstStyle/>
          <a:p>
            <a:fld id="{9BED7385-1A27-4338-8D43-B2B3002AB878}" type="slidenum">
              <a:rPr lang="en-US" smtClean="0"/>
              <a:t>39</a:t>
            </a:fld>
            <a:endParaRPr lang="en-US"/>
          </a:p>
        </p:txBody>
      </p:sp>
    </p:spTree>
    <p:extLst>
      <p:ext uri="{BB962C8B-B14F-4D97-AF65-F5344CB8AC3E}">
        <p14:creationId xmlns:p14="http://schemas.microsoft.com/office/powerpoint/2010/main" val="36784444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223493" y="714375"/>
            <a:ext cx="8281115" cy="5429250"/>
          </a:xfrm>
          <a:prstGeom prst="rect">
            <a:avLst/>
          </a:prstGeom>
        </p:spPr>
      </p:pic>
      <p:sp>
        <p:nvSpPr>
          <p:cNvPr id="2" name="Slide Number Placeholder 1">
            <a:extLst>
              <a:ext uri="{FF2B5EF4-FFF2-40B4-BE49-F238E27FC236}">
                <a16:creationId xmlns:a16="http://schemas.microsoft.com/office/drawing/2014/main" id="{F61873D3-34DF-20B5-1053-AF10FC25CF1B}"/>
              </a:ext>
            </a:extLst>
          </p:cNvPr>
          <p:cNvSpPr>
            <a:spLocks noGrp="1"/>
          </p:cNvSpPr>
          <p:nvPr>
            <p:ph type="sldNum" sz="quarter" idx="12"/>
          </p:nvPr>
        </p:nvSpPr>
        <p:spPr/>
        <p:txBody>
          <a:bodyPr/>
          <a:lstStyle/>
          <a:p>
            <a:fld id="{9BED7385-1A27-4338-8D43-B2B3002AB878}" type="slidenum">
              <a:rPr lang="en-US" smtClean="0"/>
              <a:t>40</a:t>
            </a:fld>
            <a:endParaRPr lang="en-US"/>
          </a:p>
        </p:txBody>
      </p:sp>
    </p:spTree>
    <p:extLst>
      <p:ext uri="{BB962C8B-B14F-4D97-AF65-F5344CB8AC3E}">
        <p14:creationId xmlns:p14="http://schemas.microsoft.com/office/powerpoint/2010/main" val="658665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6700"/>
          </a:xfrm>
        </p:spPr>
        <p:txBody>
          <a:bodyPr>
            <a:normAutofit fontScale="90000"/>
          </a:bodyPr>
          <a:lstStyle/>
          <a:p>
            <a:r>
              <a:rPr lang="en-US" b="1" u="sng" dirty="0"/>
              <a:t>Non-Serial Schedules-</a:t>
            </a:r>
            <a:br>
              <a:rPr lang="en-US" b="1" dirty="0"/>
            </a:br>
            <a:endParaRPr lang="en-US" dirty="0"/>
          </a:p>
        </p:txBody>
      </p:sp>
      <p:sp>
        <p:nvSpPr>
          <p:cNvPr id="3" name="Content Placeholder 2"/>
          <p:cNvSpPr>
            <a:spLocks noGrp="1"/>
          </p:cNvSpPr>
          <p:nvPr>
            <p:ph idx="1"/>
          </p:nvPr>
        </p:nvSpPr>
        <p:spPr>
          <a:xfrm>
            <a:off x="838200" y="798490"/>
            <a:ext cx="10515600" cy="5378473"/>
          </a:xfrm>
        </p:spPr>
        <p:txBody>
          <a:bodyPr/>
          <a:lstStyle/>
          <a:p>
            <a:pPr marL="0" indent="0" fontAlgn="base">
              <a:buNone/>
            </a:pPr>
            <a:r>
              <a:rPr lang="en-US" sz="2000" dirty="0"/>
              <a:t>In non-serial schedules,</a:t>
            </a:r>
          </a:p>
          <a:p>
            <a:pPr fontAlgn="base"/>
            <a:r>
              <a:rPr lang="en-US" sz="2000" dirty="0"/>
              <a:t>Multiple transactions execute concurrently.</a:t>
            </a:r>
          </a:p>
          <a:p>
            <a:pPr fontAlgn="base"/>
            <a:r>
              <a:rPr lang="en-US" sz="2000" dirty="0"/>
              <a:t>Operations of all the transactions are inter leaved or mixed with each other.</a:t>
            </a:r>
          </a:p>
          <a:p>
            <a:endParaRPr lang="en-US" dirty="0"/>
          </a:p>
        </p:txBody>
      </p:sp>
      <p:pic>
        <p:nvPicPr>
          <p:cNvPr id="4" name="Picture 3"/>
          <p:cNvPicPr>
            <a:picLocks noChangeAspect="1"/>
          </p:cNvPicPr>
          <p:nvPr/>
        </p:nvPicPr>
        <p:blipFill>
          <a:blip r:embed="rId2"/>
          <a:stretch>
            <a:fillRect/>
          </a:stretch>
        </p:blipFill>
        <p:spPr>
          <a:xfrm>
            <a:off x="2575776" y="1996226"/>
            <a:ext cx="5937159" cy="4559120"/>
          </a:xfrm>
          <a:prstGeom prst="rect">
            <a:avLst/>
          </a:prstGeom>
        </p:spPr>
      </p:pic>
      <p:sp>
        <p:nvSpPr>
          <p:cNvPr id="5" name="Slide Number Placeholder 4">
            <a:extLst>
              <a:ext uri="{FF2B5EF4-FFF2-40B4-BE49-F238E27FC236}">
                <a16:creationId xmlns:a16="http://schemas.microsoft.com/office/drawing/2014/main" id="{A2013287-DD8E-17FE-D1EC-79950F41D7D0}"/>
              </a:ext>
            </a:extLst>
          </p:cNvPr>
          <p:cNvSpPr>
            <a:spLocks noGrp="1"/>
          </p:cNvSpPr>
          <p:nvPr>
            <p:ph type="sldNum" sz="quarter" idx="12"/>
          </p:nvPr>
        </p:nvSpPr>
        <p:spPr/>
        <p:txBody>
          <a:bodyPr/>
          <a:lstStyle/>
          <a:p>
            <a:fld id="{9BED7385-1A27-4338-8D43-B2B3002AB878}" type="slidenum">
              <a:rPr lang="en-US" smtClean="0"/>
              <a:t>41</a:t>
            </a:fld>
            <a:endParaRPr lang="en-US"/>
          </a:p>
        </p:txBody>
      </p:sp>
    </p:spTree>
    <p:extLst>
      <p:ext uri="{BB962C8B-B14F-4D97-AF65-F5344CB8AC3E}">
        <p14:creationId xmlns:p14="http://schemas.microsoft.com/office/powerpoint/2010/main" val="4891687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7577"/>
            <a:ext cx="10515600" cy="5919386"/>
          </a:xfrm>
        </p:spPr>
        <p:txBody>
          <a:bodyPr/>
          <a:lstStyle/>
          <a:p>
            <a:r>
              <a:rPr lang="en-US" b="1" u="sng" dirty="0"/>
              <a:t>Finding Number Of Schedules-</a:t>
            </a:r>
          </a:p>
          <a:p>
            <a:r>
              <a:rPr lang="en-US" sz="2400" dirty="0"/>
              <a:t>Consider there are n number of transactions T1, T2, T3 …. , </a:t>
            </a:r>
            <a:r>
              <a:rPr lang="en-US" sz="2400" dirty="0" err="1"/>
              <a:t>Tn</a:t>
            </a:r>
            <a:r>
              <a:rPr lang="en-US" sz="2400" dirty="0"/>
              <a:t> with N1, N2, N3 …. , </a:t>
            </a:r>
            <a:r>
              <a:rPr lang="en-US" sz="2400" dirty="0" err="1"/>
              <a:t>Nn</a:t>
            </a:r>
            <a:r>
              <a:rPr lang="en-US" sz="2400" dirty="0"/>
              <a:t> number of operations respectively.</a:t>
            </a:r>
            <a:endParaRPr lang="en-US" sz="2400" b="1" dirty="0"/>
          </a:p>
          <a:p>
            <a:pPr fontAlgn="base"/>
            <a:r>
              <a:rPr lang="en-US" b="1" u="sng" dirty="0"/>
              <a:t>Total Number of Schedules-</a:t>
            </a:r>
            <a:endParaRPr lang="en-US" b="1" dirty="0"/>
          </a:p>
          <a:p>
            <a:pPr fontAlgn="base"/>
            <a:r>
              <a:rPr lang="en-US" dirty="0"/>
              <a:t>Total number of possible schedules (serial + non-serial) is given by-</a:t>
            </a:r>
          </a:p>
          <a:p>
            <a:pPr marL="0" indent="0" fontAlgn="base">
              <a:buNone/>
            </a:pPr>
            <a:endParaRPr lang="en-US" dirty="0"/>
          </a:p>
          <a:p>
            <a:endParaRPr lang="en-US" dirty="0"/>
          </a:p>
        </p:txBody>
      </p:sp>
      <p:pic>
        <p:nvPicPr>
          <p:cNvPr id="6" name="Picture 5"/>
          <p:cNvPicPr>
            <a:picLocks noChangeAspect="1"/>
          </p:cNvPicPr>
          <p:nvPr/>
        </p:nvPicPr>
        <p:blipFill>
          <a:blip r:embed="rId2"/>
          <a:stretch>
            <a:fillRect/>
          </a:stretch>
        </p:blipFill>
        <p:spPr>
          <a:xfrm>
            <a:off x="4421544" y="2503935"/>
            <a:ext cx="3400425" cy="1000125"/>
          </a:xfrm>
          <a:prstGeom prst="rect">
            <a:avLst/>
          </a:prstGeom>
        </p:spPr>
      </p:pic>
      <p:sp>
        <p:nvSpPr>
          <p:cNvPr id="7" name="Rectangle 6"/>
          <p:cNvSpPr/>
          <p:nvPr/>
        </p:nvSpPr>
        <p:spPr>
          <a:xfrm>
            <a:off x="922986" y="5140494"/>
            <a:ext cx="6096000" cy="1200329"/>
          </a:xfrm>
          <a:prstGeom prst="rect">
            <a:avLst/>
          </a:prstGeom>
        </p:spPr>
        <p:txBody>
          <a:bodyPr>
            <a:spAutoFit/>
          </a:bodyPr>
          <a:lstStyle/>
          <a:p>
            <a:pPr fontAlgn="base"/>
            <a:r>
              <a:rPr lang="en-US" b="1" u="sng" dirty="0"/>
              <a:t>Total Number of Non-Serial Schedules-</a:t>
            </a:r>
            <a:endParaRPr lang="en-US" b="1" dirty="0"/>
          </a:p>
          <a:p>
            <a:pPr fontAlgn="base"/>
            <a:r>
              <a:rPr lang="en-US" dirty="0"/>
              <a:t> </a:t>
            </a:r>
          </a:p>
          <a:p>
            <a:pPr fontAlgn="base"/>
            <a:r>
              <a:rPr lang="en-US" dirty="0"/>
              <a:t>Total number of non-serial schedules</a:t>
            </a:r>
          </a:p>
          <a:p>
            <a:pPr fontAlgn="base"/>
            <a:r>
              <a:rPr lang="en-US" dirty="0"/>
              <a:t>= Total number of schedules – Total number of serial schedules</a:t>
            </a:r>
          </a:p>
        </p:txBody>
      </p:sp>
      <p:sp>
        <p:nvSpPr>
          <p:cNvPr id="8" name="Rectangle 7"/>
          <p:cNvSpPr/>
          <p:nvPr/>
        </p:nvSpPr>
        <p:spPr>
          <a:xfrm>
            <a:off x="1030309" y="3501707"/>
            <a:ext cx="6709893" cy="1477328"/>
          </a:xfrm>
          <a:prstGeom prst="rect">
            <a:avLst/>
          </a:prstGeom>
        </p:spPr>
        <p:txBody>
          <a:bodyPr wrap="square">
            <a:spAutoFit/>
          </a:bodyPr>
          <a:lstStyle/>
          <a:p>
            <a:pPr fontAlgn="base"/>
            <a:r>
              <a:rPr lang="en-US" b="1" i="0" u="sng" dirty="0">
                <a:solidFill>
                  <a:srgbClr val="303030"/>
                </a:solidFill>
                <a:effectLst/>
                <a:latin typeface="roboto condensed"/>
              </a:rPr>
              <a:t>Total Number of Serial Schedules-</a:t>
            </a:r>
            <a:endParaRPr lang="en-US" b="1" i="0" dirty="0">
              <a:solidFill>
                <a:srgbClr val="303030"/>
              </a:solidFill>
              <a:effectLst/>
              <a:latin typeface="roboto condensed"/>
            </a:endParaRPr>
          </a:p>
          <a:p>
            <a:pPr fontAlgn="base"/>
            <a:r>
              <a:rPr lang="en-US" b="0" i="0" dirty="0">
                <a:solidFill>
                  <a:srgbClr val="303030"/>
                </a:solidFill>
                <a:effectLst/>
                <a:latin typeface="Arimo"/>
              </a:rPr>
              <a:t> </a:t>
            </a:r>
          </a:p>
          <a:p>
            <a:pPr fontAlgn="base"/>
            <a:r>
              <a:rPr lang="en-US" b="0" i="0" dirty="0">
                <a:solidFill>
                  <a:srgbClr val="303030"/>
                </a:solidFill>
                <a:effectLst/>
                <a:latin typeface="Arimo"/>
              </a:rPr>
              <a:t>Total number of serial schedules</a:t>
            </a:r>
          </a:p>
          <a:p>
            <a:pPr fontAlgn="base"/>
            <a:r>
              <a:rPr lang="en-US" b="0" i="0" dirty="0">
                <a:solidFill>
                  <a:srgbClr val="303030"/>
                </a:solidFill>
                <a:effectLst/>
                <a:latin typeface="Arimo"/>
              </a:rPr>
              <a:t>= Number of different ways of arranging n transactions</a:t>
            </a:r>
          </a:p>
          <a:p>
            <a:pPr fontAlgn="base"/>
            <a:r>
              <a:rPr lang="en-US" b="0" i="0" dirty="0">
                <a:solidFill>
                  <a:srgbClr val="303030"/>
                </a:solidFill>
                <a:effectLst/>
                <a:latin typeface="Arimo"/>
              </a:rPr>
              <a:t>= n!</a:t>
            </a:r>
          </a:p>
        </p:txBody>
      </p:sp>
      <p:sp>
        <p:nvSpPr>
          <p:cNvPr id="2" name="Slide Number Placeholder 1">
            <a:extLst>
              <a:ext uri="{FF2B5EF4-FFF2-40B4-BE49-F238E27FC236}">
                <a16:creationId xmlns:a16="http://schemas.microsoft.com/office/drawing/2014/main" id="{5455DB57-9216-A723-7186-44889898C589}"/>
              </a:ext>
            </a:extLst>
          </p:cNvPr>
          <p:cNvSpPr>
            <a:spLocks noGrp="1"/>
          </p:cNvSpPr>
          <p:nvPr>
            <p:ph type="sldNum" sz="quarter" idx="12"/>
          </p:nvPr>
        </p:nvSpPr>
        <p:spPr/>
        <p:txBody>
          <a:bodyPr/>
          <a:lstStyle/>
          <a:p>
            <a:fld id="{9BED7385-1A27-4338-8D43-B2B3002AB878}" type="slidenum">
              <a:rPr lang="en-US" smtClean="0"/>
              <a:t>42</a:t>
            </a:fld>
            <a:endParaRPr lang="en-US"/>
          </a:p>
        </p:txBody>
      </p:sp>
    </p:spTree>
    <p:extLst>
      <p:ext uri="{BB962C8B-B14F-4D97-AF65-F5344CB8AC3E}">
        <p14:creationId xmlns:p14="http://schemas.microsoft.com/office/powerpoint/2010/main" val="25580302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85611"/>
            <a:ext cx="10515600" cy="5391352"/>
          </a:xfrm>
        </p:spPr>
        <p:txBody>
          <a:bodyPr/>
          <a:lstStyle/>
          <a:p>
            <a:pPr fontAlgn="base"/>
            <a:r>
              <a:rPr lang="en-US" dirty="0"/>
              <a:t>Consider there are three transactions with 2, 3, 4 operations respectively, find-</a:t>
            </a:r>
          </a:p>
          <a:p>
            <a:pPr fontAlgn="base"/>
            <a:r>
              <a:rPr lang="en-US" dirty="0"/>
              <a:t>How many total number of schedules are possible? </a:t>
            </a:r>
          </a:p>
          <a:p>
            <a:pPr fontAlgn="base"/>
            <a:r>
              <a:rPr lang="en-US" dirty="0"/>
              <a:t> (2+3+4)!/2! X 3! X 4!  =  1260</a:t>
            </a:r>
          </a:p>
          <a:p>
            <a:pPr fontAlgn="base"/>
            <a:r>
              <a:rPr lang="en-US" dirty="0"/>
              <a:t>How many total number of serial schedules are possible?   -3!  =6</a:t>
            </a:r>
          </a:p>
          <a:p>
            <a:pPr fontAlgn="base"/>
            <a:r>
              <a:rPr lang="en-US" dirty="0"/>
              <a:t>How many total number of non-serial schedules are possible?  -1254</a:t>
            </a:r>
          </a:p>
          <a:p>
            <a:pPr marL="0" indent="0">
              <a:buNone/>
            </a:pPr>
            <a:endParaRPr lang="en-US" dirty="0"/>
          </a:p>
        </p:txBody>
      </p:sp>
      <p:sp>
        <p:nvSpPr>
          <p:cNvPr id="2" name="Slide Number Placeholder 1">
            <a:extLst>
              <a:ext uri="{FF2B5EF4-FFF2-40B4-BE49-F238E27FC236}">
                <a16:creationId xmlns:a16="http://schemas.microsoft.com/office/drawing/2014/main" id="{CB965C73-291F-E747-E177-97223CC1F4FF}"/>
              </a:ext>
            </a:extLst>
          </p:cNvPr>
          <p:cNvSpPr>
            <a:spLocks noGrp="1"/>
          </p:cNvSpPr>
          <p:nvPr>
            <p:ph type="sldNum" sz="quarter" idx="12"/>
          </p:nvPr>
        </p:nvSpPr>
        <p:spPr/>
        <p:txBody>
          <a:bodyPr/>
          <a:lstStyle/>
          <a:p>
            <a:fld id="{9BED7385-1A27-4338-8D43-B2B3002AB878}" type="slidenum">
              <a:rPr lang="en-US" smtClean="0"/>
              <a:t>43</a:t>
            </a:fld>
            <a:endParaRPr lang="en-US"/>
          </a:p>
        </p:txBody>
      </p:sp>
    </p:spTree>
    <p:extLst>
      <p:ext uri="{BB962C8B-B14F-4D97-AF65-F5344CB8AC3E}">
        <p14:creationId xmlns:p14="http://schemas.microsoft.com/office/powerpoint/2010/main" val="5442123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65915"/>
            <a:ext cx="10515600" cy="5211048"/>
          </a:xfrm>
        </p:spPr>
        <p:txBody>
          <a:bodyPr/>
          <a:lstStyle/>
          <a:p>
            <a:pPr fontAlgn="base"/>
            <a:r>
              <a:rPr lang="en-US" dirty="0"/>
              <a:t>We have discussed-</a:t>
            </a:r>
          </a:p>
          <a:p>
            <a:pPr fontAlgn="base"/>
            <a:r>
              <a:rPr lang="en-US" dirty="0"/>
              <a:t>A schedule is the order in which the operations of multiple transactions appear for execution.</a:t>
            </a:r>
          </a:p>
          <a:p>
            <a:pPr fontAlgn="base"/>
            <a:r>
              <a:rPr lang="en-US" dirty="0"/>
              <a:t>Serial schedules are always consistent.</a:t>
            </a:r>
          </a:p>
          <a:p>
            <a:pPr fontAlgn="base"/>
            <a:r>
              <a:rPr lang="en-US" dirty="0"/>
              <a:t>Non-serial schedules are not always consistent.</a:t>
            </a:r>
          </a:p>
          <a:p>
            <a:endParaRPr lang="en-US" dirty="0"/>
          </a:p>
        </p:txBody>
      </p:sp>
      <p:sp>
        <p:nvSpPr>
          <p:cNvPr id="2" name="Slide Number Placeholder 1">
            <a:extLst>
              <a:ext uri="{FF2B5EF4-FFF2-40B4-BE49-F238E27FC236}">
                <a16:creationId xmlns:a16="http://schemas.microsoft.com/office/drawing/2014/main" id="{5F3D1BB2-AE30-D412-37E5-FD456FCDDCAD}"/>
              </a:ext>
            </a:extLst>
          </p:cNvPr>
          <p:cNvSpPr>
            <a:spLocks noGrp="1"/>
          </p:cNvSpPr>
          <p:nvPr>
            <p:ph type="sldNum" sz="quarter" idx="12"/>
          </p:nvPr>
        </p:nvSpPr>
        <p:spPr/>
        <p:txBody>
          <a:bodyPr/>
          <a:lstStyle/>
          <a:p>
            <a:fld id="{9BED7385-1A27-4338-8D43-B2B3002AB878}" type="slidenum">
              <a:rPr lang="en-US" smtClean="0"/>
              <a:t>44</a:t>
            </a:fld>
            <a:endParaRPr lang="en-US"/>
          </a:p>
        </p:txBody>
      </p:sp>
    </p:spTree>
    <p:extLst>
      <p:ext uri="{BB962C8B-B14F-4D97-AF65-F5344CB8AC3E}">
        <p14:creationId xmlns:p14="http://schemas.microsoft.com/office/powerpoint/2010/main" val="18607858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06852"/>
          </a:xfrm>
        </p:spPr>
        <p:txBody>
          <a:bodyPr>
            <a:normAutofit fontScale="90000"/>
          </a:bodyPr>
          <a:lstStyle/>
          <a:p>
            <a:r>
              <a:rPr lang="en-US" b="1" u="sng" dirty="0"/>
              <a:t>Serializability in DBMS-</a:t>
            </a:r>
            <a:br>
              <a:rPr lang="en-US" b="1" dirty="0"/>
            </a:br>
            <a:endParaRPr lang="en-US" dirty="0"/>
          </a:p>
        </p:txBody>
      </p:sp>
      <p:sp>
        <p:nvSpPr>
          <p:cNvPr id="3" name="Content Placeholder 2"/>
          <p:cNvSpPr>
            <a:spLocks noGrp="1"/>
          </p:cNvSpPr>
          <p:nvPr>
            <p:ph idx="1"/>
          </p:nvPr>
        </p:nvSpPr>
        <p:spPr>
          <a:xfrm>
            <a:off x="838200" y="1155924"/>
            <a:ext cx="10515600" cy="4351338"/>
          </a:xfrm>
        </p:spPr>
        <p:txBody>
          <a:bodyPr/>
          <a:lstStyle/>
          <a:p>
            <a:pPr fontAlgn="base"/>
            <a:r>
              <a:rPr lang="en-US" dirty="0"/>
              <a:t>Some non-serial schedules may lead to inconsistency of the database.</a:t>
            </a:r>
          </a:p>
          <a:p>
            <a:pPr fontAlgn="base"/>
            <a:r>
              <a:rPr lang="en-US" dirty="0"/>
              <a:t>Serializability is a concept that helps to identify which non-serial schedules are correct and will maintain the consistency of the database.</a:t>
            </a:r>
          </a:p>
          <a:p>
            <a:pPr fontAlgn="base"/>
            <a:r>
              <a:rPr lang="en-US" b="1" u="sng" dirty="0"/>
              <a:t>Serializable Schedules-</a:t>
            </a:r>
            <a:endParaRPr lang="en-US" b="1" dirty="0"/>
          </a:p>
          <a:p>
            <a:pPr fontAlgn="base"/>
            <a:r>
              <a:rPr lang="en-US" dirty="0"/>
              <a:t>If a given non-serial schedule of ‘n’ transactions is equivalent to some serial schedule of ‘n’ transactions, then it is called as a </a:t>
            </a:r>
            <a:r>
              <a:rPr lang="en-US" b="1" dirty="0"/>
              <a:t>serializable schedule</a:t>
            </a:r>
            <a:r>
              <a:rPr lang="en-US" dirty="0"/>
              <a:t>.</a:t>
            </a:r>
          </a:p>
          <a:p>
            <a:endParaRPr lang="en-US" dirty="0"/>
          </a:p>
        </p:txBody>
      </p:sp>
      <p:sp>
        <p:nvSpPr>
          <p:cNvPr id="4" name="Slide Number Placeholder 3">
            <a:extLst>
              <a:ext uri="{FF2B5EF4-FFF2-40B4-BE49-F238E27FC236}">
                <a16:creationId xmlns:a16="http://schemas.microsoft.com/office/drawing/2014/main" id="{17667E81-331C-A7AF-62E7-F9BBCBC8F0F5}"/>
              </a:ext>
            </a:extLst>
          </p:cNvPr>
          <p:cNvSpPr>
            <a:spLocks noGrp="1"/>
          </p:cNvSpPr>
          <p:nvPr>
            <p:ph type="sldNum" sz="quarter" idx="12"/>
          </p:nvPr>
        </p:nvSpPr>
        <p:spPr/>
        <p:txBody>
          <a:bodyPr/>
          <a:lstStyle/>
          <a:p>
            <a:fld id="{9BED7385-1A27-4338-8D43-B2B3002AB878}" type="slidenum">
              <a:rPr lang="en-US" smtClean="0"/>
              <a:t>45</a:t>
            </a:fld>
            <a:endParaRPr lang="en-US"/>
          </a:p>
        </p:txBody>
      </p:sp>
    </p:spTree>
    <p:extLst>
      <p:ext uri="{BB962C8B-B14F-4D97-AF65-F5344CB8AC3E}">
        <p14:creationId xmlns:p14="http://schemas.microsoft.com/office/powerpoint/2010/main" val="35600562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26524" y="437882"/>
            <a:ext cx="8577330" cy="5203063"/>
          </a:xfrm>
          <a:prstGeom prst="rect">
            <a:avLst/>
          </a:prstGeom>
        </p:spPr>
      </p:pic>
      <p:sp>
        <p:nvSpPr>
          <p:cNvPr id="2" name="Slide Number Placeholder 1">
            <a:extLst>
              <a:ext uri="{FF2B5EF4-FFF2-40B4-BE49-F238E27FC236}">
                <a16:creationId xmlns:a16="http://schemas.microsoft.com/office/drawing/2014/main" id="{FCB7904F-CDE0-15B1-922A-90F3D858AD2D}"/>
              </a:ext>
            </a:extLst>
          </p:cNvPr>
          <p:cNvSpPr>
            <a:spLocks noGrp="1"/>
          </p:cNvSpPr>
          <p:nvPr>
            <p:ph type="sldNum" sz="quarter" idx="12"/>
          </p:nvPr>
        </p:nvSpPr>
        <p:spPr/>
        <p:txBody>
          <a:bodyPr/>
          <a:lstStyle/>
          <a:p>
            <a:fld id="{9BED7385-1A27-4338-8D43-B2B3002AB878}" type="slidenum">
              <a:rPr lang="en-US" smtClean="0"/>
              <a:t>46</a:t>
            </a:fld>
            <a:endParaRPr lang="en-US"/>
          </a:p>
        </p:txBody>
      </p:sp>
    </p:spTree>
    <p:extLst>
      <p:ext uri="{BB962C8B-B14F-4D97-AF65-F5344CB8AC3E}">
        <p14:creationId xmlns:p14="http://schemas.microsoft.com/office/powerpoint/2010/main" val="5935410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30310" y="474754"/>
            <a:ext cx="9800822" cy="5632311"/>
          </a:xfrm>
          <a:prstGeom prst="rect">
            <a:avLst/>
          </a:prstGeom>
        </p:spPr>
        <p:txBody>
          <a:bodyPr wrap="square">
            <a:spAutoFit/>
          </a:bodyPr>
          <a:lstStyle/>
          <a:p>
            <a:pPr fontAlgn="base"/>
            <a:r>
              <a:rPr lang="en-US" sz="2400" b="1" i="0" u="sng" dirty="0">
                <a:solidFill>
                  <a:srgbClr val="303030"/>
                </a:solidFill>
                <a:effectLst/>
                <a:latin typeface="roboto condensed"/>
              </a:rPr>
              <a:t>Conflict </a:t>
            </a:r>
            <a:r>
              <a:rPr lang="en-US" sz="2400" b="1" i="0" u="sng" dirty="0" err="1">
                <a:solidFill>
                  <a:srgbClr val="303030"/>
                </a:solidFill>
                <a:effectLst/>
                <a:latin typeface="roboto condensed"/>
              </a:rPr>
              <a:t>Serializability</a:t>
            </a:r>
            <a:r>
              <a:rPr lang="en-US" sz="2400" b="1" i="0" u="sng" dirty="0">
                <a:solidFill>
                  <a:srgbClr val="303030"/>
                </a:solidFill>
                <a:effectLst/>
                <a:latin typeface="roboto condensed"/>
              </a:rPr>
              <a:t>-</a:t>
            </a:r>
            <a:endParaRPr lang="en-US" sz="2400" b="1" i="0" dirty="0">
              <a:solidFill>
                <a:srgbClr val="303030"/>
              </a:solidFill>
              <a:effectLst/>
              <a:latin typeface="roboto condensed"/>
            </a:endParaRPr>
          </a:p>
          <a:p>
            <a:pPr fontAlgn="base"/>
            <a:r>
              <a:rPr lang="en-US" sz="2400" b="0" i="0" dirty="0">
                <a:solidFill>
                  <a:srgbClr val="303030"/>
                </a:solidFill>
                <a:effectLst/>
                <a:latin typeface="Arimo"/>
              </a:rPr>
              <a:t> </a:t>
            </a:r>
            <a:r>
              <a:rPr lang="en-US" sz="2000" b="0" i="0" dirty="0">
                <a:solidFill>
                  <a:srgbClr val="303030"/>
                </a:solidFill>
                <a:effectLst/>
                <a:latin typeface="Arimo"/>
              </a:rPr>
              <a:t>If a given non-serial schedule can be converted into a serial schedule by swapping its non-conflicting operations, then it is called as a </a:t>
            </a:r>
            <a:r>
              <a:rPr lang="en-US" sz="2000" b="1" i="0" dirty="0">
                <a:solidFill>
                  <a:srgbClr val="303030"/>
                </a:solidFill>
                <a:effectLst/>
                <a:latin typeface="Arimo"/>
              </a:rPr>
              <a:t>conflict serializable schedule</a:t>
            </a:r>
            <a:r>
              <a:rPr lang="en-US" sz="2000" b="0" i="0" dirty="0">
                <a:solidFill>
                  <a:srgbClr val="303030"/>
                </a:solidFill>
                <a:effectLst/>
                <a:latin typeface="Arimo"/>
              </a:rPr>
              <a:t>.</a:t>
            </a:r>
          </a:p>
          <a:p>
            <a:pPr fontAlgn="base"/>
            <a:r>
              <a:rPr lang="en-US" sz="2400" b="0" i="0" dirty="0">
                <a:solidFill>
                  <a:srgbClr val="303030"/>
                </a:solidFill>
                <a:effectLst/>
                <a:latin typeface="Arimo"/>
              </a:rPr>
              <a:t> </a:t>
            </a:r>
          </a:p>
          <a:p>
            <a:pPr fontAlgn="base"/>
            <a:r>
              <a:rPr lang="en-US" sz="2400" b="1" i="0" u="sng" dirty="0">
                <a:solidFill>
                  <a:srgbClr val="303030"/>
                </a:solidFill>
                <a:effectLst/>
                <a:latin typeface="roboto condensed"/>
              </a:rPr>
              <a:t>Conflicting Operations-</a:t>
            </a:r>
            <a:endParaRPr lang="en-US" sz="2400" b="1" i="0" dirty="0">
              <a:solidFill>
                <a:srgbClr val="303030"/>
              </a:solidFill>
              <a:effectLst/>
              <a:latin typeface="roboto condensed"/>
            </a:endParaRPr>
          </a:p>
          <a:p>
            <a:pPr fontAlgn="base"/>
            <a:r>
              <a:rPr lang="en-US" sz="2400" b="0" i="0" dirty="0">
                <a:solidFill>
                  <a:srgbClr val="303030"/>
                </a:solidFill>
                <a:effectLst/>
                <a:latin typeface="Arimo"/>
              </a:rPr>
              <a:t> </a:t>
            </a:r>
            <a:r>
              <a:rPr lang="en-US" sz="2000" b="0" i="0" dirty="0">
                <a:solidFill>
                  <a:srgbClr val="303030"/>
                </a:solidFill>
                <a:effectLst/>
                <a:latin typeface="Arimo"/>
              </a:rPr>
              <a:t>Two operations are called as </a:t>
            </a:r>
            <a:r>
              <a:rPr lang="en-US" sz="2000" b="1" i="0" dirty="0">
                <a:solidFill>
                  <a:srgbClr val="303030"/>
                </a:solidFill>
                <a:effectLst/>
                <a:latin typeface="Arimo"/>
              </a:rPr>
              <a:t>conflicting operations</a:t>
            </a:r>
            <a:r>
              <a:rPr lang="en-US" sz="2000" b="0" i="0" dirty="0">
                <a:solidFill>
                  <a:srgbClr val="303030"/>
                </a:solidFill>
                <a:effectLst/>
                <a:latin typeface="Arimo"/>
              </a:rPr>
              <a:t> if all the following conditions hold true for them-</a:t>
            </a:r>
          </a:p>
          <a:p>
            <a:pPr fontAlgn="base">
              <a:buFont typeface="Arial" panose="020B0604020202020204" pitchFamily="34" charset="0"/>
              <a:buChar char="•"/>
            </a:pPr>
            <a:r>
              <a:rPr lang="en-US" sz="2000" b="0" i="0" dirty="0">
                <a:solidFill>
                  <a:srgbClr val="303030"/>
                </a:solidFill>
                <a:effectLst/>
                <a:latin typeface="Arimo"/>
              </a:rPr>
              <a:t>Both the operations belong to different transactions</a:t>
            </a:r>
          </a:p>
          <a:p>
            <a:pPr fontAlgn="base">
              <a:buFont typeface="Arial" panose="020B0604020202020204" pitchFamily="34" charset="0"/>
              <a:buChar char="•"/>
            </a:pPr>
            <a:r>
              <a:rPr lang="en-US" sz="2000" b="0" i="0" dirty="0">
                <a:solidFill>
                  <a:srgbClr val="303030"/>
                </a:solidFill>
                <a:effectLst/>
                <a:latin typeface="Arimo"/>
              </a:rPr>
              <a:t>Both the operations are on the same data item</a:t>
            </a:r>
          </a:p>
          <a:p>
            <a:pPr fontAlgn="base">
              <a:buFont typeface="Arial" panose="020B0604020202020204" pitchFamily="34" charset="0"/>
              <a:buChar char="•"/>
            </a:pPr>
            <a:r>
              <a:rPr lang="en-US" sz="2000" b="0" i="0" dirty="0">
                <a:solidFill>
                  <a:srgbClr val="303030"/>
                </a:solidFill>
                <a:effectLst/>
                <a:latin typeface="Arimo"/>
              </a:rPr>
              <a:t>At least one of the two operations is a write operation</a:t>
            </a:r>
          </a:p>
          <a:p>
            <a:pPr fontAlgn="base"/>
            <a:endParaRPr lang="en-US" sz="2000" b="0" i="0" dirty="0">
              <a:solidFill>
                <a:srgbClr val="303030"/>
              </a:solidFill>
              <a:effectLst/>
              <a:latin typeface="Arimo"/>
            </a:endParaRPr>
          </a:p>
          <a:p>
            <a:r>
              <a:rPr lang="en-US" altLang="en-US" sz="2400" dirty="0"/>
              <a:t>3 kinds of conflicts</a:t>
            </a:r>
          </a:p>
          <a:p>
            <a:pPr lvl="1"/>
            <a:r>
              <a:rPr lang="en-US" altLang="en-US" sz="2400" dirty="0"/>
              <a:t>RW (Read – Write) Conflict</a:t>
            </a:r>
          </a:p>
          <a:p>
            <a:pPr lvl="1"/>
            <a:r>
              <a:rPr lang="en-US" altLang="en-US" sz="2400" dirty="0"/>
              <a:t>WR (Write – Read) Conflict</a:t>
            </a:r>
          </a:p>
          <a:p>
            <a:pPr lvl="1"/>
            <a:r>
              <a:rPr lang="en-US" altLang="en-US" sz="2400" dirty="0"/>
              <a:t>WW (Write – Write) Conflict</a:t>
            </a:r>
          </a:p>
          <a:p>
            <a:pPr fontAlgn="base">
              <a:buFont typeface="Arial" panose="020B0604020202020204" pitchFamily="34" charset="0"/>
              <a:buChar char="•"/>
            </a:pPr>
            <a:endParaRPr lang="en-US" sz="2400" b="0" i="0" dirty="0">
              <a:solidFill>
                <a:srgbClr val="303030"/>
              </a:solidFill>
              <a:effectLst/>
              <a:latin typeface="Arimo"/>
            </a:endParaRPr>
          </a:p>
        </p:txBody>
      </p:sp>
      <p:sp>
        <p:nvSpPr>
          <p:cNvPr id="2" name="Slide Number Placeholder 1">
            <a:extLst>
              <a:ext uri="{FF2B5EF4-FFF2-40B4-BE49-F238E27FC236}">
                <a16:creationId xmlns:a16="http://schemas.microsoft.com/office/drawing/2014/main" id="{173C1AD9-AAEF-8822-EA05-99837E6C8940}"/>
              </a:ext>
            </a:extLst>
          </p:cNvPr>
          <p:cNvSpPr>
            <a:spLocks noGrp="1"/>
          </p:cNvSpPr>
          <p:nvPr>
            <p:ph type="sldNum" sz="quarter" idx="12"/>
          </p:nvPr>
        </p:nvSpPr>
        <p:spPr/>
        <p:txBody>
          <a:bodyPr/>
          <a:lstStyle/>
          <a:p>
            <a:fld id="{9BED7385-1A27-4338-8D43-B2B3002AB878}" type="slidenum">
              <a:rPr lang="en-US" smtClean="0"/>
              <a:t>47</a:t>
            </a:fld>
            <a:endParaRPr lang="en-US"/>
          </a:p>
        </p:txBody>
      </p:sp>
    </p:spTree>
    <p:extLst>
      <p:ext uri="{BB962C8B-B14F-4D97-AF65-F5344CB8AC3E}">
        <p14:creationId xmlns:p14="http://schemas.microsoft.com/office/powerpoint/2010/main" val="27121795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5A8CF07-F783-4EC6-FF5D-304097843516}"/>
              </a:ext>
            </a:extLst>
          </p:cNvPr>
          <p:cNvPicPr>
            <a:picLocks noGrp="1" noChangeAspect="1"/>
          </p:cNvPicPr>
          <p:nvPr>
            <p:ph idx="1"/>
          </p:nvPr>
        </p:nvPicPr>
        <p:blipFill>
          <a:blip r:embed="rId2"/>
          <a:stretch>
            <a:fillRect/>
          </a:stretch>
        </p:blipFill>
        <p:spPr>
          <a:xfrm>
            <a:off x="238297" y="323810"/>
            <a:ext cx="3629025" cy="4714875"/>
          </a:xfrm>
          <a:prstGeom prst="rect">
            <a:avLst/>
          </a:prstGeom>
        </p:spPr>
      </p:pic>
      <p:sp>
        <p:nvSpPr>
          <p:cNvPr id="4" name="Slide Number Placeholder 3">
            <a:extLst>
              <a:ext uri="{FF2B5EF4-FFF2-40B4-BE49-F238E27FC236}">
                <a16:creationId xmlns:a16="http://schemas.microsoft.com/office/drawing/2014/main" id="{8A4DCCEA-662A-E75D-3904-DC3ABBF96C3A}"/>
              </a:ext>
            </a:extLst>
          </p:cNvPr>
          <p:cNvSpPr>
            <a:spLocks noGrp="1"/>
          </p:cNvSpPr>
          <p:nvPr>
            <p:ph type="sldNum" sz="quarter" idx="12"/>
          </p:nvPr>
        </p:nvSpPr>
        <p:spPr/>
        <p:txBody>
          <a:bodyPr/>
          <a:lstStyle/>
          <a:p>
            <a:fld id="{9BED7385-1A27-4338-8D43-B2B3002AB878}" type="slidenum">
              <a:rPr lang="en-US" smtClean="0"/>
              <a:t>48</a:t>
            </a:fld>
            <a:endParaRPr lang="en-US"/>
          </a:p>
        </p:txBody>
      </p:sp>
      <p:sp>
        <p:nvSpPr>
          <p:cNvPr id="8" name="TextBox 7">
            <a:extLst>
              <a:ext uri="{FF2B5EF4-FFF2-40B4-BE49-F238E27FC236}">
                <a16:creationId xmlns:a16="http://schemas.microsoft.com/office/drawing/2014/main" id="{426D6F35-3068-C04E-47B2-101B7DA81555}"/>
              </a:ext>
            </a:extLst>
          </p:cNvPr>
          <p:cNvSpPr txBox="1"/>
          <p:nvPr/>
        </p:nvSpPr>
        <p:spPr>
          <a:xfrm>
            <a:off x="74361" y="5338721"/>
            <a:ext cx="5125600" cy="1200329"/>
          </a:xfrm>
          <a:prstGeom prst="rect">
            <a:avLst/>
          </a:prstGeom>
          <a:noFill/>
        </p:spPr>
        <p:txBody>
          <a:bodyPr wrap="square">
            <a:spAutoFit/>
          </a:bodyPr>
          <a:lstStyle/>
          <a:p>
            <a:r>
              <a:rPr lang="en-US" b="0" i="0">
                <a:solidFill>
                  <a:srgbClr val="61738E"/>
                </a:solidFill>
                <a:effectLst/>
                <a:latin typeface="__Source_Sans_Pro_2fe30b"/>
              </a:rPr>
              <a:t>In this schedule, Write(A)/Read(A) and Write(B)/Read(B) are called as</a:t>
            </a:r>
            <a:r>
              <a:rPr lang="en-US" b="0" i="0">
                <a:solidFill>
                  <a:srgbClr val="B30058"/>
                </a:solidFill>
                <a:effectLst/>
                <a:latin typeface="__Source_Sans_Pro_2fe30b"/>
              </a:rPr>
              <a:t> conflicting operations</a:t>
            </a:r>
            <a:r>
              <a:rPr lang="en-US" b="0" i="0">
                <a:solidFill>
                  <a:srgbClr val="61738E"/>
                </a:solidFill>
                <a:effectLst/>
                <a:latin typeface="__Source_Sans_Pro_2fe30b"/>
              </a:rPr>
              <a:t>. This is because all the above conditions hold true for them. </a:t>
            </a:r>
            <a:endParaRPr lang="en-IN" dirty="0"/>
          </a:p>
        </p:txBody>
      </p:sp>
      <p:pic>
        <p:nvPicPr>
          <p:cNvPr id="10" name="Picture 9">
            <a:extLst>
              <a:ext uri="{FF2B5EF4-FFF2-40B4-BE49-F238E27FC236}">
                <a16:creationId xmlns:a16="http://schemas.microsoft.com/office/drawing/2014/main" id="{DF61C636-79F9-DABE-DFE0-BB9BBB0C44CB}"/>
              </a:ext>
            </a:extLst>
          </p:cNvPr>
          <p:cNvPicPr>
            <a:picLocks noChangeAspect="1"/>
          </p:cNvPicPr>
          <p:nvPr/>
        </p:nvPicPr>
        <p:blipFill>
          <a:blip r:embed="rId3"/>
          <a:stretch>
            <a:fillRect/>
          </a:stretch>
        </p:blipFill>
        <p:spPr>
          <a:xfrm>
            <a:off x="5858963" y="220337"/>
            <a:ext cx="3514725" cy="4810125"/>
          </a:xfrm>
          <a:prstGeom prst="rect">
            <a:avLst/>
          </a:prstGeom>
        </p:spPr>
      </p:pic>
      <p:sp>
        <p:nvSpPr>
          <p:cNvPr id="12" name="TextBox 11">
            <a:extLst>
              <a:ext uri="{FF2B5EF4-FFF2-40B4-BE49-F238E27FC236}">
                <a16:creationId xmlns:a16="http://schemas.microsoft.com/office/drawing/2014/main" id="{EEBDF7AE-E561-88F5-2286-CE6B5FE7319B}"/>
              </a:ext>
            </a:extLst>
          </p:cNvPr>
          <p:cNvSpPr txBox="1"/>
          <p:nvPr/>
        </p:nvSpPr>
        <p:spPr>
          <a:xfrm>
            <a:off x="5737039" y="5204940"/>
            <a:ext cx="5632370" cy="1477328"/>
          </a:xfrm>
          <a:prstGeom prst="rect">
            <a:avLst/>
          </a:prstGeom>
          <a:noFill/>
        </p:spPr>
        <p:txBody>
          <a:bodyPr wrap="square">
            <a:spAutoFit/>
          </a:bodyPr>
          <a:lstStyle/>
          <a:p>
            <a:r>
              <a:rPr lang="en-US" b="0" i="0" dirty="0">
                <a:solidFill>
                  <a:srgbClr val="61738E"/>
                </a:solidFill>
                <a:effectLst/>
                <a:latin typeface="__Source_Sans_Pro_2fe30b"/>
              </a:rPr>
              <a:t>Thus, by swapping(non-conflicting) 2nd pair of the </a:t>
            </a:r>
            <a:r>
              <a:rPr lang="en-US" b="0" i="0" dirty="0">
                <a:solidFill>
                  <a:srgbClr val="B30058"/>
                </a:solidFill>
                <a:effectLst/>
                <a:latin typeface="__Source_Sans_Pro_2fe30b"/>
              </a:rPr>
              <a:t>read/write</a:t>
            </a:r>
            <a:r>
              <a:rPr lang="en-US" b="0" i="0" dirty="0">
                <a:solidFill>
                  <a:srgbClr val="61738E"/>
                </a:solidFill>
                <a:effectLst/>
                <a:latin typeface="__Source_Sans_Pro_2fe30b"/>
              </a:rPr>
              <a:t> operation of 'A' data item and 1st pair of the </a:t>
            </a:r>
            <a:r>
              <a:rPr lang="en-US" b="0" i="0" dirty="0">
                <a:solidFill>
                  <a:srgbClr val="B30058"/>
                </a:solidFill>
                <a:effectLst/>
                <a:latin typeface="__Source_Sans_Pro_2fe30b"/>
              </a:rPr>
              <a:t>read/write</a:t>
            </a:r>
            <a:r>
              <a:rPr lang="en-US" b="0" i="0" dirty="0">
                <a:solidFill>
                  <a:srgbClr val="61738E"/>
                </a:solidFill>
                <a:effectLst/>
                <a:latin typeface="__Source_Sans_Pro_2fe30b"/>
              </a:rPr>
              <a:t> operation of 'B' data item, this non-serial Schedule can be converted into a serializable Schedule. Therefore, </a:t>
            </a:r>
            <a:r>
              <a:rPr lang="en-US" b="0" i="1" dirty="0">
                <a:solidFill>
                  <a:srgbClr val="61738E"/>
                </a:solidFill>
                <a:effectLst/>
                <a:latin typeface="__Source_Sans_Pro_2fe30b"/>
              </a:rPr>
              <a:t>it is </a:t>
            </a:r>
            <a:r>
              <a:rPr lang="en-US" b="0" i="1" dirty="0">
                <a:solidFill>
                  <a:srgbClr val="B30058"/>
                </a:solidFill>
                <a:effectLst/>
                <a:latin typeface="__Source_Sans_Pro_2fe30b"/>
              </a:rPr>
              <a:t>conflict serializable</a:t>
            </a:r>
            <a:r>
              <a:rPr lang="en-US" b="0" i="0" dirty="0">
                <a:solidFill>
                  <a:srgbClr val="61738E"/>
                </a:solidFill>
                <a:effectLst/>
                <a:latin typeface="__Source_Sans_Pro_2fe30b"/>
              </a:rPr>
              <a:t>.</a:t>
            </a:r>
            <a:endParaRPr lang="en-IN" dirty="0"/>
          </a:p>
        </p:txBody>
      </p:sp>
    </p:spTree>
    <p:extLst>
      <p:ext uri="{BB962C8B-B14F-4D97-AF65-F5344CB8AC3E}">
        <p14:creationId xmlns:p14="http://schemas.microsoft.com/office/powerpoint/2010/main" val="33157236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471277" y="605307"/>
            <a:ext cx="7003022" cy="3670479"/>
          </a:xfrm>
          <a:prstGeom prst="rect">
            <a:avLst/>
          </a:prstGeom>
        </p:spPr>
      </p:pic>
      <p:sp>
        <p:nvSpPr>
          <p:cNvPr id="5" name="Rectangle 4"/>
          <p:cNvSpPr/>
          <p:nvPr/>
        </p:nvSpPr>
        <p:spPr>
          <a:xfrm>
            <a:off x="1644204" y="4490210"/>
            <a:ext cx="6096000" cy="1200329"/>
          </a:xfrm>
          <a:prstGeom prst="rect">
            <a:avLst/>
          </a:prstGeom>
        </p:spPr>
        <p:txBody>
          <a:bodyPr>
            <a:spAutoFit/>
          </a:bodyPr>
          <a:lstStyle/>
          <a:p>
            <a:pPr fontAlgn="base"/>
            <a:r>
              <a:rPr lang="en-US" b="0" i="0" dirty="0">
                <a:solidFill>
                  <a:srgbClr val="303030"/>
                </a:solidFill>
                <a:effectLst/>
                <a:latin typeface="Arimo"/>
              </a:rPr>
              <a:t>In this schedule,</a:t>
            </a:r>
          </a:p>
          <a:p>
            <a:pPr fontAlgn="base">
              <a:buFont typeface="Arial" panose="020B0604020202020204" pitchFamily="34" charset="0"/>
              <a:buChar char="•"/>
            </a:pPr>
            <a:r>
              <a:rPr lang="en-US" b="0" i="0" dirty="0">
                <a:solidFill>
                  <a:srgbClr val="303030"/>
                </a:solidFill>
                <a:effectLst/>
                <a:latin typeface="Arimo"/>
              </a:rPr>
              <a:t>W1 (A) and R2 (A) are called as conflicting operations.</a:t>
            </a:r>
          </a:p>
          <a:p>
            <a:pPr fontAlgn="base">
              <a:buFont typeface="Arial" panose="020B0604020202020204" pitchFamily="34" charset="0"/>
              <a:buChar char="•"/>
            </a:pPr>
            <a:r>
              <a:rPr lang="en-US" b="0" i="0" dirty="0">
                <a:solidFill>
                  <a:srgbClr val="303030"/>
                </a:solidFill>
                <a:effectLst/>
                <a:latin typeface="Arimo"/>
              </a:rPr>
              <a:t>This is because all the above conditions hold true for them.</a:t>
            </a:r>
          </a:p>
        </p:txBody>
      </p:sp>
      <p:sp>
        <p:nvSpPr>
          <p:cNvPr id="2" name="Slide Number Placeholder 1">
            <a:extLst>
              <a:ext uri="{FF2B5EF4-FFF2-40B4-BE49-F238E27FC236}">
                <a16:creationId xmlns:a16="http://schemas.microsoft.com/office/drawing/2014/main" id="{47D296A9-6B6D-D579-894B-99C10B299F81}"/>
              </a:ext>
            </a:extLst>
          </p:cNvPr>
          <p:cNvSpPr>
            <a:spLocks noGrp="1"/>
          </p:cNvSpPr>
          <p:nvPr>
            <p:ph type="sldNum" sz="quarter" idx="12"/>
          </p:nvPr>
        </p:nvSpPr>
        <p:spPr/>
        <p:txBody>
          <a:bodyPr/>
          <a:lstStyle/>
          <a:p>
            <a:fld id="{9BED7385-1A27-4338-8D43-B2B3002AB878}" type="slidenum">
              <a:rPr lang="en-US" smtClean="0"/>
              <a:t>49</a:t>
            </a:fld>
            <a:endParaRPr lang="en-US"/>
          </a:p>
        </p:txBody>
      </p:sp>
    </p:spTree>
    <p:extLst>
      <p:ext uri="{BB962C8B-B14F-4D97-AF65-F5344CB8AC3E}">
        <p14:creationId xmlns:p14="http://schemas.microsoft.com/office/powerpoint/2010/main" val="30748297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474EA16D-0B92-4AAE-A28D-BEF99AAA75EB}" type="slidenum">
              <a:rPr lang="en-US" altLang="en-US" sz="1400">
                <a:solidFill>
                  <a:srgbClr val="990033"/>
                </a:solidFill>
              </a:rPr>
              <a:pPr>
                <a:spcBef>
                  <a:spcPct val="0"/>
                </a:spcBef>
                <a:buClrTx/>
                <a:buSzTx/>
                <a:buFontTx/>
                <a:buNone/>
              </a:pPr>
              <a:t>50</a:t>
            </a:fld>
            <a:endParaRPr lang="en-CA" altLang="en-US" sz="1400">
              <a:solidFill>
                <a:srgbClr val="990033"/>
              </a:solidFill>
            </a:endParaRPr>
          </a:p>
        </p:txBody>
      </p:sp>
      <p:sp>
        <p:nvSpPr>
          <p:cNvPr id="71683" name="Rectangle 4"/>
          <p:cNvSpPr>
            <a:spLocks noGrp="1" noChangeArrowheads="1"/>
          </p:cNvSpPr>
          <p:nvPr>
            <p:ph type="title"/>
          </p:nvPr>
        </p:nvSpPr>
        <p:spPr/>
        <p:txBody>
          <a:bodyPr/>
          <a:lstStyle/>
          <a:p>
            <a:pPr eaLnBrk="1" hangingPunct="1"/>
            <a:r>
              <a:rPr lang="en-US" altLang="en-US" dirty="0"/>
              <a:t>Testing Conflict Serializability</a:t>
            </a:r>
          </a:p>
        </p:txBody>
      </p:sp>
      <p:sp>
        <p:nvSpPr>
          <p:cNvPr id="71684" name="Rectangle 5"/>
          <p:cNvSpPr>
            <a:spLocks noGrp="1" noChangeArrowheads="1"/>
          </p:cNvSpPr>
          <p:nvPr>
            <p:ph type="body" idx="1"/>
          </p:nvPr>
        </p:nvSpPr>
        <p:spPr/>
        <p:txBody>
          <a:bodyPr/>
          <a:lstStyle/>
          <a:p>
            <a:pPr eaLnBrk="1" hangingPunct="1">
              <a:buFont typeface="Wingdings" panose="05000000000000000000" pitchFamily="2" charset="2"/>
              <a:buNone/>
            </a:pPr>
            <a:r>
              <a:rPr lang="en-US" altLang="en-US" b="1" dirty="0"/>
              <a:t>Using Precedence Graph</a:t>
            </a:r>
          </a:p>
          <a:p>
            <a:pPr lvl="1" eaLnBrk="1" hangingPunct="1"/>
            <a:r>
              <a:rPr lang="en-US" altLang="en-US" dirty="0"/>
              <a:t>It is not always possible to test whether a given schedule is conflict serializable by manual methods because there may be thousands of transactions executing concurrently.</a:t>
            </a:r>
          </a:p>
          <a:p>
            <a:pPr lvl="1" eaLnBrk="1" hangingPunct="1"/>
            <a:r>
              <a:rPr lang="en-US" altLang="en-US" dirty="0"/>
              <a:t>Therefore, method which can test a given schedule for its conflict serializability is introduced using precedence graph.</a:t>
            </a:r>
          </a:p>
        </p:txBody>
      </p:sp>
    </p:spTree>
    <p:extLst>
      <p:ext uri="{BB962C8B-B14F-4D97-AF65-F5344CB8AC3E}">
        <p14:creationId xmlns:p14="http://schemas.microsoft.com/office/powerpoint/2010/main" val="22359853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6D2F10AC-B980-4219-A854-80447891C686}" type="slidenum">
              <a:rPr lang="en-US" altLang="en-US" sz="1400">
                <a:solidFill>
                  <a:srgbClr val="990033"/>
                </a:solidFill>
              </a:rPr>
              <a:pPr>
                <a:spcBef>
                  <a:spcPct val="0"/>
                </a:spcBef>
                <a:buClrTx/>
                <a:buSzTx/>
                <a:buFontTx/>
                <a:buNone/>
              </a:pPr>
              <a:t>51</a:t>
            </a:fld>
            <a:endParaRPr lang="en-CA" altLang="en-US" sz="1400">
              <a:solidFill>
                <a:srgbClr val="990033"/>
              </a:solidFill>
            </a:endParaRPr>
          </a:p>
        </p:txBody>
      </p:sp>
      <p:sp>
        <p:nvSpPr>
          <p:cNvPr id="73731" name="Rectangle 4"/>
          <p:cNvSpPr>
            <a:spLocks noGrp="1" noChangeArrowheads="1"/>
          </p:cNvSpPr>
          <p:nvPr>
            <p:ph type="title"/>
          </p:nvPr>
        </p:nvSpPr>
        <p:spPr/>
        <p:txBody>
          <a:bodyPr/>
          <a:lstStyle/>
          <a:p>
            <a:pPr eaLnBrk="1" hangingPunct="1"/>
            <a:r>
              <a:rPr lang="en-US" altLang="en-US" dirty="0"/>
              <a:t>Testing Conflict Serializability</a:t>
            </a:r>
          </a:p>
        </p:txBody>
      </p:sp>
      <p:sp>
        <p:nvSpPr>
          <p:cNvPr id="73732" name="Rectangle 5"/>
          <p:cNvSpPr>
            <a:spLocks noGrp="1" noChangeArrowheads="1"/>
          </p:cNvSpPr>
          <p:nvPr>
            <p:ph type="body" idx="1"/>
          </p:nvPr>
        </p:nvSpPr>
        <p:spPr/>
        <p:txBody>
          <a:bodyPr/>
          <a:lstStyle/>
          <a:p>
            <a:pPr eaLnBrk="1" hangingPunct="1">
              <a:buFont typeface="Wingdings" panose="05000000000000000000" pitchFamily="2" charset="2"/>
              <a:buNone/>
            </a:pPr>
            <a:r>
              <a:rPr lang="en-US" altLang="en-US" b="1" dirty="0"/>
              <a:t>Using Precedence Graph</a:t>
            </a:r>
          </a:p>
          <a:p>
            <a:pPr lvl="1" eaLnBrk="1" hangingPunct="1"/>
            <a:r>
              <a:rPr lang="en-US" altLang="en-US" dirty="0"/>
              <a:t>Looks at only </a:t>
            </a:r>
            <a:r>
              <a:rPr lang="en-US" altLang="en-US" dirty="0" err="1"/>
              <a:t>read_Item</a:t>
            </a:r>
            <a:r>
              <a:rPr lang="en-US" altLang="en-US" dirty="0"/>
              <a:t> (X) and </a:t>
            </a:r>
            <a:r>
              <a:rPr lang="en-US" altLang="en-US" dirty="0" err="1"/>
              <a:t>write_Item</a:t>
            </a:r>
            <a:r>
              <a:rPr lang="en-US" altLang="en-US" dirty="0"/>
              <a:t> (X) operations</a:t>
            </a:r>
          </a:p>
          <a:p>
            <a:pPr lvl="1" eaLnBrk="1" hangingPunct="1"/>
            <a:r>
              <a:rPr lang="en-US" altLang="en-US" dirty="0"/>
              <a:t>Constructs a precedence graph (serialization graph) - a graph with directed edges </a:t>
            </a:r>
          </a:p>
          <a:p>
            <a:pPr lvl="1" eaLnBrk="1" hangingPunct="1"/>
            <a:r>
              <a:rPr lang="en-US" altLang="en-US" dirty="0"/>
              <a:t>An edge is created from Ti  to  Tj if one of the operations in  Ti  appears before a conflicting operation in Tj</a:t>
            </a:r>
          </a:p>
          <a:p>
            <a:pPr lvl="1" eaLnBrk="1" hangingPunct="1"/>
            <a:r>
              <a:rPr lang="en-US" altLang="en-US" dirty="0"/>
              <a:t>The schedule is serializable if and only if the precedence graph has no cycles. </a:t>
            </a:r>
          </a:p>
        </p:txBody>
      </p:sp>
    </p:spTree>
    <p:extLst>
      <p:ext uri="{BB962C8B-B14F-4D97-AF65-F5344CB8AC3E}">
        <p14:creationId xmlns:p14="http://schemas.microsoft.com/office/powerpoint/2010/main" val="1281093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9701"/>
            <a:ext cx="10515600" cy="5507262"/>
          </a:xfrm>
        </p:spPr>
        <p:txBody>
          <a:bodyPr/>
          <a:lstStyle/>
          <a:p>
            <a:pPr fontAlgn="base"/>
            <a:r>
              <a:rPr lang="en-US" dirty="0"/>
              <a:t>1] Check whether the given schedule S is conflict serializable or not-</a:t>
            </a:r>
          </a:p>
          <a:p>
            <a:pPr fontAlgn="base"/>
            <a:r>
              <a:rPr lang="en-US" b="1" dirty="0"/>
              <a:t>S : R</a:t>
            </a:r>
            <a:r>
              <a:rPr lang="en-US" b="1" baseline="-25000" dirty="0"/>
              <a:t>1</a:t>
            </a:r>
            <a:r>
              <a:rPr lang="en-US" b="1" dirty="0"/>
              <a:t>(A) , R</a:t>
            </a:r>
            <a:r>
              <a:rPr lang="en-US" b="1" baseline="-25000" dirty="0"/>
              <a:t>2</a:t>
            </a:r>
            <a:r>
              <a:rPr lang="en-US" b="1" dirty="0"/>
              <a:t>(A) , R</a:t>
            </a:r>
            <a:r>
              <a:rPr lang="en-US" b="1" baseline="-25000" dirty="0"/>
              <a:t>1</a:t>
            </a:r>
            <a:r>
              <a:rPr lang="en-US" b="1" dirty="0"/>
              <a:t>(B) , R</a:t>
            </a:r>
            <a:r>
              <a:rPr lang="en-US" b="1" baseline="-25000" dirty="0"/>
              <a:t>2</a:t>
            </a:r>
            <a:r>
              <a:rPr lang="en-US" b="1" dirty="0"/>
              <a:t>(B) , R</a:t>
            </a:r>
            <a:r>
              <a:rPr lang="en-US" b="1" baseline="-25000" dirty="0"/>
              <a:t>3</a:t>
            </a:r>
            <a:r>
              <a:rPr lang="en-US" b="1" dirty="0"/>
              <a:t>(B) , W</a:t>
            </a:r>
            <a:r>
              <a:rPr lang="en-US" b="1" baseline="-25000" dirty="0"/>
              <a:t>1</a:t>
            </a:r>
            <a:r>
              <a:rPr lang="en-US" b="1" dirty="0"/>
              <a:t>(A) , W</a:t>
            </a:r>
            <a:r>
              <a:rPr lang="en-US" b="1" baseline="-25000" dirty="0"/>
              <a:t>2</a:t>
            </a:r>
            <a:r>
              <a:rPr lang="en-US" b="1" dirty="0"/>
              <a:t>(B)</a:t>
            </a:r>
            <a:endParaRPr lang="en-US" dirty="0"/>
          </a:p>
          <a:p>
            <a:pPr fontAlgn="base"/>
            <a:r>
              <a:rPr lang="en-US" dirty="0">
                <a:solidFill>
                  <a:srgbClr val="FF0000"/>
                </a:solidFill>
              </a:rPr>
              <a:t>STEP 1:</a:t>
            </a:r>
          </a:p>
          <a:p>
            <a:pPr marL="0" indent="0" fontAlgn="base">
              <a:buNone/>
            </a:pPr>
            <a:r>
              <a:rPr lang="en-US" dirty="0"/>
              <a:t>List all the conflicting operations and determine the dependency between the transactions-</a:t>
            </a:r>
          </a:p>
          <a:p>
            <a:pPr fontAlgn="base"/>
            <a:r>
              <a:rPr lang="en-US" dirty="0"/>
              <a:t>R</a:t>
            </a:r>
            <a:r>
              <a:rPr lang="en-US" baseline="-25000" dirty="0"/>
              <a:t>2</a:t>
            </a:r>
            <a:r>
              <a:rPr lang="en-US" dirty="0"/>
              <a:t>(A) , W</a:t>
            </a:r>
            <a:r>
              <a:rPr lang="en-US" baseline="-25000" dirty="0"/>
              <a:t>1</a:t>
            </a:r>
            <a:r>
              <a:rPr lang="en-US" dirty="0"/>
              <a:t>(A) (T</a:t>
            </a:r>
            <a:r>
              <a:rPr lang="en-US" baseline="-25000" dirty="0"/>
              <a:t>2</a:t>
            </a:r>
            <a:r>
              <a:rPr lang="en-US" dirty="0"/>
              <a:t> → T</a:t>
            </a:r>
            <a:r>
              <a:rPr lang="en-US" baseline="-25000" dirty="0"/>
              <a:t>1</a:t>
            </a:r>
            <a:r>
              <a:rPr lang="en-US" dirty="0"/>
              <a:t>)</a:t>
            </a:r>
          </a:p>
          <a:p>
            <a:pPr fontAlgn="base"/>
            <a:r>
              <a:rPr lang="en-US" dirty="0"/>
              <a:t>R</a:t>
            </a:r>
            <a:r>
              <a:rPr lang="en-US" baseline="-25000" dirty="0"/>
              <a:t>1</a:t>
            </a:r>
            <a:r>
              <a:rPr lang="en-US" dirty="0"/>
              <a:t>(B) , W</a:t>
            </a:r>
            <a:r>
              <a:rPr lang="en-US" baseline="-25000" dirty="0"/>
              <a:t>2</a:t>
            </a:r>
            <a:r>
              <a:rPr lang="en-US" dirty="0"/>
              <a:t>(B) (T</a:t>
            </a:r>
            <a:r>
              <a:rPr lang="en-US" baseline="-25000" dirty="0"/>
              <a:t>1</a:t>
            </a:r>
            <a:r>
              <a:rPr lang="en-US" dirty="0"/>
              <a:t> → T</a:t>
            </a:r>
            <a:r>
              <a:rPr lang="en-US" baseline="-25000" dirty="0"/>
              <a:t>2</a:t>
            </a:r>
            <a:r>
              <a:rPr lang="en-US" dirty="0"/>
              <a:t>)</a:t>
            </a:r>
          </a:p>
          <a:p>
            <a:pPr fontAlgn="base"/>
            <a:r>
              <a:rPr lang="en-US" dirty="0"/>
              <a:t>R</a:t>
            </a:r>
            <a:r>
              <a:rPr lang="en-US" baseline="-25000" dirty="0"/>
              <a:t>3</a:t>
            </a:r>
            <a:r>
              <a:rPr lang="en-US" dirty="0"/>
              <a:t>(B) , W</a:t>
            </a:r>
            <a:r>
              <a:rPr lang="en-US" baseline="-25000" dirty="0"/>
              <a:t>2</a:t>
            </a:r>
            <a:r>
              <a:rPr lang="en-US" dirty="0"/>
              <a:t>(B) (T</a:t>
            </a:r>
            <a:r>
              <a:rPr lang="en-US" baseline="-25000" dirty="0"/>
              <a:t>3</a:t>
            </a:r>
            <a:r>
              <a:rPr lang="en-US" dirty="0"/>
              <a:t> → T</a:t>
            </a:r>
            <a:r>
              <a:rPr lang="en-US" baseline="-25000" dirty="0"/>
              <a:t>2</a:t>
            </a:r>
            <a:r>
              <a:rPr lang="en-US" dirty="0"/>
              <a:t>)</a:t>
            </a:r>
          </a:p>
          <a:p>
            <a:pPr marL="0" indent="0" fontAlgn="base">
              <a:buNone/>
            </a:pPr>
            <a:r>
              <a:rPr lang="en-US" dirty="0"/>
              <a:t> </a:t>
            </a:r>
          </a:p>
          <a:p>
            <a:endParaRPr lang="en-US" dirty="0"/>
          </a:p>
        </p:txBody>
      </p:sp>
      <p:sp>
        <p:nvSpPr>
          <p:cNvPr id="2" name="Slide Number Placeholder 1">
            <a:extLst>
              <a:ext uri="{FF2B5EF4-FFF2-40B4-BE49-F238E27FC236}">
                <a16:creationId xmlns:a16="http://schemas.microsoft.com/office/drawing/2014/main" id="{495A3143-0426-97D5-EAB5-CE5C0F304F8D}"/>
              </a:ext>
            </a:extLst>
          </p:cNvPr>
          <p:cNvSpPr>
            <a:spLocks noGrp="1"/>
          </p:cNvSpPr>
          <p:nvPr>
            <p:ph type="sldNum" sz="quarter" idx="12"/>
          </p:nvPr>
        </p:nvSpPr>
        <p:spPr/>
        <p:txBody>
          <a:bodyPr/>
          <a:lstStyle/>
          <a:p>
            <a:fld id="{9BED7385-1A27-4338-8D43-B2B3002AB878}" type="slidenum">
              <a:rPr lang="en-US" smtClean="0"/>
              <a:t>52</a:t>
            </a:fld>
            <a:endParaRPr lang="en-US"/>
          </a:p>
        </p:txBody>
      </p:sp>
    </p:spTree>
    <p:extLst>
      <p:ext uri="{BB962C8B-B14F-4D97-AF65-F5344CB8AC3E}">
        <p14:creationId xmlns:p14="http://schemas.microsoft.com/office/powerpoint/2010/main" val="22161154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24248" y="360609"/>
            <a:ext cx="8358389" cy="5182942"/>
          </a:xfrm>
          <a:prstGeom prst="rect">
            <a:avLst/>
          </a:prstGeom>
        </p:spPr>
      </p:pic>
      <p:sp>
        <p:nvSpPr>
          <p:cNvPr id="5" name="Slide Number Placeholder 4">
            <a:extLst>
              <a:ext uri="{FF2B5EF4-FFF2-40B4-BE49-F238E27FC236}">
                <a16:creationId xmlns:a16="http://schemas.microsoft.com/office/drawing/2014/main" id="{4F1BB626-31CC-8FEC-D0B9-16022691E7D1}"/>
              </a:ext>
            </a:extLst>
          </p:cNvPr>
          <p:cNvSpPr>
            <a:spLocks noGrp="1"/>
          </p:cNvSpPr>
          <p:nvPr>
            <p:ph type="sldNum" sz="quarter" idx="12"/>
          </p:nvPr>
        </p:nvSpPr>
        <p:spPr/>
        <p:txBody>
          <a:bodyPr/>
          <a:lstStyle/>
          <a:p>
            <a:fld id="{9BED7385-1A27-4338-8D43-B2B3002AB878}" type="slidenum">
              <a:rPr lang="en-US" smtClean="0"/>
              <a:t>53</a:t>
            </a:fld>
            <a:endParaRPr lang="en-US"/>
          </a:p>
        </p:txBody>
      </p:sp>
    </p:spTree>
    <p:extLst>
      <p:ext uri="{BB962C8B-B14F-4D97-AF65-F5344CB8AC3E}">
        <p14:creationId xmlns:p14="http://schemas.microsoft.com/office/powerpoint/2010/main" val="29340997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81070" y="489397"/>
            <a:ext cx="8873544" cy="5495657"/>
          </a:xfrm>
          <a:prstGeom prst="rect">
            <a:avLst/>
          </a:prstGeom>
        </p:spPr>
      </p:pic>
      <p:sp>
        <p:nvSpPr>
          <p:cNvPr id="2" name="Slide Number Placeholder 1">
            <a:extLst>
              <a:ext uri="{FF2B5EF4-FFF2-40B4-BE49-F238E27FC236}">
                <a16:creationId xmlns:a16="http://schemas.microsoft.com/office/drawing/2014/main" id="{A4C33DBB-551A-3DB5-0023-9C300F3B3E81}"/>
              </a:ext>
            </a:extLst>
          </p:cNvPr>
          <p:cNvSpPr>
            <a:spLocks noGrp="1"/>
          </p:cNvSpPr>
          <p:nvPr>
            <p:ph type="sldNum" sz="quarter" idx="12"/>
          </p:nvPr>
        </p:nvSpPr>
        <p:spPr/>
        <p:txBody>
          <a:bodyPr/>
          <a:lstStyle/>
          <a:p>
            <a:fld id="{9BED7385-1A27-4338-8D43-B2B3002AB878}" type="slidenum">
              <a:rPr lang="en-US" smtClean="0"/>
              <a:t>54</a:t>
            </a:fld>
            <a:endParaRPr lang="en-US"/>
          </a:p>
        </p:txBody>
      </p:sp>
    </p:spTree>
    <p:extLst>
      <p:ext uri="{BB962C8B-B14F-4D97-AF65-F5344CB8AC3E}">
        <p14:creationId xmlns:p14="http://schemas.microsoft.com/office/powerpoint/2010/main" val="32197036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7882"/>
            <a:ext cx="10515600" cy="5739081"/>
          </a:xfrm>
        </p:spPr>
        <p:txBody>
          <a:bodyPr/>
          <a:lstStyle/>
          <a:p>
            <a:r>
              <a:rPr lang="en-US" dirty="0"/>
              <a:t>List all the conflicting operations and determine the dependency between the transactions-</a:t>
            </a:r>
          </a:p>
          <a:p>
            <a:pPr fontAlgn="base"/>
            <a:r>
              <a:rPr lang="fr-FR" dirty="0"/>
              <a:t>R</a:t>
            </a:r>
            <a:r>
              <a:rPr lang="fr-FR" baseline="-25000" dirty="0"/>
              <a:t>2</a:t>
            </a:r>
            <a:r>
              <a:rPr lang="fr-FR" dirty="0"/>
              <a:t>(X) , W</a:t>
            </a:r>
            <a:r>
              <a:rPr lang="fr-FR" baseline="-25000" dirty="0"/>
              <a:t>3</a:t>
            </a:r>
            <a:r>
              <a:rPr lang="fr-FR" dirty="0"/>
              <a:t>(X) (T</a:t>
            </a:r>
            <a:r>
              <a:rPr lang="fr-FR" baseline="-25000" dirty="0"/>
              <a:t>2</a:t>
            </a:r>
            <a:r>
              <a:rPr lang="fr-FR" dirty="0"/>
              <a:t> → T</a:t>
            </a:r>
            <a:r>
              <a:rPr lang="fr-FR" baseline="-25000" dirty="0"/>
              <a:t>3</a:t>
            </a:r>
            <a:r>
              <a:rPr lang="fr-FR" dirty="0"/>
              <a:t>)</a:t>
            </a:r>
          </a:p>
          <a:p>
            <a:pPr fontAlgn="base"/>
            <a:r>
              <a:rPr lang="fr-FR" dirty="0"/>
              <a:t>R</a:t>
            </a:r>
            <a:r>
              <a:rPr lang="fr-FR" baseline="-25000" dirty="0"/>
              <a:t>2</a:t>
            </a:r>
            <a:r>
              <a:rPr lang="fr-FR" dirty="0"/>
              <a:t>(X) , W</a:t>
            </a:r>
            <a:r>
              <a:rPr lang="fr-FR" baseline="-25000" dirty="0"/>
              <a:t>1</a:t>
            </a:r>
            <a:r>
              <a:rPr lang="fr-FR" dirty="0"/>
              <a:t>(X) (T</a:t>
            </a:r>
            <a:r>
              <a:rPr lang="fr-FR" baseline="-25000" dirty="0"/>
              <a:t>2</a:t>
            </a:r>
            <a:r>
              <a:rPr lang="fr-FR" dirty="0"/>
              <a:t> → T</a:t>
            </a:r>
            <a:r>
              <a:rPr lang="fr-FR" baseline="-25000" dirty="0"/>
              <a:t>1</a:t>
            </a:r>
            <a:r>
              <a:rPr lang="fr-FR" dirty="0"/>
              <a:t>)</a:t>
            </a:r>
          </a:p>
          <a:p>
            <a:pPr fontAlgn="base"/>
            <a:r>
              <a:rPr lang="fr-FR" dirty="0"/>
              <a:t>W</a:t>
            </a:r>
            <a:r>
              <a:rPr lang="fr-FR" baseline="-25000" dirty="0"/>
              <a:t>3</a:t>
            </a:r>
            <a:r>
              <a:rPr lang="fr-FR" dirty="0"/>
              <a:t>(X) , W</a:t>
            </a:r>
            <a:r>
              <a:rPr lang="fr-FR" baseline="-25000" dirty="0"/>
              <a:t>1</a:t>
            </a:r>
            <a:r>
              <a:rPr lang="fr-FR" dirty="0"/>
              <a:t>(X) (T</a:t>
            </a:r>
            <a:r>
              <a:rPr lang="fr-FR" baseline="-25000" dirty="0"/>
              <a:t>3</a:t>
            </a:r>
            <a:r>
              <a:rPr lang="fr-FR" dirty="0"/>
              <a:t> → T</a:t>
            </a:r>
            <a:r>
              <a:rPr lang="fr-FR" baseline="-25000" dirty="0"/>
              <a:t>1</a:t>
            </a:r>
            <a:r>
              <a:rPr lang="fr-FR" dirty="0"/>
              <a:t>)</a:t>
            </a:r>
          </a:p>
          <a:p>
            <a:pPr fontAlgn="base"/>
            <a:r>
              <a:rPr lang="fr-FR" dirty="0"/>
              <a:t>W</a:t>
            </a:r>
            <a:r>
              <a:rPr lang="fr-FR" baseline="-25000" dirty="0"/>
              <a:t>3</a:t>
            </a:r>
            <a:r>
              <a:rPr lang="fr-FR" dirty="0"/>
              <a:t>(X) , R</a:t>
            </a:r>
            <a:r>
              <a:rPr lang="fr-FR" baseline="-25000" dirty="0"/>
              <a:t>4</a:t>
            </a:r>
            <a:r>
              <a:rPr lang="fr-FR" dirty="0"/>
              <a:t>(X) (T</a:t>
            </a:r>
            <a:r>
              <a:rPr lang="fr-FR" baseline="-25000" dirty="0"/>
              <a:t>3</a:t>
            </a:r>
            <a:r>
              <a:rPr lang="fr-FR" dirty="0"/>
              <a:t> → T</a:t>
            </a:r>
            <a:r>
              <a:rPr lang="fr-FR" baseline="-25000" dirty="0"/>
              <a:t>4</a:t>
            </a:r>
            <a:r>
              <a:rPr lang="fr-FR" dirty="0"/>
              <a:t>)</a:t>
            </a:r>
          </a:p>
          <a:p>
            <a:pPr fontAlgn="base"/>
            <a:r>
              <a:rPr lang="fr-FR" dirty="0"/>
              <a:t>W</a:t>
            </a:r>
            <a:r>
              <a:rPr lang="fr-FR" baseline="-25000" dirty="0"/>
              <a:t>1</a:t>
            </a:r>
            <a:r>
              <a:rPr lang="fr-FR" dirty="0"/>
              <a:t>(X) , R</a:t>
            </a:r>
            <a:r>
              <a:rPr lang="fr-FR" baseline="-25000" dirty="0"/>
              <a:t>4</a:t>
            </a:r>
            <a:r>
              <a:rPr lang="fr-FR" dirty="0"/>
              <a:t>(X) (T</a:t>
            </a:r>
            <a:r>
              <a:rPr lang="fr-FR" baseline="-25000" dirty="0"/>
              <a:t>1</a:t>
            </a:r>
            <a:r>
              <a:rPr lang="fr-FR" dirty="0"/>
              <a:t> → T</a:t>
            </a:r>
            <a:r>
              <a:rPr lang="fr-FR" baseline="-25000" dirty="0"/>
              <a:t>4</a:t>
            </a:r>
            <a:r>
              <a:rPr lang="fr-FR" dirty="0"/>
              <a:t>)</a:t>
            </a:r>
          </a:p>
          <a:p>
            <a:pPr fontAlgn="base"/>
            <a:r>
              <a:rPr lang="fr-FR" dirty="0"/>
              <a:t>W</a:t>
            </a:r>
            <a:r>
              <a:rPr lang="fr-FR" baseline="-25000" dirty="0"/>
              <a:t>2</a:t>
            </a:r>
            <a:r>
              <a:rPr lang="fr-FR" dirty="0"/>
              <a:t>(Y) , R</a:t>
            </a:r>
            <a:r>
              <a:rPr lang="fr-FR" baseline="-25000" dirty="0"/>
              <a:t>4</a:t>
            </a:r>
            <a:r>
              <a:rPr lang="fr-FR" dirty="0"/>
              <a:t>(Y) (T</a:t>
            </a:r>
            <a:r>
              <a:rPr lang="fr-FR" baseline="-25000" dirty="0"/>
              <a:t>2</a:t>
            </a:r>
            <a:r>
              <a:rPr lang="fr-FR" dirty="0"/>
              <a:t> → T</a:t>
            </a:r>
            <a:r>
              <a:rPr lang="fr-FR" baseline="-25000" dirty="0"/>
              <a:t>4</a:t>
            </a:r>
            <a:r>
              <a:rPr lang="fr-FR" dirty="0"/>
              <a:t>)</a:t>
            </a:r>
          </a:p>
          <a:p>
            <a:endParaRPr lang="en-US" dirty="0"/>
          </a:p>
        </p:txBody>
      </p:sp>
      <p:sp>
        <p:nvSpPr>
          <p:cNvPr id="2" name="Slide Number Placeholder 1">
            <a:extLst>
              <a:ext uri="{FF2B5EF4-FFF2-40B4-BE49-F238E27FC236}">
                <a16:creationId xmlns:a16="http://schemas.microsoft.com/office/drawing/2014/main" id="{6A1816EB-16CA-483A-C9F3-95E7752A4195}"/>
              </a:ext>
            </a:extLst>
          </p:cNvPr>
          <p:cNvSpPr>
            <a:spLocks noGrp="1"/>
          </p:cNvSpPr>
          <p:nvPr>
            <p:ph type="sldNum" sz="quarter" idx="12"/>
          </p:nvPr>
        </p:nvSpPr>
        <p:spPr/>
        <p:txBody>
          <a:bodyPr/>
          <a:lstStyle/>
          <a:p>
            <a:fld id="{9BED7385-1A27-4338-8D43-B2B3002AB878}" type="slidenum">
              <a:rPr lang="en-US" smtClean="0"/>
              <a:t>55</a:t>
            </a:fld>
            <a:endParaRPr lang="en-US"/>
          </a:p>
        </p:txBody>
      </p:sp>
    </p:spTree>
    <p:extLst>
      <p:ext uri="{BB962C8B-B14F-4D97-AF65-F5344CB8AC3E}">
        <p14:creationId xmlns:p14="http://schemas.microsoft.com/office/powerpoint/2010/main" val="1851772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854559" y="553792"/>
            <a:ext cx="7141804" cy="4991346"/>
          </a:xfrm>
          <a:prstGeom prst="rect">
            <a:avLst/>
          </a:prstGeom>
        </p:spPr>
      </p:pic>
      <p:sp>
        <p:nvSpPr>
          <p:cNvPr id="2" name="Slide Number Placeholder 1">
            <a:extLst>
              <a:ext uri="{FF2B5EF4-FFF2-40B4-BE49-F238E27FC236}">
                <a16:creationId xmlns:a16="http://schemas.microsoft.com/office/drawing/2014/main" id="{D16F09FC-866A-ABA9-DD82-5D1F41E1E516}"/>
              </a:ext>
            </a:extLst>
          </p:cNvPr>
          <p:cNvSpPr>
            <a:spLocks noGrp="1"/>
          </p:cNvSpPr>
          <p:nvPr>
            <p:ph type="sldNum" sz="quarter" idx="12"/>
          </p:nvPr>
        </p:nvSpPr>
        <p:spPr/>
        <p:txBody>
          <a:bodyPr/>
          <a:lstStyle/>
          <a:p>
            <a:fld id="{9BED7385-1A27-4338-8D43-B2B3002AB878}" type="slidenum">
              <a:rPr lang="en-US" smtClean="0"/>
              <a:t>56</a:t>
            </a:fld>
            <a:endParaRPr lang="en-US"/>
          </a:p>
        </p:txBody>
      </p:sp>
    </p:spTree>
    <p:extLst>
      <p:ext uri="{BB962C8B-B14F-4D97-AF65-F5344CB8AC3E}">
        <p14:creationId xmlns:p14="http://schemas.microsoft.com/office/powerpoint/2010/main" val="23407913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944710" y="515155"/>
            <a:ext cx="6856390" cy="5352245"/>
          </a:xfrm>
          <a:prstGeom prst="rect">
            <a:avLst/>
          </a:prstGeom>
        </p:spPr>
      </p:pic>
      <p:sp>
        <p:nvSpPr>
          <p:cNvPr id="2" name="Slide Number Placeholder 1">
            <a:extLst>
              <a:ext uri="{FF2B5EF4-FFF2-40B4-BE49-F238E27FC236}">
                <a16:creationId xmlns:a16="http://schemas.microsoft.com/office/drawing/2014/main" id="{8561B74E-ACBB-ECA0-E4A5-169DA3E183AA}"/>
              </a:ext>
            </a:extLst>
          </p:cNvPr>
          <p:cNvSpPr>
            <a:spLocks noGrp="1"/>
          </p:cNvSpPr>
          <p:nvPr>
            <p:ph type="sldNum" sz="quarter" idx="12"/>
          </p:nvPr>
        </p:nvSpPr>
        <p:spPr/>
        <p:txBody>
          <a:bodyPr/>
          <a:lstStyle/>
          <a:p>
            <a:fld id="{9BED7385-1A27-4338-8D43-B2B3002AB878}" type="slidenum">
              <a:rPr lang="en-US" smtClean="0"/>
              <a:t>57</a:t>
            </a:fld>
            <a:endParaRPr lang="en-US"/>
          </a:p>
        </p:txBody>
      </p:sp>
    </p:spTree>
    <p:extLst>
      <p:ext uri="{BB962C8B-B14F-4D97-AF65-F5344CB8AC3E}">
        <p14:creationId xmlns:p14="http://schemas.microsoft.com/office/powerpoint/2010/main" val="29205000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00010" y="502275"/>
            <a:ext cx="8834907" cy="5705341"/>
          </a:xfrm>
          <a:prstGeom prst="rect">
            <a:avLst/>
          </a:prstGeom>
        </p:spPr>
      </p:pic>
      <p:sp>
        <p:nvSpPr>
          <p:cNvPr id="2" name="Slide Number Placeholder 1">
            <a:extLst>
              <a:ext uri="{FF2B5EF4-FFF2-40B4-BE49-F238E27FC236}">
                <a16:creationId xmlns:a16="http://schemas.microsoft.com/office/drawing/2014/main" id="{4FC37C6D-BC6B-E88A-26F5-DB0A371D0A05}"/>
              </a:ext>
            </a:extLst>
          </p:cNvPr>
          <p:cNvSpPr>
            <a:spLocks noGrp="1"/>
          </p:cNvSpPr>
          <p:nvPr>
            <p:ph type="sldNum" sz="quarter" idx="12"/>
          </p:nvPr>
        </p:nvSpPr>
        <p:spPr/>
        <p:txBody>
          <a:bodyPr/>
          <a:lstStyle/>
          <a:p>
            <a:fld id="{9BED7385-1A27-4338-8D43-B2B3002AB878}" type="slidenum">
              <a:rPr lang="en-US" smtClean="0"/>
              <a:t>58</a:t>
            </a:fld>
            <a:endParaRPr lang="en-US"/>
          </a:p>
        </p:txBody>
      </p:sp>
    </p:spTree>
    <p:extLst>
      <p:ext uri="{BB962C8B-B14F-4D97-AF65-F5344CB8AC3E}">
        <p14:creationId xmlns:p14="http://schemas.microsoft.com/office/powerpoint/2010/main" val="18393900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2124"/>
            <a:ext cx="10515600" cy="5764839"/>
          </a:xfrm>
        </p:spPr>
        <p:txBody>
          <a:bodyPr>
            <a:normAutofit/>
          </a:bodyPr>
          <a:lstStyle/>
          <a:p>
            <a:pPr marL="0" indent="0" fontAlgn="base">
              <a:buNone/>
            </a:pPr>
            <a:r>
              <a:rPr lang="en-US" b="1" u="sng" dirty="0"/>
              <a:t> Checking Whether S is Conflict Serializable Or Not-</a:t>
            </a:r>
            <a:endParaRPr lang="en-US" b="1" dirty="0"/>
          </a:p>
          <a:p>
            <a:pPr fontAlgn="base"/>
            <a:r>
              <a:rPr lang="en-US" b="1" u="sng" dirty="0"/>
              <a:t>Step-01:</a:t>
            </a:r>
            <a:endParaRPr lang="en-US" b="1" dirty="0"/>
          </a:p>
          <a:p>
            <a:pPr marL="0" indent="0" fontAlgn="base">
              <a:buNone/>
            </a:pPr>
            <a:r>
              <a:rPr lang="en-US" dirty="0"/>
              <a:t>List all the conflicting operations and determine the dependency between the transactions-</a:t>
            </a:r>
          </a:p>
          <a:p>
            <a:pPr fontAlgn="base"/>
            <a:r>
              <a:rPr lang="en-US" dirty="0"/>
              <a:t>R</a:t>
            </a:r>
            <a:r>
              <a:rPr lang="en-US" baseline="-25000" dirty="0"/>
              <a:t>1</a:t>
            </a:r>
            <a:r>
              <a:rPr lang="en-US" dirty="0"/>
              <a:t>(A) , W</a:t>
            </a:r>
            <a:r>
              <a:rPr lang="en-US" baseline="-25000" dirty="0"/>
              <a:t>2</a:t>
            </a:r>
            <a:r>
              <a:rPr lang="en-US" dirty="0"/>
              <a:t>(A) (T</a:t>
            </a:r>
            <a:r>
              <a:rPr lang="en-US" baseline="-25000" dirty="0"/>
              <a:t>1</a:t>
            </a:r>
            <a:r>
              <a:rPr lang="en-US" dirty="0"/>
              <a:t> → T</a:t>
            </a:r>
            <a:r>
              <a:rPr lang="en-US" baseline="-25000" dirty="0"/>
              <a:t>2</a:t>
            </a:r>
            <a:r>
              <a:rPr lang="en-US" dirty="0"/>
              <a:t>)</a:t>
            </a:r>
          </a:p>
          <a:p>
            <a:pPr fontAlgn="base"/>
            <a:r>
              <a:rPr lang="en-US" dirty="0"/>
              <a:t>R</a:t>
            </a:r>
            <a:r>
              <a:rPr lang="en-US" baseline="-25000" dirty="0"/>
              <a:t>2</a:t>
            </a:r>
            <a:r>
              <a:rPr lang="en-US" dirty="0"/>
              <a:t>(A) , W</a:t>
            </a:r>
            <a:r>
              <a:rPr lang="en-US" baseline="-25000" dirty="0"/>
              <a:t>1</a:t>
            </a:r>
            <a:r>
              <a:rPr lang="en-US" dirty="0"/>
              <a:t>(A) (T</a:t>
            </a:r>
            <a:r>
              <a:rPr lang="en-US" baseline="-25000" dirty="0"/>
              <a:t>2</a:t>
            </a:r>
            <a:r>
              <a:rPr lang="en-US" dirty="0"/>
              <a:t> → T</a:t>
            </a:r>
            <a:r>
              <a:rPr lang="en-US" baseline="-25000" dirty="0"/>
              <a:t>1</a:t>
            </a:r>
            <a:r>
              <a:rPr lang="en-US" dirty="0"/>
              <a:t>)</a:t>
            </a:r>
          </a:p>
          <a:p>
            <a:pPr fontAlgn="base"/>
            <a:r>
              <a:rPr lang="en-US" dirty="0"/>
              <a:t>W</a:t>
            </a:r>
            <a:r>
              <a:rPr lang="en-US" baseline="-25000" dirty="0"/>
              <a:t>2</a:t>
            </a:r>
            <a:r>
              <a:rPr lang="en-US" dirty="0"/>
              <a:t>(A) , W</a:t>
            </a:r>
            <a:r>
              <a:rPr lang="en-US" baseline="-25000" dirty="0"/>
              <a:t>1</a:t>
            </a:r>
            <a:r>
              <a:rPr lang="en-US" dirty="0"/>
              <a:t>(A) (T</a:t>
            </a:r>
            <a:r>
              <a:rPr lang="en-US" baseline="-25000" dirty="0"/>
              <a:t>2</a:t>
            </a:r>
            <a:r>
              <a:rPr lang="en-US" dirty="0"/>
              <a:t> → T</a:t>
            </a:r>
            <a:r>
              <a:rPr lang="en-US" baseline="-25000" dirty="0"/>
              <a:t>1</a:t>
            </a:r>
            <a:r>
              <a:rPr lang="en-US" dirty="0"/>
              <a:t>)</a:t>
            </a:r>
          </a:p>
          <a:p>
            <a:pPr fontAlgn="base"/>
            <a:r>
              <a:rPr lang="en-US" dirty="0"/>
              <a:t>R</a:t>
            </a:r>
            <a:r>
              <a:rPr lang="en-US" baseline="-25000" dirty="0"/>
              <a:t>2</a:t>
            </a:r>
            <a:r>
              <a:rPr lang="en-US" dirty="0"/>
              <a:t>(B) , W</a:t>
            </a:r>
            <a:r>
              <a:rPr lang="en-US" baseline="-25000" dirty="0"/>
              <a:t>1</a:t>
            </a:r>
            <a:r>
              <a:rPr lang="en-US" dirty="0"/>
              <a:t>(B) (T</a:t>
            </a:r>
            <a:r>
              <a:rPr lang="en-US" baseline="-25000" dirty="0"/>
              <a:t>2</a:t>
            </a:r>
            <a:r>
              <a:rPr lang="en-US" dirty="0"/>
              <a:t> → T</a:t>
            </a:r>
            <a:r>
              <a:rPr lang="en-US" baseline="-25000" dirty="0"/>
              <a:t>1</a:t>
            </a:r>
            <a:r>
              <a:rPr lang="en-US" dirty="0"/>
              <a:t>)</a:t>
            </a:r>
          </a:p>
          <a:p>
            <a:pPr fontAlgn="base"/>
            <a:r>
              <a:rPr lang="en-US" dirty="0"/>
              <a:t>R</a:t>
            </a:r>
            <a:r>
              <a:rPr lang="en-US" baseline="-25000" dirty="0"/>
              <a:t>1</a:t>
            </a:r>
            <a:r>
              <a:rPr lang="en-US" dirty="0"/>
              <a:t>(B) , W</a:t>
            </a:r>
            <a:r>
              <a:rPr lang="en-US" baseline="-25000" dirty="0"/>
              <a:t>2</a:t>
            </a:r>
            <a:r>
              <a:rPr lang="en-US" dirty="0"/>
              <a:t>(B) (T</a:t>
            </a:r>
            <a:r>
              <a:rPr lang="en-US" baseline="-25000" dirty="0"/>
              <a:t>1</a:t>
            </a:r>
            <a:r>
              <a:rPr lang="en-US" dirty="0"/>
              <a:t> → T</a:t>
            </a:r>
            <a:r>
              <a:rPr lang="en-US" baseline="-25000" dirty="0"/>
              <a:t>2</a:t>
            </a:r>
            <a:r>
              <a:rPr lang="en-US" dirty="0"/>
              <a:t>)</a:t>
            </a:r>
          </a:p>
          <a:p>
            <a:pPr fontAlgn="base"/>
            <a:r>
              <a:rPr lang="en-US" dirty="0"/>
              <a:t>W</a:t>
            </a:r>
            <a:r>
              <a:rPr lang="en-US" baseline="-25000" dirty="0"/>
              <a:t>1</a:t>
            </a:r>
            <a:r>
              <a:rPr lang="en-US" dirty="0"/>
              <a:t>(B) , W</a:t>
            </a:r>
            <a:r>
              <a:rPr lang="en-US" baseline="-25000" dirty="0"/>
              <a:t>2</a:t>
            </a:r>
            <a:r>
              <a:rPr lang="en-US" dirty="0"/>
              <a:t>(B) (T</a:t>
            </a:r>
            <a:r>
              <a:rPr lang="en-US" baseline="-25000" dirty="0"/>
              <a:t>1</a:t>
            </a:r>
            <a:r>
              <a:rPr lang="en-US" dirty="0"/>
              <a:t> → T</a:t>
            </a:r>
            <a:r>
              <a:rPr lang="en-US" baseline="-25000" dirty="0"/>
              <a:t>2</a:t>
            </a:r>
            <a:r>
              <a:rPr lang="en-US" dirty="0"/>
              <a:t>)</a:t>
            </a:r>
          </a:p>
          <a:p>
            <a:endParaRPr lang="en-US" dirty="0"/>
          </a:p>
        </p:txBody>
      </p:sp>
      <p:sp>
        <p:nvSpPr>
          <p:cNvPr id="2" name="Slide Number Placeholder 1">
            <a:extLst>
              <a:ext uri="{FF2B5EF4-FFF2-40B4-BE49-F238E27FC236}">
                <a16:creationId xmlns:a16="http://schemas.microsoft.com/office/drawing/2014/main" id="{82C3C6C1-EC8F-AB37-6AEF-A166955F1488}"/>
              </a:ext>
            </a:extLst>
          </p:cNvPr>
          <p:cNvSpPr>
            <a:spLocks noGrp="1"/>
          </p:cNvSpPr>
          <p:nvPr>
            <p:ph type="sldNum" sz="quarter" idx="12"/>
          </p:nvPr>
        </p:nvSpPr>
        <p:spPr/>
        <p:txBody>
          <a:bodyPr/>
          <a:lstStyle/>
          <a:p>
            <a:fld id="{9BED7385-1A27-4338-8D43-B2B3002AB878}" type="slidenum">
              <a:rPr lang="en-US" smtClean="0"/>
              <a:t>59</a:t>
            </a:fld>
            <a:endParaRPr lang="en-US"/>
          </a:p>
        </p:txBody>
      </p:sp>
    </p:spTree>
    <p:extLst>
      <p:ext uri="{BB962C8B-B14F-4D97-AF65-F5344CB8AC3E}">
        <p14:creationId xmlns:p14="http://schemas.microsoft.com/office/powerpoint/2010/main" val="15846193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93949" y="425003"/>
            <a:ext cx="8075054" cy="5576552"/>
          </a:xfrm>
          <a:prstGeom prst="rect">
            <a:avLst/>
          </a:prstGeom>
        </p:spPr>
      </p:pic>
      <p:sp>
        <p:nvSpPr>
          <p:cNvPr id="2" name="Slide Number Placeholder 1">
            <a:extLst>
              <a:ext uri="{FF2B5EF4-FFF2-40B4-BE49-F238E27FC236}">
                <a16:creationId xmlns:a16="http://schemas.microsoft.com/office/drawing/2014/main" id="{FB1D9E9E-A31A-A2CD-8210-793BACD1A132}"/>
              </a:ext>
            </a:extLst>
          </p:cNvPr>
          <p:cNvSpPr>
            <a:spLocks noGrp="1"/>
          </p:cNvSpPr>
          <p:nvPr>
            <p:ph type="sldNum" sz="quarter" idx="12"/>
          </p:nvPr>
        </p:nvSpPr>
        <p:spPr/>
        <p:txBody>
          <a:bodyPr/>
          <a:lstStyle/>
          <a:p>
            <a:fld id="{9BED7385-1A27-4338-8D43-B2B3002AB878}" type="slidenum">
              <a:rPr lang="en-US" smtClean="0"/>
              <a:t>60</a:t>
            </a:fld>
            <a:endParaRPr lang="en-US"/>
          </a:p>
        </p:txBody>
      </p:sp>
    </p:spTree>
    <p:extLst>
      <p:ext uri="{BB962C8B-B14F-4D97-AF65-F5344CB8AC3E}">
        <p14:creationId xmlns:p14="http://schemas.microsoft.com/office/powerpoint/2010/main" val="10690394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6518"/>
            <a:ext cx="10515600" cy="5700445"/>
          </a:xfrm>
        </p:spPr>
        <p:txBody>
          <a:bodyPr/>
          <a:lstStyle/>
          <a:p>
            <a:r>
              <a:rPr lang="en-US" dirty="0"/>
              <a:t>Check whether the given schedule S is conflict serializable or not. If yes, then determine all the possible serialized schedules-</a:t>
            </a:r>
          </a:p>
          <a:p>
            <a:endParaRPr lang="en-US" dirty="0"/>
          </a:p>
        </p:txBody>
      </p:sp>
      <p:pic>
        <p:nvPicPr>
          <p:cNvPr id="4" name="Picture 3"/>
          <p:cNvPicPr/>
          <p:nvPr/>
        </p:nvPicPr>
        <p:blipFill>
          <a:blip r:embed="rId2"/>
          <a:stretch>
            <a:fillRect/>
          </a:stretch>
        </p:blipFill>
        <p:spPr>
          <a:xfrm>
            <a:off x="721217" y="1694243"/>
            <a:ext cx="4353060" cy="3495943"/>
          </a:xfrm>
          <a:prstGeom prst="rect">
            <a:avLst/>
          </a:prstGeom>
        </p:spPr>
      </p:pic>
      <p:sp>
        <p:nvSpPr>
          <p:cNvPr id="2" name="Rectangle 1"/>
          <p:cNvSpPr/>
          <p:nvPr/>
        </p:nvSpPr>
        <p:spPr>
          <a:xfrm>
            <a:off x="6332113" y="1883020"/>
            <a:ext cx="6096000" cy="2679836"/>
          </a:xfrm>
          <a:prstGeom prst="rect">
            <a:avLst/>
          </a:prstGeom>
        </p:spPr>
        <p:txBody>
          <a:bodyPr>
            <a:spAutoFit/>
          </a:bodyPr>
          <a:lstStyle/>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dirty="0">
                <a:latin typeface="Calibri" panose="020F0502020204030204" pitchFamily="34" charset="0"/>
                <a:ea typeface="Calibri" panose="020F0502020204030204" pitchFamily="34" charset="0"/>
                <a:cs typeface="Times New Roman" panose="02020603050405020304" pitchFamily="18" charset="0"/>
              </a:rPr>
              <a:t>List all the conflicting operations and determine the dependency between the transactions-</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dirty="0">
                <a:latin typeface="Calibri" panose="020F0502020204030204" pitchFamily="34" charset="0"/>
                <a:ea typeface="Calibri" panose="020F0502020204030204" pitchFamily="34" charset="0"/>
                <a:cs typeface="Times New Roman" panose="02020603050405020304" pitchFamily="18" charset="0"/>
              </a:rPr>
              <a:t>R</a:t>
            </a:r>
            <a:r>
              <a:rPr lang="en-US" baseline="-25000" dirty="0">
                <a:latin typeface="Calibri" panose="020F0502020204030204" pitchFamily="34" charset="0"/>
                <a:ea typeface="Calibri" panose="020F0502020204030204" pitchFamily="34" charset="0"/>
                <a:cs typeface="Times New Roman" panose="02020603050405020304" pitchFamily="18" charset="0"/>
              </a:rPr>
              <a:t>4</a:t>
            </a:r>
            <a:r>
              <a:rPr lang="en-US" dirty="0">
                <a:latin typeface="Calibri" panose="020F0502020204030204" pitchFamily="34" charset="0"/>
                <a:ea typeface="Calibri" panose="020F0502020204030204" pitchFamily="34" charset="0"/>
                <a:cs typeface="Times New Roman" panose="02020603050405020304" pitchFamily="18" charset="0"/>
              </a:rPr>
              <a:t>(A) , W</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r>
              <a:rPr lang="en-US" dirty="0">
                <a:latin typeface="Calibri" panose="020F0502020204030204" pitchFamily="34" charset="0"/>
                <a:ea typeface="Calibri" panose="020F0502020204030204" pitchFamily="34" charset="0"/>
                <a:cs typeface="Times New Roman" panose="02020603050405020304" pitchFamily="18" charset="0"/>
              </a:rPr>
              <a:t>(A) (T</a:t>
            </a:r>
            <a:r>
              <a:rPr lang="en-US" baseline="-25000" dirty="0">
                <a:latin typeface="Calibri" panose="020F0502020204030204" pitchFamily="34" charset="0"/>
                <a:ea typeface="Calibri" panose="020F0502020204030204" pitchFamily="34" charset="0"/>
                <a:cs typeface="Times New Roman" panose="02020603050405020304" pitchFamily="18" charset="0"/>
              </a:rPr>
              <a:t>4</a:t>
            </a:r>
            <a:r>
              <a:rPr lang="en-US" dirty="0">
                <a:latin typeface="Calibri" panose="020F0502020204030204" pitchFamily="34" charset="0"/>
                <a:ea typeface="Calibri" panose="020F0502020204030204" pitchFamily="34" charset="0"/>
                <a:cs typeface="Times New Roman" panose="02020603050405020304" pitchFamily="18" charset="0"/>
              </a:rPr>
              <a:t> → T</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r>
              <a:rPr lang="en-US" dirty="0">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dirty="0">
                <a:latin typeface="Calibri" panose="020F0502020204030204" pitchFamily="34" charset="0"/>
                <a:ea typeface="Calibri" panose="020F0502020204030204" pitchFamily="34" charset="0"/>
                <a:cs typeface="Times New Roman" panose="02020603050405020304" pitchFamily="18" charset="0"/>
              </a:rPr>
              <a:t>R</a:t>
            </a:r>
            <a:r>
              <a:rPr lang="en-US" baseline="-25000" dirty="0">
                <a:latin typeface="Calibri" panose="020F0502020204030204" pitchFamily="34" charset="0"/>
                <a:ea typeface="Calibri" panose="020F0502020204030204" pitchFamily="34" charset="0"/>
                <a:cs typeface="Times New Roman" panose="02020603050405020304" pitchFamily="18" charset="0"/>
              </a:rPr>
              <a:t>3</a:t>
            </a:r>
            <a:r>
              <a:rPr lang="en-US" dirty="0">
                <a:latin typeface="Calibri" panose="020F0502020204030204" pitchFamily="34" charset="0"/>
                <a:ea typeface="Calibri" panose="020F0502020204030204" pitchFamily="34" charset="0"/>
                <a:cs typeface="Times New Roman" panose="02020603050405020304" pitchFamily="18" charset="0"/>
              </a:rPr>
              <a:t>(A) , W</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r>
              <a:rPr lang="en-US" dirty="0">
                <a:latin typeface="Calibri" panose="020F0502020204030204" pitchFamily="34" charset="0"/>
                <a:ea typeface="Calibri" panose="020F0502020204030204" pitchFamily="34" charset="0"/>
                <a:cs typeface="Times New Roman" panose="02020603050405020304" pitchFamily="18" charset="0"/>
              </a:rPr>
              <a:t>(A) (T</a:t>
            </a:r>
            <a:r>
              <a:rPr lang="en-US" baseline="-25000" dirty="0">
                <a:latin typeface="Calibri" panose="020F0502020204030204" pitchFamily="34" charset="0"/>
                <a:ea typeface="Calibri" panose="020F0502020204030204" pitchFamily="34" charset="0"/>
                <a:cs typeface="Times New Roman" panose="02020603050405020304" pitchFamily="18" charset="0"/>
              </a:rPr>
              <a:t>3</a:t>
            </a:r>
            <a:r>
              <a:rPr lang="en-US" dirty="0">
                <a:latin typeface="Calibri" panose="020F0502020204030204" pitchFamily="34" charset="0"/>
                <a:ea typeface="Calibri" panose="020F0502020204030204" pitchFamily="34" charset="0"/>
                <a:cs typeface="Times New Roman" panose="02020603050405020304" pitchFamily="18" charset="0"/>
              </a:rPr>
              <a:t> → T</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r>
              <a:rPr lang="en-US" dirty="0">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dirty="0">
                <a:latin typeface="Calibri" panose="020F0502020204030204" pitchFamily="34" charset="0"/>
                <a:ea typeface="Calibri" panose="020F0502020204030204" pitchFamily="34" charset="0"/>
                <a:cs typeface="Times New Roman" panose="02020603050405020304" pitchFamily="18" charset="0"/>
              </a:rPr>
              <a:t>W</a:t>
            </a:r>
            <a:r>
              <a:rPr lang="en-US" baseline="-25000" dirty="0">
                <a:latin typeface="Calibri" panose="020F0502020204030204" pitchFamily="34" charset="0"/>
                <a:ea typeface="Calibri" panose="020F0502020204030204" pitchFamily="34" charset="0"/>
                <a:cs typeface="Times New Roman" panose="02020603050405020304" pitchFamily="18" charset="0"/>
              </a:rPr>
              <a:t>1</a:t>
            </a:r>
            <a:r>
              <a:rPr lang="en-US" dirty="0">
                <a:latin typeface="Calibri" panose="020F0502020204030204" pitchFamily="34" charset="0"/>
                <a:ea typeface="Calibri" panose="020F0502020204030204" pitchFamily="34" charset="0"/>
                <a:cs typeface="Times New Roman" panose="02020603050405020304" pitchFamily="18" charset="0"/>
              </a:rPr>
              <a:t>(B) , R</a:t>
            </a:r>
            <a:r>
              <a:rPr lang="en-US" baseline="-25000" dirty="0">
                <a:latin typeface="Calibri" panose="020F0502020204030204" pitchFamily="34" charset="0"/>
                <a:ea typeface="Calibri" panose="020F0502020204030204" pitchFamily="34" charset="0"/>
                <a:cs typeface="Times New Roman" panose="02020603050405020304" pitchFamily="18" charset="0"/>
              </a:rPr>
              <a:t>3</a:t>
            </a:r>
            <a:r>
              <a:rPr lang="en-US" dirty="0">
                <a:latin typeface="Calibri" panose="020F0502020204030204" pitchFamily="34" charset="0"/>
                <a:ea typeface="Calibri" panose="020F0502020204030204" pitchFamily="34" charset="0"/>
                <a:cs typeface="Times New Roman" panose="02020603050405020304" pitchFamily="18" charset="0"/>
              </a:rPr>
              <a:t>(B) (T</a:t>
            </a:r>
            <a:r>
              <a:rPr lang="en-US" baseline="-25000" dirty="0">
                <a:latin typeface="Calibri" panose="020F0502020204030204" pitchFamily="34" charset="0"/>
                <a:ea typeface="Calibri" panose="020F0502020204030204" pitchFamily="34" charset="0"/>
                <a:cs typeface="Times New Roman" panose="02020603050405020304" pitchFamily="18" charset="0"/>
              </a:rPr>
              <a:t>1</a:t>
            </a:r>
            <a:r>
              <a:rPr lang="en-US" dirty="0">
                <a:latin typeface="Calibri" panose="020F0502020204030204" pitchFamily="34" charset="0"/>
                <a:ea typeface="Calibri" panose="020F0502020204030204" pitchFamily="34" charset="0"/>
                <a:cs typeface="Times New Roman" panose="02020603050405020304" pitchFamily="18" charset="0"/>
              </a:rPr>
              <a:t> → T</a:t>
            </a:r>
            <a:r>
              <a:rPr lang="en-US" baseline="-25000" dirty="0">
                <a:latin typeface="Calibri" panose="020F0502020204030204" pitchFamily="34" charset="0"/>
                <a:ea typeface="Calibri" panose="020F0502020204030204" pitchFamily="34" charset="0"/>
                <a:cs typeface="Times New Roman" panose="02020603050405020304" pitchFamily="18" charset="0"/>
              </a:rPr>
              <a:t>3</a:t>
            </a:r>
            <a:r>
              <a:rPr lang="en-US" dirty="0">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dirty="0">
                <a:latin typeface="Calibri" panose="020F0502020204030204" pitchFamily="34" charset="0"/>
                <a:ea typeface="Calibri" panose="020F0502020204030204" pitchFamily="34" charset="0"/>
                <a:cs typeface="Times New Roman" panose="02020603050405020304" pitchFamily="18" charset="0"/>
              </a:rPr>
              <a:t>W</a:t>
            </a:r>
            <a:r>
              <a:rPr lang="en-US" baseline="-25000" dirty="0">
                <a:latin typeface="Calibri" panose="020F0502020204030204" pitchFamily="34" charset="0"/>
                <a:ea typeface="Calibri" panose="020F0502020204030204" pitchFamily="34" charset="0"/>
                <a:cs typeface="Times New Roman" panose="02020603050405020304" pitchFamily="18" charset="0"/>
              </a:rPr>
              <a:t>1</a:t>
            </a:r>
            <a:r>
              <a:rPr lang="en-US" dirty="0">
                <a:latin typeface="Calibri" panose="020F0502020204030204" pitchFamily="34" charset="0"/>
                <a:ea typeface="Calibri" panose="020F0502020204030204" pitchFamily="34" charset="0"/>
                <a:cs typeface="Times New Roman" panose="02020603050405020304" pitchFamily="18" charset="0"/>
              </a:rPr>
              <a:t>(B) , W</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r>
              <a:rPr lang="en-US" dirty="0">
                <a:latin typeface="Calibri" panose="020F0502020204030204" pitchFamily="34" charset="0"/>
                <a:ea typeface="Calibri" panose="020F0502020204030204" pitchFamily="34" charset="0"/>
                <a:cs typeface="Times New Roman" panose="02020603050405020304" pitchFamily="18" charset="0"/>
              </a:rPr>
              <a:t>(B) (T</a:t>
            </a:r>
            <a:r>
              <a:rPr lang="en-US" baseline="-25000" dirty="0">
                <a:latin typeface="Calibri" panose="020F0502020204030204" pitchFamily="34" charset="0"/>
                <a:ea typeface="Calibri" panose="020F0502020204030204" pitchFamily="34" charset="0"/>
                <a:cs typeface="Times New Roman" panose="02020603050405020304" pitchFamily="18" charset="0"/>
              </a:rPr>
              <a:t>1</a:t>
            </a:r>
            <a:r>
              <a:rPr lang="en-US" dirty="0">
                <a:latin typeface="Calibri" panose="020F0502020204030204" pitchFamily="34" charset="0"/>
                <a:ea typeface="Calibri" panose="020F0502020204030204" pitchFamily="34" charset="0"/>
                <a:cs typeface="Times New Roman" panose="02020603050405020304" pitchFamily="18" charset="0"/>
              </a:rPr>
              <a:t> → T</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r>
              <a:rPr lang="en-US" dirty="0">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dirty="0">
                <a:latin typeface="Calibri" panose="020F0502020204030204" pitchFamily="34" charset="0"/>
                <a:ea typeface="Calibri" panose="020F0502020204030204" pitchFamily="34" charset="0"/>
                <a:cs typeface="Times New Roman" panose="02020603050405020304" pitchFamily="18" charset="0"/>
              </a:rPr>
              <a:t>R</a:t>
            </a:r>
            <a:r>
              <a:rPr lang="en-US" baseline="-25000" dirty="0">
                <a:latin typeface="Calibri" panose="020F0502020204030204" pitchFamily="34" charset="0"/>
                <a:ea typeface="Calibri" panose="020F0502020204030204" pitchFamily="34" charset="0"/>
                <a:cs typeface="Times New Roman" panose="02020603050405020304" pitchFamily="18" charset="0"/>
              </a:rPr>
              <a:t>3</a:t>
            </a:r>
            <a:r>
              <a:rPr lang="en-US" dirty="0">
                <a:latin typeface="Calibri" panose="020F0502020204030204" pitchFamily="34" charset="0"/>
                <a:ea typeface="Calibri" panose="020F0502020204030204" pitchFamily="34" charset="0"/>
                <a:cs typeface="Times New Roman" panose="02020603050405020304" pitchFamily="18" charset="0"/>
              </a:rPr>
              <a:t>(B) , W</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r>
              <a:rPr lang="en-US" dirty="0">
                <a:latin typeface="Calibri" panose="020F0502020204030204" pitchFamily="34" charset="0"/>
                <a:ea typeface="Calibri" panose="020F0502020204030204" pitchFamily="34" charset="0"/>
                <a:cs typeface="Times New Roman" panose="02020603050405020304" pitchFamily="18" charset="0"/>
              </a:rPr>
              <a:t>(B) (T</a:t>
            </a:r>
            <a:r>
              <a:rPr lang="en-US" baseline="-25000" dirty="0">
                <a:latin typeface="Calibri" panose="020F0502020204030204" pitchFamily="34" charset="0"/>
                <a:ea typeface="Calibri" panose="020F0502020204030204" pitchFamily="34" charset="0"/>
                <a:cs typeface="Times New Roman" panose="02020603050405020304" pitchFamily="18" charset="0"/>
              </a:rPr>
              <a:t>3</a:t>
            </a:r>
            <a:r>
              <a:rPr lang="en-US" dirty="0">
                <a:latin typeface="Calibri" panose="020F0502020204030204" pitchFamily="34" charset="0"/>
                <a:ea typeface="Calibri" panose="020F0502020204030204" pitchFamily="34" charset="0"/>
                <a:cs typeface="Times New Roman" panose="02020603050405020304" pitchFamily="18" charset="0"/>
              </a:rPr>
              <a:t> → T</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r>
              <a:rPr lang="en-US" dirty="0">
                <a:latin typeface="Calibri" panose="020F0502020204030204" pitchFamily="34" charset="0"/>
                <a:ea typeface="Calibri" panose="020F0502020204030204" pitchFamily="34" charset="0"/>
                <a:cs typeface="Times New Roman" panose="02020603050405020304" pitchFamily="18" charset="0"/>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856617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tretch>
            <a:fillRect/>
          </a:stretch>
        </p:blipFill>
        <p:spPr>
          <a:xfrm>
            <a:off x="695459" y="515155"/>
            <a:ext cx="5094535" cy="5190186"/>
          </a:xfrm>
          <a:prstGeom prst="rect">
            <a:avLst/>
          </a:prstGeom>
        </p:spPr>
      </p:pic>
      <p:sp>
        <p:nvSpPr>
          <p:cNvPr id="5" name="Rectangle 4"/>
          <p:cNvSpPr/>
          <p:nvPr/>
        </p:nvSpPr>
        <p:spPr>
          <a:xfrm>
            <a:off x="6138930" y="905792"/>
            <a:ext cx="6096000" cy="4917628"/>
          </a:xfrm>
          <a:prstGeom prst="rect">
            <a:avLst/>
          </a:prstGeom>
        </p:spPr>
        <p:txBody>
          <a:bodyPr>
            <a:spAutoFit/>
          </a:bodyPr>
          <a:lstStyle/>
          <a:p>
            <a:pPr fontAlgn="base">
              <a:lnSpc>
                <a:spcPct val="107000"/>
              </a:lnSpc>
            </a:pPr>
            <a:r>
              <a:rPr lang="en-US" sz="2800" b="1" u="sng"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Finding the Serialized Schedules-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 </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300"/>
              </a:spcBef>
              <a:spcAft>
                <a:spcPts val="300"/>
              </a:spcAft>
              <a:buSzPts val="1000"/>
              <a:buFont typeface="Symbol" panose="05050102010706020507" pitchFamily="18" charset="2"/>
              <a:buChar char=""/>
              <a:tabLst>
                <a:tab pos="457200" algn="l"/>
              </a:tabLst>
            </a:pPr>
            <a:r>
              <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All the possible topological orderings of the above precedence graph will be the possible serialized schedules.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300"/>
              </a:spcBef>
              <a:spcAft>
                <a:spcPts val="300"/>
              </a:spcAft>
              <a:buSzPts val="1000"/>
              <a:buFont typeface="Symbol" panose="05050102010706020507" pitchFamily="18" charset="2"/>
              <a:buChar char=""/>
              <a:tabLst>
                <a:tab pos="457200" algn="l"/>
              </a:tabLst>
            </a:pPr>
            <a:r>
              <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The topological orderings can be found by performing the </a:t>
            </a:r>
            <a:r>
              <a:rPr lang="en-US" b="1" dirty="0">
                <a:solidFill>
                  <a:srgbClr val="910000"/>
                </a:solidFill>
                <a:latin typeface="Arial" panose="020B0604020202020204" pitchFamily="34" charset="0"/>
                <a:ea typeface="Times New Roman" panose="02020603050405020304" pitchFamily="18" charset="0"/>
                <a:cs typeface="Times New Roman" panose="02020603050405020304" pitchFamily="18" charset="0"/>
                <a:hlinkClick r:id="rId3"/>
              </a:rPr>
              <a:t>Topological Sort</a:t>
            </a:r>
            <a:r>
              <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 of the above precedence graph.</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 </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Bef>
                <a:spcPts val="300"/>
              </a:spcBef>
              <a:spcAft>
                <a:spcPts val="900"/>
              </a:spcAft>
            </a:pPr>
            <a:r>
              <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After performing the topological sort, the possible serialized schedules are-</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300"/>
              </a:spcBef>
              <a:spcAft>
                <a:spcPts val="300"/>
              </a:spcAft>
              <a:tabLst>
                <a:tab pos="457200" algn="l"/>
              </a:tabLst>
            </a:pPr>
            <a:r>
              <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T</a:t>
            </a:r>
            <a:r>
              <a:rPr lang="en-US" baseline="-25000"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1</a:t>
            </a:r>
            <a:r>
              <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 → T</a:t>
            </a:r>
            <a:r>
              <a:rPr lang="en-US" baseline="-25000"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3</a:t>
            </a:r>
            <a:r>
              <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 → T</a:t>
            </a:r>
            <a:r>
              <a:rPr lang="en-US" baseline="-25000"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4</a:t>
            </a:r>
            <a:r>
              <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 → T</a:t>
            </a:r>
            <a:r>
              <a:rPr lang="en-US" baseline="-25000"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2</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300"/>
              </a:spcBef>
              <a:spcAft>
                <a:spcPts val="300"/>
              </a:spcAft>
              <a:tabLst>
                <a:tab pos="457200" algn="l"/>
              </a:tabLst>
            </a:pPr>
            <a:r>
              <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T</a:t>
            </a:r>
            <a:r>
              <a:rPr lang="en-US" baseline="-25000"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1</a:t>
            </a:r>
            <a:r>
              <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 → T</a:t>
            </a:r>
            <a:r>
              <a:rPr lang="en-US" baseline="-25000"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4</a:t>
            </a:r>
            <a:r>
              <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 → T</a:t>
            </a:r>
            <a:r>
              <a:rPr lang="en-US" baseline="-25000"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3</a:t>
            </a:r>
            <a:r>
              <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 → T</a:t>
            </a:r>
            <a:r>
              <a:rPr lang="en-US" baseline="-25000"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2</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300"/>
              </a:spcBef>
              <a:spcAft>
                <a:spcPts val="300"/>
              </a:spcAft>
              <a:tabLst>
                <a:tab pos="457200" algn="l"/>
              </a:tabLst>
            </a:pPr>
            <a:r>
              <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T</a:t>
            </a:r>
            <a:r>
              <a:rPr lang="en-US" baseline="-25000"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4</a:t>
            </a:r>
            <a:r>
              <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 → T</a:t>
            </a:r>
            <a:r>
              <a:rPr lang="en-US" baseline="-25000"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1</a:t>
            </a:r>
            <a:r>
              <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 → T</a:t>
            </a:r>
            <a:r>
              <a:rPr lang="en-US" baseline="-25000"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3</a:t>
            </a:r>
            <a:r>
              <a:rPr lang="en-US"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 → T</a:t>
            </a:r>
            <a:r>
              <a:rPr lang="en-US" baseline="-25000" dirty="0">
                <a:solidFill>
                  <a:srgbClr val="303030"/>
                </a:solidFill>
                <a:latin typeface="Arial" panose="020B0604020202020204" pitchFamily="34" charset="0"/>
                <a:ea typeface="Times New Roman" panose="02020603050405020304" pitchFamily="18" charset="0"/>
                <a:cs typeface="Times New Roman" panose="02020603050405020304" pitchFamily="18" charset="0"/>
              </a:rPr>
              <a:t>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692148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6D26F-0619-638C-980D-693CE8A5E230}"/>
              </a:ext>
            </a:extLst>
          </p:cNvPr>
          <p:cNvSpPr>
            <a:spLocks noGrp="1"/>
          </p:cNvSpPr>
          <p:nvPr>
            <p:ph type="title"/>
          </p:nvPr>
        </p:nvSpPr>
        <p:spPr/>
        <p:txBody>
          <a:bodyPr>
            <a:normAutofit fontScale="90000"/>
          </a:bodyPr>
          <a:lstStyle/>
          <a:p>
            <a:pPr fontAlgn="base"/>
            <a:r>
              <a:rPr lang="en-IN" b="1" dirty="0"/>
              <a:t>View Serializability in DBMS</a:t>
            </a:r>
            <a:br>
              <a:rPr lang="en-IN" b="1" dirty="0"/>
            </a:br>
            <a:br>
              <a:rPr lang="en-IN" dirty="0"/>
            </a:br>
            <a:endParaRPr lang="en-IN" dirty="0"/>
          </a:p>
        </p:txBody>
      </p:sp>
      <p:sp>
        <p:nvSpPr>
          <p:cNvPr id="3" name="Content Placeholder 2">
            <a:extLst>
              <a:ext uri="{FF2B5EF4-FFF2-40B4-BE49-F238E27FC236}">
                <a16:creationId xmlns:a16="http://schemas.microsoft.com/office/drawing/2014/main" id="{71AA5026-5B26-5C82-6F19-68F0C6953777}"/>
              </a:ext>
            </a:extLst>
          </p:cNvPr>
          <p:cNvSpPr>
            <a:spLocks noGrp="1"/>
          </p:cNvSpPr>
          <p:nvPr>
            <p:ph idx="1"/>
          </p:nvPr>
        </p:nvSpPr>
        <p:spPr>
          <a:xfrm>
            <a:off x="838200" y="969484"/>
            <a:ext cx="10515600" cy="5207479"/>
          </a:xfrm>
        </p:spPr>
        <p:txBody>
          <a:bodyPr/>
          <a:lstStyle/>
          <a:p>
            <a:pPr algn="just" fontAlgn="base"/>
            <a:r>
              <a:rPr lang="en-US" dirty="0"/>
              <a:t>In database systems, concurrent execution of transactions is used to improve resource utilization and system throughput. However, concurrency can lead to inconsistencies in the database if not handled properly.</a:t>
            </a:r>
          </a:p>
          <a:p>
            <a:pPr algn="just" fontAlgn="base"/>
            <a:r>
              <a:rPr lang="en-US" dirty="0"/>
              <a:t>View Serializability ensures that even though transactions run concurrently, their outcome will be identical to the result achieved if the transactions were executed one by one in a specific order.</a:t>
            </a:r>
          </a:p>
          <a:p>
            <a:pPr algn="just" fontAlgn="base"/>
            <a:r>
              <a:rPr lang="en-US" dirty="0"/>
              <a:t>It is a concept in concurrency control that checks whether a non-serial schedule produces the same final output as a serial schedule.</a:t>
            </a:r>
          </a:p>
          <a:p>
            <a:pPr algn="just" fontAlgn="base"/>
            <a:r>
              <a:rPr lang="en-US" dirty="0"/>
              <a:t>It ensures data consistency by verifying that the initial reads, updated reads, and final writes of transactions are the same as in a serial schedule.</a:t>
            </a:r>
          </a:p>
          <a:p>
            <a:pPr algn="just"/>
            <a:endParaRPr lang="en-IN" dirty="0"/>
          </a:p>
        </p:txBody>
      </p:sp>
      <p:sp>
        <p:nvSpPr>
          <p:cNvPr id="4" name="Slide Number Placeholder 3">
            <a:extLst>
              <a:ext uri="{FF2B5EF4-FFF2-40B4-BE49-F238E27FC236}">
                <a16:creationId xmlns:a16="http://schemas.microsoft.com/office/drawing/2014/main" id="{F3310864-3869-118B-CDC3-099A0CDB27DC}"/>
              </a:ext>
            </a:extLst>
          </p:cNvPr>
          <p:cNvSpPr>
            <a:spLocks noGrp="1"/>
          </p:cNvSpPr>
          <p:nvPr>
            <p:ph type="sldNum" sz="quarter" idx="12"/>
          </p:nvPr>
        </p:nvSpPr>
        <p:spPr/>
        <p:txBody>
          <a:bodyPr/>
          <a:lstStyle/>
          <a:p>
            <a:fld id="{9BED7385-1A27-4338-8D43-B2B3002AB878}" type="slidenum">
              <a:rPr lang="en-US" smtClean="0"/>
              <a:t>63</a:t>
            </a:fld>
            <a:endParaRPr lang="en-US"/>
          </a:p>
        </p:txBody>
      </p:sp>
    </p:spTree>
    <p:extLst>
      <p:ext uri="{BB962C8B-B14F-4D97-AF65-F5344CB8AC3E}">
        <p14:creationId xmlns:p14="http://schemas.microsoft.com/office/powerpoint/2010/main" val="10409641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89C981-77D7-E750-2589-701248CFEBDC}"/>
              </a:ext>
            </a:extLst>
          </p:cNvPr>
          <p:cNvSpPr>
            <a:spLocks noGrp="1"/>
          </p:cNvSpPr>
          <p:nvPr>
            <p:ph idx="1"/>
          </p:nvPr>
        </p:nvSpPr>
        <p:spPr>
          <a:xfrm>
            <a:off x="384313" y="480060"/>
            <a:ext cx="10969487" cy="5696903"/>
          </a:xfrm>
        </p:spPr>
        <p:txBody>
          <a:bodyPr>
            <a:noAutofit/>
          </a:bodyPr>
          <a:lstStyle/>
          <a:p>
            <a:r>
              <a:rPr lang="en-US" b="1" dirty="0">
                <a:latin typeface="Times New Roman" panose="02020603050405020304" pitchFamily="18" charset="0"/>
                <a:cs typeface="Times New Roman" panose="02020603050405020304" pitchFamily="18" charset="0"/>
              </a:rPr>
              <a:t>Methods to Check View Serializability</a:t>
            </a:r>
          </a:p>
          <a:p>
            <a:r>
              <a:rPr lang="en-US" sz="2400" dirty="0">
                <a:latin typeface="Times New Roman" panose="02020603050405020304" pitchFamily="18" charset="0"/>
                <a:cs typeface="Times New Roman" panose="02020603050405020304" pitchFamily="18" charset="0"/>
              </a:rPr>
              <a:t>There are two methods to check View Serializability.</a:t>
            </a:r>
          </a:p>
          <a:p>
            <a:pPr marL="0" indent="0">
              <a:buNone/>
            </a:pPr>
            <a:r>
              <a:rPr lang="en-US" sz="2400" b="1" dirty="0">
                <a:latin typeface="Times New Roman" panose="02020603050405020304" pitchFamily="18" charset="0"/>
                <a:cs typeface="Times New Roman" panose="02020603050405020304" pitchFamily="18" charset="0"/>
              </a:rPr>
              <a:t>Method 1: View Equivalent</a:t>
            </a:r>
          </a:p>
          <a:p>
            <a:r>
              <a:rPr lang="en-US" sz="2400" dirty="0">
                <a:latin typeface="Times New Roman" panose="02020603050405020304" pitchFamily="18" charset="0"/>
                <a:cs typeface="Times New Roman" panose="02020603050405020304" pitchFamily="18" charset="0"/>
              </a:rPr>
              <a:t>If the given schedule is view-equivalent to the serial schedule itself then we can say that the schedule is view-serializable.</a:t>
            </a:r>
          </a:p>
          <a:p>
            <a:r>
              <a:rPr lang="en-US" sz="2400" dirty="0">
                <a:latin typeface="Times New Roman" panose="02020603050405020304" pitchFamily="18" charset="0"/>
                <a:cs typeface="Times New Roman" panose="02020603050405020304" pitchFamily="18" charset="0"/>
              </a:rPr>
              <a:t>To generate the serial schedule of the given schedule, we follow the following steps:</a:t>
            </a:r>
          </a:p>
          <a:p>
            <a:r>
              <a:rPr lang="en-US" sz="2400" dirty="0">
                <a:latin typeface="Times New Roman" panose="02020603050405020304" pitchFamily="18" charset="0"/>
                <a:cs typeface="Times New Roman" panose="02020603050405020304" pitchFamily="18" charset="0"/>
              </a:rPr>
              <a:t>Take the transaction say Ti that performs any operation first in the schedule. Write all the operations performed by that transaction one after the other in the given schedule.</a:t>
            </a:r>
          </a:p>
          <a:p>
            <a:r>
              <a:rPr lang="en-US" sz="2400" dirty="0">
                <a:latin typeface="Times New Roman" panose="02020603050405020304" pitchFamily="18" charset="0"/>
                <a:cs typeface="Times New Roman" panose="02020603050405020304" pitchFamily="18" charset="0"/>
              </a:rPr>
              <a:t>Similarly, take another transaction that is performing any operation right after Ti in the given schedule and write all the operations performed by it below transaction Ti on any data item.</a:t>
            </a:r>
          </a:p>
          <a:p>
            <a:r>
              <a:rPr lang="en-US" sz="2400" dirty="0">
                <a:latin typeface="Times New Roman" panose="02020603050405020304" pitchFamily="18" charset="0"/>
                <a:cs typeface="Times New Roman" panose="02020603050405020304" pitchFamily="18" charset="0"/>
              </a:rPr>
              <a:t>Follow the above steps for all the transactions. The order is very important.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16398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5033"/>
          </a:xfrm>
        </p:spPr>
        <p:txBody>
          <a:bodyPr>
            <a:noAutofit/>
          </a:bodyPr>
          <a:lstStyle/>
          <a:p>
            <a:pPr fontAlgn="base"/>
            <a:r>
              <a:rPr lang="en-US" sz="3200" b="1" u="sng" dirty="0"/>
              <a:t>View </a:t>
            </a:r>
            <a:r>
              <a:rPr lang="en-US" sz="3200" b="1" u="sng" dirty="0" err="1"/>
              <a:t>Serializability</a:t>
            </a:r>
            <a:r>
              <a:rPr lang="en-US" sz="3200" b="1" u="sng" dirty="0"/>
              <a:t>-</a:t>
            </a:r>
            <a:endParaRPr lang="en-US" sz="3200" b="1" dirty="0"/>
          </a:p>
        </p:txBody>
      </p:sp>
      <p:sp>
        <p:nvSpPr>
          <p:cNvPr id="3" name="Content Placeholder 2"/>
          <p:cNvSpPr>
            <a:spLocks noGrp="1"/>
          </p:cNvSpPr>
          <p:nvPr>
            <p:ph idx="1"/>
          </p:nvPr>
        </p:nvSpPr>
        <p:spPr>
          <a:xfrm>
            <a:off x="838200" y="927280"/>
            <a:ext cx="10515600" cy="5249684"/>
          </a:xfrm>
        </p:spPr>
        <p:txBody>
          <a:bodyPr>
            <a:normAutofit/>
          </a:bodyPr>
          <a:lstStyle/>
          <a:p>
            <a:r>
              <a:rPr lang="en-US" dirty="0"/>
              <a:t>If a given schedule is found to be view equivalent to some serial schedule, then it is called as a view serializable schedule.</a:t>
            </a:r>
          </a:p>
          <a:p>
            <a:pPr fontAlgn="base"/>
            <a:r>
              <a:rPr lang="en-US" b="1" u="sng" dirty="0"/>
              <a:t>View Equivalent Schedules-</a:t>
            </a:r>
            <a:endParaRPr lang="en-US" b="1" dirty="0"/>
          </a:p>
          <a:p>
            <a:pPr marL="0" indent="0" fontAlgn="base">
              <a:buNone/>
            </a:pPr>
            <a:r>
              <a:rPr lang="en-US" dirty="0"/>
              <a:t>Consider two schedules S1 and S2 each consisting of two transactions T1 and T2.</a:t>
            </a:r>
          </a:p>
          <a:p>
            <a:pPr marL="914400" lvl="2" indent="0" fontAlgn="base">
              <a:buNone/>
            </a:pPr>
            <a:endParaRPr lang="en-US" dirty="0"/>
          </a:p>
        </p:txBody>
      </p:sp>
    </p:spTree>
    <p:extLst>
      <p:ext uri="{BB962C8B-B14F-4D97-AF65-F5344CB8AC3E}">
        <p14:creationId xmlns:p14="http://schemas.microsoft.com/office/powerpoint/2010/main" val="28115458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789"/>
            <a:ext cx="10515600" cy="6048175"/>
          </a:xfrm>
        </p:spPr>
        <p:txBody>
          <a:bodyPr>
            <a:normAutofit/>
          </a:bodyPr>
          <a:lstStyle/>
          <a:p>
            <a:pPr fontAlgn="base"/>
            <a:r>
              <a:rPr lang="en-US" dirty="0"/>
              <a:t>Schedules S1 and S2 are called </a:t>
            </a:r>
            <a:r>
              <a:rPr lang="en-US" dirty="0">
                <a:solidFill>
                  <a:srgbClr val="FF0000"/>
                </a:solidFill>
              </a:rPr>
              <a:t>view equivalent </a:t>
            </a:r>
            <a:r>
              <a:rPr lang="en-US" dirty="0"/>
              <a:t>if the following three conditions hold true for them-</a:t>
            </a:r>
          </a:p>
          <a:p>
            <a:pPr fontAlgn="base"/>
            <a:r>
              <a:rPr lang="en-US" dirty="0"/>
              <a:t>1. For each data item X, if transaction T</a:t>
            </a:r>
            <a:r>
              <a:rPr lang="en-US" baseline="-25000" dirty="0"/>
              <a:t>i</a:t>
            </a:r>
            <a:r>
              <a:rPr lang="en-US" dirty="0"/>
              <a:t> reads X from the database initially in schedule S1, then in schedule S2 also, T</a:t>
            </a:r>
            <a:r>
              <a:rPr lang="en-US" baseline="-25000" dirty="0"/>
              <a:t>i </a:t>
            </a:r>
            <a:r>
              <a:rPr lang="en-US" dirty="0"/>
              <a:t>must perform the initial read of X from the database.</a:t>
            </a:r>
          </a:p>
          <a:p>
            <a:pPr marL="0" indent="0" algn="ctr" fontAlgn="base">
              <a:buNone/>
            </a:pPr>
            <a:r>
              <a:rPr lang="en-US" b="1" u="sng" dirty="0">
                <a:solidFill>
                  <a:srgbClr val="00B050"/>
                </a:solidFill>
              </a:rPr>
              <a:t>Thumb Rule</a:t>
            </a:r>
            <a:endParaRPr lang="en-US" b="1" dirty="0">
              <a:solidFill>
                <a:srgbClr val="00B050"/>
              </a:solidFill>
            </a:endParaRPr>
          </a:p>
          <a:p>
            <a:pPr marL="0" indent="0" fontAlgn="base">
              <a:buNone/>
            </a:pPr>
            <a:r>
              <a:rPr lang="en-US" dirty="0">
                <a:solidFill>
                  <a:srgbClr val="00B050"/>
                </a:solidFill>
              </a:rPr>
              <a:t>	    “Initial readers must be same for all the data items”.</a:t>
            </a:r>
          </a:p>
          <a:p>
            <a:pPr lvl="2" fontAlgn="base"/>
            <a:endParaRPr lang="en-US" dirty="0"/>
          </a:p>
        </p:txBody>
      </p:sp>
      <p:pic>
        <p:nvPicPr>
          <p:cNvPr id="5" name="Picture 4"/>
          <p:cNvPicPr>
            <a:picLocks noChangeAspect="1"/>
          </p:cNvPicPr>
          <p:nvPr/>
        </p:nvPicPr>
        <p:blipFill>
          <a:blip r:embed="rId2"/>
          <a:stretch>
            <a:fillRect/>
          </a:stretch>
        </p:blipFill>
        <p:spPr>
          <a:xfrm>
            <a:off x="1841679" y="3438659"/>
            <a:ext cx="7817476" cy="2369042"/>
          </a:xfrm>
          <a:prstGeom prst="rect">
            <a:avLst/>
          </a:prstGeom>
        </p:spPr>
      </p:pic>
    </p:spTree>
    <p:extLst>
      <p:ext uri="{BB962C8B-B14F-4D97-AF65-F5344CB8AC3E}">
        <p14:creationId xmlns:p14="http://schemas.microsoft.com/office/powerpoint/2010/main" val="28140561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7280"/>
            <a:ext cx="10515600" cy="5249684"/>
          </a:xfrm>
        </p:spPr>
        <p:txBody>
          <a:bodyPr>
            <a:normAutofit/>
          </a:bodyPr>
          <a:lstStyle/>
          <a:p>
            <a:pPr fontAlgn="base"/>
            <a:r>
              <a:rPr lang="en-US" dirty="0"/>
              <a:t>2. If transaction T</a:t>
            </a:r>
            <a:r>
              <a:rPr lang="en-US" baseline="-25000" dirty="0"/>
              <a:t>i</a:t>
            </a:r>
            <a:r>
              <a:rPr lang="en-US" dirty="0"/>
              <a:t> reads a data item that has been updated by the transaction T</a:t>
            </a:r>
            <a:r>
              <a:rPr lang="en-US" baseline="-25000" dirty="0"/>
              <a:t>j</a:t>
            </a:r>
            <a:r>
              <a:rPr lang="en-US" dirty="0"/>
              <a:t> in schedule S1, then in schedule S2 also, transaction T</a:t>
            </a:r>
            <a:r>
              <a:rPr lang="en-US" baseline="-25000" dirty="0"/>
              <a:t>i</a:t>
            </a:r>
            <a:r>
              <a:rPr lang="en-US" dirty="0"/>
              <a:t> must read the same data item that has been updated by the transaction T</a:t>
            </a:r>
            <a:r>
              <a:rPr lang="en-US" baseline="-25000" dirty="0"/>
              <a:t>j.</a:t>
            </a:r>
          </a:p>
          <a:p>
            <a:pPr marL="0" indent="0" algn="ctr" fontAlgn="base">
              <a:buNone/>
            </a:pPr>
            <a:r>
              <a:rPr lang="en-US" b="1" u="sng" dirty="0">
                <a:solidFill>
                  <a:srgbClr val="00B050"/>
                </a:solidFill>
              </a:rPr>
              <a:t>Thumb Rule</a:t>
            </a:r>
            <a:endParaRPr lang="en-US" b="1" dirty="0">
              <a:solidFill>
                <a:srgbClr val="00B050"/>
              </a:solidFill>
            </a:endParaRPr>
          </a:p>
          <a:p>
            <a:pPr marL="0" indent="0" fontAlgn="base">
              <a:buNone/>
            </a:pPr>
            <a:r>
              <a:rPr lang="en-US" dirty="0">
                <a:solidFill>
                  <a:srgbClr val="00B050"/>
                </a:solidFill>
              </a:rPr>
              <a:t>	                     “Write-read sequence must be same.”.</a:t>
            </a:r>
          </a:p>
        </p:txBody>
      </p:sp>
      <p:pic>
        <p:nvPicPr>
          <p:cNvPr id="2" name="Picture 1"/>
          <p:cNvPicPr>
            <a:picLocks noChangeAspect="1"/>
          </p:cNvPicPr>
          <p:nvPr/>
        </p:nvPicPr>
        <p:blipFill>
          <a:blip r:embed="rId2"/>
          <a:stretch>
            <a:fillRect/>
          </a:stretch>
        </p:blipFill>
        <p:spPr>
          <a:xfrm>
            <a:off x="1004552" y="3760631"/>
            <a:ext cx="8693239" cy="2395470"/>
          </a:xfrm>
          <a:prstGeom prst="rect">
            <a:avLst/>
          </a:prstGeom>
        </p:spPr>
      </p:pic>
    </p:spTree>
    <p:extLst>
      <p:ext uri="{BB962C8B-B14F-4D97-AF65-F5344CB8AC3E}">
        <p14:creationId xmlns:p14="http://schemas.microsoft.com/office/powerpoint/2010/main" val="39832101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7280"/>
            <a:ext cx="10515600" cy="5249684"/>
          </a:xfrm>
        </p:spPr>
        <p:txBody>
          <a:bodyPr>
            <a:normAutofit/>
          </a:bodyPr>
          <a:lstStyle/>
          <a:p>
            <a:pPr fontAlgn="base"/>
            <a:r>
              <a:rPr lang="en-US" dirty="0"/>
              <a:t>3. For each data item X, if X has been updated at last by transaction T</a:t>
            </a:r>
            <a:r>
              <a:rPr lang="en-US" baseline="-25000" dirty="0"/>
              <a:t>i</a:t>
            </a:r>
            <a:r>
              <a:rPr lang="en-US" dirty="0"/>
              <a:t> in schedule S1, then in schedule S2 also, X must be updated at last by transaction T</a:t>
            </a:r>
            <a:r>
              <a:rPr lang="en-US" baseline="-25000" dirty="0"/>
              <a:t>i</a:t>
            </a:r>
            <a:r>
              <a:rPr lang="en-US" dirty="0"/>
              <a:t>.</a:t>
            </a:r>
          </a:p>
          <a:p>
            <a:pPr marL="0" indent="0" algn="ctr" fontAlgn="base">
              <a:buNone/>
            </a:pPr>
            <a:r>
              <a:rPr lang="en-US" b="1" u="sng" dirty="0">
                <a:solidFill>
                  <a:srgbClr val="00B050"/>
                </a:solidFill>
              </a:rPr>
              <a:t>Thumb Rule</a:t>
            </a:r>
            <a:endParaRPr lang="en-US" b="1" dirty="0">
              <a:solidFill>
                <a:srgbClr val="00B050"/>
              </a:solidFill>
            </a:endParaRPr>
          </a:p>
          <a:p>
            <a:pPr marL="0" indent="0" fontAlgn="base">
              <a:buNone/>
            </a:pPr>
            <a:r>
              <a:rPr lang="en-US" dirty="0">
                <a:solidFill>
                  <a:srgbClr val="00B050"/>
                </a:solidFill>
              </a:rPr>
              <a:t>                         “Final writers must be same for all the data items”.</a:t>
            </a:r>
          </a:p>
          <a:p>
            <a:endParaRPr lang="en-US" dirty="0"/>
          </a:p>
        </p:txBody>
      </p:sp>
      <p:pic>
        <p:nvPicPr>
          <p:cNvPr id="2" name="Picture 1"/>
          <p:cNvPicPr>
            <a:picLocks noChangeAspect="1"/>
          </p:cNvPicPr>
          <p:nvPr/>
        </p:nvPicPr>
        <p:blipFill>
          <a:blip r:embed="rId2"/>
          <a:stretch>
            <a:fillRect/>
          </a:stretch>
        </p:blipFill>
        <p:spPr>
          <a:xfrm>
            <a:off x="1828799" y="3672491"/>
            <a:ext cx="8139448" cy="2573762"/>
          </a:xfrm>
          <a:prstGeom prst="rect">
            <a:avLst/>
          </a:prstGeom>
        </p:spPr>
      </p:pic>
    </p:spTree>
    <p:extLst>
      <p:ext uri="{BB962C8B-B14F-4D97-AF65-F5344CB8AC3E}">
        <p14:creationId xmlns:p14="http://schemas.microsoft.com/office/powerpoint/2010/main" val="4201586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2900"/>
            <a:ext cx="10515600" cy="5834063"/>
          </a:xfrm>
        </p:spPr>
        <p:txBody>
          <a:bodyPr/>
          <a:lstStyle/>
          <a:p>
            <a:r>
              <a:rPr lang="en-US" altLang="en-US" sz="2400" dirty="0">
                <a:latin typeface="Times New Roman" panose="02020603050405020304" pitchFamily="18" charset="0"/>
                <a:cs typeface="Times New Roman" panose="02020603050405020304" pitchFamily="18" charset="0"/>
              </a:rPr>
              <a:t>A schedule is view serializable, if it is view equivalent to its serial schedule.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Let us take the example of the table for checking </a:t>
            </a:r>
            <a:r>
              <a:rPr kumimoji="0" lang="en-US" altLang="en-US" sz="2400" b="1" i="0" u="none" strike="noStrike" cap="none" normalizeH="0" baseline="0" dirty="0">
                <a:ln>
                  <a:noFill/>
                </a:ln>
                <a:effectLst/>
                <a:latin typeface="Times New Roman" panose="02020603050405020304" pitchFamily="18" charset="0"/>
                <a:cs typeface="Times New Roman" panose="02020603050405020304" pitchFamily="18" charset="0"/>
              </a:rPr>
              <a:t>View Serializability</a:t>
            </a: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Let us call this </a:t>
            </a:r>
            <a:r>
              <a:rPr kumimoji="0" lang="en-US" altLang="en-US" sz="2400" b="1" i="0" u="none" strike="noStrike" cap="none" normalizeH="0" baseline="0" dirty="0">
                <a:ln>
                  <a:noFill/>
                </a:ln>
                <a:effectLst/>
                <a:latin typeface="Times New Roman" panose="02020603050405020304" pitchFamily="18" charset="0"/>
                <a:cs typeface="Times New Roman" panose="02020603050405020304" pitchFamily="18" charset="0"/>
              </a:rPr>
              <a:t>Schedule S1</a:t>
            </a:r>
            <a:endPar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endParaRPr>
          </a:p>
          <a:p>
            <a:endParaRPr lang="en-US" altLang="en-US" dirty="0"/>
          </a:p>
          <a:p>
            <a:pPr marL="0" indent="0">
              <a:buNone/>
            </a:pPr>
            <a:endParaRPr lang="en-US" dirty="0"/>
          </a:p>
        </p:txBody>
      </p:sp>
      <p:graphicFrame>
        <p:nvGraphicFramePr>
          <p:cNvPr id="4" name="Table 3">
            <a:extLst>
              <a:ext uri="{FF2B5EF4-FFF2-40B4-BE49-F238E27FC236}">
                <a16:creationId xmlns:a16="http://schemas.microsoft.com/office/drawing/2014/main" id="{305EE7CD-3933-336C-0248-996002D2B9AC}"/>
              </a:ext>
            </a:extLst>
          </p:cNvPr>
          <p:cNvGraphicFramePr>
            <a:graphicFrameLocks noGrp="1"/>
          </p:cNvGraphicFramePr>
          <p:nvPr/>
        </p:nvGraphicFramePr>
        <p:xfrm>
          <a:off x="4073404" y="1881601"/>
          <a:ext cx="2763796" cy="3267160"/>
        </p:xfrm>
        <a:graphic>
          <a:graphicData uri="http://schemas.openxmlformats.org/drawingml/2006/table">
            <a:tbl>
              <a:tblPr/>
              <a:tblGrid>
                <a:gridCol w="1381898">
                  <a:extLst>
                    <a:ext uri="{9D8B030D-6E8A-4147-A177-3AD203B41FA5}">
                      <a16:colId xmlns:a16="http://schemas.microsoft.com/office/drawing/2014/main" val="917853308"/>
                    </a:ext>
                  </a:extLst>
                </a:gridCol>
                <a:gridCol w="1381898">
                  <a:extLst>
                    <a:ext uri="{9D8B030D-6E8A-4147-A177-3AD203B41FA5}">
                      <a16:colId xmlns:a16="http://schemas.microsoft.com/office/drawing/2014/main" val="4043772084"/>
                    </a:ext>
                  </a:extLst>
                </a:gridCol>
              </a:tblGrid>
              <a:tr h="173261">
                <a:tc>
                  <a:txBody>
                    <a:bodyPr/>
                    <a:lstStyle/>
                    <a:p>
                      <a:pPr algn="ctr"/>
                      <a:r>
                        <a:rPr lang="en-IN" sz="1100">
                          <a:effectLst/>
                        </a:rPr>
                        <a:t>T1</a:t>
                      </a:r>
                    </a:p>
                  </a:txBody>
                  <a:tcPr marL="83680" marR="83680" marT="41840" marB="41840" anchor="ctr">
                    <a:lnL>
                      <a:noFill/>
                    </a:lnL>
                    <a:lnR>
                      <a:noFill/>
                    </a:lnR>
                    <a:lnT>
                      <a:noFill/>
                    </a:lnT>
                    <a:lnB>
                      <a:noFill/>
                    </a:lnB>
                    <a:noFill/>
                  </a:tcPr>
                </a:tc>
                <a:tc>
                  <a:txBody>
                    <a:bodyPr/>
                    <a:lstStyle/>
                    <a:p>
                      <a:pPr algn="ctr"/>
                      <a:r>
                        <a:rPr lang="en-IN" sz="1100">
                          <a:effectLst/>
                        </a:rPr>
                        <a:t>T2</a:t>
                      </a:r>
                    </a:p>
                  </a:txBody>
                  <a:tcPr marL="83680" marR="83680" marT="41840" marB="41840" anchor="ctr">
                    <a:lnL>
                      <a:noFill/>
                    </a:lnL>
                    <a:lnR>
                      <a:noFill/>
                    </a:lnR>
                    <a:lnT>
                      <a:noFill/>
                    </a:lnT>
                    <a:lnB>
                      <a:noFill/>
                    </a:lnB>
                    <a:noFill/>
                  </a:tcPr>
                </a:tc>
                <a:extLst>
                  <a:ext uri="{0D108BD9-81ED-4DB2-BD59-A6C34878D82A}">
                    <a16:rowId xmlns:a16="http://schemas.microsoft.com/office/drawing/2014/main" val="4170265966"/>
                  </a:ext>
                </a:extLst>
              </a:tr>
              <a:tr h="173261">
                <a:tc>
                  <a:txBody>
                    <a:bodyPr/>
                    <a:lstStyle/>
                    <a:p>
                      <a:pPr algn="ctr"/>
                      <a:r>
                        <a:rPr lang="en-IN" sz="1100">
                          <a:effectLst/>
                        </a:rPr>
                        <a:t>R(X)</a:t>
                      </a:r>
                    </a:p>
                  </a:txBody>
                  <a:tcPr marL="83680" marR="83680" marT="41840" marB="41840" anchor="ctr">
                    <a:lnL>
                      <a:noFill/>
                    </a:lnL>
                    <a:lnR>
                      <a:noFill/>
                    </a:lnR>
                    <a:lnT>
                      <a:noFill/>
                    </a:lnT>
                    <a:lnB>
                      <a:noFill/>
                    </a:lnB>
                    <a:noFill/>
                  </a:tcPr>
                </a:tc>
                <a:tc>
                  <a:txBody>
                    <a:bodyPr/>
                    <a:lstStyle/>
                    <a:p>
                      <a:pPr algn="ctr"/>
                      <a:endParaRPr lang="en-IN" sz="1100">
                        <a:effectLst/>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144170058"/>
                  </a:ext>
                </a:extLst>
              </a:tr>
              <a:tr h="173261">
                <a:tc>
                  <a:txBody>
                    <a:bodyPr/>
                    <a:lstStyle/>
                    <a:p>
                      <a:pPr algn="ctr"/>
                      <a:r>
                        <a:rPr lang="en-IN" sz="1100">
                          <a:effectLst/>
                        </a:rPr>
                        <a:t>X=X+10</a:t>
                      </a:r>
                    </a:p>
                  </a:txBody>
                  <a:tcPr marL="83680" marR="83680" marT="41840" marB="41840" anchor="ctr">
                    <a:lnL>
                      <a:noFill/>
                    </a:lnL>
                    <a:lnR>
                      <a:noFill/>
                    </a:lnR>
                    <a:lnT>
                      <a:noFill/>
                    </a:lnT>
                    <a:lnB>
                      <a:noFill/>
                    </a:lnB>
                    <a:noFill/>
                  </a:tcPr>
                </a:tc>
                <a:tc>
                  <a:txBody>
                    <a:bodyPr/>
                    <a:lstStyle/>
                    <a:p>
                      <a:pPr algn="ctr"/>
                      <a:endParaRPr lang="en-IN" sz="1100" dirty="0">
                        <a:effectLst/>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3173206820"/>
                  </a:ext>
                </a:extLst>
              </a:tr>
              <a:tr h="173261">
                <a:tc>
                  <a:txBody>
                    <a:bodyPr/>
                    <a:lstStyle/>
                    <a:p>
                      <a:pPr algn="ctr"/>
                      <a:r>
                        <a:rPr lang="en-IN" sz="1100">
                          <a:effectLst/>
                        </a:rPr>
                        <a:t>W(X)</a:t>
                      </a:r>
                    </a:p>
                  </a:txBody>
                  <a:tcPr marL="83680" marR="83680" marT="41840" marB="41840" anchor="ctr">
                    <a:lnL>
                      <a:noFill/>
                    </a:lnL>
                    <a:lnR>
                      <a:noFill/>
                    </a:lnR>
                    <a:lnT>
                      <a:noFill/>
                    </a:lnT>
                    <a:lnB>
                      <a:noFill/>
                    </a:lnB>
                    <a:noFill/>
                  </a:tcPr>
                </a:tc>
                <a:tc>
                  <a:txBody>
                    <a:bodyPr/>
                    <a:lstStyle/>
                    <a:p>
                      <a:pPr algn="ctr"/>
                      <a:endParaRPr lang="en-IN" sz="1100">
                        <a:effectLst/>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3868503201"/>
                  </a:ext>
                </a:extLst>
              </a:tr>
              <a:tr h="173261">
                <a:tc>
                  <a:txBody>
                    <a:bodyPr/>
                    <a:lstStyle/>
                    <a:p>
                      <a:pPr algn="ctr"/>
                      <a:endParaRPr lang="en-IN" sz="1100" dirty="0">
                        <a:effectLst/>
                      </a:endParaRPr>
                    </a:p>
                  </a:txBody>
                  <a:tcPr marL="83680" marR="83680" marT="41840" marB="41840" anchor="ctr">
                    <a:lnL>
                      <a:noFill/>
                    </a:lnL>
                    <a:lnR>
                      <a:noFill/>
                    </a:lnR>
                    <a:lnT>
                      <a:noFill/>
                    </a:lnT>
                    <a:lnB>
                      <a:noFill/>
                    </a:lnB>
                    <a:noFill/>
                  </a:tcPr>
                </a:tc>
                <a:tc>
                  <a:txBody>
                    <a:bodyPr/>
                    <a:lstStyle/>
                    <a:p>
                      <a:pPr algn="ctr"/>
                      <a:r>
                        <a:rPr lang="en-IN" sz="1100">
                          <a:effectLst/>
                        </a:rPr>
                        <a:t>R(X)</a:t>
                      </a:r>
                    </a:p>
                  </a:txBody>
                  <a:tcPr marL="83680" marR="83680" marT="41840" marB="41840" anchor="ctr">
                    <a:lnL>
                      <a:noFill/>
                    </a:lnL>
                    <a:lnR>
                      <a:noFill/>
                    </a:lnR>
                    <a:lnT>
                      <a:noFill/>
                    </a:lnT>
                    <a:lnB>
                      <a:noFill/>
                    </a:lnB>
                    <a:noFill/>
                  </a:tcPr>
                </a:tc>
                <a:extLst>
                  <a:ext uri="{0D108BD9-81ED-4DB2-BD59-A6C34878D82A}">
                    <a16:rowId xmlns:a16="http://schemas.microsoft.com/office/drawing/2014/main" val="405071211"/>
                  </a:ext>
                </a:extLst>
              </a:tr>
              <a:tr h="173261">
                <a:tc>
                  <a:txBody>
                    <a:bodyPr/>
                    <a:lstStyle/>
                    <a:p>
                      <a:pPr algn="ctr"/>
                      <a:endParaRPr lang="en-IN" sz="1100">
                        <a:effectLst/>
                      </a:endParaRPr>
                    </a:p>
                  </a:txBody>
                  <a:tcPr marL="83680" marR="83680" marT="41840" marB="41840" anchor="ctr">
                    <a:lnL>
                      <a:noFill/>
                    </a:lnL>
                    <a:lnR>
                      <a:noFill/>
                    </a:lnR>
                    <a:lnT>
                      <a:noFill/>
                    </a:lnT>
                    <a:lnB>
                      <a:noFill/>
                    </a:lnB>
                    <a:noFill/>
                  </a:tcPr>
                </a:tc>
                <a:tc>
                  <a:txBody>
                    <a:bodyPr/>
                    <a:lstStyle/>
                    <a:p>
                      <a:pPr algn="ctr"/>
                      <a:r>
                        <a:rPr lang="en-IN" sz="1100" dirty="0">
                          <a:effectLst/>
                        </a:rPr>
                        <a:t>X=X+10</a:t>
                      </a:r>
                    </a:p>
                  </a:txBody>
                  <a:tcPr marL="83680" marR="83680" marT="41840" marB="41840" anchor="ctr">
                    <a:lnL>
                      <a:noFill/>
                    </a:lnL>
                    <a:lnR>
                      <a:noFill/>
                    </a:lnR>
                    <a:lnT>
                      <a:noFill/>
                    </a:lnT>
                    <a:lnB>
                      <a:noFill/>
                    </a:lnB>
                    <a:noFill/>
                  </a:tcPr>
                </a:tc>
                <a:extLst>
                  <a:ext uri="{0D108BD9-81ED-4DB2-BD59-A6C34878D82A}">
                    <a16:rowId xmlns:a16="http://schemas.microsoft.com/office/drawing/2014/main" val="796737052"/>
                  </a:ext>
                </a:extLst>
              </a:tr>
              <a:tr h="173261">
                <a:tc>
                  <a:txBody>
                    <a:bodyPr/>
                    <a:lstStyle/>
                    <a:p>
                      <a:pPr algn="ctr"/>
                      <a:endParaRPr lang="en-IN" sz="1100">
                        <a:effectLst/>
                      </a:endParaRPr>
                    </a:p>
                  </a:txBody>
                  <a:tcPr marL="83680" marR="83680" marT="41840" marB="41840" anchor="ctr">
                    <a:lnL>
                      <a:noFill/>
                    </a:lnL>
                    <a:lnR>
                      <a:noFill/>
                    </a:lnR>
                    <a:lnT>
                      <a:noFill/>
                    </a:lnT>
                    <a:lnB>
                      <a:noFill/>
                    </a:lnB>
                    <a:noFill/>
                  </a:tcPr>
                </a:tc>
                <a:tc>
                  <a:txBody>
                    <a:bodyPr/>
                    <a:lstStyle/>
                    <a:p>
                      <a:pPr algn="ctr"/>
                      <a:r>
                        <a:rPr lang="en-IN" sz="1100">
                          <a:effectLst/>
                        </a:rPr>
                        <a:t>W(X)</a:t>
                      </a:r>
                    </a:p>
                  </a:txBody>
                  <a:tcPr marL="83680" marR="83680" marT="41840" marB="41840" anchor="ctr">
                    <a:lnL>
                      <a:noFill/>
                    </a:lnL>
                    <a:lnR>
                      <a:noFill/>
                    </a:lnR>
                    <a:lnT>
                      <a:noFill/>
                    </a:lnT>
                    <a:lnB>
                      <a:noFill/>
                    </a:lnB>
                    <a:noFill/>
                  </a:tcPr>
                </a:tc>
                <a:extLst>
                  <a:ext uri="{0D108BD9-81ED-4DB2-BD59-A6C34878D82A}">
                    <a16:rowId xmlns:a16="http://schemas.microsoft.com/office/drawing/2014/main" val="3640070271"/>
                  </a:ext>
                </a:extLst>
              </a:tr>
              <a:tr h="173261">
                <a:tc>
                  <a:txBody>
                    <a:bodyPr/>
                    <a:lstStyle/>
                    <a:p>
                      <a:pPr algn="ctr"/>
                      <a:r>
                        <a:rPr lang="en-IN" sz="1100">
                          <a:effectLst/>
                        </a:rPr>
                        <a:t>R(Y)</a:t>
                      </a:r>
                    </a:p>
                  </a:txBody>
                  <a:tcPr marL="83680" marR="83680" marT="41840" marB="41840" anchor="ctr">
                    <a:lnL>
                      <a:noFill/>
                    </a:lnL>
                    <a:lnR>
                      <a:noFill/>
                    </a:lnR>
                    <a:lnT>
                      <a:noFill/>
                    </a:lnT>
                    <a:lnB>
                      <a:noFill/>
                    </a:lnB>
                    <a:noFill/>
                  </a:tcPr>
                </a:tc>
                <a:tc>
                  <a:txBody>
                    <a:bodyPr/>
                    <a:lstStyle/>
                    <a:p>
                      <a:pPr algn="ctr"/>
                      <a:endParaRPr lang="en-IN" sz="1100">
                        <a:effectLst/>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805701041"/>
                  </a:ext>
                </a:extLst>
              </a:tr>
              <a:tr h="173261">
                <a:tc>
                  <a:txBody>
                    <a:bodyPr/>
                    <a:lstStyle/>
                    <a:p>
                      <a:pPr algn="ctr"/>
                      <a:r>
                        <a:rPr lang="en-IN" sz="1100">
                          <a:effectLst/>
                        </a:rPr>
                        <a:t>Y=Y+20</a:t>
                      </a:r>
                    </a:p>
                  </a:txBody>
                  <a:tcPr marL="83680" marR="83680" marT="41840" marB="41840" anchor="ctr">
                    <a:lnL>
                      <a:noFill/>
                    </a:lnL>
                    <a:lnR>
                      <a:noFill/>
                    </a:lnR>
                    <a:lnT>
                      <a:noFill/>
                    </a:lnT>
                    <a:lnB>
                      <a:noFill/>
                    </a:lnB>
                    <a:noFill/>
                  </a:tcPr>
                </a:tc>
                <a:tc>
                  <a:txBody>
                    <a:bodyPr/>
                    <a:lstStyle/>
                    <a:p>
                      <a:pPr algn="ctr"/>
                      <a:endParaRPr lang="en-IN" sz="1100">
                        <a:effectLst/>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1798155838"/>
                  </a:ext>
                </a:extLst>
              </a:tr>
              <a:tr h="173261">
                <a:tc>
                  <a:txBody>
                    <a:bodyPr/>
                    <a:lstStyle/>
                    <a:p>
                      <a:pPr algn="ctr"/>
                      <a:r>
                        <a:rPr lang="en-IN" sz="1100">
                          <a:effectLst/>
                        </a:rPr>
                        <a:t>W(Y)</a:t>
                      </a:r>
                    </a:p>
                  </a:txBody>
                  <a:tcPr marL="83680" marR="83680" marT="41840" marB="41840" anchor="ctr">
                    <a:lnL>
                      <a:noFill/>
                    </a:lnL>
                    <a:lnR>
                      <a:noFill/>
                    </a:lnR>
                    <a:lnT>
                      <a:noFill/>
                    </a:lnT>
                    <a:lnB>
                      <a:noFill/>
                    </a:lnB>
                    <a:noFill/>
                  </a:tcPr>
                </a:tc>
                <a:tc>
                  <a:txBody>
                    <a:bodyPr/>
                    <a:lstStyle/>
                    <a:p>
                      <a:pPr algn="ctr"/>
                      <a:endParaRPr lang="en-IN" sz="1100">
                        <a:effectLst/>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852377340"/>
                  </a:ext>
                </a:extLst>
              </a:tr>
              <a:tr h="173261">
                <a:tc>
                  <a:txBody>
                    <a:bodyPr/>
                    <a:lstStyle/>
                    <a:p>
                      <a:pPr algn="ctr"/>
                      <a:endParaRPr lang="en-IN" sz="1100">
                        <a:effectLst/>
                      </a:endParaRPr>
                    </a:p>
                  </a:txBody>
                  <a:tcPr marL="83680" marR="83680" marT="41840" marB="41840" anchor="ctr">
                    <a:lnL>
                      <a:noFill/>
                    </a:lnL>
                    <a:lnR>
                      <a:noFill/>
                    </a:lnR>
                    <a:lnT>
                      <a:noFill/>
                    </a:lnT>
                    <a:lnB>
                      <a:noFill/>
                    </a:lnB>
                    <a:noFill/>
                  </a:tcPr>
                </a:tc>
                <a:tc>
                  <a:txBody>
                    <a:bodyPr/>
                    <a:lstStyle/>
                    <a:p>
                      <a:pPr algn="ctr"/>
                      <a:r>
                        <a:rPr lang="en-IN" sz="1100">
                          <a:effectLst/>
                        </a:rPr>
                        <a:t>R(Y)</a:t>
                      </a:r>
                    </a:p>
                  </a:txBody>
                  <a:tcPr marL="83680" marR="83680" marT="41840" marB="41840" anchor="ctr">
                    <a:lnL>
                      <a:noFill/>
                    </a:lnL>
                    <a:lnR>
                      <a:noFill/>
                    </a:lnR>
                    <a:lnT>
                      <a:noFill/>
                    </a:lnT>
                    <a:lnB>
                      <a:noFill/>
                    </a:lnB>
                    <a:noFill/>
                  </a:tcPr>
                </a:tc>
                <a:extLst>
                  <a:ext uri="{0D108BD9-81ED-4DB2-BD59-A6C34878D82A}">
                    <a16:rowId xmlns:a16="http://schemas.microsoft.com/office/drawing/2014/main" val="3047386147"/>
                  </a:ext>
                </a:extLst>
              </a:tr>
              <a:tr h="173261">
                <a:tc>
                  <a:txBody>
                    <a:bodyPr/>
                    <a:lstStyle/>
                    <a:p>
                      <a:pPr algn="ctr"/>
                      <a:endParaRPr lang="en-IN" sz="1100">
                        <a:effectLst/>
                      </a:endParaRPr>
                    </a:p>
                  </a:txBody>
                  <a:tcPr marL="83680" marR="83680" marT="41840" marB="41840" anchor="ctr">
                    <a:lnL>
                      <a:noFill/>
                    </a:lnL>
                    <a:lnR>
                      <a:noFill/>
                    </a:lnR>
                    <a:lnT>
                      <a:noFill/>
                    </a:lnT>
                    <a:lnB>
                      <a:noFill/>
                    </a:lnB>
                    <a:noFill/>
                  </a:tcPr>
                </a:tc>
                <a:tc>
                  <a:txBody>
                    <a:bodyPr/>
                    <a:lstStyle/>
                    <a:p>
                      <a:pPr algn="ctr"/>
                      <a:r>
                        <a:rPr lang="en-IN" sz="1100">
                          <a:effectLst/>
                        </a:rPr>
                        <a:t>Y=Y*1.1</a:t>
                      </a:r>
                    </a:p>
                  </a:txBody>
                  <a:tcPr marL="83680" marR="83680" marT="41840" marB="41840" anchor="ctr">
                    <a:lnL>
                      <a:noFill/>
                    </a:lnL>
                    <a:lnR>
                      <a:noFill/>
                    </a:lnR>
                    <a:lnT>
                      <a:noFill/>
                    </a:lnT>
                    <a:lnB>
                      <a:noFill/>
                    </a:lnB>
                    <a:noFill/>
                  </a:tcPr>
                </a:tc>
                <a:extLst>
                  <a:ext uri="{0D108BD9-81ED-4DB2-BD59-A6C34878D82A}">
                    <a16:rowId xmlns:a16="http://schemas.microsoft.com/office/drawing/2014/main" val="1318966614"/>
                  </a:ext>
                </a:extLst>
              </a:tr>
              <a:tr h="173261">
                <a:tc>
                  <a:txBody>
                    <a:bodyPr/>
                    <a:lstStyle/>
                    <a:p>
                      <a:pPr algn="ctr"/>
                      <a:endParaRPr lang="en-IN" sz="1100">
                        <a:effectLst/>
                      </a:endParaRPr>
                    </a:p>
                  </a:txBody>
                  <a:tcPr marL="83680" marR="83680" marT="41840" marB="41840" anchor="ctr">
                    <a:lnL>
                      <a:noFill/>
                    </a:lnL>
                    <a:lnR>
                      <a:noFill/>
                    </a:lnR>
                    <a:lnT>
                      <a:noFill/>
                    </a:lnT>
                    <a:lnB>
                      <a:noFill/>
                    </a:lnB>
                    <a:noFill/>
                  </a:tcPr>
                </a:tc>
                <a:tc>
                  <a:txBody>
                    <a:bodyPr/>
                    <a:lstStyle/>
                    <a:p>
                      <a:pPr algn="ctr"/>
                      <a:r>
                        <a:rPr lang="en-IN" sz="1100" dirty="0">
                          <a:effectLst/>
                        </a:rPr>
                        <a:t>W(Y)</a:t>
                      </a:r>
                    </a:p>
                  </a:txBody>
                  <a:tcPr marL="83680" marR="83680" marT="41840" marB="41840" anchor="ctr">
                    <a:lnL>
                      <a:noFill/>
                    </a:lnL>
                    <a:lnR>
                      <a:noFill/>
                    </a:lnR>
                    <a:lnT>
                      <a:noFill/>
                    </a:lnT>
                    <a:lnB>
                      <a:noFill/>
                    </a:lnB>
                    <a:noFill/>
                  </a:tcPr>
                </a:tc>
                <a:extLst>
                  <a:ext uri="{0D108BD9-81ED-4DB2-BD59-A6C34878D82A}">
                    <a16:rowId xmlns:a16="http://schemas.microsoft.com/office/drawing/2014/main" val="2942523208"/>
                  </a:ext>
                </a:extLst>
              </a:tr>
            </a:tbl>
          </a:graphicData>
        </a:graphic>
      </p:graphicFrame>
      <p:sp>
        <p:nvSpPr>
          <p:cNvPr id="5" name="Rectangle 1">
            <a:extLst>
              <a:ext uri="{FF2B5EF4-FFF2-40B4-BE49-F238E27FC236}">
                <a16:creationId xmlns:a16="http://schemas.microsoft.com/office/drawing/2014/main" id="{8A327847-E673-A7E2-240A-8EE5B0F33D8B}"/>
              </a:ext>
            </a:extLst>
          </p:cNvPr>
          <p:cNvSpPr>
            <a:spLocks noChangeArrowheads="1"/>
          </p:cNvSpPr>
          <p:nvPr/>
        </p:nvSpPr>
        <p:spPr bwMode="auto">
          <a:xfrm>
            <a:off x="4445000" y="2463919"/>
            <a:ext cx="184731" cy="369332"/>
          </a:xfrm>
          <a:prstGeom prst="rect">
            <a:avLst/>
          </a:prstGeom>
          <a:solidFill>
            <a:srgbClr val="FAFB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403157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A40C341-13B2-3A58-DA82-C19F72EAC1D9}"/>
              </a:ext>
            </a:extLst>
          </p:cNvPr>
          <p:cNvSpPr txBox="1"/>
          <p:nvPr/>
        </p:nvSpPr>
        <p:spPr>
          <a:xfrm>
            <a:off x="396240" y="372795"/>
            <a:ext cx="8346316" cy="101566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Also, for the above table the serial schedule is as follows: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Let us call this </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Schedule S2</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947CFD61-7D64-16F3-EA76-EF2A69423F4A}"/>
              </a:ext>
            </a:extLst>
          </p:cNvPr>
          <p:cNvGraphicFramePr>
            <a:graphicFrameLocks noGrp="1"/>
          </p:cNvGraphicFramePr>
          <p:nvPr/>
        </p:nvGraphicFramePr>
        <p:xfrm>
          <a:off x="6311838" y="2431312"/>
          <a:ext cx="2935730" cy="4257760"/>
        </p:xfrm>
        <a:graphic>
          <a:graphicData uri="http://schemas.openxmlformats.org/drawingml/2006/table">
            <a:tbl>
              <a:tblPr/>
              <a:tblGrid>
                <a:gridCol w="1467865">
                  <a:extLst>
                    <a:ext uri="{9D8B030D-6E8A-4147-A177-3AD203B41FA5}">
                      <a16:colId xmlns:a16="http://schemas.microsoft.com/office/drawing/2014/main" val="3103741556"/>
                    </a:ext>
                  </a:extLst>
                </a:gridCol>
                <a:gridCol w="1467865">
                  <a:extLst>
                    <a:ext uri="{9D8B030D-6E8A-4147-A177-3AD203B41FA5}">
                      <a16:colId xmlns:a16="http://schemas.microsoft.com/office/drawing/2014/main" val="2594890218"/>
                    </a:ext>
                  </a:extLst>
                </a:gridCol>
              </a:tblGrid>
              <a:tr h="225727">
                <a:tc>
                  <a:txBody>
                    <a:bodyPr/>
                    <a:lstStyle/>
                    <a:p>
                      <a:pPr algn="ctr"/>
                      <a:r>
                        <a:rPr lang="en-IN" sz="1600">
                          <a:effectLst/>
                        </a:rPr>
                        <a:t>T1</a:t>
                      </a:r>
                    </a:p>
                  </a:txBody>
                  <a:tcPr marL="83680" marR="83680" marT="41840" marB="41840" anchor="ctr">
                    <a:lnL>
                      <a:noFill/>
                    </a:lnL>
                    <a:lnR>
                      <a:noFill/>
                    </a:lnR>
                    <a:lnT>
                      <a:noFill/>
                    </a:lnT>
                    <a:lnB>
                      <a:noFill/>
                    </a:lnB>
                    <a:noFill/>
                  </a:tcPr>
                </a:tc>
                <a:tc>
                  <a:txBody>
                    <a:bodyPr/>
                    <a:lstStyle/>
                    <a:p>
                      <a:pPr algn="ctr"/>
                      <a:r>
                        <a:rPr lang="en-IN" sz="1600">
                          <a:effectLst/>
                        </a:rPr>
                        <a:t>T2</a:t>
                      </a:r>
                    </a:p>
                  </a:txBody>
                  <a:tcPr marL="83680" marR="83680" marT="41840" marB="41840" anchor="ctr">
                    <a:lnL>
                      <a:noFill/>
                    </a:lnL>
                    <a:lnR>
                      <a:noFill/>
                    </a:lnR>
                    <a:lnT>
                      <a:noFill/>
                    </a:lnT>
                    <a:lnB>
                      <a:noFill/>
                    </a:lnB>
                    <a:noFill/>
                  </a:tcPr>
                </a:tc>
                <a:extLst>
                  <a:ext uri="{0D108BD9-81ED-4DB2-BD59-A6C34878D82A}">
                    <a16:rowId xmlns:a16="http://schemas.microsoft.com/office/drawing/2014/main" val="4158811942"/>
                  </a:ext>
                </a:extLst>
              </a:tr>
              <a:tr h="225727">
                <a:tc>
                  <a:txBody>
                    <a:bodyPr/>
                    <a:lstStyle/>
                    <a:p>
                      <a:pPr algn="ctr"/>
                      <a:r>
                        <a:rPr lang="en-IN" sz="1600" dirty="0">
                          <a:effectLst/>
                        </a:rPr>
                        <a:t>R(X)</a:t>
                      </a:r>
                    </a:p>
                  </a:txBody>
                  <a:tcPr marL="83680" marR="83680" marT="41840" marB="41840" anchor="ctr">
                    <a:lnL>
                      <a:noFill/>
                    </a:lnL>
                    <a:lnR>
                      <a:noFill/>
                    </a:lnR>
                    <a:lnT>
                      <a:noFill/>
                    </a:lnT>
                    <a:lnB>
                      <a:noFill/>
                    </a:lnB>
                    <a:noFill/>
                  </a:tcPr>
                </a:tc>
                <a:tc>
                  <a:txBody>
                    <a:bodyPr/>
                    <a:lstStyle/>
                    <a:p>
                      <a:pPr algn="ctr"/>
                      <a:endParaRPr lang="en-IN" sz="1600">
                        <a:effectLst/>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4247486854"/>
                  </a:ext>
                </a:extLst>
              </a:tr>
              <a:tr h="225727">
                <a:tc>
                  <a:txBody>
                    <a:bodyPr/>
                    <a:lstStyle/>
                    <a:p>
                      <a:pPr algn="ctr"/>
                      <a:r>
                        <a:rPr lang="en-IN" sz="1600">
                          <a:effectLst/>
                        </a:rPr>
                        <a:t>X=X+10</a:t>
                      </a:r>
                    </a:p>
                  </a:txBody>
                  <a:tcPr marL="83680" marR="83680" marT="41840" marB="41840" anchor="ctr">
                    <a:lnL>
                      <a:noFill/>
                    </a:lnL>
                    <a:lnR>
                      <a:noFill/>
                    </a:lnR>
                    <a:lnT>
                      <a:noFill/>
                    </a:lnT>
                    <a:lnB>
                      <a:noFill/>
                    </a:lnB>
                    <a:noFill/>
                  </a:tcPr>
                </a:tc>
                <a:tc>
                  <a:txBody>
                    <a:bodyPr/>
                    <a:lstStyle/>
                    <a:p>
                      <a:pPr algn="ctr"/>
                      <a:endParaRPr lang="en-IN" sz="1600">
                        <a:effectLst/>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2989837524"/>
                  </a:ext>
                </a:extLst>
              </a:tr>
              <a:tr h="225727">
                <a:tc>
                  <a:txBody>
                    <a:bodyPr/>
                    <a:lstStyle/>
                    <a:p>
                      <a:pPr algn="ctr"/>
                      <a:r>
                        <a:rPr lang="en-IN" sz="1600">
                          <a:effectLst/>
                        </a:rPr>
                        <a:t>W(X)</a:t>
                      </a:r>
                    </a:p>
                  </a:txBody>
                  <a:tcPr marL="83680" marR="83680" marT="41840" marB="41840" anchor="ctr">
                    <a:lnL>
                      <a:noFill/>
                    </a:lnL>
                    <a:lnR>
                      <a:noFill/>
                    </a:lnR>
                    <a:lnT>
                      <a:noFill/>
                    </a:lnT>
                    <a:lnB>
                      <a:noFill/>
                    </a:lnB>
                    <a:noFill/>
                  </a:tcPr>
                </a:tc>
                <a:tc>
                  <a:txBody>
                    <a:bodyPr/>
                    <a:lstStyle/>
                    <a:p>
                      <a:pPr algn="ctr"/>
                      <a:endParaRPr lang="en-IN" sz="1600" dirty="0">
                        <a:effectLst/>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621761678"/>
                  </a:ext>
                </a:extLst>
              </a:tr>
              <a:tr h="225727">
                <a:tc>
                  <a:txBody>
                    <a:bodyPr/>
                    <a:lstStyle/>
                    <a:p>
                      <a:pPr algn="ctr"/>
                      <a:r>
                        <a:rPr lang="en-IN" sz="1600">
                          <a:effectLst/>
                        </a:rPr>
                        <a:t>R(Y)</a:t>
                      </a:r>
                    </a:p>
                  </a:txBody>
                  <a:tcPr marL="83680" marR="83680" marT="41840" marB="41840" anchor="ctr">
                    <a:lnL>
                      <a:noFill/>
                    </a:lnL>
                    <a:lnR>
                      <a:noFill/>
                    </a:lnR>
                    <a:lnT>
                      <a:noFill/>
                    </a:lnT>
                    <a:lnB>
                      <a:noFill/>
                    </a:lnB>
                    <a:noFill/>
                  </a:tcPr>
                </a:tc>
                <a:tc>
                  <a:txBody>
                    <a:bodyPr/>
                    <a:lstStyle/>
                    <a:p>
                      <a:pPr algn="ctr"/>
                      <a:endParaRPr lang="en-IN" sz="1600">
                        <a:effectLst/>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2877716336"/>
                  </a:ext>
                </a:extLst>
              </a:tr>
              <a:tr h="225727">
                <a:tc>
                  <a:txBody>
                    <a:bodyPr/>
                    <a:lstStyle/>
                    <a:p>
                      <a:pPr algn="ctr"/>
                      <a:r>
                        <a:rPr lang="en-IN" sz="1600">
                          <a:effectLst/>
                        </a:rPr>
                        <a:t>Y=Y+20</a:t>
                      </a:r>
                    </a:p>
                  </a:txBody>
                  <a:tcPr marL="83680" marR="83680" marT="41840" marB="41840" anchor="ctr">
                    <a:lnL>
                      <a:noFill/>
                    </a:lnL>
                    <a:lnR>
                      <a:noFill/>
                    </a:lnR>
                    <a:lnT>
                      <a:noFill/>
                    </a:lnT>
                    <a:lnB>
                      <a:noFill/>
                    </a:lnB>
                    <a:noFill/>
                  </a:tcPr>
                </a:tc>
                <a:tc>
                  <a:txBody>
                    <a:bodyPr/>
                    <a:lstStyle/>
                    <a:p>
                      <a:pPr algn="ctr"/>
                      <a:endParaRPr lang="en-IN" sz="1600">
                        <a:effectLst/>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1694720723"/>
                  </a:ext>
                </a:extLst>
              </a:tr>
              <a:tr h="225727">
                <a:tc>
                  <a:txBody>
                    <a:bodyPr/>
                    <a:lstStyle/>
                    <a:p>
                      <a:pPr algn="ctr"/>
                      <a:r>
                        <a:rPr lang="en-IN" sz="1600">
                          <a:effectLst/>
                        </a:rPr>
                        <a:t>W(Y)</a:t>
                      </a:r>
                    </a:p>
                  </a:txBody>
                  <a:tcPr marL="83680" marR="83680" marT="41840" marB="41840" anchor="ctr">
                    <a:lnL>
                      <a:noFill/>
                    </a:lnL>
                    <a:lnR>
                      <a:noFill/>
                    </a:lnR>
                    <a:lnT>
                      <a:noFill/>
                    </a:lnT>
                    <a:lnB>
                      <a:noFill/>
                    </a:lnB>
                    <a:noFill/>
                  </a:tcPr>
                </a:tc>
                <a:tc>
                  <a:txBody>
                    <a:bodyPr/>
                    <a:lstStyle/>
                    <a:p>
                      <a:pPr algn="ctr"/>
                      <a:endParaRPr lang="en-IN" sz="1600">
                        <a:effectLst/>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2338288810"/>
                  </a:ext>
                </a:extLst>
              </a:tr>
              <a:tr h="225727">
                <a:tc>
                  <a:txBody>
                    <a:bodyPr/>
                    <a:lstStyle/>
                    <a:p>
                      <a:pPr algn="ctr"/>
                      <a:endParaRPr lang="en-IN" sz="1600">
                        <a:effectLst/>
                      </a:endParaRPr>
                    </a:p>
                  </a:txBody>
                  <a:tcPr marL="83680" marR="83680" marT="41840" marB="41840" anchor="ctr">
                    <a:lnL>
                      <a:noFill/>
                    </a:lnL>
                    <a:lnR>
                      <a:noFill/>
                    </a:lnR>
                    <a:lnT>
                      <a:noFill/>
                    </a:lnT>
                    <a:lnB>
                      <a:noFill/>
                    </a:lnB>
                    <a:noFill/>
                  </a:tcPr>
                </a:tc>
                <a:tc>
                  <a:txBody>
                    <a:bodyPr/>
                    <a:lstStyle/>
                    <a:p>
                      <a:pPr algn="ctr"/>
                      <a:r>
                        <a:rPr lang="en-IN" sz="1600">
                          <a:effectLst/>
                        </a:rPr>
                        <a:t>R(X)</a:t>
                      </a:r>
                    </a:p>
                  </a:txBody>
                  <a:tcPr marL="83680" marR="83680" marT="41840" marB="41840" anchor="ctr">
                    <a:lnL>
                      <a:noFill/>
                    </a:lnL>
                    <a:lnR>
                      <a:noFill/>
                    </a:lnR>
                    <a:lnT>
                      <a:noFill/>
                    </a:lnT>
                    <a:lnB>
                      <a:noFill/>
                    </a:lnB>
                    <a:noFill/>
                  </a:tcPr>
                </a:tc>
                <a:extLst>
                  <a:ext uri="{0D108BD9-81ED-4DB2-BD59-A6C34878D82A}">
                    <a16:rowId xmlns:a16="http://schemas.microsoft.com/office/drawing/2014/main" val="652023389"/>
                  </a:ext>
                </a:extLst>
              </a:tr>
              <a:tr h="225727">
                <a:tc>
                  <a:txBody>
                    <a:bodyPr/>
                    <a:lstStyle/>
                    <a:p>
                      <a:pPr algn="ctr"/>
                      <a:endParaRPr lang="en-IN" sz="1600">
                        <a:effectLst/>
                      </a:endParaRPr>
                    </a:p>
                  </a:txBody>
                  <a:tcPr marL="83680" marR="83680" marT="41840" marB="41840" anchor="ctr">
                    <a:lnL>
                      <a:noFill/>
                    </a:lnL>
                    <a:lnR>
                      <a:noFill/>
                    </a:lnR>
                    <a:lnT>
                      <a:noFill/>
                    </a:lnT>
                    <a:lnB>
                      <a:noFill/>
                    </a:lnB>
                    <a:noFill/>
                  </a:tcPr>
                </a:tc>
                <a:tc>
                  <a:txBody>
                    <a:bodyPr/>
                    <a:lstStyle/>
                    <a:p>
                      <a:pPr algn="ctr"/>
                      <a:r>
                        <a:rPr lang="en-IN" sz="1600">
                          <a:effectLst/>
                        </a:rPr>
                        <a:t>X=X+10</a:t>
                      </a:r>
                    </a:p>
                  </a:txBody>
                  <a:tcPr marL="83680" marR="83680" marT="41840" marB="41840" anchor="ctr">
                    <a:lnL>
                      <a:noFill/>
                    </a:lnL>
                    <a:lnR>
                      <a:noFill/>
                    </a:lnR>
                    <a:lnT>
                      <a:noFill/>
                    </a:lnT>
                    <a:lnB>
                      <a:noFill/>
                    </a:lnB>
                    <a:noFill/>
                  </a:tcPr>
                </a:tc>
                <a:extLst>
                  <a:ext uri="{0D108BD9-81ED-4DB2-BD59-A6C34878D82A}">
                    <a16:rowId xmlns:a16="http://schemas.microsoft.com/office/drawing/2014/main" val="467069257"/>
                  </a:ext>
                </a:extLst>
              </a:tr>
              <a:tr h="225727">
                <a:tc>
                  <a:txBody>
                    <a:bodyPr/>
                    <a:lstStyle/>
                    <a:p>
                      <a:pPr algn="ctr"/>
                      <a:endParaRPr lang="en-IN" sz="1600">
                        <a:effectLst/>
                      </a:endParaRPr>
                    </a:p>
                  </a:txBody>
                  <a:tcPr marL="83680" marR="83680" marT="41840" marB="41840" anchor="ctr">
                    <a:lnL>
                      <a:noFill/>
                    </a:lnL>
                    <a:lnR>
                      <a:noFill/>
                    </a:lnR>
                    <a:lnT>
                      <a:noFill/>
                    </a:lnT>
                    <a:lnB>
                      <a:noFill/>
                    </a:lnB>
                    <a:noFill/>
                  </a:tcPr>
                </a:tc>
                <a:tc>
                  <a:txBody>
                    <a:bodyPr/>
                    <a:lstStyle/>
                    <a:p>
                      <a:pPr algn="ctr"/>
                      <a:r>
                        <a:rPr lang="en-IN" sz="1600" dirty="0">
                          <a:effectLst/>
                        </a:rPr>
                        <a:t>W(X)</a:t>
                      </a:r>
                    </a:p>
                  </a:txBody>
                  <a:tcPr marL="83680" marR="83680" marT="41840" marB="41840" anchor="ctr">
                    <a:lnL>
                      <a:noFill/>
                    </a:lnL>
                    <a:lnR>
                      <a:noFill/>
                    </a:lnR>
                    <a:lnT>
                      <a:noFill/>
                    </a:lnT>
                    <a:lnB>
                      <a:noFill/>
                    </a:lnB>
                    <a:noFill/>
                  </a:tcPr>
                </a:tc>
                <a:extLst>
                  <a:ext uri="{0D108BD9-81ED-4DB2-BD59-A6C34878D82A}">
                    <a16:rowId xmlns:a16="http://schemas.microsoft.com/office/drawing/2014/main" val="3033482498"/>
                  </a:ext>
                </a:extLst>
              </a:tr>
              <a:tr h="225727">
                <a:tc>
                  <a:txBody>
                    <a:bodyPr/>
                    <a:lstStyle/>
                    <a:p>
                      <a:pPr algn="ctr"/>
                      <a:endParaRPr lang="en-IN" sz="1600">
                        <a:effectLst/>
                      </a:endParaRPr>
                    </a:p>
                  </a:txBody>
                  <a:tcPr marL="83680" marR="83680" marT="41840" marB="41840" anchor="ctr">
                    <a:lnL>
                      <a:noFill/>
                    </a:lnL>
                    <a:lnR>
                      <a:noFill/>
                    </a:lnR>
                    <a:lnT>
                      <a:noFill/>
                    </a:lnT>
                    <a:lnB>
                      <a:noFill/>
                    </a:lnB>
                    <a:noFill/>
                  </a:tcPr>
                </a:tc>
                <a:tc>
                  <a:txBody>
                    <a:bodyPr/>
                    <a:lstStyle/>
                    <a:p>
                      <a:pPr algn="ctr"/>
                      <a:r>
                        <a:rPr lang="en-IN" sz="1600" dirty="0">
                          <a:effectLst/>
                        </a:rPr>
                        <a:t>R(Y)</a:t>
                      </a:r>
                    </a:p>
                  </a:txBody>
                  <a:tcPr marL="83680" marR="83680" marT="41840" marB="41840" anchor="ctr">
                    <a:lnL>
                      <a:noFill/>
                    </a:lnL>
                    <a:lnR>
                      <a:noFill/>
                    </a:lnR>
                    <a:lnT>
                      <a:noFill/>
                    </a:lnT>
                    <a:lnB>
                      <a:noFill/>
                    </a:lnB>
                    <a:noFill/>
                  </a:tcPr>
                </a:tc>
                <a:extLst>
                  <a:ext uri="{0D108BD9-81ED-4DB2-BD59-A6C34878D82A}">
                    <a16:rowId xmlns:a16="http://schemas.microsoft.com/office/drawing/2014/main" val="1438742283"/>
                  </a:ext>
                </a:extLst>
              </a:tr>
              <a:tr h="225727">
                <a:tc>
                  <a:txBody>
                    <a:bodyPr/>
                    <a:lstStyle/>
                    <a:p>
                      <a:pPr algn="ctr"/>
                      <a:endParaRPr lang="en-IN" sz="1600">
                        <a:effectLst/>
                      </a:endParaRPr>
                    </a:p>
                  </a:txBody>
                  <a:tcPr marL="83680" marR="83680" marT="41840" marB="41840" anchor="ctr">
                    <a:lnL>
                      <a:noFill/>
                    </a:lnL>
                    <a:lnR>
                      <a:noFill/>
                    </a:lnR>
                    <a:lnT>
                      <a:noFill/>
                    </a:lnT>
                    <a:lnB>
                      <a:noFill/>
                    </a:lnB>
                    <a:noFill/>
                  </a:tcPr>
                </a:tc>
                <a:tc>
                  <a:txBody>
                    <a:bodyPr/>
                    <a:lstStyle/>
                    <a:p>
                      <a:pPr algn="ctr"/>
                      <a:r>
                        <a:rPr lang="en-IN" sz="1600" dirty="0">
                          <a:effectLst/>
                        </a:rPr>
                        <a:t>Y=Y*1.1</a:t>
                      </a:r>
                    </a:p>
                  </a:txBody>
                  <a:tcPr marL="83680" marR="83680" marT="41840" marB="41840" anchor="ctr">
                    <a:lnL>
                      <a:noFill/>
                    </a:lnL>
                    <a:lnR>
                      <a:noFill/>
                    </a:lnR>
                    <a:lnT>
                      <a:noFill/>
                    </a:lnT>
                    <a:lnB>
                      <a:noFill/>
                    </a:lnB>
                    <a:noFill/>
                  </a:tcPr>
                </a:tc>
                <a:extLst>
                  <a:ext uri="{0D108BD9-81ED-4DB2-BD59-A6C34878D82A}">
                    <a16:rowId xmlns:a16="http://schemas.microsoft.com/office/drawing/2014/main" val="1269760472"/>
                  </a:ext>
                </a:extLst>
              </a:tr>
              <a:tr h="225727">
                <a:tc>
                  <a:txBody>
                    <a:bodyPr/>
                    <a:lstStyle/>
                    <a:p>
                      <a:pPr algn="ctr"/>
                      <a:endParaRPr lang="en-IN" sz="1600">
                        <a:effectLst/>
                      </a:endParaRPr>
                    </a:p>
                  </a:txBody>
                  <a:tcPr marL="83680" marR="83680" marT="41840" marB="41840" anchor="ctr">
                    <a:lnL>
                      <a:noFill/>
                    </a:lnL>
                    <a:lnR>
                      <a:noFill/>
                    </a:lnR>
                    <a:lnT>
                      <a:noFill/>
                    </a:lnT>
                    <a:lnB>
                      <a:noFill/>
                    </a:lnB>
                    <a:noFill/>
                  </a:tcPr>
                </a:tc>
                <a:tc>
                  <a:txBody>
                    <a:bodyPr/>
                    <a:lstStyle/>
                    <a:p>
                      <a:pPr algn="ctr"/>
                      <a:r>
                        <a:rPr lang="en-IN" sz="1600" dirty="0">
                          <a:effectLst/>
                        </a:rPr>
                        <a:t>W(Y)</a:t>
                      </a:r>
                    </a:p>
                  </a:txBody>
                  <a:tcPr marL="83680" marR="83680" marT="41840" marB="41840" anchor="ctr">
                    <a:lnL>
                      <a:noFill/>
                    </a:lnL>
                    <a:lnR>
                      <a:noFill/>
                    </a:lnR>
                    <a:lnT>
                      <a:noFill/>
                    </a:lnT>
                    <a:lnB>
                      <a:noFill/>
                    </a:lnB>
                    <a:noFill/>
                  </a:tcPr>
                </a:tc>
                <a:extLst>
                  <a:ext uri="{0D108BD9-81ED-4DB2-BD59-A6C34878D82A}">
                    <a16:rowId xmlns:a16="http://schemas.microsoft.com/office/drawing/2014/main" val="2617425292"/>
                  </a:ext>
                </a:extLst>
              </a:tr>
            </a:tbl>
          </a:graphicData>
        </a:graphic>
      </p:graphicFrame>
      <p:sp>
        <p:nvSpPr>
          <p:cNvPr id="9" name="Rectangle 3">
            <a:extLst>
              <a:ext uri="{FF2B5EF4-FFF2-40B4-BE49-F238E27FC236}">
                <a16:creationId xmlns:a16="http://schemas.microsoft.com/office/drawing/2014/main" id="{C622D1DF-DC37-968A-B787-7BDED25A18EE}"/>
              </a:ext>
            </a:extLst>
          </p:cNvPr>
          <p:cNvSpPr>
            <a:spLocks noChangeArrowheads="1"/>
          </p:cNvSpPr>
          <p:nvPr/>
        </p:nvSpPr>
        <p:spPr bwMode="auto">
          <a:xfrm>
            <a:off x="294639" y="1263600"/>
            <a:ext cx="873784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As transaction T1 performed the first operation we wrote all of its operations on data item X as well as Y first and then all the operations of T2 are written next.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Two schedules are said to be viewed as equivalent if they satisfy the following three conditions:</a:t>
            </a:r>
          </a:p>
        </p:txBody>
      </p:sp>
      <p:graphicFrame>
        <p:nvGraphicFramePr>
          <p:cNvPr id="10" name="Table 9">
            <a:extLst>
              <a:ext uri="{FF2B5EF4-FFF2-40B4-BE49-F238E27FC236}">
                <a16:creationId xmlns:a16="http://schemas.microsoft.com/office/drawing/2014/main" id="{55378F68-BC7F-26EF-4B3E-ACDFF366ECD0}"/>
              </a:ext>
            </a:extLst>
          </p:cNvPr>
          <p:cNvGraphicFramePr>
            <a:graphicFrameLocks noGrp="1"/>
          </p:cNvGraphicFramePr>
          <p:nvPr/>
        </p:nvGraphicFramePr>
        <p:xfrm>
          <a:off x="2528384" y="2514274"/>
          <a:ext cx="2763796" cy="4257760"/>
        </p:xfrm>
        <a:graphic>
          <a:graphicData uri="http://schemas.openxmlformats.org/drawingml/2006/table">
            <a:tbl>
              <a:tblPr/>
              <a:tblGrid>
                <a:gridCol w="1381898">
                  <a:extLst>
                    <a:ext uri="{9D8B030D-6E8A-4147-A177-3AD203B41FA5}">
                      <a16:colId xmlns:a16="http://schemas.microsoft.com/office/drawing/2014/main" val="917853308"/>
                    </a:ext>
                  </a:extLst>
                </a:gridCol>
                <a:gridCol w="1381898">
                  <a:extLst>
                    <a:ext uri="{9D8B030D-6E8A-4147-A177-3AD203B41FA5}">
                      <a16:colId xmlns:a16="http://schemas.microsoft.com/office/drawing/2014/main" val="4043772084"/>
                    </a:ext>
                  </a:extLst>
                </a:gridCol>
              </a:tblGrid>
              <a:tr h="173261">
                <a:tc>
                  <a:txBody>
                    <a:bodyPr/>
                    <a:lstStyle/>
                    <a:p>
                      <a:pPr algn="ctr"/>
                      <a:r>
                        <a:rPr lang="en-IN" sz="1600">
                          <a:effectLst/>
                        </a:rPr>
                        <a:t>T1</a:t>
                      </a:r>
                    </a:p>
                  </a:txBody>
                  <a:tcPr marL="83680" marR="83680" marT="41840" marB="41840" anchor="ctr">
                    <a:lnL>
                      <a:noFill/>
                    </a:lnL>
                    <a:lnR>
                      <a:noFill/>
                    </a:lnR>
                    <a:lnT>
                      <a:noFill/>
                    </a:lnT>
                    <a:lnB>
                      <a:noFill/>
                    </a:lnB>
                    <a:noFill/>
                  </a:tcPr>
                </a:tc>
                <a:tc>
                  <a:txBody>
                    <a:bodyPr/>
                    <a:lstStyle/>
                    <a:p>
                      <a:pPr algn="ctr"/>
                      <a:r>
                        <a:rPr lang="en-IN" sz="1600">
                          <a:effectLst/>
                        </a:rPr>
                        <a:t>T2</a:t>
                      </a:r>
                    </a:p>
                  </a:txBody>
                  <a:tcPr marL="83680" marR="83680" marT="41840" marB="41840" anchor="ctr">
                    <a:lnL>
                      <a:noFill/>
                    </a:lnL>
                    <a:lnR>
                      <a:noFill/>
                    </a:lnR>
                    <a:lnT>
                      <a:noFill/>
                    </a:lnT>
                    <a:lnB>
                      <a:noFill/>
                    </a:lnB>
                    <a:noFill/>
                  </a:tcPr>
                </a:tc>
                <a:extLst>
                  <a:ext uri="{0D108BD9-81ED-4DB2-BD59-A6C34878D82A}">
                    <a16:rowId xmlns:a16="http://schemas.microsoft.com/office/drawing/2014/main" val="4170265966"/>
                  </a:ext>
                </a:extLst>
              </a:tr>
              <a:tr h="173261">
                <a:tc>
                  <a:txBody>
                    <a:bodyPr/>
                    <a:lstStyle/>
                    <a:p>
                      <a:pPr algn="ctr"/>
                      <a:r>
                        <a:rPr lang="en-IN" sz="1600">
                          <a:effectLst/>
                        </a:rPr>
                        <a:t>R(X)</a:t>
                      </a:r>
                    </a:p>
                  </a:txBody>
                  <a:tcPr marL="83680" marR="83680" marT="41840" marB="41840" anchor="ctr">
                    <a:lnL>
                      <a:noFill/>
                    </a:lnL>
                    <a:lnR>
                      <a:noFill/>
                    </a:lnR>
                    <a:lnT>
                      <a:noFill/>
                    </a:lnT>
                    <a:lnB>
                      <a:noFill/>
                    </a:lnB>
                    <a:noFill/>
                  </a:tcPr>
                </a:tc>
                <a:tc>
                  <a:txBody>
                    <a:bodyPr/>
                    <a:lstStyle/>
                    <a:p>
                      <a:pPr algn="ctr"/>
                      <a:endParaRPr lang="en-IN" sz="1600">
                        <a:effectLst/>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144170058"/>
                  </a:ext>
                </a:extLst>
              </a:tr>
              <a:tr h="173261">
                <a:tc>
                  <a:txBody>
                    <a:bodyPr/>
                    <a:lstStyle/>
                    <a:p>
                      <a:pPr algn="ctr"/>
                      <a:r>
                        <a:rPr lang="en-IN" sz="1600">
                          <a:effectLst/>
                        </a:rPr>
                        <a:t>X=X+10</a:t>
                      </a:r>
                    </a:p>
                  </a:txBody>
                  <a:tcPr marL="83680" marR="83680" marT="41840" marB="41840" anchor="ctr">
                    <a:lnL>
                      <a:noFill/>
                    </a:lnL>
                    <a:lnR>
                      <a:noFill/>
                    </a:lnR>
                    <a:lnT>
                      <a:noFill/>
                    </a:lnT>
                    <a:lnB>
                      <a:noFill/>
                    </a:lnB>
                    <a:noFill/>
                  </a:tcPr>
                </a:tc>
                <a:tc>
                  <a:txBody>
                    <a:bodyPr/>
                    <a:lstStyle/>
                    <a:p>
                      <a:pPr algn="ctr"/>
                      <a:endParaRPr lang="en-IN" sz="1600" dirty="0">
                        <a:effectLst/>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3173206820"/>
                  </a:ext>
                </a:extLst>
              </a:tr>
              <a:tr h="173261">
                <a:tc>
                  <a:txBody>
                    <a:bodyPr/>
                    <a:lstStyle/>
                    <a:p>
                      <a:pPr algn="ctr"/>
                      <a:r>
                        <a:rPr lang="en-IN" sz="1600">
                          <a:effectLst/>
                        </a:rPr>
                        <a:t>W(X)</a:t>
                      </a:r>
                    </a:p>
                  </a:txBody>
                  <a:tcPr marL="83680" marR="83680" marT="41840" marB="41840" anchor="ctr">
                    <a:lnL>
                      <a:noFill/>
                    </a:lnL>
                    <a:lnR>
                      <a:noFill/>
                    </a:lnR>
                    <a:lnT>
                      <a:noFill/>
                    </a:lnT>
                    <a:lnB>
                      <a:noFill/>
                    </a:lnB>
                    <a:noFill/>
                  </a:tcPr>
                </a:tc>
                <a:tc>
                  <a:txBody>
                    <a:bodyPr/>
                    <a:lstStyle/>
                    <a:p>
                      <a:pPr algn="ctr"/>
                      <a:endParaRPr lang="en-IN" sz="1600">
                        <a:effectLst/>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3868503201"/>
                  </a:ext>
                </a:extLst>
              </a:tr>
              <a:tr h="173261">
                <a:tc>
                  <a:txBody>
                    <a:bodyPr/>
                    <a:lstStyle/>
                    <a:p>
                      <a:pPr algn="ctr"/>
                      <a:endParaRPr lang="en-IN" sz="1600" dirty="0">
                        <a:effectLst/>
                      </a:endParaRPr>
                    </a:p>
                  </a:txBody>
                  <a:tcPr marL="83680" marR="83680" marT="41840" marB="41840" anchor="ctr">
                    <a:lnL>
                      <a:noFill/>
                    </a:lnL>
                    <a:lnR>
                      <a:noFill/>
                    </a:lnR>
                    <a:lnT>
                      <a:noFill/>
                    </a:lnT>
                    <a:lnB>
                      <a:noFill/>
                    </a:lnB>
                    <a:noFill/>
                  </a:tcPr>
                </a:tc>
                <a:tc>
                  <a:txBody>
                    <a:bodyPr/>
                    <a:lstStyle/>
                    <a:p>
                      <a:pPr algn="ctr"/>
                      <a:r>
                        <a:rPr lang="en-IN" sz="1600">
                          <a:effectLst/>
                        </a:rPr>
                        <a:t>R(X)</a:t>
                      </a:r>
                    </a:p>
                  </a:txBody>
                  <a:tcPr marL="83680" marR="83680" marT="41840" marB="41840" anchor="ctr">
                    <a:lnL>
                      <a:noFill/>
                    </a:lnL>
                    <a:lnR>
                      <a:noFill/>
                    </a:lnR>
                    <a:lnT>
                      <a:noFill/>
                    </a:lnT>
                    <a:lnB>
                      <a:noFill/>
                    </a:lnB>
                    <a:noFill/>
                  </a:tcPr>
                </a:tc>
                <a:extLst>
                  <a:ext uri="{0D108BD9-81ED-4DB2-BD59-A6C34878D82A}">
                    <a16:rowId xmlns:a16="http://schemas.microsoft.com/office/drawing/2014/main" val="405071211"/>
                  </a:ext>
                </a:extLst>
              </a:tr>
              <a:tr h="173261">
                <a:tc>
                  <a:txBody>
                    <a:bodyPr/>
                    <a:lstStyle/>
                    <a:p>
                      <a:pPr algn="ctr"/>
                      <a:endParaRPr lang="en-IN" sz="1600">
                        <a:effectLst/>
                      </a:endParaRPr>
                    </a:p>
                  </a:txBody>
                  <a:tcPr marL="83680" marR="83680" marT="41840" marB="41840" anchor="ctr">
                    <a:lnL>
                      <a:noFill/>
                    </a:lnL>
                    <a:lnR>
                      <a:noFill/>
                    </a:lnR>
                    <a:lnT>
                      <a:noFill/>
                    </a:lnT>
                    <a:lnB>
                      <a:noFill/>
                    </a:lnB>
                    <a:noFill/>
                  </a:tcPr>
                </a:tc>
                <a:tc>
                  <a:txBody>
                    <a:bodyPr/>
                    <a:lstStyle/>
                    <a:p>
                      <a:pPr algn="ctr"/>
                      <a:r>
                        <a:rPr lang="en-IN" sz="1600" dirty="0">
                          <a:effectLst/>
                        </a:rPr>
                        <a:t>X=X+10</a:t>
                      </a:r>
                    </a:p>
                  </a:txBody>
                  <a:tcPr marL="83680" marR="83680" marT="41840" marB="41840" anchor="ctr">
                    <a:lnL>
                      <a:noFill/>
                    </a:lnL>
                    <a:lnR>
                      <a:noFill/>
                    </a:lnR>
                    <a:lnT>
                      <a:noFill/>
                    </a:lnT>
                    <a:lnB>
                      <a:noFill/>
                    </a:lnB>
                    <a:noFill/>
                  </a:tcPr>
                </a:tc>
                <a:extLst>
                  <a:ext uri="{0D108BD9-81ED-4DB2-BD59-A6C34878D82A}">
                    <a16:rowId xmlns:a16="http://schemas.microsoft.com/office/drawing/2014/main" val="796737052"/>
                  </a:ext>
                </a:extLst>
              </a:tr>
              <a:tr h="173261">
                <a:tc>
                  <a:txBody>
                    <a:bodyPr/>
                    <a:lstStyle/>
                    <a:p>
                      <a:pPr algn="ctr"/>
                      <a:endParaRPr lang="en-IN" sz="1600">
                        <a:effectLst/>
                      </a:endParaRPr>
                    </a:p>
                  </a:txBody>
                  <a:tcPr marL="83680" marR="83680" marT="41840" marB="41840" anchor="ctr">
                    <a:lnL>
                      <a:noFill/>
                    </a:lnL>
                    <a:lnR>
                      <a:noFill/>
                    </a:lnR>
                    <a:lnT>
                      <a:noFill/>
                    </a:lnT>
                    <a:lnB>
                      <a:noFill/>
                    </a:lnB>
                    <a:noFill/>
                  </a:tcPr>
                </a:tc>
                <a:tc>
                  <a:txBody>
                    <a:bodyPr/>
                    <a:lstStyle/>
                    <a:p>
                      <a:pPr algn="ctr"/>
                      <a:r>
                        <a:rPr lang="en-IN" sz="1600">
                          <a:effectLst/>
                        </a:rPr>
                        <a:t>W(X)</a:t>
                      </a:r>
                    </a:p>
                  </a:txBody>
                  <a:tcPr marL="83680" marR="83680" marT="41840" marB="41840" anchor="ctr">
                    <a:lnL>
                      <a:noFill/>
                    </a:lnL>
                    <a:lnR>
                      <a:noFill/>
                    </a:lnR>
                    <a:lnT>
                      <a:noFill/>
                    </a:lnT>
                    <a:lnB>
                      <a:noFill/>
                    </a:lnB>
                    <a:noFill/>
                  </a:tcPr>
                </a:tc>
                <a:extLst>
                  <a:ext uri="{0D108BD9-81ED-4DB2-BD59-A6C34878D82A}">
                    <a16:rowId xmlns:a16="http://schemas.microsoft.com/office/drawing/2014/main" val="3640070271"/>
                  </a:ext>
                </a:extLst>
              </a:tr>
              <a:tr h="173261">
                <a:tc>
                  <a:txBody>
                    <a:bodyPr/>
                    <a:lstStyle/>
                    <a:p>
                      <a:pPr algn="ctr"/>
                      <a:r>
                        <a:rPr lang="en-IN" sz="1600">
                          <a:effectLst/>
                        </a:rPr>
                        <a:t>R(Y)</a:t>
                      </a:r>
                    </a:p>
                  </a:txBody>
                  <a:tcPr marL="83680" marR="83680" marT="41840" marB="41840" anchor="ctr">
                    <a:lnL>
                      <a:noFill/>
                    </a:lnL>
                    <a:lnR>
                      <a:noFill/>
                    </a:lnR>
                    <a:lnT>
                      <a:noFill/>
                    </a:lnT>
                    <a:lnB>
                      <a:noFill/>
                    </a:lnB>
                    <a:noFill/>
                  </a:tcPr>
                </a:tc>
                <a:tc>
                  <a:txBody>
                    <a:bodyPr/>
                    <a:lstStyle/>
                    <a:p>
                      <a:pPr algn="ctr"/>
                      <a:endParaRPr lang="en-IN" sz="1600">
                        <a:effectLst/>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805701041"/>
                  </a:ext>
                </a:extLst>
              </a:tr>
              <a:tr h="173261">
                <a:tc>
                  <a:txBody>
                    <a:bodyPr/>
                    <a:lstStyle/>
                    <a:p>
                      <a:pPr algn="ctr"/>
                      <a:r>
                        <a:rPr lang="en-IN" sz="1600">
                          <a:effectLst/>
                        </a:rPr>
                        <a:t>Y=Y+20</a:t>
                      </a:r>
                    </a:p>
                  </a:txBody>
                  <a:tcPr marL="83680" marR="83680" marT="41840" marB="41840" anchor="ctr">
                    <a:lnL>
                      <a:noFill/>
                    </a:lnL>
                    <a:lnR>
                      <a:noFill/>
                    </a:lnR>
                    <a:lnT>
                      <a:noFill/>
                    </a:lnT>
                    <a:lnB>
                      <a:noFill/>
                    </a:lnB>
                    <a:noFill/>
                  </a:tcPr>
                </a:tc>
                <a:tc>
                  <a:txBody>
                    <a:bodyPr/>
                    <a:lstStyle/>
                    <a:p>
                      <a:pPr algn="ctr"/>
                      <a:endParaRPr lang="en-IN" sz="1600">
                        <a:effectLst/>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1798155838"/>
                  </a:ext>
                </a:extLst>
              </a:tr>
              <a:tr h="173261">
                <a:tc>
                  <a:txBody>
                    <a:bodyPr/>
                    <a:lstStyle/>
                    <a:p>
                      <a:pPr algn="ctr"/>
                      <a:r>
                        <a:rPr lang="en-IN" sz="1600">
                          <a:effectLst/>
                        </a:rPr>
                        <a:t>W(Y)</a:t>
                      </a:r>
                    </a:p>
                  </a:txBody>
                  <a:tcPr marL="83680" marR="83680" marT="41840" marB="41840" anchor="ctr">
                    <a:lnL>
                      <a:noFill/>
                    </a:lnL>
                    <a:lnR>
                      <a:noFill/>
                    </a:lnR>
                    <a:lnT>
                      <a:noFill/>
                    </a:lnT>
                    <a:lnB>
                      <a:noFill/>
                    </a:lnB>
                    <a:noFill/>
                  </a:tcPr>
                </a:tc>
                <a:tc>
                  <a:txBody>
                    <a:bodyPr/>
                    <a:lstStyle/>
                    <a:p>
                      <a:pPr algn="ctr"/>
                      <a:endParaRPr lang="en-IN" sz="1600">
                        <a:effectLst/>
                      </a:endParaRPr>
                    </a:p>
                  </a:txBody>
                  <a:tcPr marL="83680" marR="83680" marT="41840" marB="41840" anchor="ctr">
                    <a:lnL>
                      <a:noFill/>
                    </a:lnL>
                    <a:lnR>
                      <a:noFill/>
                    </a:lnR>
                    <a:lnT>
                      <a:noFill/>
                    </a:lnT>
                    <a:lnB>
                      <a:noFill/>
                    </a:lnB>
                    <a:noFill/>
                  </a:tcPr>
                </a:tc>
                <a:extLst>
                  <a:ext uri="{0D108BD9-81ED-4DB2-BD59-A6C34878D82A}">
                    <a16:rowId xmlns:a16="http://schemas.microsoft.com/office/drawing/2014/main" val="852377340"/>
                  </a:ext>
                </a:extLst>
              </a:tr>
              <a:tr h="173261">
                <a:tc>
                  <a:txBody>
                    <a:bodyPr/>
                    <a:lstStyle/>
                    <a:p>
                      <a:pPr algn="ctr"/>
                      <a:endParaRPr lang="en-IN" sz="1600">
                        <a:effectLst/>
                      </a:endParaRPr>
                    </a:p>
                  </a:txBody>
                  <a:tcPr marL="83680" marR="83680" marT="41840" marB="41840" anchor="ctr">
                    <a:lnL>
                      <a:noFill/>
                    </a:lnL>
                    <a:lnR>
                      <a:noFill/>
                    </a:lnR>
                    <a:lnT>
                      <a:noFill/>
                    </a:lnT>
                    <a:lnB>
                      <a:noFill/>
                    </a:lnB>
                    <a:noFill/>
                  </a:tcPr>
                </a:tc>
                <a:tc>
                  <a:txBody>
                    <a:bodyPr/>
                    <a:lstStyle/>
                    <a:p>
                      <a:pPr algn="ctr"/>
                      <a:r>
                        <a:rPr lang="en-IN" sz="1600">
                          <a:effectLst/>
                        </a:rPr>
                        <a:t>R(Y)</a:t>
                      </a:r>
                    </a:p>
                  </a:txBody>
                  <a:tcPr marL="83680" marR="83680" marT="41840" marB="41840" anchor="ctr">
                    <a:lnL>
                      <a:noFill/>
                    </a:lnL>
                    <a:lnR>
                      <a:noFill/>
                    </a:lnR>
                    <a:lnT>
                      <a:noFill/>
                    </a:lnT>
                    <a:lnB>
                      <a:noFill/>
                    </a:lnB>
                    <a:noFill/>
                  </a:tcPr>
                </a:tc>
                <a:extLst>
                  <a:ext uri="{0D108BD9-81ED-4DB2-BD59-A6C34878D82A}">
                    <a16:rowId xmlns:a16="http://schemas.microsoft.com/office/drawing/2014/main" val="3047386147"/>
                  </a:ext>
                </a:extLst>
              </a:tr>
              <a:tr h="173261">
                <a:tc>
                  <a:txBody>
                    <a:bodyPr/>
                    <a:lstStyle/>
                    <a:p>
                      <a:pPr algn="ctr"/>
                      <a:endParaRPr lang="en-IN" sz="1600">
                        <a:effectLst/>
                      </a:endParaRPr>
                    </a:p>
                  </a:txBody>
                  <a:tcPr marL="83680" marR="83680" marT="41840" marB="41840" anchor="ctr">
                    <a:lnL>
                      <a:noFill/>
                    </a:lnL>
                    <a:lnR>
                      <a:noFill/>
                    </a:lnR>
                    <a:lnT>
                      <a:noFill/>
                    </a:lnT>
                    <a:lnB>
                      <a:noFill/>
                    </a:lnB>
                    <a:noFill/>
                  </a:tcPr>
                </a:tc>
                <a:tc>
                  <a:txBody>
                    <a:bodyPr/>
                    <a:lstStyle/>
                    <a:p>
                      <a:pPr algn="ctr"/>
                      <a:r>
                        <a:rPr lang="en-IN" sz="1600">
                          <a:effectLst/>
                        </a:rPr>
                        <a:t>Y=Y*1.1</a:t>
                      </a:r>
                    </a:p>
                  </a:txBody>
                  <a:tcPr marL="83680" marR="83680" marT="41840" marB="41840" anchor="ctr">
                    <a:lnL>
                      <a:noFill/>
                    </a:lnL>
                    <a:lnR>
                      <a:noFill/>
                    </a:lnR>
                    <a:lnT>
                      <a:noFill/>
                    </a:lnT>
                    <a:lnB>
                      <a:noFill/>
                    </a:lnB>
                    <a:noFill/>
                  </a:tcPr>
                </a:tc>
                <a:extLst>
                  <a:ext uri="{0D108BD9-81ED-4DB2-BD59-A6C34878D82A}">
                    <a16:rowId xmlns:a16="http://schemas.microsoft.com/office/drawing/2014/main" val="1318966614"/>
                  </a:ext>
                </a:extLst>
              </a:tr>
              <a:tr h="173261">
                <a:tc>
                  <a:txBody>
                    <a:bodyPr/>
                    <a:lstStyle/>
                    <a:p>
                      <a:pPr algn="ctr"/>
                      <a:endParaRPr lang="en-IN" sz="1600">
                        <a:effectLst/>
                      </a:endParaRPr>
                    </a:p>
                  </a:txBody>
                  <a:tcPr marL="83680" marR="83680" marT="41840" marB="41840" anchor="ctr">
                    <a:lnL>
                      <a:noFill/>
                    </a:lnL>
                    <a:lnR>
                      <a:noFill/>
                    </a:lnR>
                    <a:lnT>
                      <a:noFill/>
                    </a:lnT>
                    <a:lnB>
                      <a:noFill/>
                    </a:lnB>
                    <a:noFill/>
                  </a:tcPr>
                </a:tc>
                <a:tc>
                  <a:txBody>
                    <a:bodyPr/>
                    <a:lstStyle/>
                    <a:p>
                      <a:pPr algn="ctr"/>
                      <a:r>
                        <a:rPr lang="en-IN" sz="1600" dirty="0">
                          <a:effectLst/>
                        </a:rPr>
                        <a:t>W(Y)</a:t>
                      </a:r>
                    </a:p>
                  </a:txBody>
                  <a:tcPr marL="83680" marR="83680" marT="41840" marB="41840" anchor="ctr">
                    <a:lnL>
                      <a:noFill/>
                    </a:lnL>
                    <a:lnR>
                      <a:noFill/>
                    </a:lnR>
                    <a:lnT>
                      <a:noFill/>
                    </a:lnT>
                    <a:lnB>
                      <a:noFill/>
                    </a:lnB>
                    <a:noFill/>
                  </a:tcPr>
                </a:tc>
                <a:extLst>
                  <a:ext uri="{0D108BD9-81ED-4DB2-BD59-A6C34878D82A}">
                    <a16:rowId xmlns:a16="http://schemas.microsoft.com/office/drawing/2014/main" val="2942523208"/>
                  </a:ext>
                </a:extLst>
              </a:tr>
            </a:tbl>
          </a:graphicData>
        </a:graphic>
      </p:graphicFrame>
      <p:cxnSp>
        <p:nvCxnSpPr>
          <p:cNvPr id="3" name="Straight Connector 2">
            <a:extLst>
              <a:ext uri="{FF2B5EF4-FFF2-40B4-BE49-F238E27FC236}">
                <a16:creationId xmlns:a16="http://schemas.microsoft.com/office/drawing/2014/main" id="{6F50476E-BF33-DBA6-4D6A-3EDE70E53D04}"/>
              </a:ext>
            </a:extLst>
          </p:cNvPr>
          <p:cNvCxnSpPr/>
          <p:nvPr/>
        </p:nvCxnSpPr>
        <p:spPr>
          <a:xfrm>
            <a:off x="5869172" y="2514274"/>
            <a:ext cx="0" cy="425776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0863154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6671BF3-D290-D942-41B7-A37FFA48A9EC}"/>
              </a:ext>
            </a:extLst>
          </p:cNvPr>
          <p:cNvSpPr txBox="1"/>
          <p:nvPr/>
        </p:nvSpPr>
        <p:spPr>
          <a:xfrm>
            <a:off x="630622" y="861729"/>
            <a:ext cx="11077902" cy="59093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Condition 1: Initial Read</a:t>
            </a:r>
          </a:p>
          <a:p>
            <a:pPr eaLnBrk="0" fontAlgn="base" hangingPunct="0">
              <a:spcBef>
                <a:spcPct val="0"/>
              </a:spcBef>
              <a:spcAft>
                <a:spcPct val="0"/>
              </a:spcAft>
            </a:pPr>
            <a:r>
              <a:rPr lang="en-US" altLang="en-US" dirty="0"/>
              <a:t>Initially if transaction T1 of Schedule S1 reads data item X, then transaction T1 of Schedule S2 must read data item X initially as well.</a:t>
            </a:r>
          </a:p>
          <a:p>
            <a:pPr eaLnBrk="0" fontAlgn="base" hangingPunct="0">
              <a:spcBef>
                <a:spcPct val="0"/>
              </a:spcBef>
              <a:spcAft>
                <a:spcPct val="0"/>
              </a:spcAft>
            </a:pPr>
            <a:r>
              <a:rPr lang="en-US" altLang="en-US" dirty="0"/>
              <a:t>In the example above, the Initial read is made by the T1 transaction for both the data items X and Y in Schedule S1 and in S2 as well as initial read is made by transaction T1 for both. Thus, the initial read condition is satisfied in S1 and S2 for data items X and Y.</a:t>
            </a:r>
          </a:p>
          <a:p>
            <a:pPr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Condition 2: Update Read</a:t>
            </a:r>
          </a:p>
          <a:p>
            <a:pPr eaLnBrk="0" fontAlgn="base" hangingPunct="0">
              <a:spcBef>
                <a:spcPct val="0"/>
              </a:spcBef>
              <a:spcAft>
                <a:spcPct val="0"/>
              </a:spcAft>
            </a:pPr>
            <a:r>
              <a:rPr lang="en-US" altLang="en-US" dirty="0"/>
              <a:t>If transaction Ti is reading updated data item X by transaction </a:t>
            </a:r>
            <a:r>
              <a:rPr lang="en-US" altLang="en-US" dirty="0" err="1"/>
              <a:t>Tj</a:t>
            </a:r>
            <a:r>
              <a:rPr lang="en-US" altLang="en-US" dirty="0"/>
              <a:t> in S1, then in Schedule S2 Ti should read X which is updated by </a:t>
            </a:r>
            <a:r>
              <a:rPr lang="en-US" altLang="en-US" dirty="0" err="1"/>
              <a:t>Tj</a:t>
            </a:r>
            <a:r>
              <a:rPr lang="en-US" altLang="en-US" dirty="0"/>
              <a:t>.</a:t>
            </a:r>
          </a:p>
          <a:p>
            <a:pPr eaLnBrk="0" fontAlgn="base" hangingPunct="0">
              <a:spcBef>
                <a:spcPct val="0"/>
              </a:spcBef>
              <a:spcAft>
                <a:spcPct val="0"/>
              </a:spcAft>
            </a:pPr>
            <a:r>
              <a:rPr lang="en-US" altLang="en-US" dirty="0"/>
              <a:t>The value of X and Y is updated by transaction T1 in schedule S1, which is read by transaction T2. In Schedule S2 the X and Y data items are updated by T1 and are read by T2 as well. Thus, in the above two schedules, the update read condition is also satisfied.</a:t>
            </a:r>
          </a:p>
          <a:p>
            <a:pPr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Condition 3: Final Write</a:t>
            </a:r>
          </a:p>
          <a:p>
            <a:pPr eaLnBrk="0" fontAlgn="base" hangingPunct="0">
              <a:spcBef>
                <a:spcPct val="0"/>
              </a:spcBef>
              <a:spcAft>
                <a:spcPct val="0"/>
              </a:spcAft>
            </a:pPr>
            <a:r>
              <a:rPr lang="en-US" altLang="en-US" dirty="0"/>
              <a:t>If transaction T1 updates data item Y at last in S1, then in S2 also, T1 should perform the final write operation on Y.</a:t>
            </a:r>
          </a:p>
          <a:p>
            <a:pPr eaLnBrk="0" fontAlgn="base" hangingPunct="0">
              <a:spcBef>
                <a:spcPct val="0"/>
              </a:spcBef>
              <a:spcAft>
                <a:spcPct val="0"/>
              </a:spcAft>
            </a:pPr>
            <a:r>
              <a:rPr lang="en-US" altLang="en-US" dirty="0"/>
              <a:t>The final write for data items X and Y are made by Transaction T2 in Schedule S1. Also, the final write is made by T2 in Schedule S2 in Schedule S1 as well as serial schedule S2. Thus, the condition for the final write is also satisfied.</a:t>
            </a:r>
          </a:p>
          <a:p>
            <a:pPr marR="0" lvl="0" indent="0" eaLnBrk="0" fontAlgn="base" hangingPunct="0">
              <a:lnSpc>
                <a:spcPct val="100000"/>
              </a:lnSpc>
              <a:spcBef>
                <a:spcPct val="0"/>
              </a:spcBef>
              <a:spcAft>
                <a:spcPct val="0"/>
              </a:spcAft>
              <a:buClrTx/>
              <a:buSzTx/>
              <a:buFontTx/>
              <a:buNone/>
              <a:tabLst/>
            </a:pPr>
            <a:r>
              <a:rPr lang="en-US" altLang="en-US" b="1" dirty="0"/>
              <a:t>Result</a:t>
            </a:r>
          </a:p>
          <a:p>
            <a:pPr marR="0" lvl="0" indent="0" eaLnBrk="0" fontAlgn="base" hangingPunct="0">
              <a:lnSpc>
                <a:spcPct val="100000"/>
              </a:lnSpc>
              <a:spcBef>
                <a:spcPct val="0"/>
              </a:spcBef>
              <a:spcAft>
                <a:spcPct val="0"/>
              </a:spcAft>
              <a:buClrTx/>
              <a:buSzTx/>
              <a:buFontTx/>
              <a:buNone/>
              <a:tabLst/>
            </a:pPr>
            <a:r>
              <a:rPr lang="en-US" altLang="en-US" dirty="0"/>
              <a:t>As all three conditions are satisfied for our schedule S1 and its Serial Schedule S2, they are view equivalent. Thus, we can say that the given schedule S1 is the view-serializable schedule and is consistent.</a:t>
            </a:r>
          </a:p>
          <a:p>
            <a:pPr eaLnBrk="0" fontAlgn="base" hangingPunct="0">
              <a:spcBef>
                <a:spcPct val="0"/>
              </a:spcBef>
              <a:spcAft>
                <a:spcPct val="0"/>
              </a:spcAft>
            </a:pPr>
            <a:endParaRPr lang="en-US" altLang="en-US" dirty="0"/>
          </a:p>
          <a:p>
            <a:pPr eaLnBrk="0" fontAlgn="base" hangingPunct="0">
              <a:spcBef>
                <a:spcPct val="0"/>
              </a:spcBef>
              <a:spcAft>
                <a:spcPct val="0"/>
              </a:spcAft>
            </a:pPr>
            <a:endParaRPr lang="en-US" altLang="en-US" dirty="0"/>
          </a:p>
        </p:txBody>
      </p:sp>
    </p:spTree>
    <p:extLst>
      <p:ext uri="{BB962C8B-B14F-4D97-AF65-F5344CB8AC3E}">
        <p14:creationId xmlns:p14="http://schemas.microsoft.com/office/powerpoint/2010/main" val="18465536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95459"/>
            <a:ext cx="10515600" cy="5481504"/>
          </a:xfrm>
        </p:spPr>
        <p:txBody>
          <a:bodyPr/>
          <a:lstStyle/>
          <a:p>
            <a:pPr fontAlgn="base"/>
            <a:r>
              <a:rPr lang="en-US" b="1" u="sng" dirty="0"/>
              <a:t>Method-02: </a:t>
            </a:r>
            <a:r>
              <a:rPr lang="en-US" b="1" dirty="0"/>
              <a:t>Conflict Serializability and Dependency Graph</a:t>
            </a:r>
          </a:p>
          <a:p>
            <a:pPr fontAlgn="base"/>
            <a:r>
              <a:rPr lang="en-US" b="1" u="sng" dirty="0"/>
              <a:t>Checking Whether a Schedule is View Serializable Or Not</a:t>
            </a:r>
            <a:endParaRPr lang="en-US" b="1" dirty="0"/>
          </a:p>
          <a:p>
            <a:pPr marL="0" indent="0" fontAlgn="base">
              <a:buNone/>
            </a:pPr>
            <a:r>
              <a:rPr lang="en-US" b="1" u="sng" dirty="0"/>
              <a:t>Step-01:</a:t>
            </a:r>
            <a:endParaRPr lang="en-US" b="1" dirty="0"/>
          </a:p>
          <a:p>
            <a:pPr fontAlgn="base"/>
            <a:r>
              <a:rPr lang="en-US" dirty="0"/>
              <a:t>Check whether the given schedule is conflict serializable or not.</a:t>
            </a:r>
          </a:p>
          <a:p>
            <a:pPr fontAlgn="base"/>
            <a:r>
              <a:rPr lang="en-US" dirty="0"/>
              <a:t>If the given schedule is conflict serializable, then it is surely view serializable. Stop and report your answer.</a:t>
            </a:r>
          </a:p>
          <a:p>
            <a:pPr fontAlgn="base"/>
            <a:r>
              <a:rPr lang="en-US" dirty="0"/>
              <a:t>If the given schedule is not conflict serializable, then it may or may not be view serializable. Go and check using other methods.</a:t>
            </a:r>
          </a:p>
          <a:p>
            <a:pPr marL="0" indent="0" fontAlgn="base">
              <a:buNone/>
            </a:pPr>
            <a:r>
              <a:rPr lang="en-US" dirty="0"/>
              <a:t> </a:t>
            </a:r>
          </a:p>
          <a:p>
            <a:pPr marL="0" indent="0">
              <a:buNone/>
            </a:pPr>
            <a:endParaRPr lang="en-US" dirty="0"/>
          </a:p>
        </p:txBody>
      </p:sp>
      <p:pic>
        <p:nvPicPr>
          <p:cNvPr id="4" name="Picture 3"/>
          <p:cNvPicPr>
            <a:picLocks noChangeAspect="1"/>
          </p:cNvPicPr>
          <p:nvPr/>
        </p:nvPicPr>
        <p:blipFill>
          <a:blip r:embed="rId2"/>
          <a:stretch>
            <a:fillRect/>
          </a:stretch>
        </p:blipFill>
        <p:spPr>
          <a:xfrm>
            <a:off x="2112135" y="4375796"/>
            <a:ext cx="8887169" cy="1892482"/>
          </a:xfrm>
          <a:prstGeom prst="rect">
            <a:avLst/>
          </a:prstGeom>
        </p:spPr>
      </p:pic>
    </p:spTree>
    <p:extLst>
      <p:ext uri="{BB962C8B-B14F-4D97-AF65-F5344CB8AC3E}">
        <p14:creationId xmlns:p14="http://schemas.microsoft.com/office/powerpoint/2010/main" val="11427175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2404"/>
            <a:ext cx="10515600" cy="5636050"/>
          </a:xfrm>
        </p:spPr>
        <p:txBody>
          <a:bodyPr/>
          <a:lstStyle/>
          <a:p>
            <a:r>
              <a:rPr lang="en-US" b="1" u="sng" dirty="0"/>
              <a:t>Step-02:</a:t>
            </a:r>
            <a:endParaRPr lang="en-US" b="1" dirty="0"/>
          </a:p>
          <a:p>
            <a:pPr fontAlgn="base"/>
            <a:r>
              <a:rPr lang="en-US" dirty="0"/>
              <a:t>Check if there exists any blind write operation.</a:t>
            </a:r>
          </a:p>
          <a:p>
            <a:pPr fontAlgn="base"/>
            <a:r>
              <a:rPr lang="en-US" dirty="0"/>
              <a:t>(Writing without reading is called as a blind write).</a:t>
            </a:r>
          </a:p>
          <a:p>
            <a:pPr fontAlgn="base"/>
            <a:r>
              <a:rPr lang="en-US" dirty="0"/>
              <a:t>If there does not exist any blind write, then the schedule is surely not view serializable. Stop and report your answer.</a:t>
            </a:r>
          </a:p>
          <a:p>
            <a:pPr fontAlgn="base"/>
            <a:r>
              <a:rPr lang="en-US" dirty="0"/>
              <a:t>If there exists any blind write, then the schedule may or may not be view serializable. Go and check using other methods.</a:t>
            </a:r>
          </a:p>
          <a:p>
            <a:endParaRPr lang="en-US" dirty="0"/>
          </a:p>
        </p:txBody>
      </p:sp>
      <p:pic>
        <p:nvPicPr>
          <p:cNvPr id="5" name="Picture 4"/>
          <p:cNvPicPr>
            <a:picLocks noChangeAspect="1"/>
          </p:cNvPicPr>
          <p:nvPr/>
        </p:nvPicPr>
        <p:blipFill>
          <a:blip r:embed="rId2"/>
          <a:stretch>
            <a:fillRect/>
          </a:stretch>
        </p:blipFill>
        <p:spPr>
          <a:xfrm>
            <a:off x="1506828" y="3835660"/>
            <a:ext cx="9556124" cy="1896746"/>
          </a:xfrm>
          <a:prstGeom prst="rect">
            <a:avLst/>
          </a:prstGeom>
        </p:spPr>
      </p:pic>
    </p:spTree>
    <p:extLst>
      <p:ext uri="{BB962C8B-B14F-4D97-AF65-F5344CB8AC3E}">
        <p14:creationId xmlns:p14="http://schemas.microsoft.com/office/powerpoint/2010/main" val="16562054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1065"/>
            <a:ext cx="10515600" cy="5545898"/>
          </a:xfrm>
        </p:spPr>
        <p:txBody>
          <a:bodyPr/>
          <a:lstStyle/>
          <a:p>
            <a:pPr fontAlgn="base"/>
            <a:r>
              <a:rPr lang="en-US" b="1" u="sng" dirty="0"/>
              <a:t>Step-03:</a:t>
            </a:r>
            <a:endParaRPr lang="en-US" b="1" dirty="0"/>
          </a:p>
          <a:p>
            <a:pPr marL="0" indent="0" fontAlgn="base">
              <a:buNone/>
            </a:pPr>
            <a:endParaRPr lang="en-US" dirty="0"/>
          </a:p>
          <a:p>
            <a:pPr fontAlgn="base"/>
            <a:r>
              <a:rPr lang="en-US" dirty="0"/>
              <a:t>In this method, try finding a view equivalent serial schedule.</a:t>
            </a:r>
          </a:p>
          <a:p>
            <a:pPr fontAlgn="base"/>
            <a:r>
              <a:rPr lang="en-US" dirty="0"/>
              <a:t>By using the above three conditions, write all the dependencies.</a:t>
            </a:r>
          </a:p>
          <a:p>
            <a:pPr fontAlgn="base"/>
            <a:r>
              <a:rPr lang="en-US" dirty="0"/>
              <a:t>Then, draw a graph using those dependencies.</a:t>
            </a:r>
          </a:p>
          <a:p>
            <a:pPr fontAlgn="base"/>
            <a:r>
              <a:rPr lang="en-US" dirty="0"/>
              <a:t>If there exists no cycle in the graph, then the schedule is view serializable otherwise not.</a:t>
            </a:r>
          </a:p>
          <a:p>
            <a:endParaRPr lang="en-US" dirty="0"/>
          </a:p>
        </p:txBody>
      </p:sp>
    </p:spTree>
    <p:extLst>
      <p:ext uri="{BB962C8B-B14F-4D97-AF65-F5344CB8AC3E}">
        <p14:creationId xmlns:p14="http://schemas.microsoft.com/office/powerpoint/2010/main" val="40945777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0913"/>
            <a:ext cx="10515600" cy="5636050"/>
          </a:xfrm>
        </p:spPr>
        <p:txBody>
          <a:bodyPr/>
          <a:lstStyle/>
          <a:p>
            <a:r>
              <a:rPr lang="en-US" dirty="0"/>
              <a:t>1]Check whether the given schedule S is view serializable or not-</a:t>
            </a:r>
          </a:p>
        </p:txBody>
      </p:sp>
      <p:pic>
        <p:nvPicPr>
          <p:cNvPr id="4" name="Picture 3"/>
          <p:cNvPicPr>
            <a:picLocks noChangeAspect="1"/>
          </p:cNvPicPr>
          <p:nvPr/>
        </p:nvPicPr>
        <p:blipFill>
          <a:blip r:embed="rId2"/>
          <a:stretch>
            <a:fillRect/>
          </a:stretch>
        </p:blipFill>
        <p:spPr>
          <a:xfrm>
            <a:off x="2971800" y="1409700"/>
            <a:ext cx="6248400" cy="4038600"/>
          </a:xfrm>
          <a:prstGeom prst="rect">
            <a:avLst/>
          </a:prstGeom>
        </p:spPr>
      </p:pic>
      <p:sp>
        <p:nvSpPr>
          <p:cNvPr id="2" name="Slide Number Placeholder 1">
            <a:extLst>
              <a:ext uri="{FF2B5EF4-FFF2-40B4-BE49-F238E27FC236}">
                <a16:creationId xmlns:a16="http://schemas.microsoft.com/office/drawing/2014/main" id="{1E1C8E40-9583-7F79-0E69-B68D7D554A62}"/>
              </a:ext>
            </a:extLst>
          </p:cNvPr>
          <p:cNvSpPr>
            <a:spLocks noGrp="1"/>
          </p:cNvSpPr>
          <p:nvPr>
            <p:ph type="sldNum" sz="quarter" idx="12"/>
          </p:nvPr>
        </p:nvSpPr>
        <p:spPr/>
        <p:txBody>
          <a:bodyPr/>
          <a:lstStyle/>
          <a:p>
            <a:fld id="{9BED7385-1A27-4338-8D43-B2B3002AB878}" type="slidenum">
              <a:rPr lang="en-US" smtClean="0"/>
              <a:t>75</a:t>
            </a:fld>
            <a:endParaRPr lang="en-US"/>
          </a:p>
        </p:txBody>
      </p:sp>
    </p:spTree>
    <p:extLst>
      <p:ext uri="{BB962C8B-B14F-4D97-AF65-F5344CB8AC3E}">
        <p14:creationId xmlns:p14="http://schemas.microsoft.com/office/powerpoint/2010/main" val="180985829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33365"/>
          </a:xfrm>
        </p:spPr>
        <p:txBody>
          <a:bodyPr>
            <a:normAutofit fontScale="90000"/>
          </a:bodyPr>
          <a:lstStyle/>
          <a:p>
            <a:pPr fontAlgn="base"/>
            <a:r>
              <a:rPr lang="en-US" b="1" u="sng"/>
              <a:t>Solution-</a:t>
            </a:r>
            <a:endParaRPr lang="en-US" b="1"/>
          </a:p>
        </p:txBody>
      </p:sp>
      <p:sp>
        <p:nvSpPr>
          <p:cNvPr id="3" name="Content Placeholder 2"/>
          <p:cNvSpPr>
            <a:spLocks noGrp="1"/>
          </p:cNvSpPr>
          <p:nvPr>
            <p:ph idx="1"/>
          </p:nvPr>
        </p:nvSpPr>
        <p:spPr>
          <a:xfrm>
            <a:off x="838200" y="1004552"/>
            <a:ext cx="10515600" cy="5172411"/>
          </a:xfrm>
        </p:spPr>
        <p:txBody>
          <a:bodyPr>
            <a:normAutofit fontScale="92500" lnSpcReduction="10000"/>
          </a:bodyPr>
          <a:lstStyle/>
          <a:p>
            <a:pPr fontAlgn="base"/>
            <a:r>
              <a:rPr lang="en-US" dirty="0"/>
              <a:t>We know, if a schedule is conflict serializable, then it is surely view serializable.</a:t>
            </a:r>
          </a:p>
          <a:p>
            <a:pPr fontAlgn="base"/>
            <a:r>
              <a:rPr lang="en-US" dirty="0"/>
              <a:t>So, let us check whether the given schedule is conflict serializable or not.</a:t>
            </a:r>
          </a:p>
          <a:p>
            <a:pPr fontAlgn="base"/>
            <a:r>
              <a:rPr lang="en-US" dirty="0"/>
              <a:t>STEP 1:</a:t>
            </a:r>
          </a:p>
          <a:p>
            <a:pPr marL="0" indent="0" fontAlgn="base">
              <a:buNone/>
            </a:pPr>
            <a:r>
              <a:rPr lang="en-US" dirty="0"/>
              <a:t>List all the conflicting operations and determine the dependency between the transactions-</a:t>
            </a:r>
          </a:p>
          <a:p>
            <a:pPr fontAlgn="base"/>
            <a:r>
              <a:rPr lang="en-US" dirty="0"/>
              <a:t>W</a:t>
            </a:r>
            <a:r>
              <a:rPr lang="en-US" baseline="-25000" dirty="0"/>
              <a:t>1</a:t>
            </a:r>
            <a:r>
              <a:rPr lang="en-US" dirty="0"/>
              <a:t>(B) , W</a:t>
            </a:r>
            <a:r>
              <a:rPr lang="en-US" baseline="-25000" dirty="0"/>
              <a:t>2</a:t>
            </a:r>
            <a:r>
              <a:rPr lang="en-US" dirty="0"/>
              <a:t>(B) (T</a:t>
            </a:r>
            <a:r>
              <a:rPr lang="en-US" baseline="-25000" dirty="0"/>
              <a:t>1</a:t>
            </a:r>
            <a:r>
              <a:rPr lang="en-US" dirty="0"/>
              <a:t> → T</a:t>
            </a:r>
            <a:r>
              <a:rPr lang="en-US" baseline="-25000" dirty="0"/>
              <a:t>2</a:t>
            </a:r>
            <a:r>
              <a:rPr lang="en-US" dirty="0"/>
              <a:t>)</a:t>
            </a:r>
          </a:p>
          <a:p>
            <a:pPr fontAlgn="base"/>
            <a:r>
              <a:rPr lang="en-US" dirty="0"/>
              <a:t>W</a:t>
            </a:r>
            <a:r>
              <a:rPr lang="en-US" baseline="-25000" dirty="0"/>
              <a:t>1</a:t>
            </a:r>
            <a:r>
              <a:rPr lang="en-US" dirty="0"/>
              <a:t>(B) , W</a:t>
            </a:r>
            <a:r>
              <a:rPr lang="en-US" baseline="-25000" dirty="0"/>
              <a:t>3</a:t>
            </a:r>
            <a:r>
              <a:rPr lang="en-US" dirty="0"/>
              <a:t>(B) (T</a:t>
            </a:r>
            <a:r>
              <a:rPr lang="en-US" baseline="-25000" dirty="0"/>
              <a:t>1</a:t>
            </a:r>
            <a:r>
              <a:rPr lang="en-US" dirty="0"/>
              <a:t> → T</a:t>
            </a:r>
            <a:r>
              <a:rPr lang="en-US" baseline="-25000" dirty="0"/>
              <a:t>3</a:t>
            </a:r>
            <a:r>
              <a:rPr lang="en-US" dirty="0"/>
              <a:t>)</a:t>
            </a:r>
          </a:p>
          <a:p>
            <a:pPr fontAlgn="base"/>
            <a:r>
              <a:rPr lang="en-US" dirty="0"/>
              <a:t>W</a:t>
            </a:r>
            <a:r>
              <a:rPr lang="en-US" baseline="-25000" dirty="0"/>
              <a:t>1</a:t>
            </a:r>
            <a:r>
              <a:rPr lang="en-US" dirty="0"/>
              <a:t>(B) , W</a:t>
            </a:r>
            <a:r>
              <a:rPr lang="en-US" baseline="-25000" dirty="0"/>
              <a:t>4</a:t>
            </a:r>
            <a:r>
              <a:rPr lang="en-US" dirty="0"/>
              <a:t>(B) (T</a:t>
            </a:r>
            <a:r>
              <a:rPr lang="en-US" baseline="-25000" dirty="0"/>
              <a:t>1</a:t>
            </a:r>
            <a:r>
              <a:rPr lang="en-US" dirty="0"/>
              <a:t> → T</a:t>
            </a:r>
            <a:r>
              <a:rPr lang="en-US" baseline="-25000" dirty="0"/>
              <a:t>4</a:t>
            </a:r>
            <a:r>
              <a:rPr lang="en-US" dirty="0"/>
              <a:t>)</a:t>
            </a:r>
          </a:p>
          <a:p>
            <a:pPr fontAlgn="base"/>
            <a:r>
              <a:rPr lang="en-US" dirty="0"/>
              <a:t>W</a:t>
            </a:r>
            <a:r>
              <a:rPr lang="en-US" baseline="-25000" dirty="0"/>
              <a:t>2</a:t>
            </a:r>
            <a:r>
              <a:rPr lang="en-US" dirty="0"/>
              <a:t>(B) , W</a:t>
            </a:r>
            <a:r>
              <a:rPr lang="en-US" baseline="-25000" dirty="0"/>
              <a:t>3</a:t>
            </a:r>
            <a:r>
              <a:rPr lang="en-US" dirty="0"/>
              <a:t>(B) (T</a:t>
            </a:r>
            <a:r>
              <a:rPr lang="en-US" baseline="-25000" dirty="0"/>
              <a:t>2</a:t>
            </a:r>
            <a:r>
              <a:rPr lang="en-US" dirty="0"/>
              <a:t> → T</a:t>
            </a:r>
            <a:r>
              <a:rPr lang="en-US" baseline="-25000" dirty="0"/>
              <a:t>3</a:t>
            </a:r>
            <a:r>
              <a:rPr lang="en-US" dirty="0"/>
              <a:t>)</a:t>
            </a:r>
          </a:p>
          <a:p>
            <a:pPr fontAlgn="base"/>
            <a:r>
              <a:rPr lang="en-US" dirty="0"/>
              <a:t>W</a:t>
            </a:r>
            <a:r>
              <a:rPr lang="en-US" baseline="-25000" dirty="0"/>
              <a:t>2</a:t>
            </a:r>
            <a:r>
              <a:rPr lang="en-US" dirty="0"/>
              <a:t>(B) , W</a:t>
            </a:r>
            <a:r>
              <a:rPr lang="en-US" baseline="-25000" dirty="0"/>
              <a:t>4</a:t>
            </a:r>
            <a:r>
              <a:rPr lang="en-US" dirty="0"/>
              <a:t>(B) (T</a:t>
            </a:r>
            <a:r>
              <a:rPr lang="en-US" baseline="-25000" dirty="0"/>
              <a:t>2</a:t>
            </a:r>
            <a:r>
              <a:rPr lang="en-US" dirty="0"/>
              <a:t> → T</a:t>
            </a:r>
            <a:r>
              <a:rPr lang="en-US" baseline="-25000" dirty="0"/>
              <a:t>4</a:t>
            </a:r>
            <a:r>
              <a:rPr lang="en-US" dirty="0"/>
              <a:t>)</a:t>
            </a:r>
          </a:p>
          <a:p>
            <a:pPr fontAlgn="base"/>
            <a:r>
              <a:rPr lang="en-US" dirty="0"/>
              <a:t>W</a:t>
            </a:r>
            <a:r>
              <a:rPr lang="en-US" baseline="-25000" dirty="0"/>
              <a:t>3</a:t>
            </a:r>
            <a:r>
              <a:rPr lang="en-US" dirty="0"/>
              <a:t>(B) , W</a:t>
            </a:r>
            <a:r>
              <a:rPr lang="en-US" baseline="-25000" dirty="0"/>
              <a:t>4</a:t>
            </a:r>
            <a:r>
              <a:rPr lang="en-US" dirty="0"/>
              <a:t>(B) (T</a:t>
            </a:r>
            <a:r>
              <a:rPr lang="en-US" baseline="-25000" dirty="0"/>
              <a:t>3</a:t>
            </a:r>
            <a:r>
              <a:rPr lang="en-US" dirty="0"/>
              <a:t> → T</a:t>
            </a:r>
            <a:r>
              <a:rPr lang="en-US" baseline="-25000" dirty="0"/>
              <a:t>4</a:t>
            </a:r>
            <a:r>
              <a:rPr lang="en-US" dirty="0"/>
              <a:t>)</a:t>
            </a:r>
          </a:p>
          <a:p>
            <a:endParaRPr lang="en-US" dirty="0"/>
          </a:p>
        </p:txBody>
      </p:sp>
      <p:sp>
        <p:nvSpPr>
          <p:cNvPr id="4" name="Slide Number Placeholder 3">
            <a:extLst>
              <a:ext uri="{FF2B5EF4-FFF2-40B4-BE49-F238E27FC236}">
                <a16:creationId xmlns:a16="http://schemas.microsoft.com/office/drawing/2014/main" id="{72FC6272-1631-E715-D593-5739BC0CA057}"/>
              </a:ext>
            </a:extLst>
          </p:cNvPr>
          <p:cNvSpPr>
            <a:spLocks noGrp="1"/>
          </p:cNvSpPr>
          <p:nvPr>
            <p:ph type="sldNum" sz="quarter" idx="12"/>
          </p:nvPr>
        </p:nvSpPr>
        <p:spPr/>
        <p:txBody>
          <a:bodyPr/>
          <a:lstStyle/>
          <a:p>
            <a:fld id="{9BED7385-1A27-4338-8D43-B2B3002AB878}" type="slidenum">
              <a:rPr lang="en-US" smtClean="0"/>
              <a:t>76</a:t>
            </a:fld>
            <a:endParaRPr lang="en-US"/>
          </a:p>
        </p:txBody>
      </p:sp>
    </p:spTree>
    <p:extLst>
      <p:ext uri="{BB962C8B-B14F-4D97-AF65-F5344CB8AC3E}">
        <p14:creationId xmlns:p14="http://schemas.microsoft.com/office/powerpoint/2010/main" val="150431351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8034"/>
            <a:ext cx="10515600" cy="5648929"/>
          </a:xfrm>
        </p:spPr>
        <p:txBody>
          <a:bodyPr/>
          <a:lstStyle/>
          <a:p>
            <a:pPr fontAlgn="base"/>
            <a:r>
              <a:rPr lang="en-US" b="1" u="sng" dirty="0"/>
              <a:t>Step-02:</a:t>
            </a:r>
            <a:endParaRPr lang="en-US" b="1" dirty="0"/>
          </a:p>
          <a:p>
            <a:pPr fontAlgn="base"/>
            <a:r>
              <a:rPr lang="en-US" dirty="0"/>
              <a:t>Draw the precedence graph-</a:t>
            </a:r>
          </a:p>
          <a:p>
            <a:endParaRPr lang="en-US" dirty="0"/>
          </a:p>
        </p:txBody>
      </p:sp>
      <p:pic>
        <p:nvPicPr>
          <p:cNvPr id="5" name="Picture 4"/>
          <p:cNvPicPr>
            <a:picLocks noChangeAspect="1"/>
          </p:cNvPicPr>
          <p:nvPr/>
        </p:nvPicPr>
        <p:blipFill>
          <a:blip r:embed="rId2"/>
          <a:stretch>
            <a:fillRect/>
          </a:stretch>
        </p:blipFill>
        <p:spPr>
          <a:xfrm>
            <a:off x="1429555" y="1829001"/>
            <a:ext cx="8306873" cy="4288464"/>
          </a:xfrm>
          <a:prstGeom prst="rect">
            <a:avLst/>
          </a:prstGeom>
        </p:spPr>
      </p:pic>
      <p:sp>
        <p:nvSpPr>
          <p:cNvPr id="2" name="Slide Number Placeholder 1">
            <a:extLst>
              <a:ext uri="{FF2B5EF4-FFF2-40B4-BE49-F238E27FC236}">
                <a16:creationId xmlns:a16="http://schemas.microsoft.com/office/drawing/2014/main" id="{6C0EAB9B-A7F8-BA02-BACB-802BF3F3B9F8}"/>
              </a:ext>
            </a:extLst>
          </p:cNvPr>
          <p:cNvSpPr>
            <a:spLocks noGrp="1"/>
          </p:cNvSpPr>
          <p:nvPr>
            <p:ph type="sldNum" sz="quarter" idx="12"/>
          </p:nvPr>
        </p:nvSpPr>
        <p:spPr/>
        <p:txBody>
          <a:bodyPr/>
          <a:lstStyle/>
          <a:p>
            <a:fld id="{9BED7385-1A27-4338-8D43-B2B3002AB878}" type="slidenum">
              <a:rPr lang="en-US" smtClean="0"/>
              <a:t>77</a:t>
            </a:fld>
            <a:endParaRPr lang="en-US"/>
          </a:p>
        </p:txBody>
      </p:sp>
    </p:spTree>
    <p:extLst>
      <p:ext uri="{BB962C8B-B14F-4D97-AF65-F5344CB8AC3E}">
        <p14:creationId xmlns:p14="http://schemas.microsoft.com/office/powerpoint/2010/main" val="19939596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1668"/>
            <a:ext cx="10515600" cy="6035295"/>
          </a:xfrm>
        </p:spPr>
        <p:txBody>
          <a:bodyPr>
            <a:normAutofit lnSpcReduction="10000"/>
          </a:bodyPr>
          <a:lstStyle/>
          <a:p>
            <a:pPr fontAlgn="base"/>
            <a:endParaRPr lang="en-US" dirty="0"/>
          </a:p>
          <a:p>
            <a:pPr fontAlgn="base"/>
            <a:r>
              <a:rPr lang="en-US" dirty="0"/>
              <a:t>2]Check whether the given schedule S is view serializable or not-</a:t>
            </a:r>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r>
              <a:rPr lang="en-US" dirty="0"/>
              <a:t>We know, if a schedule is conflict serializable, then it is surely view serializable.</a:t>
            </a:r>
          </a:p>
          <a:p>
            <a:pPr fontAlgn="base"/>
            <a:r>
              <a:rPr lang="en-US" dirty="0"/>
              <a:t>So,  let us check whether the given schedule is conflict serializable or not.</a:t>
            </a:r>
          </a:p>
        </p:txBody>
      </p:sp>
      <p:pic>
        <p:nvPicPr>
          <p:cNvPr id="4" name="Picture 3"/>
          <p:cNvPicPr>
            <a:picLocks noChangeAspect="1"/>
          </p:cNvPicPr>
          <p:nvPr/>
        </p:nvPicPr>
        <p:blipFill>
          <a:blip r:embed="rId2"/>
          <a:stretch>
            <a:fillRect/>
          </a:stretch>
        </p:blipFill>
        <p:spPr>
          <a:xfrm>
            <a:off x="2829462" y="1120464"/>
            <a:ext cx="4781550" cy="2942889"/>
          </a:xfrm>
          <a:prstGeom prst="rect">
            <a:avLst/>
          </a:prstGeom>
        </p:spPr>
      </p:pic>
      <p:sp>
        <p:nvSpPr>
          <p:cNvPr id="2" name="Slide Number Placeholder 1">
            <a:extLst>
              <a:ext uri="{FF2B5EF4-FFF2-40B4-BE49-F238E27FC236}">
                <a16:creationId xmlns:a16="http://schemas.microsoft.com/office/drawing/2014/main" id="{FFC44123-F046-4521-7C3D-3A5C6F9C282F}"/>
              </a:ext>
            </a:extLst>
          </p:cNvPr>
          <p:cNvSpPr>
            <a:spLocks noGrp="1"/>
          </p:cNvSpPr>
          <p:nvPr>
            <p:ph type="sldNum" sz="quarter" idx="12"/>
          </p:nvPr>
        </p:nvSpPr>
        <p:spPr/>
        <p:txBody>
          <a:bodyPr/>
          <a:lstStyle/>
          <a:p>
            <a:fld id="{9BED7385-1A27-4338-8D43-B2B3002AB878}" type="slidenum">
              <a:rPr lang="en-US" smtClean="0"/>
              <a:t>78</a:t>
            </a:fld>
            <a:endParaRPr lang="en-US"/>
          </a:p>
        </p:txBody>
      </p:sp>
    </p:spTree>
    <p:extLst>
      <p:ext uri="{BB962C8B-B14F-4D97-AF65-F5344CB8AC3E}">
        <p14:creationId xmlns:p14="http://schemas.microsoft.com/office/powerpoint/2010/main" val="35171238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1065"/>
            <a:ext cx="10515600" cy="5545898"/>
          </a:xfrm>
        </p:spPr>
        <p:txBody>
          <a:bodyPr/>
          <a:lstStyle/>
          <a:p>
            <a:r>
              <a:rPr lang="en-US" dirty="0"/>
              <a:t>List all the conflicting operations and determine the dependency between the transactions-</a:t>
            </a:r>
          </a:p>
          <a:p>
            <a:pPr fontAlgn="base"/>
            <a:r>
              <a:rPr lang="en-US" dirty="0"/>
              <a:t>R</a:t>
            </a:r>
            <a:r>
              <a:rPr lang="en-US" baseline="-25000" dirty="0"/>
              <a:t>1</a:t>
            </a:r>
            <a:r>
              <a:rPr lang="en-US" dirty="0"/>
              <a:t>(A) , W</a:t>
            </a:r>
            <a:r>
              <a:rPr lang="en-US" baseline="-25000" dirty="0"/>
              <a:t>3</a:t>
            </a:r>
            <a:r>
              <a:rPr lang="en-US" dirty="0"/>
              <a:t>(A) (T</a:t>
            </a:r>
            <a:r>
              <a:rPr lang="en-US" baseline="-25000" dirty="0"/>
              <a:t>1</a:t>
            </a:r>
            <a:r>
              <a:rPr lang="en-US" dirty="0"/>
              <a:t> → T</a:t>
            </a:r>
            <a:r>
              <a:rPr lang="en-US" baseline="-25000" dirty="0"/>
              <a:t>3</a:t>
            </a:r>
            <a:r>
              <a:rPr lang="en-US" dirty="0"/>
              <a:t>)</a:t>
            </a:r>
          </a:p>
          <a:p>
            <a:pPr fontAlgn="base"/>
            <a:r>
              <a:rPr lang="en-US" dirty="0"/>
              <a:t>R</a:t>
            </a:r>
            <a:r>
              <a:rPr lang="en-US" baseline="-25000" dirty="0"/>
              <a:t>2</a:t>
            </a:r>
            <a:r>
              <a:rPr lang="en-US" dirty="0"/>
              <a:t>(A) , W</a:t>
            </a:r>
            <a:r>
              <a:rPr lang="en-US" baseline="-25000" dirty="0"/>
              <a:t>3</a:t>
            </a:r>
            <a:r>
              <a:rPr lang="en-US" dirty="0"/>
              <a:t>(A) (T</a:t>
            </a:r>
            <a:r>
              <a:rPr lang="en-US" baseline="-25000" dirty="0"/>
              <a:t>2</a:t>
            </a:r>
            <a:r>
              <a:rPr lang="en-US" dirty="0"/>
              <a:t> → T</a:t>
            </a:r>
            <a:r>
              <a:rPr lang="en-US" baseline="-25000" dirty="0"/>
              <a:t>3</a:t>
            </a:r>
            <a:r>
              <a:rPr lang="en-US" dirty="0"/>
              <a:t>)</a:t>
            </a:r>
          </a:p>
          <a:p>
            <a:pPr fontAlgn="base"/>
            <a:r>
              <a:rPr lang="en-US" dirty="0"/>
              <a:t>R</a:t>
            </a:r>
            <a:r>
              <a:rPr lang="en-US" baseline="-25000" dirty="0"/>
              <a:t>2</a:t>
            </a:r>
            <a:r>
              <a:rPr lang="en-US" dirty="0"/>
              <a:t>(A) , W</a:t>
            </a:r>
            <a:r>
              <a:rPr lang="en-US" baseline="-25000" dirty="0"/>
              <a:t>1</a:t>
            </a:r>
            <a:r>
              <a:rPr lang="en-US" dirty="0"/>
              <a:t>(A) (T</a:t>
            </a:r>
            <a:r>
              <a:rPr lang="en-US" baseline="-25000" dirty="0"/>
              <a:t>2</a:t>
            </a:r>
            <a:r>
              <a:rPr lang="en-US" dirty="0"/>
              <a:t> → T</a:t>
            </a:r>
            <a:r>
              <a:rPr lang="en-US" baseline="-25000" dirty="0"/>
              <a:t>1</a:t>
            </a:r>
            <a:r>
              <a:rPr lang="en-US" dirty="0"/>
              <a:t>)</a:t>
            </a:r>
          </a:p>
          <a:p>
            <a:pPr fontAlgn="base"/>
            <a:r>
              <a:rPr lang="en-US" dirty="0"/>
              <a:t>W</a:t>
            </a:r>
            <a:r>
              <a:rPr lang="en-US" baseline="-25000" dirty="0"/>
              <a:t>3</a:t>
            </a:r>
            <a:r>
              <a:rPr lang="en-US" dirty="0"/>
              <a:t>(A) , W</a:t>
            </a:r>
            <a:r>
              <a:rPr lang="en-US" baseline="-25000" dirty="0"/>
              <a:t>1</a:t>
            </a:r>
            <a:r>
              <a:rPr lang="en-US" dirty="0"/>
              <a:t>(A) (T</a:t>
            </a:r>
            <a:r>
              <a:rPr lang="en-US" baseline="-25000" dirty="0"/>
              <a:t>3</a:t>
            </a:r>
            <a:r>
              <a:rPr lang="en-US" dirty="0"/>
              <a:t> → T</a:t>
            </a:r>
            <a:r>
              <a:rPr lang="en-US" baseline="-25000" dirty="0"/>
              <a:t>1</a:t>
            </a:r>
            <a:r>
              <a:rPr lang="en-US" dirty="0"/>
              <a:t>)</a:t>
            </a:r>
          </a:p>
          <a:p>
            <a:pPr marL="0" indent="0" fontAlgn="base">
              <a:buNone/>
            </a:pPr>
            <a:r>
              <a:rPr lang="en-US" dirty="0"/>
              <a:t> </a:t>
            </a:r>
          </a:p>
          <a:p>
            <a:pPr marL="0" indent="0">
              <a:buNone/>
            </a:pPr>
            <a:endParaRPr lang="en-US" dirty="0"/>
          </a:p>
        </p:txBody>
      </p:sp>
      <p:pic>
        <p:nvPicPr>
          <p:cNvPr id="4" name="Picture 3"/>
          <p:cNvPicPr>
            <a:picLocks noChangeAspect="1"/>
          </p:cNvPicPr>
          <p:nvPr/>
        </p:nvPicPr>
        <p:blipFill>
          <a:blip r:embed="rId2"/>
          <a:stretch>
            <a:fillRect/>
          </a:stretch>
        </p:blipFill>
        <p:spPr>
          <a:xfrm>
            <a:off x="4893972" y="1707792"/>
            <a:ext cx="6697013" cy="4345278"/>
          </a:xfrm>
          <a:prstGeom prst="rect">
            <a:avLst/>
          </a:prstGeom>
        </p:spPr>
      </p:pic>
      <p:sp>
        <p:nvSpPr>
          <p:cNvPr id="2" name="Slide Number Placeholder 1">
            <a:extLst>
              <a:ext uri="{FF2B5EF4-FFF2-40B4-BE49-F238E27FC236}">
                <a16:creationId xmlns:a16="http://schemas.microsoft.com/office/drawing/2014/main" id="{DCBA61A3-495E-C319-C49B-9243CEFD446B}"/>
              </a:ext>
            </a:extLst>
          </p:cNvPr>
          <p:cNvSpPr>
            <a:spLocks noGrp="1"/>
          </p:cNvSpPr>
          <p:nvPr>
            <p:ph type="sldNum" sz="quarter" idx="12"/>
          </p:nvPr>
        </p:nvSpPr>
        <p:spPr/>
        <p:txBody>
          <a:bodyPr/>
          <a:lstStyle/>
          <a:p>
            <a:fld id="{9BED7385-1A27-4338-8D43-B2B3002AB878}" type="slidenum">
              <a:rPr lang="en-US" smtClean="0"/>
              <a:t>79</a:t>
            </a:fld>
            <a:endParaRPr lang="en-US"/>
          </a:p>
        </p:txBody>
      </p:sp>
    </p:spTree>
    <p:extLst>
      <p:ext uri="{BB962C8B-B14F-4D97-AF65-F5344CB8AC3E}">
        <p14:creationId xmlns:p14="http://schemas.microsoft.com/office/powerpoint/2010/main" val="34283259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5155"/>
            <a:ext cx="10515600" cy="5661808"/>
          </a:xfrm>
        </p:spPr>
        <p:txBody>
          <a:bodyPr>
            <a:normAutofit/>
          </a:bodyPr>
          <a:lstStyle/>
          <a:p>
            <a:pPr fontAlgn="base"/>
            <a:r>
              <a:rPr lang="en-US" dirty="0"/>
              <a:t>Now, Since, the given schedule S is not conflict serializable, so, it may or may not be view serializable.</a:t>
            </a:r>
          </a:p>
          <a:p>
            <a:pPr fontAlgn="base"/>
            <a:r>
              <a:rPr lang="en-US" dirty="0"/>
              <a:t>To check whether S is view serializable or not, let us use another method.</a:t>
            </a:r>
          </a:p>
          <a:p>
            <a:pPr marL="0" indent="0" fontAlgn="base">
              <a:buNone/>
            </a:pPr>
            <a:r>
              <a:rPr lang="en-US" dirty="0"/>
              <a:t>Let us check for blind writes.</a:t>
            </a:r>
          </a:p>
          <a:p>
            <a:pPr fontAlgn="base"/>
            <a:r>
              <a:rPr lang="en-US" b="1" u="sng" dirty="0"/>
              <a:t>Checking for Blind Writes-</a:t>
            </a:r>
            <a:endParaRPr lang="en-US" b="1" dirty="0"/>
          </a:p>
          <a:p>
            <a:pPr fontAlgn="base"/>
            <a:r>
              <a:rPr lang="en-US" dirty="0"/>
              <a:t>There exists a blind write W</a:t>
            </a:r>
            <a:r>
              <a:rPr lang="en-US" baseline="-25000" dirty="0"/>
              <a:t>3 </a:t>
            </a:r>
            <a:r>
              <a:rPr lang="en-US" dirty="0"/>
              <a:t>(A) in the given schedule S.</a:t>
            </a:r>
          </a:p>
          <a:p>
            <a:pPr fontAlgn="base"/>
            <a:r>
              <a:rPr lang="en-US" dirty="0"/>
              <a:t>Therefore, the given schedule S may or may not be view serializable.</a:t>
            </a:r>
          </a:p>
          <a:p>
            <a:pPr marL="0" indent="0" fontAlgn="base">
              <a:buNone/>
            </a:pPr>
            <a:r>
              <a:rPr lang="en-US" dirty="0"/>
              <a:t>Now, To check whether S is view serializable or not, let us use another method.</a:t>
            </a:r>
          </a:p>
          <a:p>
            <a:pPr fontAlgn="base"/>
            <a:r>
              <a:rPr lang="en-US" dirty="0"/>
              <a:t>Let us derive the dependencies and then draw a dependency graph.</a:t>
            </a:r>
          </a:p>
          <a:p>
            <a:endParaRPr lang="en-US" dirty="0"/>
          </a:p>
        </p:txBody>
      </p:sp>
      <p:sp>
        <p:nvSpPr>
          <p:cNvPr id="2" name="Slide Number Placeholder 1">
            <a:extLst>
              <a:ext uri="{FF2B5EF4-FFF2-40B4-BE49-F238E27FC236}">
                <a16:creationId xmlns:a16="http://schemas.microsoft.com/office/drawing/2014/main" id="{D5710994-66EB-B298-2E33-53AF4A856E91}"/>
              </a:ext>
            </a:extLst>
          </p:cNvPr>
          <p:cNvSpPr>
            <a:spLocks noGrp="1"/>
          </p:cNvSpPr>
          <p:nvPr>
            <p:ph type="sldNum" sz="quarter" idx="12"/>
          </p:nvPr>
        </p:nvSpPr>
        <p:spPr/>
        <p:txBody>
          <a:bodyPr/>
          <a:lstStyle/>
          <a:p>
            <a:fld id="{9BED7385-1A27-4338-8D43-B2B3002AB878}" type="slidenum">
              <a:rPr lang="en-US" smtClean="0"/>
              <a:t>80</a:t>
            </a:fld>
            <a:endParaRPr lang="en-US"/>
          </a:p>
        </p:txBody>
      </p:sp>
    </p:spTree>
    <p:extLst>
      <p:ext uri="{BB962C8B-B14F-4D97-AF65-F5344CB8AC3E}">
        <p14:creationId xmlns:p14="http://schemas.microsoft.com/office/powerpoint/2010/main" val="285717382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8338"/>
            <a:ext cx="10515600" cy="5468625"/>
          </a:xfrm>
        </p:spPr>
        <p:txBody>
          <a:bodyPr>
            <a:normAutofit lnSpcReduction="10000"/>
          </a:bodyPr>
          <a:lstStyle/>
          <a:p>
            <a:pPr fontAlgn="base"/>
            <a:r>
              <a:rPr lang="en-US" b="1" u="sng" dirty="0"/>
              <a:t>Drawing a Dependency Graph-</a:t>
            </a:r>
            <a:endParaRPr lang="en-US" b="1" dirty="0"/>
          </a:p>
          <a:p>
            <a:pPr marL="0" indent="0" fontAlgn="base">
              <a:buNone/>
            </a:pPr>
            <a:endParaRPr lang="en-US" dirty="0"/>
          </a:p>
          <a:p>
            <a:pPr fontAlgn="base"/>
            <a:r>
              <a:rPr lang="en-US" dirty="0"/>
              <a:t>T1 firstly reads A and T3 firstly updates A.</a:t>
            </a:r>
          </a:p>
          <a:p>
            <a:pPr fontAlgn="base"/>
            <a:r>
              <a:rPr lang="en-US" dirty="0"/>
              <a:t>So, T1 must execute before T3.</a:t>
            </a:r>
          </a:p>
          <a:p>
            <a:pPr fontAlgn="base"/>
            <a:r>
              <a:rPr lang="en-US" dirty="0"/>
              <a:t>Thus, we get the dependency </a:t>
            </a:r>
            <a:r>
              <a:rPr lang="en-US" b="1" dirty="0"/>
              <a:t>T1 → T3</a:t>
            </a:r>
            <a:r>
              <a:rPr lang="en-US" dirty="0"/>
              <a:t>.</a:t>
            </a:r>
          </a:p>
          <a:p>
            <a:pPr fontAlgn="base"/>
            <a:r>
              <a:rPr lang="en-US" dirty="0"/>
              <a:t>Final </a:t>
            </a:r>
            <a:r>
              <a:rPr lang="en-US" dirty="0" err="1"/>
              <a:t>updation</a:t>
            </a:r>
            <a:r>
              <a:rPr lang="en-US" dirty="0"/>
              <a:t> on A is made by the transaction T1.</a:t>
            </a:r>
          </a:p>
          <a:p>
            <a:pPr fontAlgn="base"/>
            <a:r>
              <a:rPr lang="en-US" dirty="0"/>
              <a:t>So, T1 must execute after all other transactions.</a:t>
            </a:r>
          </a:p>
          <a:p>
            <a:pPr fontAlgn="base"/>
            <a:r>
              <a:rPr lang="en-US" dirty="0"/>
              <a:t>Thus, we get the dependency </a:t>
            </a:r>
            <a:r>
              <a:rPr lang="en-US" b="1" dirty="0"/>
              <a:t>(T2, T3) → T1</a:t>
            </a:r>
            <a:r>
              <a:rPr lang="en-US" dirty="0"/>
              <a:t>.</a:t>
            </a:r>
          </a:p>
          <a:p>
            <a:pPr fontAlgn="base"/>
            <a:r>
              <a:rPr lang="en-US" dirty="0"/>
              <a:t>There exists no write-read sequence.</a:t>
            </a:r>
          </a:p>
          <a:p>
            <a:pPr marL="0" indent="0" fontAlgn="base">
              <a:buNone/>
            </a:pPr>
            <a:endParaRPr lang="en-US" dirty="0"/>
          </a:p>
          <a:p>
            <a:pPr fontAlgn="base"/>
            <a:r>
              <a:rPr lang="en-US" dirty="0"/>
              <a:t>Now, let us draw a dependency graph using these dependencies-</a:t>
            </a:r>
          </a:p>
          <a:p>
            <a:endParaRPr lang="en-US" dirty="0"/>
          </a:p>
        </p:txBody>
      </p:sp>
      <p:pic>
        <p:nvPicPr>
          <p:cNvPr id="4" name="Picture 3"/>
          <p:cNvPicPr>
            <a:picLocks noChangeAspect="1"/>
          </p:cNvPicPr>
          <p:nvPr/>
        </p:nvPicPr>
        <p:blipFill>
          <a:blip r:embed="rId2"/>
          <a:stretch>
            <a:fillRect/>
          </a:stretch>
        </p:blipFill>
        <p:spPr>
          <a:xfrm>
            <a:off x="8255358" y="180307"/>
            <a:ext cx="3399620" cy="2942889"/>
          </a:xfrm>
          <a:prstGeom prst="rect">
            <a:avLst/>
          </a:prstGeom>
        </p:spPr>
      </p:pic>
      <p:sp>
        <p:nvSpPr>
          <p:cNvPr id="2" name="Slide Number Placeholder 1">
            <a:extLst>
              <a:ext uri="{FF2B5EF4-FFF2-40B4-BE49-F238E27FC236}">
                <a16:creationId xmlns:a16="http://schemas.microsoft.com/office/drawing/2014/main" id="{4ECB58FA-324C-8A17-E266-DF47CE8FE823}"/>
              </a:ext>
            </a:extLst>
          </p:cNvPr>
          <p:cNvSpPr>
            <a:spLocks noGrp="1"/>
          </p:cNvSpPr>
          <p:nvPr>
            <p:ph type="sldNum" sz="quarter" idx="12"/>
          </p:nvPr>
        </p:nvSpPr>
        <p:spPr/>
        <p:txBody>
          <a:bodyPr/>
          <a:lstStyle/>
          <a:p>
            <a:fld id="{9BED7385-1A27-4338-8D43-B2B3002AB878}" type="slidenum">
              <a:rPr lang="en-US" smtClean="0"/>
              <a:t>81</a:t>
            </a:fld>
            <a:endParaRPr lang="en-US"/>
          </a:p>
        </p:txBody>
      </p:sp>
    </p:spTree>
    <p:extLst>
      <p:ext uri="{BB962C8B-B14F-4D97-AF65-F5344CB8AC3E}">
        <p14:creationId xmlns:p14="http://schemas.microsoft.com/office/powerpoint/2010/main" val="35407561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674254" y="953037"/>
            <a:ext cx="7972022" cy="4448432"/>
          </a:xfrm>
          <a:prstGeom prst="rect">
            <a:avLst/>
          </a:prstGeom>
        </p:spPr>
      </p:pic>
      <p:sp>
        <p:nvSpPr>
          <p:cNvPr id="2" name="Rectangle 1"/>
          <p:cNvSpPr/>
          <p:nvPr/>
        </p:nvSpPr>
        <p:spPr>
          <a:xfrm>
            <a:off x="2315653" y="1080683"/>
            <a:ext cx="1018227" cy="369332"/>
          </a:xfrm>
          <a:prstGeom prst="rect">
            <a:avLst/>
          </a:prstGeom>
        </p:spPr>
        <p:txBody>
          <a:bodyPr wrap="none">
            <a:spAutoFit/>
          </a:bodyPr>
          <a:lstStyle/>
          <a:p>
            <a:pPr fontAlgn="base"/>
            <a:r>
              <a:rPr lang="en-US" b="1" dirty="0"/>
              <a:t>T1 → T3</a:t>
            </a:r>
            <a:r>
              <a:rPr lang="en-US" dirty="0"/>
              <a:t>.</a:t>
            </a:r>
          </a:p>
        </p:txBody>
      </p:sp>
      <p:sp>
        <p:nvSpPr>
          <p:cNvPr id="3" name="Rectangle 2"/>
          <p:cNvSpPr/>
          <p:nvPr/>
        </p:nvSpPr>
        <p:spPr>
          <a:xfrm>
            <a:off x="2087971" y="1853415"/>
            <a:ext cx="1447832" cy="369332"/>
          </a:xfrm>
          <a:prstGeom prst="rect">
            <a:avLst/>
          </a:prstGeom>
        </p:spPr>
        <p:txBody>
          <a:bodyPr wrap="none">
            <a:spAutoFit/>
          </a:bodyPr>
          <a:lstStyle/>
          <a:p>
            <a:r>
              <a:rPr lang="en-US" b="1" dirty="0"/>
              <a:t>(T2, T3) → T1</a:t>
            </a:r>
            <a:endParaRPr lang="en-US" dirty="0"/>
          </a:p>
        </p:txBody>
      </p:sp>
      <p:sp>
        <p:nvSpPr>
          <p:cNvPr id="5" name="Slide Number Placeholder 4">
            <a:extLst>
              <a:ext uri="{FF2B5EF4-FFF2-40B4-BE49-F238E27FC236}">
                <a16:creationId xmlns:a16="http://schemas.microsoft.com/office/drawing/2014/main" id="{4C0602F3-ACCD-356C-B1DE-78062D0A4F20}"/>
              </a:ext>
            </a:extLst>
          </p:cNvPr>
          <p:cNvSpPr>
            <a:spLocks noGrp="1"/>
          </p:cNvSpPr>
          <p:nvPr>
            <p:ph type="sldNum" sz="quarter" idx="12"/>
          </p:nvPr>
        </p:nvSpPr>
        <p:spPr/>
        <p:txBody>
          <a:bodyPr/>
          <a:lstStyle/>
          <a:p>
            <a:fld id="{9BED7385-1A27-4338-8D43-B2B3002AB878}" type="slidenum">
              <a:rPr lang="en-US" smtClean="0"/>
              <a:t>82</a:t>
            </a:fld>
            <a:endParaRPr lang="en-US"/>
          </a:p>
        </p:txBody>
      </p:sp>
    </p:spTree>
    <p:extLst>
      <p:ext uri="{BB962C8B-B14F-4D97-AF65-F5344CB8AC3E}">
        <p14:creationId xmlns:p14="http://schemas.microsoft.com/office/powerpoint/2010/main" val="8668926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226366" y="918643"/>
            <a:ext cx="5788922" cy="5133975"/>
          </a:xfrm>
          <a:prstGeom prst="rect">
            <a:avLst/>
          </a:prstGeom>
        </p:spPr>
      </p:pic>
      <p:sp>
        <p:nvSpPr>
          <p:cNvPr id="5" name="Rectangle 4"/>
          <p:cNvSpPr/>
          <p:nvPr/>
        </p:nvSpPr>
        <p:spPr>
          <a:xfrm>
            <a:off x="965915" y="375514"/>
            <a:ext cx="9702085" cy="461665"/>
          </a:xfrm>
          <a:prstGeom prst="rect">
            <a:avLst/>
          </a:prstGeom>
        </p:spPr>
        <p:txBody>
          <a:bodyPr wrap="square">
            <a:spAutoFit/>
          </a:bodyPr>
          <a:lstStyle/>
          <a:p>
            <a:r>
              <a:rPr lang="en-US" sz="2400" dirty="0">
                <a:solidFill>
                  <a:srgbClr val="303030"/>
                </a:solidFill>
                <a:latin typeface="Arimo"/>
              </a:rPr>
              <a:t>3] Check whether the given schedule S is view serializable or not-</a:t>
            </a:r>
            <a:endParaRPr lang="en-US" sz="2400" dirty="0"/>
          </a:p>
        </p:txBody>
      </p:sp>
      <p:sp>
        <p:nvSpPr>
          <p:cNvPr id="2" name="Slide Number Placeholder 1">
            <a:extLst>
              <a:ext uri="{FF2B5EF4-FFF2-40B4-BE49-F238E27FC236}">
                <a16:creationId xmlns:a16="http://schemas.microsoft.com/office/drawing/2014/main" id="{5EC24C01-54B7-589A-862A-DEC083263CD1}"/>
              </a:ext>
            </a:extLst>
          </p:cNvPr>
          <p:cNvSpPr>
            <a:spLocks noGrp="1"/>
          </p:cNvSpPr>
          <p:nvPr>
            <p:ph type="sldNum" sz="quarter" idx="12"/>
          </p:nvPr>
        </p:nvSpPr>
        <p:spPr/>
        <p:txBody>
          <a:bodyPr/>
          <a:lstStyle/>
          <a:p>
            <a:fld id="{9BED7385-1A27-4338-8D43-B2B3002AB878}" type="slidenum">
              <a:rPr lang="en-US" smtClean="0"/>
              <a:t>83</a:t>
            </a:fld>
            <a:endParaRPr lang="en-US"/>
          </a:p>
        </p:txBody>
      </p:sp>
    </p:spTree>
    <p:extLst>
      <p:ext uri="{BB962C8B-B14F-4D97-AF65-F5344CB8AC3E}">
        <p14:creationId xmlns:p14="http://schemas.microsoft.com/office/powerpoint/2010/main" val="364197890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99245"/>
            <a:ext cx="10515600" cy="5777718"/>
          </a:xfrm>
        </p:spPr>
        <p:txBody>
          <a:bodyPr>
            <a:normAutofit fontScale="92500" lnSpcReduction="10000"/>
          </a:bodyPr>
          <a:lstStyle/>
          <a:p>
            <a:pPr fontAlgn="base"/>
            <a:r>
              <a:rPr lang="en-US" dirty="0"/>
              <a:t>We know, if a schedule is conflict serializable, then it is surely view serializable.</a:t>
            </a:r>
          </a:p>
          <a:p>
            <a:pPr fontAlgn="base"/>
            <a:r>
              <a:rPr lang="en-US" dirty="0"/>
              <a:t>So, let us check whether the given schedule is conflict serializable or not.</a:t>
            </a:r>
          </a:p>
          <a:p>
            <a:pPr fontAlgn="base"/>
            <a:r>
              <a:rPr lang="en-US" b="1" u="sng" dirty="0"/>
              <a:t>Checking Whether S is Conflict Serializable Or Not-</a:t>
            </a:r>
            <a:endParaRPr lang="en-US" b="1" dirty="0"/>
          </a:p>
          <a:p>
            <a:pPr fontAlgn="base"/>
            <a:r>
              <a:rPr lang="en-US" b="1" u="sng" dirty="0"/>
              <a:t>Step-01:</a:t>
            </a:r>
            <a:endParaRPr lang="en-US" b="1" dirty="0"/>
          </a:p>
          <a:p>
            <a:pPr marL="0" indent="0" fontAlgn="base">
              <a:buNone/>
            </a:pPr>
            <a:r>
              <a:rPr lang="en-US" dirty="0"/>
              <a:t> </a:t>
            </a:r>
          </a:p>
          <a:p>
            <a:pPr marL="0" indent="0" fontAlgn="base">
              <a:buNone/>
            </a:pPr>
            <a:r>
              <a:rPr lang="en-US" dirty="0"/>
              <a:t>List all the conflicting operations and determine the dependency between the transactions-</a:t>
            </a:r>
          </a:p>
          <a:p>
            <a:pPr fontAlgn="base"/>
            <a:r>
              <a:rPr lang="en-US" dirty="0"/>
              <a:t>R</a:t>
            </a:r>
            <a:r>
              <a:rPr lang="en-US" baseline="-25000" dirty="0"/>
              <a:t>1</a:t>
            </a:r>
            <a:r>
              <a:rPr lang="en-US" dirty="0"/>
              <a:t>(A) , W</a:t>
            </a:r>
            <a:r>
              <a:rPr lang="en-US" baseline="-25000" dirty="0"/>
              <a:t>2</a:t>
            </a:r>
            <a:r>
              <a:rPr lang="en-US" dirty="0"/>
              <a:t>(A) (T</a:t>
            </a:r>
            <a:r>
              <a:rPr lang="en-US" baseline="-25000" dirty="0"/>
              <a:t>1</a:t>
            </a:r>
            <a:r>
              <a:rPr lang="en-US" dirty="0"/>
              <a:t> → T</a:t>
            </a:r>
            <a:r>
              <a:rPr lang="en-US" baseline="-25000" dirty="0"/>
              <a:t>2</a:t>
            </a:r>
            <a:r>
              <a:rPr lang="en-US" dirty="0"/>
              <a:t>)</a:t>
            </a:r>
          </a:p>
          <a:p>
            <a:pPr fontAlgn="base"/>
            <a:r>
              <a:rPr lang="en-US" dirty="0"/>
              <a:t>R</a:t>
            </a:r>
            <a:r>
              <a:rPr lang="en-US" baseline="-25000" dirty="0"/>
              <a:t>2</a:t>
            </a:r>
            <a:r>
              <a:rPr lang="en-US" dirty="0"/>
              <a:t>(A) , W</a:t>
            </a:r>
            <a:r>
              <a:rPr lang="en-US" baseline="-25000" dirty="0"/>
              <a:t>1</a:t>
            </a:r>
            <a:r>
              <a:rPr lang="en-US" dirty="0"/>
              <a:t>(A) (T</a:t>
            </a:r>
            <a:r>
              <a:rPr lang="en-US" baseline="-25000" dirty="0"/>
              <a:t>2</a:t>
            </a:r>
            <a:r>
              <a:rPr lang="en-US" dirty="0"/>
              <a:t> → T</a:t>
            </a:r>
            <a:r>
              <a:rPr lang="en-US" baseline="-25000" dirty="0"/>
              <a:t>1</a:t>
            </a:r>
            <a:r>
              <a:rPr lang="en-US" dirty="0"/>
              <a:t>)</a:t>
            </a:r>
          </a:p>
          <a:p>
            <a:pPr fontAlgn="base"/>
            <a:r>
              <a:rPr lang="en-US" dirty="0"/>
              <a:t>W</a:t>
            </a:r>
            <a:r>
              <a:rPr lang="en-US" baseline="-25000" dirty="0"/>
              <a:t>1</a:t>
            </a:r>
            <a:r>
              <a:rPr lang="en-US" dirty="0"/>
              <a:t>(A) , W</a:t>
            </a:r>
            <a:r>
              <a:rPr lang="en-US" baseline="-25000" dirty="0"/>
              <a:t>2</a:t>
            </a:r>
            <a:r>
              <a:rPr lang="en-US" dirty="0"/>
              <a:t>(A) (T</a:t>
            </a:r>
            <a:r>
              <a:rPr lang="en-US" baseline="-25000" dirty="0"/>
              <a:t>1</a:t>
            </a:r>
            <a:r>
              <a:rPr lang="en-US" dirty="0"/>
              <a:t> → T</a:t>
            </a:r>
            <a:r>
              <a:rPr lang="en-US" baseline="-25000" dirty="0"/>
              <a:t>2</a:t>
            </a:r>
            <a:r>
              <a:rPr lang="en-US" dirty="0"/>
              <a:t>)</a:t>
            </a:r>
          </a:p>
          <a:p>
            <a:pPr fontAlgn="base"/>
            <a:r>
              <a:rPr lang="en-US" dirty="0"/>
              <a:t>R</a:t>
            </a:r>
            <a:r>
              <a:rPr lang="en-US" baseline="-25000" dirty="0"/>
              <a:t>1</a:t>
            </a:r>
            <a:r>
              <a:rPr lang="en-US" dirty="0"/>
              <a:t>(B) , W</a:t>
            </a:r>
            <a:r>
              <a:rPr lang="en-US" baseline="-25000" dirty="0"/>
              <a:t>2</a:t>
            </a:r>
            <a:r>
              <a:rPr lang="en-US" dirty="0"/>
              <a:t>(B) (T</a:t>
            </a:r>
            <a:r>
              <a:rPr lang="en-US" baseline="-25000" dirty="0"/>
              <a:t>1</a:t>
            </a:r>
            <a:r>
              <a:rPr lang="en-US" dirty="0"/>
              <a:t> → T</a:t>
            </a:r>
            <a:r>
              <a:rPr lang="en-US" baseline="-25000" dirty="0"/>
              <a:t>2</a:t>
            </a:r>
            <a:r>
              <a:rPr lang="en-US" dirty="0"/>
              <a:t>)</a:t>
            </a:r>
          </a:p>
          <a:p>
            <a:pPr fontAlgn="base"/>
            <a:r>
              <a:rPr lang="en-US" dirty="0"/>
              <a:t>R</a:t>
            </a:r>
            <a:r>
              <a:rPr lang="en-US" baseline="-25000" dirty="0"/>
              <a:t>2</a:t>
            </a:r>
            <a:r>
              <a:rPr lang="en-US" dirty="0"/>
              <a:t>(B) , W</a:t>
            </a:r>
            <a:r>
              <a:rPr lang="en-US" baseline="-25000" dirty="0"/>
              <a:t>1</a:t>
            </a:r>
            <a:r>
              <a:rPr lang="en-US" dirty="0"/>
              <a:t>(B) (T</a:t>
            </a:r>
            <a:r>
              <a:rPr lang="en-US" baseline="-25000" dirty="0"/>
              <a:t>2</a:t>
            </a:r>
            <a:r>
              <a:rPr lang="en-US" dirty="0"/>
              <a:t> → T</a:t>
            </a:r>
            <a:r>
              <a:rPr lang="en-US" baseline="-25000" dirty="0"/>
              <a:t>1</a:t>
            </a:r>
            <a:r>
              <a:rPr lang="en-US" dirty="0"/>
              <a:t>)</a:t>
            </a:r>
          </a:p>
          <a:p>
            <a:pPr marL="0" indent="0" fontAlgn="base">
              <a:buNone/>
            </a:pPr>
            <a:endParaRPr lang="en-US" dirty="0"/>
          </a:p>
          <a:p>
            <a:endParaRPr lang="en-US" dirty="0"/>
          </a:p>
        </p:txBody>
      </p:sp>
      <p:sp>
        <p:nvSpPr>
          <p:cNvPr id="2" name="Slide Number Placeholder 1">
            <a:extLst>
              <a:ext uri="{FF2B5EF4-FFF2-40B4-BE49-F238E27FC236}">
                <a16:creationId xmlns:a16="http://schemas.microsoft.com/office/drawing/2014/main" id="{BE93CDCC-3926-EA59-153E-C4E46DBB7C8E}"/>
              </a:ext>
            </a:extLst>
          </p:cNvPr>
          <p:cNvSpPr>
            <a:spLocks noGrp="1"/>
          </p:cNvSpPr>
          <p:nvPr>
            <p:ph type="sldNum" sz="quarter" idx="12"/>
          </p:nvPr>
        </p:nvSpPr>
        <p:spPr/>
        <p:txBody>
          <a:bodyPr/>
          <a:lstStyle/>
          <a:p>
            <a:fld id="{9BED7385-1A27-4338-8D43-B2B3002AB878}" type="slidenum">
              <a:rPr lang="en-US" smtClean="0"/>
              <a:t>84</a:t>
            </a:fld>
            <a:endParaRPr lang="en-US"/>
          </a:p>
        </p:txBody>
      </p:sp>
    </p:spTree>
    <p:extLst>
      <p:ext uri="{BB962C8B-B14F-4D97-AF65-F5344CB8AC3E}">
        <p14:creationId xmlns:p14="http://schemas.microsoft.com/office/powerpoint/2010/main" val="372633640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64406" y="386366"/>
            <a:ext cx="8770512" cy="5834130"/>
          </a:xfrm>
          <a:prstGeom prst="rect">
            <a:avLst/>
          </a:prstGeom>
        </p:spPr>
      </p:pic>
      <p:sp>
        <p:nvSpPr>
          <p:cNvPr id="2" name="Slide Number Placeholder 1">
            <a:extLst>
              <a:ext uri="{FF2B5EF4-FFF2-40B4-BE49-F238E27FC236}">
                <a16:creationId xmlns:a16="http://schemas.microsoft.com/office/drawing/2014/main" id="{4F686A4C-9522-894A-B910-4552B644EE4B}"/>
              </a:ext>
            </a:extLst>
          </p:cNvPr>
          <p:cNvSpPr>
            <a:spLocks noGrp="1"/>
          </p:cNvSpPr>
          <p:nvPr>
            <p:ph type="sldNum" sz="quarter" idx="12"/>
          </p:nvPr>
        </p:nvSpPr>
        <p:spPr/>
        <p:txBody>
          <a:bodyPr/>
          <a:lstStyle/>
          <a:p>
            <a:fld id="{9BED7385-1A27-4338-8D43-B2B3002AB878}" type="slidenum">
              <a:rPr lang="en-US" smtClean="0"/>
              <a:t>85</a:t>
            </a:fld>
            <a:endParaRPr lang="en-US"/>
          </a:p>
        </p:txBody>
      </p:sp>
    </p:spTree>
    <p:extLst>
      <p:ext uri="{BB962C8B-B14F-4D97-AF65-F5344CB8AC3E}">
        <p14:creationId xmlns:p14="http://schemas.microsoft.com/office/powerpoint/2010/main" val="10768384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79549"/>
            <a:ext cx="10515600" cy="5584535"/>
          </a:xfrm>
        </p:spPr>
        <p:txBody>
          <a:bodyPr/>
          <a:lstStyle/>
          <a:p>
            <a:pPr fontAlgn="base"/>
            <a:r>
              <a:rPr lang="en-US" b="1" u="sng" dirty="0"/>
              <a:t>Checking for Blind Writes-</a:t>
            </a:r>
            <a:endParaRPr lang="en-US" b="1" dirty="0"/>
          </a:p>
          <a:p>
            <a:pPr marL="0" indent="0" fontAlgn="base">
              <a:buNone/>
            </a:pPr>
            <a:endParaRPr lang="en-US" dirty="0"/>
          </a:p>
          <a:p>
            <a:pPr fontAlgn="base"/>
            <a:r>
              <a:rPr lang="en-US" dirty="0"/>
              <a:t>There exists no blind write in the given schedule S.</a:t>
            </a:r>
          </a:p>
          <a:p>
            <a:pPr fontAlgn="base"/>
            <a:r>
              <a:rPr lang="en-US" dirty="0"/>
              <a:t>Therefore, it is surely not view serializable.</a:t>
            </a:r>
          </a:p>
          <a:p>
            <a:pPr marL="0" indent="0" fontAlgn="base">
              <a:buNone/>
            </a:pPr>
            <a:endParaRPr lang="en-US" dirty="0"/>
          </a:p>
          <a:p>
            <a:pPr fontAlgn="base"/>
            <a:r>
              <a:rPr lang="en-US" b="1" dirty="0"/>
              <a:t>Alternatively</a:t>
            </a:r>
            <a:r>
              <a:rPr lang="en-US" dirty="0"/>
              <a:t>,</a:t>
            </a:r>
          </a:p>
          <a:p>
            <a:pPr fontAlgn="base"/>
            <a:r>
              <a:rPr lang="en-US" dirty="0"/>
              <a:t>You could directly declare that the given schedule S is not view serializable.</a:t>
            </a:r>
          </a:p>
          <a:p>
            <a:pPr fontAlgn="base"/>
            <a:r>
              <a:rPr lang="en-US" dirty="0"/>
              <a:t>This is because there exists no blind write in the schedule.</a:t>
            </a:r>
          </a:p>
          <a:p>
            <a:pPr fontAlgn="base"/>
            <a:r>
              <a:rPr lang="en-US" dirty="0"/>
              <a:t>You need not check for conflict serializability.</a:t>
            </a:r>
          </a:p>
          <a:p>
            <a:pPr marL="0" indent="0" fontAlgn="base">
              <a:buNone/>
            </a:pPr>
            <a:endParaRPr lang="en-US" dirty="0"/>
          </a:p>
          <a:p>
            <a:endParaRPr lang="en-US" dirty="0"/>
          </a:p>
        </p:txBody>
      </p:sp>
      <p:sp>
        <p:nvSpPr>
          <p:cNvPr id="2" name="Slide Number Placeholder 1">
            <a:extLst>
              <a:ext uri="{FF2B5EF4-FFF2-40B4-BE49-F238E27FC236}">
                <a16:creationId xmlns:a16="http://schemas.microsoft.com/office/drawing/2014/main" id="{DBFCFAAF-87F5-7DF4-2517-8DE02DB962E9}"/>
              </a:ext>
            </a:extLst>
          </p:cNvPr>
          <p:cNvSpPr>
            <a:spLocks noGrp="1"/>
          </p:cNvSpPr>
          <p:nvPr>
            <p:ph type="sldNum" sz="quarter" idx="12"/>
          </p:nvPr>
        </p:nvSpPr>
        <p:spPr/>
        <p:txBody>
          <a:bodyPr/>
          <a:lstStyle/>
          <a:p>
            <a:fld id="{9BED7385-1A27-4338-8D43-B2B3002AB878}" type="slidenum">
              <a:rPr lang="en-US" smtClean="0"/>
              <a:t>86</a:t>
            </a:fld>
            <a:endParaRPr lang="en-US"/>
          </a:p>
        </p:txBody>
      </p:sp>
    </p:spTree>
    <p:extLst>
      <p:ext uri="{BB962C8B-B14F-4D97-AF65-F5344CB8AC3E}">
        <p14:creationId xmlns:p14="http://schemas.microsoft.com/office/powerpoint/2010/main" val="225615549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29579"/>
          </a:xfrm>
        </p:spPr>
        <p:txBody>
          <a:bodyPr/>
          <a:lstStyle/>
          <a:p>
            <a:r>
              <a:rPr lang="en-US" dirty="0"/>
              <a:t>Practice</a:t>
            </a:r>
          </a:p>
        </p:txBody>
      </p:sp>
      <p:pic>
        <p:nvPicPr>
          <p:cNvPr id="4" name="Content Placeholder 3"/>
          <p:cNvPicPr>
            <a:picLocks noGrp="1" noChangeAspect="1"/>
          </p:cNvPicPr>
          <p:nvPr>
            <p:ph idx="1"/>
          </p:nvPr>
        </p:nvPicPr>
        <p:blipFill>
          <a:blip r:embed="rId2"/>
          <a:stretch>
            <a:fillRect/>
          </a:stretch>
        </p:blipFill>
        <p:spPr>
          <a:xfrm>
            <a:off x="1068946" y="1081826"/>
            <a:ext cx="7675809" cy="4630738"/>
          </a:xfrm>
          <a:prstGeom prst="rect">
            <a:avLst/>
          </a:prstGeom>
        </p:spPr>
      </p:pic>
      <p:sp>
        <p:nvSpPr>
          <p:cNvPr id="3" name="Slide Number Placeholder 2">
            <a:extLst>
              <a:ext uri="{FF2B5EF4-FFF2-40B4-BE49-F238E27FC236}">
                <a16:creationId xmlns:a16="http://schemas.microsoft.com/office/drawing/2014/main" id="{BA383A90-D4BF-9D8C-C01F-C25CF828B335}"/>
              </a:ext>
            </a:extLst>
          </p:cNvPr>
          <p:cNvSpPr>
            <a:spLocks noGrp="1"/>
          </p:cNvSpPr>
          <p:nvPr>
            <p:ph type="sldNum" sz="quarter" idx="12"/>
          </p:nvPr>
        </p:nvSpPr>
        <p:spPr/>
        <p:txBody>
          <a:bodyPr/>
          <a:lstStyle/>
          <a:p>
            <a:fld id="{9BED7385-1A27-4338-8D43-B2B3002AB878}" type="slidenum">
              <a:rPr lang="en-US" smtClean="0"/>
              <a:t>87</a:t>
            </a:fld>
            <a:endParaRPr lang="en-US"/>
          </a:p>
        </p:txBody>
      </p:sp>
    </p:spTree>
    <p:extLst>
      <p:ext uri="{BB962C8B-B14F-4D97-AF65-F5344CB8AC3E}">
        <p14:creationId xmlns:p14="http://schemas.microsoft.com/office/powerpoint/2010/main" val="35022934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29579"/>
          </a:xfrm>
        </p:spPr>
        <p:txBody>
          <a:bodyPr/>
          <a:lstStyle/>
          <a:p>
            <a:r>
              <a:rPr lang="en-US" dirty="0"/>
              <a:t>Conflict serializable or not</a:t>
            </a:r>
          </a:p>
        </p:txBody>
      </p:sp>
      <p:pic>
        <p:nvPicPr>
          <p:cNvPr id="4" name="Content Placeholder 3"/>
          <p:cNvPicPr>
            <a:picLocks noGrp="1" noChangeAspect="1"/>
          </p:cNvPicPr>
          <p:nvPr>
            <p:ph idx="1"/>
          </p:nvPr>
        </p:nvPicPr>
        <p:blipFill>
          <a:blip r:embed="rId3"/>
          <a:stretch>
            <a:fillRect/>
          </a:stretch>
        </p:blipFill>
        <p:spPr>
          <a:xfrm>
            <a:off x="1000394" y="1076080"/>
            <a:ext cx="6456474" cy="4886838"/>
          </a:xfrm>
          <a:prstGeom prst="rect">
            <a:avLst/>
          </a:prstGeom>
        </p:spPr>
      </p:pic>
      <p:sp>
        <p:nvSpPr>
          <p:cNvPr id="3" name="Slide Number Placeholder 2">
            <a:extLst>
              <a:ext uri="{FF2B5EF4-FFF2-40B4-BE49-F238E27FC236}">
                <a16:creationId xmlns:a16="http://schemas.microsoft.com/office/drawing/2014/main" id="{DF1D1A2A-D47F-7D9F-4081-B3B6047DAA63}"/>
              </a:ext>
            </a:extLst>
          </p:cNvPr>
          <p:cNvSpPr>
            <a:spLocks noGrp="1"/>
          </p:cNvSpPr>
          <p:nvPr>
            <p:ph type="sldNum" sz="quarter" idx="12"/>
          </p:nvPr>
        </p:nvSpPr>
        <p:spPr/>
        <p:txBody>
          <a:bodyPr/>
          <a:lstStyle/>
          <a:p>
            <a:fld id="{9BED7385-1A27-4338-8D43-B2B3002AB878}" type="slidenum">
              <a:rPr lang="en-US" smtClean="0"/>
              <a:t>88</a:t>
            </a:fld>
            <a:endParaRPr lang="en-US"/>
          </a:p>
        </p:txBody>
      </p:sp>
    </p:spTree>
    <p:extLst>
      <p:ext uri="{BB962C8B-B14F-4D97-AF65-F5344CB8AC3E}">
        <p14:creationId xmlns:p14="http://schemas.microsoft.com/office/powerpoint/2010/main" val="238558906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32587" y="862886"/>
            <a:ext cx="7418230" cy="5383368"/>
          </a:xfrm>
          <a:prstGeom prst="rect">
            <a:avLst/>
          </a:prstGeom>
        </p:spPr>
      </p:pic>
      <p:sp>
        <p:nvSpPr>
          <p:cNvPr id="2" name="Slide Number Placeholder 1">
            <a:extLst>
              <a:ext uri="{FF2B5EF4-FFF2-40B4-BE49-F238E27FC236}">
                <a16:creationId xmlns:a16="http://schemas.microsoft.com/office/drawing/2014/main" id="{ACC1B254-38AC-16AD-AF43-1BBA66736EF2}"/>
              </a:ext>
            </a:extLst>
          </p:cNvPr>
          <p:cNvSpPr>
            <a:spLocks noGrp="1"/>
          </p:cNvSpPr>
          <p:nvPr>
            <p:ph type="sldNum" sz="quarter" idx="12"/>
          </p:nvPr>
        </p:nvSpPr>
        <p:spPr/>
        <p:txBody>
          <a:bodyPr/>
          <a:lstStyle/>
          <a:p>
            <a:fld id="{9BED7385-1A27-4338-8D43-B2B3002AB878}" type="slidenum">
              <a:rPr lang="en-US" smtClean="0"/>
              <a:t>89</a:t>
            </a:fld>
            <a:endParaRPr lang="en-US"/>
          </a:p>
        </p:txBody>
      </p:sp>
    </p:spTree>
    <p:extLst>
      <p:ext uri="{BB962C8B-B14F-4D97-AF65-F5344CB8AC3E}">
        <p14:creationId xmlns:p14="http://schemas.microsoft.com/office/powerpoint/2010/main" val="57915362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40157" y="1305342"/>
            <a:ext cx="9285667" cy="3416320"/>
          </a:xfrm>
          <a:prstGeom prst="rect">
            <a:avLst/>
          </a:prstGeom>
        </p:spPr>
        <p:txBody>
          <a:bodyPr wrap="square">
            <a:spAutoFit/>
          </a:bodyPr>
          <a:lstStyle/>
          <a:p>
            <a:r>
              <a:rPr lang="en-US" b="1" dirty="0">
                <a:solidFill>
                  <a:srgbClr val="0E101A"/>
                </a:solidFill>
                <a:latin typeface="Muli"/>
              </a:rPr>
              <a:t>Suppose a database system crashes once again while recovering from the previous crash. If we assume that </a:t>
            </a:r>
            <a:r>
              <a:rPr lang="en-US" b="1" dirty="0" err="1">
                <a:solidFill>
                  <a:srgbClr val="0E101A"/>
                </a:solidFill>
                <a:latin typeface="Muli"/>
              </a:rPr>
              <a:t>checkpointing</a:t>
            </a:r>
            <a:r>
              <a:rPr lang="en-US" b="1" dirty="0">
                <a:solidFill>
                  <a:srgbClr val="0E101A"/>
                </a:solidFill>
                <a:latin typeface="Muli"/>
              </a:rPr>
              <a:t> is not done by the database during the transactions or the recovery—Mark the correct statements. </a:t>
            </a:r>
            <a:br>
              <a:rPr lang="en-US" dirty="0"/>
            </a:br>
            <a:br>
              <a:rPr lang="en-US" dirty="0"/>
            </a:br>
            <a:r>
              <a:rPr lang="en-US" b="1" dirty="0">
                <a:solidFill>
                  <a:srgbClr val="0E101A"/>
                </a:solidFill>
                <a:latin typeface="Muli"/>
              </a:rPr>
              <a:t>A) Undo and Redo list will be used to recover </a:t>
            </a:r>
            <a:br>
              <a:rPr lang="en-US" dirty="0"/>
            </a:br>
            <a:r>
              <a:rPr lang="en-US" b="1" dirty="0">
                <a:solidFill>
                  <a:srgbClr val="0E101A"/>
                </a:solidFill>
                <a:latin typeface="Muli"/>
              </a:rPr>
              <a:t>B) Database becomes inconsistent </a:t>
            </a:r>
            <a:br>
              <a:rPr lang="en-US" dirty="0"/>
            </a:br>
            <a:r>
              <a:rPr lang="en-US" b="1" dirty="0">
                <a:solidFill>
                  <a:srgbClr val="0E101A"/>
                </a:solidFill>
                <a:latin typeface="Muli"/>
              </a:rPr>
              <a:t>C) Any transactions that are already done or undone will not get recovered again. </a:t>
            </a:r>
            <a:br>
              <a:rPr lang="en-US" dirty="0"/>
            </a:br>
            <a:r>
              <a:rPr lang="en-US" b="1" dirty="0">
                <a:solidFill>
                  <a:srgbClr val="0E101A"/>
                </a:solidFill>
                <a:latin typeface="Muli"/>
              </a:rPr>
              <a:t>D) The system will not recover further. </a:t>
            </a:r>
            <a:br>
              <a:rPr lang="en-US" dirty="0"/>
            </a:br>
            <a:br>
              <a:rPr lang="en-US" dirty="0"/>
            </a:br>
            <a:r>
              <a:rPr lang="en-US" b="1" dirty="0">
                <a:solidFill>
                  <a:srgbClr val="0E101A"/>
                </a:solidFill>
                <a:latin typeface="Muli"/>
              </a:rPr>
              <a:t>ANSWER:- A </a:t>
            </a:r>
            <a:br>
              <a:rPr lang="en-US" dirty="0"/>
            </a:br>
            <a:r>
              <a:rPr lang="en-US" b="1" dirty="0">
                <a:solidFill>
                  <a:srgbClr val="0E101A"/>
                </a:solidFill>
                <a:latin typeface="Muli"/>
              </a:rPr>
              <a:t>Explanation :</a:t>
            </a:r>
            <a:r>
              <a:rPr lang="en-US" dirty="0">
                <a:solidFill>
                  <a:srgbClr val="0E101A"/>
                </a:solidFill>
                <a:latin typeface="Muli"/>
              </a:rPr>
              <a:t>Even after multiple crashes of the database system, the same undo and redo lift will be used </a:t>
            </a:r>
            <a:endParaRPr lang="en-US" dirty="0"/>
          </a:p>
        </p:txBody>
      </p:sp>
      <p:sp>
        <p:nvSpPr>
          <p:cNvPr id="2" name="Slide Number Placeholder 1">
            <a:extLst>
              <a:ext uri="{FF2B5EF4-FFF2-40B4-BE49-F238E27FC236}">
                <a16:creationId xmlns:a16="http://schemas.microsoft.com/office/drawing/2014/main" id="{6AFE6575-AAE8-2289-6027-01EF88A4E9F0}"/>
              </a:ext>
            </a:extLst>
          </p:cNvPr>
          <p:cNvSpPr>
            <a:spLocks noGrp="1"/>
          </p:cNvSpPr>
          <p:nvPr>
            <p:ph type="sldNum" sz="quarter" idx="12"/>
          </p:nvPr>
        </p:nvSpPr>
        <p:spPr/>
        <p:txBody>
          <a:bodyPr/>
          <a:lstStyle/>
          <a:p>
            <a:fld id="{9BED7385-1A27-4338-8D43-B2B3002AB878}" type="slidenum">
              <a:rPr lang="en-US" smtClean="0"/>
              <a:t>90</a:t>
            </a:fld>
            <a:endParaRPr lang="en-US"/>
          </a:p>
        </p:txBody>
      </p:sp>
    </p:spTree>
    <p:extLst>
      <p:ext uri="{BB962C8B-B14F-4D97-AF65-F5344CB8AC3E}">
        <p14:creationId xmlns:p14="http://schemas.microsoft.com/office/powerpoint/2010/main" val="1468562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1745</TotalTime>
  <Words>6670</Words>
  <Application>Microsoft Office PowerPoint</Application>
  <PresentationFormat>Widescreen</PresentationFormat>
  <Paragraphs>590</Paragraphs>
  <Slides>90</Slides>
  <Notes>24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90</vt:i4>
      </vt:variant>
    </vt:vector>
  </HeadingPairs>
  <TitlesOfParts>
    <vt:vector size="103" baseType="lpstr">
      <vt:lpstr>__Source_Sans_Pro_2fe30b</vt:lpstr>
      <vt:lpstr>Arial</vt:lpstr>
      <vt:lpstr>Arimo</vt:lpstr>
      <vt:lpstr>Calibri</vt:lpstr>
      <vt:lpstr>Calibri Light</vt:lpstr>
      <vt:lpstr>Google Sans</vt:lpstr>
      <vt:lpstr>Muli</vt:lpstr>
      <vt:lpstr>roboto condensed</vt:lpstr>
      <vt:lpstr>Symbol</vt:lpstr>
      <vt:lpstr>Tahoma</vt:lpstr>
      <vt:lpstr>Times New Roman</vt:lpstr>
      <vt:lpstr>Wingdings</vt:lpstr>
      <vt:lpstr>Office Theme</vt:lpstr>
      <vt:lpstr>UNIT 3: Transaction Processing &amp; Concurrency Control </vt:lpstr>
      <vt:lpstr>Transaction processing</vt:lpstr>
      <vt:lpstr>PowerPoint Presentation</vt:lpstr>
      <vt:lpstr>PowerPoint Presentation</vt:lpstr>
      <vt:lpstr>PowerPoint Presentation</vt:lpstr>
      <vt:lpstr> Transaction Processing</vt:lpstr>
      <vt:lpstr>PowerPoint Presentation</vt:lpstr>
      <vt:lpstr>PowerPoint Presentation</vt:lpstr>
      <vt:lpstr>PowerPoint Presentation</vt:lpstr>
      <vt:lpstr>Two sample transactions</vt:lpstr>
      <vt:lpstr>2 Transaction and System Concepts (1)</vt:lpstr>
      <vt:lpstr>PowerPoint Presentation</vt:lpstr>
      <vt:lpstr>PowerPoint Presentation</vt:lpstr>
      <vt:lpstr>Transaction and System Concepts (4)</vt:lpstr>
      <vt:lpstr>State transition diagram illustrating the states for transaction execution</vt:lpstr>
      <vt:lpstr>PowerPoint Presentation</vt:lpstr>
      <vt:lpstr>Concurrent Executions</vt:lpstr>
      <vt:lpstr>PowerPoint Presentation</vt:lpstr>
      <vt:lpstr>Problems with Concurrent Execution </vt:lpstr>
      <vt:lpstr>Lost Update Problems (W - W Conflict) </vt:lpstr>
      <vt:lpstr>PowerPoint Presentation</vt:lpstr>
      <vt:lpstr>Dirty Read Problems (W-R Conflict) </vt:lpstr>
      <vt:lpstr>PowerPoint Presentation</vt:lpstr>
      <vt:lpstr>Unrepeatable Read Problem (W-R Conflict)</vt:lpstr>
      <vt:lpstr>PowerPoint Presentation</vt:lpstr>
      <vt:lpstr>The Blind Write Problem </vt:lpstr>
      <vt:lpstr>Phantom Read Problem- </vt:lpstr>
      <vt:lpstr>PowerPoint Presentation</vt:lpstr>
      <vt:lpstr>PowerPoint Presentation</vt:lpstr>
      <vt:lpstr>Transaction Processing</vt:lpstr>
      <vt:lpstr>Transaction Processing</vt:lpstr>
      <vt:lpstr>Transaction Processing</vt:lpstr>
      <vt:lpstr>Transaction and System Concepts</vt:lpstr>
      <vt:lpstr>PowerPoint Presentation</vt:lpstr>
      <vt:lpstr>PowerPoint Presentation</vt:lpstr>
      <vt:lpstr>PowerPoint Presentation</vt:lpstr>
      <vt:lpstr>Schedules</vt:lpstr>
      <vt:lpstr>Why are Schedules Important? </vt:lpstr>
      <vt:lpstr>PowerPoint Presentation</vt:lpstr>
      <vt:lpstr>PowerPoint Presentation</vt:lpstr>
      <vt:lpstr>Non-Serial Schedules- </vt:lpstr>
      <vt:lpstr>PowerPoint Presentation</vt:lpstr>
      <vt:lpstr>PowerPoint Presentation</vt:lpstr>
      <vt:lpstr>PowerPoint Presentation</vt:lpstr>
      <vt:lpstr>Serializability in DBMS- </vt:lpstr>
      <vt:lpstr>PowerPoint Presentation</vt:lpstr>
      <vt:lpstr>PowerPoint Presentation</vt:lpstr>
      <vt:lpstr>PowerPoint Presentation</vt:lpstr>
      <vt:lpstr>PowerPoint Presentation</vt:lpstr>
      <vt:lpstr>Testing Conflict Serializability</vt:lpstr>
      <vt:lpstr>Testing Conflict Serializability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View Serializability in DBMS  </vt:lpstr>
      <vt:lpstr>PowerPoint Presentation</vt:lpstr>
      <vt:lpstr>View Serializability-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Practice</vt:lpstr>
      <vt:lpstr>Conflict serializable or not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Concurrent Execution in DBMS</dc:title>
  <dc:creator>Mahendran</dc:creator>
  <cp:lastModifiedBy>Dr. Santhanalakshmi S.</cp:lastModifiedBy>
  <cp:revision>114</cp:revision>
  <cp:lastPrinted>2022-12-16T09:34:16Z</cp:lastPrinted>
  <dcterms:created xsi:type="dcterms:W3CDTF">2022-12-13T06:05:21Z</dcterms:created>
  <dcterms:modified xsi:type="dcterms:W3CDTF">2025-09-23T09:44:40Z</dcterms:modified>
</cp:coreProperties>
</file>