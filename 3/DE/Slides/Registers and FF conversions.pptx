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22"/>
  </p:notesMasterIdLst>
  <p:sldIdLst>
    <p:sldId id="256" r:id="rId3"/>
    <p:sldId id="306" r:id="rId4"/>
    <p:sldId id="313" r:id="rId5"/>
    <p:sldId id="314" r:id="rId6"/>
    <p:sldId id="315" r:id="rId7"/>
    <p:sldId id="316" r:id="rId8"/>
    <p:sldId id="321" r:id="rId9"/>
    <p:sldId id="317" r:id="rId10"/>
    <p:sldId id="318" r:id="rId11"/>
    <p:sldId id="319" r:id="rId12"/>
    <p:sldId id="320" r:id="rId13"/>
    <p:sldId id="322" r:id="rId14"/>
    <p:sldId id="325" r:id="rId15"/>
    <p:sldId id="328" r:id="rId16"/>
    <p:sldId id="327" r:id="rId17"/>
    <p:sldId id="326" r:id="rId18"/>
    <p:sldId id="329" r:id="rId19"/>
    <p:sldId id="330" r:id="rId20"/>
    <p:sldId id="33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4E2CF6-84E1-76A4-BBD8-C83694E64400}" v="2" dt="2025-11-06T11:12:16.6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IS SHABU KAMMATTIL-[BL.SC.U4CSE24113]" userId="S::bl.sc.u4cse24113@bl.students.amrita.edu::89ed4f7d-8c2a-42d9-8c9a-4619fb40f969" providerId="AD" clId="Web-{024E2CF6-84E1-76A4-BBD8-C83694E64400}"/>
    <pc:docChg chg="modSld">
      <pc:chgData name="FRANCIS SHABU KAMMATTIL-[BL.SC.U4CSE24113]" userId="S::bl.sc.u4cse24113@bl.students.amrita.edu::89ed4f7d-8c2a-42d9-8c9a-4619fb40f969" providerId="AD" clId="Web-{024E2CF6-84E1-76A4-BBD8-C83694E64400}" dt="2025-11-06T11:12:16.664" v="1" actId="1076"/>
      <pc:docMkLst>
        <pc:docMk/>
      </pc:docMkLst>
      <pc:sldChg chg="modSp">
        <pc:chgData name="FRANCIS SHABU KAMMATTIL-[BL.SC.U4CSE24113]" userId="S::bl.sc.u4cse24113@bl.students.amrita.edu::89ed4f7d-8c2a-42d9-8c9a-4619fb40f969" providerId="AD" clId="Web-{024E2CF6-84E1-76A4-BBD8-C83694E64400}" dt="2025-11-06T11:12:16.664" v="1" actId="1076"/>
        <pc:sldMkLst>
          <pc:docMk/>
          <pc:sldMk cId="368029675" sldId="321"/>
        </pc:sldMkLst>
        <pc:graphicFrameChg chg="mod">
          <ac:chgData name="FRANCIS SHABU KAMMATTIL-[BL.SC.U4CSE24113]" userId="S::bl.sc.u4cse24113@bl.students.amrita.edu::89ed4f7d-8c2a-42d9-8c9a-4619fb40f969" providerId="AD" clId="Web-{024E2CF6-84E1-76A4-BBD8-C83694E64400}" dt="2025-11-06T11:12:16.664" v="1" actId="1076"/>
          <ac:graphicFrameMkLst>
            <pc:docMk/>
            <pc:sldMk cId="368029675" sldId="321"/>
            <ac:graphicFrameMk id="8" creationId="{00000000-0000-0000-0000-000000000000}"/>
          </ac:graphicFrameMkLst>
        </pc:graphicFrameChg>
      </pc:sldChg>
    </pc:docChg>
  </pc:docChgLst>
  <pc:docChgLst>
    <pc:chgData name="Ms. Sangita Khare" userId="S::k_sangita@blr.amrita.edu::6e4d4394-b974-43a0-b8f1-77f4c6e7b5a1" providerId="AD" clId="Web-{C7EAFC8E-8A4E-A2F9-BD7C-BB3C0A27C2C0}"/>
    <pc:docChg chg="delSld">
      <pc:chgData name="Ms. Sangita Khare" userId="S::k_sangita@blr.amrita.edu::6e4d4394-b974-43a0-b8f1-77f4c6e7b5a1" providerId="AD" clId="Web-{C7EAFC8E-8A4E-A2F9-BD7C-BB3C0A27C2C0}" dt="2025-10-31T03:38:05.227" v="2"/>
      <pc:docMkLst>
        <pc:docMk/>
      </pc:docMkLst>
    </pc:docChg>
  </pc:docChgLst>
  <pc:docChgLst>
    <pc:chgData name="Ria K-[BL.SC.U4CSE24239]" userId="S::bl.sc.u4cse24239@bl.students.amrita.edu::af06c007-744f-46fb-8d19-3436f5e6776a" providerId="AD" clId="Web-{FB8F11AF-C0BA-D398-41BF-7F603F0E6449}"/>
    <pc:docChg chg="modSld">
      <pc:chgData name="Ria K-[BL.SC.U4CSE24239]" userId="S::bl.sc.u4cse24239@bl.students.amrita.edu::af06c007-744f-46fb-8d19-3436f5e6776a" providerId="AD" clId="Web-{FB8F11AF-C0BA-D398-41BF-7F603F0E6449}" dt="2025-10-31T05:40:09.634" v="0" actId="1076"/>
      <pc:docMkLst>
        <pc:docMk/>
      </pc:docMkLst>
      <pc:sldChg chg="modSp">
        <pc:chgData name="Ria K-[BL.SC.U4CSE24239]" userId="S::bl.sc.u4cse24239@bl.students.amrita.edu::af06c007-744f-46fb-8d19-3436f5e6776a" providerId="AD" clId="Web-{FB8F11AF-C0BA-D398-41BF-7F603F0E6449}" dt="2025-10-31T05:40:09.634" v="0" actId="1076"/>
        <pc:sldMkLst>
          <pc:docMk/>
          <pc:sldMk cId="3867568463" sldId="331"/>
        </pc:sldMkLst>
        <pc:picChg chg="mod">
          <ac:chgData name="Ria K-[BL.SC.U4CSE24239]" userId="S::bl.sc.u4cse24239@bl.students.amrita.edu::af06c007-744f-46fb-8d19-3436f5e6776a" providerId="AD" clId="Web-{FB8F11AF-C0BA-D398-41BF-7F603F0E6449}" dt="2025-10-31T05:40:09.634" v="0" actId="1076"/>
          <ac:picMkLst>
            <pc:docMk/>
            <pc:sldMk cId="3867568463" sldId="331"/>
            <ac:picMk id="10"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B3A6A6-94DB-4E69-A51D-AC6BAED101D1}" type="datetimeFigureOut">
              <a:rPr lang="en-US" smtClean="0"/>
              <a:t>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2563FF-343A-44BD-9B8C-89792099181F}" type="slidenum">
              <a:rPr lang="en-US" smtClean="0"/>
              <a:t>‹#›</a:t>
            </a:fld>
            <a:endParaRPr lang="en-US"/>
          </a:p>
        </p:txBody>
      </p:sp>
    </p:spTree>
    <p:extLst>
      <p:ext uri="{BB962C8B-B14F-4D97-AF65-F5344CB8AC3E}">
        <p14:creationId xmlns:p14="http://schemas.microsoft.com/office/powerpoint/2010/main" val="2442637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ECBD4EF-3056-4B97-9556-2B5E2B0ECB07}" type="datetime1">
              <a:rPr lang="en-US" smtClean="0"/>
              <a:t>11/6/2025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a:t>
            </a:fld>
            <a:endParaRPr lang="en-US"/>
          </a:p>
        </p:txBody>
      </p:sp>
      <p:pic>
        <p:nvPicPr>
          <p:cNvPr id="7" name="Picture 6" descr="G:\School\AVV logo\Amrita-colr.jpg"/>
          <p:cNvPicPr>
            <a:picLocks noChangeAspect="1" noChangeArrowheads="1"/>
          </p:cNvPicPr>
          <p:nvPr userDrawn="1"/>
        </p:nvPicPr>
        <p:blipFill>
          <a:blip r:embed="rId2" cstate="print"/>
          <a:srcRect/>
          <a:stretch>
            <a:fillRect/>
          </a:stretch>
        </p:blipFill>
        <p:spPr bwMode="auto">
          <a:xfrm>
            <a:off x="9735213" y="175475"/>
            <a:ext cx="2303462" cy="685800"/>
          </a:xfrm>
          <a:prstGeom prst="rect">
            <a:avLst/>
          </a:prstGeom>
          <a:noFill/>
          <a:ln w="9525">
            <a:noFill/>
            <a:miter lim="800000"/>
            <a:headEnd/>
            <a:tailEnd/>
          </a:ln>
        </p:spPr>
      </p:pic>
    </p:spTree>
    <p:extLst>
      <p:ext uri="{BB962C8B-B14F-4D97-AF65-F5344CB8AC3E}">
        <p14:creationId xmlns:p14="http://schemas.microsoft.com/office/powerpoint/2010/main" val="4224720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9E79CC-A6B8-4C49-AF34-96484E9A19DF}" type="datetime1">
              <a:rPr lang="en-US" smtClean="0"/>
              <a:t>11/6/2025</a:t>
            </a:fld>
            <a:endParaRPr lang="en-US"/>
          </a:p>
        </p:txBody>
      </p:sp>
      <p:sp>
        <p:nvSpPr>
          <p:cNvPr id="8" name="Footer Placeholder 7"/>
          <p:cNvSpPr>
            <a:spLocks noGrp="1"/>
          </p:cNvSpPr>
          <p:nvPr>
            <p:ph type="ftr" sz="quarter" idx="11"/>
          </p:nvPr>
        </p:nvSpPr>
        <p:spPr/>
        <p:txBody>
          <a:bodyPr/>
          <a:lstStyle/>
          <a:p>
            <a:r>
              <a:rPr lang="en-US"/>
              <a:t>19ECE204/Digital Electronics &amp; Systems, III Semester, B. Tech. (ECE and CSE)</a:t>
            </a:r>
          </a:p>
        </p:txBody>
      </p:sp>
      <p:sp>
        <p:nvSpPr>
          <p:cNvPr id="9" name="Slide Number Placeholder 8"/>
          <p:cNvSpPr>
            <a:spLocks noGrp="1"/>
          </p:cNvSpPr>
          <p:nvPr>
            <p:ph type="sldNum" sz="quarter" idx="12"/>
          </p:nvPr>
        </p:nvSpPr>
        <p:spPr/>
        <p:txBody>
          <a:bodyPr/>
          <a:lstStyle/>
          <a:p>
            <a:fld id="{84075514-8565-4B1F-808F-4A3F55E508C2}" type="slidenum">
              <a:rPr lang="en-US" smtClean="0"/>
              <a:t>‹#›</a:t>
            </a:fld>
            <a:endParaRPr lang="en-US"/>
          </a:p>
        </p:txBody>
      </p:sp>
      <p:pic>
        <p:nvPicPr>
          <p:cNvPr id="11" name="Picture 10" descr="G:\School\AVV logo\Amrita-colr.jpg"/>
          <p:cNvPicPr>
            <a:picLocks noChangeAspect="1" noChangeArrowheads="1"/>
          </p:cNvPicPr>
          <p:nvPr userDrawn="1"/>
        </p:nvPicPr>
        <p:blipFill>
          <a:blip r:embed="rId2" cstate="print"/>
          <a:srcRect/>
          <a:stretch>
            <a:fillRect/>
          </a:stretch>
        </p:blipFill>
        <p:spPr bwMode="auto">
          <a:xfrm>
            <a:off x="9735213" y="175475"/>
            <a:ext cx="2303462" cy="685800"/>
          </a:xfrm>
          <a:prstGeom prst="rect">
            <a:avLst/>
          </a:prstGeom>
          <a:noFill/>
          <a:ln w="9525">
            <a:noFill/>
            <a:miter lim="800000"/>
            <a:headEnd/>
            <a:tailEnd/>
          </a:ln>
        </p:spPr>
      </p:pic>
    </p:spTree>
    <p:extLst>
      <p:ext uri="{BB962C8B-B14F-4D97-AF65-F5344CB8AC3E}">
        <p14:creationId xmlns:p14="http://schemas.microsoft.com/office/powerpoint/2010/main" val="2347408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FD642D4-807D-420D-80A1-F35452B67CB3}" type="datetime1">
              <a:rPr lang="en-US" smtClean="0"/>
              <a:t>11/6/2025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3438387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8250D6-8969-4F90-B501-B02EAEAED0F4}" type="datetime1">
              <a:rPr lang="en-US" smtClean="0"/>
              <a:t>11/6/2025</a:t>
            </a:fld>
            <a:endParaRPr lang="en-US"/>
          </a:p>
        </p:txBody>
      </p:sp>
      <p:sp>
        <p:nvSpPr>
          <p:cNvPr id="6" name="Footer Placeholder 5"/>
          <p:cNvSpPr>
            <a:spLocks noGrp="1"/>
          </p:cNvSpPr>
          <p:nvPr>
            <p:ph type="ftr" sz="quarter" idx="11"/>
          </p:nvPr>
        </p:nvSpPr>
        <p:spPr/>
        <p:txBody>
          <a:bodyPr/>
          <a:lstStyle/>
          <a:p>
            <a:r>
              <a:rPr lang="en-US"/>
              <a:t>19ECE204/Digital Electronics &amp; Systems, III Semester, B. Tech. (ECE and CSE)</a:t>
            </a:r>
          </a:p>
        </p:txBody>
      </p:sp>
      <p:sp>
        <p:nvSpPr>
          <p:cNvPr id="7" name="Slide Number Placeholder 6"/>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60784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0D281B8-BBF3-434A-93B1-CF08EA714994}" type="datetime1">
              <a:rPr lang="en-US" smtClean="0"/>
              <a:t>11/6/2025</a:t>
            </a:fld>
            <a:endParaRPr lang="en-US"/>
          </a:p>
        </p:txBody>
      </p:sp>
      <p:sp>
        <p:nvSpPr>
          <p:cNvPr id="8" name="Footer Placeholder 7"/>
          <p:cNvSpPr>
            <a:spLocks noGrp="1"/>
          </p:cNvSpPr>
          <p:nvPr>
            <p:ph type="ftr" sz="quarter" idx="11"/>
          </p:nvPr>
        </p:nvSpPr>
        <p:spPr/>
        <p:txBody>
          <a:bodyPr/>
          <a:lstStyle/>
          <a:p>
            <a:r>
              <a:rPr lang="en-US"/>
              <a:t>19ECE204/Digital Electronics &amp; Systems, III Semester, B. Tech. (ECE and CSE)</a:t>
            </a:r>
          </a:p>
        </p:txBody>
      </p:sp>
      <p:sp>
        <p:nvSpPr>
          <p:cNvPr id="9" name="Slide Number Placeholder 8"/>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3507722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330E48-BE2D-4AA2-A0EB-9EA694F21726}" type="datetime1">
              <a:rPr lang="en-US" smtClean="0"/>
              <a:t>11/6/2025</a:t>
            </a:fld>
            <a:endParaRPr lang="en-US"/>
          </a:p>
        </p:txBody>
      </p:sp>
      <p:sp>
        <p:nvSpPr>
          <p:cNvPr id="4" name="Footer Placeholder 3"/>
          <p:cNvSpPr>
            <a:spLocks noGrp="1"/>
          </p:cNvSpPr>
          <p:nvPr>
            <p:ph type="ftr" sz="quarter" idx="11"/>
          </p:nvPr>
        </p:nvSpPr>
        <p:spPr/>
        <p:txBody>
          <a:bodyPr/>
          <a:lstStyle/>
          <a:p>
            <a:r>
              <a:rPr lang="en-US"/>
              <a:t>19ECE204/Digital Electronics &amp; Systems, III Semester, B. Tech. (ECE and CSE)</a:t>
            </a:r>
          </a:p>
        </p:txBody>
      </p:sp>
      <p:sp>
        <p:nvSpPr>
          <p:cNvPr id="5" name="Slide Number Placeholder 4"/>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1498872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AFC3D-4387-49FD-A45B-F652CB747E05}" type="datetime1">
              <a:rPr lang="en-US" smtClean="0"/>
              <a:t>11/6/2025</a:t>
            </a:fld>
            <a:endParaRPr lang="en-US"/>
          </a:p>
        </p:txBody>
      </p:sp>
      <p:sp>
        <p:nvSpPr>
          <p:cNvPr id="3" name="Footer Placeholder 2"/>
          <p:cNvSpPr>
            <a:spLocks noGrp="1"/>
          </p:cNvSpPr>
          <p:nvPr>
            <p:ph type="ftr" sz="quarter" idx="11"/>
          </p:nvPr>
        </p:nvSpPr>
        <p:spPr/>
        <p:txBody>
          <a:bodyPr/>
          <a:lstStyle/>
          <a:p>
            <a:r>
              <a:rPr lang="en-US"/>
              <a:t>19ECE204/Digital Electronics &amp; Systems, III Semester, B. Tech. (ECE and CSE)</a:t>
            </a:r>
          </a:p>
        </p:txBody>
      </p:sp>
      <p:sp>
        <p:nvSpPr>
          <p:cNvPr id="4" name="Slide Number Placeholder 3"/>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2014275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E528F30-94FE-4D3B-B1BE-8F01BBC3B0D5}" type="datetime1">
              <a:rPr lang="en-US" smtClean="0"/>
              <a:t>11/6/2025</a:t>
            </a:fld>
            <a:endParaRPr lang="en-US"/>
          </a:p>
        </p:txBody>
      </p:sp>
      <p:sp>
        <p:nvSpPr>
          <p:cNvPr id="6" name="Footer Placeholder 5"/>
          <p:cNvSpPr>
            <a:spLocks noGrp="1"/>
          </p:cNvSpPr>
          <p:nvPr>
            <p:ph type="ftr" sz="quarter" idx="11"/>
          </p:nvPr>
        </p:nvSpPr>
        <p:spPr/>
        <p:txBody>
          <a:bodyPr/>
          <a:lstStyle/>
          <a:p>
            <a:r>
              <a:rPr lang="en-US"/>
              <a:t>19ECE204/Digital Electronics &amp; Systems, III Semester, B. Tech. (ECE and CSE)</a:t>
            </a:r>
          </a:p>
        </p:txBody>
      </p:sp>
      <p:sp>
        <p:nvSpPr>
          <p:cNvPr id="7" name="Slide Number Placeholder 6"/>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2762560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83D5117-E551-4A2E-9BBE-E73A17A8D695}" type="datetime1">
              <a:rPr lang="en-US" smtClean="0"/>
              <a:t>11/6/2025</a:t>
            </a:fld>
            <a:endParaRPr lang="en-US"/>
          </a:p>
        </p:txBody>
      </p:sp>
      <p:sp>
        <p:nvSpPr>
          <p:cNvPr id="6" name="Footer Placeholder 5"/>
          <p:cNvSpPr>
            <a:spLocks noGrp="1"/>
          </p:cNvSpPr>
          <p:nvPr>
            <p:ph type="ftr" sz="quarter" idx="11"/>
          </p:nvPr>
        </p:nvSpPr>
        <p:spPr/>
        <p:txBody>
          <a:bodyPr/>
          <a:lstStyle/>
          <a:p>
            <a:r>
              <a:rPr lang="en-US"/>
              <a:t>19ECE204/Digital Electronics &amp; Systems, III Semester, B. Tech. (ECE and CSE)</a:t>
            </a:r>
          </a:p>
        </p:txBody>
      </p:sp>
      <p:sp>
        <p:nvSpPr>
          <p:cNvPr id="7" name="Slide Number Placeholder 6"/>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3050265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8979C2-1AA3-431E-BDAF-BD3D286FD147}" type="datetime1">
              <a:rPr lang="en-US" smtClean="0"/>
              <a:t>11/6/2025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1195168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7B5EEE-2FDC-495F-9583-E05CE03C685D}" type="datetime1">
              <a:rPr lang="en-US" smtClean="0"/>
              <a:t>11/6/2025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1231881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1C4116F-E6DB-45FA-8550-946574418C50}" type="datetime1">
              <a:rPr lang="en-US" smtClean="0"/>
              <a:t>11/6/2025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35606672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89CAAD-A33B-4E51-A45C-933544C1C87A}" type="datetime1">
              <a:rPr lang="en-US" smtClean="0"/>
              <a:t>11/6/2025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20478401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9A620A9-077A-43BA-B166-40E9CA25818D}" type="datetime1">
              <a:rPr lang="en-US" smtClean="0"/>
              <a:t>11/6/2025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1099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91FE07F-ED13-4319-B417-C7202829986A}" type="datetime1">
              <a:rPr lang="en-US" smtClean="0"/>
              <a:t>11/6/2025</a:t>
            </a:fld>
            <a:endParaRPr lang="en-US"/>
          </a:p>
        </p:txBody>
      </p:sp>
      <p:sp>
        <p:nvSpPr>
          <p:cNvPr id="6" name="Footer Placeholder 5"/>
          <p:cNvSpPr>
            <a:spLocks noGrp="1"/>
          </p:cNvSpPr>
          <p:nvPr>
            <p:ph type="ftr" sz="quarter" idx="11"/>
          </p:nvPr>
        </p:nvSpPr>
        <p:spPr/>
        <p:txBody>
          <a:bodyPr/>
          <a:lstStyle/>
          <a:p>
            <a:r>
              <a:rPr lang="en-US"/>
              <a:t>19ECE204/Digital Electronics &amp; Systems, III Semester, B. Tech. (ECE and CSE)</a:t>
            </a:r>
          </a:p>
        </p:txBody>
      </p:sp>
      <p:sp>
        <p:nvSpPr>
          <p:cNvPr id="7" name="Slide Number Placeholder 6"/>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21129111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B8FF0C-C765-443E-9334-3170E3AFC63E}" type="datetime1">
              <a:rPr lang="en-US" smtClean="0"/>
              <a:t>11/6/2025</a:t>
            </a:fld>
            <a:endParaRPr lang="en-US"/>
          </a:p>
        </p:txBody>
      </p:sp>
      <p:sp>
        <p:nvSpPr>
          <p:cNvPr id="8" name="Footer Placeholder 7"/>
          <p:cNvSpPr>
            <a:spLocks noGrp="1"/>
          </p:cNvSpPr>
          <p:nvPr>
            <p:ph type="ftr" sz="quarter" idx="11"/>
          </p:nvPr>
        </p:nvSpPr>
        <p:spPr/>
        <p:txBody>
          <a:bodyPr/>
          <a:lstStyle/>
          <a:p>
            <a:r>
              <a:rPr lang="en-US"/>
              <a:t>19ECE204/Digital Electronics &amp; Systems, III Semester, B. Tech. (ECE and CSE)</a:t>
            </a:r>
          </a:p>
        </p:txBody>
      </p:sp>
      <p:sp>
        <p:nvSpPr>
          <p:cNvPr id="9" name="Slide Number Placeholder 8"/>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26359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9597AC9-1F9E-4900-AADC-FC5AFB2FEEDF}" type="datetime1">
              <a:rPr lang="en-US" smtClean="0"/>
              <a:t>11/6/2025</a:t>
            </a:fld>
            <a:endParaRPr lang="en-US"/>
          </a:p>
        </p:txBody>
      </p:sp>
      <p:sp>
        <p:nvSpPr>
          <p:cNvPr id="4" name="Footer Placeholder 3"/>
          <p:cNvSpPr>
            <a:spLocks noGrp="1"/>
          </p:cNvSpPr>
          <p:nvPr>
            <p:ph type="ftr" sz="quarter" idx="11"/>
          </p:nvPr>
        </p:nvSpPr>
        <p:spPr/>
        <p:txBody>
          <a:bodyPr/>
          <a:lstStyle/>
          <a:p>
            <a:r>
              <a:rPr lang="en-US"/>
              <a:t>19ECE204/Digital Electronics &amp; Systems, III Semester, B. Tech. (ECE and CSE)</a:t>
            </a:r>
          </a:p>
        </p:txBody>
      </p:sp>
      <p:sp>
        <p:nvSpPr>
          <p:cNvPr id="5" name="Slide Number Placeholder 4"/>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14304955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4E8E0F-664B-47D0-919C-32EC9C78FCD1}" type="datetime1">
              <a:rPr lang="en-US" smtClean="0"/>
              <a:t>11/6/2025</a:t>
            </a:fld>
            <a:endParaRPr lang="en-US"/>
          </a:p>
        </p:txBody>
      </p:sp>
      <p:sp>
        <p:nvSpPr>
          <p:cNvPr id="3" name="Footer Placeholder 2"/>
          <p:cNvSpPr>
            <a:spLocks noGrp="1"/>
          </p:cNvSpPr>
          <p:nvPr>
            <p:ph type="ftr" sz="quarter" idx="11"/>
          </p:nvPr>
        </p:nvSpPr>
        <p:spPr/>
        <p:txBody>
          <a:bodyPr/>
          <a:lstStyle/>
          <a:p>
            <a:r>
              <a:rPr lang="en-US"/>
              <a:t>19ECE204/Digital Electronics &amp; Systems, III Semester, B. Tech. (ECE and CSE)</a:t>
            </a:r>
          </a:p>
        </p:txBody>
      </p:sp>
      <p:sp>
        <p:nvSpPr>
          <p:cNvPr id="4" name="Slide Number Placeholder 3"/>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7758743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1BAE3EE-ECF8-4108-B490-C0B7EB305B59}" type="datetime1">
              <a:rPr lang="en-US" smtClean="0"/>
              <a:t>11/6/2025</a:t>
            </a:fld>
            <a:endParaRPr lang="en-US"/>
          </a:p>
        </p:txBody>
      </p:sp>
      <p:sp>
        <p:nvSpPr>
          <p:cNvPr id="6" name="Footer Placeholder 5"/>
          <p:cNvSpPr>
            <a:spLocks noGrp="1"/>
          </p:cNvSpPr>
          <p:nvPr>
            <p:ph type="ftr" sz="quarter" idx="11"/>
          </p:nvPr>
        </p:nvSpPr>
        <p:spPr/>
        <p:txBody>
          <a:bodyPr/>
          <a:lstStyle/>
          <a:p>
            <a:r>
              <a:rPr lang="en-US"/>
              <a:t>19ECE204/Digital Electronics &amp; Systems, III Semester, B. Tech. (ECE and CSE)</a:t>
            </a:r>
          </a:p>
        </p:txBody>
      </p:sp>
      <p:sp>
        <p:nvSpPr>
          <p:cNvPr id="7" name="Slide Number Placeholder 6"/>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4566409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5DC9BC-885C-4B56-B552-275307930026}" type="datetime1">
              <a:rPr lang="en-US" smtClean="0"/>
              <a:t>11/6/2025</a:t>
            </a:fld>
            <a:endParaRPr lang="en-US"/>
          </a:p>
        </p:txBody>
      </p:sp>
      <p:sp>
        <p:nvSpPr>
          <p:cNvPr id="6" name="Footer Placeholder 5"/>
          <p:cNvSpPr>
            <a:spLocks noGrp="1"/>
          </p:cNvSpPr>
          <p:nvPr>
            <p:ph type="ftr" sz="quarter" idx="11"/>
          </p:nvPr>
        </p:nvSpPr>
        <p:spPr/>
        <p:txBody>
          <a:bodyPr/>
          <a:lstStyle/>
          <a:p>
            <a:r>
              <a:rPr lang="en-US"/>
              <a:t>19ECE204/Digital Electronics &amp; Systems, III Semester, B. Tech. (ECE and CSE)</a:t>
            </a:r>
          </a:p>
        </p:txBody>
      </p:sp>
      <p:sp>
        <p:nvSpPr>
          <p:cNvPr id="7" name="Slide Number Placeholder 6"/>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40609589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004F65-FBD5-4097-9DE2-B18DD8E779F9}" type="datetime1">
              <a:rPr lang="en-US" smtClean="0"/>
              <a:t>11/6/2025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22165253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E39265-B67A-4D8D-8B1B-E501B4F16AF9}" type="datetime1">
              <a:rPr lang="en-US" smtClean="0"/>
              <a:t>11/6/2025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2446709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2B591D-6F37-4428-BD72-AF1D3F11460E}" type="datetime1">
              <a:rPr lang="en-US" smtClean="0"/>
              <a:t>11/6/2025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19ECE204/Digital Electronics &amp; Systems, III Semester, B. Tech. (ECE and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075514-8565-4B1F-808F-4A3F55E508C2}" type="slidenum">
              <a:rPr lang="en-US" smtClean="0"/>
              <a:t>‹#›</a:t>
            </a:fld>
            <a:endParaRPr lang="en-US"/>
          </a:p>
        </p:txBody>
      </p:sp>
    </p:spTree>
    <p:extLst>
      <p:ext uri="{BB962C8B-B14F-4D97-AF65-F5344CB8AC3E}">
        <p14:creationId xmlns:p14="http://schemas.microsoft.com/office/powerpoint/2010/main" val="2410501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828E6B-F33D-4C00-B33E-77918AB848A2}" type="datetime1">
              <a:rPr lang="en-US" smtClean="0"/>
              <a:t>11/6/2025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19ECE204/Digital Electronics &amp; Systems, III Semester, B. Tech. (ECE and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38CEE4-497A-46F1-9B46-31574AD5C85A}" type="slidenum">
              <a:rPr lang="en-US" smtClean="0"/>
              <a:t>‹#›</a:t>
            </a:fld>
            <a:endParaRPr lang="en-US"/>
          </a:p>
        </p:txBody>
      </p:sp>
    </p:spTree>
    <p:extLst>
      <p:ext uri="{BB962C8B-B14F-4D97-AF65-F5344CB8AC3E}">
        <p14:creationId xmlns:p14="http://schemas.microsoft.com/office/powerpoint/2010/main" val="37022287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7.xml"/><Relationship Id="rId4" Type="http://schemas.openxmlformats.org/officeDocument/2006/relationships/image" Target="../media/image12.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7.xml"/><Relationship Id="rId4" Type="http://schemas.openxmlformats.org/officeDocument/2006/relationships/image" Target="../media/image15.emf"/></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951802"/>
            <a:ext cx="9144000" cy="2387600"/>
          </a:xfrm>
        </p:spPr>
        <p:txBody>
          <a:bodyPr>
            <a:normAutofit fontScale="90000"/>
          </a:bodyPr>
          <a:lstStyle/>
          <a:p>
            <a:br>
              <a:rPr lang="en-US"/>
            </a:br>
            <a:br>
              <a:rPr lang="en-US">
                <a:latin typeface="Times New Roman" panose="02020603050405020304" pitchFamily="18" charset="0"/>
                <a:cs typeface="Times New Roman" panose="02020603050405020304" pitchFamily="18" charset="0"/>
              </a:rPr>
            </a:br>
            <a:r>
              <a:rPr lang="en-US">
                <a:latin typeface="Times New Roman"/>
                <a:cs typeface="Times New Roman"/>
              </a:rPr>
              <a:t>Digital Electronics  </a:t>
            </a:r>
            <a:br>
              <a:rPr lang="en-US">
                <a:latin typeface="Times New Roman" panose="02020603050405020304" pitchFamily="18" charset="0"/>
                <a:cs typeface="Times New Roman" panose="02020603050405020304" pitchFamily="18" charset="0"/>
              </a:rPr>
            </a:br>
            <a:r>
              <a:rPr lang="en-US">
                <a:latin typeface="Times New Roman"/>
                <a:cs typeface="Times New Roman"/>
              </a:rPr>
              <a:t>III Semester </a:t>
            </a:r>
            <a:br>
              <a:rPr lang="en-US">
                <a:latin typeface="Times New Roman" panose="02020603050405020304" pitchFamily="18" charset="0"/>
                <a:cs typeface="Times New Roman" panose="02020603050405020304" pitchFamily="18" charset="0"/>
              </a:rPr>
            </a:br>
            <a:r>
              <a:rPr lang="en-US">
                <a:latin typeface="Times New Roman"/>
                <a:cs typeface="Times New Roman"/>
              </a:rPr>
              <a:t>B. Tech. ( CSE)</a:t>
            </a:r>
            <a:br>
              <a:rPr lang="en-US">
                <a:latin typeface="Times New Roman" panose="02020603050405020304" pitchFamily="18" charset="0"/>
                <a:cs typeface="Times New Roman" panose="02020603050405020304" pitchFamily="18" charset="0"/>
              </a:rPr>
            </a:br>
            <a:r>
              <a:rPr lang="en-US">
                <a:latin typeface="Times New Roman"/>
                <a:cs typeface="Times New Roman"/>
              </a:rPr>
              <a:t>Amrita School of Engineering, Bengaluru</a:t>
            </a:r>
            <a:br>
              <a:rPr lang="en-US">
                <a:latin typeface="Times New Roman" panose="02020603050405020304" pitchFamily="18" charset="0"/>
                <a:cs typeface="Times New Roman" panose="02020603050405020304" pitchFamily="18" charset="0"/>
              </a:rPr>
            </a:br>
            <a:r>
              <a:rPr lang="en-US">
                <a:latin typeface="Times New Roman"/>
                <a:cs typeface="Times New Roman"/>
              </a:rPr>
              <a:t>FF conversion and Registers</a:t>
            </a:r>
          </a:p>
        </p:txBody>
      </p:sp>
      <p:sp>
        <p:nvSpPr>
          <p:cNvPr id="3" name="Subtitle 2"/>
          <p:cNvSpPr>
            <a:spLocks noGrp="1"/>
          </p:cNvSpPr>
          <p:nvPr>
            <p:ph type="subTitle" idx="1"/>
          </p:nvPr>
        </p:nvSpPr>
        <p:spPr>
          <a:xfrm>
            <a:off x="1524000" y="4895260"/>
            <a:ext cx="9144000" cy="1655762"/>
          </a:xfrm>
        </p:spPr>
        <p:txBody>
          <a:bodyPr/>
          <a:lstStyle/>
          <a:p>
            <a:endParaRPr lang="en-US"/>
          </a:p>
          <a:p>
            <a:r>
              <a:rPr lang="en-US"/>
              <a:t> </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8968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2438" y="36946"/>
            <a:ext cx="5394035" cy="707886"/>
          </a:xfrm>
          <a:prstGeom prst="rect">
            <a:avLst/>
          </a:prstGeom>
          <a:noFill/>
        </p:spPr>
        <p:txBody>
          <a:bodyPr wrap="square" rtlCol="0">
            <a:spAutoFit/>
          </a:bodyPr>
          <a:lstStyle/>
          <a:p>
            <a:r>
              <a:rPr lang="en-IN" sz="4000" u="sng">
                <a:solidFill>
                  <a:srgbClr val="FF0000"/>
                </a:solidFill>
                <a:latin typeface="Times New Roman" panose="02020603050405020304" pitchFamily="18" charset="0"/>
                <a:cs typeface="Times New Roman" panose="02020603050405020304" pitchFamily="18" charset="0"/>
              </a:rPr>
              <a:t>Flip-Flop Conversion</a:t>
            </a:r>
            <a:endParaRPr lang="en-IN" sz="4000">
              <a:solidFill>
                <a:srgbClr val="FF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267861" y="822043"/>
            <a:ext cx="11924139" cy="4323748"/>
          </a:xfrm>
          <a:prstGeom prst="rect">
            <a:avLst/>
          </a:prstGeom>
          <a:noFill/>
        </p:spPr>
        <p:txBody>
          <a:bodyPr wrap="square" rtlCol="0">
            <a:spAutoFit/>
          </a:bodyPr>
          <a:lstStyle/>
          <a:p>
            <a:r>
              <a:rPr lang="en-IN" sz="2800" b="1">
                <a:latin typeface="Times New Roman" panose="02020603050405020304" pitchFamily="18" charset="0"/>
                <a:cs typeface="Times New Roman" panose="02020603050405020304" pitchFamily="18" charset="0"/>
              </a:rPr>
              <a:t>Steps for Flip-Flop Conversions:</a:t>
            </a:r>
          </a:p>
          <a:p>
            <a:pPr marL="514350" indent="-514350">
              <a:lnSpc>
                <a:spcPct val="150000"/>
              </a:lnSpc>
              <a:buAutoNum type="arabicPeriod"/>
            </a:pPr>
            <a:r>
              <a:rPr lang="en-IN" sz="2800">
                <a:latin typeface="Times New Roman" panose="02020603050405020304" pitchFamily="18" charset="0"/>
                <a:cs typeface="Times New Roman" panose="02020603050405020304" pitchFamily="18" charset="0"/>
              </a:rPr>
              <a:t>Identify available and required flip flop.</a:t>
            </a:r>
          </a:p>
          <a:p>
            <a:pPr marL="514350" indent="-514350">
              <a:lnSpc>
                <a:spcPct val="150000"/>
              </a:lnSpc>
              <a:buAutoNum type="arabicPeriod"/>
            </a:pPr>
            <a:r>
              <a:rPr lang="en-IN" sz="2800">
                <a:latin typeface="Times New Roman" panose="02020603050405020304" pitchFamily="18" charset="0"/>
                <a:cs typeface="Times New Roman" panose="02020603050405020304" pitchFamily="18" charset="0"/>
              </a:rPr>
              <a:t>Write characteristic table for required flip flop.</a:t>
            </a:r>
          </a:p>
          <a:p>
            <a:pPr marL="514350" indent="-514350">
              <a:lnSpc>
                <a:spcPct val="150000"/>
              </a:lnSpc>
              <a:buAutoNum type="arabicPeriod"/>
            </a:pPr>
            <a:r>
              <a:rPr lang="en-IN" sz="2800">
                <a:latin typeface="Times New Roman" panose="02020603050405020304" pitchFamily="18" charset="0"/>
                <a:cs typeface="Times New Roman" panose="02020603050405020304" pitchFamily="18" charset="0"/>
              </a:rPr>
              <a:t>Write excitation table for available flip flop.</a:t>
            </a:r>
          </a:p>
          <a:p>
            <a:pPr marL="514350" indent="-514350">
              <a:lnSpc>
                <a:spcPct val="150000"/>
              </a:lnSpc>
              <a:buAutoNum type="arabicPeriod"/>
            </a:pPr>
            <a:r>
              <a:rPr lang="en-IN" sz="2800">
                <a:latin typeface="Times New Roman" panose="02020603050405020304" pitchFamily="18" charset="0"/>
                <a:cs typeface="Times New Roman" panose="02020603050405020304" pitchFamily="18" charset="0"/>
              </a:rPr>
              <a:t>Make conversion table and using K-map write Boolean expression for available flip flop.</a:t>
            </a:r>
          </a:p>
          <a:p>
            <a:pPr marL="514350" indent="-514350">
              <a:lnSpc>
                <a:spcPct val="150000"/>
              </a:lnSpc>
              <a:buAutoNum type="arabicPeriod"/>
            </a:pPr>
            <a:r>
              <a:rPr lang="en-IN" sz="2800">
                <a:latin typeface="Times New Roman" panose="02020603050405020304" pitchFamily="18" charset="0"/>
                <a:cs typeface="Times New Roman" panose="02020603050405020304" pitchFamily="18" charset="0"/>
              </a:rPr>
              <a:t>Draw the circuit.   </a:t>
            </a:r>
          </a:p>
        </p:txBody>
      </p:sp>
    </p:spTree>
    <p:extLst>
      <p:ext uri="{BB962C8B-B14F-4D97-AF65-F5344CB8AC3E}">
        <p14:creationId xmlns:p14="http://schemas.microsoft.com/office/powerpoint/2010/main" val="1876654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4075514-8565-4B1F-808F-4A3F55E508C2}" type="slidenum">
              <a:rPr lang="en-US" smtClean="0"/>
              <a:t>3</a:t>
            </a:fld>
            <a:endParaRPr lang="en-US"/>
          </a:p>
        </p:txBody>
      </p:sp>
      <p:sp>
        <p:nvSpPr>
          <p:cNvPr id="6" name="TextBox 5"/>
          <p:cNvSpPr txBox="1"/>
          <p:nvPr/>
        </p:nvSpPr>
        <p:spPr>
          <a:xfrm>
            <a:off x="175491" y="785096"/>
            <a:ext cx="4710545" cy="830997"/>
          </a:xfrm>
          <a:prstGeom prst="rect">
            <a:avLst/>
          </a:prstGeom>
          <a:noFill/>
        </p:spPr>
        <p:txBody>
          <a:bodyPr wrap="square" rtlCol="0">
            <a:spAutoFit/>
          </a:bodyPr>
          <a:lstStyle/>
          <a:p>
            <a:pPr marL="342900" indent="-342900">
              <a:buAutoNum type="arabicPeriod"/>
            </a:pPr>
            <a:r>
              <a:rPr lang="en-IN" sz="2400">
                <a:latin typeface="Times New Roman" panose="02020603050405020304" pitchFamily="18" charset="0"/>
                <a:cs typeface="Times New Roman" panose="02020603050405020304" pitchFamily="18" charset="0"/>
              </a:rPr>
              <a:t>Available Flip Flop : JK Flip Flop</a:t>
            </a:r>
          </a:p>
          <a:p>
            <a:r>
              <a:rPr lang="en-IN" sz="2400">
                <a:latin typeface="Times New Roman" panose="02020603050405020304" pitchFamily="18" charset="0"/>
                <a:cs typeface="Times New Roman" panose="02020603050405020304" pitchFamily="18" charset="0"/>
              </a:rPr>
              <a:t>     Required Flip Flop : D Flip Flop</a:t>
            </a:r>
          </a:p>
        </p:txBody>
      </p:sp>
      <p:sp>
        <p:nvSpPr>
          <p:cNvPr id="7" name="TextBox 6"/>
          <p:cNvSpPr txBox="1"/>
          <p:nvPr/>
        </p:nvSpPr>
        <p:spPr>
          <a:xfrm>
            <a:off x="212439" y="1681025"/>
            <a:ext cx="6464585" cy="1292662"/>
          </a:xfrm>
          <a:prstGeom prst="rect">
            <a:avLst/>
          </a:prstGeom>
          <a:noFill/>
        </p:spPr>
        <p:txBody>
          <a:bodyPr wrap="square" rtlCol="0">
            <a:spAutoFit/>
          </a:bodyPr>
          <a:lstStyle/>
          <a:p>
            <a:r>
              <a:rPr lang="en-IN" sz="2400">
                <a:latin typeface="Times New Roman" panose="02020603050405020304" pitchFamily="18" charset="0"/>
                <a:cs typeface="Times New Roman" panose="02020603050405020304" pitchFamily="18" charset="0"/>
              </a:rPr>
              <a:t>2.</a:t>
            </a:r>
            <a:r>
              <a:rPr lang="en-IN"/>
              <a:t> </a:t>
            </a:r>
            <a:r>
              <a:rPr lang="en-IN" sz="2400">
                <a:latin typeface="Times New Roman" panose="02020603050405020304" pitchFamily="18" charset="0"/>
                <a:cs typeface="Times New Roman" panose="02020603050405020304" pitchFamily="18" charset="0"/>
              </a:rPr>
              <a:t>Characteristic Table of Required FF: D Flip Flop</a:t>
            </a:r>
          </a:p>
          <a:p>
            <a:endParaRPr lang="en-IN"/>
          </a:p>
          <a:p>
            <a:endParaRPr lang="en-IN"/>
          </a:p>
          <a:p>
            <a:endParaRPr lang="en-IN"/>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756" y="2253680"/>
            <a:ext cx="3786908" cy="2401361"/>
          </a:xfrm>
          <a:prstGeom prst="rect">
            <a:avLst/>
          </a:prstGeom>
        </p:spPr>
      </p:pic>
      <p:sp>
        <p:nvSpPr>
          <p:cNvPr id="9" name="TextBox 8"/>
          <p:cNvSpPr txBox="1"/>
          <p:nvPr/>
        </p:nvSpPr>
        <p:spPr>
          <a:xfrm>
            <a:off x="248496" y="4692081"/>
            <a:ext cx="5514976" cy="461665"/>
          </a:xfrm>
          <a:prstGeom prst="rect">
            <a:avLst/>
          </a:prstGeom>
          <a:noFill/>
        </p:spPr>
        <p:txBody>
          <a:bodyPr wrap="square" rtlCol="0">
            <a:spAutoFit/>
          </a:bodyPr>
          <a:lstStyle/>
          <a:p>
            <a:r>
              <a:rPr lang="en-IN" sz="2400">
                <a:latin typeface="Times New Roman" panose="02020603050405020304" pitchFamily="18" charset="0"/>
                <a:cs typeface="Times New Roman" panose="02020603050405020304" pitchFamily="18" charset="0"/>
              </a:rPr>
              <a:t>3. Excitation Table of  Available FF: JK FF</a:t>
            </a:r>
          </a:p>
        </p:txBody>
      </p:sp>
      <p:pic>
        <p:nvPicPr>
          <p:cNvPr id="10" name="Picture 9"/>
          <p:cNvPicPr>
            <a:picLocks noChangeAspect="1"/>
          </p:cNvPicPr>
          <p:nvPr/>
        </p:nvPicPr>
        <p:blipFill>
          <a:blip r:embed="rId3"/>
          <a:stretch>
            <a:fillRect/>
          </a:stretch>
        </p:blipFill>
        <p:spPr>
          <a:xfrm>
            <a:off x="1092937" y="5143448"/>
            <a:ext cx="3186545" cy="1801236"/>
          </a:xfrm>
          <a:prstGeom prst="rect">
            <a:avLst/>
          </a:prstGeom>
        </p:spPr>
      </p:pic>
      <p:graphicFrame>
        <p:nvGraphicFramePr>
          <p:cNvPr id="11" name="Table 10"/>
          <p:cNvGraphicFramePr>
            <a:graphicFrameLocks noGrp="1"/>
          </p:cNvGraphicFramePr>
          <p:nvPr>
            <p:extLst>
              <p:ext uri="{D42A27DB-BD31-4B8C-83A1-F6EECF244321}">
                <p14:modId xmlns:p14="http://schemas.microsoft.com/office/powerpoint/2010/main" val="2300604710"/>
              </p:ext>
            </p:extLst>
          </p:nvPr>
        </p:nvGraphicFramePr>
        <p:xfrm>
          <a:off x="7684676" y="508013"/>
          <a:ext cx="3278909" cy="1881150"/>
        </p:xfrm>
        <a:graphic>
          <a:graphicData uri="http://schemas.openxmlformats.org/drawingml/2006/table">
            <a:tbl>
              <a:tblPr firstRow="1" bandRow="1">
                <a:tableStyleId>{5C22544A-7EE6-4342-B048-85BDC9FD1C3A}</a:tableStyleId>
              </a:tblPr>
              <a:tblGrid>
                <a:gridCol w="932793">
                  <a:extLst>
                    <a:ext uri="{9D8B030D-6E8A-4147-A177-3AD203B41FA5}">
                      <a16:colId xmlns:a16="http://schemas.microsoft.com/office/drawing/2014/main" val="4086600621"/>
                    </a:ext>
                  </a:extLst>
                </a:gridCol>
                <a:gridCol w="951638">
                  <a:extLst>
                    <a:ext uri="{9D8B030D-6E8A-4147-A177-3AD203B41FA5}">
                      <a16:colId xmlns:a16="http://schemas.microsoft.com/office/drawing/2014/main" val="3150808259"/>
                    </a:ext>
                  </a:extLst>
                </a:gridCol>
                <a:gridCol w="1394478">
                  <a:extLst>
                    <a:ext uri="{9D8B030D-6E8A-4147-A177-3AD203B41FA5}">
                      <a16:colId xmlns:a16="http://schemas.microsoft.com/office/drawing/2014/main" val="3467598844"/>
                    </a:ext>
                  </a:extLst>
                </a:gridCol>
              </a:tblGrid>
              <a:tr h="376230">
                <a:tc>
                  <a:txBody>
                    <a:bodyPr/>
                    <a:lstStyle/>
                    <a:p>
                      <a:r>
                        <a:rPr lang="en-IN" err="1"/>
                        <a:t>Qn</a:t>
                      </a:r>
                      <a:r>
                        <a:rPr lang="en-IN"/>
                        <a:t>     D</a:t>
                      </a:r>
                    </a:p>
                  </a:txBody>
                  <a:tcPr/>
                </a:tc>
                <a:tc>
                  <a:txBody>
                    <a:bodyPr/>
                    <a:lstStyle/>
                    <a:p>
                      <a:pPr algn="ctr"/>
                      <a:r>
                        <a:rPr lang="en-IN"/>
                        <a:t>Qn+1</a:t>
                      </a:r>
                    </a:p>
                  </a:txBody>
                  <a:tcPr/>
                </a:tc>
                <a:tc>
                  <a:txBody>
                    <a:bodyPr/>
                    <a:lstStyle/>
                    <a:p>
                      <a:pPr algn="ctr"/>
                      <a:r>
                        <a:rPr lang="en-IN"/>
                        <a:t>   J        K</a:t>
                      </a:r>
                    </a:p>
                  </a:txBody>
                  <a:tcPr/>
                </a:tc>
                <a:extLst>
                  <a:ext uri="{0D108BD9-81ED-4DB2-BD59-A6C34878D82A}">
                    <a16:rowId xmlns:a16="http://schemas.microsoft.com/office/drawing/2014/main" val="2652777243"/>
                  </a:ext>
                </a:extLst>
              </a:tr>
              <a:tr h="376230">
                <a:tc>
                  <a:txBody>
                    <a:bodyPr/>
                    <a:lstStyle/>
                    <a:p>
                      <a:r>
                        <a:rPr lang="en-IN"/>
                        <a:t>0        0</a:t>
                      </a:r>
                    </a:p>
                  </a:txBody>
                  <a:tcPr/>
                </a:tc>
                <a:tc>
                  <a:txBody>
                    <a:bodyPr/>
                    <a:lstStyle/>
                    <a:p>
                      <a:pPr algn="ctr"/>
                      <a:r>
                        <a:rPr lang="en-IN"/>
                        <a:t>0</a:t>
                      </a:r>
                    </a:p>
                  </a:txBody>
                  <a:tcPr/>
                </a:tc>
                <a:tc>
                  <a:txBody>
                    <a:bodyPr/>
                    <a:lstStyle/>
                    <a:p>
                      <a:pPr algn="ctr"/>
                      <a:r>
                        <a:rPr lang="en-IN"/>
                        <a:t>0         X</a:t>
                      </a:r>
                    </a:p>
                  </a:txBody>
                  <a:tcPr/>
                </a:tc>
                <a:extLst>
                  <a:ext uri="{0D108BD9-81ED-4DB2-BD59-A6C34878D82A}">
                    <a16:rowId xmlns:a16="http://schemas.microsoft.com/office/drawing/2014/main" val="887815794"/>
                  </a:ext>
                </a:extLst>
              </a:tr>
              <a:tr h="376230">
                <a:tc>
                  <a:txBody>
                    <a:bodyPr/>
                    <a:lstStyle/>
                    <a:p>
                      <a:r>
                        <a:rPr lang="en-IN"/>
                        <a:t>0        1</a:t>
                      </a:r>
                    </a:p>
                  </a:txBody>
                  <a:tcPr/>
                </a:tc>
                <a:tc>
                  <a:txBody>
                    <a:bodyPr/>
                    <a:lstStyle/>
                    <a:p>
                      <a:pPr algn="ctr"/>
                      <a:r>
                        <a:rPr lang="en-IN"/>
                        <a:t>1</a:t>
                      </a:r>
                    </a:p>
                  </a:txBody>
                  <a:tcPr/>
                </a:tc>
                <a:tc>
                  <a:txBody>
                    <a:bodyPr/>
                    <a:lstStyle/>
                    <a:p>
                      <a:pPr algn="ctr"/>
                      <a:r>
                        <a:rPr lang="en-IN"/>
                        <a:t>1         X </a:t>
                      </a:r>
                    </a:p>
                  </a:txBody>
                  <a:tcPr/>
                </a:tc>
                <a:extLst>
                  <a:ext uri="{0D108BD9-81ED-4DB2-BD59-A6C34878D82A}">
                    <a16:rowId xmlns:a16="http://schemas.microsoft.com/office/drawing/2014/main" val="595784366"/>
                  </a:ext>
                </a:extLst>
              </a:tr>
              <a:tr h="376230">
                <a:tc>
                  <a:txBody>
                    <a:bodyPr/>
                    <a:lstStyle/>
                    <a:p>
                      <a:r>
                        <a:rPr lang="en-IN"/>
                        <a:t>1        0</a:t>
                      </a:r>
                    </a:p>
                  </a:txBody>
                  <a:tcPr/>
                </a:tc>
                <a:tc>
                  <a:txBody>
                    <a:bodyPr/>
                    <a:lstStyle/>
                    <a:p>
                      <a:pPr algn="ctr"/>
                      <a:r>
                        <a:rPr lang="en-IN"/>
                        <a:t>0</a:t>
                      </a:r>
                    </a:p>
                  </a:txBody>
                  <a:tcPr/>
                </a:tc>
                <a:tc>
                  <a:txBody>
                    <a:bodyPr/>
                    <a:lstStyle/>
                    <a:p>
                      <a:pPr algn="ctr"/>
                      <a:r>
                        <a:rPr lang="en-IN"/>
                        <a:t>X         1</a:t>
                      </a:r>
                    </a:p>
                  </a:txBody>
                  <a:tcPr/>
                </a:tc>
                <a:extLst>
                  <a:ext uri="{0D108BD9-81ED-4DB2-BD59-A6C34878D82A}">
                    <a16:rowId xmlns:a16="http://schemas.microsoft.com/office/drawing/2014/main" val="2672565666"/>
                  </a:ext>
                </a:extLst>
              </a:tr>
              <a:tr h="376230">
                <a:tc>
                  <a:txBody>
                    <a:bodyPr/>
                    <a:lstStyle/>
                    <a:p>
                      <a:r>
                        <a:rPr lang="en-IN"/>
                        <a:t>1        1</a:t>
                      </a:r>
                    </a:p>
                  </a:txBody>
                  <a:tcPr/>
                </a:tc>
                <a:tc>
                  <a:txBody>
                    <a:bodyPr/>
                    <a:lstStyle/>
                    <a:p>
                      <a:pPr algn="ctr"/>
                      <a:r>
                        <a:rPr lang="en-IN"/>
                        <a:t>1</a:t>
                      </a:r>
                    </a:p>
                  </a:txBody>
                  <a:tcPr/>
                </a:tc>
                <a:tc>
                  <a:txBody>
                    <a:bodyPr/>
                    <a:lstStyle/>
                    <a:p>
                      <a:pPr algn="ctr"/>
                      <a:r>
                        <a:rPr lang="en-IN"/>
                        <a:t>X         0</a:t>
                      </a:r>
                    </a:p>
                  </a:txBody>
                  <a:tcPr/>
                </a:tc>
                <a:extLst>
                  <a:ext uri="{0D108BD9-81ED-4DB2-BD59-A6C34878D82A}">
                    <a16:rowId xmlns:a16="http://schemas.microsoft.com/office/drawing/2014/main" val="609273735"/>
                  </a:ext>
                </a:extLst>
              </a:tr>
            </a:tbl>
          </a:graphicData>
        </a:graphic>
      </p:graphicFrame>
      <p:sp>
        <p:nvSpPr>
          <p:cNvPr id="12" name="TextBox 11"/>
          <p:cNvSpPr txBox="1"/>
          <p:nvPr/>
        </p:nvSpPr>
        <p:spPr>
          <a:xfrm flipH="1">
            <a:off x="6465441" y="18478"/>
            <a:ext cx="5781971" cy="461665"/>
          </a:xfrm>
          <a:prstGeom prst="rect">
            <a:avLst/>
          </a:prstGeom>
          <a:noFill/>
        </p:spPr>
        <p:txBody>
          <a:bodyPr wrap="square" rtlCol="0">
            <a:spAutoFit/>
          </a:bodyPr>
          <a:lstStyle/>
          <a:p>
            <a:r>
              <a:rPr lang="en-IN" sz="2400">
                <a:latin typeface="Times New Roman" panose="02020603050405020304" pitchFamily="18" charset="0"/>
                <a:cs typeface="Times New Roman" panose="02020603050405020304" pitchFamily="18" charset="0"/>
              </a:rPr>
              <a:t>4. Conversion Table and Boolean  Expression</a:t>
            </a:r>
          </a:p>
        </p:txBody>
      </p:sp>
      <p:sp>
        <p:nvSpPr>
          <p:cNvPr id="13" name="Rectangle 12"/>
          <p:cNvSpPr/>
          <p:nvPr/>
        </p:nvSpPr>
        <p:spPr>
          <a:xfrm>
            <a:off x="0" y="94733"/>
            <a:ext cx="6179127" cy="584775"/>
          </a:xfrm>
          <a:prstGeom prst="rect">
            <a:avLst/>
          </a:prstGeom>
        </p:spPr>
        <p:txBody>
          <a:bodyPr wrap="square">
            <a:spAutoFit/>
          </a:bodyPr>
          <a:lstStyle/>
          <a:p>
            <a:r>
              <a:rPr lang="en-US" sz="3200" b="1">
                <a:latin typeface="Times New Roman" panose="02020603050405020304" pitchFamily="18" charset="0"/>
                <a:cs typeface="Times New Roman" panose="02020603050405020304" pitchFamily="18" charset="0"/>
              </a:rPr>
              <a:t>Conversion of a JK-to-D Flip-Flop</a:t>
            </a:r>
            <a:endParaRPr lang="en-IN" sz="3200" b="1">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4"/>
          <a:stretch>
            <a:fillRect/>
          </a:stretch>
        </p:blipFill>
        <p:spPr>
          <a:xfrm>
            <a:off x="7718303" y="2466123"/>
            <a:ext cx="3645724" cy="1785836"/>
          </a:xfrm>
          <a:prstGeom prst="rect">
            <a:avLst/>
          </a:prstGeom>
        </p:spPr>
      </p:pic>
      <p:sp>
        <p:nvSpPr>
          <p:cNvPr id="15" name="TextBox 14"/>
          <p:cNvSpPr txBox="1"/>
          <p:nvPr/>
        </p:nvSpPr>
        <p:spPr>
          <a:xfrm>
            <a:off x="6410036" y="4221034"/>
            <a:ext cx="2854037" cy="461665"/>
          </a:xfrm>
          <a:prstGeom prst="rect">
            <a:avLst/>
          </a:prstGeom>
          <a:noFill/>
        </p:spPr>
        <p:txBody>
          <a:bodyPr wrap="square" rtlCol="0">
            <a:spAutoFit/>
          </a:bodyPr>
          <a:lstStyle/>
          <a:p>
            <a:r>
              <a:rPr lang="en-IN" sz="2400">
                <a:latin typeface="Times New Roman" panose="02020603050405020304" pitchFamily="18" charset="0"/>
                <a:cs typeface="Times New Roman" panose="02020603050405020304" pitchFamily="18" charset="0"/>
              </a:rPr>
              <a:t>5. Circuit Diagram</a:t>
            </a:r>
          </a:p>
        </p:txBody>
      </p:sp>
      <p:pic>
        <p:nvPicPr>
          <p:cNvPr id="16" name="Picture 15"/>
          <p:cNvPicPr>
            <a:picLocks noChangeAspect="1"/>
          </p:cNvPicPr>
          <p:nvPr/>
        </p:nvPicPr>
        <p:blipFill>
          <a:blip r:embed="rId5"/>
          <a:stretch>
            <a:fillRect/>
          </a:stretch>
        </p:blipFill>
        <p:spPr>
          <a:xfrm>
            <a:off x="7730883" y="4692069"/>
            <a:ext cx="3084843" cy="2165931"/>
          </a:xfrm>
          <a:prstGeom prst="rect">
            <a:avLst/>
          </a:prstGeom>
        </p:spPr>
      </p:pic>
    </p:spTree>
    <p:extLst>
      <p:ext uri="{BB962C8B-B14F-4D97-AF65-F5344CB8AC3E}">
        <p14:creationId xmlns:p14="http://schemas.microsoft.com/office/powerpoint/2010/main" val="4047527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ppt_x"/>
                                          </p:val>
                                        </p:tav>
                                        <p:tav tm="100000">
                                          <p:val>
                                            <p:strVal val="#ppt_x"/>
                                          </p:val>
                                        </p:tav>
                                      </p:tavLst>
                                    </p:anim>
                                    <p:anim calcmode="lin" valueType="num">
                                      <p:cBhvr additive="base">
                                        <p:cTn id="5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2"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AFC3D-4387-49FD-A45B-F652CB747E05}" type="datetime1">
              <a:rPr lang="en-US" smtClean="0"/>
              <a:t>11/6/2025</a:t>
            </a:fld>
            <a:endParaRPr lang="en-US"/>
          </a:p>
        </p:txBody>
      </p:sp>
      <p:sp>
        <p:nvSpPr>
          <p:cNvPr id="3" name="Footer Placeholder 2"/>
          <p:cNvSpPr>
            <a:spLocks noGrp="1"/>
          </p:cNvSpPr>
          <p:nvPr>
            <p:ph type="ftr" sz="quarter" idx="11"/>
          </p:nvPr>
        </p:nvSpPr>
        <p:spPr/>
        <p:txBody>
          <a:bodyPr/>
          <a:lstStyle/>
          <a:p>
            <a:r>
              <a:rPr lang="en-US"/>
              <a:t>19ECE204/Digital Electronics &amp; Systems, III Semester, B. Tech. (ECE and CSE)</a:t>
            </a:r>
          </a:p>
        </p:txBody>
      </p:sp>
      <p:sp>
        <p:nvSpPr>
          <p:cNvPr id="4" name="Slide Number Placeholder 3"/>
          <p:cNvSpPr>
            <a:spLocks noGrp="1"/>
          </p:cNvSpPr>
          <p:nvPr>
            <p:ph type="sldNum" sz="quarter" idx="12"/>
          </p:nvPr>
        </p:nvSpPr>
        <p:spPr/>
        <p:txBody>
          <a:bodyPr/>
          <a:lstStyle/>
          <a:p>
            <a:fld id="{84075514-8565-4B1F-808F-4A3F55E508C2}" type="slidenum">
              <a:rPr lang="en-US" smtClean="0"/>
              <a:t>4</a:t>
            </a:fld>
            <a:endParaRPr lang="en-US"/>
          </a:p>
        </p:txBody>
      </p:sp>
      <p:pic>
        <p:nvPicPr>
          <p:cNvPr id="6" name="Picture 5"/>
          <p:cNvPicPr>
            <a:picLocks noChangeAspect="1"/>
          </p:cNvPicPr>
          <p:nvPr/>
        </p:nvPicPr>
        <p:blipFill>
          <a:blip r:embed="rId2"/>
          <a:stretch>
            <a:fillRect/>
          </a:stretch>
        </p:blipFill>
        <p:spPr>
          <a:xfrm>
            <a:off x="352425" y="166254"/>
            <a:ext cx="11487150" cy="3472873"/>
          </a:xfrm>
          <a:prstGeom prst="rect">
            <a:avLst/>
          </a:prstGeom>
        </p:spPr>
      </p:pic>
      <p:pic>
        <p:nvPicPr>
          <p:cNvPr id="7" name="Picture 6"/>
          <p:cNvPicPr>
            <a:picLocks noChangeAspect="1"/>
          </p:cNvPicPr>
          <p:nvPr/>
        </p:nvPicPr>
        <p:blipFill>
          <a:blip r:embed="rId3"/>
          <a:stretch>
            <a:fillRect/>
          </a:stretch>
        </p:blipFill>
        <p:spPr>
          <a:xfrm>
            <a:off x="615530" y="4045525"/>
            <a:ext cx="4252034" cy="2179783"/>
          </a:xfrm>
          <a:prstGeom prst="rect">
            <a:avLst/>
          </a:prstGeom>
        </p:spPr>
      </p:pic>
      <p:pic>
        <p:nvPicPr>
          <p:cNvPr id="8" name="Picture 7"/>
          <p:cNvPicPr>
            <a:picLocks noChangeAspect="1"/>
          </p:cNvPicPr>
          <p:nvPr/>
        </p:nvPicPr>
        <p:blipFill>
          <a:blip r:embed="rId4"/>
          <a:stretch>
            <a:fillRect/>
          </a:stretch>
        </p:blipFill>
        <p:spPr>
          <a:xfrm>
            <a:off x="7352145" y="3788642"/>
            <a:ext cx="4257963" cy="2254507"/>
          </a:xfrm>
          <a:prstGeom prst="rect">
            <a:avLst/>
          </a:prstGeom>
        </p:spPr>
      </p:pic>
    </p:spTree>
    <p:extLst>
      <p:ext uri="{BB962C8B-B14F-4D97-AF65-F5344CB8AC3E}">
        <p14:creationId xmlns:p14="http://schemas.microsoft.com/office/powerpoint/2010/main" val="2315490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4075514-8565-4B1F-808F-4A3F55E508C2}" type="slidenum">
              <a:rPr lang="en-US" smtClean="0"/>
              <a:t>5</a:t>
            </a:fld>
            <a:endParaRPr lang="en-US"/>
          </a:p>
        </p:txBody>
      </p:sp>
      <p:sp>
        <p:nvSpPr>
          <p:cNvPr id="5" name="Rectangle 4"/>
          <p:cNvSpPr/>
          <p:nvPr/>
        </p:nvSpPr>
        <p:spPr>
          <a:xfrm>
            <a:off x="0" y="11617"/>
            <a:ext cx="12192000" cy="584775"/>
          </a:xfrm>
          <a:prstGeom prst="rect">
            <a:avLst/>
          </a:prstGeom>
        </p:spPr>
        <p:txBody>
          <a:bodyPr wrap="square">
            <a:spAutoFit/>
          </a:bodyPr>
          <a:lstStyle/>
          <a:p>
            <a:pPr algn="ctr"/>
            <a:r>
              <a:rPr lang="en-US" sz="3200" b="1">
                <a:latin typeface="Times New Roman" panose="02020603050405020304" pitchFamily="18" charset="0"/>
                <a:cs typeface="Times New Roman" panose="02020603050405020304" pitchFamily="18" charset="0"/>
              </a:rPr>
              <a:t>Conversion of D to JK Flip-Flop</a:t>
            </a:r>
          </a:p>
        </p:txBody>
      </p:sp>
      <p:pic>
        <p:nvPicPr>
          <p:cNvPr id="6" name="Picture 5"/>
          <p:cNvPicPr>
            <a:picLocks noChangeAspect="1"/>
          </p:cNvPicPr>
          <p:nvPr/>
        </p:nvPicPr>
        <p:blipFill>
          <a:blip r:embed="rId2"/>
          <a:stretch>
            <a:fillRect/>
          </a:stretch>
        </p:blipFill>
        <p:spPr>
          <a:xfrm>
            <a:off x="92364" y="596393"/>
            <a:ext cx="12099636" cy="3984844"/>
          </a:xfrm>
          <a:prstGeom prst="rect">
            <a:avLst/>
          </a:prstGeom>
        </p:spPr>
      </p:pic>
      <p:pic>
        <p:nvPicPr>
          <p:cNvPr id="7" name="Picture 6"/>
          <p:cNvPicPr>
            <a:picLocks noChangeAspect="1"/>
          </p:cNvPicPr>
          <p:nvPr/>
        </p:nvPicPr>
        <p:blipFill>
          <a:blip r:embed="rId3"/>
          <a:stretch>
            <a:fillRect/>
          </a:stretch>
        </p:blipFill>
        <p:spPr>
          <a:xfrm>
            <a:off x="766597" y="4488875"/>
            <a:ext cx="3399003" cy="2027381"/>
          </a:xfrm>
          <a:prstGeom prst="rect">
            <a:avLst/>
          </a:prstGeom>
        </p:spPr>
      </p:pic>
      <p:pic>
        <p:nvPicPr>
          <p:cNvPr id="8" name="Picture 7"/>
          <p:cNvPicPr>
            <a:picLocks noChangeAspect="1"/>
          </p:cNvPicPr>
          <p:nvPr/>
        </p:nvPicPr>
        <p:blipFill>
          <a:blip r:embed="rId4"/>
          <a:stretch>
            <a:fillRect/>
          </a:stretch>
        </p:blipFill>
        <p:spPr>
          <a:xfrm>
            <a:off x="6326910" y="4618187"/>
            <a:ext cx="5227788" cy="2239813"/>
          </a:xfrm>
          <a:prstGeom prst="rect">
            <a:avLst/>
          </a:prstGeom>
        </p:spPr>
      </p:pic>
    </p:spTree>
    <p:extLst>
      <p:ext uri="{BB962C8B-B14F-4D97-AF65-F5344CB8AC3E}">
        <p14:creationId xmlns:p14="http://schemas.microsoft.com/office/powerpoint/2010/main" val="1624065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AFC3D-4387-49FD-A45B-F652CB747E05}" type="datetime1">
              <a:rPr lang="en-US" smtClean="0"/>
              <a:t>11/6/2025</a:t>
            </a:fld>
            <a:endParaRPr lang="en-US"/>
          </a:p>
        </p:txBody>
      </p:sp>
      <p:sp>
        <p:nvSpPr>
          <p:cNvPr id="3" name="Footer Placeholder 2"/>
          <p:cNvSpPr>
            <a:spLocks noGrp="1"/>
          </p:cNvSpPr>
          <p:nvPr>
            <p:ph type="ftr" sz="quarter" idx="11"/>
          </p:nvPr>
        </p:nvSpPr>
        <p:spPr/>
        <p:txBody>
          <a:bodyPr/>
          <a:lstStyle/>
          <a:p>
            <a:r>
              <a:rPr lang="en-US"/>
              <a:t>19ECE204/Digital Electronics &amp; Systems, III Semester, B. Tech. (ECE and CSE)</a:t>
            </a:r>
          </a:p>
        </p:txBody>
      </p:sp>
      <p:sp>
        <p:nvSpPr>
          <p:cNvPr id="4" name="Slide Number Placeholder 3"/>
          <p:cNvSpPr>
            <a:spLocks noGrp="1"/>
          </p:cNvSpPr>
          <p:nvPr>
            <p:ph type="sldNum" sz="quarter" idx="12"/>
          </p:nvPr>
        </p:nvSpPr>
        <p:spPr/>
        <p:txBody>
          <a:bodyPr/>
          <a:lstStyle/>
          <a:p>
            <a:fld id="{84075514-8565-4B1F-808F-4A3F55E508C2}" type="slidenum">
              <a:rPr lang="en-US" smtClean="0"/>
              <a:t>6</a:t>
            </a:fld>
            <a:endParaRPr lang="en-US"/>
          </a:p>
        </p:txBody>
      </p:sp>
      <p:sp>
        <p:nvSpPr>
          <p:cNvPr id="5" name="TextBox 4"/>
          <p:cNvSpPr txBox="1"/>
          <p:nvPr/>
        </p:nvSpPr>
        <p:spPr>
          <a:xfrm flipH="1">
            <a:off x="618835" y="277091"/>
            <a:ext cx="7130473" cy="3416320"/>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Try Yourself:</a:t>
            </a:r>
          </a:p>
          <a:p>
            <a:endParaRPr lang="en-IN" sz="2400" b="1">
              <a:latin typeface="Times New Roman" panose="02020603050405020304" pitchFamily="18" charset="0"/>
              <a:cs typeface="Times New Roman" panose="02020603050405020304" pitchFamily="18" charset="0"/>
            </a:endParaRPr>
          </a:p>
          <a:p>
            <a:pPr marL="457200" indent="-457200">
              <a:lnSpc>
                <a:spcPct val="150000"/>
              </a:lnSpc>
              <a:buAutoNum type="arabicPeriod"/>
            </a:pPr>
            <a:r>
              <a:rPr lang="en-IN" sz="2400">
                <a:latin typeface="Times New Roman" panose="02020603050405020304" pitchFamily="18" charset="0"/>
                <a:cs typeface="Times New Roman" panose="02020603050405020304" pitchFamily="18" charset="0"/>
              </a:rPr>
              <a:t>SR FF to JK FF</a:t>
            </a:r>
          </a:p>
          <a:p>
            <a:pPr marL="457200" indent="-457200">
              <a:lnSpc>
                <a:spcPct val="150000"/>
              </a:lnSpc>
              <a:buAutoNum type="arabicPeriod"/>
            </a:pPr>
            <a:r>
              <a:rPr lang="en-IN" sz="2400">
                <a:latin typeface="Times New Roman" panose="02020603050405020304" pitchFamily="18" charset="0"/>
                <a:cs typeface="Times New Roman" panose="02020603050405020304" pitchFamily="18" charset="0"/>
              </a:rPr>
              <a:t>D FF to T FF</a:t>
            </a:r>
          </a:p>
          <a:p>
            <a:pPr marL="457200" indent="-457200">
              <a:lnSpc>
                <a:spcPct val="150000"/>
              </a:lnSpc>
              <a:buAutoNum type="arabicPeriod"/>
            </a:pPr>
            <a:r>
              <a:rPr lang="en-IN" sz="2400">
                <a:latin typeface="Times New Roman" panose="02020603050405020304" pitchFamily="18" charset="0"/>
                <a:cs typeface="Times New Roman" panose="02020603050405020304" pitchFamily="18" charset="0"/>
              </a:rPr>
              <a:t>T FF to D FF</a:t>
            </a:r>
          </a:p>
          <a:p>
            <a:pPr marL="457200" indent="-457200">
              <a:lnSpc>
                <a:spcPct val="150000"/>
              </a:lnSpc>
              <a:buAutoNum type="arabicPeriod"/>
            </a:pPr>
            <a:r>
              <a:rPr lang="en-IN" sz="2400">
                <a:latin typeface="Times New Roman" panose="02020603050405020304" pitchFamily="18" charset="0"/>
                <a:cs typeface="Times New Roman" panose="02020603050405020304" pitchFamily="18" charset="0"/>
              </a:rPr>
              <a:t>JK FF to T FF</a:t>
            </a:r>
          </a:p>
          <a:p>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9086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14036" y="131780"/>
            <a:ext cx="11877964" cy="830997"/>
          </a:xfrm>
          <a:prstGeom prst="rect">
            <a:avLst/>
          </a:prstGeom>
        </p:spPr>
        <p:txBody>
          <a:bodyPr wrap="square">
            <a:spAutoFit/>
          </a:bodyPr>
          <a:lstStyle/>
          <a:p>
            <a:r>
              <a:rPr lang="en-US" sz="2400">
                <a:latin typeface="Times New Roman" panose="02020603050405020304" pitchFamily="18" charset="0"/>
                <a:cs typeface="Times New Roman" panose="02020603050405020304" pitchFamily="18" charset="0"/>
              </a:rPr>
              <a:t>Convert a positive edge triggered JK flip-flop to a positive edge triggered XY flip-flop as defined by function table:</a:t>
            </a:r>
            <a:endParaRPr lang="en-IN" sz="2400">
              <a:latin typeface="Times New Roman" panose="02020603050405020304" pitchFamily="18" charset="0"/>
              <a:cs typeface="Times New Roman" panose="02020603050405020304" pitchFamily="18" charset="0"/>
            </a:endParaRPr>
          </a:p>
        </p:txBody>
      </p:sp>
      <p:sp>
        <p:nvSpPr>
          <p:cNvPr id="7" name="Rectangle 6"/>
          <p:cNvSpPr/>
          <p:nvPr/>
        </p:nvSpPr>
        <p:spPr>
          <a:xfrm>
            <a:off x="655249" y="2982724"/>
            <a:ext cx="10576169" cy="461665"/>
          </a:xfrm>
          <a:prstGeom prst="rect">
            <a:avLst/>
          </a:prstGeom>
        </p:spPr>
        <p:txBody>
          <a:bodyPr wrap="square">
            <a:spAutoFit/>
          </a:bodyPr>
          <a:lstStyle/>
          <a:p>
            <a:r>
              <a:rPr lang="en-US" sz="2400">
                <a:latin typeface="Times New Roman" panose="02020603050405020304" pitchFamily="18" charset="0"/>
              </a:rPr>
              <a:t>The application table for the JK flip-flop and function table for the XY f1ip-flop are:</a:t>
            </a:r>
            <a:endParaRPr lang="en-IN" sz="2400"/>
          </a:p>
        </p:txBody>
      </p:sp>
      <p:graphicFrame>
        <p:nvGraphicFramePr>
          <p:cNvPr id="8" name="Table 7"/>
          <p:cNvGraphicFramePr>
            <a:graphicFrameLocks noGrp="1"/>
          </p:cNvGraphicFramePr>
          <p:nvPr>
            <p:extLst>
              <p:ext uri="{D42A27DB-BD31-4B8C-83A1-F6EECF244321}">
                <p14:modId xmlns:p14="http://schemas.microsoft.com/office/powerpoint/2010/main" val="3442935633"/>
              </p:ext>
            </p:extLst>
          </p:nvPr>
        </p:nvGraphicFramePr>
        <p:xfrm>
          <a:off x="1525215" y="959323"/>
          <a:ext cx="2189020" cy="1559560"/>
        </p:xfrm>
        <a:graphic>
          <a:graphicData uri="http://schemas.openxmlformats.org/drawingml/2006/table">
            <a:tbl>
              <a:tblPr firstRow="1" bandRow="1">
                <a:tableStyleId>{5C22544A-7EE6-4342-B048-85BDC9FD1C3A}</a:tableStyleId>
              </a:tblPr>
              <a:tblGrid>
                <a:gridCol w="1094510">
                  <a:extLst>
                    <a:ext uri="{9D8B030D-6E8A-4147-A177-3AD203B41FA5}">
                      <a16:colId xmlns:a16="http://schemas.microsoft.com/office/drawing/2014/main" val="1585567373"/>
                    </a:ext>
                  </a:extLst>
                </a:gridCol>
                <a:gridCol w="1094510">
                  <a:extLst>
                    <a:ext uri="{9D8B030D-6E8A-4147-A177-3AD203B41FA5}">
                      <a16:colId xmlns:a16="http://schemas.microsoft.com/office/drawing/2014/main" val="4069887568"/>
                    </a:ext>
                  </a:extLst>
                </a:gridCol>
              </a:tblGrid>
              <a:tr h="370840">
                <a:tc>
                  <a:txBody>
                    <a:bodyPr/>
                    <a:lstStyle/>
                    <a:p>
                      <a:pPr algn="ctr"/>
                      <a:r>
                        <a:rPr lang="en-IN"/>
                        <a:t>  X          Y   </a:t>
                      </a:r>
                    </a:p>
                  </a:txBody>
                  <a:tcPr/>
                </a:tc>
                <a:tc>
                  <a:txBody>
                    <a:bodyPr/>
                    <a:lstStyle/>
                    <a:p>
                      <a:pPr algn="ctr"/>
                      <a:r>
                        <a:rPr lang="en-IN"/>
                        <a:t>Qn+1</a:t>
                      </a:r>
                    </a:p>
                  </a:txBody>
                  <a:tcPr/>
                </a:tc>
                <a:extLst>
                  <a:ext uri="{0D108BD9-81ED-4DB2-BD59-A6C34878D82A}">
                    <a16:rowId xmlns:a16="http://schemas.microsoft.com/office/drawing/2014/main" val="2280696735"/>
                  </a:ext>
                </a:extLst>
              </a:tr>
              <a:tr h="370840">
                <a:tc>
                  <a:txBody>
                    <a:bodyPr/>
                    <a:lstStyle/>
                    <a:p>
                      <a:r>
                        <a:rPr lang="en-IN"/>
                        <a:t>  0          0</a:t>
                      </a:r>
                    </a:p>
                    <a:p>
                      <a:r>
                        <a:rPr lang="en-IN"/>
                        <a:t>  0          1</a:t>
                      </a:r>
                    </a:p>
                    <a:p>
                      <a:r>
                        <a:rPr lang="en-IN"/>
                        <a:t>  1          0</a:t>
                      </a:r>
                    </a:p>
                    <a:p>
                      <a:r>
                        <a:rPr lang="en-IN"/>
                        <a:t>  1          1   </a:t>
                      </a:r>
                    </a:p>
                  </a:txBody>
                  <a:tcPr/>
                </a:tc>
                <a:tc>
                  <a:txBody>
                    <a:bodyPr/>
                    <a:lstStyle/>
                    <a:p>
                      <a:pPr algn="ctr"/>
                      <a:r>
                        <a:rPr lang="en-IN"/>
                        <a:t>0</a:t>
                      </a:r>
                    </a:p>
                    <a:p>
                      <a:pPr algn="ctr"/>
                      <a:r>
                        <a:rPr lang="en-IN"/>
                        <a:t>Q’</a:t>
                      </a:r>
                    </a:p>
                    <a:p>
                      <a:pPr algn="ctr"/>
                      <a:r>
                        <a:rPr lang="en-IN"/>
                        <a:t>Q</a:t>
                      </a:r>
                    </a:p>
                    <a:p>
                      <a:pPr algn="ctr"/>
                      <a:r>
                        <a:rPr lang="en-IN"/>
                        <a:t>1</a:t>
                      </a:r>
                    </a:p>
                  </a:txBody>
                  <a:tcPr/>
                </a:tc>
                <a:extLst>
                  <a:ext uri="{0D108BD9-81ED-4DB2-BD59-A6C34878D82A}">
                    <a16:rowId xmlns:a16="http://schemas.microsoft.com/office/drawing/2014/main" val="1853487022"/>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91628204"/>
              </p:ext>
            </p:extLst>
          </p:nvPr>
        </p:nvGraphicFramePr>
        <p:xfrm>
          <a:off x="2092036" y="3588845"/>
          <a:ext cx="2189020" cy="1558278"/>
        </p:xfrm>
        <a:graphic>
          <a:graphicData uri="http://schemas.openxmlformats.org/drawingml/2006/table">
            <a:tbl>
              <a:tblPr firstRow="1" bandRow="1">
                <a:tableStyleId>{5C22544A-7EE6-4342-B048-85BDC9FD1C3A}</a:tableStyleId>
              </a:tblPr>
              <a:tblGrid>
                <a:gridCol w="1399309">
                  <a:extLst>
                    <a:ext uri="{9D8B030D-6E8A-4147-A177-3AD203B41FA5}">
                      <a16:colId xmlns:a16="http://schemas.microsoft.com/office/drawing/2014/main" val="1585567373"/>
                    </a:ext>
                  </a:extLst>
                </a:gridCol>
                <a:gridCol w="789711">
                  <a:extLst>
                    <a:ext uri="{9D8B030D-6E8A-4147-A177-3AD203B41FA5}">
                      <a16:colId xmlns:a16="http://schemas.microsoft.com/office/drawing/2014/main" val="4069887568"/>
                    </a:ext>
                  </a:extLst>
                </a:gridCol>
              </a:tblGrid>
              <a:tr h="369558">
                <a:tc>
                  <a:txBody>
                    <a:bodyPr/>
                    <a:lstStyle/>
                    <a:p>
                      <a:pPr algn="ctr"/>
                      <a:r>
                        <a:rPr lang="en-IN"/>
                        <a:t>Q </a:t>
                      </a:r>
                      <a:r>
                        <a:rPr lang="en-IN">
                          <a:sym typeface="Symbol" panose="05050102010706020507" pitchFamily="18" charset="2"/>
                        </a:rPr>
                        <a:t></a:t>
                      </a:r>
                      <a:r>
                        <a:rPr lang="en-IN"/>
                        <a:t>     Qn+1   </a:t>
                      </a:r>
                    </a:p>
                  </a:txBody>
                  <a:tcPr/>
                </a:tc>
                <a:tc>
                  <a:txBody>
                    <a:bodyPr/>
                    <a:lstStyle/>
                    <a:p>
                      <a:pPr algn="ctr"/>
                      <a:r>
                        <a:rPr lang="en-IN"/>
                        <a:t>J     K</a:t>
                      </a:r>
                    </a:p>
                  </a:txBody>
                  <a:tcPr/>
                </a:tc>
                <a:extLst>
                  <a:ext uri="{0D108BD9-81ED-4DB2-BD59-A6C34878D82A}">
                    <a16:rowId xmlns:a16="http://schemas.microsoft.com/office/drawing/2014/main" val="2280696735"/>
                  </a:ext>
                </a:extLst>
              </a:tr>
              <a:tr h="1184612">
                <a:tc>
                  <a:txBody>
                    <a:bodyPr/>
                    <a:lstStyle/>
                    <a:p>
                      <a:r>
                        <a:rPr lang="en-IN"/>
                        <a:t>  0          0</a:t>
                      </a:r>
                    </a:p>
                    <a:p>
                      <a:r>
                        <a:rPr lang="en-IN"/>
                        <a:t>  0          1</a:t>
                      </a:r>
                    </a:p>
                    <a:p>
                      <a:r>
                        <a:rPr lang="en-IN"/>
                        <a:t>  1          0</a:t>
                      </a:r>
                    </a:p>
                    <a:p>
                      <a:r>
                        <a:rPr lang="en-IN"/>
                        <a:t>  1          1   </a:t>
                      </a:r>
                    </a:p>
                  </a:txBody>
                  <a:tcPr/>
                </a:tc>
                <a:tc>
                  <a:txBody>
                    <a:bodyPr/>
                    <a:lstStyle/>
                    <a:p>
                      <a:pPr algn="l"/>
                      <a:r>
                        <a:rPr lang="en-IN"/>
                        <a:t>0      X</a:t>
                      </a:r>
                    </a:p>
                    <a:p>
                      <a:pPr algn="l"/>
                      <a:r>
                        <a:rPr lang="en-IN"/>
                        <a:t>1      X</a:t>
                      </a:r>
                    </a:p>
                    <a:p>
                      <a:pPr algn="l"/>
                      <a:r>
                        <a:rPr lang="en-IN"/>
                        <a:t>X      1 </a:t>
                      </a:r>
                    </a:p>
                    <a:p>
                      <a:pPr algn="l"/>
                      <a:r>
                        <a:rPr lang="en-IN"/>
                        <a:t>X      0</a:t>
                      </a:r>
                    </a:p>
                  </a:txBody>
                  <a:tcPr/>
                </a:tc>
                <a:extLst>
                  <a:ext uri="{0D108BD9-81ED-4DB2-BD59-A6C34878D82A}">
                    <a16:rowId xmlns:a16="http://schemas.microsoft.com/office/drawing/2014/main" val="1853487022"/>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794115204"/>
              </p:ext>
            </p:extLst>
          </p:nvPr>
        </p:nvGraphicFramePr>
        <p:xfrm>
          <a:off x="7269029" y="3528291"/>
          <a:ext cx="2189020" cy="1568024"/>
        </p:xfrm>
        <a:graphic>
          <a:graphicData uri="http://schemas.openxmlformats.org/drawingml/2006/table">
            <a:tbl>
              <a:tblPr firstRow="1" bandRow="1">
                <a:tableStyleId>{5C22544A-7EE6-4342-B048-85BDC9FD1C3A}</a:tableStyleId>
              </a:tblPr>
              <a:tblGrid>
                <a:gridCol w="1094510">
                  <a:extLst>
                    <a:ext uri="{9D8B030D-6E8A-4147-A177-3AD203B41FA5}">
                      <a16:colId xmlns:a16="http://schemas.microsoft.com/office/drawing/2014/main" val="1585567373"/>
                    </a:ext>
                  </a:extLst>
                </a:gridCol>
                <a:gridCol w="1094510">
                  <a:extLst>
                    <a:ext uri="{9D8B030D-6E8A-4147-A177-3AD203B41FA5}">
                      <a16:colId xmlns:a16="http://schemas.microsoft.com/office/drawing/2014/main" val="4069887568"/>
                    </a:ext>
                  </a:extLst>
                </a:gridCol>
              </a:tblGrid>
              <a:tr h="372853">
                <a:tc>
                  <a:txBody>
                    <a:bodyPr/>
                    <a:lstStyle/>
                    <a:p>
                      <a:pPr algn="ctr"/>
                      <a:r>
                        <a:rPr lang="en-IN"/>
                        <a:t>  X          Y   </a:t>
                      </a:r>
                    </a:p>
                  </a:txBody>
                  <a:tcPr/>
                </a:tc>
                <a:tc>
                  <a:txBody>
                    <a:bodyPr/>
                    <a:lstStyle/>
                    <a:p>
                      <a:pPr algn="ctr"/>
                      <a:r>
                        <a:rPr lang="en-IN"/>
                        <a:t>Qn+1</a:t>
                      </a:r>
                    </a:p>
                  </a:txBody>
                  <a:tcPr/>
                </a:tc>
                <a:extLst>
                  <a:ext uri="{0D108BD9-81ED-4DB2-BD59-A6C34878D82A}">
                    <a16:rowId xmlns:a16="http://schemas.microsoft.com/office/drawing/2014/main" val="2280696735"/>
                  </a:ext>
                </a:extLst>
              </a:tr>
              <a:tr h="1195171">
                <a:tc>
                  <a:txBody>
                    <a:bodyPr/>
                    <a:lstStyle/>
                    <a:p>
                      <a:r>
                        <a:rPr lang="en-IN"/>
                        <a:t>  0          0</a:t>
                      </a:r>
                    </a:p>
                    <a:p>
                      <a:r>
                        <a:rPr lang="en-IN"/>
                        <a:t>  0          1</a:t>
                      </a:r>
                    </a:p>
                    <a:p>
                      <a:r>
                        <a:rPr lang="en-IN"/>
                        <a:t>  1          0</a:t>
                      </a:r>
                    </a:p>
                    <a:p>
                      <a:r>
                        <a:rPr lang="en-IN"/>
                        <a:t>  1          1   </a:t>
                      </a:r>
                    </a:p>
                  </a:txBody>
                  <a:tcPr/>
                </a:tc>
                <a:tc>
                  <a:txBody>
                    <a:bodyPr/>
                    <a:lstStyle/>
                    <a:p>
                      <a:pPr algn="ctr"/>
                      <a:r>
                        <a:rPr lang="en-IN"/>
                        <a:t>0</a:t>
                      </a:r>
                    </a:p>
                    <a:p>
                      <a:pPr algn="ctr"/>
                      <a:r>
                        <a:rPr lang="en-IN"/>
                        <a:t>Q’</a:t>
                      </a:r>
                    </a:p>
                    <a:p>
                      <a:pPr algn="ctr"/>
                      <a:r>
                        <a:rPr lang="en-IN"/>
                        <a:t>Q</a:t>
                      </a:r>
                    </a:p>
                    <a:p>
                      <a:pPr algn="ctr"/>
                      <a:r>
                        <a:rPr lang="en-IN"/>
                        <a:t>1</a:t>
                      </a:r>
                    </a:p>
                  </a:txBody>
                  <a:tcPr/>
                </a:tc>
                <a:extLst>
                  <a:ext uri="{0D108BD9-81ED-4DB2-BD59-A6C34878D82A}">
                    <a16:rowId xmlns:a16="http://schemas.microsoft.com/office/drawing/2014/main" val="1853487022"/>
                  </a:ext>
                </a:extLst>
              </a:tr>
            </a:tbl>
          </a:graphicData>
        </a:graphic>
      </p:graphicFrame>
    </p:spTree>
    <p:extLst>
      <p:ext uri="{BB962C8B-B14F-4D97-AF65-F5344CB8AC3E}">
        <p14:creationId xmlns:p14="http://schemas.microsoft.com/office/powerpoint/2010/main" val="368029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921326" y="81420"/>
            <a:ext cx="2496129" cy="461665"/>
          </a:xfrm>
          <a:prstGeom prst="rect">
            <a:avLst/>
          </a:prstGeom>
          <a:noFill/>
        </p:spPr>
        <p:txBody>
          <a:bodyPr wrap="square" rtlCol="0">
            <a:spAutoFit/>
          </a:bodyPr>
          <a:lstStyle/>
          <a:p>
            <a:r>
              <a:rPr lang="en-IN" sz="2400">
                <a:latin typeface="Times New Roman" panose="02020603050405020304" pitchFamily="18" charset="0"/>
                <a:cs typeface="Times New Roman" panose="02020603050405020304" pitchFamily="18" charset="0"/>
              </a:rPr>
              <a:t>Excitation Table:</a:t>
            </a:r>
          </a:p>
        </p:txBody>
      </p:sp>
      <p:graphicFrame>
        <p:nvGraphicFramePr>
          <p:cNvPr id="11" name="Table 10"/>
          <p:cNvGraphicFramePr>
            <a:graphicFrameLocks noGrp="1"/>
          </p:cNvGraphicFramePr>
          <p:nvPr>
            <p:extLst>
              <p:ext uri="{D42A27DB-BD31-4B8C-83A1-F6EECF244321}">
                <p14:modId xmlns:p14="http://schemas.microsoft.com/office/powerpoint/2010/main" val="4033777694"/>
              </p:ext>
            </p:extLst>
          </p:nvPr>
        </p:nvGraphicFramePr>
        <p:xfrm>
          <a:off x="369449" y="535715"/>
          <a:ext cx="4082476" cy="3291840"/>
        </p:xfrm>
        <a:graphic>
          <a:graphicData uri="http://schemas.openxmlformats.org/drawingml/2006/table">
            <a:tbl>
              <a:tblPr firstRow="1" bandRow="1">
                <a:tableStyleId>{5C22544A-7EE6-4342-B048-85BDC9FD1C3A}</a:tableStyleId>
              </a:tblPr>
              <a:tblGrid>
                <a:gridCol w="1020619">
                  <a:extLst>
                    <a:ext uri="{9D8B030D-6E8A-4147-A177-3AD203B41FA5}">
                      <a16:colId xmlns:a16="http://schemas.microsoft.com/office/drawing/2014/main" val="3150201164"/>
                    </a:ext>
                  </a:extLst>
                </a:gridCol>
                <a:gridCol w="1020619">
                  <a:extLst>
                    <a:ext uri="{9D8B030D-6E8A-4147-A177-3AD203B41FA5}">
                      <a16:colId xmlns:a16="http://schemas.microsoft.com/office/drawing/2014/main" val="672941364"/>
                    </a:ext>
                  </a:extLst>
                </a:gridCol>
                <a:gridCol w="1020619">
                  <a:extLst>
                    <a:ext uri="{9D8B030D-6E8A-4147-A177-3AD203B41FA5}">
                      <a16:colId xmlns:a16="http://schemas.microsoft.com/office/drawing/2014/main" val="2818162327"/>
                    </a:ext>
                  </a:extLst>
                </a:gridCol>
                <a:gridCol w="1020619">
                  <a:extLst>
                    <a:ext uri="{9D8B030D-6E8A-4147-A177-3AD203B41FA5}">
                      <a16:colId xmlns:a16="http://schemas.microsoft.com/office/drawing/2014/main" val="1422823669"/>
                    </a:ext>
                  </a:extLst>
                </a:gridCol>
              </a:tblGrid>
              <a:tr h="349955">
                <a:tc>
                  <a:txBody>
                    <a:bodyPr/>
                    <a:lstStyle/>
                    <a:p>
                      <a:r>
                        <a:rPr lang="en-IN"/>
                        <a:t>Cell No.</a:t>
                      </a:r>
                    </a:p>
                  </a:txBody>
                  <a:tcPr/>
                </a:tc>
                <a:tc>
                  <a:txBody>
                    <a:bodyPr/>
                    <a:lstStyle/>
                    <a:p>
                      <a:r>
                        <a:rPr lang="en-IN"/>
                        <a:t>X    Y    Q</a:t>
                      </a:r>
                    </a:p>
                  </a:txBody>
                  <a:tcPr/>
                </a:tc>
                <a:tc>
                  <a:txBody>
                    <a:bodyPr/>
                    <a:lstStyle/>
                    <a:p>
                      <a:r>
                        <a:rPr lang="en-IN"/>
                        <a:t>Qn+1</a:t>
                      </a:r>
                    </a:p>
                  </a:txBody>
                  <a:tcPr/>
                </a:tc>
                <a:tc>
                  <a:txBody>
                    <a:bodyPr/>
                    <a:lstStyle/>
                    <a:p>
                      <a:r>
                        <a:rPr lang="en-IN"/>
                        <a:t>J        K</a:t>
                      </a:r>
                    </a:p>
                  </a:txBody>
                  <a:tcPr/>
                </a:tc>
                <a:extLst>
                  <a:ext uri="{0D108BD9-81ED-4DB2-BD59-A6C34878D82A}">
                    <a16:rowId xmlns:a16="http://schemas.microsoft.com/office/drawing/2014/main" val="2800084549"/>
                  </a:ext>
                </a:extLst>
              </a:tr>
              <a:tr h="349955">
                <a:tc>
                  <a:txBody>
                    <a:bodyPr/>
                    <a:lstStyle/>
                    <a:p>
                      <a:pPr algn="ctr"/>
                      <a:r>
                        <a:rPr lang="en-IN"/>
                        <a:t>0</a:t>
                      </a:r>
                    </a:p>
                  </a:txBody>
                  <a:tcPr/>
                </a:tc>
                <a:tc>
                  <a:txBody>
                    <a:bodyPr/>
                    <a:lstStyle/>
                    <a:p>
                      <a:r>
                        <a:rPr lang="en-IN"/>
                        <a:t>0    0    0</a:t>
                      </a:r>
                    </a:p>
                  </a:txBody>
                  <a:tcPr/>
                </a:tc>
                <a:tc>
                  <a:txBody>
                    <a:bodyPr/>
                    <a:lstStyle/>
                    <a:p>
                      <a:pPr algn="ctr"/>
                      <a:r>
                        <a:rPr lang="en-IN"/>
                        <a:t>0</a:t>
                      </a:r>
                    </a:p>
                  </a:txBody>
                  <a:tcPr/>
                </a:tc>
                <a:tc>
                  <a:txBody>
                    <a:bodyPr/>
                    <a:lstStyle/>
                    <a:p>
                      <a:r>
                        <a:rPr lang="en-IN"/>
                        <a:t>0        X</a:t>
                      </a:r>
                    </a:p>
                  </a:txBody>
                  <a:tcPr/>
                </a:tc>
                <a:extLst>
                  <a:ext uri="{0D108BD9-81ED-4DB2-BD59-A6C34878D82A}">
                    <a16:rowId xmlns:a16="http://schemas.microsoft.com/office/drawing/2014/main" val="2544605493"/>
                  </a:ext>
                </a:extLst>
              </a:tr>
              <a:tr h="349955">
                <a:tc>
                  <a:txBody>
                    <a:bodyPr/>
                    <a:lstStyle/>
                    <a:p>
                      <a:pPr algn="ctr"/>
                      <a:r>
                        <a:rPr lang="en-IN"/>
                        <a:t>1</a:t>
                      </a:r>
                    </a:p>
                  </a:txBody>
                  <a:tcPr/>
                </a:tc>
                <a:tc>
                  <a:txBody>
                    <a:bodyPr/>
                    <a:lstStyle/>
                    <a:p>
                      <a:r>
                        <a:rPr lang="en-IN"/>
                        <a:t>0    0    1</a:t>
                      </a:r>
                    </a:p>
                  </a:txBody>
                  <a:tcPr/>
                </a:tc>
                <a:tc>
                  <a:txBody>
                    <a:bodyPr/>
                    <a:lstStyle/>
                    <a:p>
                      <a:pPr algn="ctr"/>
                      <a:r>
                        <a:rPr lang="en-IN"/>
                        <a:t>0</a:t>
                      </a:r>
                    </a:p>
                  </a:txBody>
                  <a:tcPr/>
                </a:tc>
                <a:tc>
                  <a:txBody>
                    <a:bodyPr/>
                    <a:lstStyle/>
                    <a:p>
                      <a:r>
                        <a:rPr lang="en-IN"/>
                        <a:t>X        1</a:t>
                      </a:r>
                    </a:p>
                  </a:txBody>
                  <a:tcPr/>
                </a:tc>
                <a:extLst>
                  <a:ext uri="{0D108BD9-81ED-4DB2-BD59-A6C34878D82A}">
                    <a16:rowId xmlns:a16="http://schemas.microsoft.com/office/drawing/2014/main" val="3154632715"/>
                  </a:ext>
                </a:extLst>
              </a:tr>
              <a:tr h="349955">
                <a:tc>
                  <a:txBody>
                    <a:bodyPr/>
                    <a:lstStyle/>
                    <a:p>
                      <a:pPr algn="ctr"/>
                      <a:r>
                        <a:rPr lang="en-IN"/>
                        <a:t>2</a:t>
                      </a:r>
                    </a:p>
                  </a:txBody>
                  <a:tcPr/>
                </a:tc>
                <a:tc>
                  <a:txBody>
                    <a:bodyPr/>
                    <a:lstStyle/>
                    <a:p>
                      <a:r>
                        <a:rPr lang="en-IN"/>
                        <a:t>0    1    0</a:t>
                      </a:r>
                    </a:p>
                  </a:txBody>
                  <a:tcPr/>
                </a:tc>
                <a:tc>
                  <a:txBody>
                    <a:bodyPr/>
                    <a:lstStyle/>
                    <a:p>
                      <a:pPr algn="ctr"/>
                      <a:r>
                        <a:rPr lang="en-IN"/>
                        <a:t>1</a:t>
                      </a:r>
                    </a:p>
                  </a:txBody>
                  <a:tcPr/>
                </a:tc>
                <a:tc>
                  <a:txBody>
                    <a:bodyPr/>
                    <a:lstStyle/>
                    <a:p>
                      <a:r>
                        <a:rPr lang="en-IN"/>
                        <a:t>1        X</a:t>
                      </a:r>
                    </a:p>
                  </a:txBody>
                  <a:tcPr/>
                </a:tc>
                <a:extLst>
                  <a:ext uri="{0D108BD9-81ED-4DB2-BD59-A6C34878D82A}">
                    <a16:rowId xmlns:a16="http://schemas.microsoft.com/office/drawing/2014/main" val="3484878922"/>
                  </a:ext>
                </a:extLst>
              </a:tr>
              <a:tr h="349955">
                <a:tc>
                  <a:txBody>
                    <a:bodyPr/>
                    <a:lstStyle/>
                    <a:p>
                      <a:pPr algn="ctr"/>
                      <a:r>
                        <a:rPr lang="en-IN"/>
                        <a:t>3</a:t>
                      </a:r>
                    </a:p>
                  </a:txBody>
                  <a:tcPr/>
                </a:tc>
                <a:tc>
                  <a:txBody>
                    <a:bodyPr/>
                    <a:lstStyle/>
                    <a:p>
                      <a:r>
                        <a:rPr lang="en-IN"/>
                        <a:t>0    1    1</a:t>
                      </a:r>
                    </a:p>
                  </a:txBody>
                  <a:tcPr/>
                </a:tc>
                <a:tc>
                  <a:txBody>
                    <a:bodyPr/>
                    <a:lstStyle/>
                    <a:p>
                      <a:pPr algn="ctr"/>
                      <a:r>
                        <a:rPr lang="en-IN"/>
                        <a:t>0</a:t>
                      </a:r>
                    </a:p>
                  </a:txBody>
                  <a:tcPr/>
                </a:tc>
                <a:tc>
                  <a:txBody>
                    <a:bodyPr/>
                    <a:lstStyle/>
                    <a:p>
                      <a:r>
                        <a:rPr lang="en-IN"/>
                        <a:t>X        1</a:t>
                      </a:r>
                    </a:p>
                  </a:txBody>
                  <a:tcPr/>
                </a:tc>
                <a:extLst>
                  <a:ext uri="{0D108BD9-81ED-4DB2-BD59-A6C34878D82A}">
                    <a16:rowId xmlns:a16="http://schemas.microsoft.com/office/drawing/2014/main" val="3566492911"/>
                  </a:ext>
                </a:extLst>
              </a:tr>
              <a:tr h="349955">
                <a:tc>
                  <a:txBody>
                    <a:bodyPr/>
                    <a:lstStyle/>
                    <a:p>
                      <a:pPr algn="ctr"/>
                      <a:r>
                        <a:rPr lang="en-IN"/>
                        <a:t>4</a:t>
                      </a:r>
                    </a:p>
                  </a:txBody>
                  <a:tcPr/>
                </a:tc>
                <a:tc>
                  <a:txBody>
                    <a:bodyPr/>
                    <a:lstStyle/>
                    <a:p>
                      <a:r>
                        <a:rPr lang="en-IN"/>
                        <a:t>1    0    0</a:t>
                      </a:r>
                    </a:p>
                  </a:txBody>
                  <a:tcPr/>
                </a:tc>
                <a:tc>
                  <a:txBody>
                    <a:bodyPr/>
                    <a:lstStyle/>
                    <a:p>
                      <a:pPr algn="ctr"/>
                      <a:r>
                        <a:rPr lang="en-IN"/>
                        <a:t>0</a:t>
                      </a:r>
                    </a:p>
                  </a:txBody>
                  <a:tcPr/>
                </a:tc>
                <a:tc>
                  <a:txBody>
                    <a:bodyPr/>
                    <a:lstStyle/>
                    <a:p>
                      <a:r>
                        <a:rPr lang="en-IN"/>
                        <a:t>0        X</a:t>
                      </a:r>
                    </a:p>
                  </a:txBody>
                  <a:tcPr/>
                </a:tc>
                <a:extLst>
                  <a:ext uri="{0D108BD9-81ED-4DB2-BD59-A6C34878D82A}">
                    <a16:rowId xmlns:a16="http://schemas.microsoft.com/office/drawing/2014/main" val="3070767775"/>
                  </a:ext>
                </a:extLst>
              </a:tr>
              <a:tr h="349955">
                <a:tc>
                  <a:txBody>
                    <a:bodyPr/>
                    <a:lstStyle/>
                    <a:p>
                      <a:pPr algn="ctr"/>
                      <a:r>
                        <a:rPr lang="en-IN"/>
                        <a:t>5</a:t>
                      </a:r>
                    </a:p>
                  </a:txBody>
                  <a:tcPr/>
                </a:tc>
                <a:tc>
                  <a:txBody>
                    <a:bodyPr/>
                    <a:lstStyle/>
                    <a:p>
                      <a:r>
                        <a:rPr lang="en-IN"/>
                        <a:t>1    0    1</a:t>
                      </a:r>
                    </a:p>
                  </a:txBody>
                  <a:tcPr/>
                </a:tc>
                <a:tc>
                  <a:txBody>
                    <a:bodyPr/>
                    <a:lstStyle/>
                    <a:p>
                      <a:pPr algn="ctr"/>
                      <a:r>
                        <a:rPr lang="en-IN"/>
                        <a:t>1</a:t>
                      </a:r>
                    </a:p>
                  </a:txBody>
                  <a:tcPr/>
                </a:tc>
                <a:tc>
                  <a:txBody>
                    <a:bodyPr/>
                    <a:lstStyle/>
                    <a:p>
                      <a:r>
                        <a:rPr lang="en-IN"/>
                        <a:t>X        0</a:t>
                      </a:r>
                    </a:p>
                  </a:txBody>
                  <a:tcPr/>
                </a:tc>
                <a:extLst>
                  <a:ext uri="{0D108BD9-81ED-4DB2-BD59-A6C34878D82A}">
                    <a16:rowId xmlns:a16="http://schemas.microsoft.com/office/drawing/2014/main" val="3295345330"/>
                  </a:ext>
                </a:extLst>
              </a:tr>
              <a:tr h="349955">
                <a:tc>
                  <a:txBody>
                    <a:bodyPr/>
                    <a:lstStyle/>
                    <a:p>
                      <a:pPr algn="ctr"/>
                      <a:r>
                        <a:rPr lang="en-IN"/>
                        <a:t>6</a:t>
                      </a:r>
                    </a:p>
                  </a:txBody>
                  <a:tcPr/>
                </a:tc>
                <a:tc>
                  <a:txBody>
                    <a:bodyPr/>
                    <a:lstStyle/>
                    <a:p>
                      <a:r>
                        <a:rPr lang="en-IN"/>
                        <a:t>1    1    0</a:t>
                      </a:r>
                    </a:p>
                  </a:txBody>
                  <a:tcPr/>
                </a:tc>
                <a:tc>
                  <a:txBody>
                    <a:bodyPr/>
                    <a:lstStyle/>
                    <a:p>
                      <a:pPr algn="ctr"/>
                      <a:r>
                        <a:rPr lang="en-IN"/>
                        <a:t>1</a:t>
                      </a:r>
                    </a:p>
                  </a:txBody>
                  <a:tcPr/>
                </a:tc>
                <a:tc>
                  <a:txBody>
                    <a:bodyPr/>
                    <a:lstStyle/>
                    <a:p>
                      <a:r>
                        <a:rPr lang="en-IN"/>
                        <a:t>1        X</a:t>
                      </a:r>
                    </a:p>
                  </a:txBody>
                  <a:tcPr/>
                </a:tc>
                <a:extLst>
                  <a:ext uri="{0D108BD9-81ED-4DB2-BD59-A6C34878D82A}">
                    <a16:rowId xmlns:a16="http://schemas.microsoft.com/office/drawing/2014/main" val="3176160745"/>
                  </a:ext>
                </a:extLst>
              </a:tr>
              <a:tr h="349955">
                <a:tc>
                  <a:txBody>
                    <a:bodyPr/>
                    <a:lstStyle/>
                    <a:p>
                      <a:pPr algn="ctr"/>
                      <a:r>
                        <a:rPr lang="en-IN"/>
                        <a:t>7</a:t>
                      </a:r>
                    </a:p>
                  </a:txBody>
                  <a:tcPr/>
                </a:tc>
                <a:tc>
                  <a:txBody>
                    <a:bodyPr/>
                    <a:lstStyle/>
                    <a:p>
                      <a:r>
                        <a:rPr lang="en-IN"/>
                        <a:t>1    1    1</a:t>
                      </a:r>
                    </a:p>
                  </a:txBody>
                  <a:tcPr/>
                </a:tc>
                <a:tc>
                  <a:txBody>
                    <a:bodyPr/>
                    <a:lstStyle/>
                    <a:p>
                      <a:pPr algn="ctr"/>
                      <a:r>
                        <a:rPr lang="en-IN"/>
                        <a:t>1</a:t>
                      </a:r>
                    </a:p>
                  </a:txBody>
                  <a:tcPr/>
                </a:tc>
                <a:tc>
                  <a:txBody>
                    <a:bodyPr/>
                    <a:lstStyle/>
                    <a:p>
                      <a:r>
                        <a:rPr lang="en-IN"/>
                        <a:t>X        0</a:t>
                      </a:r>
                    </a:p>
                  </a:txBody>
                  <a:tcPr/>
                </a:tc>
                <a:extLst>
                  <a:ext uri="{0D108BD9-81ED-4DB2-BD59-A6C34878D82A}">
                    <a16:rowId xmlns:a16="http://schemas.microsoft.com/office/drawing/2014/main" val="228389918"/>
                  </a:ext>
                </a:extLst>
              </a:tr>
            </a:tbl>
          </a:graphicData>
        </a:graphic>
      </p:graphicFrame>
      <p:pic>
        <p:nvPicPr>
          <p:cNvPr id="14" name="Picture 13"/>
          <p:cNvPicPr>
            <a:picLocks noChangeAspect="1"/>
          </p:cNvPicPr>
          <p:nvPr/>
        </p:nvPicPr>
        <p:blipFill>
          <a:blip r:embed="rId2"/>
          <a:stretch>
            <a:fillRect/>
          </a:stretch>
        </p:blipFill>
        <p:spPr>
          <a:xfrm>
            <a:off x="4553530" y="480144"/>
            <a:ext cx="5333772" cy="2087565"/>
          </a:xfrm>
          <a:prstGeom prst="rect">
            <a:avLst/>
          </a:prstGeom>
        </p:spPr>
      </p:pic>
      <p:pic>
        <p:nvPicPr>
          <p:cNvPr id="15" name="Picture 14"/>
          <p:cNvPicPr>
            <a:picLocks noChangeAspect="1"/>
          </p:cNvPicPr>
          <p:nvPr/>
        </p:nvPicPr>
        <p:blipFill>
          <a:blip r:embed="rId3"/>
          <a:stretch>
            <a:fillRect/>
          </a:stretch>
        </p:blipFill>
        <p:spPr>
          <a:xfrm>
            <a:off x="7352146" y="2567709"/>
            <a:ext cx="4839854" cy="1995051"/>
          </a:xfrm>
          <a:prstGeom prst="rect">
            <a:avLst/>
          </a:prstGeom>
        </p:spPr>
      </p:pic>
      <p:sp>
        <p:nvSpPr>
          <p:cNvPr id="16" name="TextBox 15"/>
          <p:cNvSpPr txBox="1"/>
          <p:nvPr/>
        </p:nvSpPr>
        <p:spPr>
          <a:xfrm>
            <a:off x="6640945" y="18480"/>
            <a:ext cx="5551055" cy="461665"/>
          </a:xfrm>
          <a:prstGeom prst="rect">
            <a:avLst/>
          </a:prstGeom>
          <a:noFill/>
        </p:spPr>
        <p:txBody>
          <a:bodyPr wrap="square" rtlCol="0">
            <a:spAutoFit/>
          </a:bodyPr>
          <a:lstStyle/>
          <a:p>
            <a:r>
              <a:rPr lang="en-IN" sz="2400" err="1">
                <a:latin typeface="Times New Roman" panose="02020603050405020304" pitchFamily="18" charset="0"/>
                <a:cs typeface="Times New Roman" panose="02020603050405020304" pitchFamily="18" charset="0"/>
              </a:rPr>
              <a:t>Karnaugh</a:t>
            </a:r>
            <a:r>
              <a:rPr lang="en-IN" sz="2400">
                <a:latin typeface="Times New Roman" panose="02020603050405020304" pitchFamily="18" charset="0"/>
                <a:cs typeface="Times New Roman" panose="02020603050405020304" pitchFamily="18" charset="0"/>
              </a:rPr>
              <a:t> Map for the J and K inputs</a:t>
            </a:r>
          </a:p>
        </p:txBody>
      </p:sp>
      <p:pic>
        <p:nvPicPr>
          <p:cNvPr id="17" name="Picture 16"/>
          <p:cNvPicPr>
            <a:picLocks noChangeAspect="1"/>
          </p:cNvPicPr>
          <p:nvPr/>
        </p:nvPicPr>
        <p:blipFill>
          <a:blip r:embed="rId4"/>
          <a:stretch>
            <a:fillRect/>
          </a:stretch>
        </p:blipFill>
        <p:spPr>
          <a:xfrm>
            <a:off x="2043667" y="4054758"/>
            <a:ext cx="5019725" cy="2715491"/>
          </a:xfrm>
          <a:prstGeom prst="rect">
            <a:avLst/>
          </a:prstGeom>
        </p:spPr>
      </p:pic>
      <p:sp>
        <p:nvSpPr>
          <p:cNvPr id="18" name="TextBox 17"/>
          <p:cNvSpPr txBox="1"/>
          <p:nvPr/>
        </p:nvSpPr>
        <p:spPr>
          <a:xfrm>
            <a:off x="203200" y="3980877"/>
            <a:ext cx="2623149" cy="461665"/>
          </a:xfrm>
          <a:prstGeom prst="rect">
            <a:avLst/>
          </a:prstGeom>
          <a:noFill/>
        </p:spPr>
        <p:txBody>
          <a:bodyPr wrap="square" rtlCol="0">
            <a:spAutoFit/>
          </a:bodyPr>
          <a:lstStyle/>
          <a:p>
            <a:r>
              <a:rPr lang="en-IN" sz="2400">
                <a:latin typeface="Times New Roman" panose="02020603050405020304" pitchFamily="18" charset="0"/>
                <a:cs typeface="Times New Roman" panose="02020603050405020304" pitchFamily="18" charset="0"/>
              </a:rPr>
              <a:t>Converted Circuit:</a:t>
            </a:r>
          </a:p>
        </p:txBody>
      </p:sp>
    </p:spTree>
    <p:extLst>
      <p:ext uri="{BB962C8B-B14F-4D97-AF65-F5344CB8AC3E}">
        <p14:creationId xmlns:p14="http://schemas.microsoft.com/office/powerpoint/2010/main" val="915122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6255" y="129317"/>
            <a:ext cx="12025745" cy="830997"/>
          </a:xfrm>
          <a:prstGeom prst="rect">
            <a:avLst/>
          </a:prstGeom>
          <a:noFill/>
        </p:spPr>
        <p:txBody>
          <a:bodyPr wrap="square" rtlCol="0">
            <a:spAutoFit/>
          </a:bodyPr>
          <a:lstStyle/>
          <a:p>
            <a:r>
              <a:rPr lang="en-IN" sz="2400">
                <a:latin typeface="Times New Roman" panose="02020603050405020304" pitchFamily="18" charset="0"/>
                <a:cs typeface="Times New Roman" panose="02020603050405020304" pitchFamily="18" charset="0"/>
              </a:rPr>
              <a:t>Convert a positive edge triggered D flip-flop into the positive edge triggered XY flip-flop defined by below function table:</a:t>
            </a:r>
          </a:p>
        </p:txBody>
      </p:sp>
      <p:graphicFrame>
        <p:nvGraphicFramePr>
          <p:cNvPr id="7" name="Table 6"/>
          <p:cNvGraphicFramePr>
            <a:graphicFrameLocks noGrp="1"/>
          </p:cNvGraphicFramePr>
          <p:nvPr>
            <p:extLst>
              <p:ext uri="{D42A27DB-BD31-4B8C-83A1-F6EECF244321}">
                <p14:modId xmlns:p14="http://schemas.microsoft.com/office/powerpoint/2010/main" val="1047095468"/>
              </p:ext>
            </p:extLst>
          </p:nvPr>
        </p:nvGraphicFramePr>
        <p:xfrm>
          <a:off x="1597895" y="1144539"/>
          <a:ext cx="2207492" cy="1559560"/>
        </p:xfrm>
        <a:graphic>
          <a:graphicData uri="http://schemas.openxmlformats.org/drawingml/2006/table">
            <a:tbl>
              <a:tblPr firstRow="1" bandRow="1">
                <a:tableStyleId>{5C22544A-7EE6-4342-B048-85BDC9FD1C3A}</a:tableStyleId>
              </a:tblPr>
              <a:tblGrid>
                <a:gridCol w="1103746">
                  <a:extLst>
                    <a:ext uri="{9D8B030D-6E8A-4147-A177-3AD203B41FA5}">
                      <a16:colId xmlns:a16="http://schemas.microsoft.com/office/drawing/2014/main" val="1585567373"/>
                    </a:ext>
                  </a:extLst>
                </a:gridCol>
                <a:gridCol w="1103746">
                  <a:extLst>
                    <a:ext uri="{9D8B030D-6E8A-4147-A177-3AD203B41FA5}">
                      <a16:colId xmlns:a16="http://schemas.microsoft.com/office/drawing/2014/main" val="4069887568"/>
                    </a:ext>
                  </a:extLst>
                </a:gridCol>
              </a:tblGrid>
              <a:tr h="370840">
                <a:tc>
                  <a:txBody>
                    <a:bodyPr/>
                    <a:lstStyle/>
                    <a:p>
                      <a:pPr algn="ctr"/>
                      <a:r>
                        <a:rPr lang="en-IN"/>
                        <a:t>  X          Y   </a:t>
                      </a:r>
                    </a:p>
                  </a:txBody>
                  <a:tcPr/>
                </a:tc>
                <a:tc>
                  <a:txBody>
                    <a:bodyPr/>
                    <a:lstStyle/>
                    <a:p>
                      <a:pPr algn="ctr"/>
                      <a:r>
                        <a:rPr lang="en-IN"/>
                        <a:t>Qn+1</a:t>
                      </a:r>
                    </a:p>
                  </a:txBody>
                  <a:tcPr/>
                </a:tc>
                <a:extLst>
                  <a:ext uri="{0D108BD9-81ED-4DB2-BD59-A6C34878D82A}">
                    <a16:rowId xmlns:a16="http://schemas.microsoft.com/office/drawing/2014/main" val="2280696735"/>
                  </a:ext>
                </a:extLst>
              </a:tr>
              <a:tr h="370840">
                <a:tc>
                  <a:txBody>
                    <a:bodyPr/>
                    <a:lstStyle/>
                    <a:p>
                      <a:r>
                        <a:rPr lang="en-IN"/>
                        <a:t>  0          0</a:t>
                      </a:r>
                    </a:p>
                    <a:p>
                      <a:r>
                        <a:rPr lang="en-IN"/>
                        <a:t>  0          1</a:t>
                      </a:r>
                    </a:p>
                    <a:p>
                      <a:r>
                        <a:rPr lang="en-IN"/>
                        <a:t>  1          0</a:t>
                      </a:r>
                    </a:p>
                    <a:p>
                      <a:r>
                        <a:rPr lang="en-IN"/>
                        <a:t>  1          1   </a:t>
                      </a:r>
                    </a:p>
                  </a:txBody>
                  <a:tcPr/>
                </a:tc>
                <a:tc>
                  <a:txBody>
                    <a:bodyPr/>
                    <a:lstStyle/>
                    <a:p>
                      <a:pPr algn="ctr"/>
                      <a:r>
                        <a:rPr lang="en-IN"/>
                        <a:t>0</a:t>
                      </a:r>
                    </a:p>
                    <a:p>
                      <a:pPr algn="ctr"/>
                      <a:r>
                        <a:rPr lang="en-IN"/>
                        <a:t>Q’</a:t>
                      </a:r>
                    </a:p>
                    <a:p>
                      <a:pPr algn="ctr"/>
                      <a:r>
                        <a:rPr lang="en-IN"/>
                        <a:t>Q</a:t>
                      </a:r>
                    </a:p>
                    <a:p>
                      <a:pPr algn="ctr"/>
                      <a:r>
                        <a:rPr lang="en-IN"/>
                        <a:t>1</a:t>
                      </a:r>
                    </a:p>
                  </a:txBody>
                  <a:tcPr/>
                </a:tc>
                <a:extLst>
                  <a:ext uri="{0D108BD9-81ED-4DB2-BD59-A6C34878D82A}">
                    <a16:rowId xmlns:a16="http://schemas.microsoft.com/office/drawing/2014/main" val="1853487022"/>
                  </a:ext>
                </a:extLst>
              </a:tr>
            </a:tbl>
          </a:graphicData>
        </a:graphic>
      </p:graphicFrame>
      <p:sp>
        <p:nvSpPr>
          <p:cNvPr id="9" name="TextBox 8"/>
          <p:cNvSpPr txBox="1"/>
          <p:nvPr/>
        </p:nvSpPr>
        <p:spPr>
          <a:xfrm>
            <a:off x="166255" y="2817102"/>
            <a:ext cx="12025745" cy="830997"/>
          </a:xfrm>
          <a:prstGeom prst="rect">
            <a:avLst/>
          </a:prstGeom>
          <a:noFill/>
        </p:spPr>
        <p:txBody>
          <a:bodyPr wrap="square" rtlCol="0">
            <a:spAutoFit/>
          </a:bodyPr>
          <a:lstStyle/>
          <a:p>
            <a:endParaRPr lang="en-IN" sz="2400">
              <a:latin typeface="Times New Roman" panose="02020603050405020304" pitchFamily="18" charset="0"/>
              <a:cs typeface="Times New Roman" panose="02020603050405020304" pitchFamily="18" charset="0"/>
            </a:endParaRPr>
          </a:p>
          <a:p>
            <a:r>
              <a:rPr lang="en-IN" sz="2400">
                <a:latin typeface="Times New Roman" panose="02020603050405020304" pitchFamily="18" charset="0"/>
                <a:cs typeface="Times New Roman" panose="02020603050405020304" pitchFamily="18" charset="0"/>
              </a:rPr>
              <a:t>Solution: The application table for the D flip-flop and the function table for the XY flip-flop are:</a:t>
            </a:r>
          </a:p>
        </p:txBody>
      </p:sp>
      <p:graphicFrame>
        <p:nvGraphicFramePr>
          <p:cNvPr id="10" name="Table 9"/>
          <p:cNvGraphicFramePr>
            <a:graphicFrameLocks noGrp="1"/>
          </p:cNvGraphicFramePr>
          <p:nvPr>
            <p:extLst>
              <p:ext uri="{D42A27DB-BD31-4B8C-83A1-F6EECF244321}">
                <p14:modId xmlns:p14="http://schemas.microsoft.com/office/powerpoint/2010/main" val="718469504"/>
              </p:ext>
            </p:extLst>
          </p:nvPr>
        </p:nvGraphicFramePr>
        <p:xfrm>
          <a:off x="2092034" y="4017816"/>
          <a:ext cx="2424547" cy="1921178"/>
        </p:xfrm>
        <a:graphic>
          <a:graphicData uri="http://schemas.openxmlformats.org/drawingml/2006/table">
            <a:tbl>
              <a:tblPr firstRow="1" bandRow="1">
                <a:tableStyleId>{5C22544A-7EE6-4342-B048-85BDC9FD1C3A}</a:tableStyleId>
              </a:tblPr>
              <a:tblGrid>
                <a:gridCol w="1549866">
                  <a:extLst>
                    <a:ext uri="{9D8B030D-6E8A-4147-A177-3AD203B41FA5}">
                      <a16:colId xmlns:a16="http://schemas.microsoft.com/office/drawing/2014/main" val="1585567373"/>
                    </a:ext>
                  </a:extLst>
                </a:gridCol>
                <a:gridCol w="874681">
                  <a:extLst>
                    <a:ext uri="{9D8B030D-6E8A-4147-A177-3AD203B41FA5}">
                      <a16:colId xmlns:a16="http://schemas.microsoft.com/office/drawing/2014/main" val="4069887568"/>
                    </a:ext>
                  </a:extLst>
                </a:gridCol>
              </a:tblGrid>
              <a:tr h="455623">
                <a:tc>
                  <a:txBody>
                    <a:bodyPr/>
                    <a:lstStyle/>
                    <a:p>
                      <a:pPr algn="ctr"/>
                      <a:r>
                        <a:rPr lang="en-IN"/>
                        <a:t>Q </a:t>
                      </a:r>
                      <a:r>
                        <a:rPr lang="en-IN">
                          <a:sym typeface="Symbol" panose="05050102010706020507" pitchFamily="18" charset="2"/>
                        </a:rPr>
                        <a:t></a:t>
                      </a:r>
                      <a:r>
                        <a:rPr lang="en-IN"/>
                        <a:t>     Qn+1   </a:t>
                      </a:r>
                    </a:p>
                  </a:txBody>
                  <a:tcPr/>
                </a:tc>
                <a:tc>
                  <a:txBody>
                    <a:bodyPr/>
                    <a:lstStyle/>
                    <a:p>
                      <a:pPr algn="ctr"/>
                      <a:r>
                        <a:rPr lang="en-IN"/>
                        <a:t>D</a:t>
                      </a:r>
                    </a:p>
                  </a:txBody>
                  <a:tcPr/>
                </a:tc>
                <a:extLst>
                  <a:ext uri="{0D108BD9-81ED-4DB2-BD59-A6C34878D82A}">
                    <a16:rowId xmlns:a16="http://schemas.microsoft.com/office/drawing/2014/main" val="2280696735"/>
                  </a:ext>
                </a:extLst>
              </a:tr>
              <a:tr h="1465555">
                <a:tc>
                  <a:txBody>
                    <a:bodyPr/>
                    <a:lstStyle/>
                    <a:p>
                      <a:r>
                        <a:rPr lang="en-IN"/>
                        <a:t>  0          0</a:t>
                      </a:r>
                    </a:p>
                    <a:p>
                      <a:r>
                        <a:rPr lang="en-IN"/>
                        <a:t>  0          1</a:t>
                      </a:r>
                    </a:p>
                    <a:p>
                      <a:r>
                        <a:rPr lang="en-IN"/>
                        <a:t>  1          0</a:t>
                      </a:r>
                    </a:p>
                    <a:p>
                      <a:r>
                        <a:rPr lang="en-IN"/>
                        <a:t>  1          1   </a:t>
                      </a:r>
                    </a:p>
                  </a:txBody>
                  <a:tcPr/>
                </a:tc>
                <a:tc>
                  <a:txBody>
                    <a:bodyPr/>
                    <a:lstStyle/>
                    <a:p>
                      <a:pPr algn="ctr"/>
                      <a:r>
                        <a:rPr lang="en-IN"/>
                        <a:t>0      </a:t>
                      </a:r>
                    </a:p>
                    <a:p>
                      <a:pPr algn="ctr"/>
                      <a:r>
                        <a:rPr lang="en-IN"/>
                        <a:t>1      </a:t>
                      </a:r>
                    </a:p>
                    <a:p>
                      <a:pPr algn="ctr"/>
                      <a:r>
                        <a:rPr lang="en-IN"/>
                        <a:t>0       </a:t>
                      </a:r>
                    </a:p>
                    <a:p>
                      <a:pPr algn="ctr"/>
                      <a:r>
                        <a:rPr lang="en-IN"/>
                        <a:t>1      </a:t>
                      </a:r>
                    </a:p>
                  </a:txBody>
                  <a:tcPr/>
                </a:tc>
                <a:extLst>
                  <a:ext uri="{0D108BD9-81ED-4DB2-BD59-A6C34878D82A}">
                    <a16:rowId xmlns:a16="http://schemas.microsoft.com/office/drawing/2014/main" val="1853487022"/>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98374420"/>
              </p:ext>
            </p:extLst>
          </p:nvPr>
        </p:nvGraphicFramePr>
        <p:xfrm>
          <a:off x="6405427" y="4017816"/>
          <a:ext cx="2526136" cy="1921178"/>
        </p:xfrm>
        <a:graphic>
          <a:graphicData uri="http://schemas.openxmlformats.org/drawingml/2006/table">
            <a:tbl>
              <a:tblPr firstRow="1" bandRow="1">
                <a:tableStyleId>{5C22544A-7EE6-4342-B048-85BDC9FD1C3A}</a:tableStyleId>
              </a:tblPr>
              <a:tblGrid>
                <a:gridCol w="1263068">
                  <a:extLst>
                    <a:ext uri="{9D8B030D-6E8A-4147-A177-3AD203B41FA5}">
                      <a16:colId xmlns:a16="http://schemas.microsoft.com/office/drawing/2014/main" val="1585567373"/>
                    </a:ext>
                  </a:extLst>
                </a:gridCol>
                <a:gridCol w="1263068">
                  <a:extLst>
                    <a:ext uri="{9D8B030D-6E8A-4147-A177-3AD203B41FA5}">
                      <a16:colId xmlns:a16="http://schemas.microsoft.com/office/drawing/2014/main" val="4069887568"/>
                    </a:ext>
                  </a:extLst>
                </a:gridCol>
              </a:tblGrid>
              <a:tr h="456827">
                <a:tc>
                  <a:txBody>
                    <a:bodyPr/>
                    <a:lstStyle/>
                    <a:p>
                      <a:pPr algn="ctr"/>
                      <a:r>
                        <a:rPr lang="en-IN"/>
                        <a:t>  X          Y   </a:t>
                      </a:r>
                    </a:p>
                  </a:txBody>
                  <a:tcPr/>
                </a:tc>
                <a:tc>
                  <a:txBody>
                    <a:bodyPr/>
                    <a:lstStyle/>
                    <a:p>
                      <a:pPr algn="ctr"/>
                      <a:r>
                        <a:rPr lang="en-IN"/>
                        <a:t>Qn+1</a:t>
                      </a:r>
                    </a:p>
                  </a:txBody>
                  <a:tcPr/>
                </a:tc>
                <a:extLst>
                  <a:ext uri="{0D108BD9-81ED-4DB2-BD59-A6C34878D82A}">
                    <a16:rowId xmlns:a16="http://schemas.microsoft.com/office/drawing/2014/main" val="2280696735"/>
                  </a:ext>
                </a:extLst>
              </a:tr>
              <a:tr h="1464351">
                <a:tc>
                  <a:txBody>
                    <a:bodyPr/>
                    <a:lstStyle/>
                    <a:p>
                      <a:r>
                        <a:rPr lang="en-IN"/>
                        <a:t>  0          0</a:t>
                      </a:r>
                    </a:p>
                    <a:p>
                      <a:r>
                        <a:rPr lang="en-IN"/>
                        <a:t>  0          1</a:t>
                      </a:r>
                    </a:p>
                    <a:p>
                      <a:r>
                        <a:rPr lang="en-IN"/>
                        <a:t>  1          0</a:t>
                      </a:r>
                    </a:p>
                    <a:p>
                      <a:r>
                        <a:rPr lang="en-IN"/>
                        <a:t>  1          1   </a:t>
                      </a:r>
                    </a:p>
                  </a:txBody>
                  <a:tcPr/>
                </a:tc>
                <a:tc>
                  <a:txBody>
                    <a:bodyPr/>
                    <a:lstStyle/>
                    <a:p>
                      <a:pPr algn="ctr"/>
                      <a:r>
                        <a:rPr lang="en-IN"/>
                        <a:t>0</a:t>
                      </a:r>
                    </a:p>
                    <a:p>
                      <a:pPr algn="ctr"/>
                      <a:r>
                        <a:rPr lang="en-IN"/>
                        <a:t>Q’</a:t>
                      </a:r>
                    </a:p>
                    <a:p>
                      <a:pPr algn="ctr"/>
                      <a:r>
                        <a:rPr lang="en-IN"/>
                        <a:t>Q</a:t>
                      </a:r>
                    </a:p>
                    <a:p>
                      <a:pPr algn="ctr"/>
                      <a:r>
                        <a:rPr lang="en-IN"/>
                        <a:t>1</a:t>
                      </a:r>
                    </a:p>
                  </a:txBody>
                  <a:tcPr/>
                </a:tc>
                <a:extLst>
                  <a:ext uri="{0D108BD9-81ED-4DB2-BD59-A6C34878D82A}">
                    <a16:rowId xmlns:a16="http://schemas.microsoft.com/office/drawing/2014/main" val="1853487022"/>
                  </a:ext>
                </a:extLst>
              </a:tr>
            </a:tbl>
          </a:graphicData>
        </a:graphic>
      </p:graphicFrame>
    </p:spTree>
    <p:extLst>
      <p:ext uri="{BB962C8B-B14F-4D97-AF65-F5344CB8AC3E}">
        <p14:creationId xmlns:p14="http://schemas.microsoft.com/office/powerpoint/2010/main" val="329487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45414" y="563421"/>
            <a:ext cx="5765860" cy="3243748"/>
          </a:xfrm>
          <a:prstGeom prst="rect">
            <a:avLst/>
          </a:prstGeom>
        </p:spPr>
      </p:pic>
      <p:sp>
        <p:nvSpPr>
          <p:cNvPr id="6" name="TextBox 5"/>
          <p:cNvSpPr txBox="1"/>
          <p:nvPr/>
        </p:nvSpPr>
        <p:spPr>
          <a:xfrm>
            <a:off x="1136073" y="101611"/>
            <a:ext cx="2445327" cy="461665"/>
          </a:xfrm>
          <a:prstGeom prst="rect">
            <a:avLst/>
          </a:prstGeom>
          <a:noFill/>
        </p:spPr>
        <p:txBody>
          <a:bodyPr wrap="square" rtlCol="0">
            <a:spAutoFit/>
          </a:bodyPr>
          <a:lstStyle/>
          <a:p>
            <a:r>
              <a:rPr lang="en-IN" sz="2400">
                <a:latin typeface="Times New Roman" panose="02020603050405020304" pitchFamily="18" charset="0"/>
                <a:cs typeface="Times New Roman" panose="02020603050405020304" pitchFamily="18" charset="0"/>
              </a:rPr>
              <a:t>Excitation Table:</a:t>
            </a:r>
          </a:p>
        </p:txBody>
      </p:sp>
      <p:pic>
        <p:nvPicPr>
          <p:cNvPr id="7" name="Picture 6"/>
          <p:cNvPicPr>
            <a:picLocks noChangeAspect="1"/>
          </p:cNvPicPr>
          <p:nvPr/>
        </p:nvPicPr>
        <p:blipFill>
          <a:blip r:embed="rId3"/>
          <a:stretch>
            <a:fillRect/>
          </a:stretch>
        </p:blipFill>
        <p:spPr>
          <a:xfrm>
            <a:off x="6576287" y="1077487"/>
            <a:ext cx="4562763" cy="2744933"/>
          </a:xfrm>
          <a:prstGeom prst="rect">
            <a:avLst/>
          </a:prstGeom>
        </p:spPr>
      </p:pic>
      <p:sp>
        <p:nvSpPr>
          <p:cNvPr id="8" name="TextBox 7"/>
          <p:cNvSpPr txBox="1"/>
          <p:nvPr/>
        </p:nvSpPr>
        <p:spPr>
          <a:xfrm>
            <a:off x="6834909" y="249389"/>
            <a:ext cx="3990109" cy="461665"/>
          </a:xfrm>
          <a:prstGeom prst="rect">
            <a:avLst/>
          </a:prstGeom>
          <a:noFill/>
        </p:spPr>
        <p:txBody>
          <a:bodyPr wrap="square" rtlCol="0">
            <a:spAutoFit/>
          </a:bodyPr>
          <a:lstStyle/>
          <a:p>
            <a:r>
              <a:rPr lang="en-IN" sz="2400" err="1">
                <a:latin typeface="Times New Roman" panose="02020603050405020304" pitchFamily="18" charset="0"/>
                <a:cs typeface="Times New Roman" panose="02020603050405020304" pitchFamily="18" charset="0"/>
              </a:rPr>
              <a:t>Karnaugh</a:t>
            </a:r>
            <a:r>
              <a:rPr lang="en-IN" sz="2400">
                <a:latin typeface="Times New Roman" panose="02020603050405020304" pitchFamily="18" charset="0"/>
                <a:cs typeface="Times New Roman" panose="02020603050405020304" pitchFamily="18" charset="0"/>
              </a:rPr>
              <a:t> Map for D input:</a:t>
            </a:r>
          </a:p>
        </p:txBody>
      </p:sp>
      <p:pic>
        <p:nvPicPr>
          <p:cNvPr id="9" name="Picture 8"/>
          <p:cNvPicPr>
            <a:picLocks noChangeAspect="1"/>
          </p:cNvPicPr>
          <p:nvPr/>
        </p:nvPicPr>
        <p:blipFill>
          <a:blip r:embed="rId4"/>
          <a:stretch>
            <a:fillRect/>
          </a:stretch>
        </p:blipFill>
        <p:spPr>
          <a:xfrm>
            <a:off x="2530758" y="3833092"/>
            <a:ext cx="6511638" cy="3047999"/>
          </a:xfrm>
          <a:prstGeom prst="rect">
            <a:avLst/>
          </a:prstGeom>
        </p:spPr>
      </p:pic>
      <p:sp>
        <p:nvSpPr>
          <p:cNvPr id="10" name="TextBox 9"/>
          <p:cNvSpPr txBox="1"/>
          <p:nvPr/>
        </p:nvSpPr>
        <p:spPr>
          <a:xfrm>
            <a:off x="203200" y="4008586"/>
            <a:ext cx="2623149" cy="461665"/>
          </a:xfrm>
          <a:prstGeom prst="rect">
            <a:avLst/>
          </a:prstGeom>
          <a:noFill/>
        </p:spPr>
        <p:txBody>
          <a:bodyPr wrap="square" rtlCol="0">
            <a:spAutoFit/>
          </a:bodyPr>
          <a:lstStyle/>
          <a:p>
            <a:r>
              <a:rPr lang="en-IN" sz="2400">
                <a:latin typeface="Times New Roman" panose="02020603050405020304" pitchFamily="18" charset="0"/>
                <a:cs typeface="Times New Roman" panose="02020603050405020304" pitchFamily="18" charset="0"/>
              </a:rPr>
              <a:t>Converted Circuit:</a:t>
            </a:r>
          </a:p>
        </p:txBody>
      </p:sp>
    </p:spTree>
    <p:extLst>
      <p:ext uri="{BB962C8B-B14F-4D97-AF65-F5344CB8AC3E}">
        <p14:creationId xmlns:p14="http://schemas.microsoft.com/office/powerpoint/2010/main" val="1161457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1673" y="113451"/>
            <a:ext cx="11822545" cy="1754326"/>
          </a:xfrm>
          <a:prstGeom prst="rect">
            <a:avLst/>
          </a:prstGeom>
        </p:spPr>
        <p:txBody>
          <a:bodyPr wrap="square">
            <a:spAutoFit/>
          </a:bodyPr>
          <a:lstStyle/>
          <a:p>
            <a:r>
              <a:rPr lang="en-US">
                <a:latin typeface="Times New Roman" panose="02020603050405020304" pitchFamily="18" charset="0"/>
              </a:rPr>
              <a:t>A PN flip-flop has four operations: clear to 0, no change, complement, and set to 1, when inputs P and N are 00, 01, 10, and 11, respectively.</a:t>
            </a:r>
          </a:p>
          <a:p>
            <a:r>
              <a:rPr lang="en-US">
                <a:latin typeface="Times New Roman" panose="02020603050405020304" pitchFamily="18" charset="0"/>
              </a:rPr>
              <a:t>a)Tabulate the characteristic table. </a:t>
            </a:r>
          </a:p>
          <a:p>
            <a:r>
              <a:rPr lang="en-US">
                <a:latin typeface="Times New Roman" panose="02020603050405020304" pitchFamily="18" charset="0"/>
              </a:rPr>
              <a:t>b)Derive the characteristic equation. </a:t>
            </a:r>
          </a:p>
          <a:p>
            <a:r>
              <a:rPr lang="en-US">
                <a:latin typeface="Times New Roman" panose="02020603050405020304" pitchFamily="18" charset="0"/>
              </a:rPr>
              <a:t>c)Tabulate the excitation table. </a:t>
            </a:r>
          </a:p>
          <a:p>
            <a:r>
              <a:rPr lang="en-US">
                <a:latin typeface="Times New Roman" panose="02020603050405020304" pitchFamily="18" charset="0"/>
              </a:rPr>
              <a:t>d)Show how the PN flip-flop can be converted to a D flip-flop.</a:t>
            </a:r>
            <a:endParaRPr lang="en-IN"/>
          </a:p>
        </p:txBody>
      </p:sp>
      <p:pic>
        <p:nvPicPr>
          <p:cNvPr id="6" name="Picture 5"/>
          <p:cNvPicPr>
            <a:picLocks noChangeAspect="1"/>
          </p:cNvPicPr>
          <p:nvPr/>
        </p:nvPicPr>
        <p:blipFill>
          <a:blip r:embed="rId2"/>
          <a:stretch>
            <a:fillRect/>
          </a:stretch>
        </p:blipFill>
        <p:spPr>
          <a:xfrm>
            <a:off x="822031" y="2059711"/>
            <a:ext cx="2888673" cy="2068946"/>
          </a:xfrm>
          <a:prstGeom prst="rect">
            <a:avLst/>
          </a:prstGeom>
        </p:spPr>
      </p:pic>
      <p:pic>
        <p:nvPicPr>
          <p:cNvPr id="7" name="Picture 6"/>
          <p:cNvPicPr>
            <a:picLocks noChangeAspect="1"/>
          </p:cNvPicPr>
          <p:nvPr/>
        </p:nvPicPr>
        <p:blipFill>
          <a:blip r:embed="rId3"/>
          <a:stretch>
            <a:fillRect/>
          </a:stretch>
        </p:blipFill>
        <p:spPr>
          <a:xfrm>
            <a:off x="6724650" y="387931"/>
            <a:ext cx="5467350" cy="3722252"/>
          </a:xfrm>
          <a:prstGeom prst="rect">
            <a:avLst/>
          </a:prstGeom>
        </p:spPr>
      </p:pic>
      <p:pic>
        <p:nvPicPr>
          <p:cNvPr id="8" name="Picture 7"/>
          <p:cNvPicPr>
            <a:picLocks noChangeAspect="1"/>
          </p:cNvPicPr>
          <p:nvPr/>
        </p:nvPicPr>
        <p:blipFill>
          <a:blip r:embed="rId4"/>
          <a:stretch>
            <a:fillRect/>
          </a:stretch>
        </p:blipFill>
        <p:spPr>
          <a:xfrm>
            <a:off x="1533525" y="4064009"/>
            <a:ext cx="9124950" cy="2670892"/>
          </a:xfrm>
          <a:prstGeom prst="rect">
            <a:avLst/>
          </a:prstGeom>
        </p:spPr>
      </p:pic>
    </p:spTree>
    <p:extLst>
      <p:ext uri="{BB962C8B-B14F-4D97-AF65-F5344CB8AC3E}">
        <p14:creationId xmlns:p14="http://schemas.microsoft.com/office/powerpoint/2010/main" val="436949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609598" y="1006758"/>
            <a:ext cx="4748357" cy="2327563"/>
          </a:xfrm>
          <a:prstGeom prst="rect">
            <a:avLst/>
          </a:prstGeom>
        </p:spPr>
      </p:pic>
      <p:pic>
        <p:nvPicPr>
          <p:cNvPr id="7" name="Picture 6"/>
          <p:cNvPicPr>
            <a:picLocks noChangeAspect="1"/>
          </p:cNvPicPr>
          <p:nvPr/>
        </p:nvPicPr>
        <p:blipFill>
          <a:blip r:embed="rId3"/>
          <a:stretch>
            <a:fillRect/>
          </a:stretch>
        </p:blipFill>
        <p:spPr>
          <a:xfrm>
            <a:off x="6357070" y="3897757"/>
            <a:ext cx="3800475" cy="816844"/>
          </a:xfrm>
          <a:prstGeom prst="rect">
            <a:avLst/>
          </a:prstGeom>
        </p:spPr>
      </p:pic>
      <p:sp>
        <p:nvSpPr>
          <p:cNvPr id="8" name="TextBox 7"/>
          <p:cNvSpPr txBox="1"/>
          <p:nvPr/>
        </p:nvSpPr>
        <p:spPr>
          <a:xfrm>
            <a:off x="1644070" y="434109"/>
            <a:ext cx="2770912" cy="461665"/>
          </a:xfrm>
          <a:prstGeom prst="rect">
            <a:avLst/>
          </a:prstGeom>
          <a:noFill/>
        </p:spPr>
        <p:txBody>
          <a:bodyPr wrap="square" rtlCol="0">
            <a:spAutoFit/>
          </a:bodyPr>
          <a:lstStyle/>
          <a:p>
            <a:r>
              <a:rPr lang="en-IN" sz="2400">
                <a:latin typeface="Times New Roman" panose="02020603050405020304" pitchFamily="18" charset="0"/>
                <a:cs typeface="Times New Roman" panose="02020603050405020304" pitchFamily="18" charset="0"/>
              </a:rPr>
              <a:t>Excitation Table:</a:t>
            </a:r>
          </a:p>
        </p:txBody>
      </p:sp>
      <p:sp>
        <p:nvSpPr>
          <p:cNvPr id="9" name="Rectangle 8"/>
          <p:cNvSpPr/>
          <p:nvPr/>
        </p:nvSpPr>
        <p:spPr>
          <a:xfrm>
            <a:off x="604742" y="3844695"/>
            <a:ext cx="5999257" cy="461665"/>
          </a:xfrm>
          <a:prstGeom prst="rect">
            <a:avLst/>
          </a:prstGeom>
        </p:spPr>
        <p:txBody>
          <a:bodyPr wrap="square">
            <a:spAutoFit/>
          </a:bodyPr>
          <a:lstStyle/>
          <a:p>
            <a:r>
              <a:rPr lang="en-US" sz="2400">
                <a:latin typeface="Times New Roman" panose="02020603050405020304" pitchFamily="18" charset="0"/>
              </a:rPr>
              <a:t>PN flip-flop can be converted to a D flip-flop,</a:t>
            </a:r>
            <a:endParaRPr lang="en-IN" sz="2400"/>
          </a:p>
        </p:txBody>
      </p:sp>
    </p:spTree>
    <p:extLst>
      <p:ext uri="{BB962C8B-B14F-4D97-AF65-F5344CB8AC3E}">
        <p14:creationId xmlns:p14="http://schemas.microsoft.com/office/powerpoint/2010/main" val="2180818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38"/>
            <a:ext cx="12192000" cy="6858000"/>
          </a:xfrm>
          <a:prstGeom prst="rect">
            <a:avLst/>
          </a:prstGeom>
        </p:spPr>
      </p:pic>
    </p:spTree>
    <p:extLst>
      <p:ext uri="{BB962C8B-B14F-4D97-AF65-F5344CB8AC3E}">
        <p14:creationId xmlns:p14="http://schemas.microsoft.com/office/powerpoint/2010/main" val="269059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85073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 y="766623"/>
            <a:ext cx="12192000" cy="2676565"/>
          </a:xfrm>
          <a:prstGeom prst="rect">
            <a:avLst/>
          </a:prstGeom>
        </p:spPr>
      </p:pic>
      <p:sp>
        <p:nvSpPr>
          <p:cNvPr id="6" name="TextBox 5"/>
          <p:cNvSpPr txBox="1"/>
          <p:nvPr/>
        </p:nvSpPr>
        <p:spPr>
          <a:xfrm>
            <a:off x="1" y="73905"/>
            <a:ext cx="12191999" cy="461665"/>
          </a:xfrm>
          <a:prstGeom prst="rect">
            <a:avLst/>
          </a:prstGeom>
          <a:noFill/>
        </p:spPr>
        <p:txBody>
          <a:bodyPr wrap="square" rtlCol="0">
            <a:spAutoFit/>
          </a:bodyPr>
          <a:lstStyle/>
          <a:p>
            <a:pPr algn="ctr"/>
            <a:r>
              <a:rPr lang="en-IN" sz="2400" b="1">
                <a:latin typeface="Times New Roman" panose="02020603050405020304" pitchFamily="18" charset="0"/>
                <a:cs typeface="Times New Roman" panose="02020603050405020304" pitchFamily="18" charset="0"/>
              </a:rPr>
              <a:t>A Simple Shift Register</a:t>
            </a:r>
          </a:p>
        </p:txBody>
      </p:sp>
      <p:sp>
        <p:nvSpPr>
          <p:cNvPr id="8" name="TextBox 7"/>
          <p:cNvSpPr txBox="1"/>
          <p:nvPr/>
        </p:nvSpPr>
        <p:spPr>
          <a:xfrm>
            <a:off x="73891" y="3454404"/>
            <a:ext cx="12117134" cy="1938992"/>
          </a:xfrm>
          <a:prstGeom prst="rect">
            <a:avLst/>
          </a:prstGeom>
          <a:noFill/>
        </p:spPr>
        <p:txBody>
          <a:bodyPr wrap="square" rtlCol="0">
            <a:spAutoFit/>
          </a:bodyPr>
          <a:lstStyle/>
          <a:p>
            <a:pPr marL="342900" indent="-342900">
              <a:buFont typeface="Wingdings" panose="05000000000000000000" pitchFamily="2" charset="2"/>
              <a:buChar char="§"/>
            </a:pPr>
            <a:r>
              <a:rPr lang="en-IN" sz="2400">
                <a:latin typeface="Times New Roman" panose="02020603050405020304" pitchFamily="18" charset="0"/>
                <a:cs typeface="Times New Roman" panose="02020603050405020304" pitchFamily="18" charset="0"/>
              </a:rPr>
              <a:t>Figure shows a four-bit shift register that is used to shift its contents one bit-position to the right.</a:t>
            </a:r>
          </a:p>
          <a:p>
            <a:pPr marL="342900" indent="-342900">
              <a:buFont typeface="Wingdings" panose="05000000000000000000" pitchFamily="2" charset="2"/>
              <a:buChar char="§"/>
            </a:pPr>
            <a:r>
              <a:rPr lang="en-IN" sz="2400">
                <a:latin typeface="Times New Roman" panose="02020603050405020304" pitchFamily="18" charset="0"/>
                <a:cs typeface="Times New Roman" panose="02020603050405020304" pitchFamily="18" charset="0"/>
              </a:rPr>
              <a:t>The data bits are loaded into the shift register in a serial fashion using the In input.</a:t>
            </a:r>
          </a:p>
          <a:p>
            <a:pPr marL="342900" indent="-342900">
              <a:buFont typeface="Wingdings" panose="05000000000000000000" pitchFamily="2" charset="2"/>
              <a:buChar char="§"/>
            </a:pPr>
            <a:r>
              <a:rPr lang="en-IN" sz="2400">
                <a:latin typeface="Times New Roman" panose="02020603050405020304" pitchFamily="18" charset="0"/>
                <a:cs typeface="Times New Roman" panose="02020603050405020304" pitchFamily="18" charset="0"/>
              </a:rPr>
              <a:t>The contents of each flip-flop are transferred to the next flip-flop at each positive edge of the clock.</a:t>
            </a:r>
          </a:p>
        </p:txBody>
      </p:sp>
    </p:spTree>
    <p:extLst>
      <p:ext uri="{BB962C8B-B14F-4D97-AF65-F5344CB8AC3E}">
        <p14:creationId xmlns:p14="http://schemas.microsoft.com/office/powerpoint/2010/main" val="1006216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138550"/>
            <a:ext cx="12192000" cy="1200329"/>
          </a:xfrm>
          <a:prstGeom prst="rect">
            <a:avLst/>
          </a:prstGeom>
          <a:noFill/>
        </p:spPr>
        <p:txBody>
          <a:bodyPr wrap="square" rtlCol="0">
            <a:spAutoFit/>
          </a:bodyPr>
          <a:lstStyle/>
          <a:p>
            <a:pPr marL="285750" indent="-285750">
              <a:buFont typeface="Wingdings" panose="05000000000000000000" pitchFamily="2" charset="2"/>
              <a:buChar char="§"/>
            </a:pPr>
            <a:r>
              <a:rPr lang="en-IN" sz="2400">
                <a:latin typeface="Times New Roman" panose="02020603050405020304" pitchFamily="18" charset="0"/>
                <a:cs typeface="Times New Roman" panose="02020603050405020304" pitchFamily="18" charset="0"/>
              </a:rPr>
              <a:t>An illustration of the transfer is shown below, which shows what happens when the signal values at In during eight consecutive clock cycles are 1,0,1,1,1,0,0,and 0, assuming that the initial state of all flip-flops is 0.</a:t>
            </a:r>
            <a:r>
              <a:rPr lang="en-IN"/>
              <a:t> </a:t>
            </a:r>
          </a:p>
        </p:txBody>
      </p:sp>
      <p:pic>
        <p:nvPicPr>
          <p:cNvPr id="7" name="Picture 6"/>
          <p:cNvPicPr>
            <a:picLocks noChangeAspect="1"/>
          </p:cNvPicPr>
          <p:nvPr/>
        </p:nvPicPr>
        <p:blipFill>
          <a:blip r:embed="rId2"/>
          <a:stretch>
            <a:fillRect/>
          </a:stretch>
        </p:blipFill>
        <p:spPr>
          <a:xfrm>
            <a:off x="507314" y="1422394"/>
            <a:ext cx="4849778" cy="5342172"/>
          </a:xfrm>
          <a:prstGeom prst="rect">
            <a:avLst/>
          </a:prstGeom>
        </p:spPr>
      </p:pic>
      <p:sp>
        <p:nvSpPr>
          <p:cNvPr id="9" name="TextBox 8"/>
          <p:cNvSpPr txBox="1"/>
          <p:nvPr/>
        </p:nvSpPr>
        <p:spPr>
          <a:xfrm>
            <a:off x="5357092" y="4396511"/>
            <a:ext cx="6834907" cy="2308324"/>
          </a:xfrm>
          <a:prstGeom prst="rect">
            <a:avLst/>
          </a:prstGeom>
          <a:noFill/>
        </p:spPr>
        <p:txBody>
          <a:bodyPr wrap="square" rtlCol="0">
            <a:spAutoFit/>
          </a:bodyPr>
          <a:lstStyle/>
          <a:p>
            <a:pPr marL="342900" indent="-342900">
              <a:buFont typeface="Wingdings" panose="05000000000000000000" pitchFamily="2" charset="2"/>
              <a:buChar char="§"/>
            </a:pPr>
            <a:r>
              <a:rPr lang="en-IN" sz="2400">
                <a:latin typeface="Times New Roman" panose="02020603050405020304" pitchFamily="18" charset="0"/>
                <a:cs typeface="Times New Roman" panose="02020603050405020304" pitchFamily="18" charset="0"/>
              </a:rPr>
              <a:t>To implement a shift register, it is necessary to use either edge-triggered or master-slave flip-flops. The level-sensitive gated latches are not suitable, because a change in the value of In would propagate through more than one latch during the time when the clock is equal to 1. </a:t>
            </a:r>
          </a:p>
        </p:txBody>
      </p:sp>
    </p:spTree>
    <p:extLst>
      <p:ext uri="{BB962C8B-B14F-4D97-AF65-F5344CB8AC3E}">
        <p14:creationId xmlns:p14="http://schemas.microsoft.com/office/powerpoint/2010/main" val="136301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107052"/>
            <a:ext cx="12191999" cy="400110"/>
          </a:xfrm>
          <a:prstGeom prst="rect">
            <a:avLst/>
          </a:prstGeom>
        </p:spPr>
        <p:txBody>
          <a:bodyPr wrap="square">
            <a:spAutoFit/>
          </a:bodyPr>
          <a:lstStyle/>
          <a:p>
            <a:pPr algn="ctr"/>
            <a:r>
              <a:rPr lang="en-IN" b="1">
                <a:solidFill>
                  <a:srgbClr val="FF0000"/>
                </a:solidFill>
                <a:latin typeface="Times New Roman" panose="02020603050405020304" pitchFamily="18" charset="0"/>
              </a:rPr>
              <a:t>PARALLEL-ACCESS </a:t>
            </a:r>
            <a:r>
              <a:rPr lang="en-IN" sz="2000" b="1">
                <a:solidFill>
                  <a:srgbClr val="FF0000"/>
                </a:solidFill>
                <a:latin typeface="Times New Roman" panose="02020603050405020304" pitchFamily="18" charset="0"/>
              </a:rPr>
              <a:t>SHIFT </a:t>
            </a:r>
            <a:r>
              <a:rPr lang="en-IN" b="1">
                <a:solidFill>
                  <a:srgbClr val="FF0000"/>
                </a:solidFill>
                <a:latin typeface="Times New Roman" panose="02020603050405020304" pitchFamily="18" charset="0"/>
              </a:rPr>
              <a:t>REGISTER</a:t>
            </a:r>
            <a:endParaRPr lang="en-IN" b="1">
              <a:solidFill>
                <a:srgbClr val="FF0000"/>
              </a:solidFill>
            </a:endParaRPr>
          </a:p>
        </p:txBody>
      </p:sp>
      <p:pic>
        <p:nvPicPr>
          <p:cNvPr id="6" name="Picture 5"/>
          <p:cNvPicPr>
            <a:picLocks noChangeAspect="1"/>
          </p:cNvPicPr>
          <p:nvPr/>
        </p:nvPicPr>
        <p:blipFill>
          <a:blip r:embed="rId2"/>
          <a:stretch>
            <a:fillRect/>
          </a:stretch>
        </p:blipFill>
        <p:spPr>
          <a:xfrm>
            <a:off x="101599" y="646548"/>
            <a:ext cx="11998037" cy="3540353"/>
          </a:xfrm>
          <a:prstGeom prst="rect">
            <a:avLst/>
          </a:prstGeom>
        </p:spPr>
      </p:pic>
    </p:spTree>
    <p:extLst>
      <p:ext uri="{BB962C8B-B14F-4D97-AF65-F5344CB8AC3E}">
        <p14:creationId xmlns:p14="http://schemas.microsoft.com/office/powerpoint/2010/main" val="259291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AFC3D-4387-49FD-A45B-F652CB747E05}" type="datetime1">
              <a:rPr lang="en-US" smtClean="0"/>
              <a:t>11/6/2025</a:t>
            </a:fld>
            <a:endParaRPr lang="en-US"/>
          </a:p>
        </p:txBody>
      </p:sp>
      <p:sp>
        <p:nvSpPr>
          <p:cNvPr id="3" name="Footer Placeholder 2"/>
          <p:cNvSpPr>
            <a:spLocks noGrp="1"/>
          </p:cNvSpPr>
          <p:nvPr>
            <p:ph type="ftr" sz="quarter" idx="11"/>
          </p:nvPr>
        </p:nvSpPr>
        <p:spPr/>
        <p:txBody>
          <a:bodyPr/>
          <a:lstStyle/>
          <a:p>
            <a:r>
              <a:rPr lang="en-US"/>
              <a:t>19ECE204/Digital Electronics &amp; Systems, III Semester, B. Tech. (ECE and CSE)</a:t>
            </a:r>
          </a:p>
        </p:txBody>
      </p:sp>
      <p:sp>
        <p:nvSpPr>
          <p:cNvPr id="4" name="Slide Number Placeholder 3"/>
          <p:cNvSpPr>
            <a:spLocks noGrp="1"/>
          </p:cNvSpPr>
          <p:nvPr>
            <p:ph type="sldNum" sz="quarter" idx="12"/>
          </p:nvPr>
        </p:nvSpPr>
        <p:spPr/>
        <p:txBody>
          <a:bodyPr/>
          <a:lstStyle/>
          <a:p>
            <a:fld id="{84075514-8565-4B1F-808F-4A3F55E508C2}" type="slidenum">
              <a:rPr lang="en-US" smtClean="0"/>
              <a:t>18</a:t>
            </a:fld>
            <a:endParaRPr lang="en-US"/>
          </a:p>
        </p:txBody>
      </p:sp>
      <p:pic>
        <p:nvPicPr>
          <p:cNvPr id="5" name="Picture 4"/>
          <p:cNvPicPr>
            <a:picLocks noChangeAspect="1"/>
          </p:cNvPicPr>
          <p:nvPr/>
        </p:nvPicPr>
        <p:blipFill>
          <a:blip r:embed="rId2"/>
          <a:stretch>
            <a:fillRect/>
          </a:stretch>
        </p:blipFill>
        <p:spPr>
          <a:xfrm>
            <a:off x="1" y="27214"/>
            <a:ext cx="12192000" cy="6858000"/>
          </a:xfrm>
          <a:prstGeom prst="rect">
            <a:avLst/>
          </a:prstGeom>
        </p:spPr>
      </p:pic>
    </p:spTree>
    <p:extLst>
      <p:ext uri="{BB962C8B-B14F-4D97-AF65-F5344CB8AC3E}">
        <p14:creationId xmlns:p14="http://schemas.microsoft.com/office/powerpoint/2010/main" val="4273628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flipH="1">
            <a:off x="110836" y="129309"/>
            <a:ext cx="12081164" cy="2677656"/>
          </a:xfrm>
          <a:prstGeom prst="rect">
            <a:avLst/>
          </a:prstGeom>
          <a:noFill/>
        </p:spPr>
        <p:txBody>
          <a:bodyPr wrap="square" rtlCol="0">
            <a:spAutoFit/>
          </a:bodyPr>
          <a:lstStyle/>
          <a:p>
            <a:pPr marL="285750" indent="-285750">
              <a:buFont typeface="Wingdings" panose="05000000000000000000" pitchFamily="2" charset="2"/>
              <a:buChar char="§"/>
            </a:pPr>
            <a:r>
              <a:rPr lang="en-IN" sz="2400">
                <a:latin typeface="Times New Roman" panose="02020603050405020304" pitchFamily="18" charset="0"/>
                <a:cs typeface="Times New Roman" panose="02020603050405020304" pitchFamily="18" charset="0"/>
              </a:rPr>
              <a:t>Figure shows a four-bit shift register that allows the parallel access.</a:t>
            </a:r>
          </a:p>
          <a:p>
            <a:pPr marL="285750" indent="-285750">
              <a:buFont typeface="Wingdings" panose="05000000000000000000" pitchFamily="2" charset="2"/>
              <a:buChar char="§"/>
            </a:pPr>
            <a:endParaRPr lang="en-IN" sz="24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IN" sz="2400">
                <a:latin typeface="Times New Roman" panose="02020603050405020304" pitchFamily="18" charset="0"/>
                <a:cs typeface="Times New Roman" panose="02020603050405020304" pitchFamily="18" charset="0"/>
              </a:rPr>
              <a:t>The control signal                       is used to select the mode of operation. If                        = 0, then the circuit operates as a shift register. If                       = 1, then the parallel input data are loaded into the register.</a:t>
            </a:r>
          </a:p>
          <a:p>
            <a:pPr marL="285750" indent="-285750">
              <a:buFont typeface="Wingdings" panose="05000000000000000000" pitchFamily="2" charset="2"/>
              <a:buChar char="§"/>
            </a:pPr>
            <a:endParaRPr lang="en-IN" sz="24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IN" sz="2400">
                <a:latin typeface="Times New Roman" panose="02020603050405020304" pitchFamily="18" charset="0"/>
                <a:cs typeface="Times New Roman" panose="02020603050405020304" pitchFamily="18" charset="0"/>
              </a:rPr>
              <a:t>In both cases the action takes place on the positive edge of the clock.        </a:t>
            </a:r>
          </a:p>
        </p:txBody>
      </p:sp>
      <p:pic>
        <p:nvPicPr>
          <p:cNvPr id="10" name="Picture 9"/>
          <p:cNvPicPr>
            <a:picLocks noChangeAspect="1"/>
          </p:cNvPicPr>
          <p:nvPr/>
        </p:nvPicPr>
        <p:blipFill>
          <a:blip r:embed="rId2"/>
          <a:stretch>
            <a:fillRect/>
          </a:stretch>
        </p:blipFill>
        <p:spPr>
          <a:xfrm>
            <a:off x="2664153" y="647461"/>
            <a:ext cx="1645425" cy="400402"/>
          </a:xfrm>
          <a:prstGeom prst="rect">
            <a:avLst/>
          </a:prstGeom>
        </p:spPr>
      </p:pic>
      <p:pic>
        <p:nvPicPr>
          <p:cNvPr id="11" name="Picture 10"/>
          <p:cNvPicPr>
            <a:picLocks noChangeAspect="1"/>
          </p:cNvPicPr>
          <p:nvPr/>
        </p:nvPicPr>
        <p:blipFill>
          <a:blip r:embed="rId2"/>
          <a:stretch>
            <a:fillRect/>
          </a:stretch>
        </p:blipFill>
        <p:spPr>
          <a:xfrm>
            <a:off x="9494298" y="849760"/>
            <a:ext cx="1653990" cy="446586"/>
          </a:xfrm>
          <a:prstGeom prst="rect">
            <a:avLst/>
          </a:prstGeom>
        </p:spPr>
      </p:pic>
      <p:pic>
        <p:nvPicPr>
          <p:cNvPr id="12" name="Picture 11"/>
          <p:cNvPicPr>
            <a:picLocks noChangeAspect="1"/>
          </p:cNvPicPr>
          <p:nvPr/>
        </p:nvPicPr>
        <p:blipFill>
          <a:blip r:embed="rId2"/>
          <a:stretch>
            <a:fillRect/>
          </a:stretch>
        </p:blipFill>
        <p:spPr>
          <a:xfrm>
            <a:off x="5929063" y="1173045"/>
            <a:ext cx="1645425" cy="483530"/>
          </a:xfrm>
          <a:prstGeom prst="rect">
            <a:avLst/>
          </a:prstGeom>
        </p:spPr>
      </p:pic>
      <p:sp>
        <p:nvSpPr>
          <p:cNvPr id="14" name="TextBox 13"/>
          <p:cNvSpPr txBox="1"/>
          <p:nvPr/>
        </p:nvSpPr>
        <p:spPr>
          <a:xfrm>
            <a:off x="110835" y="3195774"/>
            <a:ext cx="11951861" cy="1200329"/>
          </a:xfrm>
          <a:prstGeom prst="rect">
            <a:avLst/>
          </a:prstGeom>
          <a:noFill/>
        </p:spPr>
        <p:txBody>
          <a:bodyPr wrap="square" rtlCol="0">
            <a:spAutoFit/>
          </a:bodyPr>
          <a:lstStyle/>
          <a:p>
            <a:pPr marL="342900" indent="-342900">
              <a:buFont typeface="Wingdings" panose="05000000000000000000" pitchFamily="2" charset="2"/>
              <a:buChar char="§"/>
            </a:pPr>
            <a:r>
              <a:rPr lang="en-IN" sz="2400">
                <a:latin typeface="Times New Roman" panose="02020603050405020304" pitchFamily="18" charset="0"/>
                <a:cs typeface="Times New Roman" panose="02020603050405020304" pitchFamily="18" charset="0"/>
              </a:rPr>
              <a:t>A circuit in which data can be loaded in series and then accessed in parallel is called a series-to-parallel converter. Similarly, the opposite type of circuit is a parallel-to-series converter. The circuit shown can perform both of these functions.</a:t>
            </a:r>
          </a:p>
        </p:txBody>
      </p:sp>
    </p:spTree>
    <p:extLst>
      <p:ext uri="{BB962C8B-B14F-4D97-AF65-F5344CB8AC3E}">
        <p14:creationId xmlns:p14="http://schemas.microsoft.com/office/powerpoint/2010/main" val="3867568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0</Notes>
  <HiddenSlides>0</HiddenSlides>
  <ScaleCrop>false</ScaleCrop>
  <HeadingPairs>
    <vt:vector size="4" baseType="variant">
      <vt:variant>
        <vt:lpstr>Theme</vt:lpstr>
      </vt:variant>
      <vt:variant>
        <vt:i4>2</vt:i4>
      </vt:variant>
      <vt:variant>
        <vt:lpstr>Slide Titles</vt:lpstr>
      </vt:variant>
      <vt:variant>
        <vt:i4>19</vt:i4>
      </vt:variant>
    </vt:vector>
  </HeadingPairs>
  <TitlesOfParts>
    <vt:vector size="21" baseType="lpstr">
      <vt:lpstr>Office Theme</vt:lpstr>
      <vt:lpstr>Custom Design</vt:lpstr>
      <vt:lpstr>  Digital Electronics   III Semester  B. Tech. ( CSE) Amrita School of Engineering, Bengaluru FF conversion and Registers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15ECE313/VLSI Design VI Semester Department of ECE Amrita School of Engineering, Bengaluru</dc:title>
  <dc:creator>kirti</dc:creator>
  <cp:revision>13</cp:revision>
  <dcterms:created xsi:type="dcterms:W3CDTF">2020-04-22T02:45:14Z</dcterms:created>
  <dcterms:modified xsi:type="dcterms:W3CDTF">2025-11-06T11:12:22Z</dcterms:modified>
</cp:coreProperties>
</file>