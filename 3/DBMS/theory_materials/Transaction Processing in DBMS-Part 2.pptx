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75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2" r:id="rId19"/>
    <p:sldId id="391" r:id="rId20"/>
    <p:sldId id="393" r:id="rId21"/>
    <p:sldId id="403" r:id="rId22"/>
    <p:sldId id="404" r:id="rId23"/>
    <p:sldId id="405" r:id="rId24"/>
    <p:sldId id="408" r:id="rId25"/>
    <p:sldId id="410" r:id="rId2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F369307-8C4D-422D-A68E-320FEA5F4A8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22FB03-4617-4EBB-BC4D-8D3A452E8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3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8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4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3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3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2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9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1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5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9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7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2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5AC5-717B-41F5-A026-24A6A91DE2F9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7385-1A27-4338-8D43-B2B3002AB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81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Transaction%20Processing%20%20in%20DBMS.ppt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ingninjas.com/codestudio/library/two-phase-locking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ingninjas.com/codestudio/library/lock-based-protocol-in-db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3:</a:t>
            </a:r>
            <a:br>
              <a:rPr lang="en-US" dirty="0"/>
            </a:br>
            <a:r>
              <a:rPr lang="en-US" dirty="0"/>
              <a:t>Transaction Processing &amp; Concurrency Control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033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Non-Serializable Schedules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5915"/>
            <a:ext cx="10515600" cy="5211048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 dirty="0"/>
              <a:t>A non-serial schedule which is not serializable is called as a non-serializable schedule.</a:t>
            </a:r>
          </a:p>
          <a:p>
            <a:pPr lvl="0" fontAlgn="base"/>
            <a:r>
              <a:rPr lang="en-US" dirty="0"/>
              <a:t>A non-serializable schedule is not guaranteed to produce the </a:t>
            </a:r>
            <a:r>
              <a:rPr lang="en-US" dirty="0" err="1"/>
              <a:t>the</a:t>
            </a:r>
            <a:r>
              <a:rPr lang="en-US" dirty="0"/>
              <a:t> same effect as produced by some serial schedule on any consistent database.</a:t>
            </a:r>
          </a:p>
          <a:p>
            <a:pPr fontAlgn="base"/>
            <a:r>
              <a:rPr lang="en-US" b="1" u="sng" dirty="0"/>
              <a:t>Characteristics-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Non-serializable schedules-</a:t>
            </a:r>
          </a:p>
          <a:p>
            <a:pPr lvl="0" fontAlgn="base"/>
            <a:r>
              <a:rPr lang="en-US" dirty="0"/>
              <a:t>may or may not be consistent</a:t>
            </a:r>
          </a:p>
          <a:p>
            <a:pPr lvl="0" fontAlgn="base"/>
            <a:r>
              <a:rPr lang="en-US" dirty="0"/>
              <a:t>may or may not be recoverable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  <a:r>
              <a:rPr lang="en-US" b="1" u="sng" dirty="0"/>
              <a:t>Irrecoverable Schedules-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If in a schedule,</a:t>
            </a:r>
          </a:p>
          <a:p>
            <a:pPr lvl="0" fontAlgn="base"/>
            <a:r>
              <a:rPr lang="en-US" dirty="0"/>
              <a:t>A transaction performs a dirty read operation from an uncommitted transaction</a:t>
            </a:r>
          </a:p>
          <a:p>
            <a:pPr lvl="0" fontAlgn="base"/>
            <a:r>
              <a:rPr lang="en-US" dirty="0"/>
              <a:t>And commits before the transaction from which it has read the value then such a schedule is known as an </a:t>
            </a:r>
            <a:r>
              <a:rPr lang="en-US" b="1" dirty="0"/>
              <a:t>Irrecoverable Schedule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952" y="360609"/>
            <a:ext cx="7637171" cy="607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0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24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Recoverable Schedules-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8338"/>
            <a:ext cx="10515600" cy="546862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If in a schedule,</a:t>
            </a:r>
          </a:p>
          <a:p>
            <a:pPr lvl="0" fontAlgn="base"/>
            <a:r>
              <a:rPr lang="en-US" dirty="0"/>
              <a:t>A transaction performs a dirty read operation from an uncommitted transaction</a:t>
            </a:r>
          </a:p>
          <a:p>
            <a:pPr lvl="0" fontAlgn="base"/>
            <a:r>
              <a:rPr lang="en-US" dirty="0"/>
              <a:t>And its commit operation is delayed till the uncommitted transaction either commits or roll backs then such a schedule is known as a </a:t>
            </a:r>
            <a:r>
              <a:rPr lang="en-US" b="1" dirty="0"/>
              <a:t>Recoverable Schedule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Here,</a:t>
            </a:r>
          </a:p>
          <a:p>
            <a:pPr lvl="0" fontAlgn="base"/>
            <a:r>
              <a:rPr lang="en-US" dirty="0"/>
              <a:t>The commit operation of the transaction that performs the dirty read is delayed.</a:t>
            </a:r>
          </a:p>
          <a:p>
            <a:pPr lvl="0" fontAlgn="base"/>
            <a:r>
              <a:rPr lang="en-US" dirty="0"/>
              <a:t>This ensures that it still has a chance to recover if the uncommitted transaction fails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33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890" y="309093"/>
            <a:ext cx="7250806" cy="60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3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641"/>
          </a:xfrm>
        </p:spPr>
        <p:txBody>
          <a:bodyPr>
            <a:noAutofit/>
          </a:bodyPr>
          <a:lstStyle/>
          <a:p>
            <a:pPr fontAlgn="base"/>
            <a:r>
              <a:rPr lang="en-US" sz="3200" b="1" u="sng"/>
              <a:t>Checking Whether a Schedule is Recoverable or Irrecoverable-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9251"/>
            <a:ext cx="10515600" cy="4927712"/>
          </a:xfrm>
        </p:spPr>
        <p:txBody>
          <a:bodyPr/>
          <a:lstStyle/>
          <a:p>
            <a:pPr fontAlgn="base"/>
            <a:r>
              <a:rPr lang="en-US" dirty="0"/>
              <a:t>METHOD 1</a:t>
            </a:r>
          </a:p>
          <a:p>
            <a:pPr fontAlgn="base"/>
            <a:r>
              <a:rPr lang="en-US" dirty="0"/>
              <a:t>Check whether the given schedule is conflict serializable or not.</a:t>
            </a:r>
          </a:p>
          <a:p>
            <a:pPr lvl="0" fontAlgn="base"/>
            <a:r>
              <a:rPr lang="en-US" dirty="0"/>
              <a:t>If the given schedule is conflict serializable, then it is surely recoverable. Stop and report your answer.</a:t>
            </a:r>
          </a:p>
          <a:p>
            <a:pPr lvl="0" fontAlgn="base"/>
            <a:r>
              <a:rPr lang="en-US" dirty="0"/>
              <a:t>If the given schedule is not conflict serializable, then it may or may not be recoverable. Go and check using other methods.</a:t>
            </a:r>
          </a:p>
          <a:p>
            <a:pPr fontAlgn="base"/>
            <a:r>
              <a:rPr lang="en-US" dirty="0"/>
              <a:t> 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264673"/>
              </p:ext>
            </p:extLst>
          </p:nvPr>
        </p:nvGraphicFramePr>
        <p:xfrm>
          <a:off x="2406874" y="4378817"/>
          <a:ext cx="6646974" cy="14603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46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45868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Thumb Rules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 fontAlgn="base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All conflict serializable schedules are recoverable.</a:t>
                      </a:r>
                    </a:p>
                    <a:p>
                      <a:pPr marL="342900" marR="0" lvl="0" indent="-342900" fontAlgn="base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457200" algn="l"/>
                        </a:tabLst>
                      </a:pPr>
                      <a:r>
                        <a:rPr lang="en-US" sz="1800" dirty="0">
                          <a:effectLst/>
                        </a:rPr>
                        <a:t>All recoverable schedules may or may not be conflict serializable.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8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0761"/>
            <a:ext cx="10515600" cy="5726202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u="sng" dirty="0"/>
              <a:t>Method-02:</a:t>
            </a:r>
            <a:endParaRPr lang="en-US" dirty="0"/>
          </a:p>
          <a:p>
            <a:pPr fontAlgn="base"/>
            <a:r>
              <a:rPr lang="en-US" dirty="0"/>
              <a:t> Check if there exists any dirty read operation.</a:t>
            </a:r>
          </a:p>
          <a:p>
            <a:pPr fontAlgn="base"/>
            <a:r>
              <a:rPr lang="en-US" dirty="0"/>
              <a:t>(Reading from an uncommitted transaction is called as a dirty read)</a:t>
            </a:r>
          </a:p>
          <a:p>
            <a:pPr lvl="0" fontAlgn="base"/>
            <a:r>
              <a:rPr lang="en-US" dirty="0"/>
              <a:t>If there does not exist any dirty read operation, then the schedule is surely recoverable. Stop and report your answer.</a:t>
            </a:r>
          </a:p>
          <a:p>
            <a:pPr lvl="0" fontAlgn="base"/>
            <a:r>
              <a:rPr lang="en-US" dirty="0"/>
              <a:t>If there exists any dirty read operation, then the schedule may or may not be recoverable.</a:t>
            </a:r>
          </a:p>
          <a:p>
            <a:pPr fontAlgn="base"/>
            <a:r>
              <a:rPr lang="en-US" dirty="0"/>
              <a:t> If there exists a dirty read operation, then follow the following cases-</a:t>
            </a:r>
          </a:p>
          <a:p>
            <a:pPr fontAlgn="base"/>
            <a:r>
              <a:rPr lang="en-US" dirty="0"/>
              <a:t> </a:t>
            </a:r>
            <a:r>
              <a:rPr lang="en-US" b="1" u="sng" dirty="0"/>
              <a:t>Case-01:</a:t>
            </a:r>
            <a:endParaRPr lang="en-US" dirty="0"/>
          </a:p>
          <a:p>
            <a:pPr fontAlgn="base"/>
            <a:r>
              <a:rPr lang="en-US" dirty="0"/>
              <a:t> If the commit operation of the transaction performing the dirty read occurs before the commit or abort operation of the transaction which updated the value, then the schedule is irrecoverable.</a:t>
            </a:r>
          </a:p>
          <a:p>
            <a:pPr fontAlgn="base"/>
            <a:r>
              <a:rPr lang="en-US" dirty="0"/>
              <a:t> </a:t>
            </a:r>
            <a:r>
              <a:rPr lang="en-US" b="1" u="sng" dirty="0"/>
              <a:t>Case-02:</a:t>
            </a:r>
            <a:endParaRPr lang="en-US" dirty="0"/>
          </a:p>
          <a:p>
            <a:pPr fontAlgn="base"/>
            <a:r>
              <a:rPr lang="en-US" dirty="0"/>
              <a:t> If the commit operation of the transaction performing the dirty read is delayed till the commit or abort operation of the transaction which updated the value, then the schedule is recoverable.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71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3335"/>
            <a:ext cx="10515600" cy="5893628"/>
          </a:xfrm>
        </p:spPr>
        <p:txBody>
          <a:bodyPr/>
          <a:lstStyle/>
          <a:p>
            <a:pPr fontAlgn="base"/>
            <a:r>
              <a:rPr lang="en-US" b="1" u="sng" dirty="0"/>
              <a:t>Recoverable Schedules-</a:t>
            </a:r>
            <a:endParaRPr lang="en-US" dirty="0"/>
          </a:p>
          <a:p>
            <a:pPr fontAlgn="base"/>
            <a:r>
              <a:rPr lang="en-US" dirty="0"/>
              <a:t>If in a schedule,</a:t>
            </a:r>
          </a:p>
          <a:p>
            <a:pPr lvl="0" fontAlgn="base"/>
            <a:r>
              <a:rPr lang="en-US" dirty="0"/>
              <a:t>A transaction performs a dirty read operation from an uncommitted transaction</a:t>
            </a:r>
          </a:p>
          <a:p>
            <a:pPr lvl="0" fontAlgn="base"/>
            <a:r>
              <a:rPr lang="en-US" dirty="0"/>
              <a:t>And its commit operation is delayed till the uncommitted transaction either commits or roll backs then such a schedule is called as a </a:t>
            </a:r>
            <a:r>
              <a:rPr lang="en-US" b="1" dirty="0"/>
              <a:t>Recoverable Schedule</a:t>
            </a:r>
            <a:r>
              <a:rPr lang="en-US" dirty="0"/>
              <a:t>.</a:t>
            </a:r>
          </a:p>
          <a:p>
            <a:pPr fontAlgn="base"/>
            <a:r>
              <a:rPr lang="en-US" b="1" u="sng" dirty="0"/>
              <a:t>Types of Recoverable Schedules-</a:t>
            </a:r>
            <a:endParaRPr lang="en-US" dirty="0"/>
          </a:p>
          <a:p>
            <a:pPr fontAlgn="base"/>
            <a:r>
              <a:rPr lang="en-US" dirty="0"/>
              <a:t>A recoverable schedule may be any one of these kinds-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62" y="4634650"/>
            <a:ext cx="6568224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00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9093"/>
            <a:ext cx="10515600" cy="5867870"/>
          </a:xfrm>
        </p:spPr>
        <p:txBody>
          <a:bodyPr/>
          <a:lstStyle/>
          <a:p>
            <a:pPr fontAlgn="base"/>
            <a:r>
              <a:rPr lang="en-US" b="1" u="sng" dirty="0"/>
              <a:t>Cascading Schedule-</a:t>
            </a:r>
            <a:endParaRPr lang="en-US" dirty="0"/>
          </a:p>
          <a:p>
            <a:pPr lvl="0" fontAlgn="base"/>
            <a:r>
              <a:rPr lang="en-US" dirty="0"/>
              <a:t>If in a schedule, failure of one transaction causes several other dependent transactions to rollback or abort, then such a schedule is called as a </a:t>
            </a:r>
            <a:r>
              <a:rPr lang="en-US" b="1" dirty="0"/>
              <a:t>Cascading Schedule</a:t>
            </a:r>
            <a:r>
              <a:rPr lang="en-US" dirty="0"/>
              <a:t> or </a:t>
            </a:r>
            <a:r>
              <a:rPr lang="en-US" b="1" dirty="0"/>
              <a:t>Cascading Rollback</a:t>
            </a:r>
            <a:r>
              <a:rPr lang="en-US" dirty="0"/>
              <a:t> or </a:t>
            </a:r>
            <a:r>
              <a:rPr lang="en-US" b="1" dirty="0"/>
              <a:t>Cascading Abort</a:t>
            </a:r>
            <a:r>
              <a:rPr lang="en-US" dirty="0"/>
              <a:t>.</a:t>
            </a:r>
          </a:p>
          <a:p>
            <a:pPr lvl="0" fontAlgn="base"/>
            <a:r>
              <a:rPr lang="en-US" dirty="0"/>
              <a:t>It simply leads to the wastage of CPU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7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895" y="519337"/>
            <a:ext cx="5505450" cy="4095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4" y="592428"/>
            <a:ext cx="6029325" cy="47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1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2124"/>
            <a:ext cx="10515600" cy="5764839"/>
          </a:xfrm>
        </p:spPr>
        <p:txBody>
          <a:bodyPr/>
          <a:lstStyle/>
          <a:p>
            <a:pPr fontAlgn="base"/>
            <a:r>
              <a:rPr lang="en-US" b="1" u="sng" dirty="0" err="1"/>
              <a:t>Cascadeless</a:t>
            </a:r>
            <a:r>
              <a:rPr lang="en-US" b="1" u="sng" dirty="0"/>
              <a:t> Schedule-</a:t>
            </a: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If in a schedule, a transaction is not allowed to read a data item until the last transaction that has written it is committed or aborted, then such a schedule is called as a </a:t>
            </a:r>
            <a:r>
              <a:rPr lang="en-US" b="1" dirty="0" err="1"/>
              <a:t>Cascadeless</a:t>
            </a:r>
            <a:r>
              <a:rPr lang="en-US" b="1" dirty="0"/>
              <a:t> Schedule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In other words,</a:t>
            </a:r>
          </a:p>
          <a:p>
            <a:pPr lvl="0" fontAlgn="base"/>
            <a:r>
              <a:rPr lang="en-US" dirty="0" err="1"/>
              <a:t>Cascadeless</a:t>
            </a:r>
            <a:r>
              <a:rPr lang="en-US" dirty="0"/>
              <a:t> schedule allows only committed read operations.</a:t>
            </a:r>
          </a:p>
          <a:p>
            <a:pPr lvl="0" fontAlgn="base"/>
            <a:r>
              <a:rPr lang="en-US" dirty="0"/>
              <a:t>Therefore, it avoids cascading roll back and thus saves CPU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40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494" y="548167"/>
            <a:ext cx="4867275" cy="4152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85" y="386366"/>
            <a:ext cx="5831313" cy="526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276"/>
            <a:ext cx="10515600" cy="5674687"/>
          </a:xfrm>
        </p:spPr>
        <p:txBody>
          <a:bodyPr/>
          <a:lstStyle/>
          <a:p>
            <a:pPr fontAlgn="base"/>
            <a:r>
              <a:rPr lang="en-US" b="1" u="sng" dirty="0"/>
              <a:t>Strict Schedule-</a:t>
            </a: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If in a schedule, a transaction is neither allowed to read nor write a data item until the last transaction that has written it is committed or aborted, then such a schedule is called as a </a:t>
            </a:r>
            <a:r>
              <a:rPr lang="en-US" b="1" dirty="0"/>
              <a:t>Strict Schedule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In other words,</a:t>
            </a:r>
          </a:p>
          <a:p>
            <a:pPr lvl="0" fontAlgn="base"/>
            <a:r>
              <a:rPr lang="en-US" dirty="0"/>
              <a:t>Strict schedule allows only committed read and write operations.</a:t>
            </a:r>
          </a:p>
          <a:p>
            <a:pPr lvl="0" fontAlgn="base"/>
            <a:r>
              <a:rPr lang="en-US" dirty="0"/>
              <a:t>Clearly, strict schedule implements more restrictions than </a:t>
            </a:r>
            <a:r>
              <a:rPr lang="en-US" dirty="0" err="1"/>
              <a:t>cascadeless</a:t>
            </a:r>
            <a:r>
              <a:rPr lang="en-US" dirty="0"/>
              <a:t> schedule.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665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748" y="464556"/>
            <a:ext cx="5012229" cy="46741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036" y="682580"/>
            <a:ext cx="4648200" cy="4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24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8338"/>
            <a:ext cx="10515600" cy="5468625"/>
          </a:xfrm>
        </p:spPr>
        <p:txBody>
          <a:bodyPr/>
          <a:lstStyle/>
          <a:p>
            <a:pPr fontAlgn="base"/>
            <a:r>
              <a:rPr lang="en-US" b="1" u="sng" dirty="0"/>
              <a:t>Equivalence of Schedules-</a:t>
            </a: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In DBMS, schedules may have the following three different kinds of equivalence relations among them-</a:t>
            </a:r>
          </a:p>
          <a:p>
            <a:pPr fontAlgn="base"/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781" y="3340592"/>
            <a:ext cx="6123704" cy="23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7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7"/>
            <a:ext cx="10515600" cy="5919386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1. Result Equivalent Schedules-</a:t>
            </a: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lvl="0" fontAlgn="base"/>
            <a:r>
              <a:rPr lang="en-US" dirty="0"/>
              <a:t>If any two schedules generate the same result after their execution, then they are called as result equivalent schedules.</a:t>
            </a:r>
          </a:p>
          <a:p>
            <a:pPr lvl="0" fontAlgn="base"/>
            <a:r>
              <a:rPr lang="en-US" dirty="0"/>
              <a:t>This equivalence relation is considered of least significance.</a:t>
            </a:r>
          </a:p>
          <a:p>
            <a:pPr lvl="0" fontAlgn="base"/>
            <a:r>
              <a:rPr lang="en-US" dirty="0"/>
              <a:t>This is because some schedules might produce same results for some set of values and different results for some other set of values.</a:t>
            </a:r>
          </a:p>
          <a:p>
            <a:pPr marL="0" indent="0" fontAlgn="base">
              <a:buNone/>
            </a:pPr>
            <a:r>
              <a:rPr lang="en-US" b="1" u="sng" dirty="0"/>
              <a:t>2. Conflict Equivalent Schedules-</a:t>
            </a: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If any two schedules satisfy the following two conditions, then they are called as conflict equivalent schedules-</a:t>
            </a:r>
          </a:p>
          <a:p>
            <a:pPr lvl="0" fontAlgn="base"/>
            <a:r>
              <a:rPr lang="en-US" dirty="0"/>
              <a:t>The set of transactions present in both the schedules is same.</a:t>
            </a:r>
          </a:p>
          <a:p>
            <a:pPr lvl="0" fontAlgn="base"/>
            <a:r>
              <a:rPr lang="en-US" dirty="0"/>
              <a:t>The order of pairs of conflicting operations of both the schedules is same.</a:t>
            </a:r>
          </a:p>
          <a:p>
            <a:pPr marL="0" indent="0" fontAlgn="base">
              <a:buNone/>
            </a:pPr>
            <a:r>
              <a:rPr lang="en-US" b="1" u="sng" dirty="0"/>
              <a:t>3. View Equivalent Schedules-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 have already discussed about </a:t>
            </a:r>
            <a:r>
              <a:rPr lang="en-US" b="1" u="sng" dirty="0">
                <a:hlinkClick r:id="rId2" action="ppaction://hlinkpres?slideindex=1&amp;slidetitle="/>
              </a:rPr>
              <a:t>View Equivalent Schedules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920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1820"/>
            <a:ext cx="10515600" cy="5945143"/>
          </a:xfrm>
        </p:spPr>
        <p:txBody>
          <a:bodyPr/>
          <a:lstStyle/>
          <a:p>
            <a:r>
              <a:rPr lang="en-US" dirty="0"/>
              <a:t>Are the following three schedules result equivalent?</a:t>
            </a:r>
          </a:p>
          <a:p>
            <a:endParaRPr lang="en-US" dirty="0"/>
          </a:p>
        </p:txBody>
      </p:sp>
      <p:pic>
        <p:nvPicPr>
          <p:cNvPr id="4" name="Picture 3" descr="https://www.gatevidyalay.com/wp-content/uploads/2018/06/Equivalence-of-Schedules-Problem-0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484" y="920370"/>
            <a:ext cx="5781675" cy="4733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1505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6518"/>
            <a:ext cx="10515600" cy="5700445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To check whether the given schedules are result equivalent or not,</a:t>
            </a:r>
          </a:p>
          <a:p>
            <a:pPr lvl="0" fontAlgn="base"/>
            <a:r>
              <a:rPr lang="en-US" dirty="0"/>
              <a:t>We will consider some arbitrary values of X and Y.</a:t>
            </a:r>
          </a:p>
          <a:p>
            <a:pPr lvl="0" fontAlgn="base"/>
            <a:r>
              <a:rPr lang="en-US" dirty="0"/>
              <a:t>Then, we will compare the results produced by each schedule.</a:t>
            </a:r>
          </a:p>
          <a:p>
            <a:pPr lvl="0" fontAlgn="base"/>
            <a:r>
              <a:rPr lang="en-US" dirty="0"/>
              <a:t>Those schedules which produce the same results will be result equivalent.</a:t>
            </a:r>
          </a:p>
          <a:p>
            <a:pPr fontAlgn="base"/>
            <a:r>
              <a:rPr lang="en-US" dirty="0"/>
              <a:t>Let X = 2 and Y = 5.</a:t>
            </a:r>
          </a:p>
          <a:p>
            <a:pPr fontAlgn="base"/>
            <a:r>
              <a:rPr lang="en-US" dirty="0"/>
              <a:t>On substituting these values, the results produced by each schedule are-</a:t>
            </a:r>
          </a:p>
          <a:p>
            <a:pPr fontAlgn="base"/>
            <a:r>
              <a:rPr lang="en-US" b="1" dirty="0"/>
              <a:t>Results by Schedule S1-</a:t>
            </a:r>
            <a:r>
              <a:rPr lang="en-US" dirty="0"/>
              <a:t> X = 21 and Y = 10</a:t>
            </a:r>
          </a:p>
          <a:p>
            <a:pPr fontAlgn="base"/>
            <a:r>
              <a:rPr lang="en-US" b="1" dirty="0"/>
              <a:t>Results by Schedule S2-</a:t>
            </a:r>
            <a:r>
              <a:rPr lang="en-US" dirty="0"/>
              <a:t> X = 21 and Y = 10</a:t>
            </a:r>
          </a:p>
          <a:p>
            <a:pPr fontAlgn="base"/>
            <a:r>
              <a:rPr lang="en-US" b="1" dirty="0"/>
              <a:t>Results by Schedule S3-</a:t>
            </a:r>
            <a:r>
              <a:rPr lang="en-US" dirty="0"/>
              <a:t> X = 11 and Y = 10</a:t>
            </a:r>
          </a:p>
          <a:p>
            <a:pPr marL="0" indent="0" fontAlgn="base">
              <a:buNone/>
            </a:pPr>
            <a:endParaRPr lang="en-US" dirty="0"/>
          </a:p>
          <a:p>
            <a:pPr lvl="0" fontAlgn="base"/>
            <a:r>
              <a:rPr lang="en-US" dirty="0"/>
              <a:t>Clearly, the results produced by schedules S1 and S2 are same.</a:t>
            </a:r>
          </a:p>
          <a:p>
            <a:pPr lvl="0" fontAlgn="base"/>
            <a:r>
              <a:rPr lang="en-US" dirty="0"/>
              <a:t>Thus, we conclude that S1 and S2 are result equivalent schedules.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23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/>
          <a:lstStyle/>
          <a:p>
            <a:r>
              <a:rPr lang="en-US" dirty="0"/>
              <a:t>Are the following two schedules conflict equivalent?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https://www.gatevidyalay.com/wp-content/uploads/2018/06/Equivalence-of-Schedules-Problem-0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621" y="978794"/>
            <a:ext cx="6555346" cy="4159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9353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1065"/>
            <a:ext cx="10515600" cy="5545898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dirty="0"/>
              <a:t>To check whether the given schedules are conflict equivalent or not,</a:t>
            </a:r>
          </a:p>
          <a:p>
            <a:pPr lvl="0" fontAlgn="base"/>
            <a:r>
              <a:rPr lang="en-US" dirty="0"/>
              <a:t>We will write their order of pairs of conflicting operations.</a:t>
            </a:r>
          </a:p>
          <a:p>
            <a:pPr lvl="0" fontAlgn="base"/>
            <a:r>
              <a:rPr lang="en-US" dirty="0"/>
              <a:t>Then, we will compare the order of both the schedules.</a:t>
            </a:r>
          </a:p>
          <a:p>
            <a:pPr lvl="0" fontAlgn="base"/>
            <a:r>
              <a:rPr lang="en-US" dirty="0"/>
              <a:t>If both the schedules are found to have the same order, then they will be conflict equivalent.</a:t>
            </a:r>
          </a:p>
          <a:p>
            <a:pPr fontAlgn="base"/>
            <a:r>
              <a:rPr lang="en-US" b="1" u="sng" dirty="0"/>
              <a:t>For schedule S1-</a:t>
            </a:r>
            <a:endParaRPr lang="en-US" dirty="0"/>
          </a:p>
          <a:p>
            <a:pPr fontAlgn="base"/>
            <a:r>
              <a:rPr lang="en-US" dirty="0"/>
              <a:t>The required order is-</a:t>
            </a:r>
          </a:p>
          <a:p>
            <a:pPr lvl="0" fontAlgn="base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lvl="0" fontAlgn="base"/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R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lvl="0" fontAlgn="base"/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fontAlgn="base"/>
            <a:r>
              <a:rPr lang="en-US" b="1" u="sng" dirty="0"/>
              <a:t>For schedule S2-</a:t>
            </a:r>
            <a:endParaRPr lang="en-US" dirty="0"/>
          </a:p>
          <a:p>
            <a:pPr fontAlgn="base"/>
            <a:r>
              <a:rPr lang="en-US" dirty="0"/>
              <a:t>The required order is-</a:t>
            </a:r>
          </a:p>
          <a:p>
            <a:pPr lvl="0" fontAlgn="base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lvl="0" fontAlgn="base"/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R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lvl="0" fontAlgn="base"/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</a:t>
            </a:r>
          </a:p>
          <a:p>
            <a:pPr lvl="0" fontAlgn="base"/>
            <a:r>
              <a:rPr lang="en-US" dirty="0"/>
              <a:t>Clearly, both the given schedules have the same order.</a:t>
            </a:r>
          </a:p>
          <a:p>
            <a:pPr lvl="0" fontAlgn="base"/>
            <a:r>
              <a:rPr lang="en-US" dirty="0"/>
              <a:t>Thus, we conclude that S1 and S2 are conflict equivalent schedules.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48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514" y="1783445"/>
            <a:ext cx="55340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23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8814" y="1966164"/>
            <a:ext cx="5667375" cy="2705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00777" y="5230849"/>
            <a:ext cx="61045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This schedule is </a:t>
            </a:r>
            <a:r>
              <a:rPr lang="en-US" dirty="0" err="1">
                <a:solidFill>
                  <a:srgbClr val="222222"/>
                </a:solidFill>
                <a:latin typeface="Book Antiqua" panose="02040602050305030304" pitchFamily="18" charset="0"/>
              </a:rPr>
              <a:t>cascadeless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 because there is no dirty read.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570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859" y="1015407"/>
            <a:ext cx="5638800" cy="25717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99504" y="3508040"/>
            <a:ext cx="91096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This schedule is said to be a partial schedule as it does not consist of either commit or abort statements. In this schedule, if T</a:t>
            </a:r>
            <a:r>
              <a:rPr lang="en-US" baseline="-25000" dirty="0">
                <a:solidFill>
                  <a:srgbClr val="222222"/>
                </a:solidFill>
                <a:latin typeface="Book Antiqua" panose="02040602050305030304" pitchFamily="18" charset="0"/>
              </a:rPr>
              <a:t>1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 fails and aborted then T</a:t>
            </a:r>
            <a:r>
              <a:rPr lang="en-US" baseline="-25000" dirty="0">
                <a:solidFill>
                  <a:srgbClr val="222222"/>
                </a:solidFill>
                <a:latin typeface="Book Antiqua" panose="02040602050305030304" pitchFamily="18" charset="0"/>
              </a:rPr>
              <a:t>2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 which is dependent on T</a:t>
            </a:r>
            <a:r>
              <a:rPr lang="en-US" baseline="-25000" dirty="0">
                <a:solidFill>
                  <a:srgbClr val="222222"/>
                </a:solidFill>
                <a:latin typeface="Book Antiqua" panose="02040602050305030304" pitchFamily="18" charset="0"/>
              </a:rPr>
              <a:t>1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 has to be rolled back and T</a:t>
            </a:r>
            <a:r>
              <a:rPr lang="en-US" baseline="-25000" dirty="0">
                <a:solidFill>
                  <a:srgbClr val="222222"/>
                </a:solidFill>
                <a:latin typeface="Book Antiqua" panose="02040602050305030304" pitchFamily="18" charset="0"/>
              </a:rPr>
              <a:t>3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 which is dependent on T</a:t>
            </a:r>
            <a:r>
              <a:rPr lang="en-US" baseline="-25000" dirty="0">
                <a:solidFill>
                  <a:srgbClr val="222222"/>
                </a:solidFill>
                <a:latin typeface="Book Antiqua" panose="02040602050305030304" pitchFamily="18" charset="0"/>
              </a:rPr>
              <a:t>2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 has also to be rolled back. This type of rollback is called as cascading rollback. Hence, this schedule is not a </a:t>
            </a:r>
            <a:r>
              <a:rPr lang="en-US" dirty="0" err="1">
                <a:solidFill>
                  <a:srgbClr val="222222"/>
                </a:solidFill>
                <a:latin typeface="Book Antiqua" panose="02040602050305030304" pitchFamily="18" charset="0"/>
              </a:rPr>
              <a:t>cascadeless</a:t>
            </a:r>
            <a:r>
              <a:rPr lang="en-US" dirty="0">
                <a:solidFill>
                  <a:srgbClr val="222222"/>
                </a:solidFill>
                <a:latin typeface="Book Antiqua" panose="02040602050305030304" pitchFamily="18" charset="0"/>
              </a:rPr>
              <a:t> schedule.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68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Which concurrency control protocols ensure conflict </a:t>
            </a:r>
            <a:r>
              <a:rPr lang="en-US" b="1" dirty="0" err="1"/>
              <a:t>serializability</a:t>
            </a:r>
            <a:r>
              <a:rPr lang="en-US" b="1" dirty="0"/>
              <a:t> and freedom from the deadlock? 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A) 2-phase locking </a:t>
            </a:r>
            <a:br>
              <a:rPr lang="en-US" dirty="0"/>
            </a:br>
            <a:r>
              <a:rPr lang="en-US" b="1" dirty="0"/>
              <a:t>B) Time-stamp Ordering </a:t>
            </a:r>
            <a:br>
              <a:rPr lang="en-US" dirty="0"/>
            </a:br>
            <a:r>
              <a:rPr lang="en-US" b="1" dirty="0"/>
              <a:t>C) Both  2-phase locking and Time-stamp ordering </a:t>
            </a:r>
            <a:br>
              <a:rPr lang="en-US" dirty="0"/>
            </a:br>
            <a:r>
              <a:rPr lang="en-US" b="1" dirty="0"/>
              <a:t>D) None of the above 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ANSWER:- B </a:t>
            </a:r>
            <a:br>
              <a:rPr lang="en-US" dirty="0"/>
            </a:br>
            <a:r>
              <a:rPr lang="en-US" b="1" dirty="0"/>
              <a:t>Explanation :</a:t>
            </a:r>
            <a:r>
              <a:rPr lang="en-US" dirty="0"/>
              <a:t>2PL, i.e., </a:t>
            </a:r>
            <a:r>
              <a:rPr lang="en-US" u="sng" dirty="0">
                <a:hlinkClick r:id="rId2"/>
              </a:rPr>
              <a:t>2 Phase Locking</a:t>
            </a:r>
            <a:r>
              <a:rPr lang="en-US" dirty="0"/>
              <a:t>, is a concurrency control method that guarantees </a:t>
            </a:r>
            <a:r>
              <a:rPr lang="en-US" dirty="0" err="1"/>
              <a:t>serializability</a:t>
            </a:r>
            <a:r>
              <a:rPr lang="en-US" dirty="0"/>
              <a:t>. This protocol uses locks applied to data by a transaction, which blocks other transactions from accessing the same data during the transaction's life. Mutual blocking of 2 or more transactions may lead to deadlock in 2PL.</a:t>
            </a:r>
            <a:br>
              <a:rPr lang="en-US" dirty="0"/>
            </a:b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55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5763"/>
            <a:ext cx="10515600" cy="5301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Which among the following statements is/are incorrect? </a:t>
            </a:r>
            <a:br>
              <a:rPr lang="en-US" dirty="0"/>
            </a:br>
            <a:r>
              <a:rPr lang="en-US" b="1" dirty="0"/>
              <a:t>          1) A schedule following a strict two-phase locking protocol is conflict serializable and recoverable. </a:t>
            </a:r>
            <a:br>
              <a:rPr lang="en-US" dirty="0"/>
            </a:br>
            <a:r>
              <a:rPr lang="en-US" b="1" dirty="0"/>
              <a:t>          2) Checkpoint in schedules inserted to ensure recoverability. 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A) Only 1 </a:t>
            </a:r>
            <a:br>
              <a:rPr lang="en-US" dirty="0"/>
            </a:br>
            <a:r>
              <a:rPr lang="en-US" b="1" dirty="0"/>
              <a:t>B) Only 2 </a:t>
            </a:r>
            <a:br>
              <a:rPr lang="en-US" dirty="0"/>
            </a:br>
            <a:r>
              <a:rPr lang="en-US" b="1" dirty="0"/>
              <a:t>C) Both 1 and 2 </a:t>
            </a:r>
            <a:br>
              <a:rPr lang="en-US" dirty="0"/>
            </a:br>
            <a:r>
              <a:rPr lang="en-US" b="1" dirty="0"/>
              <a:t>D) None of the above 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ANSWER:- B </a:t>
            </a:r>
            <a:br>
              <a:rPr lang="en-US" dirty="0"/>
            </a:br>
            <a:r>
              <a:rPr lang="en-US" b="1" dirty="0"/>
              <a:t>Explanation :</a:t>
            </a:r>
            <a:r>
              <a:rPr lang="en-US" dirty="0"/>
              <a:t>A basic two-phase </a:t>
            </a:r>
            <a:r>
              <a:rPr lang="en-US" u="sng" dirty="0">
                <a:hlinkClick r:id="rId2"/>
              </a:rPr>
              <a:t>locking protocol</a:t>
            </a:r>
            <a:r>
              <a:rPr lang="en-US" dirty="0"/>
              <a:t> ensures only conflict </a:t>
            </a:r>
            <a:r>
              <a:rPr lang="en-US" dirty="0" err="1"/>
              <a:t>serializability</a:t>
            </a:r>
            <a:r>
              <a:rPr lang="en-US" dirty="0"/>
              <a:t>. In contrast, a strict two-phase locking protocol ensures conflict </a:t>
            </a:r>
            <a:r>
              <a:rPr lang="en-US" dirty="0" err="1"/>
              <a:t>serializability</a:t>
            </a:r>
            <a:r>
              <a:rPr lang="en-US" dirty="0"/>
              <a:t> and recoverability. So statement (1) is correct. i.e., checkpoints are inserted to minimize the task of undo-redo in recoverability. And hence statement (2) is not correct. So Option (B) is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2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1430</Words>
  <Application>Microsoft Office PowerPoint</Application>
  <PresentationFormat>Widescreen</PresentationFormat>
  <Paragraphs>109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Book Antiqua</vt:lpstr>
      <vt:lpstr>Calibri</vt:lpstr>
      <vt:lpstr>Calibri Light</vt:lpstr>
      <vt:lpstr>Symbol</vt:lpstr>
      <vt:lpstr>Office Theme</vt:lpstr>
      <vt:lpstr>UNIT 3: Transaction Processing &amp; Concurrency Control </vt:lpstr>
      <vt:lpstr>Non-Serializable Schedules</vt:lpstr>
      <vt:lpstr>PowerPoint Presentation</vt:lpstr>
      <vt:lpstr>Recoverable Schedules- </vt:lpstr>
      <vt:lpstr>PowerPoint Presentation</vt:lpstr>
      <vt:lpstr>Checking Whether a Schedule is Recoverable or Irrecoverable-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Concurrent Execution in DBMS</dc:title>
  <dc:creator>Mahendran</dc:creator>
  <cp:lastModifiedBy>Dr. Santhanalakshmi S.</cp:lastModifiedBy>
  <cp:revision>105</cp:revision>
  <cp:lastPrinted>2022-12-19T16:44:28Z</cp:lastPrinted>
  <dcterms:created xsi:type="dcterms:W3CDTF">2022-12-13T06:05:21Z</dcterms:created>
  <dcterms:modified xsi:type="dcterms:W3CDTF">2025-09-23T09:43:44Z</dcterms:modified>
</cp:coreProperties>
</file>